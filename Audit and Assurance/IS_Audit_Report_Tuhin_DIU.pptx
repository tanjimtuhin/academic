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the Information Systems Audit debriefing for Daffodil International University. My name is the IS Auditor who conducted this review. Today I will walk you through the audit objective, scope, method, findings, and recommendations. This should take about 10 to 15 minutes, and then we can discuss the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had four main objectives: first, to review IT controls across the university; second, to identify security risks in current systems; third, to check compliance with existing IT policies; and fourth, to help improve overall IT governance. These four goals guided every test we performed.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scope covered five key areas: user access management, network security, backup and disaster recovery, asset management, and information security policies. These are the core areas where IT risk is usually highest at any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gather evidence, we used four methods: interviews with staff, review of documents and policies, direct observation of systems, and sample testing of records and access rights. Combining these methods gives a reliable and balanced picture of the current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overall result. We identified four findings in total: two high risk, one medium risk, and one low risk. Based on these results, the overall IT control rating is 'Needs Improvement.' This means controls exist, but some important gaps must be fixed soon. Let's go through each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high risk finding is that user access is not reviewed periodically. This means old or inactive accounts may still have access to university systems. The risk is that unauthorized users could gain entry. We recommend reviewing all user access every three months and removing accounts that are no longer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high risk finding is a weak password policy. Password complexity rules are not currently enforced across systems. This increases the risk of accounts being compromised. We recommend enforcing strong password rules and enabling multi factor authentication, or MFA, for extra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medium risk finding relates to backup monitoring. Backups are being performed, but restore testing is not documented anywhere. This means we cannot confirm that backups actually work when needed. If a real emergency occurs, data recovery may fail. We recommend testing backup restores every quarter and keeping written records of each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finding is low risk. Some IT assets are missing from the current inventory list, which makes it harder to track devices across campus. We recommend updating the asset register on a regular schedule so all equipment is properly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here are the five key recommendations: review user access every quarter, enforce a strong password policy with MFA, test backup restores regularly, keep the asset inventory updated, and provide ongoing security awareness training for staff and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proposed management action plan. Each finding is assigned a priority level, a responsible team, and a target date for completion. High risk items are targeted for completion within one month, the medium risk item within two months, and the low risk item within three months. We recommend management formally assign owners and track progress against these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most IT controls at Daffodil International University are working as expected, but some important improvements are required, especially around user access review and password policy. We recommend management support the implementation of these recommendations to strengthen information security. Thank you for your time, and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1645920"/>
            <a:ext cx="4754880" cy="4754880"/>
          </a:xfrm>
          <a:prstGeom prst="ellipse">
            <a:avLst/>
          </a:prstGeom>
          <a:solidFill>
            <a:srgbClr val="263080"/>
          </a:solidFill>
        </p:spPr>
      </p:sp>
      <p:sp>
        <p:nvSpPr>
          <p:cNvPr id="3" name="Shape 1"/>
          <p:cNvSpPr/>
          <p:nvPr/>
        </p:nvSpPr>
        <p:spPr>
          <a:xfrm>
            <a:off x="-1463040" y="4572000"/>
            <a:ext cx="3840480" cy="3840480"/>
          </a:xfrm>
          <a:prstGeom prst="ellipse">
            <a:avLst/>
          </a:prstGeom>
          <a:solidFill>
            <a:srgbClr val="263080"/>
          </a:solidFill>
        </p:spPr>
      </p:sp>
      <p:sp>
        <p:nvSpPr>
          <p:cNvPr id="4" name="Shape 2"/>
          <p:cNvSpPr/>
          <p:nvPr/>
        </p:nvSpPr>
        <p:spPr>
          <a:xfrm>
            <a:off x="1143000" y="1143000"/>
            <a:ext cx="1371600" cy="1371600"/>
          </a:xfrm>
          <a:prstGeom prst="ellipse">
            <a:avLst/>
          </a:prstGeom>
          <a:solidFill>
            <a:srgbClr val="CADCFC"/>
          </a:solidFill>
        </p:spPr>
      </p:sp>
      <p:pic>
        <p:nvPicPr>
          <p:cNvPr id="5" name="Image 0" descr="icons/shield_1E2761.png"/>
          <p:cNvPicPr>
            <a:picLocks noChangeAspect="1"/>
          </p:cNvPicPr>
          <p:nvPr/>
        </p:nvPicPr>
        <p:blipFill>
          <a:blip r:embed="rId1"/>
          <a:stretch>
            <a:fillRect/>
          </a:stretch>
        </p:blipFill>
        <p:spPr>
          <a:xfrm>
            <a:off x="1451610" y="1451610"/>
            <a:ext cx="754380" cy="754380"/>
          </a:xfrm>
          <a:prstGeom prst="rect">
            <a:avLst/>
          </a:prstGeom>
        </p:spPr>
      </p:pic>
      <p:sp>
        <p:nvSpPr>
          <p:cNvPr id="6" name="Text 3"/>
          <p:cNvSpPr/>
          <p:nvPr/>
        </p:nvSpPr>
        <p:spPr>
          <a:xfrm>
            <a:off x="822960" y="2880360"/>
            <a:ext cx="10515600" cy="1005840"/>
          </a:xfrm>
          <a:prstGeom prst="rect">
            <a:avLst/>
          </a:prstGeom>
          <a:noFill/>
        </p:spPr>
        <p:txBody>
          <a:bodyPr wrap="square" lIns="0" tIns="0" rIns="0" bIns="0" rtlCol="0" anchor="ctr"/>
          <a:lstStyle/>
          <a:p>
            <a:pPr marL="0" indent="0" algn="l">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Information Systems Audit Report</a:t>
            </a:r>
            <a:endParaRPr lang="en-US" sz="4000" dirty="0"/>
          </a:p>
        </p:txBody>
      </p:sp>
      <p:sp>
        <p:nvSpPr>
          <p:cNvPr id="7" name="Text 4"/>
          <p:cNvSpPr/>
          <p:nvPr/>
        </p:nvSpPr>
        <p:spPr>
          <a:xfrm>
            <a:off x="822960" y="3794760"/>
            <a:ext cx="10515600" cy="548640"/>
          </a:xfrm>
          <a:prstGeom prst="rect">
            <a:avLst/>
          </a:prstGeom>
          <a:noFill/>
        </p:spPr>
        <p:txBody>
          <a:bodyPr wrap="square" lIns="0" tIns="0" rIns="0" bIns="0" rtlCol="0" anchor="ctr"/>
          <a:lstStyle/>
          <a:p>
            <a:pPr marL="0" indent="0" algn="l">
              <a:buNone/>
            </a:pPr>
            <a:r>
              <a:rPr lang="en-US" sz="2200" dirty="0">
                <a:solidFill>
                  <a:srgbClr val="CADCFC"/>
                </a:solidFill>
                <a:latin typeface="Calibri" panose="020F0502020204030204" pitchFamily="34" charset="0"/>
                <a:ea typeface="Calibri" panose="020F0502020204030204" pitchFamily="34" charset="-122"/>
                <a:cs typeface="Calibri" panose="020F0502020204030204" pitchFamily="34" charset="-120"/>
              </a:rPr>
              <a:t>Daffodil International University</a:t>
            </a:r>
            <a:endParaRPr lang="en-US" sz="2200" dirty="0"/>
          </a:p>
        </p:txBody>
      </p:sp>
      <p:sp>
        <p:nvSpPr>
          <p:cNvPr id="8" name="Shape 5"/>
          <p:cNvSpPr/>
          <p:nvPr/>
        </p:nvSpPr>
        <p:spPr>
          <a:xfrm>
            <a:off x="822960" y="4526280"/>
            <a:ext cx="2743200" cy="0"/>
          </a:xfrm>
          <a:prstGeom prst="line">
            <a:avLst/>
          </a:prstGeom>
          <a:noFill/>
          <a:ln w="19050">
            <a:solidFill>
              <a:srgbClr val="CADCFC"/>
            </a:solidFill>
            <a:prstDash val="solid"/>
          </a:ln>
        </p:spPr>
      </p:sp>
      <p:sp>
        <p:nvSpPr>
          <p:cNvPr id="9" name="Text 6"/>
          <p:cNvSpPr/>
          <p:nvPr/>
        </p:nvSpPr>
        <p:spPr>
          <a:xfrm>
            <a:off x="822960" y="4709160"/>
            <a:ext cx="9601200" cy="1188720"/>
          </a:xfrm>
          <a:prstGeom prst="rect">
            <a:avLst/>
          </a:prstGeom>
          <a:noFill/>
        </p:spPr>
        <p:txBody>
          <a:bodyPr wrap="square" lIns="0" tIns="0" rIns="0" bIns="0" rtlCol="0" anchor="ctr"/>
          <a:lstStyle/>
          <a:p>
            <a:pPr marL="0" indent="0" algn="l">
              <a:lnSpc>
                <a:spcPct val="130000"/>
              </a:lnSpc>
              <a:buNone/>
            </a:pP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Prepared by: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Md Tanjim Mahmud Tuhin (251-56-012)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Role: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IS Auditor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Date: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23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bullseye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566928"/>
            <a:ext cx="9875520" cy="822960"/>
          </a:xfrm>
          <a:prstGeom prst="rect">
            <a:avLst/>
          </a:prstGeom>
          <a:noFill/>
        </p:spPr>
        <p:txBody>
          <a:bodyPr wrap="square" lIns="0" tIns="0" rIns="0" bIns="0" rtlCol="0" anchor="ctr"/>
          <a:lstStyle/>
          <a:p>
            <a:pPr marL="0" indent="0" algn="l">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Audit Objective</a:t>
            </a:r>
            <a:endParaRPr lang="en-US" sz="3200" dirty="0"/>
          </a:p>
        </p:txBody>
      </p:sp>
      <p:sp>
        <p:nvSpPr>
          <p:cNvPr id="5" name="Shape 2"/>
          <p:cNvSpPr/>
          <p:nvPr/>
        </p:nvSpPr>
        <p:spPr>
          <a:xfrm>
            <a:off x="640080" y="1920240"/>
            <a:ext cx="10881360" cy="1097280"/>
          </a:xfrm>
          <a:prstGeom prst="roundRect">
            <a:avLst>
              <a:gd name="adj" fmla="val 6667"/>
            </a:avLst>
          </a:prstGeom>
          <a:solidFill>
            <a:srgbClr val="F4F7FC"/>
          </a:solidFill>
          <a:effectLst>
            <a:outerShdw blurRad="76200" dist="25400" dir="5400000" algn="bl" rotWithShape="0">
              <a:srgbClr val="9AA6C4">
                <a:alpha val="25000"/>
              </a:srgbClr>
            </a:outerShdw>
          </a:effectLst>
        </p:spPr>
      </p:sp>
      <p:sp>
        <p:nvSpPr>
          <p:cNvPr id="6" name="Shape 3"/>
          <p:cNvSpPr/>
          <p:nvPr/>
        </p:nvSpPr>
        <p:spPr>
          <a:xfrm>
            <a:off x="1097280" y="2148840"/>
            <a:ext cx="640080" cy="640080"/>
          </a:xfrm>
          <a:prstGeom prst="ellipse">
            <a:avLst/>
          </a:prstGeom>
          <a:solidFill>
            <a:srgbClr val="1E2761"/>
          </a:solidFill>
        </p:spPr>
      </p:sp>
      <p:pic>
        <p:nvPicPr>
          <p:cNvPr id="7" name="Image 1" descr="icons/clipboard_FFFFFF.png"/>
          <p:cNvPicPr>
            <a:picLocks noChangeAspect="1"/>
          </p:cNvPicPr>
          <p:nvPr/>
        </p:nvPicPr>
        <p:blipFill>
          <a:blip r:embed="rId2"/>
          <a:stretch>
            <a:fillRect/>
          </a:stretch>
        </p:blipFill>
        <p:spPr>
          <a:xfrm>
            <a:off x="1241298" y="2292858"/>
            <a:ext cx="352044" cy="352044"/>
          </a:xfrm>
          <a:prstGeom prst="rect">
            <a:avLst/>
          </a:prstGeom>
        </p:spPr>
      </p:pic>
      <p:sp>
        <p:nvSpPr>
          <p:cNvPr id="8" name="Text 4"/>
          <p:cNvSpPr/>
          <p:nvPr/>
        </p:nvSpPr>
        <p:spPr>
          <a:xfrm>
            <a:off x="2057400" y="1993392"/>
            <a:ext cx="9052560" cy="365760"/>
          </a:xfrm>
          <a:prstGeom prst="rect">
            <a:avLst/>
          </a:prstGeom>
          <a:noFill/>
        </p:spPr>
        <p:txBody>
          <a:bodyPr wrap="square" lIns="0" tIns="0" rIns="0" bIns="0" rtlCol="0" anchor="b"/>
          <a:lstStyle/>
          <a:p>
            <a:pPr marL="0" indent="0">
              <a:buNone/>
            </a:pPr>
            <a:r>
              <a:rPr lang="en-US" sz="17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Review IT controls</a:t>
            </a:r>
            <a:endParaRPr lang="en-US" sz="1700" dirty="0"/>
          </a:p>
        </p:txBody>
      </p:sp>
      <p:sp>
        <p:nvSpPr>
          <p:cNvPr id="9" name="Text 5"/>
          <p:cNvSpPr/>
          <p:nvPr/>
        </p:nvSpPr>
        <p:spPr>
          <a:xfrm>
            <a:off x="2057400" y="2377440"/>
            <a:ext cx="9052560" cy="594360"/>
          </a:xfrm>
          <a:prstGeom prst="rect">
            <a:avLst/>
          </a:prstGeom>
          <a:noFill/>
        </p:spPr>
        <p:txBody>
          <a:bodyPr wrap="square" lIns="0" tIns="0" rIns="0" bIns="0" rtlCol="0" anchor="t"/>
          <a:lstStyle/>
          <a:p>
            <a:pPr marL="0" indent="0">
              <a:lnSpc>
                <a:spcPct val="115000"/>
              </a:lnSpc>
              <a:buNone/>
            </a:pPr>
            <a:r>
              <a:rPr lang="en-US" sz="1200" dirty="0">
                <a:solidFill>
                  <a:srgbClr val="5B6B84"/>
                </a:solidFill>
                <a:latin typeface="Calibri" panose="020F0502020204030204" pitchFamily="34" charset="0"/>
                <a:ea typeface="Calibri" panose="020F0502020204030204" pitchFamily="34" charset="-122"/>
                <a:cs typeface="Calibri" panose="020F0502020204030204" pitchFamily="34" charset="-120"/>
              </a:rPr>
              <a:t>Check that the university's key IT controls are in place and working properly to protect systems and data.</a:t>
            </a:r>
            <a:endParaRPr lang="en-US" sz="1200" dirty="0"/>
          </a:p>
        </p:txBody>
      </p:sp>
      <p:sp>
        <p:nvSpPr>
          <p:cNvPr id="10" name="Shape 6"/>
          <p:cNvSpPr/>
          <p:nvPr/>
        </p:nvSpPr>
        <p:spPr>
          <a:xfrm>
            <a:off x="640080" y="3154680"/>
            <a:ext cx="10881360" cy="1097280"/>
          </a:xfrm>
          <a:prstGeom prst="roundRect">
            <a:avLst>
              <a:gd name="adj" fmla="val 6667"/>
            </a:avLst>
          </a:prstGeom>
          <a:solidFill>
            <a:srgbClr val="F4F7FC"/>
          </a:solidFill>
          <a:effectLst>
            <a:outerShdw blurRad="76200" dist="25400" dir="5400000" algn="bl" rotWithShape="0">
              <a:srgbClr val="9AA6C4">
                <a:alpha val="25000"/>
              </a:srgbClr>
            </a:outerShdw>
          </a:effectLst>
        </p:spPr>
      </p:sp>
      <p:sp>
        <p:nvSpPr>
          <p:cNvPr id="11" name="Shape 7"/>
          <p:cNvSpPr/>
          <p:nvPr/>
        </p:nvSpPr>
        <p:spPr>
          <a:xfrm>
            <a:off x="1097280" y="3383280"/>
            <a:ext cx="640080" cy="640080"/>
          </a:xfrm>
          <a:prstGeom prst="ellipse">
            <a:avLst/>
          </a:prstGeom>
          <a:solidFill>
            <a:srgbClr val="1E2761"/>
          </a:solidFill>
        </p:spPr>
      </p:sp>
      <p:pic>
        <p:nvPicPr>
          <p:cNvPr id="12" name="Image 2" descr="icons/userlock_FFFFFF.png"/>
          <p:cNvPicPr>
            <a:picLocks noChangeAspect="1"/>
          </p:cNvPicPr>
          <p:nvPr/>
        </p:nvPicPr>
        <p:blipFill>
          <a:blip r:embed="rId3"/>
          <a:stretch>
            <a:fillRect/>
          </a:stretch>
        </p:blipFill>
        <p:spPr>
          <a:xfrm>
            <a:off x="1241298" y="3527298"/>
            <a:ext cx="352044" cy="352044"/>
          </a:xfrm>
          <a:prstGeom prst="rect">
            <a:avLst/>
          </a:prstGeom>
        </p:spPr>
      </p:pic>
      <p:sp>
        <p:nvSpPr>
          <p:cNvPr id="13" name="Text 8"/>
          <p:cNvSpPr/>
          <p:nvPr/>
        </p:nvSpPr>
        <p:spPr>
          <a:xfrm>
            <a:off x="2057400" y="3227832"/>
            <a:ext cx="9052560" cy="365760"/>
          </a:xfrm>
          <a:prstGeom prst="rect">
            <a:avLst/>
          </a:prstGeom>
          <a:noFill/>
        </p:spPr>
        <p:txBody>
          <a:bodyPr wrap="square" lIns="0" tIns="0" rIns="0" bIns="0" rtlCol="0" anchor="b"/>
          <a:lstStyle/>
          <a:p>
            <a:pPr marL="0" indent="0">
              <a:buNone/>
            </a:pPr>
            <a:r>
              <a:rPr lang="en-US" sz="1700" b="1" dirty="0">
                <a:solidFill>
                  <a:srgbClr val="1E2761"/>
                </a:solidFill>
                <a:latin typeface="Calibri" panose="020F0502020204030204" pitchFamily="34" charset="0"/>
                <a:ea typeface="Calibri" panose="020F0502020204030204" pitchFamily="34" charset="-122"/>
                <a:cs typeface="Calibri" panose="020F0502020204030204" pitchFamily="34" charset="-120"/>
              </a:rPr>
              <a:t>Identify security risks</a:t>
            </a:r>
            <a:endParaRPr lang="en-US" sz="1700" dirty="0"/>
          </a:p>
        </p:txBody>
      </p:sp>
      <p:sp>
        <p:nvSpPr>
          <p:cNvPr id="14" name="Text 9"/>
          <p:cNvSpPr/>
          <p:nvPr/>
        </p:nvSpPr>
        <p:spPr>
          <a:xfrm>
            <a:off x="2057400" y="3611880"/>
            <a:ext cx="9052560" cy="594360"/>
          </a:xfrm>
          <a:prstGeom prst="rect">
            <a:avLst/>
          </a:prstGeom>
          <a:noFill/>
        </p:spPr>
        <p:txBody>
          <a:bodyPr wrap="square" lIns="0" tIns="0" rIns="0" bIns="0" rtlCol="0" anchor="t"/>
          <a:lstStyle/>
          <a:p>
            <a:pPr marL="0" indent="0">
              <a:lnSpc>
                <a:spcPct val="115000"/>
              </a:lnSpc>
              <a:buNone/>
            </a:pPr>
            <a:r>
              <a:rPr lang="en-US" sz="1200" dirty="0">
                <a:solidFill>
                  <a:srgbClr val="5B6B84"/>
                </a:solidFill>
                <a:latin typeface="Calibri" panose="020F0502020204030204" pitchFamily="34" charset="0"/>
                <a:ea typeface="Calibri" panose="020F0502020204030204" pitchFamily="34" charset="-122"/>
                <a:cs typeface="Calibri" panose="020F0502020204030204" pitchFamily="34" charset="-120"/>
              </a:rPr>
              <a:t>Find weak points in systems and processes that could allow unauthorized access or data loss.</a:t>
            </a:r>
            <a:endParaRPr lang="en-US" sz="1200" dirty="0"/>
          </a:p>
        </p:txBody>
      </p:sp>
      <p:sp>
        <p:nvSpPr>
          <p:cNvPr id="15" name="Shape 10"/>
          <p:cNvSpPr/>
          <p:nvPr/>
        </p:nvSpPr>
        <p:spPr>
          <a:xfrm>
            <a:off x="640080" y="4389120"/>
            <a:ext cx="10881360" cy="1097280"/>
          </a:xfrm>
          <a:prstGeom prst="roundRect">
            <a:avLst>
              <a:gd name="adj" fmla="val 6667"/>
            </a:avLst>
          </a:prstGeom>
          <a:solidFill>
            <a:srgbClr val="F4F7FC"/>
          </a:solidFill>
          <a:effectLst>
            <a:outerShdw blurRad="76200" dist="25400" dir="5400000" algn="bl" rotWithShape="0">
              <a:srgbClr val="9AA6C4">
                <a:alpha val="25000"/>
              </a:srgbClr>
            </a:outerShdw>
          </a:effectLst>
        </p:spPr>
      </p:sp>
      <p:sp>
        <p:nvSpPr>
          <p:cNvPr id="16" name="Shape 11"/>
          <p:cNvSpPr/>
          <p:nvPr/>
        </p:nvSpPr>
        <p:spPr>
          <a:xfrm>
            <a:off x="1097280" y="4617720"/>
            <a:ext cx="640080" cy="640080"/>
          </a:xfrm>
          <a:prstGeom prst="ellipse">
            <a:avLst/>
          </a:prstGeom>
          <a:solidFill>
            <a:srgbClr val="1E2761"/>
          </a:solidFill>
        </p:spPr>
      </p:sp>
      <p:pic>
        <p:nvPicPr>
          <p:cNvPr id="17" name="Image 3" descr="icons/checkcircle_FFFFFF.png"/>
          <p:cNvPicPr>
            <a:picLocks noChangeAspect="1"/>
          </p:cNvPicPr>
          <p:nvPr/>
        </p:nvPicPr>
        <p:blipFill>
          <a:blip r:embed="rId4"/>
          <a:stretch>
            <a:fillRect/>
          </a:stretch>
        </p:blipFill>
        <p:spPr>
          <a:xfrm>
            <a:off x="1241298" y="4761738"/>
            <a:ext cx="352044" cy="352044"/>
          </a:xfrm>
          <a:prstGeom prst="rect">
            <a:avLst/>
          </a:prstGeom>
        </p:spPr>
      </p:pic>
      <p:sp>
        <p:nvSpPr>
          <p:cNvPr id="18" name="Text 12"/>
          <p:cNvSpPr/>
          <p:nvPr/>
        </p:nvSpPr>
        <p:spPr>
          <a:xfrm>
            <a:off x="2057400" y="4462272"/>
            <a:ext cx="9052560" cy="365760"/>
          </a:xfrm>
          <a:prstGeom prst="rect">
            <a:avLst/>
          </a:prstGeom>
          <a:noFill/>
        </p:spPr>
        <p:txBody>
          <a:bodyPr wrap="square" lIns="0" tIns="0" rIns="0" bIns="0" rtlCol="0" anchor="b"/>
          <a:lstStyle/>
          <a:p>
            <a:pPr marL="0" indent="0">
              <a:buNone/>
            </a:pPr>
            <a:r>
              <a:rPr lang="en-US" sz="1700" b="1" dirty="0">
                <a:solidFill>
                  <a:srgbClr val="1E2761"/>
                </a:solidFill>
                <a:latin typeface="Calibri" panose="020F0502020204030204" pitchFamily="34" charset="0"/>
                <a:ea typeface="Calibri" panose="020F0502020204030204" pitchFamily="34" charset="-122"/>
                <a:cs typeface="Calibri" panose="020F0502020204030204" pitchFamily="34" charset="-120"/>
              </a:rPr>
              <a:t>Check policy compliance</a:t>
            </a:r>
            <a:endParaRPr lang="en-US" sz="1700" dirty="0"/>
          </a:p>
        </p:txBody>
      </p:sp>
      <p:sp>
        <p:nvSpPr>
          <p:cNvPr id="19" name="Text 13"/>
          <p:cNvSpPr/>
          <p:nvPr/>
        </p:nvSpPr>
        <p:spPr>
          <a:xfrm>
            <a:off x="2057400" y="4846320"/>
            <a:ext cx="9052560" cy="594360"/>
          </a:xfrm>
          <a:prstGeom prst="rect">
            <a:avLst/>
          </a:prstGeom>
          <a:noFill/>
        </p:spPr>
        <p:txBody>
          <a:bodyPr wrap="square" lIns="0" tIns="0" rIns="0" bIns="0" rtlCol="0" anchor="t"/>
          <a:lstStyle/>
          <a:p>
            <a:pPr marL="0" indent="0">
              <a:lnSpc>
                <a:spcPct val="115000"/>
              </a:lnSpc>
              <a:buNone/>
            </a:pPr>
            <a:r>
              <a:rPr lang="en-US" sz="1200" dirty="0">
                <a:solidFill>
                  <a:srgbClr val="5B6B84"/>
                </a:solidFill>
                <a:latin typeface="Calibri" panose="020F0502020204030204" pitchFamily="34" charset="0"/>
                <a:ea typeface="Calibri" panose="020F0502020204030204" pitchFamily="34" charset="-122"/>
                <a:cs typeface="Calibri" panose="020F0502020204030204" pitchFamily="34" charset="-120"/>
              </a:rPr>
              <a:t>Confirm that daily IT operations follow the university's approved security policies and rules.</a:t>
            </a:r>
            <a:endParaRPr lang="en-US" sz="1200" dirty="0"/>
          </a:p>
        </p:txBody>
      </p:sp>
      <p:sp>
        <p:nvSpPr>
          <p:cNvPr id="20" name="Shape 14"/>
          <p:cNvSpPr/>
          <p:nvPr/>
        </p:nvSpPr>
        <p:spPr>
          <a:xfrm>
            <a:off x="640080" y="5623560"/>
            <a:ext cx="10881360" cy="1097280"/>
          </a:xfrm>
          <a:prstGeom prst="roundRect">
            <a:avLst>
              <a:gd name="adj" fmla="val 6667"/>
            </a:avLst>
          </a:prstGeom>
          <a:solidFill>
            <a:srgbClr val="F4F7FC"/>
          </a:solidFill>
          <a:effectLst>
            <a:outerShdw blurRad="76200" dist="25400" dir="5400000" algn="bl" rotWithShape="0">
              <a:srgbClr val="9AA6C4">
                <a:alpha val="25000"/>
              </a:srgbClr>
            </a:outerShdw>
          </a:effectLst>
        </p:spPr>
      </p:sp>
      <p:sp>
        <p:nvSpPr>
          <p:cNvPr id="21" name="Shape 15"/>
          <p:cNvSpPr/>
          <p:nvPr/>
        </p:nvSpPr>
        <p:spPr>
          <a:xfrm>
            <a:off x="1097280" y="5852160"/>
            <a:ext cx="640080" cy="640080"/>
          </a:xfrm>
          <a:prstGeom prst="ellipse">
            <a:avLst/>
          </a:prstGeom>
          <a:solidFill>
            <a:srgbClr val="1E2761"/>
          </a:solidFill>
        </p:spPr>
      </p:sp>
      <p:pic>
        <p:nvPicPr>
          <p:cNvPr id="22" name="Image 4" descr="icons/chartpie_FFFFFF.png"/>
          <p:cNvPicPr>
            <a:picLocks noChangeAspect="1"/>
          </p:cNvPicPr>
          <p:nvPr/>
        </p:nvPicPr>
        <p:blipFill>
          <a:blip r:embed="rId5"/>
          <a:stretch>
            <a:fillRect/>
          </a:stretch>
        </p:blipFill>
        <p:spPr>
          <a:xfrm>
            <a:off x="1241298" y="5996178"/>
            <a:ext cx="352044" cy="352044"/>
          </a:xfrm>
          <a:prstGeom prst="rect">
            <a:avLst/>
          </a:prstGeom>
        </p:spPr>
      </p:pic>
      <p:sp>
        <p:nvSpPr>
          <p:cNvPr id="23" name="Text 16"/>
          <p:cNvSpPr/>
          <p:nvPr/>
        </p:nvSpPr>
        <p:spPr>
          <a:xfrm>
            <a:off x="2057400" y="5696712"/>
            <a:ext cx="9052560" cy="365760"/>
          </a:xfrm>
          <a:prstGeom prst="rect">
            <a:avLst/>
          </a:prstGeom>
          <a:noFill/>
        </p:spPr>
        <p:txBody>
          <a:bodyPr wrap="square" lIns="0" tIns="0" rIns="0" bIns="0" rtlCol="0" anchor="b"/>
          <a:lstStyle/>
          <a:p>
            <a:pPr marL="0" indent="0">
              <a:buNone/>
            </a:pPr>
            <a:r>
              <a:rPr lang="en-US" sz="1700" b="1" dirty="0">
                <a:solidFill>
                  <a:srgbClr val="1E2761"/>
                </a:solidFill>
                <a:latin typeface="Calibri" panose="020F0502020204030204" pitchFamily="34" charset="0"/>
                <a:ea typeface="Calibri" panose="020F0502020204030204" pitchFamily="34" charset="-122"/>
                <a:cs typeface="Calibri" panose="020F0502020204030204" pitchFamily="34" charset="-120"/>
              </a:rPr>
              <a:t>Improve IT governance</a:t>
            </a:r>
            <a:endParaRPr lang="en-US" sz="1700" dirty="0"/>
          </a:p>
        </p:txBody>
      </p:sp>
      <p:sp>
        <p:nvSpPr>
          <p:cNvPr id="24" name="Text 17"/>
          <p:cNvSpPr/>
          <p:nvPr/>
        </p:nvSpPr>
        <p:spPr>
          <a:xfrm>
            <a:off x="2057400" y="6080760"/>
            <a:ext cx="9052560" cy="594360"/>
          </a:xfrm>
          <a:prstGeom prst="rect">
            <a:avLst/>
          </a:prstGeom>
          <a:noFill/>
        </p:spPr>
        <p:txBody>
          <a:bodyPr wrap="square" lIns="0" tIns="0" rIns="0" bIns="0" rtlCol="0" anchor="t"/>
          <a:lstStyle/>
          <a:p>
            <a:pPr marL="0" indent="0">
              <a:lnSpc>
                <a:spcPct val="115000"/>
              </a:lnSpc>
              <a:buNone/>
            </a:pPr>
            <a:r>
              <a:rPr lang="en-US" sz="1200" dirty="0">
                <a:solidFill>
                  <a:srgbClr val="5B6B84"/>
                </a:solidFill>
                <a:latin typeface="Calibri" panose="020F0502020204030204" pitchFamily="34" charset="0"/>
                <a:ea typeface="Calibri" panose="020F0502020204030204" pitchFamily="34" charset="-122"/>
                <a:cs typeface="Calibri" panose="020F0502020204030204" pitchFamily="34" charset="-120"/>
              </a:rPr>
              <a:t>Give clear, practical suggestions to make IT decisions, controls, and oversight stronger.</a:t>
            </a:r>
            <a:endParaRPr lang="en-US" sz="1200" dirty="0"/>
          </a:p>
        </p:txBody>
      </p:sp>
      <p:sp>
        <p:nvSpPr>
          <p:cNvPr id="25" name="Text 18"/>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26" name="Text 19"/>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clipboard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566928"/>
            <a:ext cx="9875520" cy="822960"/>
          </a:xfrm>
          <a:prstGeom prst="rect">
            <a:avLst/>
          </a:prstGeom>
          <a:noFill/>
        </p:spPr>
        <p:txBody>
          <a:bodyPr wrap="square" lIns="0" tIns="0" rIns="0" bIns="0" rtlCol="0" anchor="ctr"/>
          <a:lstStyle/>
          <a:p>
            <a:pPr marL="0" indent="0" algn="l">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Audit Scope</a:t>
            </a:r>
            <a:endParaRPr lang="en-US" sz="3200" dirty="0"/>
          </a:p>
        </p:txBody>
      </p:sp>
      <p:sp>
        <p:nvSpPr>
          <p:cNvPr id="5" name="Shape 2"/>
          <p:cNvSpPr/>
          <p:nvPr/>
        </p:nvSpPr>
        <p:spPr>
          <a:xfrm>
            <a:off x="630936" y="1874520"/>
            <a:ext cx="3429000" cy="2011680"/>
          </a:xfrm>
          <a:prstGeom prst="roundRect">
            <a:avLst>
              <a:gd name="adj" fmla="val 3636"/>
            </a:avLst>
          </a:prstGeom>
          <a:solidFill>
            <a:srgbClr val="F4F7FC"/>
          </a:solidFill>
          <a:effectLst>
            <a:outerShdw blurRad="76200" dist="25400" dir="5400000" algn="bl" rotWithShape="0">
              <a:srgbClr val="9AA6C4">
                <a:alpha val="25000"/>
              </a:srgbClr>
            </a:outerShdw>
          </a:effectLst>
        </p:spPr>
      </p:sp>
      <p:sp>
        <p:nvSpPr>
          <p:cNvPr id="6" name="Shape 3"/>
          <p:cNvSpPr/>
          <p:nvPr/>
        </p:nvSpPr>
        <p:spPr>
          <a:xfrm>
            <a:off x="2048256" y="2080260"/>
            <a:ext cx="594360" cy="594360"/>
          </a:xfrm>
          <a:prstGeom prst="ellipse">
            <a:avLst/>
          </a:prstGeom>
          <a:solidFill>
            <a:srgbClr val="1E2761"/>
          </a:solidFill>
        </p:spPr>
      </p:sp>
      <p:pic>
        <p:nvPicPr>
          <p:cNvPr id="7" name="Image 1" descr="icons/userlock_FFFFFF.png"/>
          <p:cNvPicPr>
            <a:picLocks noChangeAspect="1"/>
          </p:cNvPicPr>
          <p:nvPr/>
        </p:nvPicPr>
        <p:blipFill>
          <a:blip r:embed="rId2"/>
          <a:stretch>
            <a:fillRect/>
          </a:stretch>
        </p:blipFill>
        <p:spPr>
          <a:xfrm>
            <a:off x="2181987" y="2213991"/>
            <a:ext cx="326898" cy="326898"/>
          </a:xfrm>
          <a:prstGeom prst="rect">
            <a:avLst/>
          </a:prstGeom>
        </p:spPr>
      </p:pic>
      <p:sp>
        <p:nvSpPr>
          <p:cNvPr id="8" name="Text 4"/>
          <p:cNvSpPr/>
          <p:nvPr/>
        </p:nvSpPr>
        <p:spPr>
          <a:xfrm>
            <a:off x="813816" y="2770632"/>
            <a:ext cx="3063240" cy="411480"/>
          </a:xfrm>
          <a:prstGeom prst="rect">
            <a:avLst/>
          </a:prstGeom>
          <a:noFill/>
        </p:spPr>
        <p:txBody>
          <a:bodyPr wrap="square" lIns="0" tIns="0" rIns="0" bIns="0" rtlCol="0" anchor="t"/>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User Access Management</a:t>
            </a:r>
            <a:endParaRPr lang="en-US" sz="1350" dirty="0"/>
          </a:p>
        </p:txBody>
      </p:sp>
      <p:sp>
        <p:nvSpPr>
          <p:cNvPr id="9" name="Text 5"/>
          <p:cNvSpPr/>
          <p:nvPr/>
        </p:nvSpPr>
        <p:spPr>
          <a:xfrm>
            <a:off x="859536" y="3154680"/>
            <a:ext cx="2971800" cy="658368"/>
          </a:xfrm>
          <a:prstGeom prst="rect">
            <a:avLst/>
          </a:prstGeom>
          <a:noFill/>
        </p:spPr>
        <p:txBody>
          <a:bodyPr wrap="square" lIns="0" tIns="0" rIns="0" bIns="0" rtlCol="0" anchor="t"/>
          <a:lstStyle/>
          <a:p>
            <a:pPr marL="0" indent="0" algn="ctr">
              <a:lnSpc>
                <a:spcPct val="110000"/>
              </a:lnSpc>
              <a:buNone/>
            </a:pPr>
            <a:r>
              <a:rPr lang="en-US" sz="1000" dirty="0">
                <a:solidFill>
                  <a:srgbClr val="5B6B84"/>
                </a:solidFill>
                <a:latin typeface="Calibri" panose="020F0502020204030204" pitchFamily="34" charset="0"/>
                <a:ea typeface="Calibri" panose="020F0502020204030204" pitchFamily="34" charset="-122"/>
                <a:cs typeface="Calibri" panose="020F0502020204030204" pitchFamily="34" charset="-120"/>
              </a:rPr>
              <a:t>Who can log in, and what each person is allowed to see or do.</a:t>
            </a:r>
            <a:endParaRPr lang="en-US" sz="1000" dirty="0"/>
          </a:p>
        </p:txBody>
      </p:sp>
      <p:sp>
        <p:nvSpPr>
          <p:cNvPr id="10" name="Shape 6"/>
          <p:cNvSpPr/>
          <p:nvPr/>
        </p:nvSpPr>
        <p:spPr>
          <a:xfrm>
            <a:off x="4379976" y="1874520"/>
            <a:ext cx="3429000" cy="2011680"/>
          </a:xfrm>
          <a:prstGeom prst="roundRect">
            <a:avLst>
              <a:gd name="adj" fmla="val 3636"/>
            </a:avLst>
          </a:prstGeom>
          <a:solidFill>
            <a:srgbClr val="F4F7FC"/>
          </a:solidFill>
          <a:effectLst>
            <a:outerShdw blurRad="76200" dist="25400" dir="5400000" algn="bl" rotWithShape="0">
              <a:srgbClr val="9AA6C4">
                <a:alpha val="25000"/>
              </a:srgbClr>
            </a:outerShdw>
          </a:effectLst>
        </p:spPr>
      </p:sp>
      <p:sp>
        <p:nvSpPr>
          <p:cNvPr id="11" name="Shape 7"/>
          <p:cNvSpPr/>
          <p:nvPr/>
        </p:nvSpPr>
        <p:spPr>
          <a:xfrm>
            <a:off x="5797296" y="2080260"/>
            <a:ext cx="594360" cy="594360"/>
          </a:xfrm>
          <a:prstGeom prst="ellipse">
            <a:avLst/>
          </a:prstGeom>
          <a:solidFill>
            <a:srgbClr val="1E2761"/>
          </a:solidFill>
        </p:spPr>
      </p:sp>
      <p:pic>
        <p:nvPicPr>
          <p:cNvPr id="12" name="Image 2" descr="icons/shield_FFFFFF.png"/>
          <p:cNvPicPr>
            <a:picLocks noChangeAspect="1"/>
          </p:cNvPicPr>
          <p:nvPr/>
        </p:nvPicPr>
        <p:blipFill>
          <a:blip r:embed="rId3"/>
          <a:stretch>
            <a:fillRect/>
          </a:stretch>
        </p:blipFill>
        <p:spPr>
          <a:xfrm>
            <a:off x="5931027" y="2213991"/>
            <a:ext cx="326898" cy="326898"/>
          </a:xfrm>
          <a:prstGeom prst="rect">
            <a:avLst/>
          </a:prstGeom>
        </p:spPr>
      </p:pic>
      <p:sp>
        <p:nvSpPr>
          <p:cNvPr id="13" name="Text 8"/>
          <p:cNvSpPr/>
          <p:nvPr/>
        </p:nvSpPr>
        <p:spPr>
          <a:xfrm>
            <a:off x="4562856" y="2770632"/>
            <a:ext cx="3063240" cy="411480"/>
          </a:xfrm>
          <a:prstGeom prst="rect">
            <a:avLst/>
          </a:prstGeom>
          <a:noFill/>
        </p:spPr>
        <p:txBody>
          <a:bodyPr wrap="square" lIns="0" tIns="0" rIns="0" bIns="0" rtlCol="0" anchor="t"/>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Network Security</a:t>
            </a:r>
            <a:endParaRPr lang="en-US" sz="1350" dirty="0"/>
          </a:p>
        </p:txBody>
      </p:sp>
      <p:sp>
        <p:nvSpPr>
          <p:cNvPr id="14" name="Text 9"/>
          <p:cNvSpPr/>
          <p:nvPr/>
        </p:nvSpPr>
        <p:spPr>
          <a:xfrm>
            <a:off x="4608576" y="3154680"/>
            <a:ext cx="2971800" cy="658368"/>
          </a:xfrm>
          <a:prstGeom prst="rect">
            <a:avLst/>
          </a:prstGeom>
          <a:noFill/>
        </p:spPr>
        <p:txBody>
          <a:bodyPr wrap="square" lIns="0" tIns="0" rIns="0" bIns="0" rtlCol="0" anchor="t"/>
          <a:lstStyle/>
          <a:p>
            <a:pPr marL="0" indent="0" algn="ctr">
              <a:lnSpc>
                <a:spcPct val="110000"/>
              </a:lnSpc>
              <a:buNone/>
            </a:pPr>
            <a:r>
              <a:rPr lang="en-US" sz="1000" dirty="0">
                <a:solidFill>
                  <a:srgbClr val="5B6B84"/>
                </a:solidFill>
                <a:latin typeface="Calibri" panose="020F0502020204030204" pitchFamily="34" charset="0"/>
                <a:ea typeface="Calibri" panose="020F0502020204030204" pitchFamily="34" charset="-122"/>
                <a:cs typeface="Calibri" panose="020F0502020204030204" pitchFamily="34" charset="-120"/>
              </a:rPr>
              <a:t>How well the university network is protected from outside attacks.</a:t>
            </a:r>
            <a:endParaRPr lang="en-US" sz="1000" dirty="0"/>
          </a:p>
        </p:txBody>
      </p:sp>
      <p:sp>
        <p:nvSpPr>
          <p:cNvPr id="15" name="Shape 10"/>
          <p:cNvSpPr/>
          <p:nvPr/>
        </p:nvSpPr>
        <p:spPr>
          <a:xfrm>
            <a:off x="8129016" y="1874520"/>
            <a:ext cx="3429000" cy="2011680"/>
          </a:xfrm>
          <a:prstGeom prst="roundRect">
            <a:avLst>
              <a:gd name="adj" fmla="val 3636"/>
            </a:avLst>
          </a:prstGeom>
          <a:solidFill>
            <a:srgbClr val="F4F7FC"/>
          </a:solidFill>
          <a:effectLst>
            <a:outerShdw blurRad="76200" dist="25400" dir="5400000" algn="bl" rotWithShape="0">
              <a:srgbClr val="9AA6C4">
                <a:alpha val="25000"/>
              </a:srgbClr>
            </a:outerShdw>
          </a:effectLst>
        </p:spPr>
      </p:sp>
      <p:sp>
        <p:nvSpPr>
          <p:cNvPr id="16" name="Shape 11"/>
          <p:cNvSpPr/>
          <p:nvPr/>
        </p:nvSpPr>
        <p:spPr>
          <a:xfrm>
            <a:off x="9546336" y="2080260"/>
            <a:ext cx="594360" cy="594360"/>
          </a:xfrm>
          <a:prstGeom prst="ellipse">
            <a:avLst/>
          </a:prstGeom>
          <a:solidFill>
            <a:srgbClr val="1E2761"/>
          </a:solidFill>
        </p:spPr>
      </p:sp>
      <p:pic>
        <p:nvPicPr>
          <p:cNvPr id="17" name="Image 3" descr="icons/database_FFFFFF.png"/>
          <p:cNvPicPr>
            <a:picLocks noChangeAspect="1"/>
          </p:cNvPicPr>
          <p:nvPr/>
        </p:nvPicPr>
        <p:blipFill>
          <a:blip r:embed="rId4"/>
          <a:stretch>
            <a:fillRect/>
          </a:stretch>
        </p:blipFill>
        <p:spPr>
          <a:xfrm>
            <a:off x="9680067" y="2213991"/>
            <a:ext cx="326898" cy="326898"/>
          </a:xfrm>
          <a:prstGeom prst="rect">
            <a:avLst/>
          </a:prstGeom>
        </p:spPr>
      </p:pic>
      <p:sp>
        <p:nvSpPr>
          <p:cNvPr id="18" name="Text 12"/>
          <p:cNvSpPr/>
          <p:nvPr/>
        </p:nvSpPr>
        <p:spPr>
          <a:xfrm>
            <a:off x="8311896" y="2770632"/>
            <a:ext cx="3063240" cy="411480"/>
          </a:xfrm>
          <a:prstGeom prst="rect">
            <a:avLst/>
          </a:prstGeom>
          <a:noFill/>
        </p:spPr>
        <p:txBody>
          <a:bodyPr wrap="square" lIns="0" tIns="0" rIns="0" bIns="0" rtlCol="0" anchor="t"/>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Backup &amp; Disaster Recovery</a:t>
            </a:r>
            <a:endParaRPr lang="en-US" sz="1350" dirty="0"/>
          </a:p>
        </p:txBody>
      </p:sp>
      <p:sp>
        <p:nvSpPr>
          <p:cNvPr id="19" name="Text 13"/>
          <p:cNvSpPr/>
          <p:nvPr/>
        </p:nvSpPr>
        <p:spPr>
          <a:xfrm>
            <a:off x="8357616" y="3154680"/>
            <a:ext cx="2971800" cy="658368"/>
          </a:xfrm>
          <a:prstGeom prst="rect">
            <a:avLst/>
          </a:prstGeom>
          <a:noFill/>
        </p:spPr>
        <p:txBody>
          <a:bodyPr wrap="square" lIns="0" tIns="0" rIns="0" bIns="0" rtlCol="0" anchor="t"/>
          <a:lstStyle/>
          <a:p>
            <a:pPr marL="0" indent="0" algn="ctr">
              <a:lnSpc>
                <a:spcPct val="110000"/>
              </a:lnSpc>
              <a:buNone/>
            </a:pPr>
            <a:r>
              <a:rPr lang="en-US" sz="1000" dirty="0">
                <a:solidFill>
                  <a:srgbClr val="5B6B84"/>
                </a:solidFill>
                <a:latin typeface="Calibri" panose="020F0502020204030204" pitchFamily="34" charset="0"/>
                <a:ea typeface="Calibri" panose="020F0502020204030204" pitchFamily="34" charset="-122"/>
                <a:cs typeface="Calibri" panose="020F0502020204030204" pitchFamily="34" charset="-120"/>
              </a:rPr>
              <a:t>How data is backed up and brought back after a system failure.</a:t>
            </a:r>
            <a:endParaRPr lang="en-US" sz="1000" dirty="0"/>
          </a:p>
        </p:txBody>
      </p:sp>
      <p:sp>
        <p:nvSpPr>
          <p:cNvPr id="20" name="Shape 14"/>
          <p:cNvSpPr/>
          <p:nvPr/>
        </p:nvSpPr>
        <p:spPr>
          <a:xfrm>
            <a:off x="630936" y="4114800"/>
            <a:ext cx="3429000" cy="2011680"/>
          </a:xfrm>
          <a:prstGeom prst="roundRect">
            <a:avLst>
              <a:gd name="adj" fmla="val 3636"/>
            </a:avLst>
          </a:prstGeom>
          <a:solidFill>
            <a:srgbClr val="F4F7FC"/>
          </a:solidFill>
          <a:effectLst>
            <a:outerShdw blurRad="76200" dist="25400" dir="5400000" algn="bl" rotWithShape="0">
              <a:srgbClr val="9AA6C4">
                <a:alpha val="25000"/>
              </a:srgbClr>
            </a:outerShdw>
          </a:effectLst>
        </p:spPr>
      </p:sp>
      <p:sp>
        <p:nvSpPr>
          <p:cNvPr id="21" name="Shape 15"/>
          <p:cNvSpPr/>
          <p:nvPr/>
        </p:nvSpPr>
        <p:spPr>
          <a:xfrm>
            <a:off x="2048256" y="4320540"/>
            <a:ext cx="594360" cy="594360"/>
          </a:xfrm>
          <a:prstGeom prst="ellipse">
            <a:avLst/>
          </a:prstGeom>
          <a:solidFill>
            <a:srgbClr val="1E2761"/>
          </a:solidFill>
        </p:spPr>
      </p:sp>
      <p:pic>
        <p:nvPicPr>
          <p:cNvPr id="22" name="Image 4" descr="icons/boxes_FFFFFF.png"/>
          <p:cNvPicPr>
            <a:picLocks noChangeAspect="1"/>
          </p:cNvPicPr>
          <p:nvPr/>
        </p:nvPicPr>
        <p:blipFill>
          <a:blip r:embed="rId5"/>
          <a:stretch>
            <a:fillRect/>
          </a:stretch>
        </p:blipFill>
        <p:spPr>
          <a:xfrm>
            <a:off x="2181987" y="4454271"/>
            <a:ext cx="326898" cy="326898"/>
          </a:xfrm>
          <a:prstGeom prst="rect">
            <a:avLst/>
          </a:prstGeom>
        </p:spPr>
      </p:pic>
      <p:sp>
        <p:nvSpPr>
          <p:cNvPr id="23" name="Text 16"/>
          <p:cNvSpPr/>
          <p:nvPr/>
        </p:nvSpPr>
        <p:spPr>
          <a:xfrm>
            <a:off x="813816" y="5010912"/>
            <a:ext cx="3063240" cy="411480"/>
          </a:xfrm>
          <a:prstGeom prst="rect">
            <a:avLst/>
          </a:prstGeom>
          <a:noFill/>
        </p:spPr>
        <p:txBody>
          <a:bodyPr wrap="square" lIns="0" tIns="0" rIns="0" bIns="0" rtlCol="0" anchor="t"/>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Asset Management</a:t>
            </a:r>
            <a:endParaRPr lang="en-US" sz="1350" dirty="0"/>
          </a:p>
        </p:txBody>
      </p:sp>
      <p:sp>
        <p:nvSpPr>
          <p:cNvPr id="24" name="Text 17"/>
          <p:cNvSpPr/>
          <p:nvPr/>
        </p:nvSpPr>
        <p:spPr>
          <a:xfrm>
            <a:off x="859536" y="5394960"/>
            <a:ext cx="2971800" cy="658368"/>
          </a:xfrm>
          <a:prstGeom prst="rect">
            <a:avLst/>
          </a:prstGeom>
          <a:noFill/>
        </p:spPr>
        <p:txBody>
          <a:bodyPr wrap="square" lIns="0" tIns="0" rIns="0" bIns="0" rtlCol="0" anchor="t"/>
          <a:lstStyle/>
          <a:p>
            <a:pPr marL="0" indent="0" algn="ctr">
              <a:lnSpc>
                <a:spcPct val="110000"/>
              </a:lnSpc>
              <a:buNone/>
            </a:pPr>
            <a:r>
              <a:rPr lang="en-US" sz="1000" dirty="0">
                <a:solidFill>
                  <a:srgbClr val="5B6B84"/>
                </a:solidFill>
                <a:latin typeface="Calibri" panose="020F0502020204030204" pitchFamily="34" charset="0"/>
                <a:ea typeface="Calibri" panose="020F0502020204030204" pitchFamily="34" charset="-122"/>
                <a:cs typeface="Calibri" panose="020F0502020204030204" pitchFamily="34" charset="-120"/>
              </a:rPr>
              <a:t>How laptops, servers, and other IT devices are tracked and kept safe.</a:t>
            </a:r>
            <a:endParaRPr lang="en-US" sz="1000" dirty="0"/>
          </a:p>
        </p:txBody>
      </p:sp>
      <p:sp>
        <p:nvSpPr>
          <p:cNvPr id="25" name="Shape 18"/>
          <p:cNvSpPr/>
          <p:nvPr/>
        </p:nvSpPr>
        <p:spPr>
          <a:xfrm>
            <a:off x="4379976" y="4114800"/>
            <a:ext cx="3429000" cy="2011680"/>
          </a:xfrm>
          <a:prstGeom prst="roundRect">
            <a:avLst>
              <a:gd name="adj" fmla="val 3636"/>
            </a:avLst>
          </a:prstGeom>
          <a:solidFill>
            <a:srgbClr val="F4F7FC"/>
          </a:solidFill>
          <a:effectLst>
            <a:outerShdw blurRad="76200" dist="25400" dir="5400000" algn="bl" rotWithShape="0">
              <a:srgbClr val="9AA6C4">
                <a:alpha val="25000"/>
              </a:srgbClr>
            </a:outerShdw>
          </a:effectLst>
        </p:spPr>
      </p:sp>
      <p:sp>
        <p:nvSpPr>
          <p:cNvPr id="26" name="Shape 19"/>
          <p:cNvSpPr/>
          <p:nvPr/>
        </p:nvSpPr>
        <p:spPr>
          <a:xfrm>
            <a:off x="5797296" y="4320540"/>
            <a:ext cx="594360" cy="594360"/>
          </a:xfrm>
          <a:prstGeom prst="ellipse">
            <a:avLst/>
          </a:prstGeom>
          <a:solidFill>
            <a:srgbClr val="1E2761"/>
          </a:solidFill>
        </p:spPr>
      </p:sp>
      <p:pic>
        <p:nvPicPr>
          <p:cNvPr id="27" name="Image 5" descr="icons/tasks_FFFFFF.png"/>
          <p:cNvPicPr>
            <a:picLocks noChangeAspect="1"/>
          </p:cNvPicPr>
          <p:nvPr/>
        </p:nvPicPr>
        <p:blipFill>
          <a:blip r:embed="rId6"/>
          <a:stretch>
            <a:fillRect/>
          </a:stretch>
        </p:blipFill>
        <p:spPr>
          <a:xfrm>
            <a:off x="5931027" y="4454271"/>
            <a:ext cx="326898" cy="326898"/>
          </a:xfrm>
          <a:prstGeom prst="rect">
            <a:avLst/>
          </a:prstGeom>
        </p:spPr>
      </p:pic>
      <p:sp>
        <p:nvSpPr>
          <p:cNvPr id="28" name="Text 20"/>
          <p:cNvSpPr/>
          <p:nvPr/>
        </p:nvSpPr>
        <p:spPr>
          <a:xfrm>
            <a:off x="4562856" y="5010912"/>
            <a:ext cx="3063240" cy="411480"/>
          </a:xfrm>
          <a:prstGeom prst="rect">
            <a:avLst/>
          </a:prstGeom>
          <a:noFill/>
        </p:spPr>
        <p:txBody>
          <a:bodyPr wrap="square" lIns="0" tIns="0" rIns="0" bIns="0" rtlCol="0" anchor="t"/>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Information Security Policies</a:t>
            </a:r>
            <a:endParaRPr lang="en-US" sz="1350" dirty="0"/>
          </a:p>
        </p:txBody>
      </p:sp>
      <p:sp>
        <p:nvSpPr>
          <p:cNvPr id="29" name="Text 21"/>
          <p:cNvSpPr/>
          <p:nvPr/>
        </p:nvSpPr>
        <p:spPr>
          <a:xfrm>
            <a:off x="4608576" y="5394960"/>
            <a:ext cx="2971800" cy="658368"/>
          </a:xfrm>
          <a:prstGeom prst="rect">
            <a:avLst/>
          </a:prstGeom>
          <a:noFill/>
        </p:spPr>
        <p:txBody>
          <a:bodyPr wrap="square" lIns="0" tIns="0" rIns="0" bIns="0" rtlCol="0" anchor="t"/>
          <a:lstStyle/>
          <a:p>
            <a:pPr marL="0" indent="0" algn="ctr">
              <a:lnSpc>
                <a:spcPct val="110000"/>
              </a:lnSpc>
              <a:buNone/>
            </a:pPr>
            <a:r>
              <a:rPr lang="en-US" sz="1000" dirty="0">
                <a:solidFill>
                  <a:srgbClr val="5B6B84"/>
                </a:solidFill>
                <a:latin typeface="Calibri" panose="020F0502020204030204" pitchFamily="34" charset="0"/>
                <a:ea typeface="Calibri" panose="020F0502020204030204" pitchFamily="34" charset="-122"/>
                <a:cs typeface="Calibri" panose="020F0502020204030204" pitchFamily="34" charset="-120"/>
              </a:rPr>
              <a:t>Written rules that guide staff and students on safe IT use.</a:t>
            </a:r>
            <a:endParaRPr lang="en-US" sz="1000" dirty="0"/>
          </a:p>
        </p:txBody>
      </p:sp>
      <p:sp>
        <p:nvSpPr>
          <p:cNvPr id="30" name="Text 22"/>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31" name="Text 23"/>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search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566928"/>
            <a:ext cx="9875520" cy="822960"/>
          </a:xfrm>
          <a:prstGeom prst="rect">
            <a:avLst/>
          </a:prstGeom>
          <a:noFill/>
        </p:spPr>
        <p:txBody>
          <a:bodyPr wrap="square" lIns="0" tIns="0" rIns="0" bIns="0" rtlCol="0" anchor="ctr"/>
          <a:lstStyle/>
          <a:p>
            <a:pPr marL="0" indent="0" algn="l">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Audit Methodology</a:t>
            </a:r>
            <a:endParaRPr lang="en-US" sz="3200" dirty="0"/>
          </a:p>
        </p:txBody>
      </p:sp>
      <p:sp>
        <p:nvSpPr>
          <p:cNvPr id="5" name="Shape 2"/>
          <p:cNvSpPr/>
          <p:nvPr/>
        </p:nvSpPr>
        <p:spPr>
          <a:xfrm>
            <a:off x="498348" y="2148840"/>
            <a:ext cx="2606040" cy="3108960"/>
          </a:xfrm>
          <a:prstGeom prst="roundRect">
            <a:avLst>
              <a:gd name="adj" fmla="val 3509"/>
            </a:avLst>
          </a:prstGeom>
          <a:solidFill>
            <a:srgbClr val="F4F7FC"/>
          </a:solidFill>
          <a:effectLst>
            <a:outerShdw blurRad="76200" dist="25400" dir="5400000" algn="bl" rotWithShape="0">
              <a:srgbClr val="9AA6C4">
                <a:alpha val="25000"/>
              </a:srgbClr>
            </a:outerShdw>
          </a:effectLst>
        </p:spPr>
      </p:sp>
      <p:sp>
        <p:nvSpPr>
          <p:cNvPr id="6" name="Shape 3"/>
          <p:cNvSpPr/>
          <p:nvPr/>
        </p:nvSpPr>
        <p:spPr>
          <a:xfrm>
            <a:off x="1481328" y="2468880"/>
            <a:ext cx="640080" cy="640080"/>
          </a:xfrm>
          <a:prstGeom prst="ellipse">
            <a:avLst/>
          </a:prstGeom>
          <a:solidFill>
            <a:srgbClr val="1E2761"/>
          </a:solidFill>
        </p:spPr>
      </p:sp>
      <p:sp>
        <p:nvSpPr>
          <p:cNvPr id="7" name="Text 4"/>
          <p:cNvSpPr/>
          <p:nvPr/>
        </p:nvSpPr>
        <p:spPr>
          <a:xfrm>
            <a:off x="1481328" y="2468880"/>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2200" dirty="0"/>
          </a:p>
        </p:txBody>
      </p:sp>
      <p:pic>
        <p:nvPicPr>
          <p:cNvPr id="8" name="Image 1" descr="icons/clipboard_1E2761.png"/>
          <p:cNvPicPr>
            <a:picLocks noChangeAspect="1"/>
          </p:cNvPicPr>
          <p:nvPr/>
        </p:nvPicPr>
        <p:blipFill>
          <a:blip r:embed="rId2"/>
          <a:stretch>
            <a:fillRect/>
          </a:stretch>
        </p:blipFill>
        <p:spPr>
          <a:xfrm>
            <a:off x="1549908" y="3291840"/>
            <a:ext cx="502920" cy="502920"/>
          </a:xfrm>
          <a:prstGeom prst="rect">
            <a:avLst/>
          </a:prstGeom>
        </p:spPr>
      </p:pic>
      <p:sp>
        <p:nvSpPr>
          <p:cNvPr id="9" name="Text 5"/>
          <p:cNvSpPr/>
          <p:nvPr/>
        </p:nvSpPr>
        <p:spPr>
          <a:xfrm>
            <a:off x="635508" y="3931920"/>
            <a:ext cx="2331720" cy="457200"/>
          </a:xfrm>
          <a:prstGeom prst="rect">
            <a:avLst/>
          </a:prstGeom>
          <a:noFill/>
        </p:spPr>
        <p:txBody>
          <a:bodyPr wrap="square" lIns="0" tIns="0" rIns="0" bIns="0"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Interview</a:t>
            </a:r>
            <a:endParaRPr lang="en-US" sz="1500" dirty="0"/>
          </a:p>
        </p:txBody>
      </p:sp>
      <p:sp>
        <p:nvSpPr>
          <p:cNvPr id="10" name="Text 6"/>
          <p:cNvSpPr/>
          <p:nvPr/>
        </p:nvSpPr>
        <p:spPr>
          <a:xfrm>
            <a:off x="681228" y="4389120"/>
            <a:ext cx="2240280" cy="731520"/>
          </a:xfrm>
          <a:prstGeom prst="rect">
            <a:avLst/>
          </a:prstGeom>
          <a:noFill/>
        </p:spPr>
        <p:txBody>
          <a:bodyPr wrap="square" lIns="0" tIns="0" rIns="0" bIns="0" rtlCol="0" anchor="ctr"/>
          <a:lstStyle/>
          <a:p>
            <a:pPr marL="0" indent="0" algn="ctr">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Discussed processes with IT staff and system owners.</a:t>
            </a:r>
            <a:endParaRPr lang="en-US" sz="1100" dirty="0"/>
          </a:p>
        </p:txBody>
      </p:sp>
      <p:sp>
        <p:nvSpPr>
          <p:cNvPr id="11" name="Shape 7"/>
          <p:cNvSpPr/>
          <p:nvPr/>
        </p:nvSpPr>
        <p:spPr>
          <a:xfrm>
            <a:off x="3360420" y="2148840"/>
            <a:ext cx="2606040" cy="3108960"/>
          </a:xfrm>
          <a:prstGeom prst="roundRect">
            <a:avLst>
              <a:gd name="adj" fmla="val 3509"/>
            </a:avLst>
          </a:prstGeom>
          <a:solidFill>
            <a:srgbClr val="F4F7FC"/>
          </a:solidFill>
          <a:effectLst>
            <a:outerShdw blurRad="76200" dist="25400" dir="5400000" algn="bl" rotWithShape="0">
              <a:srgbClr val="9AA6C4">
                <a:alpha val="25000"/>
              </a:srgbClr>
            </a:outerShdw>
          </a:effectLst>
        </p:spPr>
      </p:sp>
      <p:sp>
        <p:nvSpPr>
          <p:cNvPr id="12" name="Shape 8"/>
          <p:cNvSpPr/>
          <p:nvPr/>
        </p:nvSpPr>
        <p:spPr>
          <a:xfrm>
            <a:off x="4343400" y="2468880"/>
            <a:ext cx="640080" cy="640080"/>
          </a:xfrm>
          <a:prstGeom prst="ellipse">
            <a:avLst/>
          </a:prstGeom>
          <a:solidFill>
            <a:srgbClr val="1E2761"/>
          </a:solidFill>
        </p:spPr>
      </p:sp>
      <p:sp>
        <p:nvSpPr>
          <p:cNvPr id="13" name="Text 9"/>
          <p:cNvSpPr/>
          <p:nvPr/>
        </p:nvSpPr>
        <p:spPr>
          <a:xfrm>
            <a:off x="4343400" y="2468880"/>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2200" dirty="0"/>
          </a:p>
        </p:txBody>
      </p:sp>
      <p:pic>
        <p:nvPicPr>
          <p:cNvPr id="14" name="Image 2" descr="icons/table_1E2761.png"/>
          <p:cNvPicPr>
            <a:picLocks noChangeAspect="1"/>
          </p:cNvPicPr>
          <p:nvPr/>
        </p:nvPicPr>
        <p:blipFill>
          <a:blip r:embed="rId3"/>
          <a:stretch>
            <a:fillRect/>
          </a:stretch>
        </p:blipFill>
        <p:spPr>
          <a:xfrm>
            <a:off x="4411980" y="3291840"/>
            <a:ext cx="502920" cy="502920"/>
          </a:xfrm>
          <a:prstGeom prst="rect">
            <a:avLst/>
          </a:prstGeom>
        </p:spPr>
      </p:pic>
      <p:sp>
        <p:nvSpPr>
          <p:cNvPr id="15" name="Text 10"/>
          <p:cNvSpPr/>
          <p:nvPr/>
        </p:nvSpPr>
        <p:spPr>
          <a:xfrm>
            <a:off x="3497580" y="3931920"/>
            <a:ext cx="2331720" cy="457200"/>
          </a:xfrm>
          <a:prstGeom prst="rect">
            <a:avLst/>
          </a:prstGeom>
          <a:noFill/>
        </p:spPr>
        <p:txBody>
          <a:bodyPr wrap="square" lIns="0" tIns="0" rIns="0" bIns="0"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Document Review</a:t>
            </a:r>
            <a:endParaRPr lang="en-US" sz="1500" dirty="0"/>
          </a:p>
        </p:txBody>
      </p:sp>
      <p:sp>
        <p:nvSpPr>
          <p:cNvPr id="16" name="Text 11"/>
          <p:cNvSpPr/>
          <p:nvPr/>
        </p:nvSpPr>
        <p:spPr>
          <a:xfrm>
            <a:off x="3543300" y="4389120"/>
            <a:ext cx="2240280" cy="731520"/>
          </a:xfrm>
          <a:prstGeom prst="rect">
            <a:avLst/>
          </a:prstGeom>
          <a:noFill/>
        </p:spPr>
        <p:txBody>
          <a:bodyPr wrap="square" lIns="0" tIns="0" rIns="0" bIns="0" rtlCol="0" anchor="ctr"/>
          <a:lstStyle/>
          <a:p>
            <a:pPr marL="0" indent="0" algn="ctr">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Examined policies, logs, and records.</a:t>
            </a:r>
            <a:endParaRPr lang="en-US" sz="1100" dirty="0"/>
          </a:p>
        </p:txBody>
      </p:sp>
      <p:sp>
        <p:nvSpPr>
          <p:cNvPr id="17" name="Shape 12"/>
          <p:cNvSpPr/>
          <p:nvPr/>
        </p:nvSpPr>
        <p:spPr>
          <a:xfrm>
            <a:off x="6222492" y="2148840"/>
            <a:ext cx="2606040" cy="3108960"/>
          </a:xfrm>
          <a:prstGeom prst="roundRect">
            <a:avLst>
              <a:gd name="adj" fmla="val 3509"/>
            </a:avLst>
          </a:prstGeom>
          <a:solidFill>
            <a:srgbClr val="F4F7FC"/>
          </a:solidFill>
          <a:effectLst>
            <a:outerShdw blurRad="76200" dist="25400" dir="5400000" algn="bl" rotWithShape="0">
              <a:srgbClr val="9AA6C4">
                <a:alpha val="25000"/>
              </a:srgbClr>
            </a:outerShdw>
          </a:effectLst>
        </p:spPr>
      </p:sp>
      <p:sp>
        <p:nvSpPr>
          <p:cNvPr id="18" name="Shape 13"/>
          <p:cNvSpPr/>
          <p:nvPr/>
        </p:nvSpPr>
        <p:spPr>
          <a:xfrm>
            <a:off x="7205472" y="2468880"/>
            <a:ext cx="640080" cy="640080"/>
          </a:xfrm>
          <a:prstGeom prst="ellipse">
            <a:avLst/>
          </a:prstGeom>
          <a:solidFill>
            <a:srgbClr val="1E2761"/>
          </a:solidFill>
        </p:spPr>
      </p:sp>
      <p:sp>
        <p:nvSpPr>
          <p:cNvPr id="19" name="Text 14"/>
          <p:cNvSpPr/>
          <p:nvPr/>
        </p:nvSpPr>
        <p:spPr>
          <a:xfrm>
            <a:off x="7205472" y="2468880"/>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2200" dirty="0"/>
          </a:p>
        </p:txBody>
      </p:sp>
      <p:pic>
        <p:nvPicPr>
          <p:cNvPr id="20" name="Image 3" descr="icons/search_1E2761.png"/>
          <p:cNvPicPr>
            <a:picLocks noChangeAspect="1"/>
          </p:cNvPicPr>
          <p:nvPr/>
        </p:nvPicPr>
        <p:blipFill>
          <a:blip r:embed="rId1"/>
          <a:stretch>
            <a:fillRect/>
          </a:stretch>
        </p:blipFill>
        <p:spPr>
          <a:xfrm>
            <a:off x="7274052" y="3291840"/>
            <a:ext cx="502920" cy="502920"/>
          </a:xfrm>
          <a:prstGeom prst="rect">
            <a:avLst/>
          </a:prstGeom>
        </p:spPr>
      </p:pic>
      <p:sp>
        <p:nvSpPr>
          <p:cNvPr id="21" name="Text 15"/>
          <p:cNvSpPr/>
          <p:nvPr/>
        </p:nvSpPr>
        <p:spPr>
          <a:xfrm>
            <a:off x="6359652" y="3931920"/>
            <a:ext cx="2331720" cy="457200"/>
          </a:xfrm>
          <a:prstGeom prst="rect">
            <a:avLst/>
          </a:prstGeom>
          <a:noFill/>
        </p:spPr>
        <p:txBody>
          <a:bodyPr wrap="square" lIns="0" tIns="0" rIns="0" bIns="0"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System Observation</a:t>
            </a:r>
            <a:endParaRPr lang="en-US" sz="1500" dirty="0"/>
          </a:p>
        </p:txBody>
      </p:sp>
      <p:sp>
        <p:nvSpPr>
          <p:cNvPr id="22" name="Text 16"/>
          <p:cNvSpPr/>
          <p:nvPr/>
        </p:nvSpPr>
        <p:spPr>
          <a:xfrm>
            <a:off x="6405372" y="4389120"/>
            <a:ext cx="2240280" cy="731520"/>
          </a:xfrm>
          <a:prstGeom prst="rect">
            <a:avLst/>
          </a:prstGeom>
          <a:noFill/>
        </p:spPr>
        <p:txBody>
          <a:bodyPr wrap="square" lIns="0" tIns="0" rIns="0" bIns="0" rtlCol="0" anchor="ctr"/>
          <a:lstStyle/>
          <a:p>
            <a:pPr marL="0" indent="0" algn="ctr">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Observed live systems and configurations directly.</a:t>
            </a:r>
            <a:endParaRPr lang="en-US" sz="1100" dirty="0"/>
          </a:p>
        </p:txBody>
      </p:sp>
      <p:sp>
        <p:nvSpPr>
          <p:cNvPr id="23" name="Shape 17"/>
          <p:cNvSpPr/>
          <p:nvPr/>
        </p:nvSpPr>
        <p:spPr>
          <a:xfrm>
            <a:off x="9084564" y="2148840"/>
            <a:ext cx="2606040" cy="3108960"/>
          </a:xfrm>
          <a:prstGeom prst="roundRect">
            <a:avLst>
              <a:gd name="adj" fmla="val 3509"/>
            </a:avLst>
          </a:prstGeom>
          <a:solidFill>
            <a:srgbClr val="F4F7FC"/>
          </a:solidFill>
          <a:effectLst>
            <a:outerShdw blurRad="76200" dist="25400" dir="5400000" algn="bl" rotWithShape="0">
              <a:srgbClr val="9AA6C4">
                <a:alpha val="25000"/>
              </a:srgbClr>
            </a:outerShdw>
          </a:effectLst>
        </p:spPr>
      </p:sp>
      <p:sp>
        <p:nvSpPr>
          <p:cNvPr id="24" name="Shape 18"/>
          <p:cNvSpPr/>
          <p:nvPr/>
        </p:nvSpPr>
        <p:spPr>
          <a:xfrm>
            <a:off x="10067544" y="2468880"/>
            <a:ext cx="640080" cy="640080"/>
          </a:xfrm>
          <a:prstGeom prst="ellipse">
            <a:avLst/>
          </a:prstGeom>
          <a:solidFill>
            <a:srgbClr val="1E2761"/>
          </a:solidFill>
        </p:spPr>
      </p:sp>
      <p:sp>
        <p:nvSpPr>
          <p:cNvPr id="25" name="Text 19"/>
          <p:cNvSpPr/>
          <p:nvPr/>
        </p:nvSpPr>
        <p:spPr>
          <a:xfrm>
            <a:off x="10067544" y="2468880"/>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2200" dirty="0"/>
          </a:p>
        </p:txBody>
      </p:sp>
      <p:pic>
        <p:nvPicPr>
          <p:cNvPr id="26" name="Image 4" descr="icons/checkcircle_1E2761.png"/>
          <p:cNvPicPr>
            <a:picLocks noChangeAspect="1"/>
          </p:cNvPicPr>
          <p:nvPr/>
        </p:nvPicPr>
        <p:blipFill>
          <a:blip r:embed="rId4"/>
          <a:stretch>
            <a:fillRect/>
          </a:stretch>
        </p:blipFill>
        <p:spPr>
          <a:xfrm>
            <a:off x="10136124" y="3291840"/>
            <a:ext cx="502920" cy="502920"/>
          </a:xfrm>
          <a:prstGeom prst="rect">
            <a:avLst/>
          </a:prstGeom>
        </p:spPr>
      </p:pic>
      <p:sp>
        <p:nvSpPr>
          <p:cNvPr id="27" name="Text 20"/>
          <p:cNvSpPr/>
          <p:nvPr/>
        </p:nvSpPr>
        <p:spPr>
          <a:xfrm>
            <a:off x="9221724" y="3931920"/>
            <a:ext cx="2331720" cy="457200"/>
          </a:xfrm>
          <a:prstGeom prst="rect">
            <a:avLst/>
          </a:prstGeom>
          <a:noFill/>
        </p:spPr>
        <p:txBody>
          <a:bodyPr wrap="square" lIns="0" tIns="0" rIns="0" bIns="0"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Sample Testing</a:t>
            </a:r>
            <a:endParaRPr lang="en-US" sz="1500" dirty="0"/>
          </a:p>
        </p:txBody>
      </p:sp>
      <p:sp>
        <p:nvSpPr>
          <p:cNvPr id="28" name="Text 21"/>
          <p:cNvSpPr/>
          <p:nvPr/>
        </p:nvSpPr>
        <p:spPr>
          <a:xfrm>
            <a:off x="9267444" y="4389120"/>
            <a:ext cx="2240280" cy="731520"/>
          </a:xfrm>
          <a:prstGeom prst="rect">
            <a:avLst/>
          </a:prstGeom>
          <a:noFill/>
        </p:spPr>
        <p:txBody>
          <a:bodyPr wrap="square" lIns="0" tIns="0" rIns="0" bIns="0" rtlCol="0" anchor="ctr"/>
          <a:lstStyle/>
          <a:p>
            <a:pPr marL="0" indent="0" algn="ctr">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Tested a sample of records and access controls.</a:t>
            </a:r>
            <a:endParaRPr lang="en-US" sz="1100" dirty="0"/>
          </a:p>
        </p:txBody>
      </p:sp>
      <p:sp>
        <p:nvSpPr>
          <p:cNvPr id="29" name="Text 22"/>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30" name="Text 23"/>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chartpie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566928"/>
            <a:ext cx="9875520" cy="822960"/>
          </a:xfrm>
          <a:prstGeom prst="rect">
            <a:avLst/>
          </a:prstGeom>
          <a:noFill/>
        </p:spPr>
        <p:txBody>
          <a:bodyPr wrap="square" lIns="0" tIns="0" rIns="0" bIns="0" rtlCol="0" anchor="ctr"/>
          <a:lstStyle/>
          <a:p>
            <a:pPr marL="0" indent="0" algn="l">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Overall Audit Result</a:t>
            </a:r>
            <a:endParaRPr lang="en-US" sz="3200" dirty="0"/>
          </a:p>
        </p:txBody>
      </p:sp>
      <p:sp>
        <p:nvSpPr>
          <p:cNvPr id="5" name="Shape 2"/>
          <p:cNvSpPr/>
          <p:nvPr/>
        </p:nvSpPr>
        <p:spPr>
          <a:xfrm>
            <a:off x="640080" y="2103120"/>
            <a:ext cx="2331720" cy="1737360"/>
          </a:xfrm>
          <a:prstGeom prst="roundRect">
            <a:avLst>
              <a:gd name="adj" fmla="val 5263"/>
            </a:avLst>
          </a:prstGeom>
          <a:solidFill>
            <a:srgbClr val="F4F7FC"/>
          </a:solidFill>
          <a:effectLst>
            <a:outerShdw blurRad="76200" dist="25400" dir="5400000" algn="bl" rotWithShape="0">
              <a:srgbClr val="9AA6C4">
                <a:alpha val="25000"/>
              </a:srgbClr>
            </a:outerShdw>
          </a:effectLst>
        </p:spPr>
      </p:sp>
      <p:sp>
        <p:nvSpPr>
          <p:cNvPr id="6" name="Shape 3"/>
          <p:cNvSpPr/>
          <p:nvPr/>
        </p:nvSpPr>
        <p:spPr>
          <a:xfrm>
            <a:off x="1723644" y="2359152"/>
            <a:ext cx="164592" cy="164592"/>
          </a:xfrm>
          <a:prstGeom prst="ellipse">
            <a:avLst/>
          </a:prstGeom>
          <a:solidFill>
            <a:srgbClr val="C0392B"/>
          </a:solidFill>
        </p:spPr>
      </p:sp>
      <p:sp>
        <p:nvSpPr>
          <p:cNvPr id="7" name="Text 4"/>
          <p:cNvSpPr/>
          <p:nvPr/>
        </p:nvSpPr>
        <p:spPr>
          <a:xfrm>
            <a:off x="640080" y="2560320"/>
            <a:ext cx="2331720" cy="777240"/>
          </a:xfrm>
          <a:prstGeom prst="rect">
            <a:avLst/>
          </a:prstGeom>
          <a:noFill/>
        </p:spPr>
        <p:txBody>
          <a:bodyPr wrap="square" lIns="0" tIns="0" rIns="0" bIns="0" rtlCol="0" anchor="ctr"/>
          <a:lstStyle/>
          <a:p>
            <a:pPr marL="0" indent="0" algn="ctr">
              <a:buNone/>
            </a:pPr>
            <a:r>
              <a:rPr lang="en-US" sz="4400" b="1" dirty="0">
                <a:solidFill>
                  <a:srgbClr val="1E2761"/>
                </a:solidFill>
                <a:latin typeface="Cambria" panose="02040503050406030204" pitchFamily="34" charset="0"/>
                <a:ea typeface="Cambria" panose="02040503050406030204" pitchFamily="34" charset="-122"/>
                <a:cs typeface="Cambria" panose="02040503050406030204" pitchFamily="34" charset="-120"/>
              </a:rPr>
              <a:t>2</a:t>
            </a:r>
            <a:endParaRPr lang="en-US" sz="4400" dirty="0"/>
          </a:p>
        </p:txBody>
      </p:sp>
      <p:sp>
        <p:nvSpPr>
          <p:cNvPr id="8" name="Text 5"/>
          <p:cNvSpPr/>
          <p:nvPr/>
        </p:nvSpPr>
        <p:spPr>
          <a:xfrm>
            <a:off x="640080" y="3383280"/>
            <a:ext cx="2331720" cy="365760"/>
          </a:xfrm>
          <a:prstGeom prst="rect">
            <a:avLst/>
          </a:prstGeom>
          <a:noFill/>
        </p:spPr>
        <p:txBody>
          <a:bodyPr wrap="square" lIns="0" tIns="0" rIns="0" bIns="0" rtlCol="0" anchor="ctr"/>
          <a:lstStyle/>
          <a:p>
            <a:pPr marL="0" indent="0" algn="ctr">
              <a:buNone/>
            </a:pPr>
            <a:r>
              <a:rPr lang="en-US" sz="1300" dirty="0">
                <a:solidFill>
                  <a:srgbClr val="5B6B84"/>
                </a:solidFill>
                <a:latin typeface="Calibri" panose="020F0502020204030204" pitchFamily="34" charset="0"/>
                <a:ea typeface="Calibri" panose="020F0502020204030204" pitchFamily="34" charset="-122"/>
                <a:cs typeface="Calibri" panose="020F0502020204030204" pitchFamily="34" charset="-120"/>
              </a:rPr>
              <a:t>High Risk</a:t>
            </a:r>
            <a:endParaRPr lang="en-US" sz="1300" dirty="0"/>
          </a:p>
        </p:txBody>
      </p:sp>
      <p:sp>
        <p:nvSpPr>
          <p:cNvPr id="9" name="Shape 6"/>
          <p:cNvSpPr/>
          <p:nvPr/>
        </p:nvSpPr>
        <p:spPr>
          <a:xfrm>
            <a:off x="3246120" y="2103120"/>
            <a:ext cx="2331720" cy="1737360"/>
          </a:xfrm>
          <a:prstGeom prst="roundRect">
            <a:avLst>
              <a:gd name="adj" fmla="val 5263"/>
            </a:avLst>
          </a:prstGeom>
          <a:solidFill>
            <a:srgbClr val="F4F7FC"/>
          </a:solidFill>
          <a:effectLst>
            <a:outerShdw blurRad="76200" dist="25400" dir="5400000" algn="bl" rotWithShape="0">
              <a:srgbClr val="9AA6C4">
                <a:alpha val="25000"/>
              </a:srgbClr>
            </a:outerShdw>
          </a:effectLst>
        </p:spPr>
      </p:sp>
      <p:sp>
        <p:nvSpPr>
          <p:cNvPr id="10" name="Shape 7"/>
          <p:cNvSpPr/>
          <p:nvPr/>
        </p:nvSpPr>
        <p:spPr>
          <a:xfrm>
            <a:off x="4329684" y="2359152"/>
            <a:ext cx="164592" cy="164592"/>
          </a:xfrm>
          <a:prstGeom prst="ellipse">
            <a:avLst/>
          </a:prstGeom>
          <a:solidFill>
            <a:srgbClr val="E08E0B"/>
          </a:solidFill>
        </p:spPr>
      </p:sp>
      <p:sp>
        <p:nvSpPr>
          <p:cNvPr id="11" name="Text 8"/>
          <p:cNvSpPr/>
          <p:nvPr/>
        </p:nvSpPr>
        <p:spPr>
          <a:xfrm>
            <a:off x="3246120" y="2560320"/>
            <a:ext cx="2331720" cy="777240"/>
          </a:xfrm>
          <a:prstGeom prst="rect">
            <a:avLst/>
          </a:prstGeom>
          <a:noFill/>
        </p:spPr>
        <p:txBody>
          <a:bodyPr wrap="square" lIns="0" tIns="0" rIns="0" bIns="0" rtlCol="0" anchor="ctr"/>
          <a:lstStyle/>
          <a:p>
            <a:pPr marL="0" indent="0" algn="ctr">
              <a:buNone/>
            </a:pPr>
            <a:r>
              <a:rPr lang="en-US" sz="4400" b="1" dirty="0">
                <a:solidFill>
                  <a:srgbClr val="1E2761"/>
                </a:solidFill>
                <a:latin typeface="Cambria" panose="02040503050406030204" pitchFamily="34" charset="0"/>
                <a:ea typeface="Cambria" panose="02040503050406030204" pitchFamily="34" charset="-122"/>
                <a:cs typeface="Cambria" panose="02040503050406030204" pitchFamily="34" charset="-120"/>
              </a:rPr>
              <a:t>1</a:t>
            </a:r>
            <a:endParaRPr lang="en-US" sz="4400" dirty="0"/>
          </a:p>
        </p:txBody>
      </p:sp>
      <p:sp>
        <p:nvSpPr>
          <p:cNvPr id="12" name="Text 9"/>
          <p:cNvSpPr/>
          <p:nvPr/>
        </p:nvSpPr>
        <p:spPr>
          <a:xfrm>
            <a:off x="3246120" y="3383280"/>
            <a:ext cx="2331720" cy="365760"/>
          </a:xfrm>
          <a:prstGeom prst="rect">
            <a:avLst/>
          </a:prstGeom>
          <a:noFill/>
        </p:spPr>
        <p:txBody>
          <a:bodyPr wrap="square" lIns="0" tIns="0" rIns="0" bIns="0" rtlCol="0" anchor="ctr"/>
          <a:lstStyle/>
          <a:p>
            <a:pPr marL="0" indent="0" algn="ctr">
              <a:buNone/>
            </a:pPr>
            <a:r>
              <a:rPr lang="en-US" sz="1300" dirty="0">
                <a:solidFill>
                  <a:srgbClr val="5B6B84"/>
                </a:solidFill>
                <a:latin typeface="Calibri" panose="020F0502020204030204" pitchFamily="34" charset="0"/>
                <a:ea typeface="Calibri" panose="020F0502020204030204" pitchFamily="34" charset="-122"/>
                <a:cs typeface="Calibri" panose="020F0502020204030204" pitchFamily="34" charset="-120"/>
              </a:rPr>
              <a:t>Medium Risk</a:t>
            </a:r>
            <a:endParaRPr lang="en-US" sz="1300" dirty="0"/>
          </a:p>
        </p:txBody>
      </p:sp>
      <p:sp>
        <p:nvSpPr>
          <p:cNvPr id="13" name="Shape 10"/>
          <p:cNvSpPr/>
          <p:nvPr/>
        </p:nvSpPr>
        <p:spPr>
          <a:xfrm>
            <a:off x="5852160" y="2103120"/>
            <a:ext cx="2331720" cy="1737360"/>
          </a:xfrm>
          <a:prstGeom prst="roundRect">
            <a:avLst>
              <a:gd name="adj" fmla="val 5263"/>
            </a:avLst>
          </a:prstGeom>
          <a:solidFill>
            <a:srgbClr val="F4F7FC"/>
          </a:solidFill>
          <a:effectLst>
            <a:outerShdw blurRad="76200" dist="25400" dir="5400000" algn="bl" rotWithShape="0">
              <a:srgbClr val="9AA6C4">
                <a:alpha val="25000"/>
              </a:srgbClr>
            </a:outerShdw>
          </a:effectLst>
        </p:spPr>
      </p:sp>
      <p:sp>
        <p:nvSpPr>
          <p:cNvPr id="14" name="Shape 11"/>
          <p:cNvSpPr/>
          <p:nvPr/>
        </p:nvSpPr>
        <p:spPr>
          <a:xfrm>
            <a:off x="6935724" y="2359152"/>
            <a:ext cx="164592" cy="164592"/>
          </a:xfrm>
          <a:prstGeom prst="ellipse">
            <a:avLst/>
          </a:prstGeom>
          <a:solidFill>
            <a:srgbClr val="2E8B57"/>
          </a:solidFill>
        </p:spPr>
      </p:sp>
      <p:sp>
        <p:nvSpPr>
          <p:cNvPr id="15" name="Text 12"/>
          <p:cNvSpPr/>
          <p:nvPr/>
        </p:nvSpPr>
        <p:spPr>
          <a:xfrm>
            <a:off x="5852160" y="2560320"/>
            <a:ext cx="2331720" cy="777240"/>
          </a:xfrm>
          <a:prstGeom prst="rect">
            <a:avLst/>
          </a:prstGeom>
          <a:noFill/>
        </p:spPr>
        <p:txBody>
          <a:bodyPr wrap="square" lIns="0" tIns="0" rIns="0" bIns="0" rtlCol="0" anchor="ctr"/>
          <a:lstStyle/>
          <a:p>
            <a:pPr marL="0" indent="0" algn="ctr">
              <a:buNone/>
            </a:pPr>
            <a:r>
              <a:rPr lang="en-US" sz="4400" b="1" dirty="0">
                <a:solidFill>
                  <a:srgbClr val="1E2761"/>
                </a:solidFill>
                <a:latin typeface="Cambria" panose="02040503050406030204" pitchFamily="34" charset="0"/>
                <a:ea typeface="Cambria" panose="02040503050406030204" pitchFamily="34" charset="-122"/>
                <a:cs typeface="Cambria" panose="02040503050406030204" pitchFamily="34" charset="-120"/>
              </a:rPr>
              <a:t>1</a:t>
            </a:r>
            <a:endParaRPr lang="en-US" sz="4400" dirty="0"/>
          </a:p>
        </p:txBody>
      </p:sp>
      <p:sp>
        <p:nvSpPr>
          <p:cNvPr id="16" name="Text 13"/>
          <p:cNvSpPr/>
          <p:nvPr/>
        </p:nvSpPr>
        <p:spPr>
          <a:xfrm>
            <a:off x="5852160" y="3383280"/>
            <a:ext cx="2331720" cy="365760"/>
          </a:xfrm>
          <a:prstGeom prst="rect">
            <a:avLst/>
          </a:prstGeom>
          <a:noFill/>
        </p:spPr>
        <p:txBody>
          <a:bodyPr wrap="square" lIns="0" tIns="0" rIns="0" bIns="0" rtlCol="0" anchor="ctr"/>
          <a:lstStyle/>
          <a:p>
            <a:pPr marL="0" indent="0" algn="ctr">
              <a:buNone/>
            </a:pPr>
            <a:r>
              <a:rPr lang="en-US" sz="1300" dirty="0">
                <a:solidFill>
                  <a:srgbClr val="5B6B84"/>
                </a:solidFill>
                <a:latin typeface="Calibri" panose="020F0502020204030204" pitchFamily="34" charset="0"/>
                <a:ea typeface="Calibri" panose="020F0502020204030204" pitchFamily="34" charset="-122"/>
                <a:cs typeface="Calibri" panose="020F0502020204030204" pitchFamily="34" charset="-120"/>
              </a:rPr>
              <a:t>Low Risk</a:t>
            </a:r>
            <a:endParaRPr lang="en-US" sz="1300" dirty="0"/>
          </a:p>
        </p:txBody>
      </p:sp>
      <p:sp>
        <p:nvSpPr>
          <p:cNvPr id="17" name="Shape 14"/>
          <p:cNvSpPr/>
          <p:nvPr/>
        </p:nvSpPr>
        <p:spPr>
          <a:xfrm>
            <a:off x="8549640" y="2103120"/>
            <a:ext cx="3017520" cy="3108960"/>
          </a:xfrm>
          <a:prstGeom prst="roundRect">
            <a:avLst>
              <a:gd name="adj" fmla="val 3030"/>
            </a:avLst>
          </a:prstGeom>
          <a:solidFill>
            <a:srgbClr val="1E2761"/>
          </a:solidFill>
          <a:effectLst>
            <a:outerShdw blurRad="101600" dist="25400" dir="5400000" algn="bl" rotWithShape="0">
              <a:srgbClr val="9AA6C4">
                <a:alpha val="30000"/>
              </a:srgbClr>
            </a:outerShdw>
          </a:effectLst>
        </p:spPr>
      </p:sp>
      <p:sp>
        <p:nvSpPr>
          <p:cNvPr id="18" name="Shape 15"/>
          <p:cNvSpPr/>
          <p:nvPr/>
        </p:nvSpPr>
        <p:spPr>
          <a:xfrm>
            <a:off x="9669780" y="2491740"/>
            <a:ext cx="777240" cy="777240"/>
          </a:xfrm>
          <a:prstGeom prst="ellipse">
            <a:avLst/>
          </a:prstGeom>
          <a:solidFill>
            <a:srgbClr val="CADCFC"/>
          </a:solidFill>
        </p:spPr>
      </p:sp>
      <p:pic>
        <p:nvPicPr>
          <p:cNvPr id="19" name="Image 1" descr="icons/warning_1E2761.png"/>
          <p:cNvPicPr>
            <a:picLocks noChangeAspect="1"/>
          </p:cNvPicPr>
          <p:nvPr/>
        </p:nvPicPr>
        <p:blipFill>
          <a:blip r:embed="rId2"/>
          <a:stretch>
            <a:fillRect/>
          </a:stretch>
        </p:blipFill>
        <p:spPr>
          <a:xfrm>
            <a:off x="9844659" y="2666619"/>
            <a:ext cx="427482" cy="427482"/>
          </a:xfrm>
          <a:prstGeom prst="rect">
            <a:avLst/>
          </a:prstGeom>
        </p:spPr>
      </p:pic>
      <p:sp>
        <p:nvSpPr>
          <p:cNvPr id="20" name="Text 16"/>
          <p:cNvSpPr/>
          <p:nvPr/>
        </p:nvSpPr>
        <p:spPr>
          <a:xfrm>
            <a:off x="8732520" y="3474720"/>
            <a:ext cx="2651760" cy="365760"/>
          </a:xfrm>
          <a:prstGeom prst="rect">
            <a:avLst/>
          </a:prstGeom>
          <a:noFill/>
        </p:spPr>
        <p:txBody>
          <a:bodyPr wrap="square" lIns="0" tIns="0" rIns="0" bIns="0" rtlCol="0" anchor="ctr"/>
          <a:lstStyle/>
          <a:p>
            <a:pPr marL="0" indent="0" algn="ctr">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Overall Rating</a:t>
            </a:r>
            <a:endParaRPr lang="en-US" sz="1300" dirty="0"/>
          </a:p>
        </p:txBody>
      </p:sp>
      <p:sp>
        <p:nvSpPr>
          <p:cNvPr id="21" name="Text 17"/>
          <p:cNvSpPr/>
          <p:nvPr/>
        </p:nvSpPr>
        <p:spPr>
          <a:xfrm>
            <a:off x="8732520" y="3840480"/>
            <a:ext cx="2651760" cy="1097280"/>
          </a:xfrm>
          <a:prstGeom prst="rect">
            <a:avLst/>
          </a:prstGeom>
          <a:noFill/>
        </p:spPr>
        <p:txBody>
          <a:bodyPr wrap="square" lIns="0" tIns="0" rIns="0" bIns="0" rtlCol="0" anchor="t"/>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Needs Improvement</a:t>
            </a:r>
            <a:endParaRPr lang="en-US" sz="2200" dirty="0"/>
          </a:p>
        </p:txBody>
      </p:sp>
      <p:sp>
        <p:nvSpPr>
          <p:cNvPr id="22" name="Text 18"/>
          <p:cNvSpPr/>
          <p:nvPr/>
        </p:nvSpPr>
        <p:spPr>
          <a:xfrm>
            <a:off x="640080" y="5623560"/>
            <a:ext cx="10881360" cy="457200"/>
          </a:xfrm>
          <a:prstGeom prst="rect">
            <a:avLst/>
          </a:prstGeom>
          <a:noFill/>
        </p:spPr>
        <p:txBody>
          <a:bodyPr wrap="square" lIns="0" tIns="0" rIns="0" bIns="0" rtlCol="0" anchor="ctr"/>
          <a:lstStyle/>
          <a:p>
            <a:pPr marL="0" indent="0">
              <a:buNone/>
            </a:pPr>
            <a:r>
              <a:rPr lang="en-US" sz="1300" i="1" dirty="0">
                <a:solidFill>
                  <a:srgbClr val="5B6B84"/>
                </a:solidFill>
                <a:latin typeface="Calibri" panose="020F0502020204030204" pitchFamily="34" charset="0"/>
                <a:ea typeface="Calibri" panose="020F0502020204030204" pitchFamily="34" charset="-122"/>
                <a:cs typeface="Calibri" panose="020F0502020204030204" pitchFamily="34" charset="-120"/>
              </a:rPr>
              <a:t>4 findings identified across 4 audit areas — details on the following slides.</a:t>
            </a:r>
            <a:endParaRPr lang="en-US" sz="1300" dirty="0"/>
          </a:p>
        </p:txBody>
      </p:sp>
      <p:sp>
        <p:nvSpPr>
          <p:cNvPr id="23" name="Text 19"/>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24" name="Text 20"/>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userlock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411480"/>
            <a:ext cx="7315200" cy="365760"/>
          </a:xfrm>
          <a:prstGeom prst="rect">
            <a:avLst/>
          </a:prstGeom>
          <a:noFill/>
        </p:spPr>
        <p:txBody>
          <a:bodyPr wrap="square" lIns="0" tIns="0" rIns="0" bIns="0" rtlCol="0" anchor="ctr"/>
          <a:lstStyle/>
          <a:p>
            <a:pPr marL="0" indent="0">
              <a:buNone/>
            </a:pPr>
            <a:r>
              <a:rPr lang="en-US" sz="1300" dirty="0">
                <a:solidFill>
                  <a:srgbClr val="5B6B84"/>
                </a:solidFill>
                <a:latin typeface="Calibri" panose="020F0502020204030204" pitchFamily="34" charset="0"/>
                <a:ea typeface="Calibri" panose="020F0502020204030204" pitchFamily="34" charset="-122"/>
                <a:cs typeface="Calibri" panose="020F0502020204030204" pitchFamily="34" charset="-120"/>
              </a:rPr>
              <a:t>Finding 1</a:t>
            </a:r>
            <a:endParaRPr lang="en-US" sz="1300" dirty="0"/>
          </a:p>
        </p:txBody>
      </p:sp>
      <p:sp>
        <p:nvSpPr>
          <p:cNvPr id="5" name="Text 2"/>
          <p:cNvSpPr/>
          <p:nvPr/>
        </p:nvSpPr>
        <p:spPr>
          <a:xfrm>
            <a:off x="1600200" y="731520"/>
            <a:ext cx="7589520" cy="685800"/>
          </a:xfrm>
          <a:prstGeom prst="rect">
            <a:avLst/>
          </a:prstGeom>
          <a:noFill/>
        </p:spPr>
        <p:txBody>
          <a:bodyPr wrap="square" lIns="0" tIns="0" rIns="0" bIns="0" rtlCol="0" anchor="ctr"/>
          <a:lstStyle/>
          <a:p>
            <a:pPr marL="0" indent="0">
              <a:buNone/>
            </a:pPr>
            <a:r>
              <a:rPr lang="en-US" sz="2500" b="1" dirty="0">
                <a:solidFill>
                  <a:srgbClr val="1E2761"/>
                </a:solidFill>
                <a:latin typeface="Cambria" panose="02040503050406030204" pitchFamily="34" charset="0"/>
                <a:ea typeface="Cambria" panose="02040503050406030204" pitchFamily="34" charset="-122"/>
                <a:cs typeface="Cambria" panose="02040503050406030204" pitchFamily="34" charset="-120"/>
              </a:rPr>
              <a:t>No Periodic User Access Review</a:t>
            </a:r>
            <a:endParaRPr lang="en-US" sz="2500" dirty="0"/>
          </a:p>
        </p:txBody>
      </p:sp>
      <p:sp>
        <p:nvSpPr>
          <p:cNvPr id="6" name="Shape 3"/>
          <p:cNvSpPr/>
          <p:nvPr/>
        </p:nvSpPr>
        <p:spPr>
          <a:xfrm>
            <a:off x="9692640" y="594360"/>
            <a:ext cx="1874520" cy="502920"/>
          </a:xfrm>
          <a:prstGeom prst="roundRect">
            <a:avLst>
              <a:gd name="adj" fmla="val 50909"/>
            </a:avLst>
          </a:prstGeom>
          <a:solidFill>
            <a:srgbClr val="C0392B"/>
          </a:solidFill>
        </p:spPr>
      </p:sp>
      <p:sp>
        <p:nvSpPr>
          <p:cNvPr id="7" name="Text 4"/>
          <p:cNvSpPr/>
          <p:nvPr/>
        </p:nvSpPr>
        <p:spPr>
          <a:xfrm>
            <a:off x="9692640" y="594360"/>
            <a:ext cx="1874520" cy="50292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 RISK</a:t>
            </a:r>
            <a:endParaRPr lang="en-US" sz="1300" dirty="0"/>
          </a:p>
        </p:txBody>
      </p:sp>
      <p:sp>
        <p:nvSpPr>
          <p:cNvPr id="8" name="Shape 5"/>
          <p:cNvSpPr/>
          <p:nvPr/>
        </p:nvSpPr>
        <p:spPr>
          <a:xfrm>
            <a:off x="640080" y="178308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9" name="Shape 6"/>
          <p:cNvSpPr/>
          <p:nvPr/>
        </p:nvSpPr>
        <p:spPr>
          <a:xfrm>
            <a:off x="640080" y="1783080"/>
            <a:ext cx="73152" cy="1371600"/>
          </a:xfrm>
          <a:prstGeom prst="rect">
            <a:avLst/>
          </a:prstGeom>
          <a:solidFill>
            <a:srgbClr val="5B6B84"/>
          </a:solidFill>
        </p:spPr>
      </p:sp>
      <p:sp>
        <p:nvSpPr>
          <p:cNvPr id="10" name="Text 7"/>
          <p:cNvSpPr/>
          <p:nvPr/>
        </p:nvSpPr>
        <p:spPr>
          <a:xfrm>
            <a:off x="960120" y="189280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Observation</a:t>
            </a:r>
            <a:endParaRPr lang="en-US" sz="1500" dirty="0"/>
          </a:p>
        </p:txBody>
      </p:sp>
      <p:sp>
        <p:nvSpPr>
          <p:cNvPr id="11" name="Text 8"/>
          <p:cNvSpPr/>
          <p:nvPr/>
        </p:nvSpPr>
        <p:spPr>
          <a:xfrm>
            <a:off x="3931920" y="189280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The university does not review user accounts and access rights on a regular schedule. Accounts of former students or staff may still be active.</a:t>
            </a:r>
            <a:endParaRPr lang="en-US" sz="1300" dirty="0"/>
          </a:p>
        </p:txBody>
      </p:sp>
      <p:sp>
        <p:nvSpPr>
          <p:cNvPr id="12" name="Shape 9"/>
          <p:cNvSpPr/>
          <p:nvPr/>
        </p:nvSpPr>
        <p:spPr>
          <a:xfrm>
            <a:off x="640080" y="329184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3" name="Shape 10"/>
          <p:cNvSpPr/>
          <p:nvPr/>
        </p:nvSpPr>
        <p:spPr>
          <a:xfrm>
            <a:off x="640080" y="3291840"/>
            <a:ext cx="73152" cy="1371600"/>
          </a:xfrm>
          <a:prstGeom prst="rect">
            <a:avLst/>
          </a:prstGeom>
          <a:solidFill>
            <a:srgbClr val="C0392B"/>
          </a:solidFill>
        </p:spPr>
      </p:sp>
      <p:sp>
        <p:nvSpPr>
          <p:cNvPr id="14" name="Text 11"/>
          <p:cNvSpPr/>
          <p:nvPr/>
        </p:nvSpPr>
        <p:spPr>
          <a:xfrm>
            <a:off x="960120" y="340156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Risk</a:t>
            </a:r>
            <a:endParaRPr lang="en-US" sz="1500" dirty="0"/>
          </a:p>
        </p:txBody>
      </p:sp>
      <p:sp>
        <p:nvSpPr>
          <p:cNvPr id="15" name="Text 12"/>
          <p:cNvSpPr/>
          <p:nvPr/>
        </p:nvSpPr>
        <p:spPr>
          <a:xfrm>
            <a:off x="3931920" y="340156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Inactive or unauthorized users could log in and access sensitive university systems and data without anyone noticing.</a:t>
            </a:r>
            <a:endParaRPr lang="en-US" sz="1300" dirty="0"/>
          </a:p>
        </p:txBody>
      </p:sp>
      <p:sp>
        <p:nvSpPr>
          <p:cNvPr id="16" name="Shape 13"/>
          <p:cNvSpPr/>
          <p:nvPr/>
        </p:nvSpPr>
        <p:spPr>
          <a:xfrm>
            <a:off x="640080" y="480060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7" name="Shape 14"/>
          <p:cNvSpPr/>
          <p:nvPr/>
        </p:nvSpPr>
        <p:spPr>
          <a:xfrm>
            <a:off x="640080" y="4800600"/>
            <a:ext cx="73152" cy="1371600"/>
          </a:xfrm>
          <a:prstGeom prst="rect">
            <a:avLst/>
          </a:prstGeom>
          <a:solidFill>
            <a:srgbClr val="2E8B57"/>
          </a:solidFill>
        </p:spPr>
      </p:sp>
      <p:sp>
        <p:nvSpPr>
          <p:cNvPr id="18" name="Text 15"/>
          <p:cNvSpPr/>
          <p:nvPr/>
        </p:nvSpPr>
        <p:spPr>
          <a:xfrm>
            <a:off x="960120" y="491032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Recommendation</a:t>
            </a:r>
            <a:endParaRPr lang="en-US" sz="1500" dirty="0"/>
          </a:p>
        </p:txBody>
      </p:sp>
      <p:sp>
        <p:nvSpPr>
          <p:cNvPr id="19" name="Text 16"/>
          <p:cNvSpPr/>
          <p:nvPr/>
        </p:nvSpPr>
        <p:spPr>
          <a:xfrm>
            <a:off x="3931920" y="491032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Review all user access rights every 3 months. Remove or disable accounts that are no longer needed.</a:t>
            </a:r>
            <a:endParaRPr lang="en-US" sz="1300" dirty="0"/>
          </a:p>
        </p:txBody>
      </p:sp>
      <p:sp>
        <p:nvSpPr>
          <p:cNvPr id="20" name="Text 17"/>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21" name="Text 18"/>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key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411480"/>
            <a:ext cx="7315200" cy="365760"/>
          </a:xfrm>
          <a:prstGeom prst="rect">
            <a:avLst/>
          </a:prstGeom>
          <a:noFill/>
        </p:spPr>
        <p:txBody>
          <a:bodyPr wrap="square" lIns="0" tIns="0" rIns="0" bIns="0" rtlCol="0" anchor="ctr"/>
          <a:lstStyle/>
          <a:p>
            <a:pPr marL="0" indent="0">
              <a:buNone/>
            </a:pPr>
            <a:r>
              <a:rPr lang="en-US" sz="1300" dirty="0">
                <a:solidFill>
                  <a:srgbClr val="5B6B84"/>
                </a:solidFill>
                <a:latin typeface="Calibri" panose="020F0502020204030204" pitchFamily="34" charset="0"/>
                <a:ea typeface="Calibri" panose="020F0502020204030204" pitchFamily="34" charset="-122"/>
                <a:cs typeface="Calibri" panose="020F0502020204030204" pitchFamily="34" charset="-120"/>
              </a:rPr>
              <a:t>Finding 2</a:t>
            </a:r>
            <a:endParaRPr lang="en-US" sz="1300" dirty="0"/>
          </a:p>
        </p:txBody>
      </p:sp>
      <p:sp>
        <p:nvSpPr>
          <p:cNvPr id="5" name="Text 2"/>
          <p:cNvSpPr/>
          <p:nvPr/>
        </p:nvSpPr>
        <p:spPr>
          <a:xfrm>
            <a:off x="1600200" y="731520"/>
            <a:ext cx="7589520" cy="685800"/>
          </a:xfrm>
          <a:prstGeom prst="rect">
            <a:avLst/>
          </a:prstGeom>
          <a:noFill/>
        </p:spPr>
        <p:txBody>
          <a:bodyPr wrap="square" lIns="0" tIns="0" rIns="0" bIns="0" rtlCol="0" anchor="ctr"/>
          <a:lstStyle/>
          <a:p>
            <a:pPr marL="0" indent="0">
              <a:buNone/>
            </a:pPr>
            <a:r>
              <a:rPr lang="en-US" sz="2500" b="1" dirty="0">
                <a:solidFill>
                  <a:srgbClr val="1E2761"/>
                </a:solidFill>
                <a:latin typeface="Cambria" panose="02040503050406030204" pitchFamily="34" charset="0"/>
                <a:ea typeface="Cambria" panose="02040503050406030204" pitchFamily="34" charset="-122"/>
                <a:cs typeface="Cambria" panose="02040503050406030204" pitchFamily="34" charset="-120"/>
              </a:rPr>
              <a:t>Weak Password Policy</a:t>
            </a:r>
            <a:endParaRPr lang="en-US" sz="2500" dirty="0"/>
          </a:p>
        </p:txBody>
      </p:sp>
      <p:sp>
        <p:nvSpPr>
          <p:cNvPr id="6" name="Shape 3"/>
          <p:cNvSpPr/>
          <p:nvPr/>
        </p:nvSpPr>
        <p:spPr>
          <a:xfrm>
            <a:off x="9692640" y="594360"/>
            <a:ext cx="1874520" cy="502920"/>
          </a:xfrm>
          <a:prstGeom prst="roundRect">
            <a:avLst>
              <a:gd name="adj" fmla="val 50909"/>
            </a:avLst>
          </a:prstGeom>
          <a:solidFill>
            <a:srgbClr val="C0392B"/>
          </a:solidFill>
        </p:spPr>
      </p:sp>
      <p:sp>
        <p:nvSpPr>
          <p:cNvPr id="7" name="Text 4"/>
          <p:cNvSpPr/>
          <p:nvPr/>
        </p:nvSpPr>
        <p:spPr>
          <a:xfrm>
            <a:off x="9692640" y="594360"/>
            <a:ext cx="1874520" cy="50292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 RISK</a:t>
            </a:r>
            <a:endParaRPr lang="en-US" sz="1300" dirty="0"/>
          </a:p>
        </p:txBody>
      </p:sp>
      <p:sp>
        <p:nvSpPr>
          <p:cNvPr id="8" name="Shape 5"/>
          <p:cNvSpPr/>
          <p:nvPr/>
        </p:nvSpPr>
        <p:spPr>
          <a:xfrm>
            <a:off x="640080" y="178308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9" name="Shape 6"/>
          <p:cNvSpPr/>
          <p:nvPr/>
        </p:nvSpPr>
        <p:spPr>
          <a:xfrm>
            <a:off x="640080" y="1783080"/>
            <a:ext cx="73152" cy="1371600"/>
          </a:xfrm>
          <a:prstGeom prst="rect">
            <a:avLst/>
          </a:prstGeom>
          <a:solidFill>
            <a:srgbClr val="5B6B84"/>
          </a:solidFill>
        </p:spPr>
      </p:sp>
      <p:sp>
        <p:nvSpPr>
          <p:cNvPr id="10" name="Text 7"/>
          <p:cNvSpPr/>
          <p:nvPr/>
        </p:nvSpPr>
        <p:spPr>
          <a:xfrm>
            <a:off x="960120" y="189280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Observation</a:t>
            </a:r>
            <a:endParaRPr lang="en-US" sz="1500" dirty="0"/>
          </a:p>
        </p:txBody>
      </p:sp>
      <p:sp>
        <p:nvSpPr>
          <p:cNvPr id="11" name="Text 8"/>
          <p:cNvSpPr/>
          <p:nvPr/>
        </p:nvSpPr>
        <p:spPr>
          <a:xfrm>
            <a:off x="3931920" y="189280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Current rules do not require a strong mix of letters, numbers, and symbols. Users can set simple, easy-to-guess passwords.</a:t>
            </a:r>
            <a:endParaRPr lang="en-US" sz="1300" dirty="0"/>
          </a:p>
        </p:txBody>
      </p:sp>
      <p:sp>
        <p:nvSpPr>
          <p:cNvPr id="12" name="Shape 9"/>
          <p:cNvSpPr/>
          <p:nvPr/>
        </p:nvSpPr>
        <p:spPr>
          <a:xfrm>
            <a:off x="640080" y="329184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3" name="Shape 10"/>
          <p:cNvSpPr/>
          <p:nvPr/>
        </p:nvSpPr>
        <p:spPr>
          <a:xfrm>
            <a:off x="640080" y="3291840"/>
            <a:ext cx="73152" cy="1371600"/>
          </a:xfrm>
          <a:prstGeom prst="rect">
            <a:avLst/>
          </a:prstGeom>
          <a:solidFill>
            <a:srgbClr val="C0392B"/>
          </a:solidFill>
        </p:spPr>
      </p:sp>
      <p:sp>
        <p:nvSpPr>
          <p:cNvPr id="14" name="Text 11"/>
          <p:cNvSpPr/>
          <p:nvPr/>
        </p:nvSpPr>
        <p:spPr>
          <a:xfrm>
            <a:off x="960120" y="340156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Risk</a:t>
            </a:r>
            <a:endParaRPr lang="en-US" sz="1500" dirty="0"/>
          </a:p>
        </p:txBody>
      </p:sp>
      <p:sp>
        <p:nvSpPr>
          <p:cNvPr id="15" name="Text 12"/>
          <p:cNvSpPr/>
          <p:nvPr/>
        </p:nvSpPr>
        <p:spPr>
          <a:xfrm>
            <a:off x="3931920" y="340156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Weak passwords are easier for hackers to guess or crack, which can lead to compromised accounts and stolen data.</a:t>
            </a:r>
            <a:endParaRPr lang="en-US" sz="1300" dirty="0"/>
          </a:p>
        </p:txBody>
      </p:sp>
      <p:sp>
        <p:nvSpPr>
          <p:cNvPr id="16" name="Shape 13"/>
          <p:cNvSpPr/>
          <p:nvPr/>
        </p:nvSpPr>
        <p:spPr>
          <a:xfrm>
            <a:off x="640080" y="480060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7" name="Shape 14"/>
          <p:cNvSpPr/>
          <p:nvPr/>
        </p:nvSpPr>
        <p:spPr>
          <a:xfrm>
            <a:off x="640080" y="4800600"/>
            <a:ext cx="73152" cy="1371600"/>
          </a:xfrm>
          <a:prstGeom prst="rect">
            <a:avLst/>
          </a:prstGeom>
          <a:solidFill>
            <a:srgbClr val="2E8B57"/>
          </a:solidFill>
        </p:spPr>
      </p:sp>
      <p:sp>
        <p:nvSpPr>
          <p:cNvPr id="18" name="Text 15"/>
          <p:cNvSpPr/>
          <p:nvPr/>
        </p:nvSpPr>
        <p:spPr>
          <a:xfrm>
            <a:off x="960120" y="491032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Recommendation</a:t>
            </a:r>
            <a:endParaRPr lang="en-US" sz="1500" dirty="0"/>
          </a:p>
        </p:txBody>
      </p:sp>
      <p:sp>
        <p:nvSpPr>
          <p:cNvPr id="19" name="Text 16"/>
          <p:cNvSpPr/>
          <p:nvPr/>
        </p:nvSpPr>
        <p:spPr>
          <a:xfrm>
            <a:off x="3931920" y="491032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Set a strong password policy and enable Multi-Factor Authentication (MFA) for all accounts.</a:t>
            </a:r>
            <a:endParaRPr lang="en-US" sz="1300" dirty="0"/>
          </a:p>
        </p:txBody>
      </p:sp>
      <p:sp>
        <p:nvSpPr>
          <p:cNvPr id="20" name="Text 17"/>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21" name="Text 18"/>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database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411480"/>
            <a:ext cx="7315200" cy="365760"/>
          </a:xfrm>
          <a:prstGeom prst="rect">
            <a:avLst/>
          </a:prstGeom>
          <a:noFill/>
        </p:spPr>
        <p:txBody>
          <a:bodyPr wrap="square" lIns="0" tIns="0" rIns="0" bIns="0" rtlCol="0" anchor="ctr"/>
          <a:lstStyle/>
          <a:p>
            <a:pPr marL="0" indent="0">
              <a:buNone/>
            </a:pPr>
            <a:r>
              <a:rPr lang="en-US" sz="1300" dirty="0">
                <a:solidFill>
                  <a:srgbClr val="5B6B84"/>
                </a:solidFill>
                <a:latin typeface="Calibri" panose="020F0502020204030204" pitchFamily="34" charset="0"/>
                <a:ea typeface="Calibri" panose="020F0502020204030204" pitchFamily="34" charset="-122"/>
                <a:cs typeface="Calibri" panose="020F0502020204030204" pitchFamily="34" charset="-120"/>
              </a:rPr>
              <a:t>Finding 3</a:t>
            </a:r>
            <a:endParaRPr lang="en-US" sz="1300" dirty="0"/>
          </a:p>
        </p:txBody>
      </p:sp>
      <p:sp>
        <p:nvSpPr>
          <p:cNvPr id="5" name="Text 2"/>
          <p:cNvSpPr/>
          <p:nvPr/>
        </p:nvSpPr>
        <p:spPr>
          <a:xfrm>
            <a:off x="1600200" y="731520"/>
            <a:ext cx="7589520" cy="685800"/>
          </a:xfrm>
          <a:prstGeom prst="rect">
            <a:avLst/>
          </a:prstGeom>
          <a:noFill/>
        </p:spPr>
        <p:txBody>
          <a:bodyPr wrap="square" lIns="0" tIns="0" rIns="0" bIns="0" rtlCol="0" anchor="ctr"/>
          <a:lstStyle/>
          <a:p>
            <a:pPr marL="0" indent="0">
              <a:buNone/>
            </a:pPr>
            <a:r>
              <a:rPr lang="en-US" sz="2500" b="1" dirty="0">
                <a:solidFill>
                  <a:srgbClr val="1E2761"/>
                </a:solidFill>
                <a:latin typeface="Cambria" panose="02040503050406030204" pitchFamily="34" charset="0"/>
                <a:ea typeface="Cambria" panose="02040503050406030204" pitchFamily="34" charset="-122"/>
                <a:cs typeface="Cambria" panose="02040503050406030204" pitchFamily="34" charset="-120"/>
              </a:rPr>
              <a:t>Backup Monitoring Not Documented</a:t>
            </a:r>
            <a:endParaRPr lang="en-US" sz="2500" dirty="0"/>
          </a:p>
        </p:txBody>
      </p:sp>
      <p:sp>
        <p:nvSpPr>
          <p:cNvPr id="6" name="Shape 3"/>
          <p:cNvSpPr/>
          <p:nvPr/>
        </p:nvSpPr>
        <p:spPr>
          <a:xfrm>
            <a:off x="9692640" y="594360"/>
            <a:ext cx="1874520" cy="502920"/>
          </a:xfrm>
          <a:prstGeom prst="roundRect">
            <a:avLst>
              <a:gd name="adj" fmla="val 50909"/>
            </a:avLst>
          </a:prstGeom>
          <a:solidFill>
            <a:srgbClr val="E08E0B"/>
          </a:solidFill>
        </p:spPr>
      </p:sp>
      <p:sp>
        <p:nvSpPr>
          <p:cNvPr id="7" name="Text 4"/>
          <p:cNvSpPr/>
          <p:nvPr/>
        </p:nvSpPr>
        <p:spPr>
          <a:xfrm>
            <a:off x="9692640" y="594360"/>
            <a:ext cx="1874520" cy="50292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MEDIUM RISK</a:t>
            </a:r>
            <a:endParaRPr lang="en-US" sz="1300" dirty="0"/>
          </a:p>
        </p:txBody>
      </p:sp>
      <p:sp>
        <p:nvSpPr>
          <p:cNvPr id="8" name="Shape 5"/>
          <p:cNvSpPr/>
          <p:nvPr/>
        </p:nvSpPr>
        <p:spPr>
          <a:xfrm>
            <a:off x="640080" y="178308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9" name="Shape 6"/>
          <p:cNvSpPr/>
          <p:nvPr/>
        </p:nvSpPr>
        <p:spPr>
          <a:xfrm>
            <a:off x="640080" y="1783080"/>
            <a:ext cx="73152" cy="1371600"/>
          </a:xfrm>
          <a:prstGeom prst="rect">
            <a:avLst/>
          </a:prstGeom>
          <a:solidFill>
            <a:srgbClr val="5B6B84"/>
          </a:solidFill>
        </p:spPr>
      </p:sp>
      <p:sp>
        <p:nvSpPr>
          <p:cNvPr id="10" name="Text 7"/>
          <p:cNvSpPr/>
          <p:nvPr/>
        </p:nvSpPr>
        <p:spPr>
          <a:xfrm>
            <a:off x="960120" y="189280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Observation</a:t>
            </a:r>
            <a:endParaRPr lang="en-US" sz="1500" dirty="0"/>
          </a:p>
        </p:txBody>
      </p:sp>
      <p:sp>
        <p:nvSpPr>
          <p:cNvPr id="11" name="Text 8"/>
          <p:cNvSpPr/>
          <p:nvPr/>
        </p:nvSpPr>
        <p:spPr>
          <a:xfrm>
            <a:off x="3931920" y="189280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The IT team performs regular data backups, but does not test or document whether these backups can actually be restored.</a:t>
            </a:r>
            <a:endParaRPr lang="en-US" sz="1300" dirty="0"/>
          </a:p>
        </p:txBody>
      </p:sp>
      <p:sp>
        <p:nvSpPr>
          <p:cNvPr id="12" name="Shape 9"/>
          <p:cNvSpPr/>
          <p:nvPr/>
        </p:nvSpPr>
        <p:spPr>
          <a:xfrm>
            <a:off x="640080" y="329184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3" name="Shape 10"/>
          <p:cNvSpPr/>
          <p:nvPr/>
        </p:nvSpPr>
        <p:spPr>
          <a:xfrm>
            <a:off x="640080" y="3291840"/>
            <a:ext cx="73152" cy="1371600"/>
          </a:xfrm>
          <a:prstGeom prst="rect">
            <a:avLst/>
          </a:prstGeom>
          <a:solidFill>
            <a:srgbClr val="C0392B"/>
          </a:solidFill>
        </p:spPr>
      </p:sp>
      <p:sp>
        <p:nvSpPr>
          <p:cNvPr id="14" name="Text 11"/>
          <p:cNvSpPr/>
          <p:nvPr/>
        </p:nvSpPr>
        <p:spPr>
          <a:xfrm>
            <a:off x="960120" y="340156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Risk</a:t>
            </a:r>
            <a:endParaRPr lang="en-US" sz="1500" dirty="0"/>
          </a:p>
        </p:txBody>
      </p:sp>
      <p:sp>
        <p:nvSpPr>
          <p:cNvPr id="15" name="Text 12"/>
          <p:cNvSpPr/>
          <p:nvPr/>
        </p:nvSpPr>
        <p:spPr>
          <a:xfrm>
            <a:off x="3931920" y="340156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If a real emergency happens, the university may find out too late that a backup does not work, causing lasting data loss.</a:t>
            </a:r>
            <a:endParaRPr lang="en-US" sz="1300" dirty="0"/>
          </a:p>
        </p:txBody>
      </p:sp>
      <p:sp>
        <p:nvSpPr>
          <p:cNvPr id="16" name="Shape 13"/>
          <p:cNvSpPr/>
          <p:nvPr/>
        </p:nvSpPr>
        <p:spPr>
          <a:xfrm>
            <a:off x="640080" y="480060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7" name="Shape 14"/>
          <p:cNvSpPr/>
          <p:nvPr/>
        </p:nvSpPr>
        <p:spPr>
          <a:xfrm>
            <a:off x="640080" y="4800600"/>
            <a:ext cx="73152" cy="1371600"/>
          </a:xfrm>
          <a:prstGeom prst="rect">
            <a:avLst/>
          </a:prstGeom>
          <a:solidFill>
            <a:srgbClr val="2E8B57"/>
          </a:solidFill>
        </p:spPr>
      </p:sp>
      <p:sp>
        <p:nvSpPr>
          <p:cNvPr id="18" name="Text 15"/>
          <p:cNvSpPr/>
          <p:nvPr/>
        </p:nvSpPr>
        <p:spPr>
          <a:xfrm>
            <a:off x="960120" y="491032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Recommendation</a:t>
            </a:r>
            <a:endParaRPr lang="en-US" sz="1500" dirty="0"/>
          </a:p>
        </p:txBody>
      </p:sp>
      <p:sp>
        <p:nvSpPr>
          <p:cNvPr id="19" name="Text 16"/>
          <p:cNvSpPr/>
          <p:nvPr/>
        </p:nvSpPr>
        <p:spPr>
          <a:xfrm>
            <a:off x="3931920" y="491032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Test backup restoration every quarter and keep written records of each test and its result.</a:t>
            </a:r>
            <a:endParaRPr lang="en-US" sz="1300" dirty="0"/>
          </a:p>
        </p:txBody>
      </p:sp>
      <p:sp>
        <p:nvSpPr>
          <p:cNvPr id="20" name="Text 17"/>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21" name="Text 18"/>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boxes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411480"/>
            <a:ext cx="7315200" cy="365760"/>
          </a:xfrm>
          <a:prstGeom prst="rect">
            <a:avLst/>
          </a:prstGeom>
          <a:noFill/>
        </p:spPr>
        <p:txBody>
          <a:bodyPr wrap="square" lIns="0" tIns="0" rIns="0" bIns="0" rtlCol="0" anchor="ctr"/>
          <a:lstStyle/>
          <a:p>
            <a:pPr marL="0" indent="0">
              <a:buNone/>
            </a:pPr>
            <a:r>
              <a:rPr lang="en-US" sz="1300" dirty="0">
                <a:solidFill>
                  <a:srgbClr val="5B6B84"/>
                </a:solidFill>
                <a:latin typeface="Calibri" panose="020F0502020204030204" pitchFamily="34" charset="0"/>
                <a:ea typeface="Calibri" panose="020F0502020204030204" pitchFamily="34" charset="-122"/>
                <a:cs typeface="Calibri" panose="020F0502020204030204" pitchFamily="34" charset="-120"/>
              </a:rPr>
              <a:t>Finding 4</a:t>
            </a:r>
            <a:endParaRPr lang="en-US" sz="1300" dirty="0"/>
          </a:p>
        </p:txBody>
      </p:sp>
      <p:sp>
        <p:nvSpPr>
          <p:cNvPr id="5" name="Text 2"/>
          <p:cNvSpPr/>
          <p:nvPr/>
        </p:nvSpPr>
        <p:spPr>
          <a:xfrm>
            <a:off x="1600200" y="731520"/>
            <a:ext cx="7589520" cy="685800"/>
          </a:xfrm>
          <a:prstGeom prst="rect">
            <a:avLst/>
          </a:prstGeom>
          <a:noFill/>
        </p:spPr>
        <p:txBody>
          <a:bodyPr wrap="square" lIns="0" tIns="0" rIns="0" bIns="0" rtlCol="0" anchor="ctr"/>
          <a:lstStyle/>
          <a:p>
            <a:pPr marL="0" indent="0">
              <a:buNone/>
            </a:pPr>
            <a:r>
              <a:rPr lang="en-US" sz="2500" b="1" dirty="0">
                <a:solidFill>
                  <a:srgbClr val="1E2761"/>
                </a:solidFill>
                <a:latin typeface="Cambria" panose="02040503050406030204" pitchFamily="34" charset="0"/>
                <a:ea typeface="Cambria" panose="02040503050406030204" pitchFamily="34" charset="-122"/>
                <a:cs typeface="Cambria" panose="02040503050406030204" pitchFamily="34" charset="-120"/>
              </a:rPr>
              <a:t>IT Asset Inventory Not Updated</a:t>
            </a:r>
            <a:endParaRPr lang="en-US" sz="2500" dirty="0"/>
          </a:p>
        </p:txBody>
      </p:sp>
      <p:sp>
        <p:nvSpPr>
          <p:cNvPr id="6" name="Shape 3"/>
          <p:cNvSpPr/>
          <p:nvPr/>
        </p:nvSpPr>
        <p:spPr>
          <a:xfrm>
            <a:off x="9692640" y="594360"/>
            <a:ext cx="1874520" cy="502920"/>
          </a:xfrm>
          <a:prstGeom prst="roundRect">
            <a:avLst>
              <a:gd name="adj" fmla="val 50909"/>
            </a:avLst>
          </a:prstGeom>
          <a:solidFill>
            <a:srgbClr val="2E8B57"/>
          </a:solidFill>
        </p:spPr>
      </p:sp>
      <p:sp>
        <p:nvSpPr>
          <p:cNvPr id="7" name="Text 4"/>
          <p:cNvSpPr/>
          <p:nvPr/>
        </p:nvSpPr>
        <p:spPr>
          <a:xfrm>
            <a:off x="9692640" y="594360"/>
            <a:ext cx="1874520" cy="50292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 RISK</a:t>
            </a:r>
            <a:endParaRPr lang="en-US" sz="1300" dirty="0"/>
          </a:p>
        </p:txBody>
      </p:sp>
      <p:sp>
        <p:nvSpPr>
          <p:cNvPr id="8" name="Shape 5"/>
          <p:cNvSpPr/>
          <p:nvPr/>
        </p:nvSpPr>
        <p:spPr>
          <a:xfrm>
            <a:off x="640080" y="178308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9" name="Shape 6"/>
          <p:cNvSpPr/>
          <p:nvPr/>
        </p:nvSpPr>
        <p:spPr>
          <a:xfrm>
            <a:off x="640080" y="1783080"/>
            <a:ext cx="73152" cy="1371600"/>
          </a:xfrm>
          <a:prstGeom prst="rect">
            <a:avLst/>
          </a:prstGeom>
          <a:solidFill>
            <a:srgbClr val="5B6B84"/>
          </a:solidFill>
        </p:spPr>
      </p:sp>
      <p:sp>
        <p:nvSpPr>
          <p:cNvPr id="10" name="Text 7"/>
          <p:cNvSpPr/>
          <p:nvPr/>
        </p:nvSpPr>
        <p:spPr>
          <a:xfrm>
            <a:off x="960120" y="189280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Observation</a:t>
            </a:r>
            <a:endParaRPr lang="en-US" sz="1500" dirty="0"/>
          </a:p>
        </p:txBody>
      </p:sp>
      <p:sp>
        <p:nvSpPr>
          <p:cNvPr id="11" name="Text 8"/>
          <p:cNvSpPr/>
          <p:nvPr/>
        </p:nvSpPr>
        <p:spPr>
          <a:xfrm>
            <a:off x="3931920" y="189280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Some laptops, desktops, and network devices are missing from the official IT asset inventory list.</a:t>
            </a:r>
            <a:endParaRPr lang="en-US" sz="1300" dirty="0"/>
          </a:p>
        </p:txBody>
      </p:sp>
      <p:sp>
        <p:nvSpPr>
          <p:cNvPr id="12" name="Shape 9"/>
          <p:cNvSpPr/>
          <p:nvPr/>
        </p:nvSpPr>
        <p:spPr>
          <a:xfrm>
            <a:off x="640080" y="329184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3" name="Shape 10"/>
          <p:cNvSpPr/>
          <p:nvPr/>
        </p:nvSpPr>
        <p:spPr>
          <a:xfrm>
            <a:off x="640080" y="3291840"/>
            <a:ext cx="73152" cy="1371600"/>
          </a:xfrm>
          <a:prstGeom prst="rect">
            <a:avLst/>
          </a:prstGeom>
          <a:solidFill>
            <a:srgbClr val="C0392B"/>
          </a:solidFill>
        </p:spPr>
      </p:sp>
      <p:sp>
        <p:nvSpPr>
          <p:cNvPr id="14" name="Text 11"/>
          <p:cNvSpPr/>
          <p:nvPr/>
        </p:nvSpPr>
        <p:spPr>
          <a:xfrm>
            <a:off x="960120" y="340156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Risk</a:t>
            </a:r>
            <a:endParaRPr lang="en-US" sz="1500" dirty="0"/>
          </a:p>
        </p:txBody>
      </p:sp>
      <p:sp>
        <p:nvSpPr>
          <p:cNvPr id="15" name="Text 12"/>
          <p:cNvSpPr/>
          <p:nvPr/>
        </p:nvSpPr>
        <p:spPr>
          <a:xfrm>
            <a:off x="3931920" y="340156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It becomes harder to track, maintain, and secure devices that are not properly recorded.</a:t>
            </a:r>
            <a:endParaRPr lang="en-US" sz="1300" dirty="0"/>
          </a:p>
        </p:txBody>
      </p:sp>
      <p:sp>
        <p:nvSpPr>
          <p:cNvPr id="16" name="Shape 13"/>
          <p:cNvSpPr/>
          <p:nvPr/>
        </p:nvSpPr>
        <p:spPr>
          <a:xfrm>
            <a:off x="640080" y="4800600"/>
            <a:ext cx="10881360" cy="1371600"/>
          </a:xfrm>
          <a:prstGeom prst="roundRect">
            <a:avLst>
              <a:gd name="adj" fmla="val 5333"/>
            </a:avLst>
          </a:prstGeom>
          <a:solidFill>
            <a:srgbClr val="F4F7FC"/>
          </a:solidFill>
          <a:effectLst>
            <a:outerShdw blurRad="76200" dist="25400" dir="5400000" algn="bl" rotWithShape="0">
              <a:srgbClr val="9AA6C4">
                <a:alpha val="20000"/>
              </a:srgbClr>
            </a:outerShdw>
          </a:effectLst>
        </p:spPr>
      </p:sp>
      <p:sp>
        <p:nvSpPr>
          <p:cNvPr id="17" name="Shape 14"/>
          <p:cNvSpPr/>
          <p:nvPr/>
        </p:nvSpPr>
        <p:spPr>
          <a:xfrm>
            <a:off x="640080" y="4800600"/>
            <a:ext cx="73152" cy="1371600"/>
          </a:xfrm>
          <a:prstGeom prst="rect">
            <a:avLst/>
          </a:prstGeom>
          <a:solidFill>
            <a:srgbClr val="2E8B57"/>
          </a:solidFill>
        </p:spPr>
      </p:sp>
      <p:sp>
        <p:nvSpPr>
          <p:cNvPr id="18" name="Text 15"/>
          <p:cNvSpPr/>
          <p:nvPr/>
        </p:nvSpPr>
        <p:spPr>
          <a:xfrm>
            <a:off x="960120" y="4910328"/>
            <a:ext cx="2926080" cy="1152144"/>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Recommendation</a:t>
            </a:r>
            <a:endParaRPr lang="en-US" sz="1500" dirty="0"/>
          </a:p>
        </p:txBody>
      </p:sp>
      <p:sp>
        <p:nvSpPr>
          <p:cNvPr id="19" name="Text 16"/>
          <p:cNvSpPr/>
          <p:nvPr/>
        </p:nvSpPr>
        <p:spPr>
          <a:xfrm>
            <a:off x="3931920" y="4910328"/>
            <a:ext cx="7406640" cy="1152144"/>
          </a:xfrm>
          <a:prstGeom prst="rect">
            <a:avLst/>
          </a:prstGeom>
          <a:noFill/>
        </p:spPr>
        <p:txBody>
          <a:bodyPr wrap="square" lIns="0" tIns="0" rIns="0" bIns="0" rtlCol="0" anchor="ctr"/>
          <a:lstStyle/>
          <a:p>
            <a:pPr marL="0" indent="0">
              <a:lnSpc>
                <a:spcPct val="115000"/>
              </a:lnSpc>
              <a:buNone/>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Update the asset register regularly and count devices physically at least once a year.</a:t>
            </a:r>
            <a:endParaRPr lang="en-US" sz="1300" dirty="0"/>
          </a:p>
        </p:txBody>
      </p:sp>
      <p:sp>
        <p:nvSpPr>
          <p:cNvPr id="20" name="Text 17"/>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21" name="Text 18"/>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tasks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566928"/>
            <a:ext cx="9875520" cy="822960"/>
          </a:xfrm>
          <a:prstGeom prst="rect">
            <a:avLst/>
          </a:prstGeom>
          <a:noFill/>
        </p:spPr>
        <p:txBody>
          <a:bodyPr wrap="square" lIns="0" tIns="0" rIns="0" bIns="0" rtlCol="0" anchor="ctr"/>
          <a:lstStyle/>
          <a:p>
            <a:pPr marL="0" indent="0" algn="l">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Recommendations Summary</a:t>
            </a:r>
            <a:endParaRPr lang="en-US" sz="3200" dirty="0"/>
          </a:p>
        </p:txBody>
      </p:sp>
      <p:sp>
        <p:nvSpPr>
          <p:cNvPr id="5" name="Shape 2"/>
          <p:cNvSpPr/>
          <p:nvPr/>
        </p:nvSpPr>
        <p:spPr>
          <a:xfrm>
            <a:off x="640080" y="1737360"/>
            <a:ext cx="10881360" cy="804672"/>
          </a:xfrm>
          <a:prstGeom prst="roundRect">
            <a:avLst>
              <a:gd name="adj" fmla="val 9091"/>
            </a:avLst>
          </a:prstGeom>
          <a:solidFill>
            <a:srgbClr val="F4F7FC"/>
          </a:solidFill>
          <a:effectLst>
            <a:outerShdw blurRad="63500" dist="25400" dir="5400000" algn="bl" rotWithShape="0">
              <a:srgbClr val="9AA6C4">
                <a:alpha val="20000"/>
              </a:srgbClr>
            </a:outerShdw>
          </a:effectLst>
        </p:spPr>
      </p:sp>
      <p:sp>
        <p:nvSpPr>
          <p:cNvPr id="6" name="Shape 3"/>
          <p:cNvSpPr/>
          <p:nvPr/>
        </p:nvSpPr>
        <p:spPr>
          <a:xfrm>
            <a:off x="1005840" y="1865376"/>
            <a:ext cx="548640" cy="548640"/>
          </a:xfrm>
          <a:prstGeom prst="ellipse">
            <a:avLst/>
          </a:prstGeom>
          <a:solidFill>
            <a:srgbClr val="1E2761"/>
          </a:solidFill>
        </p:spPr>
      </p:sp>
      <p:pic>
        <p:nvPicPr>
          <p:cNvPr id="7" name="Image 1" descr="icons/search_FFFFFF.png"/>
          <p:cNvPicPr>
            <a:picLocks noChangeAspect="1"/>
          </p:cNvPicPr>
          <p:nvPr/>
        </p:nvPicPr>
        <p:blipFill>
          <a:blip r:embed="rId2"/>
          <a:stretch>
            <a:fillRect/>
          </a:stretch>
        </p:blipFill>
        <p:spPr>
          <a:xfrm>
            <a:off x="1129284" y="1988820"/>
            <a:ext cx="301752" cy="301752"/>
          </a:xfrm>
          <a:prstGeom prst="rect">
            <a:avLst/>
          </a:prstGeom>
        </p:spPr>
      </p:pic>
      <p:sp>
        <p:nvSpPr>
          <p:cNvPr id="8" name="Text 4"/>
          <p:cNvSpPr/>
          <p:nvPr/>
        </p:nvSpPr>
        <p:spPr>
          <a:xfrm>
            <a:off x="1783080" y="1828800"/>
            <a:ext cx="9052560" cy="365760"/>
          </a:xfrm>
          <a:prstGeom prst="rect">
            <a:avLst/>
          </a:prstGeom>
          <a:noFill/>
        </p:spPr>
        <p:txBody>
          <a:bodyPr wrap="square" lIns="0" tIns="0" rIns="0" bIns="0" rtlCol="0" anchor="b"/>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Quarterly access review</a:t>
            </a:r>
            <a:endParaRPr lang="en-US" sz="1500" dirty="0"/>
          </a:p>
        </p:txBody>
      </p:sp>
      <p:sp>
        <p:nvSpPr>
          <p:cNvPr id="9" name="Text 5"/>
          <p:cNvSpPr/>
          <p:nvPr/>
        </p:nvSpPr>
        <p:spPr>
          <a:xfrm>
            <a:off x="1783080" y="2176272"/>
            <a:ext cx="9052560" cy="365760"/>
          </a:xfrm>
          <a:prstGeom prst="rect">
            <a:avLst/>
          </a:prstGeom>
          <a:noFill/>
        </p:spPr>
        <p:txBody>
          <a:bodyPr wrap="square" lIns="0" tIns="0" rIns="0" bIns="0" rtlCol="0" anchor="t"/>
          <a:lstStyle/>
          <a:p>
            <a:pPr marL="0" indent="0">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Check user accounts every 3 months and remove ones no longer needed.</a:t>
            </a:r>
            <a:endParaRPr lang="en-US" sz="1100" dirty="0"/>
          </a:p>
        </p:txBody>
      </p:sp>
      <p:sp>
        <p:nvSpPr>
          <p:cNvPr id="10" name="Shape 6"/>
          <p:cNvSpPr/>
          <p:nvPr/>
        </p:nvSpPr>
        <p:spPr>
          <a:xfrm>
            <a:off x="640080" y="2633472"/>
            <a:ext cx="10881360" cy="804672"/>
          </a:xfrm>
          <a:prstGeom prst="roundRect">
            <a:avLst>
              <a:gd name="adj" fmla="val 9091"/>
            </a:avLst>
          </a:prstGeom>
          <a:solidFill>
            <a:srgbClr val="F4F7FC"/>
          </a:solidFill>
          <a:effectLst>
            <a:outerShdw blurRad="63500" dist="25400" dir="5400000" algn="bl" rotWithShape="0">
              <a:srgbClr val="9AA6C4">
                <a:alpha val="20000"/>
              </a:srgbClr>
            </a:outerShdw>
          </a:effectLst>
        </p:spPr>
      </p:sp>
      <p:sp>
        <p:nvSpPr>
          <p:cNvPr id="11" name="Shape 7"/>
          <p:cNvSpPr/>
          <p:nvPr/>
        </p:nvSpPr>
        <p:spPr>
          <a:xfrm>
            <a:off x="1005840" y="2761488"/>
            <a:ext cx="548640" cy="548640"/>
          </a:xfrm>
          <a:prstGeom prst="ellipse">
            <a:avLst/>
          </a:prstGeom>
          <a:solidFill>
            <a:srgbClr val="1E2761"/>
          </a:solidFill>
        </p:spPr>
      </p:sp>
      <p:pic>
        <p:nvPicPr>
          <p:cNvPr id="12" name="Image 2" descr="icons/key_FFFFFF.png"/>
          <p:cNvPicPr>
            <a:picLocks noChangeAspect="1"/>
          </p:cNvPicPr>
          <p:nvPr/>
        </p:nvPicPr>
        <p:blipFill>
          <a:blip r:embed="rId3"/>
          <a:stretch>
            <a:fillRect/>
          </a:stretch>
        </p:blipFill>
        <p:spPr>
          <a:xfrm>
            <a:off x="1129284" y="2884932"/>
            <a:ext cx="301752" cy="301752"/>
          </a:xfrm>
          <a:prstGeom prst="rect">
            <a:avLst/>
          </a:prstGeom>
        </p:spPr>
      </p:pic>
      <p:sp>
        <p:nvSpPr>
          <p:cNvPr id="13" name="Text 8"/>
          <p:cNvSpPr/>
          <p:nvPr/>
        </p:nvSpPr>
        <p:spPr>
          <a:xfrm>
            <a:off x="1783080" y="2724912"/>
            <a:ext cx="9052560" cy="365760"/>
          </a:xfrm>
          <a:prstGeom prst="rect">
            <a:avLst/>
          </a:prstGeom>
          <a:noFill/>
        </p:spPr>
        <p:txBody>
          <a:bodyPr wrap="square" lIns="0" tIns="0" rIns="0" bIns="0" rtlCol="0" anchor="b"/>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Strong password policy</a:t>
            </a:r>
            <a:endParaRPr lang="en-US" sz="1500" dirty="0"/>
          </a:p>
        </p:txBody>
      </p:sp>
      <p:sp>
        <p:nvSpPr>
          <p:cNvPr id="14" name="Text 9"/>
          <p:cNvSpPr/>
          <p:nvPr/>
        </p:nvSpPr>
        <p:spPr>
          <a:xfrm>
            <a:off x="1783080" y="3072384"/>
            <a:ext cx="9052560" cy="365760"/>
          </a:xfrm>
          <a:prstGeom prst="rect">
            <a:avLst/>
          </a:prstGeom>
          <a:noFill/>
        </p:spPr>
        <p:txBody>
          <a:bodyPr wrap="square" lIns="0" tIns="0" rIns="0" bIns="0" rtlCol="0" anchor="t"/>
          <a:lstStyle/>
          <a:p>
            <a:pPr marL="0" indent="0">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Require complex passwords and turn on Multi-Factor Authentication (MFA).</a:t>
            </a:r>
            <a:endParaRPr lang="en-US" sz="1100" dirty="0"/>
          </a:p>
        </p:txBody>
      </p:sp>
      <p:sp>
        <p:nvSpPr>
          <p:cNvPr id="15" name="Shape 10"/>
          <p:cNvSpPr/>
          <p:nvPr/>
        </p:nvSpPr>
        <p:spPr>
          <a:xfrm>
            <a:off x="640080" y="3529584"/>
            <a:ext cx="10881360" cy="804672"/>
          </a:xfrm>
          <a:prstGeom prst="roundRect">
            <a:avLst>
              <a:gd name="adj" fmla="val 9091"/>
            </a:avLst>
          </a:prstGeom>
          <a:solidFill>
            <a:srgbClr val="F4F7FC"/>
          </a:solidFill>
          <a:effectLst>
            <a:outerShdw blurRad="63500" dist="25400" dir="5400000" algn="bl" rotWithShape="0">
              <a:srgbClr val="9AA6C4">
                <a:alpha val="20000"/>
              </a:srgbClr>
            </a:outerShdw>
          </a:effectLst>
        </p:spPr>
      </p:sp>
      <p:sp>
        <p:nvSpPr>
          <p:cNvPr id="16" name="Shape 11"/>
          <p:cNvSpPr/>
          <p:nvPr/>
        </p:nvSpPr>
        <p:spPr>
          <a:xfrm>
            <a:off x="1005840" y="3657600"/>
            <a:ext cx="548640" cy="548640"/>
          </a:xfrm>
          <a:prstGeom prst="ellipse">
            <a:avLst/>
          </a:prstGeom>
          <a:solidFill>
            <a:srgbClr val="1E2761"/>
          </a:solidFill>
        </p:spPr>
      </p:sp>
      <p:pic>
        <p:nvPicPr>
          <p:cNvPr id="17" name="Image 3" descr="icons/database_FFFFFF.png"/>
          <p:cNvPicPr>
            <a:picLocks noChangeAspect="1"/>
          </p:cNvPicPr>
          <p:nvPr/>
        </p:nvPicPr>
        <p:blipFill>
          <a:blip r:embed="rId4"/>
          <a:stretch>
            <a:fillRect/>
          </a:stretch>
        </p:blipFill>
        <p:spPr>
          <a:xfrm>
            <a:off x="1129284" y="3781044"/>
            <a:ext cx="301752" cy="301752"/>
          </a:xfrm>
          <a:prstGeom prst="rect">
            <a:avLst/>
          </a:prstGeom>
        </p:spPr>
      </p:pic>
      <p:sp>
        <p:nvSpPr>
          <p:cNvPr id="18" name="Text 12"/>
          <p:cNvSpPr/>
          <p:nvPr/>
        </p:nvSpPr>
        <p:spPr>
          <a:xfrm>
            <a:off x="1783080" y="3621024"/>
            <a:ext cx="9052560" cy="365760"/>
          </a:xfrm>
          <a:prstGeom prst="rect">
            <a:avLst/>
          </a:prstGeom>
          <a:noFill/>
        </p:spPr>
        <p:txBody>
          <a:bodyPr wrap="square" lIns="0" tIns="0" rIns="0" bIns="0" rtlCol="0" anchor="b"/>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Backup restore testing</a:t>
            </a:r>
            <a:endParaRPr lang="en-US" sz="1500" dirty="0"/>
          </a:p>
        </p:txBody>
      </p:sp>
      <p:sp>
        <p:nvSpPr>
          <p:cNvPr id="19" name="Text 13"/>
          <p:cNvSpPr/>
          <p:nvPr/>
        </p:nvSpPr>
        <p:spPr>
          <a:xfrm>
            <a:off x="1783080" y="3968496"/>
            <a:ext cx="9052560" cy="365760"/>
          </a:xfrm>
          <a:prstGeom prst="rect">
            <a:avLst/>
          </a:prstGeom>
          <a:noFill/>
        </p:spPr>
        <p:txBody>
          <a:bodyPr wrap="square" lIns="0" tIns="0" rIns="0" bIns="0" rtlCol="0" anchor="t"/>
          <a:lstStyle/>
          <a:p>
            <a:pPr marL="0" indent="0">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Test that backups actually work every quarter, and keep records.</a:t>
            </a:r>
            <a:endParaRPr lang="en-US" sz="1100" dirty="0"/>
          </a:p>
        </p:txBody>
      </p:sp>
      <p:sp>
        <p:nvSpPr>
          <p:cNvPr id="20" name="Shape 14"/>
          <p:cNvSpPr/>
          <p:nvPr/>
        </p:nvSpPr>
        <p:spPr>
          <a:xfrm>
            <a:off x="640080" y="4425696"/>
            <a:ext cx="10881360" cy="804672"/>
          </a:xfrm>
          <a:prstGeom prst="roundRect">
            <a:avLst>
              <a:gd name="adj" fmla="val 9091"/>
            </a:avLst>
          </a:prstGeom>
          <a:solidFill>
            <a:srgbClr val="F4F7FC"/>
          </a:solidFill>
          <a:effectLst>
            <a:outerShdw blurRad="63500" dist="25400" dir="5400000" algn="bl" rotWithShape="0">
              <a:srgbClr val="9AA6C4">
                <a:alpha val="20000"/>
              </a:srgbClr>
            </a:outerShdw>
          </a:effectLst>
        </p:spPr>
      </p:sp>
      <p:sp>
        <p:nvSpPr>
          <p:cNvPr id="21" name="Shape 15"/>
          <p:cNvSpPr/>
          <p:nvPr/>
        </p:nvSpPr>
        <p:spPr>
          <a:xfrm>
            <a:off x="1005840" y="4553712"/>
            <a:ext cx="548640" cy="548640"/>
          </a:xfrm>
          <a:prstGeom prst="ellipse">
            <a:avLst/>
          </a:prstGeom>
          <a:solidFill>
            <a:srgbClr val="1E2761"/>
          </a:solidFill>
        </p:spPr>
      </p:sp>
      <p:pic>
        <p:nvPicPr>
          <p:cNvPr id="22" name="Image 4" descr="icons/boxes_FFFFFF.png"/>
          <p:cNvPicPr>
            <a:picLocks noChangeAspect="1"/>
          </p:cNvPicPr>
          <p:nvPr/>
        </p:nvPicPr>
        <p:blipFill>
          <a:blip r:embed="rId5"/>
          <a:stretch>
            <a:fillRect/>
          </a:stretch>
        </p:blipFill>
        <p:spPr>
          <a:xfrm>
            <a:off x="1129284" y="4677156"/>
            <a:ext cx="301752" cy="301752"/>
          </a:xfrm>
          <a:prstGeom prst="rect">
            <a:avLst/>
          </a:prstGeom>
        </p:spPr>
      </p:pic>
      <p:sp>
        <p:nvSpPr>
          <p:cNvPr id="23" name="Text 16"/>
          <p:cNvSpPr/>
          <p:nvPr/>
        </p:nvSpPr>
        <p:spPr>
          <a:xfrm>
            <a:off x="1783080" y="4517136"/>
            <a:ext cx="9052560" cy="365760"/>
          </a:xfrm>
          <a:prstGeom prst="rect">
            <a:avLst/>
          </a:prstGeom>
          <a:noFill/>
        </p:spPr>
        <p:txBody>
          <a:bodyPr wrap="square" lIns="0" tIns="0" rIns="0" bIns="0" rtlCol="0" anchor="b"/>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Update asset inventory</a:t>
            </a:r>
            <a:endParaRPr lang="en-US" sz="1500" dirty="0"/>
          </a:p>
        </p:txBody>
      </p:sp>
      <p:sp>
        <p:nvSpPr>
          <p:cNvPr id="24" name="Text 17"/>
          <p:cNvSpPr/>
          <p:nvPr/>
        </p:nvSpPr>
        <p:spPr>
          <a:xfrm>
            <a:off x="1783080" y="4864608"/>
            <a:ext cx="9052560" cy="365760"/>
          </a:xfrm>
          <a:prstGeom prst="rect">
            <a:avLst/>
          </a:prstGeom>
          <a:noFill/>
        </p:spPr>
        <p:txBody>
          <a:bodyPr wrap="square" lIns="0" tIns="0" rIns="0" bIns="0" rtlCol="0" anchor="t"/>
          <a:lstStyle/>
          <a:p>
            <a:pPr marL="0" indent="0">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Keep the list of IT devices accurate with regular physical counts.</a:t>
            </a:r>
            <a:endParaRPr lang="en-US" sz="1100" dirty="0"/>
          </a:p>
        </p:txBody>
      </p:sp>
      <p:sp>
        <p:nvSpPr>
          <p:cNvPr id="25" name="Shape 18"/>
          <p:cNvSpPr/>
          <p:nvPr/>
        </p:nvSpPr>
        <p:spPr>
          <a:xfrm>
            <a:off x="640080" y="5321808"/>
            <a:ext cx="10881360" cy="804672"/>
          </a:xfrm>
          <a:prstGeom prst="roundRect">
            <a:avLst>
              <a:gd name="adj" fmla="val 9091"/>
            </a:avLst>
          </a:prstGeom>
          <a:solidFill>
            <a:srgbClr val="F4F7FC"/>
          </a:solidFill>
          <a:effectLst>
            <a:outerShdw blurRad="63500" dist="25400" dir="5400000" algn="bl" rotWithShape="0">
              <a:srgbClr val="9AA6C4">
                <a:alpha val="20000"/>
              </a:srgbClr>
            </a:outerShdw>
          </a:effectLst>
        </p:spPr>
      </p:sp>
      <p:sp>
        <p:nvSpPr>
          <p:cNvPr id="26" name="Shape 19"/>
          <p:cNvSpPr/>
          <p:nvPr/>
        </p:nvSpPr>
        <p:spPr>
          <a:xfrm>
            <a:off x="1005840" y="5449824"/>
            <a:ext cx="548640" cy="548640"/>
          </a:xfrm>
          <a:prstGeom prst="ellipse">
            <a:avLst/>
          </a:prstGeom>
          <a:solidFill>
            <a:srgbClr val="1E2761"/>
          </a:solidFill>
        </p:spPr>
      </p:sp>
      <p:pic>
        <p:nvPicPr>
          <p:cNvPr id="27" name="Image 5" descr="icons/shield_FFFFFF.png"/>
          <p:cNvPicPr>
            <a:picLocks noChangeAspect="1"/>
          </p:cNvPicPr>
          <p:nvPr/>
        </p:nvPicPr>
        <p:blipFill>
          <a:blip r:embed="rId6"/>
          <a:stretch>
            <a:fillRect/>
          </a:stretch>
        </p:blipFill>
        <p:spPr>
          <a:xfrm>
            <a:off x="1129284" y="5573268"/>
            <a:ext cx="301752" cy="301752"/>
          </a:xfrm>
          <a:prstGeom prst="rect">
            <a:avLst/>
          </a:prstGeom>
        </p:spPr>
      </p:pic>
      <p:sp>
        <p:nvSpPr>
          <p:cNvPr id="28" name="Text 20"/>
          <p:cNvSpPr/>
          <p:nvPr/>
        </p:nvSpPr>
        <p:spPr>
          <a:xfrm>
            <a:off x="1783080" y="5413248"/>
            <a:ext cx="9052560" cy="365760"/>
          </a:xfrm>
          <a:prstGeom prst="rect">
            <a:avLst/>
          </a:prstGeom>
          <a:noFill/>
        </p:spPr>
        <p:txBody>
          <a:bodyPr wrap="square" lIns="0" tIns="0" rIns="0" bIns="0" rtlCol="0" anchor="b"/>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Security awareness training</a:t>
            </a:r>
            <a:endParaRPr lang="en-US" sz="1500" dirty="0"/>
          </a:p>
        </p:txBody>
      </p:sp>
      <p:sp>
        <p:nvSpPr>
          <p:cNvPr id="29" name="Text 21"/>
          <p:cNvSpPr/>
          <p:nvPr/>
        </p:nvSpPr>
        <p:spPr>
          <a:xfrm>
            <a:off x="1783080" y="5760720"/>
            <a:ext cx="9052560" cy="365760"/>
          </a:xfrm>
          <a:prstGeom prst="rect">
            <a:avLst/>
          </a:prstGeom>
          <a:noFill/>
        </p:spPr>
        <p:txBody>
          <a:bodyPr wrap="square" lIns="0" tIns="0" rIns="0" bIns="0" rtlCol="0" anchor="t"/>
          <a:lstStyle/>
          <a:p>
            <a:pPr marL="0" indent="0">
              <a:buNone/>
            </a:pPr>
            <a:r>
              <a:rPr lang="en-US" sz="1100" dirty="0">
                <a:solidFill>
                  <a:srgbClr val="5B6B84"/>
                </a:solidFill>
                <a:latin typeface="Calibri" panose="020F0502020204030204" pitchFamily="34" charset="0"/>
                <a:ea typeface="Calibri" panose="020F0502020204030204" pitchFamily="34" charset="-122"/>
                <a:cs typeface="Calibri" panose="020F0502020204030204" pitchFamily="34" charset="-120"/>
              </a:rPr>
              <a:t>Train staff and students to recognize and avoid IT security risks.</a:t>
            </a:r>
            <a:endParaRPr lang="en-US" sz="1100" dirty="0"/>
          </a:p>
        </p:txBody>
      </p:sp>
      <p:sp>
        <p:nvSpPr>
          <p:cNvPr id="30" name="Text 22"/>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31" name="Text 23"/>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1E2761"/>
          </a:solidFill>
        </p:spPr>
      </p:sp>
      <p:pic>
        <p:nvPicPr>
          <p:cNvPr id="3" name="Image 0" descr="icons/table_FFFFFF.png"/>
          <p:cNvPicPr>
            <a:picLocks noChangeAspect="1"/>
          </p:cNvPicPr>
          <p:nvPr/>
        </p:nvPicPr>
        <p:blipFill>
          <a:blip r:embed="rId1"/>
          <a:stretch>
            <a:fillRect/>
          </a:stretch>
        </p:blipFill>
        <p:spPr>
          <a:xfrm>
            <a:off x="733806" y="733806"/>
            <a:ext cx="452628" cy="452628"/>
          </a:xfrm>
          <a:prstGeom prst="rect">
            <a:avLst/>
          </a:prstGeom>
        </p:spPr>
      </p:pic>
      <p:sp>
        <p:nvSpPr>
          <p:cNvPr id="4" name="Text 1"/>
          <p:cNvSpPr/>
          <p:nvPr/>
        </p:nvSpPr>
        <p:spPr>
          <a:xfrm>
            <a:off x="1600200" y="566928"/>
            <a:ext cx="9875520" cy="822960"/>
          </a:xfrm>
          <a:prstGeom prst="rect">
            <a:avLst/>
          </a:prstGeom>
          <a:noFill/>
        </p:spPr>
        <p:txBody>
          <a:bodyPr wrap="square" lIns="0" tIns="0" rIns="0" bIns="0" rtlCol="0" anchor="ctr"/>
          <a:lstStyle/>
          <a:p>
            <a:pPr marL="0" indent="0" algn="l">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Management Action Plan</a:t>
            </a:r>
            <a:endParaRPr lang="en-US" sz="3200" dirty="0"/>
          </a:p>
        </p:txBody>
      </p:sp>
      <p:graphicFrame>
        <p:nvGraphicFramePr>
          <p:cNvPr id="12" name="Table 0"/>
          <p:cNvGraphicFramePr>
            <a:graphicFrameLocks noGrp="1"/>
          </p:cNvGraphicFramePr>
          <p:nvPr/>
        </p:nvGraphicFramePr>
        <p:xfrm>
          <a:off x="640080" y="1874520"/>
          <a:ext cx="10881360" cy="3383280"/>
        </p:xfrm>
        <a:graphic>
          <a:graphicData uri="http://schemas.openxmlformats.org/drawingml/2006/table">
            <a:tbl>
              <a:tblPr/>
              <a:tblGrid>
                <a:gridCol w="4297680"/>
                <a:gridCol w="1737360"/>
                <a:gridCol w="3200400"/>
                <a:gridCol w="1645920"/>
              </a:tblGrid>
              <a:tr h="676656">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Finding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Priority</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Responsible Team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Target Date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r>
              <a:tr h="676656">
                <a:tc>
                  <a:txBody>
                    <a:bodyPr/>
                    <a:lstStyle/>
                    <a:p>
                      <a:pPr marL="0" indent="0" algn="l">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No Periodic User Access Review</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0392B"/>
                          </a:solidFill>
                          <a:latin typeface="Calibri" panose="020F0502020204030204" pitchFamily="34" charset="0"/>
                          <a:ea typeface="Calibri" panose="020F0502020204030204" pitchFamily="34" charset="-122"/>
                          <a:cs typeface="Calibri" panose="020F0502020204030204" pitchFamily="34" charset="-120"/>
                        </a:rPr>
                        <a:t>High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IT Security Team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Within 1 month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676656">
                <a:tc>
                  <a:txBody>
                    <a:bodyPr/>
                    <a:lstStyle/>
                    <a:p>
                      <a:pPr marL="0" indent="0" algn="l">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Weak Password Policy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c>
                  <a:txBody>
                    <a:bodyPr/>
                    <a:lstStyle/>
                    <a:p>
                      <a:pPr marL="0" indent="0" algn="ctr">
                        <a:buNone/>
                      </a:pPr>
                      <a:r>
                        <a:rPr lang="en-US" sz="1250" b="1" dirty="0">
                          <a:solidFill>
                            <a:srgbClr val="C0392B"/>
                          </a:solidFill>
                          <a:latin typeface="Calibri" panose="020F0502020204030204" pitchFamily="34" charset="0"/>
                          <a:ea typeface="Calibri" panose="020F0502020204030204" pitchFamily="34" charset="-122"/>
                          <a:cs typeface="Calibri" panose="020F0502020204030204" pitchFamily="34" charset="-120"/>
                        </a:rPr>
                        <a:t>High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IT Infrastructure Team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Within 1 month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r>
              <a:tr h="676656">
                <a:tc>
                  <a:txBody>
                    <a:bodyPr/>
                    <a:lstStyle/>
                    <a:p>
                      <a:pPr marL="0" indent="0" algn="l">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Backup Monitoring Not Documented</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E08E0B"/>
                          </a:solidFill>
                          <a:latin typeface="Calibri" panose="020F0502020204030204" pitchFamily="34" charset="0"/>
                          <a:ea typeface="Calibri" panose="020F0502020204030204" pitchFamily="34" charset="-122"/>
                          <a:cs typeface="Calibri" panose="020F0502020204030204" pitchFamily="34" charset="-120"/>
                        </a:rPr>
                        <a:t>Medium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IT Operations Team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Within 2 months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676656">
                <a:tc>
                  <a:txBody>
                    <a:bodyPr/>
                    <a:lstStyle/>
                    <a:p>
                      <a:pPr marL="0" indent="0" algn="l">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IT Asset Inventory Not Updated</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Low</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IT Support Team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c>
                  <a:txBody>
                    <a:bodyPr/>
                    <a:lstStyle/>
                    <a:p>
                      <a:pPr marL="0" indent="0" algn="ctr">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Within 3 months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01600" marR="101600" marT="76200" marB="7620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4F7FC"/>
                    </a:solidFill>
                  </a:tcPr>
                </a:tc>
              </a:tr>
            </a:tbl>
          </a:graphicData>
        </a:graphic>
      </p:graphicFrame>
      <p:sp>
        <p:nvSpPr>
          <p:cNvPr id="6" name="Text 2"/>
          <p:cNvSpPr/>
          <p:nvPr/>
        </p:nvSpPr>
        <p:spPr>
          <a:xfrm>
            <a:off x="640080" y="5532120"/>
            <a:ext cx="10881360" cy="457200"/>
          </a:xfrm>
          <a:prstGeom prst="rect">
            <a:avLst/>
          </a:prstGeom>
          <a:noFill/>
        </p:spPr>
        <p:txBody>
          <a:bodyPr wrap="square" lIns="0" tIns="0" rIns="0" bIns="0" rtlCol="0" anchor="ctr"/>
          <a:lstStyle/>
          <a:p>
            <a:pPr marL="0" indent="0">
              <a:buNone/>
            </a:pPr>
            <a:r>
              <a:rPr lang="en-US" sz="1250" i="1" dirty="0">
                <a:solidFill>
                  <a:srgbClr val="5B6B84"/>
                </a:solidFill>
                <a:latin typeface="Calibri" panose="020F0502020204030204" pitchFamily="34" charset="0"/>
                <a:ea typeface="Calibri" panose="020F0502020204030204" pitchFamily="34" charset="-122"/>
                <a:cs typeface="Calibri" panose="020F0502020204030204" pitchFamily="34" charset="-120"/>
              </a:rPr>
              <a:t>Each team should assign a named owner and report progress at the next IT steering committee meeting.</a:t>
            </a:r>
            <a:endParaRPr lang="en-US" sz="1250" dirty="0"/>
          </a:p>
        </p:txBody>
      </p:sp>
      <p:sp>
        <p:nvSpPr>
          <p:cNvPr id="7" name="Text 3"/>
          <p:cNvSpPr/>
          <p:nvPr/>
        </p:nvSpPr>
        <p:spPr>
          <a:xfrm>
            <a:off x="457200" y="6492240"/>
            <a:ext cx="7315200" cy="274320"/>
          </a:xfrm>
          <a:prstGeom prst="rect">
            <a:avLst/>
          </a:prstGeom>
          <a:noFill/>
        </p:spPr>
        <p:txBody>
          <a:bodyPr wrap="square" lIns="0" tIns="0" rIns="0" bIns="0" rtlCol="0" anchor="ctr"/>
          <a:lstStyle/>
          <a:p>
            <a:pPr marL="0" indent="0" algn="l">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Daffodil International University  |  IS Audit Report</a:t>
            </a:r>
            <a:endParaRPr lang="en-US" sz="900" dirty="0"/>
          </a:p>
        </p:txBody>
      </p:sp>
      <p:sp>
        <p:nvSpPr>
          <p:cNvPr id="8" name="Text 4"/>
          <p:cNvSpPr/>
          <p:nvPr/>
        </p:nvSpPr>
        <p:spPr>
          <a:xfrm>
            <a:off x="11274552" y="6492240"/>
            <a:ext cx="457200" cy="274320"/>
          </a:xfrm>
          <a:prstGeom prst="rect">
            <a:avLst/>
          </a:prstGeom>
          <a:noFill/>
        </p:spPr>
        <p:txBody>
          <a:bodyPr wrap="square" lIns="0" tIns="0" rIns="0" bIns="0" rtlCol="0" anchor="ctr"/>
          <a:lstStyle/>
          <a:p>
            <a:pPr marL="0" indent="0" algn="r">
              <a:buNone/>
            </a:pPr>
            <a:r>
              <a:rPr lang="en-US" sz="900" dirty="0">
                <a:solidFill>
                  <a:srgbClr val="5B6B84"/>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1645920"/>
            <a:ext cx="4754880" cy="4754880"/>
          </a:xfrm>
          <a:prstGeom prst="ellipse">
            <a:avLst/>
          </a:prstGeom>
          <a:solidFill>
            <a:srgbClr val="263080"/>
          </a:solidFill>
        </p:spPr>
      </p:sp>
      <p:sp>
        <p:nvSpPr>
          <p:cNvPr id="3" name="Shape 1"/>
          <p:cNvSpPr/>
          <p:nvPr/>
        </p:nvSpPr>
        <p:spPr>
          <a:xfrm>
            <a:off x="-1463040" y="4572000"/>
            <a:ext cx="3840480" cy="3840480"/>
          </a:xfrm>
          <a:prstGeom prst="ellipse">
            <a:avLst/>
          </a:prstGeom>
          <a:solidFill>
            <a:srgbClr val="263080"/>
          </a:solidFill>
        </p:spPr>
      </p:sp>
      <p:sp>
        <p:nvSpPr>
          <p:cNvPr id="4" name="Shape 2"/>
          <p:cNvSpPr/>
          <p:nvPr/>
        </p:nvSpPr>
        <p:spPr>
          <a:xfrm>
            <a:off x="914400" y="777240"/>
            <a:ext cx="1005840" cy="1005840"/>
          </a:xfrm>
          <a:prstGeom prst="ellipse">
            <a:avLst/>
          </a:prstGeom>
          <a:solidFill>
            <a:srgbClr val="CADCFC"/>
          </a:solidFill>
        </p:spPr>
      </p:sp>
      <p:pic>
        <p:nvPicPr>
          <p:cNvPr id="5" name="Image 0" descr="icons/checkcircle_1E2761.png"/>
          <p:cNvPicPr>
            <a:picLocks noChangeAspect="1"/>
          </p:cNvPicPr>
          <p:nvPr/>
        </p:nvPicPr>
        <p:blipFill>
          <a:blip r:embed="rId1"/>
          <a:stretch>
            <a:fillRect/>
          </a:stretch>
        </p:blipFill>
        <p:spPr>
          <a:xfrm>
            <a:off x="1140714" y="1003554"/>
            <a:ext cx="553212" cy="553212"/>
          </a:xfrm>
          <a:prstGeom prst="rect">
            <a:avLst/>
          </a:prstGeom>
        </p:spPr>
      </p:pic>
      <p:sp>
        <p:nvSpPr>
          <p:cNvPr id="6" name="Text 3"/>
          <p:cNvSpPr/>
          <p:nvPr/>
        </p:nvSpPr>
        <p:spPr>
          <a:xfrm>
            <a:off x="2148840" y="868680"/>
            <a:ext cx="7315200" cy="82296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a:t>
            </a:r>
            <a:endParaRPr lang="en-US" sz="3400" dirty="0"/>
          </a:p>
        </p:txBody>
      </p:sp>
      <p:sp>
        <p:nvSpPr>
          <p:cNvPr id="7" name="Shape 4"/>
          <p:cNvSpPr/>
          <p:nvPr/>
        </p:nvSpPr>
        <p:spPr>
          <a:xfrm>
            <a:off x="822960" y="2404872"/>
            <a:ext cx="128016" cy="128016"/>
          </a:xfrm>
          <a:prstGeom prst="ellipse">
            <a:avLst/>
          </a:prstGeom>
          <a:solidFill>
            <a:srgbClr val="CADCFC"/>
          </a:solidFill>
        </p:spPr>
      </p:sp>
      <p:sp>
        <p:nvSpPr>
          <p:cNvPr id="8" name="Text 5"/>
          <p:cNvSpPr/>
          <p:nvPr/>
        </p:nvSpPr>
        <p:spPr>
          <a:xfrm>
            <a:off x="1143000" y="2194560"/>
            <a:ext cx="9966960" cy="640080"/>
          </a:xfrm>
          <a:prstGeom prst="rect">
            <a:avLst/>
          </a:prstGeom>
          <a:noFill/>
        </p:spPr>
        <p:txBody>
          <a:bodyPr wrap="square" lIns="0" tIns="0" rIns="0" bIns="0" rtlCol="0" anchor="ctr"/>
          <a:lstStyle/>
          <a:p>
            <a:pPr marL="0" indent="0">
              <a:lnSpc>
                <a:spcPct val="110000"/>
              </a:lnSpc>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Most IT controls at the university are working well and provide a solid foundation.</a:t>
            </a:r>
            <a:endParaRPr lang="en-US" sz="1600" dirty="0"/>
          </a:p>
        </p:txBody>
      </p:sp>
      <p:sp>
        <p:nvSpPr>
          <p:cNvPr id="9" name="Shape 6"/>
          <p:cNvSpPr/>
          <p:nvPr/>
        </p:nvSpPr>
        <p:spPr>
          <a:xfrm>
            <a:off x="822960" y="3273552"/>
            <a:ext cx="128016" cy="128016"/>
          </a:xfrm>
          <a:prstGeom prst="ellipse">
            <a:avLst/>
          </a:prstGeom>
          <a:solidFill>
            <a:srgbClr val="CADCFC"/>
          </a:solidFill>
        </p:spPr>
      </p:sp>
      <p:sp>
        <p:nvSpPr>
          <p:cNvPr id="10" name="Text 7"/>
          <p:cNvSpPr/>
          <p:nvPr/>
        </p:nvSpPr>
        <p:spPr>
          <a:xfrm>
            <a:off x="1143000" y="3063240"/>
            <a:ext cx="9966960" cy="640080"/>
          </a:xfrm>
          <a:prstGeom prst="rect">
            <a:avLst/>
          </a:prstGeom>
          <a:noFill/>
        </p:spPr>
        <p:txBody>
          <a:bodyPr wrap="square" lIns="0" tIns="0" rIns="0" bIns="0" rtlCol="0" anchor="ctr"/>
          <a:lstStyle/>
          <a:p>
            <a:pPr marL="0" indent="0">
              <a:lnSpc>
                <a:spcPct val="110000"/>
              </a:lnSpc>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A few important gaps remain, mainly around user access review and password security.</a:t>
            </a:r>
            <a:endParaRPr lang="en-US" sz="1600" dirty="0"/>
          </a:p>
        </p:txBody>
      </p:sp>
      <p:sp>
        <p:nvSpPr>
          <p:cNvPr id="11" name="Shape 8"/>
          <p:cNvSpPr/>
          <p:nvPr/>
        </p:nvSpPr>
        <p:spPr>
          <a:xfrm>
            <a:off x="822960" y="4142232"/>
            <a:ext cx="128016" cy="128016"/>
          </a:xfrm>
          <a:prstGeom prst="ellipse">
            <a:avLst/>
          </a:prstGeom>
          <a:solidFill>
            <a:srgbClr val="CADCFC"/>
          </a:solidFill>
        </p:spPr>
      </p:sp>
      <p:sp>
        <p:nvSpPr>
          <p:cNvPr id="12" name="Text 9"/>
          <p:cNvSpPr/>
          <p:nvPr/>
        </p:nvSpPr>
        <p:spPr>
          <a:xfrm>
            <a:off x="1143000" y="3931920"/>
            <a:ext cx="9966960" cy="640080"/>
          </a:xfrm>
          <a:prstGeom prst="rect">
            <a:avLst/>
          </a:prstGeom>
          <a:noFill/>
        </p:spPr>
        <p:txBody>
          <a:bodyPr wrap="square" lIns="0" tIns="0" rIns="0" bIns="0" rtlCol="0" anchor="ctr"/>
          <a:lstStyle/>
          <a:p>
            <a:pPr marL="0" indent="0">
              <a:lnSpc>
                <a:spcPct val="110000"/>
              </a:lnSpc>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Acting on these recommendations will make university systems and data much safer.</a:t>
            </a:r>
            <a:endParaRPr lang="en-US" sz="1600" dirty="0"/>
          </a:p>
        </p:txBody>
      </p:sp>
      <p:sp>
        <p:nvSpPr>
          <p:cNvPr id="13" name="Shape 10"/>
          <p:cNvSpPr/>
          <p:nvPr/>
        </p:nvSpPr>
        <p:spPr>
          <a:xfrm>
            <a:off x="822960" y="5257800"/>
            <a:ext cx="2743200" cy="0"/>
          </a:xfrm>
          <a:prstGeom prst="line">
            <a:avLst/>
          </a:prstGeom>
          <a:noFill/>
          <a:ln w="19050">
            <a:solidFill>
              <a:srgbClr val="CADCFC"/>
            </a:solidFill>
            <a:prstDash val="solid"/>
          </a:ln>
        </p:spPr>
      </p:sp>
      <p:sp>
        <p:nvSpPr>
          <p:cNvPr id="14" name="Text 11"/>
          <p:cNvSpPr/>
          <p:nvPr/>
        </p:nvSpPr>
        <p:spPr>
          <a:xfrm>
            <a:off x="822960" y="5440680"/>
            <a:ext cx="7315200" cy="731520"/>
          </a:xfrm>
          <a:prstGeom prst="rect">
            <a:avLst/>
          </a:prstGeom>
          <a:noFill/>
        </p:spPr>
        <p:txBody>
          <a:bodyPr wrap="square" lIns="0" tIns="0" rIns="0" bIns="0" rtlCol="0" anchor="ctr"/>
          <a:lstStyle/>
          <a:p>
            <a:pPr marL="0" indent="0">
              <a:buNone/>
            </a:pPr>
            <a:r>
              <a:rPr lang="en-US" sz="2600" b="1" dirty="0">
                <a:solidFill>
                  <a:srgbClr val="CADCFC"/>
                </a:solidFill>
                <a:latin typeface="Cambria" panose="02040503050406030204" pitchFamily="34" charset="0"/>
                <a:ea typeface="Cambria" panose="02040503050406030204" pitchFamily="34" charset="-122"/>
                <a:cs typeface="Cambria" panose="02040503050406030204" pitchFamily="34" charset="-120"/>
              </a:rPr>
              <a:t>Thank You</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4784</Words>
  <Application>WPS Presentation</Application>
  <PresentationFormat>On-screen Show (16:9)</PresentationFormat>
  <Paragraphs>280</Paragraphs>
  <Slides>12</Slides>
  <Notes>12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WPS_1717093415</cp:lastModifiedBy>
  <cp:revision>2</cp:revision>
  <dcterms:created xsi:type="dcterms:W3CDTF">2026-07-23T10:31:00Z</dcterms:created>
  <dcterms:modified xsi:type="dcterms:W3CDTF">2026-07-24T04:45:01Z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5F9E861C1C3440759E5C35CECA864093_12</vt:lpwstr>
  </property>
  <property fmtid="{D5CDD505-2E9C-101B-9397-08002B2CF9AE}" pid="3" name="KSOProductBuildVer">
    <vt:lpwstr>2057-12.2.0.23206</vt:lpwstr>
  </property>
</Properties>
</file>