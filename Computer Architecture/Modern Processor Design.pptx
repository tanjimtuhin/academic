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4180" r:id="rId3"/>
    <p:sldId id="4213" r:id="rId5"/>
    <p:sldId id="4203" r:id="rId6"/>
    <p:sldId id="4207" r:id="rId7"/>
    <p:sldId id="4206" r:id="rId8"/>
    <p:sldId id="4186" r:id="rId9"/>
    <p:sldId id="4187" r:id="rId10"/>
    <p:sldId id="4218" r:id="rId11"/>
    <p:sldId id="4214" r:id="rId12"/>
    <p:sldId id="4216" r:id="rId13"/>
    <p:sldId id="4211" r:id="rId14"/>
    <p:sldId id="4221" r:id="rId15"/>
  </p:sldIdLst>
  <p:sldSz cx="24377650" cy="13716000"/>
  <p:notesSz cx="6858000" cy="9144000"/>
  <p:defaultTextStyle>
    <a:defPPr>
      <a:defRPr lang="en-US"/>
    </a:defPPr>
    <a:lvl1pPr marL="0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165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565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965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365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130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30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930" algn="l" defTabSz="182816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958" userDrawn="1">
          <p15:clr>
            <a:srgbClr val="A4A3A4"/>
          </p15:clr>
        </p15:guide>
        <p15:guide id="53" orient="horz" pos="8160" userDrawn="1">
          <p15:clr>
            <a:srgbClr val="A4A3A4"/>
          </p15:clr>
        </p15:guide>
        <p15:guide id="54" pos="14398" userDrawn="1">
          <p15:clr>
            <a:srgbClr val="A4A3A4"/>
          </p15:clr>
        </p15:guide>
        <p15:guide id="55" orient="horz" pos="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509E"/>
    <a:srgbClr val="000000"/>
    <a:srgbClr val="38B349"/>
    <a:srgbClr val="39B24A"/>
    <a:srgbClr val="FC0D1B"/>
    <a:srgbClr val="E5B9B5"/>
    <a:srgbClr val="5178B3"/>
    <a:srgbClr val="530503"/>
    <a:srgbClr val="D7E3BF"/>
    <a:srgbClr val="8DB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88235" autoAdjust="0"/>
  </p:normalViewPr>
  <p:slideViewPr>
    <p:cSldViewPr snapToGrid="0" snapToObjects="1" showGuides="1">
      <p:cViewPr varScale="1">
        <p:scale>
          <a:sx n="28" d="100"/>
          <a:sy n="28" d="100"/>
        </p:scale>
        <p:origin x="1116" y="60"/>
      </p:cViewPr>
      <p:guideLst>
        <p:guide pos="958"/>
        <p:guide orient="horz" pos="8160"/>
        <p:guide pos="14398"/>
        <p:guide orient="horz" pos="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70" d="100"/>
          <a:sy n="70" d="100"/>
        </p:scale>
        <p:origin x="362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44C23-70E6-6C47-84C8-B564711E594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9111E-D9AD-1940-9799-7DA8A331194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EFC10EE1-B198-C942-8235-326C972CBB30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1pPr>
    <a:lvl2pPr marL="914400" algn="l" defTabSz="914400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2pPr>
    <a:lvl3pPr marL="1828165" algn="l" defTabSz="914400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3pPr>
    <a:lvl4pPr marL="2742565" algn="l" defTabSz="914400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4pPr>
    <a:lvl5pPr marL="3656965" algn="l" defTabSz="914400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5pPr>
    <a:lvl6pPr marL="4571365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13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3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93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F5D7-D8DA-41B6-9005-D26396C6502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8324" y="4260851"/>
            <a:ext cx="20721003" cy="29400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656648" y="7772400"/>
            <a:ext cx="17064355" cy="3505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18883" y="12712701"/>
            <a:ext cx="5688118" cy="730250"/>
          </a:xfrm>
          <a:prstGeom prst="rect">
            <a:avLst/>
          </a:prstGeom>
        </p:spPr>
        <p:txBody>
          <a:bodyPr/>
          <a:lstStyle/>
          <a:p>
            <a:fld id="{24C941E4-82C4-407E-9007-18DFC1F35AF5}" type="datetime1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8329031" y="12712701"/>
            <a:ext cx="7719589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7470649" y="12712701"/>
            <a:ext cx="5688118" cy="730250"/>
          </a:xfrm>
          <a:prstGeom prst="rect">
            <a:avLst/>
          </a:prstGeom>
        </p:spPr>
        <p:txBody>
          <a:bodyPr/>
          <a:lstStyle/>
          <a:p>
            <a:fld id="{655EED61-6D50-4E9E-857D-6F776CC63A9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1828165" rtl="0" eaLnBrk="1" latinLnBrk="0" hangingPunct="1">
        <a:lnSpc>
          <a:spcPct val="90000"/>
        </a:lnSpc>
        <a:spcBef>
          <a:spcPct val="0"/>
        </a:spcBef>
        <a:buNone/>
        <a:defRPr sz="66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1828165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6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914400" indent="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1828165" indent="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2742565" indent="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6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3656965" indent="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6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5027930" indent="-45720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330" indent="-45720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095" indent="-45720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495" indent="-457200" algn="l" defTabSz="18281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1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5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96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073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130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889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295" algn="l" defTabSz="182816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-4161" y="8997125"/>
            <a:ext cx="24377650" cy="2171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38B349"/>
                </a:solidFill>
                <a:latin typeface="Arial Rounded MT Bold" panose="020F0704030504030204" pitchFamily="34" charset="77"/>
              </a:rPr>
              <a:t>CS 506</a:t>
            </a:r>
            <a:endParaRPr lang="en-US" sz="6000" b="1" dirty="0">
              <a:solidFill>
                <a:srgbClr val="38B349"/>
              </a:solidFill>
              <a:latin typeface="Arial Rounded MT Bold" panose="020F0704030504030204" pitchFamily="34" charset="77"/>
            </a:endParaRPr>
          </a:p>
          <a:p>
            <a:pPr algn="ctr"/>
            <a:r>
              <a:rPr lang="en-US" sz="6000" b="1" dirty="0">
                <a:solidFill>
                  <a:srgbClr val="38B349"/>
                </a:solidFill>
                <a:latin typeface="Arial Rounded MT Bold" panose="020F0704030504030204" pitchFamily="34" charset="77"/>
              </a:rPr>
              <a:t>Computer Architecture</a:t>
            </a:r>
            <a:endParaRPr lang="en-US" sz="6000" b="1" dirty="0">
              <a:solidFill>
                <a:srgbClr val="38B349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4161" y="64074"/>
            <a:ext cx="24377650" cy="44143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rgbClr val="09509E"/>
                </a:solidFill>
                <a:latin typeface="Arial Rounded MT Bold" panose="020F0704030504030204" pitchFamily="34" charset="77"/>
              </a:rPr>
              <a:t>Daffodil International University (DIU)</a:t>
            </a:r>
            <a:r>
              <a:rPr lang="en-US" sz="7200" b="1" dirty="0">
                <a:solidFill>
                  <a:srgbClr val="38B349"/>
                </a:solidFill>
                <a:latin typeface="Arial Rounded MT Bold" panose="020F0704030504030204" pitchFamily="34" charset="77"/>
              </a:rPr>
              <a:t> </a:t>
            </a:r>
            <a:endParaRPr lang="en-US" sz="7200" b="1" dirty="0">
              <a:solidFill>
                <a:srgbClr val="38B349"/>
              </a:solidFill>
              <a:latin typeface="Arial Rounded MT Bold" panose="020F0704030504030204" pitchFamily="34" charset="77"/>
            </a:endParaRPr>
          </a:p>
          <a:p>
            <a:pPr algn="ctr"/>
            <a:r>
              <a:rPr lang="en-US" sz="6000" b="1" dirty="0">
                <a:solidFill>
                  <a:srgbClr val="38B349"/>
                </a:solidFill>
                <a:latin typeface="Arial Rounded MT Bold" panose="020F0704030504030204" pitchFamily="34" charset="77"/>
              </a:rPr>
              <a:t>Department of Software Engineering (SWE)</a:t>
            </a:r>
            <a:endParaRPr lang="en-US" sz="6000" b="1" dirty="0">
              <a:solidFill>
                <a:srgbClr val="38B349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4" name="Oval 3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59790" y="6257835"/>
            <a:ext cx="126497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09509E"/>
                </a:solidFill>
                <a:latin typeface="Arial Rounded MT Bold" panose="020F0704030504030204" pitchFamily="34" charset="77"/>
              </a:rPr>
              <a:t>MSc in Cyber Security (CS)</a:t>
            </a:r>
            <a:endParaRPr lang="en-US" sz="7200" b="1" dirty="0">
              <a:solidFill>
                <a:srgbClr val="09509E"/>
              </a:solidFill>
              <a:latin typeface="Arial Rounded MT Bold" panose="020F0704030504030204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253595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latin typeface="Arial Rounded MT Bold" panose="020F0704030504030204" pitchFamily="34" charset="77"/>
              </a:rPr>
              <a:t>Lecture 03</a:t>
            </a:r>
            <a:endParaRPr lang="en-US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89325" y="2937473"/>
            <a:ext cx="16741775" cy="7150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b="1" dirty="0">
                <a:solidFill>
                  <a:srgbClr val="09509E"/>
                </a:solidFill>
                <a:latin typeface="Aptos" panose="020B0004020202020204" pitchFamily="34" charset="0"/>
                <a:cs typeface="Vrinda" panose="020B0502040204020203" pitchFamily="34" charset="0"/>
              </a:rPr>
              <a:t> </a:t>
            </a:r>
            <a:endParaRPr lang="en-US" sz="8800" b="1" dirty="0">
              <a:solidFill>
                <a:srgbClr val="0950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08120" y="2295525"/>
            <a:ext cx="16864330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8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Modern Processor Design:</a:t>
            </a:r>
            <a:endParaRPr lang="en-US" altLang="en-GB" sz="8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en-GB" sz="8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Dynamic Scheduling, Multithreading, CMPs, and GPUs</a:t>
            </a:r>
            <a:endParaRPr lang="en-US" altLang="en-GB" sz="8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123315" y="6858000"/>
            <a:ext cx="75126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Four main concepts: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Dynamic Instruction Scheduling</a:t>
            </a:r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Multithreading</a:t>
            </a:r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Chip Multiprocessors (CMPs)</a:t>
            </a:r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Graphics Processing Units (GPUs)</a:t>
            </a:r>
            <a:endParaRPr lang="en-US" altLang="en-GB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4377650" cy="1253594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Why Modern CPUs Need Smarter Execution Models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22325" y="1845310"/>
            <a:ext cx="11393805" cy="4603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tx2"/>
                </a:solidFill>
              </a:rPr>
              <a:t>Moore’s Law</a:t>
            </a:r>
            <a:r>
              <a:rPr lang="en-US" altLang="en-GB">
                <a:solidFill>
                  <a:schemeClr val="tx2"/>
                </a:solidFill>
              </a:rPr>
              <a:t> slowing down:</a:t>
            </a:r>
            <a:endParaRPr lang="en-US" altLang="en-GB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tx2"/>
                </a:solidFill>
              </a:rPr>
              <a:t>Physical Limits of Transistor Size(below 5 nm, Quantum  tunneling, eakage current).</a:t>
            </a:r>
            <a:endParaRPr lang="en-US" altLang="en-GB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tx2"/>
                </a:solidFill>
              </a:rPr>
              <a:t>Complexity in Design and Validation</a:t>
            </a:r>
            <a:endParaRPr lang="en-US" altLang="en-GB">
              <a:solidFill>
                <a:schemeClr val="tx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tx2"/>
                </a:solidFill>
              </a:rPr>
              <a:t>Slowing Innovation in Materials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endParaRPr lang="en-GB" altLang="en-US">
              <a:solidFill>
                <a:schemeClr val="tx2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22325" y="7400925"/>
            <a:ext cx="10922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  <a:sym typeface="+mn-ea"/>
              </a:rPr>
              <a:t>Need for higher performance without faster clocks</a:t>
            </a:r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CPU design is shifting toward:</a:t>
            </a:r>
            <a:endParaRPr lang="en-US" altLang="en-GB">
              <a:solidFill>
                <a:schemeClr val="tx2"/>
              </a:solidFill>
            </a:endParaRPr>
          </a:p>
        </p:txBody>
      </p:sp>
      <p:sp>
        <p:nvSpPr>
          <p:cNvPr id="11" name="Round Single Corner Rectangle 10"/>
          <p:cNvSpPr/>
          <p:nvPr/>
        </p:nvSpPr>
        <p:spPr>
          <a:xfrm>
            <a:off x="822325" y="9050020"/>
            <a:ext cx="4377690" cy="2962275"/>
          </a:xfrm>
          <a:prstGeom prst="round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ound Single Corner Rectangle 11"/>
          <p:cNvSpPr/>
          <p:nvPr/>
        </p:nvSpPr>
        <p:spPr>
          <a:xfrm flipH="1">
            <a:off x="19081115" y="9050020"/>
            <a:ext cx="4345305" cy="2962275"/>
          </a:xfrm>
          <a:prstGeom prst="round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7215505" y="9050020"/>
            <a:ext cx="4528820" cy="296227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2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643380" y="9654540"/>
            <a:ext cx="24345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Parallelism (more cores and threads)</a:t>
            </a:r>
            <a:endParaRPr lang="en-US" altLang="en-GB">
              <a:solidFill>
                <a:schemeClr val="tx2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583805" y="9477375"/>
            <a:ext cx="29825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Pipelining (breaking execution into stages)</a:t>
            </a:r>
            <a:endParaRPr lang="en-GB" altLang="en-US">
              <a:solidFill>
                <a:schemeClr val="tx2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9466560" y="9654540"/>
            <a:ext cx="35756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Specialized hardware (GPUs, AI chips)</a:t>
            </a:r>
            <a:endParaRPr lang="en-US" altLang="en-GB">
              <a:solidFill>
                <a:schemeClr val="tx2"/>
              </a:solidFill>
            </a:endParaRPr>
          </a:p>
        </p:txBody>
      </p:sp>
      <p:pic>
        <p:nvPicPr>
          <p:cNvPr id="18" name="Picture 17"/>
          <p:cNvPicPr/>
          <p:nvPr/>
        </p:nvPicPr>
        <p:blipFill>
          <a:blip r:embed="rId2"/>
          <a:stretch>
            <a:fillRect/>
          </a:stretch>
        </p:blipFill>
        <p:spPr>
          <a:xfrm>
            <a:off x="13183235" y="1577975"/>
            <a:ext cx="10965180" cy="6311900"/>
          </a:xfrm>
          <a:prstGeom prst="rect">
            <a:avLst/>
          </a:prstGeom>
        </p:spPr>
      </p:pic>
      <p:sp>
        <p:nvSpPr>
          <p:cNvPr id="19" name="Round Same Side Corner Rectangle 18"/>
          <p:cNvSpPr/>
          <p:nvPr/>
        </p:nvSpPr>
        <p:spPr>
          <a:xfrm>
            <a:off x="13340715" y="9050020"/>
            <a:ext cx="4528820" cy="296227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2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3931265" y="9477375"/>
            <a:ext cx="33483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Heterogeneous computing (combining CPUs + GPUs + NPUs)</a:t>
            </a:r>
            <a:endParaRPr lang="en-US" altLang="en-GB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4377650" cy="1253594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What is Dynamic Scheduling?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6560" y="3580130"/>
            <a:ext cx="13674725" cy="71253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Avoids </a:t>
            </a: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stalls by reordering instructions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Executes instructions as soon as operands are available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Fully handled by hardware (not the compiler)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Uses: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Instruction Window (holds upcoming instructions)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Reservation Stations (wait for operands)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b="0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Reorder Buffer (ROB) (commit in-order)</a:t>
            </a:r>
            <a:endParaRPr lang="en-US" altLang="en-GB" sz="4400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6560" y="1556385"/>
            <a:ext cx="171075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5400">
                <a:solidFill>
                  <a:schemeClr val="tx2"/>
                </a:solidFill>
              </a:rPr>
              <a:t>Dynamic Instruction Scheduling: Out-of-Order Execution</a:t>
            </a:r>
            <a:endParaRPr lang="en-US" altLang="en-GB" sz="5400">
              <a:solidFill>
                <a:schemeClr val="tx2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3032105" y="3031490"/>
            <a:ext cx="102679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554480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8000" b="1" dirty="0">
                <a:latin typeface="Arial Rounded MT Bold" panose="020F0704030504030204" pitchFamily="34" charset="77"/>
              </a:rPr>
              <a:t>Tomasulo’s Algorithm</a:t>
            </a:r>
            <a:endParaRPr lang="en-US" altLang="en-GB" sz="8000" b="1" dirty="0">
              <a:latin typeface="Arial Rounded MT Bold" panose="020F0704030504030204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9260" y="2250440"/>
            <a:ext cx="10661650" cy="5158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A dynamic scheduling method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Handles data hazards: RAW, WAR, WAW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Introduced register renaming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Instructions sit in reservation stations until operands are ready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Results broadcast on a Common Data Bus (CDB)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 l="12391" r="12958"/>
          <a:stretch>
            <a:fillRect/>
          </a:stretch>
        </p:blipFill>
        <p:spPr>
          <a:xfrm>
            <a:off x="11090910" y="2007235"/>
            <a:ext cx="13286740" cy="9979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4377650" cy="1253594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600" b="1" dirty="0">
                <a:latin typeface="Arial Rounded MT Bold" panose="020F0704030504030204" pitchFamily="34" charset="77"/>
              </a:rPr>
              <a:t>Introduction to Multithreading</a:t>
            </a:r>
            <a:endParaRPr lang="en-US" altLang="en-GB" sz="7600" b="1" dirty="0">
              <a:latin typeface="Arial Rounded MT Bold" panose="020F0704030504030204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1445" y="3147060"/>
            <a:ext cx="9267825" cy="3710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CPUs can switch between threads to hide latency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Keeps core busy while one thread is waiting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965055" y="1479550"/>
            <a:ext cx="13998575" cy="71272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31445" y="7787640"/>
            <a:ext cx="23305770" cy="4387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  <a:sym typeface="+mn-ea"/>
              </a:rPr>
              <a:t>Types: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  <a:sym typeface="+mn-ea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  <a:sym typeface="+mn-ea"/>
              </a:rPr>
              <a:t>Fine-Grained: switch threads every cycle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  <a:sym typeface="+mn-ea"/>
              </a:rPr>
              <a:t>Coarse-Grained: switch on long stalls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400" kern="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  <a:sym typeface="+mn-ea"/>
              </a:rPr>
              <a:t>Simultaneous (SMT): multiple threads issue in same cycle</a:t>
            </a:r>
            <a:endParaRPr lang="en-US" alt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endParaRPr lang="en-GB" altLang="en-US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5875"/>
            <a:ext cx="24377650" cy="1506220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Simultaneous Multithreading (SMT)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6600" y="2338705"/>
            <a:ext cx="194900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SMT lets multiple threads share one pipeline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Used in Intel’s Hyper-Threading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Threads share ALUs, registers, and caches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Boosts throughput, not always single-thread speed</a:t>
            </a:r>
            <a:endParaRPr lang="en-GB" altLang="en-US">
              <a:solidFill>
                <a:schemeClr val="tx2"/>
              </a:solidFill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775059" y="197358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652270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Chip Multiprocessors (CMPs)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10740" y="2596515"/>
            <a:ext cx="1375854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tx2"/>
                </a:solidFill>
              </a:rPr>
              <a:t>Integrates multiple cores on a single chip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Each core can run its own thread(s) independently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Cores may share L2/L3 caches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Increases performance for parallel applications</a:t>
            </a:r>
            <a:endParaRPr lang="en-US" altLang="en-GB">
              <a:solidFill>
                <a:schemeClr val="tx2"/>
              </a:solidFill>
            </a:endParaRPr>
          </a:p>
          <a:p>
            <a:endParaRPr lang="en-US" altLang="en-GB">
              <a:solidFill>
                <a:schemeClr val="tx2"/>
              </a:solidFill>
            </a:endParaRPr>
          </a:p>
          <a:p>
            <a:r>
              <a:rPr lang="en-US" altLang="en-GB">
                <a:solidFill>
                  <a:schemeClr val="tx2"/>
                </a:solidFill>
              </a:rPr>
              <a:t>Requires support from OS and software</a:t>
            </a:r>
            <a:endParaRPr lang="en-GB" altLang="en-US">
              <a:solidFill>
                <a:schemeClr val="tx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4805" y="2135505"/>
            <a:ext cx="7589520" cy="8843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877060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 GPUs: Specialized Manycore Processors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605780" y="7905750"/>
            <a:ext cx="121920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solidFill>
                  <a:schemeClr val="tx2"/>
                </a:solidFill>
                <a:sym typeface="+mn-ea"/>
              </a:rPr>
              <a:t>Contain thousands of lightweight cores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Designed for data-parallel tasks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SIMT: Single Instruction, Multiple Threads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Common APIs: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CUDA (NVIDIA)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ROCm (AMD)</a:t>
            </a:r>
            <a:endParaRPr lang="en-US" altLang="en-GB">
              <a:solidFill>
                <a:schemeClr val="tx2"/>
              </a:solidFill>
              <a:sym typeface="+mn-ea"/>
            </a:endParaRPr>
          </a:p>
          <a:p>
            <a:r>
              <a:rPr lang="en-US" altLang="en-GB">
                <a:solidFill>
                  <a:schemeClr val="tx2"/>
                </a:solidFill>
                <a:sym typeface="+mn-ea"/>
              </a:rPr>
              <a:t>Used in ML, 3D rendering, physics, finance</a:t>
            </a:r>
            <a:endParaRPr lang="en-US" altLang="en-GB">
              <a:solidFill>
                <a:schemeClr val="tx2"/>
              </a:solidFill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2245360"/>
            <a:ext cx="13614400" cy="529272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/>
          <a:srcRect t="17144" b="18921"/>
          <a:stretch>
            <a:fillRect/>
          </a:stretch>
        </p:blipFill>
        <p:spPr>
          <a:xfrm>
            <a:off x="848360" y="2652395"/>
            <a:ext cx="9906000" cy="4478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553210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6000" b="1" dirty="0">
                <a:latin typeface="Arial Rounded MT Bold" panose="020F0704030504030204" pitchFamily="34" charset="77"/>
              </a:rPr>
              <a:t>Comparison Table</a:t>
            </a:r>
            <a:endParaRPr lang="en-US" altLang="en-GB" sz="6000" b="1" dirty="0">
              <a:latin typeface="Arial Rounded MT Bold" panose="020F0704030504030204" pitchFamily="34" charset="77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1706880" y="2079625"/>
          <a:ext cx="20964525" cy="8740775"/>
        </p:xfrm>
        <a:graphic>
          <a:graphicData uri="http://schemas.openxmlformats.org/drawingml/2006/table">
            <a:tbl>
              <a:tblPr/>
              <a:tblGrid>
                <a:gridCol w="4192905"/>
                <a:gridCol w="4192905"/>
                <a:gridCol w="4192905"/>
                <a:gridCol w="4149725"/>
                <a:gridCol w="4236085"/>
              </a:tblGrid>
              <a:tr h="1748155"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Feature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Dynamic Scheduling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SMT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CMP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GPU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748155"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Parallelism Type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Instruction-level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Thread-level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Core-level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Data-level (SIMT)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748155"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Best For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Single-thread perf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Latency hiding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Multitasking, servers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Vector-heavy workloads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748155"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Hardware Complexity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High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Medium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Medium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High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748155"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Software Requirements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Low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Medium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High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3600">
                          <a:solidFill>
                            <a:schemeClr val="tx2"/>
                          </a:solidFill>
                        </a:rPr>
                        <a:t>Very High (CUDA/OpenCL)</a:t>
                      </a:r>
                      <a:endParaRPr sz="3600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824355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GB" sz="7200" b="1" dirty="0">
                <a:latin typeface="Arial Rounded MT Bold" panose="020F0704030504030204" pitchFamily="34" charset="77"/>
              </a:rPr>
              <a:t>Conclusion</a:t>
            </a:r>
            <a:endParaRPr lang="en-US" altLang="en-GB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00630" y="3133725"/>
            <a:ext cx="18344515" cy="6017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000" kern="100" dirty="0">
                <a:solidFill>
                  <a:srgbClr val="09509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Dynamic Scheduling: Great for boosting single-thread speed</a:t>
            </a: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000" kern="100" dirty="0">
                <a:solidFill>
                  <a:srgbClr val="09509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SMT: Improves throughput by hiding stalls</a:t>
            </a: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000" kern="100" dirty="0">
                <a:solidFill>
                  <a:srgbClr val="09509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CMPs: Enables multitasking and parallel workloads</a:t>
            </a: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000" kern="100" dirty="0">
                <a:solidFill>
                  <a:srgbClr val="09509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GPUs: Dominant for highly parallel, data-intensive apps</a:t>
            </a: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4000" kern="100" dirty="0">
                <a:solidFill>
                  <a:srgbClr val="09509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Future Trend: Heterogeneous Computing (CPU + GPU + AI/TPU)</a:t>
            </a:r>
            <a:endParaRPr lang="en-US" altLang="en-GB" sz="4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184525" y="15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7" name="AutoShape 4" descr="https://s3.amazonaws.com/proddata.sagebase.org/3373933/9c549dad-dd84-4094-9445-cad966adc70b/atypical.PNG?response-content-disposition=attachment%3B%20filename%3D%22atypical.PNG%22&amp;response-content-type=image%2Fpng&amp;X-Amz-Security-Token=FQoGZXIvYXdzEOP%2F%2F%2F%2F%2F%2F%2F%2F%2F%2FwEaDOzCxaTagbhp91aT0iK3A%2FfOztnKY9lHjt0ATrSfqwSmz9CLRiag8pFGhR87LvSahmiMSCe9wAnqghKohMmv22OmVh0wuNQb9kqZbVVTD9n5huk%2FSdyvlpXwXsz8P%2BeKyWKjpdumPYQ0eiker3LjfJB4zydTuqGTGuYKoUYGGGaecnj71WIImHvXvi%2FdTP2rMDYqaVDnLFXY6pkUTAwrUEwYNIt3ECiBlUpbkpzeU5qx8WW1EL%2FATIfLRp73kAMQDe3ADeJxmKfHUJepJ1Q0WT2CYrI5dbbZCken6p0Rn9N1UwBhP3oekMRctAA4Vzbp18QKl32PP0N%2FPLOv097%2FyCaN7t6QZhdTMBuH1ibSSpNk1SKg%2FtguZkjxt9At9kmJIXZEHAypA7sxKV0fzffh0yg1UG9Ytb6xO8yVxX56ctE2ZmxqgGc6Z69haJ4HRrbJ3UARDw3PdkECTM83NFy1Mr27cHqvtCLZN6ytMEVt8%2FmS7vQJAWxX6SWgSloMUOqUpa3KrM4L3aEAT%2FznxUblwB%2FpxIU4mDhBF0fw%2BMXtsE4q%2FTBTTTP7X0Z9NIMs4y53tzo5sbymufOZhr8OzpoRDAdIZWLmW6AokO%2BW5AU%3D&amp;X-Amz-Algorithm=AWS4-HMAC-SHA256&amp;X-Amz-Date=20190311T024641Z&amp;X-Amz-SignedHeaders=host&amp;X-Amz-Expires=30&amp;X-Amz-Credential=ASIAUXTJYTGXXNUQWPE7%2F20190311%2Fus-east-1%2Fs3%2Faws4_request&amp;X-Amz-Signature=1c92e5dc1065938617a34b08830b551e985b1109ed256748c98d3a9e8ac4c796"/>
          <p:cNvSpPr>
            <a:spLocks noChangeAspect="1" noChangeArrowheads="1"/>
          </p:cNvSpPr>
          <p:nvPr/>
        </p:nvSpPr>
        <p:spPr bwMode="auto">
          <a:xfrm>
            <a:off x="3489325" y="3206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endParaRPr lang="en-US" sz="7200"/>
          </a:p>
        </p:txBody>
      </p:sp>
      <p:sp>
        <p:nvSpPr>
          <p:cNvPr id="2" name="TextBox 1"/>
          <p:cNvSpPr txBox="1"/>
          <p:nvPr/>
        </p:nvSpPr>
        <p:spPr>
          <a:xfrm>
            <a:off x="23963586" y="1327456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Daffodil International University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62" y="12560375"/>
            <a:ext cx="4220512" cy="11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12462404"/>
            <a:ext cx="24377650" cy="0"/>
          </a:xfrm>
          <a:prstGeom prst="line">
            <a:avLst/>
          </a:prstGeom>
          <a:ln w="63500">
            <a:solidFill>
              <a:srgbClr val="39B2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300357" y="12654510"/>
            <a:ext cx="945931" cy="930166"/>
          </a:xfrm>
          <a:prstGeom prst="ellipse">
            <a:avLst/>
          </a:prstGeom>
          <a:solidFill>
            <a:srgbClr val="09509E"/>
          </a:solidFill>
          <a:ln>
            <a:solidFill>
              <a:srgbClr val="0950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DB2B0BD-421C-1E4A-AF0F-842923650C2E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650" cy="1966738"/>
          </a:xfrm>
          <a:prstGeom prst="rect">
            <a:avLst/>
          </a:prstGeom>
          <a:solidFill>
            <a:srgbClr val="39B2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200" b="1" dirty="0">
                <a:latin typeface="Arial Rounded MT Bold" panose="020F0704030504030204" pitchFamily="34" charset="77"/>
              </a:rPr>
              <a:t>Q&amp;A</a:t>
            </a:r>
            <a:endParaRPr lang="en-US" sz="7200" b="1" dirty="0">
              <a:latin typeface="Arial Rounded MT Bold" panose="020F0704030504030204" pitchFamily="34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43465" y="6221095"/>
            <a:ext cx="4491355" cy="124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000" kern="100" dirty="0">
                <a:solidFill>
                  <a:srgbClr val="09509E"/>
                </a:solidFill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Thank You</a:t>
            </a:r>
            <a:endParaRPr lang="en-US" sz="7000" kern="100" dirty="0">
              <a:solidFill>
                <a:srgbClr val="09509E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650*409"/>
  <p:tag name="TABLE_ENDDRAG_RECT" val="134*163*1650*409"/>
</p:tagLst>
</file>

<file path=ppt/theme/theme1.xml><?xml version="1.0" encoding="utf-8"?>
<a:theme xmlns:a="http://schemas.openxmlformats.org/drawingml/2006/main" name="Office Theme">
  <a:themeElements>
    <a:clrScheme name="SM - Theme 41 - Light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3DBEA2"/>
      </a:accent1>
      <a:accent2>
        <a:srgbClr val="3EBAEC"/>
      </a:accent2>
      <a:accent3>
        <a:srgbClr val="198AD6"/>
      </a:accent3>
      <a:accent4>
        <a:srgbClr val="13417F"/>
      </a:accent4>
      <a:accent5>
        <a:srgbClr val="606CE4"/>
      </a:accent5>
      <a:accent6>
        <a:srgbClr val="B1B7BD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WPS Presentation</Application>
  <PresentationFormat>Custom</PresentationFormat>
  <Paragraphs>199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Poppins</vt:lpstr>
      <vt:lpstr>Li Sirajee Sanjar Unicode</vt:lpstr>
      <vt:lpstr>Lato Light</vt:lpstr>
      <vt:lpstr>Arial Rounded MT Bold</vt:lpstr>
      <vt:lpstr>Aptos</vt:lpstr>
      <vt:lpstr>Segoe UI</vt:lpstr>
      <vt:lpstr>Vrinda</vt:lpstr>
      <vt:lpstr>Arial Unicode MS</vt:lpstr>
      <vt:lpstr>Calibri</vt:lpstr>
      <vt:lpstr>Microsoft YaHei</vt:lpstr>
      <vt:lpstr>Arial Unicode MS</vt:lpstr>
      <vt:lpstr>Malgun Gothic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 MOHAMMAD AZAM[ 대학원박사과정졸업 / 컴퓨터학과 ]</dc:creator>
  <cp:lastModifiedBy>Tuhin</cp:lastModifiedBy>
  <cp:revision>292</cp:revision>
  <cp:lastPrinted>2025-05-23T02:17:00Z</cp:lastPrinted>
  <dcterms:created xsi:type="dcterms:W3CDTF">2021-04-11T04:24:00Z</dcterms:created>
  <dcterms:modified xsi:type="dcterms:W3CDTF">2025-06-23T17:37:43Z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3DEFFE5C38924244B1203468190BB78F_12</vt:lpwstr>
  </property>
  <property fmtid="{D5CDD505-2E9C-101B-9397-08002B2CF9AE}" pid="3" name="KSOProductBuildVer">
    <vt:lpwstr>2057-12.2.0.21601</vt:lpwstr>
  </property>
</Properties>
</file>