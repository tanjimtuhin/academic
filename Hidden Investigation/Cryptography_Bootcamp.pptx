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1" r:id="rId8"/>
    <p:sldId id="333"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30" r:id="rId77"/>
    <p:sldId id="331" r:id="rId78"/>
    <p:sldId id="332"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7" userDrawn="1">
          <p15:clr>
            <a:srgbClr val="A4A3A4"/>
          </p15:clr>
        </p15:guide>
        <p15:guide id="2" pos="39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067"/>
        <p:guide pos="392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png"/><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1" Type="http://schemas.openxmlformats.org/officeDocument/2006/relationships/notesSlide" Target="../notesSlides/notesSlide4.xml"/><Relationship Id="rId10" Type="http://schemas.openxmlformats.org/officeDocument/2006/relationships/slideLayout" Target="../slideLayouts/slideLayout12.xml"/><Relationship Id="rId1"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20.png"/><Relationship Id="rId2" Type="http://schemas.openxmlformats.org/officeDocument/2006/relationships/image" Target="../media/image19.png"/><Relationship Id="rId14" Type="http://schemas.openxmlformats.org/officeDocument/2006/relationships/notesSlide" Target="../notesSlides/notesSlide6.xml"/><Relationship Id="rId13" Type="http://schemas.openxmlformats.org/officeDocument/2006/relationships/slideLayout" Target="../slideLayouts/slideLayout12.xml"/><Relationship Id="rId12" Type="http://schemas.openxmlformats.org/officeDocument/2006/relationships/image" Target="../media/image21.png"/><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29.png"/><Relationship Id="rId1" Type="http://schemas.openxmlformats.org/officeDocument/2006/relationships/image" Target="../media/image28.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30.png"/><Relationship Id="rId1" Type="http://schemas.openxmlformats.org/officeDocument/2006/relationships/image" Target="../media/image22.jpe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image" Target="../media/image35.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2.xml"/><Relationship Id="rId2" Type="http://schemas.openxmlformats.org/officeDocument/2006/relationships/image" Target="../media/image37.png"/><Relationship Id="rId1" Type="http://schemas.openxmlformats.org/officeDocument/2006/relationships/image" Target="../media/image36.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2.xml"/><Relationship Id="rId2" Type="http://schemas.openxmlformats.org/officeDocument/2006/relationships/image" Target="../media/image39.png"/><Relationship Id="rId1" Type="http://schemas.openxmlformats.org/officeDocument/2006/relationships/image" Target="../media/image38.pn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12.xml"/><Relationship Id="rId5" Type="http://schemas.openxmlformats.org/officeDocument/2006/relationships/image" Target="../media/image43.png"/><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image" Target="../media/image45.png"/><Relationship Id="rId1" Type="http://schemas.openxmlformats.org/officeDocument/2006/relationships/image" Target="../media/image44.pn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2.xml"/><Relationship Id="rId5" Type="http://schemas.openxmlformats.org/officeDocument/2006/relationships/image" Target="../media/image49.png"/><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2.xml"/><Relationship Id="rId2" Type="http://schemas.openxmlformats.org/officeDocument/2006/relationships/image" Target="../media/image51.png"/><Relationship Id="rId1" Type="http://schemas.openxmlformats.org/officeDocument/2006/relationships/image" Target="../media/image50.jpeg"/></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21.xml"/><Relationship Id="rId8" Type="http://schemas.openxmlformats.org/officeDocument/2006/relationships/slideLayout" Target="../slideLayouts/slideLayout12.xml"/><Relationship Id="rId7" Type="http://schemas.openxmlformats.org/officeDocument/2006/relationships/image" Target="../media/image58.png"/><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2.xml"/><Relationship Id="rId2" Type="http://schemas.openxmlformats.org/officeDocument/2006/relationships/image" Target="../media/image60.png"/><Relationship Id="rId1" Type="http://schemas.openxmlformats.org/officeDocument/2006/relationships/image" Target="../media/image59.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2.xml"/><Relationship Id="rId2" Type="http://schemas.openxmlformats.org/officeDocument/2006/relationships/image" Target="../media/image62.png"/><Relationship Id="rId1" Type="http://schemas.openxmlformats.org/officeDocument/2006/relationships/image" Target="../media/image61.jpe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12.xml"/><Relationship Id="rId4" Type="http://schemas.openxmlformats.org/officeDocument/2006/relationships/image" Target="../media/image65.png"/><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12.xml"/><Relationship Id="rId4" Type="http://schemas.openxmlformats.org/officeDocument/2006/relationships/image" Target="../media/image69.png"/><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image" Target="../media/image66.jpeg"/></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slideLayout" Target="../slideLayouts/slideLayout12.xml"/><Relationship Id="rId5" Type="http://schemas.openxmlformats.org/officeDocument/2006/relationships/image" Target="../media/image74.png"/><Relationship Id="rId4" Type="http://schemas.openxmlformats.org/officeDocument/2006/relationships/image" Target="../media/image73.png"/><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image" Target="../media/image70.png"/></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1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9" Type="http://schemas.openxmlformats.org/officeDocument/2006/relationships/notesSlide" Target="../notesSlides/notesSlide28.xml"/><Relationship Id="rId8" Type="http://schemas.openxmlformats.org/officeDocument/2006/relationships/slideLayout" Target="../slideLayouts/slideLayout12.xml"/><Relationship Id="rId7" Type="http://schemas.openxmlformats.org/officeDocument/2006/relationships/image" Target="../media/image85.png"/><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image" Target="../media/image1.jpe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12.xml"/><Relationship Id="rId4" Type="http://schemas.openxmlformats.org/officeDocument/2006/relationships/image" Target="../media/image88.png"/><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image" Target="../media/image1.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2.xml"/><Relationship Id="rId2" Type="http://schemas.openxmlformats.org/officeDocument/2006/relationships/image" Target="../media/image90.png"/><Relationship Id="rId1" Type="http://schemas.openxmlformats.org/officeDocument/2006/relationships/image" Target="../media/image89.jpe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2.xml"/><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image" Target="../media/image61.jpeg"/></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32.xml"/><Relationship Id="rId7" Type="http://schemas.openxmlformats.org/officeDocument/2006/relationships/slideLayout" Target="../slideLayouts/slideLayout12.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image" Target="../media/image93.jpe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2.xml"/><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image" Target="../media/image99.png"/></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4.xml"/><Relationship Id="rId7" Type="http://schemas.openxmlformats.org/officeDocument/2006/relationships/slideLayout" Target="../slideLayouts/slideLayout12.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image" Target="../media/image52.jpe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2.xml"/><Relationship Id="rId2" Type="http://schemas.openxmlformats.org/officeDocument/2006/relationships/image" Target="../media/image107.png"/><Relationship Id="rId1" Type="http://schemas.openxmlformats.org/officeDocument/2006/relationships/image" Target="../media/image61.jpe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2.xml"/><Relationship Id="rId2" Type="http://schemas.openxmlformats.org/officeDocument/2006/relationships/image" Target="../media/image109.png"/><Relationship Id="rId1" Type="http://schemas.openxmlformats.org/officeDocument/2006/relationships/image" Target="../media/image108.png"/></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12.xml"/><Relationship Id="rId4" Type="http://schemas.openxmlformats.org/officeDocument/2006/relationships/image" Target="../media/image112.png"/><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image" Target="../media/image61.jpeg"/></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38.xml"/><Relationship Id="rId6" Type="http://schemas.openxmlformats.org/officeDocument/2006/relationships/slideLayout" Target="../slideLayouts/slideLayout12.xml"/><Relationship Id="rId5" Type="http://schemas.openxmlformats.org/officeDocument/2006/relationships/image" Target="../media/image116.png"/><Relationship Id="rId4" Type="http://schemas.openxmlformats.org/officeDocument/2006/relationships/image" Target="../media/image115.png"/><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image" Target="../media/image1.jpe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12.xml"/><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image" Target="../media/image117.jpeg"/></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slideLayout" Target="../slideLayouts/slideLayout12.xml"/><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image" Target="../media/image120.jpeg"/></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slideLayout" Target="../slideLayouts/slideLayout12.xml"/><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image" Target="../media/image123.pn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slideLayout" Target="../slideLayouts/slideLayout12.xml"/><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image" Target="../media/image126.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2.xml"/><Relationship Id="rId2" Type="http://schemas.openxmlformats.org/officeDocument/2006/relationships/image" Target="../media/image130.png"/><Relationship Id="rId1" Type="http://schemas.openxmlformats.org/officeDocument/2006/relationships/image" Target="../media/image129.jpeg"/></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slideLayout" Target="../slideLayouts/slideLayout12.xml"/><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image" Target="../media/image131.png"/></Relationships>
</file>

<file path=ppt/slides/_rels/slide45.xml.rels><?xml version="1.0" encoding="UTF-8" standalone="yes"?>
<Relationships xmlns="http://schemas.openxmlformats.org/package/2006/relationships"><Relationship Id="rId6" Type="http://schemas.openxmlformats.org/officeDocument/2006/relationships/notesSlide" Target="../notesSlides/notesSlide45.xml"/><Relationship Id="rId5" Type="http://schemas.openxmlformats.org/officeDocument/2006/relationships/slideLayout" Target="../slideLayouts/slideLayout12.xml"/><Relationship Id="rId4" Type="http://schemas.openxmlformats.org/officeDocument/2006/relationships/image" Target="../media/image136.png"/><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image" Target="../media/image1.jpe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12.xml"/><Relationship Id="rId2" Type="http://schemas.openxmlformats.org/officeDocument/2006/relationships/image" Target="../media/image138.png"/><Relationship Id="rId1" Type="http://schemas.openxmlformats.org/officeDocument/2006/relationships/image" Target="../media/image137.jpe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12.xml"/><Relationship Id="rId2" Type="http://schemas.openxmlformats.org/officeDocument/2006/relationships/image" Target="../media/image140.png"/><Relationship Id="rId1" Type="http://schemas.openxmlformats.org/officeDocument/2006/relationships/image" Target="../media/image139.jpeg"/></Relationships>
</file>

<file path=ppt/slides/_rels/slide48.xml.rels><?xml version="1.0" encoding="UTF-8" standalone="yes"?>
<Relationships xmlns="http://schemas.openxmlformats.org/package/2006/relationships"><Relationship Id="rId7" Type="http://schemas.openxmlformats.org/officeDocument/2006/relationships/notesSlide" Target="../notesSlides/notesSlide48.xml"/><Relationship Id="rId6" Type="http://schemas.openxmlformats.org/officeDocument/2006/relationships/slideLayout" Target="../slideLayouts/slideLayout12.xml"/><Relationship Id="rId5" Type="http://schemas.openxmlformats.org/officeDocument/2006/relationships/image" Target="../media/image144.png"/><Relationship Id="rId4" Type="http://schemas.openxmlformats.org/officeDocument/2006/relationships/image" Target="../media/image143.png"/><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image" Target="../media/image1.jpeg"/></Relationships>
</file>

<file path=ppt/slides/_rels/slide49.xml.rels><?xml version="1.0" encoding="UTF-8" standalone="yes"?>
<Relationships xmlns="http://schemas.openxmlformats.org/package/2006/relationships"><Relationship Id="rId5" Type="http://schemas.openxmlformats.org/officeDocument/2006/relationships/notesSlide" Target="../notesSlides/notesSlide49.xml"/><Relationship Id="rId4" Type="http://schemas.openxmlformats.org/officeDocument/2006/relationships/slideLayout" Target="../slideLayouts/slideLayout12.xml"/><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image" Target="../media/image145.jpeg"/></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slideLayout" Target="../slideLayouts/slideLayout12.xml"/><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image" Target="../media/image148.png"/></Relationships>
</file>

<file path=ppt/slides/_rels/slide51.xml.rels><?xml version="1.0" encoding="UTF-8" standalone="yes"?>
<Relationships xmlns="http://schemas.openxmlformats.org/package/2006/relationships"><Relationship Id="rId6" Type="http://schemas.openxmlformats.org/officeDocument/2006/relationships/notesSlide" Target="../notesSlides/notesSlide51.xml"/><Relationship Id="rId5" Type="http://schemas.openxmlformats.org/officeDocument/2006/relationships/slideLayout" Target="../slideLayouts/slideLayout12.xml"/><Relationship Id="rId4" Type="http://schemas.openxmlformats.org/officeDocument/2006/relationships/image" Target="../media/image153.png"/><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image" Target="../media/image1.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2.xml"/><Relationship Id="rId1" Type="http://schemas.openxmlformats.org/officeDocument/2006/relationships/image" Target="../media/image154.jpeg"/></Relationships>
</file>

<file path=ppt/slides/_rels/slide53.xml.rels><?xml version="1.0" encoding="UTF-8" standalone="yes"?>
<Relationships xmlns="http://schemas.openxmlformats.org/package/2006/relationships"><Relationship Id="rId9" Type="http://schemas.openxmlformats.org/officeDocument/2006/relationships/image" Target="../media/image163.png"/><Relationship Id="rId8" Type="http://schemas.openxmlformats.org/officeDocument/2006/relationships/image" Target="../media/image162.png"/><Relationship Id="rId7" Type="http://schemas.openxmlformats.org/officeDocument/2006/relationships/image" Target="../media/image161.png"/><Relationship Id="rId6" Type="http://schemas.openxmlformats.org/officeDocument/2006/relationships/image" Target="../media/image160.png"/><Relationship Id="rId5" Type="http://schemas.openxmlformats.org/officeDocument/2006/relationships/image" Target="../media/image159.png"/><Relationship Id="rId4" Type="http://schemas.openxmlformats.org/officeDocument/2006/relationships/image" Target="../media/image158.png"/><Relationship Id="rId3" Type="http://schemas.openxmlformats.org/officeDocument/2006/relationships/image" Target="../media/image157.png"/><Relationship Id="rId2" Type="http://schemas.openxmlformats.org/officeDocument/2006/relationships/image" Target="../media/image156.png"/><Relationship Id="rId12" Type="http://schemas.openxmlformats.org/officeDocument/2006/relationships/notesSlide" Target="../notesSlides/notesSlide53.xml"/><Relationship Id="rId11" Type="http://schemas.openxmlformats.org/officeDocument/2006/relationships/slideLayout" Target="../slideLayouts/slideLayout12.xml"/><Relationship Id="rId10" Type="http://schemas.openxmlformats.org/officeDocument/2006/relationships/image" Target="../media/image136.png"/><Relationship Id="rId1" Type="http://schemas.openxmlformats.org/officeDocument/2006/relationships/image" Target="../media/image155.jpeg"/></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54.xml"/><Relationship Id="rId4" Type="http://schemas.openxmlformats.org/officeDocument/2006/relationships/slideLayout" Target="../slideLayouts/slideLayout12.xml"/><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image" Target="../media/image164.jpeg"/></Relationships>
</file>

<file path=ppt/slides/_rels/slide5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74.png"/><Relationship Id="rId7" Type="http://schemas.openxmlformats.org/officeDocument/2006/relationships/image" Target="../media/image173.png"/><Relationship Id="rId6" Type="http://schemas.openxmlformats.org/officeDocument/2006/relationships/image" Target="../media/image172.png"/><Relationship Id="rId5" Type="http://schemas.openxmlformats.org/officeDocument/2006/relationships/image" Target="../media/image171.png"/><Relationship Id="rId4" Type="http://schemas.openxmlformats.org/officeDocument/2006/relationships/image" Target="../media/image170.png"/><Relationship Id="rId3" Type="http://schemas.openxmlformats.org/officeDocument/2006/relationships/image" Target="../media/image169.png"/><Relationship Id="rId2" Type="http://schemas.openxmlformats.org/officeDocument/2006/relationships/image" Target="../media/image168.png"/><Relationship Id="rId10" Type="http://schemas.openxmlformats.org/officeDocument/2006/relationships/notesSlide" Target="../notesSlides/notesSlide55.xml"/><Relationship Id="rId1" Type="http://schemas.openxmlformats.org/officeDocument/2006/relationships/image" Target="../media/image167.png"/></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56.xml"/><Relationship Id="rId4" Type="http://schemas.openxmlformats.org/officeDocument/2006/relationships/slideLayout" Target="../slideLayouts/slideLayout12.xml"/><Relationship Id="rId3" Type="http://schemas.openxmlformats.org/officeDocument/2006/relationships/image" Target="../media/image177.png"/><Relationship Id="rId2" Type="http://schemas.openxmlformats.org/officeDocument/2006/relationships/image" Target="../media/image176.png"/><Relationship Id="rId1" Type="http://schemas.openxmlformats.org/officeDocument/2006/relationships/image" Target="../media/image175.jpe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12.xml"/><Relationship Id="rId2" Type="http://schemas.openxmlformats.org/officeDocument/2006/relationships/image" Target="../media/image179.png"/><Relationship Id="rId1" Type="http://schemas.openxmlformats.org/officeDocument/2006/relationships/image" Target="../media/image178.jpeg"/></Relationships>
</file>

<file path=ppt/slides/_rels/slide58.xml.rels><?xml version="1.0" encoding="UTF-8" standalone="yes"?>
<Relationships xmlns="http://schemas.openxmlformats.org/package/2006/relationships"><Relationship Id="rId8" Type="http://schemas.openxmlformats.org/officeDocument/2006/relationships/notesSlide" Target="../notesSlides/notesSlide58.xml"/><Relationship Id="rId7" Type="http://schemas.openxmlformats.org/officeDocument/2006/relationships/slideLayout" Target="../slideLayouts/slideLayout12.xml"/><Relationship Id="rId6" Type="http://schemas.openxmlformats.org/officeDocument/2006/relationships/image" Target="../media/image185.png"/><Relationship Id="rId5" Type="http://schemas.openxmlformats.org/officeDocument/2006/relationships/image" Target="../media/image184.png"/><Relationship Id="rId4" Type="http://schemas.openxmlformats.org/officeDocument/2006/relationships/image" Target="../media/image183.png"/><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image" Target="../media/image180.png"/></Relationships>
</file>

<file path=ppt/slides/_rels/slide59.xml.rels><?xml version="1.0" encoding="UTF-8" standalone="yes"?>
<Relationships xmlns="http://schemas.openxmlformats.org/package/2006/relationships"><Relationship Id="rId9" Type="http://schemas.openxmlformats.org/officeDocument/2006/relationships/notesSlide" Target="../notesSlides/notesSlide59.xml"/><Relationship Id="rId8" Type="http://schemas.openxmlformats.org/officeDocument/2006/relationships/slideLayout" Target="../slideLayouts/slideLayout12.xml"/><Relationship Id="rId7" Type="http://schemas.openxmlformats.org/officeDocument/2006/relationships/image" Target="../media/image190.png"/><Relationship Id="rId6" Type="http://schemas.openxmlformats.org/officeDocument/2006/relationships/image" Target="../media/image189.png"/><Relationship Id="rId5" Type="http://schemas.openxmlformats.org/officeDocument/2006/relationships/image" Target="../media/image188.png"/><Relationship Id="rId4" Type="http://schemas.openxmlformats.org/officeDocument/2006/relationships/image" Target="../media/image60.png"/><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image" Target="../media/image1.jpe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12.xml"/><Relationship Id="rId2" Type="http://schemas.openxmlformats.org/officeDocument/2006/relationships/image" Target="../media/image192.png"/><Relationship Id="rId1" Type="http://schemas.openxmlformats.org/officeDocument/2006/relationships/image" Target="../media/image191.jpeg"/></Relationships>
</file>

<file path=ppt/slides/_rels/slide61.xml.rels><?xml version="1.0" encoding="UTF-8" standalone="yes"?>
<Relationships xmlns="http://schemas.openxmlformats.org/package/2006/relationships"><Relationship Id="rId7" Type="http://schemas.openxmlformats.org/officeDocument/2006/relationships/notesSlide" Target="../notesSlides/notesSlide61.xml"/><Relationship Id="rId6" Type="http://schemas.openxmlformats.org/officeDocument/2006/relationships/slideLayout" Target="../slideLayouts/slideLayout12.xml"/><Relationship Id="rId5" Type="http://schemas.openxmlformats.org/officeDocument/2006/relationships/image" Target="../media/image196.png"/><Relationship Id="rId4" Type="http://schemas.openxmlformats.org/officeDocument/2006/relationships/image" Target="../media/image195.png"/><Relationship Id="rId3" Type="http://schemas.openxmlformats.org/officeDocument/2006/relationships/image" Target="../media/image194.png"/><Relationship Id="rId2" Type="http://schemas.openxmlformats.org/officeDocument/2006/relationships/image" Target="../media/image193.png"/><Relationship Id="rId1" Type="http://schemas.openxmlformats.org/officeDocument/2006/relationships/image" Target="../media/image1.jpeg"/></Relationships>
</file>

<file path=ppt/slides/_rels/slide62.xml.rels><?xml version="1.0" encoding="UTF-8" standalone="yes"?>
<Relationships xmlns="http://schemas.openxmlformats.org/package/2006/relationships"><Relationship Id="rId9" Type="http://schemas.openxmlformats.org/officeDocument/2006/relationships/notesSlide" Target="../notesSlides/notesSlide62.xml"/><Relationship Id="rId8" Type="http://schemas.openxmlformats.org/officeDocument/2006/relationships/slideLayout" Target="../slideLayouts/slideLayout12.xml"/><Relationship Id="rId7" Type="http://schemas.openxmlformats.org/officeDocument/2006/relationships/image" Target="../media/image203.png"/><Relationship Id="rId6" Type="http://schemas.openxmlformats.org/officeDocument/2006/relationships/image" Target="../media/image202.png"/><Relationship Id="rId5" Type="http://schemas.openxmlformats.org/officeDocument/2006/relationships/image" Target="../media/image201.png"/><Relationship Id="rId4" Type="http://schemas.openxmlformats.org/officeDocument/2006/relationships/image" Target="../media/image200.png"/><Relationship Id="rId3" Type="http://schemas.openxmlformats.org/officeDocument/2006/relationships/image" Target="../media/image199.png"/><Relationship Id="rId2" Type="http://schemas.openxmlformats.org/officeDocument/2006/relationships/image" Target="../media/image198.png"/><Relationship Id="rId1" Type="http://schemas.openxmlformats.org/officeDocument/2006/relationships/image" Target="../media/image197.jpeg"/></Relationships>
</file>

<file path=ppt/slides/_rels/slide63.xml.rels><?xml version="1.0" encoding="UTF-8" standalone="yes"?>
<Relationships xmlns="http://schemas.openxmlformats.org/package/2006/relationships"><Relationship Id="rId8" Type="http://schemas.openxmlformats.org/officeDocument/2006/relationships/notesSlide" Target="../notesSlides/notesSlide63.xml"/><Relationship Id="rId7" Type="http://schemas.openxmlformats.org/officeDocument/2006/relationships/slideLayout" Target="../slideLayouts/slideLayout12.xml"/><Relationship Id="rId6" Type="http://schemas.openxmlformats.org/officeDocument/2006/relationships/image" Target="../media/image208.png"/><Relationship Id="rId5" Type="http://schemas.openxmlformats.org/officeDocument/2006/relationships/image" Target="../media/image207.png"/><Relationship Id="rId4" Type="http://schemas.openxmlformats.org/officeDocument/2006/relationships/image" Target="../media/image206.png"/><Relationship Id="rId3" Type="http://schemas.openxmlformats.org/officeDocument/2006/relationships/image" Target="../media/image205.png"/><Relationship Id="rId2" Type="http://schemas.openxmlformats.org/officeDocument/2006/relationships/image" Target="../media/image204.png"/><Relationship Id="rId1" Type="http://schemas.openxmlformats.org/officeDocument/2006/relationships/image" Target="../media/image1.jpeg"/></Relationships>
</file>

<file path=ppt/slides/_rels/slide64.xml.rels><?xml version="1.0" encoding="UTF-8" standalone="yes"?>
<Relationships xmlns="http://schemas.openxmlformats.org/package/2006/relationships"><Relationship Id="rId8" Type="http://schemas.openxmlformats.org/officeDocument/2006/relationships/notesSlide" Target="../notesSlides/notesSlide64.xml"/><Relationship Id="rId7" Type="http://schemas.openxmlformats.org/officeDocument/2006/relationships/slideLayout" Target="../slideLayouts/slideLayout12.xml"/><Relationship Id="rId6" Type="http://schemas.openxmlformats.org/officeDocument/2006/relationships/image" Target="../media/image214.png"/><Relationship Id="rId5" Type="http://schemas.openxmlformats.org/officeDocument/2006/relationships/image" Target="../media/image213.png"/><Relationship Id="rId4" Type="http://schemas.openxmlformats.org/officeDocument/2006/relationships/image" Target="../media/image212.png"/><Relationship Id="rId3" Type="http://schemas.openxmlformats.org/officeDocument/2006/relationships/image" Target="../media/image211.png"/><Relationship Id="rId2" Type="http://schemas.openxmlformats.org/officeDocument/2006/relationships/image" Target="../media/image210.png"/><Relationship Id="rId1" Type="http://schemas.openxmlformats.org/officeDocument/2006/relationships/image" Target="../media/image209.jpe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12.xml"/><Relationship Id="rId2" Type="http://schemas.openxmlformats.org/officeDocument/2006/relationships/image" Target="../media/image216.png"/><Relationship Id="rId1" Type="http://schemas.openxmlformats.org/officeDocument/2006/relationships/image" Target="../media/image215.png"/></Relationships>
</file>

<file path=ppt/slides/_rels/slide66.xml.rels><?xml version="1.0" encoding="UTF-8" standalone="yes"?>
<Relationships xmlns="http://schemas.openxmlformats.org/package/2006/relationships"><Relationship Id="rId9" Type="http://schemas.openxmlformats.org/officeDocument/2006/relationships/image" Target="../media/image224.png"/><Relationship Id="rId8" Type="http://schemas.openxmlformats.org/officeDocument/2006/relationships/image" Target="../media/image223.png"/><Relationship Id="rId7" Type="http://schemas.openxmlformats.org/officeDocument/2006/relationships/image" Target="../media/image222.png"/><Relationship Id="rId6" Type="http://schemas.openxmlformats.org/officeDocument/2006/relationships/image" Target="../media/image221.png"/><Relationship Id="rId5" Type="http://schemas.openxmlformats.org/officeDocument/2006/relationships/image" Target="../media/image220.png"/><Relationship Id="rId4" Type="http://schemas.openxmlformats.org/officeDocument/2006/relationships/image" Target="../media/image219.png"/><Relationship Id="rId3" Type="http://schemas.openxmlformats.org/officeDocument/2006/relationships/image" Target="../media/image218.png"/><Relationship Id="rId2" Type="http://schemas.openxmlformats.org/officeDocument/2006/relationships/image" Target="../media/image217.png"/><Relationship Id="rId13" Type="http://schemas.openxmlformats.org/officeDocument/2006/relationships/notesSlide" Target="../notesSlides/notesSlide66.xml"/><Relationship Id="rId12" Type="http://schemas.openxmlformats.org/officeDocument/2006/relationships/slideLayout" Target="../slideLayouts/slideLayout12.xml"/><Relationship Id="rId11" Type="http://schemas.openxmlformats.org/officeDocument/2006/relationships/image" Target="../media/image226.png"/><Relationship Id="rId10" Type="http://schemas.openxmlformats.org/officeDocument/2006/relationships/image" Target="../media/image225.png"/><Relationship Id="rId1" Type="http://schemas.openxmlformats.org/officeDocument/2006/relationships/image" Target="../media/image1.jpeg"/></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12.xml"/><Relationship Id="rId2" Type="http://schemas.openxmlformats.org/officeDocument/2006/relationships/image" Target="../media/image228.png"/><Relationship Id="rId1" Type="http://schemas.openxmlformats.org/officeDocument/2006/relationships/image" Target="../media/image227.jpe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2.xml"/><Relationship Id="rId1" Type="http://schemas.openxmlformats.org/officeDocument/2006/relationships/image" Target="../media/image229.jpeg"/></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12.xml"/><Relationship Id="rId2" Type="http://schemas.openxmlformats.org/officeDocument/2006/relationships/image" Target="../media/image230.png"/><Relationship Id="rId1" Type="http://schemas.openxmlformats.org/officeDocument/2006/relationships/image" Target="../media/image1.jpeg"/></Relationships>
</file>

<file path=ppt/slides/_rels/slide70.xml.rels><?xml version="1.0" encoding="UTF-8" standalone="yes"?>
<Relationships xmlns="http://schemas.openxmlformats.org/package/2006/relationships"><Relationship Id="rId5" Type="http://schemas.openxmlformats.org/officeDocument/2006/relationships/notesSlide" Target="../notesSlides/notesSlide70.xml"/><Relationship Id="rId4" Type="http://schemas.openxmlformats.org/officeDocument/2006/relationships/slideLayout" Target="../slideLayouts/slideLayout12.xml"/><Relationship Id="rId3" Type="http://schemas.openxmlformats.org/officeDocument/2006/relationships/image" Target="../media/image230.png"/><Relationship Id="rId2" Type="http://schemas.openxmlformats.org/officeDocument/2006/relationships/image" Target="../media/image231.png"/><Relationship Id="rId1" Type="http://schemas.openxmlformats.org/officeDocument/2006/relationships/image" Target="../media/image1.jpeg"/></Relationships>
</file>

<file path=ppt/slides/_rels/slide71.xml.rels><?xml version="1.0" encoding="UTF-8" standalone="yes"?>
<Relationships xmlns="http://schemas.openxmlformats.org/package/2006/relationships"><Relationship Id="rId5" Type="http://schemas.openxmlformats.org/officeDocument/2006/relationships/notesSlide" Target="../notesSlides/notesSlide71.xml"/><Relationship Id="rId4" Type="http://schemas.openxmlformats.org/officeDocument/2006/relationships/slideLayout" Target="../slideLayouts/slideLayout12.xml"/><Relationship Id="rId3" Type="http://schemas.openxmlformats.org/officeDocument/2006/relationships/image" Target="../media/image233.png"/><Relationship Id="rId2" Type="http://schemas.openxmlformats.org/officeDocument/2006/relationships/image" Target="../media/image232.png"/><Relationship Id="rId1" Type="http://schemas.openxmlformats.org/officeDocument/2006/relationships/image" Target="../media/image1.jpeg"/></Relationships>
</file>

<file path=ppt/slides/_rels/slide72.xml.rels><?xml version="1.0" encoding="UTF-8" standalone="yes"?>
<Relationships xmlns="http://schemas.openxmlformats.org/package/2006/relationships"><Relationship Id="rId5" Type="http://schemas.openxmlformats.org/officeDocument/2006/relationships/notesSlide" Target="../notesSlides/notesSlide72.xml"/><Relationship Id="rId4" Type="http://schemas.openxmlformats.org/officeDocument/2006/relationships/slideLayout" Target="../slideLayouts/slideLayout12.xml"/><Relationship Id="rId3" Type="http://schemas.openxmlformats.org/officeDocument/2006/relationships/image" Target="../media/image233.png"/><Relationship Id="rId2" Type="http://schemas.openxmlformats.org/officeDocument/2006/relationships/image" Target="../media/image234.png"/><Relationship Id="rId1" Type="http://schemas.openxmlformats.org/officeDocument/2006/relationships/image" Target="../media/image1.jpeg"/></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73.xml"/><Relationship Id="rId3" Type="http://schemas.openxmlformats.org/officeDocument/2006/relationships/slideLayout" Target="../slideLayouts/slideLayout12.xml"/><Relationship Id="rId2" Type="http://schemas.openxmlformats.org/officeDocument/2006/relationships/image" Target="../media/image235.png"/><Relationship Id="rId1" Type="http://schemas.openxmlformats.org/officeDocument/2006/relationships/image" Target="../media/image1.jpeg"/></Relationships>
</file>

<file path=ppt/slides/_rels/slide74.xml.rels><?xml version="1.0" encoding="UTF-8" standalone="yes"?>
<Relationships xmlns="http://schemas.openxmlformats.org/package/2006/relationships"><Relationship Id="rId9" Type="http://schemas.openxmlformats.org/officeDocument/2006/relationships/notesSlide" Target="../notesSlides/notesSlide74.xml"/><Relationship Id="rId8" Type="http://schemas.openxmlformats.org/officeDocument/2006/relationships/slideLayout" Target="../slideLayouts/slideLayout12.xml"/><Relationship Id="rId7" Type="http://schemas.openxmlformats.org/officeDocument/2006/relationships/image" Target="../media/image79.png"/><Relationship Id="rId6" Type="http://schemas.openxmlformats.org/officeDocument/2006/relationships/image" Target="../media/image240.png"/><Relationship Id="rId5" Type="http://schemas.openxmlformats.org/officeDocument/2006/relationships/image" Target="../media/image239.png"/><Relationship Id="rId4" Type="http://schemas.openxmlformats.org/officeDocument/2006/relationships/image" Target="../media/image238.png"/><Relationship Id="rId3" Type="http://schemas.openxmlformats.org/officeDocument/2006/relationships/image" Target="../media/image237.png"/><Relationship Id="rId2" Type="http://schemas.openxmlformats.org/officeDocument/2006/relationships/image" Target="../media/image236.png"/><Relationship Id="rId1" Type="http://schemas.openxmlformats.org/officeDocument/2006/relationships/image" Target="../media/image1.jpeg"/></Relationships>
</file>

<file path=ppt/slides/_rels/slide75.xml.rels><?xml version="1.0" encoding="UTF-8" standalone="yes"?>
<Relationships xmlns="http://schemas.openxmlformats.org/package/2006/relationships"><Relationship Id="rId9" Type="http://schemas.openxmlformats.org/officeDocument/2006/relationships/image" Target="../media/image248.png"/><Relationship Id="rId8" Type="http://schemas.openxmlformats.org/officeDocument/2006/relationships/image" Target="../media/image247.png"/><Relationship Id="rId7" Type="http://schemas.openxmlformats.org/officeDocument/2006/relationships/image" Target="../media/image246.png"/><Relationship Id="rId6" Type="http://schemas.openxmlformats.org/officeDocument/2006/relationships/image" Target="../media/image245.png"/><Relationship Id="rId5" Type="http://schemas.openxmlformats.org/officeDocument/2006/relationships/image" Target="../media/image244.png"/><Relationship Id="rId4" Type="http://schemas.openxmlformats.org/officeDocument/2006/relationships/image" Target="../media/image243.png"/><Relationship Id="rId3" Type="http://schemas.openxmlformats.org/officeDocument/2006/relationships/image" Target="../media/image242.png"/><Relationship Id="rId2" Type="http://schemas.openxmlformats.org/officeDocument/2006/relationships/image" Target="../media/image241.png"/><Relationship Id="rId13" Type="http://schemas.openxmlformats.org/officeDocument/2006/relationships/notesSlide" Target="../notesSlides/notesSlide75.xml"/><Relationship Id="rId12" Type="http://schemas.openxmlformats.org/officeDocument/2006/relationships/slideLayout" Target="../slideLayouts/slideLayout12.xml"/><Relationship Id="rId11" Type="http://schemas.openxmlformats.org/officeDocument/2006/relationships/image" Target="../media/image250.png"/><Relationship Id="rId10" Type="http://schemas.openxmlformats.org/officeDocument/2006/relationships/image" Target="../media/image249.png"/><Relationship Id="rId1" Type="http://schemas.openxmlformats.org/officeDocument/2006/relationships/image" Target="../media/image1.jpeg"/></Relationships>
</file>

<file path=ppt/slides/_rels/slide76.xml.rels><?xml version="1.0" encoding="UTF-8" standalone="yes"?>
<Relationships xmlns="http://schemas.openxmlformats.org/package/2006/relationships"><Relationship Id="rId7" Type="http://schemas.openxmlformats.org/officeDocument/2006/relationships/notesSlide" Target="../notesSlides/notesSlide76.xml"/><Relationship Id="rId6" Type="http://schemas.openxmlformats.org/officeDocument/2006/relationships/slideLayout" Target="../slideLayouts/slideLayout12.xml"/><Relationship Id="rId5" Type="http://schemas.openxmlformats.org/officeDocument/2006/relationships/image" Target="../media/image254.png"/><Relationship Id="rId4" Type="http://schemas.openxmlformats.org/officeDocument/2006/relationships/image" Target="../media/image253.png"/><Relationship Id="rId3" Type="http://schemas.openxmlformats.org/officeDocument/2006/relationships/image" Target="../media/image252.png"/><Relationship Id="rId2" Type="http://schemas.openxmlformats.org/officeDocument/2006/relationships/image" Target="../media/image251.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21590"/>
            <a:ext cx="12192000" cy="6858000"/>
          </a:xfrm>
          <a:prstGeom prst="rect">
            <a:avLst/>
          </a:prstGeom>
        </p:spPr>
      </p:pic>
      <p:sp>
        <p:nvSpPr>
          <p:cNvPr id="3" name="Text 0"/>
          <p:cNvSpPr/>
          <p:nvPr/>
        </p:nvSpPr>
        <p:spPr>
          <a:xfrm>
            <a:off x="0" y="0"/>
            <a:ext cx="12192000" cy="1274233"/>
          </a:xfrm>
          <a:prstGeom prst="rect">
            <a:avLst/>
          </a:prstGeom>
          <a:noFill/>
        </p:spPr>
        <p:txBody>
          <a:bodyPr wrap="square" lIns="226737" tIns="226737" rIns="226737" bIns="226737" rtlCol="0" anchor="t">
            <a:noAutofit/>
          </a:bodyPr>
          <a:lstStyle/>
          <a:p>
            <a:pPr marL="0" indent="0" algn="l">
              <a:lnSpc>
                <a:spcPct val="96000"/>
              </a:lnSpc>
              <a:buNone/>
            </a:pPr>
            <a:endParaRPr lang="en-US" sz="800" dirty="0">
              <a:solidFill>
                <a:srgbClr val="00FF9C"/>
              </a:solidFill>
              <a:latin typeface="JetBrains Mono Bold" pitchFamily="34" charset="0"/>
              <a:ea typeface="JetBrains Mono Bold" pitchFamily="34" charset="-122"/>
              <a:cs typeface="JetBrains Mono Bold" pitchFamily="34" charset="-120"/>
            </a:endParaRPr>
          </a:p>
          <a:p>
            <a:pPr marL="0" indent="0" algn="l">
              <a:lnSpc>
                <a:spcPct val="96000"/>
              </a:lnSpc>
              <a:buNone/>
            </a:pPr>
            <a:r>
              <a:rPr lang="en-US" sz="800" dirty="0">
                <a:solidFill>
                  <a:srgbClr val="00FF9C"/>
                </a:solidFill>
                <a:latin typeface="JetBrains Mono Bold" pitchFamily="34" charset="0"/>
                <a:ea typeface="JetBrains Mono Bold" pitchFamily="34" charset="-122"/>
                <a:cs typeface="JetBrains Mono Bold" pitchFamily="34" charset="-120"/>
              </a:rPr>
              <a:t>01001000 01100101 01101100 01101100 01101111 00100000 01010111 01101111 01110010 01101100 01100100</a:t>
            </a:r>
            <a:endParaRPr lang="en-US" sz="800" dirty="0"/>
          </a:p>
          <a:p>
            <a:pPr marL="0" indent="0" algn="l">
              <a:lnSpc>
                <a:spcPct val="96000"/>
              </a:lnSpc>
              <a:buNone/>
            </a:pPr>
            <a:r>
              <a:rPr lang="en-US" sz="800" dirty="0">
                <a:solidFill>
                  <a:srgbClr val="00FF9C"/>
                </a:solidFill>
                <a:latin typeface="JetBrains Mono Bold" pitchFamily="34" charset="0"/>
                <a:ea typeface="JetBrains Mono Bold" pitchFamily="34" charset="-122"/>
                <a:cs typeface="JetBrains Mono Bold" pitchFamily="34" charset="-120"/>
              </a:rPr>
              <a:t>01100011 01110010 01111001 01110000 01110100 01101111 01100111 01110010 01100001 01110000 01101000 01111001</a:t>
            </a:r>
            <a:endParaRPr lang="en-US" sz="800" dirty="0"/>
          </a:p>
          <a:p>
            <a:pPr marL="0" indent="0" algn="l">
              <a:lnSpc>
                <a:spcPct val="96000"/>
              </a:lnSpc>
              <a:buNone/>
            </a:pPr>
            <a:r>
              <a:rPr lang="en-US" sz="800" dirty="0">
                <a:solidFill>
                  <a:srgbClr val="00FF9C"/>
                </a:solidFill>
                <a:latin typeface="JetBrains Mono Bold" pitchFamily="34" charset="0"/>
                <a:ea typeface="JetBrains Mono Bold" pitchFamily="34" charset="-122"/>
                <a:cs typeface="JetBrains Mono Bold" pitchFamily="34" charset="-120"/>
              </a:rPr>
              <a:t>01100110 01101100 01100001 01100111 01111011 01101000 01100001 01100011 01101011 01100101 01110010 01111101</a:t>
            </a:r>
            <a:endParaRPr lang="en-US" sz="800" dirty="0"/>
          </a:p>
        </p:txBody>
      </p:sp>
      <p:sp>
        <p:nvSpPr>
          <p:cNvPr id="4" name="Shape 1"/>
          <p:cNvSpPr/>
          <p:nvPr/>
        </p:nvSpPr>
        <p:spPr>
          <a:xfrm>
            <a:off x="0" y="0"/>
            <a:ext cx="12192000" cy="476251"/>
          </a:xfrm>
          <a:prstGeom prst="rect">
            <a:avLst/>
          </a:prstGeom>
          <a:solidFill>
            <a:srgbClr val="000000">
              <a:alpha val="0"/>
            </a:srgbClr>
          </a:solidFill>
        </p:spPr>
      </p:sp>
      <p:sp>
        <p:nvSpPr>
          <p:cNvPr id="5" name="Shape 2"/>
          <p:cNvSpPr/>
          <p:nvPr/>
        </p:nvSpPr>
        <p:spPr>
          <a:xfrm>
            <a:off x="0" y="466725"/>
            <a:ext cx="12192000" cy="9525"/>
          </a:xfrm>
          <a:prstGeom prst="rect">
            <a:avLst/>
          </a:prstGeom>
          <a:solidFill>
            <a:srgbClr val="161B22"/>
          </a:solidFill>
        </p:spPr>
      </p:sp>
      <p:sp>
        <p:nvSpPr>
          <p:cNvPr id="6" name="Text 3"/>
          <p:cNvSpPr/>
          <p:nvPr/>
        </p:nvSpPr>
        <p:spPr>
          <a:xfrm>
            <a:off x="195580" y="760254"/>
            <a:ext cx="1278255" cy="153670"/>
          </a:xfrm>
          <a:prstGeom prst="rect">
            <a:avLst/>
          </a:prstGeom>
          <a:noFill/>
        </p:spPr>
        <p:txBody>
          <a:bodyPr wrap="none" lIns="0" tIns="0" rIns="0" bIns="0" rtlCol="0" anchor="t">
            <a:spAutoFit/>
          </a:bodyPr>
          <a:lstStyle/>
          <a:p>
            <a:pPr marL="0" indent="0" algn="l">
              <a:buNone/>
            </a:pPr>
            <a:r>
              <a:rPr lang="en-US" sz="1000" dirty="0">
                <a:solidFill>
                  <a:srgbClr val="00FF9C"/>
                </a:solidFill>
                <a:latin typeface="JetBrains Mono Bold" pitchFamily="34" charset="0"/>
                <a:ea typeface="JetBrains Mono Bold" pitchFamily="34" charset="-122"/>
                <a:cs typeface="JetBrains Mono Bold" pitchFamily="34" charset="-120"/>
              </a:rPr>
              <a:t>DAY 1: CRYPTOGRAPHY</a:t>
            </a:r>
            <a:endParaRPr lang="en-US" sz="1000" dirty="0"/>
          </a:p>
        </p:txBody>
      </p:sp>
      <p:sp>
        <p:nvSpPr>
          <p:cNvPr id="7" name="Text 4"/>
          <p:cNvSpPr/>
          <p:nvPr/>
        </p:nvSpPr>
        <p:spPr>
          <a:xfrm>
            <a:off x="10353675" y="150019"/>
            <a:ext cx="113792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SLIDE 01 // EWUCSC</a:t>
            </a:r>
            <a:endParaRPr lang="en-US" sz="1000" dirty="0"/>
          </a:p>
        </p:txBody>
      </p:sp>
      <p:pic>
        <p:nvPicPr>
          <p:cNvPr id="8" name="Image 1" descr="preencoded.png"/>
          <p:cNvPicPr>
            <a:picLocks noChangeAspect="1"/>
          </p:cNvPicPr>
          <p:nvPr/>
        </p:nvPicPr>
        <p:blipFill>
          <a:blip r:embed="rId2"/>
          <a:stretch>
            <a:fillRect/>
          </a:stretch>
        </p:blipFill>
        <p:spPr>
          <a:xfrm>
            <a:off x="5762625" y="1768079"/>
            <a:ext cx="666751" cy="762000"/>
          </a:xfrm>
          <a:prstGeom prst="rect">
            <a:avLst/>
          </a:prstGeom>
        </p:spPr>
      </p:pic>
      <p:sp>
        <p:nvSpPr>
          <p:cNvPr id="9" name="Text 5"/>
          <p:cNvSpPr/>
          <p:nvPr/>
        </p:nvSpPr>
        <p:spPr>
          <a:xfrm>
            <a:off x="2097881" y="2808684"/>
            <a:ext cx="7996237" cy="676910"/>
          </a:xfrm>
          <a:prstGeom prst="rect">
            <a:avLst/>
          </a:prstGeom>
          <a:noFill/>
        </p:spPr>
        <p:txBody>
          <a:bodyPr wrap="square" lIns="0" tIns="0" rIns="0" bIns="0" rtlCol="0" anchor="t">
            <a:spAutoFit/>
          </a:bodyPr>
          <a:lstStyle/>
          <a:p>
            <a:pPr marL="0" indent="0" algn="ctr">
              <a:buNone/>
            </a:pPr>
            <a:r>
              <a:rPr lang="en-US" sz="4400" b="1" kern="0" spc="-2" dirty="0">
                <a:solidFill>
                  <a:srgbClr val="E6EDF3"/>
                </a:solidFill>
                <a:latin typeface="JetBrains Mono Bold" pitchFamily="34" charset="0"/>
                <a:ea typeface="JetBrains Mono Bold" pitchFamily="34" charset="-122"/>
                <a:cs typeface="JetBrains Mono Bold" pitchFamily="34" charset="-120"/>
              </a:rPr>
              <a:t>THE LANGUAGE OF SECRETS</a:t>
            </a:r>
            <a:endParaRPr lang="en-US" sz="4400" dirty="0"/>
          </a:p>
        </p:txBody>
      </p:sp>
      <p:sp>
        <p:nvSpPr>
          <p:cNvPr id="10" name="Text 6"/>
          <p:cNvSpPr/>
          <p:nvPr/>
        </p:nvSpPr>
        <p:spPr>
          <a:xfrm>
            <a:off x="2097881" y="3708797"/>
            <a:ext cx="7996237" cy="245745"/>
          </a:xfrm>
          <a:prstGeom prst="rect">
            <a:avLst/>
          </a:prstGeom>
          <a:noFill/>
        </p:spPr>
        <p:txBody>
          <a:bodyPr wrap="square" lIns="0" tIns="0" rIns="0" bIns="0" rtlCol="0" anchor="t">
            <a:spAutoFit/>
          </a:bodyPr>
          <a:lstStyle/>
          <a:p>
            <a:pPr marL="0" indent="0" algn="ctr">
              <a:buNone/>
            </a:pPr>
            <a:r>
              <a:rPr lang="en-US" sz="1600" b="1" dirty="0">
                <a:solidFill>
                  <a:srgbClr val="58A6FF"/>
                </a:solidFill>
                <a:latin typeface="Inter Bold" pitchFamily="34" charset="0"/>
                <a:ea typeface="Inter Bold" pitchFamily="34" charset="-122"/>
                <a:cs typeface="Inter Bold" pitchFamily="34" charset="-120"/>
              </a:rPr>
              <a:t>EWUCSC × Hidden Investigations CTF Bootcamp</a:t>
            </a:r>
            <a:endParaRPr lang="en-US" sz="1600" dirty="0"/>
          </a:p>
        </p:txBody>
      </p:sp>
      <p:sp>
        <p:nvSpPr>
          <p:cNvPr id="11" name="Text 7"/>
          <p:cNvSpPr/>
          <p:nvPr/>
        </p:nvSpPr>
        <p:spPr>
          <a:xfrm>
            <a:off x="2097881" y="4270772"/>
            <a:ext cx="7996237" cy="194310"/>
          </a:xfrm>
          <a:prstGeom prst="rect">
            <a:avLst/>
          </a:prstGeom>
          <a:noFill/>
        </p:spPr>
        <p:txBody>
          <a:bodyPr wrap="square" lIns="0" tIns="0" rIns="0" bIns="0" rtlCol="0" anchor="t">
            <a:spAutoFit/>
          </a:bodyPr>
          <a:lstStyle/>
          <a:p>
            <a:pPr marL="0" indent="0" algn="ctr">
              <a:buNone/>
            </a:pPr>
            <a:r>
              <a:rPr lang="en-US" sz="1265" dirty="0">
                <a:solidFill>
                  <a:srgbClr val="8B949E"/>
                </a:solidFill>
                <a:latin typeface="JetBrains Mono Bold" pitchFamily="34" charset="0"/>
                <a:ea typeface="JetBrains Mono Bold" pitchFamily="34" charset="-122"/>
                <a:cs typeface="JetBrains Mono Bold" pitchFamily="34" charset="-120"/>
              </a:rPr>
              <a:t>May 22, 2026 </a:t>
            </a:r>
            <a:endParaRPr lang="en-US" sz="1265" dirty="0"/>
          </a:p>
        </p:txBody>
      </p:sp>
      <p:sp>
        <p:nvSpPr>
          <p:cNvPr id="12" name="Shape 8"/>
          <p:cNvSpPr/>
          <p:nvPr/>
        </p:nvSpPr>
        <p:spPr>
          <a:xfrm>
            <a:off x="2251472" y="4877991"/>
            <a:ext cx="1214437" cy="283369"/>
          </a:xfrm>
          <a:prstGeom prst="roundRect">
            <a:avLst/>
          </a:prstGeom>
          <a:solidFill>
            <a:srgbClr val="161B22"/>
          </a:solidFill>
          <a:ln w="9144">
            <a:solidFill>
              <a:srgbClr val="58A6FF"/>
            </a:solidFill>
            <a:prstDash val="solid"/>
          </a:ln>
        </p:spPr>
      </p:sp>
      <p:sp>
        <p:nvSpPr>
          <p:cNvPr id="13" name="Text 9"/>
          <p:cNvSpPr/>
          <p:nvPr/>
        </p:nvSpPr>
        <p:spPr>
          <a:xfrm>
            <a:off x="2343071" y="4877991"/>
            <a:ext cx="1031240" cy="258445"/>
          </a:xfrm>
          <a:prstGeom prst="rect">
            <a:avLst/>
          </a:prstGeom>
          <a:noFill/>
        </p:spPr>
        <p:txBody>
          <a:bodyPr wrap="none" lIns="136144" tIns="68072" rIns="136144" bIns="68072" rtlCol="0" anchor="t">
            <a:spAutoFit/>
          </a:bodyPr>
          <a:lstStyle/>
          <a:p>
            <a:pPr marL="0" indent="0" algn="ctr">
              <a:buNone/>
            </a:pPr>
            <a:r>
              <a:rPr lang="en-US" sz="800" dirty="0">
                <a:solidFill>
                  <a:srgbClr val="E6EDF3"/>
                </a:solidFill>
                <a:latin typeface="JetBrains Mono Bold" pitchFamily="34" charset="0"/>
                <a:ea typeface="JetBrains Mono Bold" pitchFamily="34" charset="-122"/>
                <a:cs typeface="JetBrains Mono Bold" pitchFamily="34" charset="-120"/>
              </a:rPr>
              <a:t>Number Systems</a:t>
            </a:r>
            <a:endParaRPr lang="en-US" sz="800" dirty="0"/>
          </a:p>
        </p:txBody>
      </p:sp>
      <p:sp>
        <p:nvSpPr>
          <p:cNvPr id="14" name="Shape 10"/>
          <p:cNvSpPr/>
          <p:nvPr/>
        </p:nvSpPr>
        <p:spPr>
          <a:xfrm>
            <a:off x="3551635" y="4877991"/>
            <a:ext cx="800100" cy="283369"/>
          </a:xfrm>
          <a:prstGeom prst="roundRect">
            <a:avLst/>
          </a:prstGeom>
          <a:solidFill>
            <a:srgbClr val="161B22"/>
          </a:solidFill>
          <a:ln w="9144">
            <a:solidFill>
              <a:srgbClr val="58A6FF"/>
            </a:solidFill>
            <a:prstDash val="solid"/>
          </a:ln>
        </p:spPr>
      </p:sp>
      <p:sp>
        <p:nvSpPr>
          <p:cNvPr id="15" name="Text 11"/>
          <p:cNvSpPr/>
          <p:nvPr/>
        </p:nvSpPr>
        <p:spPr>
          <a:xfrm>
            <a:off x="3614500" y="4877991"/>
            <a:ext cx="674370" cy="258445"/>
          </a:xfrm>
          <a:prstGeom prst="rect">
            <a:avLst/>
          </a:prstGeom>
          <a:noFill/>
        </p:spPr>
        <p:txBody>
          <a:bodyPr wrap="none" lIns="136144" tIns="68072" rIns="136144" bIns="68072" rtlCol="0" anchor="t">
            <a:spAutoFit/>
          </a:bodyPr>
          <a:lstStyle/>
          <a:p>
            <a:pPr marL="0" indent="0" algn="ctr">
              <a:buNone/>
            </a:pPr>
            <a:r>
              <a:rPr lang="en-US" sz="800" dirty="0">
                <a:solidFill>
                  <a:srgbClr val="E6EDF3"/>
                </a:solidFill>
                <a:latin typeface="JetBrains Mono Bold" pitchFamily="34" charset="0"/>
                <a:ea typeface="JetBrains Mono Bold" pitchFamily="34" charset="-122"/>
                <a:cs typeface="JetBrains Mono Bold" pitchFamily="34" charset="-120"/>
              </a:rPr>
              <a:t>Encoding</a:t>
            </a:r>
            <a:endParaRPr lang="en-US" sz="800" dirty="0"/>
          </a:p>
        </p:txBody>
      </p:sp>
      <p:sp>
        <p:nvSpPr>
          <p:cNvPr id="16" name="Shape 12"/>
          <p:cNvSpPr/>
          <p:nvPr/>
        </p:nvSpPr>
        <p:spPr>
          <a:xfrm>
            <a:off x="4437460" y="4877991"/>
            <a:ext cx="1421607" cy="283369"/>
          </a:xfrm>
          <a:prstGeom prst="roundRect">
            <a:avLst/>
          </a:prstGeom>
          <a:solidFill>
            <a:srgbClr val="161B22"/>
          </a:solidFill>
          <a:ln w="9144">
            <a:solidFill>
              <a:srgbClr val="58A6FF"/>
            </a:solidFill>
            <a:prstDash val="solid"/>
          </a:ln>
        </p:spPr>
      </p:sp>
      <p:sp>
        <p:nvSpPr>
          <p:cNvPr id="17" name="Text 13"/>
          <p:cNvSpPr/>
          <p:nvPr/>
        </p:nvSpPr>
        <p:spPr>
          <a:xfrm>
            <a:off x="4643438" y="4877991"/>
            <a:ext cx="1009650" cy="258445"/>
          </a:xfrm>
          <a:prstGeom prst="rect">
            <a:avLst/>
          </a:prstGeom>
          <a:noFill/>
        </p:spPr>
        <p:txBody>
          <a:bodyPr wrap="none" lIns="136144" tIns="68072" rIns="136144" bIns="68072" rtlCol="0" anchor="t">
            <a:spAutoFit/>
          </a:bodyPr>
          <a:lstStyle/>
          <a:p>
            <a:pPr marL="0" indent="0" algn="ctr">
              <a:buNone/>
            </a:pPr>
            <a:r>
              <a:rPr lang="en-US" sz="800" dirty="0">
                <a:solidFill>
                  <a:srgbClr val="E6EDF3"/>
                </a:solidFill>
                <a:latin typeface="JetBrains Mono Bold" pitchFamily="34" charset="0"/>
                <a:ea typeface="JetBrains Mono Bold" pitchFamily="34" charset="-122"/>
                <a:cs typeface="JetBrains Mono Bold" pitchFamily="34" charset="-120"/>
              </a:rPr>
              <a:t>Classical Ciphers</a:t>
            </a:r>
            <a:endParaRPr lang="en-US" sz="800" dirty="0"/>
          </a:p>
        </p:txBody>
      </p:sp>
      <p:sp>
        <p:nvSpPr>
          <p:cNvPr id="18" name="Shape 14"/>
          <p:cNvSpPr/>
          <p:nvPr/>
        </p:nvSpPr>
        <p:spPr>
          <a:xfrm>
            <a:off x="5944791" y="4877991"/>
            <a:ext cx="454819" cy="283369"/>
          </a:xfrm>
          <a:prstGeom prst="roundRect">
            <a:avLst/>
          </a:prstGeom>
          <a:solidFill>
            <a:srgbClr val="161B22"/>
          </a:solidFill>
          <a:ln w="9144">
            <a:solidFill>
              <a:srgbClr val="58A6FF"/>
            </a:solidFill>
            <a:prstDash val="solid"/>
          </a:ln>
        </p:spPr>
      </p:sp>
      <p:sp>
        <p:nvSpPr>
          <p:cNvPr id="19" name="Text 15"/>
          <p:cNvSpPr/>
          <p:nvPr/>
        </p:nvSpPr>
        <p:spPr>
          <a:xfrm>
            <a:off x="5942330" y="4877991"/>
            <a:ext cx="459740" cy="258445"/>
          </a:xfrm>
          <a:prstGeom prst="rect">
            <a:avLst/>
          </a:prstGeom>
          <a:noFill/>
        </p:spPr>
        <p:txBody>
          <a:bodyPr wrap="none" lIns="136144" tIns="68072" rIns="136144" bIns="68072" rtlCol="0" anchor="t">
            <a:spAutoFit/>
          </a:bodyPr>
          <a:lstStyle/>
          <a:p>
            <a:pPr marL="0" indent="0" algn="ctr">
              <a:buNone/>
            </a:pPr>
            <a:r>
              <a:rPr lang="en-US" sz="800" dirty="0">
                <a:solidFill>
                  <a:srgbClr val="E6EDF3"/>
                </a:solidFill>
                <a:latin typeface="JetBrains Mono Bold" pitchFamily="34" charset="0"/>
                <a:ea typeface="JetBrains Mono Bold" pitchFamily="34" charset="-122"/>
                <a:cs typeface="JetBrains Mono Bold" pitchFamily="34" charset="-120"/>
              </a:rPr>
              <a:t>XOR</a:t>
            </a:r>
            <a:endParaRPr lang="en-US" sz="800" dirty="0"/>
          </a:p>
        </p:txBody>
      </p:sp>
      <p:sp>
        <p:nvSpPr>
          <p:cNvPr id="20" name="Shape 16"/>
          <p:cNvSpPr/>
          <p:nvPr/>
        </p:nvSpPr>
        <p:spPr>
          <a:xfrm>
            <a:off x="6485335" y="4877991"/>
            <a:ext cx="454819" cy="283369"/>
          </a:xfrm>
          <a:prstGeom prst="roundRect">
            <a:avLst/>
          </a:prstGeom>
          <a:solidFill>
            <a:srgbClr val="161B22"/>
          </a:solidFill>
          <a:ln w="9144">
            <a:solidFill>
              <a:srgbClr val="58A6FF"/>
            </a:solidFill>
            <a:prstDash val="solid"/>
          </a:ln>
        </p:spPr>
      </p:sp>
      <p:sp>
        <p:nvSpPr>
          <p:cNvPr id="21" name="Text 17"/>
          <p:cNvSpPr/>
          <p:nvPr/>
        </p:nvSpPr>
        <p:spPr>
          <a:xfrm>
            <a:off x="6495574" y="4877991"/>
            <a:ext cx="434340" cy="258445"/>
          </a:xfrm>
          <a:prstGeom prst="rect">
            <a:avLst/>
          </a:prstGeom>
          <a:noFill/>
        </p:spPr>
        <p:txBody>
          <a:bodyPr wrap="none" lIns="136144" tIns="68072" rIns="136144" bIns="68072" rtlCol="0" anchor="t">
            <a:spAutoFit/>
          </a:bodyPr>
          <a:lstStyle/>
          <a:p>
            <a:pPr marL="0" indent="0" algn="ctr">
              <a:buNone/>
            </a:pPr>
            <a:r>
              <a:rPr lang="en-US" sz="800" dirty="0">
                <a:solidFill>
                  <a:srgbClr val="E6EDF3"/>
                </a:solidFill>
                <a:latin typeface="JetBrains Mono Bold" pitchFamily="34" charset="0"/>
                <a:ea typeface="JetBrains Mono Bold" pitchFamily="34" charset="-122"/>
                <a:cs typeface="JetBrains Mono Bold" pitchFamily="34" charset="-120"/>
              </a:rPr>
              <a:t>AES</a:t>
            </a:r>
            <a:endParaRPr lang="en-US" sz="800" dirty="0"/>
          </a:p>
        </p:txBody>
      </p:sp>
      <p:sp>
        <p:nvSpPr>
          <p:cNvPr id="22" name="Shape 18"/>
          <p:cNvSpPr/>
          <p:nvPr/>
        </p:nvSpPr>
        <p:spPr>
          <a:xfrm>
            <a:off x="7025879" y="4877991"/>
            <a:ext cx="454819" cy="283369"/>
          </a:xfrm>
          <a:prstGeom prst="roundRect">
            <a:avLst/>
          </a:prstGeom>
          <a:solidFill>
            <a:srgbClr val="161B22"/>
          </a:solidFill>
          <a:ln w="9144">
            <a:solidFill>
              <a:srgbClr val="58A6FF"/>
            </a:solidFill>
            <a:prstDash val="solid"/>
          </a:ln>
        </p:spPr>
      </p:sp>
      <p:sp>
        <p:nvSpPr>
          <p:cNvPr id="23" name="Text 19"/>
          <p:cNvSpPr/>
          <p:nvPr/>
        </p:nvSpPr>
        <p:spPr>
          <a:xfrm>
            <a:off x="7032308" y="4877991"/>
            <a:ext cx="441960" cy="258445"/>
          </a:xfrm>
          <a:prstGeom prst="rect">
            <a:avLst/>
          </a:prstGeom>
          <a:noFill/>
        </p:spPr>
        <p:txBody>
          <a:bodyPr wrap="none" lIns="136144" tIns="68072" rIns="136144" bIns="68072" rtlCol="0" anchor="t">
            <a:spAutoFit/>
          </a:bodyPr>
          <a:lstStyle/>
          <a:p>
            <a:pPr marL="0" indent="0" algn="ctr">
              <a:buNone/>
            </a:pPr>
            <a:r>
              <a:rPr lang="en-US" sz="800" dirty="0">
                <a:solidFill>
                  <a:srgbClr val="E6EDF3"/>
                </a:solidFill>
                <a:latin typeface="JetBrains Mono Bold" pitchFamily="34" charset="0"/>
                <a:ea typeface="JetBrains Mono Bold" pitchFamily="34" charset="-122"/>
                <a:cs typeface="JetBrains Mono Bold" pitchFamily="34" charset="-120"/>
              </a:rPr>
              <a:t>RSA</a:t>
            </a:r>
            <a:endParaRPr lang="en-US" sz="800" dirty="0"/>
          </a:p>
        </p:txBody>
      </p:sp>
      <p:sp>
        <p:nvSpPr>
          <p:cNvPr id="24" name="Shape 20"/>
          <p:cNvSpPr/>
          <p:nvPr/>
        </p:nvSpPr>
        <p:spPr>
          <a:xfrm>
            <a:off x="7566421" y="4877991"/>
            <a:ext cx="731044" cy="283369"/>
          </a:xfrm>
          <a:prstGeom prst="roundRect">
            <a:avLst/>
          </a:prstGeom>
          <a:solidFill>
            <a:srgbClr val="161B22"/>
          </a:solidFill>
          <a:ln w="9144">
            <a:solidFill>
              <a:srgbClr val="58A6FF"/>
            </a:solidFill>
            <a:prstDash val="solid"/>
          </a:ln>
        </p:spPr>
      </p:sp>
      <p:sp>
        <p:nvSpPr>
          <p:cNvPr id="25" name="Text 21"/>
          <p:cNvSpPr/>
          <p:nvPr/>
        </p:nvSpPr>
        <p:spPr>
          <a:xfrm>
            <a:off x="7616348" y="4877991"/>
            <a:ext cx="631190" cy="258445"/>
          </a:xfrm>
          <a:prstGeom prst="rect">
            <a:avLst/>
          </a:prstGeom>
          <a:noFill/>
        </p:spPr>
        <p:txBody>
          <a:bodyPr wrap="none" lIns="136144" tIns="68072" rIns="136144" bIns="68072" rtlCol="0" anchor="t">
            <a:spAutoFit/>
          </a:bodyPr>
          <a:lstStyle/>
          <a:p>
            <a:pPr marL="0" indent="0" algn="ctr">
              <a:buNone/>
            </a:pPr>
            <a:r>
              <a:rPr lang="en-US" sz="800" dirty="0">
                <a:solidFill>
                  <a:srgbClr val="E6EDF3"/>
                </a:solidFill>
                <a:latin typeface="JetBrains Mono Bold" pitchFamily="34" charset="0"/>
                <a:ea typeface="JetBrains Mono Bold" pitchFamily="34" charset="-122"/>
                <a:cs typeface="JetBrains Mono Bold" pitchFamily="34" charset="-120"/>
              </a:rPr>
              <a:t>Hashing</a:t>
            </a:r>
            <a:endParaRPr lang="en-US" sz="800" dirty="0"/>
          </a:p>
        </p:txBody>
      </p:sp>
      <p:sp>
        <p:nvSpPr>
          <p:cNvPr id="26" name="Shape 22"/>
          <p:cNvSpPr/>
          <p:nvPr/>
        </p:nvSpPr>
        <p:spPr>
          <a:xfrm>
            <a:off x="8383191" y="4877991"/>
            <a:ext cx="1490663" cy="283369"/>
          </a:xfrm>
          <a:prstGeom prst="roundRect">
            <a:avLst/>
          </a:prstGeom>
          <a:solidFill>
            <a:srgbClr val="161B22"/>
          </a:solidFill>
          <a:ln w="9144">
            <a:solidFill>
              <a:srgbClr val="58A6FF"/>
            </a:solidFill>
            <a:prstDash val="solid"/>
          </a:ln>
        </p:spPr>
      </p:sp>
      <p:sp>
        <p:nvSpPr>
          <p:cNvPr id="27" name="Text 23"/>
          <p:cNvSpPr/>
          <p:nvPr/>
        </p:nvSpPr>
        <p:spPr>
          <a:xfrm>
            <a:off x="8602107" y="4877991"/>
            <a:ext cx="1052830" cy="258445"/>
          </a:xfrm>
          <a:prstGeom prst="rect">
            <a:avLst/>
          </a:prstGeom>
          <a:noFill/>
        </p:spPr>
        <p:txBody>
          <a:bodyPr wrap="none" lIns="136144" tIns="68072" rIns="136144" bIns="68072" rtlCol="0" anchor="t">
            <a:spAutoFit/>
          </a:bodyPr>
          <a:lstStyle/>
          <a:p>
            <a:pPr marL="0" indent="0" algn="ctr">
              <a:buNone/>
            </a:pPr>
            <a:r>
              <a:rPr lang="en-US" sz="800" dirty="0">
                <a:solidFill>
                  <a:srgbClr val="E6EDF3"/>
                </a:solidFill>
                <a:latin typeface="JetBrains Mono Bold" pitchFamily="34" charset="0"/>
                <a:ea typeface="JetBrains Mono Bold" pitchFamily="34" charset="-122"/>
                <a:cs typeface="JetBrains Mono Bold" pitchFamily="34" charset="-120"/>
              </a:rPr>
              <a:t>Digital Signatures</a:t>
            </a:r>
            <a:endParaRPr lang="en-US" sz="800" dirty="0"/>
          </a:p>
        </p:txBody>
      </p:sp>
      <p:grpSp>
        <p:nvGrpSpPr>
          <p:cNvPr id="42" name="Group 2"/>
          <p:cNvGrpSpPr/>
          <p:nvPr/>
        </p:nvGrpSpPr>
        <p:grpSpPr>
          <a:xfrm rot="0">
            <a:off x="301625" y="6233795"/>
            <a:ext cx="789305" cy="299720"/>
            <a:chOff x="0" y="0"/>
            <a:chExt cx="341337" cy="102463"/>
          </a:xfrm>
        </p:grpSpPr>
        <p:sp>
          <p:nvSpPr>
            <p:cNvPr id="43"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4"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5" name="Group 5"/>
          <p:cNvGrpSpPr/>
          <p:nvPr/>
        </p:nvGrpSpPr>
        <p:grpSpPr>
          <a:xfrm rot="0">
            <a:off x="829310" y="6249035"/>
            <a:ext cx="220980" cy="246380"/>
            <a:chOff x="0" y="0"/>
            <a:chExt cx="812800" cy="812800"/>
          </a:xfrm>
        </p:grpSpPr>
        <p:sp>
          <p:nvSpPr>
            <p:cNvPr id="4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7"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8" name="TextBox 18"/>
          <p:cNvSpPr txBox="1"/>
          <p:nvPr/>
        </p:nvSpPr>
        <p:spPr>
          <a:xfrm>
            <a:off x="1141950" y="6233739"/>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54" name="Freeform 9"/>
          <p:cNvSpPr/>
          <p:nvPr/>
        </p:nvSpPr>
        <p:spPr>
          <a:xfrm>
            <a:off x="9655175" y="478155"/>
            <a:ext cx="1992630" cy="195834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10160"/>
            <a:ext cx="12192000" cy="6858000"/>
          </a:xfrm>
          <a:prstGeom prst="rect">
            <a:avLst/>
          </a:prstGeom>
        </p:spPr>
      </p:pic>
      <p:sp>
        <p:nvSpPr>
          <p:cNvPr id="3" name="Shape 0"/>
          <p:cNvSpPr/>
          <p:nvPr/>
        </p:nvSpPr>
        <p:spPr>
          <a:xfrm>
            <a:off x="0" y="0"/>
            <a:ext cx="12192000" cy="476251"/>
          </a:xfrm>
          <a:prstGeom prst="rect">
            <a:avLst/>
          </a:prstGeom>
          <a:solidFill>
            <a:srgbClr val="000000">
              <a:alpha val="0"/>
            </a:srgbClr>
          </a:solidFill>
        </p:spPr>
      </p:sp>
      <p:sp>
        <p:nvSpPr>
          <p:cNvPr id="4" name="Shape 1"/>
          <p:cNvSpPr/>
          <p:nvPr/>
        </p:nvSpPr>
        <p:spPr>
          <a:xfrm>
            <a:off x="0" y="466725"/>
            <a:ext cx="12192000" cy="9525"/>
          </a:xfrm>
          <a:prstGeom prst="rect">
            <a:avLst/>
          </a:prstGeom>
          <a:solidFill>
            <a:srgbClr val="161B22"/>
          </a:solidFill>
        </p:spPr>
      </p:sp>
      <p:sp>
        <p:nvSpPr>
          <p:cNvPr id="6" name="Text 3"/>
          <p:cNvSpPr/>
          <p:nvPr/>
        </p:nvSpPr>
        <p:spPr>
          <a:xfrm>
            <a:off x="10353675" y="150019"/>
            <a:ext cx="113792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SLIDE 02 // EWUCSC</a:t>
            </a:r>
            <a:endParaRPr lang="en-US" sz="1000" dirty="0"/>
          </a:p>
        </p:txBody>
      </p:sp>
      <p:sp>
        <p:nvSpPr>
          <p:cNvPr id="7" name="Text 4"/>
          <p:cNvSpPr/>
          <p:nvPr/>
        </p:nvSpPr>
        <p:spPr>
          <a:xfrm>
            <a:off x="381000" y="1047751"/>
            <a:ext cx="5524500" cy="328930"/>
          </a:xfrm>
          <a:prstGeom prst="rect">
            <a:avLst/>
          </a:prstGeom>
          <a:noFill/>
        </p:spPr>
        <p:txBody>
          <a:bodyPr wrap="square" lIns="0" tIns="0" rIns="0" bIns="0" rtlCol="0" anchor="t">
            <a:spAutoFit/>
          </a:bodyPr>
          <a:lstStyle/>
          <a:p>
            <a:pPr marL="0" indent="0" algn="l">
              <a:buNone/>
            </a:pPr>
            <a:r>
              <a:rPr lang="en-US" sz="2135" b="1" dirty="0">
                <a:solidFill>
                  <a:srgbClr val="E6EDF3"/>
                </a:solidFill>
                <a:latin typeface="JetBrains Mono Bold" pitchFamily="34" charset="0"/>
                <a:ea typeface="JetBrains Mono Bold" pitchFamily="34" charset="-122"/>
                <a:cs typeface="JetBrains Mono Bold" pitchFamily="34" charset="-120"/>
              </a:rPr>
              <a:t>BEFORE WE BEGIN — A STORY</a:t>
            </a:r>
            <a:endParaRPr lang="en-US" sz="2135" dirty="0"/>
          </a:p>
        </p:txBody>
      </p:sp>
      <p:sp>
        <p:nvSpPr>
          <p:cNvPr id="8" name="Text 5"/>
          <p:cNvSpPr/>
          <p:nvPr/>
        </p:nvSpPr>
        <p:spPr>
          <a:xfrm>
            <a:off x="381000" y="1907381"/>
            <a:ext cx="5524500" cy="24955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00FF9C"/>
                </a:solidFill>
                <a:latin typeface="JetBrains Mono Bold" pitchFamily="34" charset="0"/>
                <a:ea typeface="JetBrains Mono Bold" pitchFamily="34" charset="-122"/>
                <a:cs typeface="JetBrains Mono Bold" pitchFamily="34" charset="-120"/>
              </a:rPr>
              <a:t>&gt;</a:t>
            </a:r>
            <a:r>
              <a:rPr lang="en-US" sz="1265" dirty="0">
                <a:solidFill>
                  <a:srgbClr val="8B949E"/>
                </a:solidFill>
                <a:latin typeface="Inter" pitchFamily="34" charset="0"/>
                <a:ea typeface="Inter" pitchFamily="34" charset="-122"/>
                <a:cs typeface="Inter" pitchFamily="34" charset="-120"/>
              </a:rPr>
              <a:t> Julius Caesar needed to send secret war messages to his generals.</a:t>
            </a:r>
            <a:endParaRPr lang="en-US" sz="1265" dirty="0"/>
          </a:p>
        </p:txBody>
      </p:sp>
      <p:sp>
        <p:nvSpPr>
          <p:cNvPr id="9" name="Text 6"/>
          <p:cNvSpPr/>
          <p:nvPr/>
        </p:nvSpPr>
        <p:spPr>
          <a:xfrm>
            <a:off x="381000" y="2629793"/>
            <a:ext cx="5524500" cy="419100"/>
          </a:xfrm>
          <a:prstGeom prst="rect">
            <a:avLst/>
          </a:prstGeom>
          <a:noFill/>
        </p:spPr>
        <p:txBody>
          <a:bodyPr wrap="square" lIns="0" tIns="170010" rIns="0" bIns="0" rtlCol="0" anchor="t">
            <a:spAutoFit/>
          </a:bodyPr>
          <a:lstStyle/>
          <a:p>
            <a:pPr marL="0" indent="0" algn="l">
              <a:lnSpc>
                <a:spcPct val="128000"/>
              </a:lnSpc>
              <a:buNone/>
            </a:pPr>
            <a:r>
              <a:rPr lang="en-US" sz="1265" dirty="0">
                <a:solidFill>
                  <a:srgbClr val="00FF9C"/>
                </a:solidFill>
                <a:latin typeface="JetBrains Mono Bold" pitchFamily="34" charset="0"/>
                <a:ea typeface="JetBrains Mono Bold" pitchFamily="34" charset="-122"/>
                <a:cs typeface="JetBrains Mono Bold" pitchFamily="34" charset="-120"/>
              </a:rPr>
              <a:t>&gt;</a:t>
            </a:r>
            <a:r>
              <a:rPr lang="en-US" sz="1265" dirty="0">
                <a:solidFill>
                  <a:srgbClr val="8B949E"/>
                </a:solidFill>
                <a:latin typeface="Inter" pitchFamily="34" charset="0"/>
                <a:ea typeface="Inter" pitchFamily="34" charset="-122"/>
                <a:cs typeface="Inter" pitchFamily="34" charset="-120"/>
              </a:rPr>
              <a:t> His enemies often intercepted his letters, but they couldn't read them.</a:t>
            </a:r>
            <a:endParaRPr lang="en-US" sz="1265" dirty="0"/>
          </a:p>
        </p:txBody>
      </p:sp>
      <p:sp>
        <p:nvSpPr>
          <p:cNvPr id="10" name="Text 7"/>
          <p:cNvSpPr/>
          <p:nvPr/>
        </p:nvSpPr>
        <p:spPr>
          <a:xfrm>
            <a:off x="381000" y="3495080"/>
            <a:ext cx="5524500" cy="419100"/>
          </a:xfrm>
          <a:prstGeom prst="rect">
            <a:avLst/>
          </a:prstGeom>
          <a:noFill/>
        </p:spPr>
        <p:txBody>
          <a:bodyPr wrap="square" lIns="0" tIns="170010" rIns="0" bIns="0" rtlCol="0" anchor="t">
            <a:spAutoFit/>
          </a:bodyPr>
          <a:lstStyle/>
          <a:p>
            <a:pPr marL="0" indent="0" algn="l">
              <a:lnSpc>
                <a:spcPct val="128000"/>
              </a:lnSpc>
              <a:buNone/>
            </a:pPr>
            <a:r>
              <a:rPr lang="en-US" sz="1265" dirty="0">
                <a:solidFill>
                  <a:srgbClr val="00FF9C"/>
                </a:solidFill>
                <a:latin typeface="JetBrains Mono Bold" pitchFamily="34" charset="0"/>
                <a:ea typeface="JetBrains Mono Bold" pitchFamily="34" charset="-122"/>
                <a:cs typeface="JetBrains Mono Bold" pitchFamily="34" charset="-120"/>
              </a:rPr>
              <a:t>&gt;</a:t>
            </a:r>
            <a:r>
              <a:rPr lang="en-US" sz="1265" dirty="0">
                <a:solidFill>
                  <a:srgbClr val="8B949E"/>
                </a:solidFill>
                <a:latin typeface="Inter" pitchFamily="34" charset="0"/>
                <a:ea typeface="Inter" pitchFamily="34" charset="-122"/>
                <a:cs typeface="Inter" pitchFamily="34" charset="-120"/>
              </a:rPr>
              <a:t> Why? Because Caesar shifted every letter in the alphabet by </a:t>
            </a:r>
            <a:r>
              <a:rPr lang="en-US" sz="1265" dirty="0">
                <a:solidFill>
                  <a:srgbClr val="00FF9C"/>
                </a:solidFill>
                <a:latin typeface="Inter" pitchFamily="34" charset="0"/>
                <a:ea typeface="Inter" pitchFamily="34" charset="-122"/>
                <a:cs typeface="Inter" pitchFamily="34" charset="-120"/>
              </a:rPr>
              <a:t>3 positions</a:t>
            </a:r>
            <a:r>
              <a:rPr lang="en-US" sz="1265" dirty="0">
                <a:solidFill>
                  <a:srgbClr val="8B949E"/>
                </a:solidFill>
                <a:latin typeface="Inter" pitchFamily="34" charset="0"/>
                <a:ea typeface="Inter" pitchFamily="34" charset="-122"/>
                <a:cs typeface="Inter" pitchFamily="34" charset="-120"/>
              </a:rPr>
              <a:t>.</a:t>
            </a:r>
            <a:endParaRPr lang="en-US" sz="1265" dirty="0"/>
          </a:p>
        </p:txBody>
      </p:sp>
      <p:sp>
        <p:nvSpPr>
          <p:cNvPr id="11" name="Shape 8"/>
          <p:cNvSpPr/>
          <p:nvPr/>
        </p:nvSpPr>
        <p:spPr>
          <a:xfrm>
            <a:off x="6286500" y="1047751"/>
            <a:ext cx="5524500" cy="4752975"/>
          </a:xfrm>
          <a:prstGeom prst="rect">
            <a:avLst/>
          </a:prstGeom>
          <a:solidFill>
            <a:srgbClr val="161B22"/>
          </a:solidFill>
          <a:ln w="9144">
            <a:solidFill>
              <a:srgbClr val="161B22"/>
            </a:solidFill>
            <a:prstDash val="solid"/>
          </a:ln>
        </p:spPr>
      </p:sp>
      <p:sp>
        <p:nvSpPr>
          <p:cNvPr id="12" name="Text 9"/>
          <p:cNvSpPr/>
          <p:nvPr/>
        </p:nvSpPr>
        <p:spPr>
          <a:xfrm>
            <a:off x="8279607" y="2027635"/>
            <a:ext cx="1306830" cy="266700"/>
          </a:xfrm>
          <a:prstGeom prst="rect">
            <a:avLst/>
          </a:prstGeom>
          <a:noFill/>
        </p:spPr>
        <p:txBody>
          <a:bodyPr wrap="none" lIns="0" tIns="0" rIns="0" bIns="113453"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INTERCEPTED MESSAGE</a:t>
            </a:r>
            <a:endParaRPr lang="en-US" sz="1000" dirty="0"/>
          </a:p>
        </p:txBody>
      </p:sp>
      <p:sp>
        <p:nvSpPr>
          <p:cNvPr id="13" name="Shape 10"/>
          <p:cNvSpPr/>
          <p:nvPr/>
        </p:nvSpPr>
        <p:spPr>
          <a:xfrm>
            <a:off x="6467475" y="2394347"/>
            <a:ext cx="5162551" cy="702469"/>
          </a:xfrm>
          <a:prstGeom prst="rect">
            <a:avLst/>
          </a:prstGeom>
          <a:solidFill>
            <a:srgbClr val="0D1117"/>
          </a:solidFill>
          <a:ln w="9144">
            <a:solidFill>
              <a:srgbClr val="58A6FF"/>
            </a:solidFill>
            <a:prstDash val="solid"/>
          </a:ln>
        </p:spPr>
      </p:sp>
      <p:sp>
        <p:nvSpPr>
          <p:cNvPr id="14" name="Text 11"/>
          <p:cNvSpPr/>
          <p:nvPr/>
        </p:nvSpPr>
        <p:spPr>
          <a:xfrm>
            <a:off x="6467475" y="2394347"/>
            <a:ext cx="5162551" cy="709295"/>
          </a:xfrm>
          <a:prstGeom prst="rect">
            <a:avLst/>
          </a:prstGeom>
          <a:noFill/>
        </p:spPr>
        <p:txBody>
          <a:bodyPr wrap="square" lIns="226737" tIns="226737" rIns="226737" bIns="226737" rtlCol="0" anchor="t">
            <a:spAutoFit/>
          </a:bodyPr>
          <a:lstStyle/>
          <a:p>
            <a:pPr marL="0" indent="0" algn="ctr">
              <a:buNone/>
            </a:pPr>
            <a:r>
              <a:rPr lang="en-US" sz="1665" dirty="0">
                <a:solidFill>
                  <a:srgbClr val="FF6B6B"/>
                </a:solidFill>
                <a:latin typeface="JetBrains Mono Bold" pitchFamily="34" charset="0"/>
                <a:ea typeface="JetBrains Mono Bold" pitchFamily="34" charset="-122"/>
                <a:cs typeface="JetBrains Mono Bold" pitchFamily="34" charset="-120"/>
              </a:rPr>
              <a:t>DWWDFN DW GDZQ</a:t>
            </a:r>
            <a:endParaRPr lang="en-US" sz="1665" dirty="0"/>
          </a:p>
        </p:txBody>
      </p:sp>
      <p:pic>
        <p:nvPicPr>
          <p:cNvPr id="15" name="Image 1" descr="preencoded.png"/>
          <p:cNvPicPr>
            <a:picLocks noChangeAspect="1"/>
          </p:cNvPicPr>
          <p:nvPr/>
        </p:nvPicPr>
        <p:blipFill>
          <a:blip r:embed="rId2"/>
          <a:stretch>
            <a:fillRect/>
          </a:stretch>
        </p:blipFill>
        <p:spPr>
          <a:xfrm>
            <a:off x="8934451" y="3306365"/>
            <a:ext cx="228600" cy="304800"/>
          </a:xfrm>
          <a:prstGeom prst="rect">
            <a:avLst/>
          </a:prstGeom>
        </p:spPr>
      </p:pic>
      <p:sp>
        <p:nvSpPr>
          <p:cNvPr id="16" name="Text 12"/>
          <p:cNvSpPr/>
          <p:nvPr/>
        </p:nvSpPr>
        <p:spPr>
          <a:xfrm>
            <a:off x="8036719" y="3646884"/>
            <a:ext cx="2024063" cy="266700"/>
          </a:xfrm>
          <a:prstGeom prst="rect">
            <a:avLst/>
          </a:prstGeom>
          <a:noFill/>
        </p:spPr>
        <p:txBody>
          <a:bodyPr wrap="square" lIns="0" tIns="113453" rIns="0" bIns="0" rtlCol="0" anchor="t">
            <a:spAutoFit/>
          </a:bodyPr>
          <a:lstStyle/>
          <a:p>
            <a:pPr marL="0" indent="0" algn="l">
              <a:buNone/>
            </a:pPr>
            <a:r>
              <a:rPr lang="en-US" sz="1000" dirty="0">
                <a:solidFill>
                  <a:srgbClr val="00FF9C"/>
                </a:solidFill>
                <a:latin typeface="JetBrains Mono Bold" pitchFamily="34" charset="0"/>
                <a:ea typeface="JetBrains Mono Bold" pitchFamily="34" charset="-122"/>
                <a:cs typeface="JetBrains Mono Bold" pitchFamily="34" charset="-120"/>
              </a:rPr>
              <a:t>DECODED MESSAGE (SHIFT 3)</a:t>
            </a:r>
            <a:endParaRPr lang="en-US" sz="1000" dirty="0"/>
          </a:p>
        </p:txBody>
      </p:sp>
      <p:sp>
        <p:nvSpPr>
          <p:cNvPr id="17" name="Shape 13"/>
          <p:cNvSpPr/>
          <p:nvPr/>
        </p:nvSpPr>
        <p:spPr>
          <a:xfrm>
            <a:off x="6467475" y="4013597"/>
            <a:ext cx="5162551" cy="702469"/>
          </a:xfrm>
          <a:prstGeom prst="rect">
            <a:avLst/>
          </a:prstGeom>
          <a:solidFill>
            <a:srgbClr val="0D1117"/>
          </a:solidFill>
          <a:ln w="9144">
            <a:solidFill>
              <a:srgbClr val="58A6FF"/>
            </a:solidFill>
            <a:prstDash val="solid"/>
          </a:ln>
        </p:spPr>
      </p:sp>
      <p:sp>
        <p:nvSpPr>
          <p:cNvPr id="18" name="Text 14"/>
          <p:cNvSpPr/>
          <p:nvPr/>
        </p:nvSpPr>
        <p:spPr>
          <a:xfrm>
            <a:off x="6467475" y="4013597"/>
            <a:ext cx="5162551" cy="709295"/>
          </a:xfrm>
          <a:prstGeom prst="rect">
            <a:avLst/>
          </a:prstGeom>
          <a:noFill/>
        </p:spPr>
        <p:txBody>
          <a:bodyPr wrap="square" lIns="226737" tIns="226737" rIns="226737" bIns="226737" rtlCol="0" anchor="t">
            <a:spAutoFit/>
          </a:bodyPr>
          <a:lstStyle/>
          <a:p>
            <a:pPr marL="0" indent="0" algn="ctr">
              <a:buNone/>
            </a:pPr>
            <a:r>
              <a:rPr lang="en-US" sz="1665" dirty="0">
                <a:solidFill>
                  <a:srgbClr val="00FF9C"/>
                </a:solidFill>
                <a:latin typeface="JetBrains Mono Bold" pitchFamily="34" charset="0"/>
                <a:ea typeface="JetBrains Mono Bold" pitchFamily="34" charset="-122"/>
                <a:cs typeface="JetBrains Mono Bold" pitchFamily="34" charset="-120"/>
              </a:rPr>
              <a:t>ATTACK AT DAWN</a:t>
            </a:r>
            <a:endParaRPr lang="en-US" sz="1665" dirty="0"/>
          </a:p>
        </p:txBody>
      </p:sp>
      <p:sp>
        <p:nvSpPr>
          <p:cNvPr id="19" name="Shape 15"/>
          <p:cNvSpPr/>
          <p:nvPr/>
        </p:nvSpPr>
        <p:spPr>
          <a:xfrm>
            <a:off x="381000" y="5800725"/>
            <a:ext cx="11430000" cy="676275"/>
          </a:xfrm>
          <a:prstGeom prst="rect">
            <a:avLst/>
          </a:prstGeom>
          <a:solidFill>
            <a:srgbClr val="00FF9C">
              <a:alpha val="10000"/>
            </a:srgbClr>
          </a:solidFill>
          <a:ln w="9144">
            <a:solidFill>
              <a:srgbClr val="00FF9C"/>
            </a:solidFill>
            <a:prstDash val="solid"/>
          </a:ln>
        </p:spPr>
      </p:sp>
      <p:pic>
        <p:nvPicPr>
          <p:cNvPr id="20" name="Image 2" descr="preencoded.png"/>
          <p:cNvPicPr>
            <a:picLocks noChangeAspect="1"/>
          </p:cNvPicPr>
          <p:nvPr/>
        </p:nvPicPr>
        <p:blipFill>
          <a:blip r:embed="rId3"/>
          <a:stretch>
            <a:fillRect/>
          </a:stretch>
        </p:blipFill>
        <p:spPr>
          <a:xfrm>
            <a:off x="571500" y="6031707"/>
            <a:ext cx="228600" cy="228600"/>
          </a:xfrm>
          <a:prstGeom prst="rect">
            <a:avLst/>
          </a:prstGeom>
        </p:spPr>
      </p:pic>
      <p:sp>
        <p:nvSpPr>
          <p:cNvPr id="21" name="Text 16"/>
          <p:cNvSpPr/>
          <p:nvPr/>
        </p:nvSpPr>
        <p:spPr>
          <a:xfrm>
            <a:off x="990600" y="6048375"/>
            <a:ext cx="4252912" cy="163830"/>
          </a:xfrm>
          <a:prstGeom prst="rect">
            <a:avLst/>
          </a:prstGeom>
          <a:noFill/>
        </p:spPr>
        <p:txBody>
          <a:bodyPr wrap="square" lIns="0" tIns="0" rIns="0" bIns="0" rtlCol="0" anchor="t">
            <a:spAutoFit/>
          </a:bodyPr>
          <a:lstStyle/>
          <a:p>
            <a:pPr marL="0" indent="0" algn="l">
              <a:buNone/>
            </a:pPr>
            <a:r>
              <a:rPr lang="en-US" sz="1065" b="1" dirty="0">
                <a:solidFill>
                  <a:srgbClr val="E6EDF3"/>
                </a:solidFill>
                <a:latin typeface="JetBrains Mono Bold" pitchFamily="34" charset="0"/>
                <a:ea typeface="JetBrains Mono Bold" pitchFamily="34" charset="-122"/>
                <a:cs typeface="JetBrains Mono Bold" pitchFamily="34" charset="-120"/>
              </a:rPr>
              <a:t>"Cryptography is as old as secrets themselves."</a:t>
            </a:r>
            <a:endParaRPr lang="en-US" sz="1065" dirty="0"/>
          </a:p>
        </p:txBody>
      </p:sp>
      <p:grpSp>
        <p:nvGrpSpPr>
          <p:cNvPr id="22" name="Group 2"/>
          <p:cNvGrpSpPr/>
          <p:nvPr/>
        </p:nvGrpSpPr>
        <p:grpSpPr>
          <a:xfrm rot="0">
            <a:off x="294640" y="194310"/>
            <a:ext cx="789305" cy="299720"/>
            <a:chOff x="0" y="0"/>
            <a:chExt cx="341337" cy="102463"/>
          </a:xfrm>
        </p:grpSpPr>
        <p:sp>
          <p:nvSpPr>
            <p:cNvPr id="23"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24"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25" name="Group 5"/>
          <p:cNvGrpSpPr/>
          <p:nvPr/>
        </p:nvGrpSpPr>
        <p:grpSpPr>
          <a:xfrm rot="0">
            <a:off x="822325" y="209550"/>
            <a:ext cx="220980" cy="246380"/>
            <a:chOff x="0" y="0"/>
            <a:chExt cx="812800" cy="812800"/>
          </a:xfrm>
        </p:grpSpPr>
        <p:sp>
          <p:nvSpPr>
            <p:cNvPr id="2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7"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28"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29"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30" name="TextBox 21"/>
          <p:cNvSpPr txBox="1"/>
          <p:nvPr/>
        </p:nvSpPr>
        <p:spPr>
          <a:xfrm>
            <a:off x="476694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476251"/>
          </a:xfrm>
          <a:prstGeom prst="rect">
            <a:avLst/>
          </a:prstGeom>
          <a:solidFill>
            <a:srgbClr val="000000">
              <a:alpha val="0"/>
            </a:srgbClr>
          </a:solidFill>
        </p:spPr>
      </p:sp>
      <p:sp>
        <p:nvSpPr>
          <p:cNvPr id="4" name="Shape 1"/>
          <p:cNvSpPr/>
          <p:nvPr/>
        </p:nvSpPr>
        <p:spPr>
          <a:xfrm>
            <a:off x="0" y="466725"/>
            <a:ext cx="12192000" cy="9525"/>
          </a:xfrm>
          <a:prstGeom prst="rect">
            <a:avLst/>
          </a:prstGeom>
          <a:solidFill>
            <a:srgbClr val="161B22"/>
          </a:solidFill>
        </p:spPr>
      </p:sp>
      <p:sp>
        <p:nvSpPr>
          <p:cNvPr id="6" name="Text 3"/>
          <p:cNvSpPr/>
          <p:nvPr/>
        </p:nvSpPr>
        <p:spPr>
          <a:xfrm>
            <a:off x="10353675" y="150019"/>
            <a:ext cx="113792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SLIDE 03 // EWUCSC</a:t>
            </a:r>
            <a:endParaRPr lang="en-US" sz="1000" dirty="0"/>
          </a:p>
        </p:txBody>
      </p:sp>
      <p:sp>
        <p:nvSpPr>
          <p:cNvPr id="7" name="Text 4"/>
          <p:cNvSpPr/>
          <p:nvPr/>
        </p:nvSpPr>
        <p:spPr>
          <a:xfrm>
            <a:off x="381000" y="857251"/>
            <a:ext cx="11430000" cy="328930"/>
          </a:xfrm>
          <a:prstGeom prst="rect">
            <a:avLst/>
          </a:prstGeom>
          <a:noFill/>
        </p:spPr>
        <p:txBody>
          <a:bodyPr wrap="square" lIns="0" tIns="0" rIns="0" bIns="0" rtlCol="0" anchor="t">
            <a:spAutoFit/>
          </a:bodyPr>
          <a:lstStyle/>
          <a:p>
            <a:pPr marL="0" indent="0" algn="l">
              <a:buNone/>
            </a:pPr>
            <a:r>
              <a:rPr lang="en-US" sz="2135" b="1" dirty="0">
                <a:solidFill>
                  <a:srgbClr val="E6EDF3"/>
                </a:solidFill>
                <a:latin typeface="JetBrains Mono Bold" pitchFamily="34" charset="0"/>
                <a:ea typeface="JetBrains Mono Bold" pitchFamily="34" charset="-122"/>
                <a:cs typeface="JetBrains Mono Bold" pitchFamily="34" charset="-120"/>
              </a:rPr>
              <a:t>SAME IDEA. TRILLION DOLLAR STAKES.</a:t>
            </a:r>
            <a:endParaRPr lang="en-US" sz="2135" dirty="0"/>
          </a:p>
        </p:txBody>
      </p:sp>
      <p:sp>
        <p:nvSpPr>
          <p:cNvPr id="8" name="Shape 5"/>
          <p:cNvSpPr/>
          <p:nvPr/>
        </p:nvSpPr>
        <p:spPr>
          <a:xfrm>
            <a:off x="381000" y="1640681"/>
            <a:ext cx="5572125" cy="1462088"/>
          </a:xfrm>
          <a:prstGeom prst="rect">
            <a:avLst/>
          </a:prstGeom>
          <a:solidFill>
            <a:srgbClr val="161B22"/>
          </a:solidFill>
          <a:ln w="9144">
            <a:solidFill>
              <a:srgbClr val="161B22"/>
            </a:solidFill>
            <a:prstDash val="solid"/>
          </a:ln>
        </p:spPr>
      </p:sp>
      <p:pic>
        <p:nvPicPr>
          <p:cNvPr id="9" name="Image 1" descr="preencoded.png"/>
          <p:cNvPicPr>
            <a:picLocks noChangeAspect="1"/>
          </p:cNvPicPr>
          <p:nvPr/>
        </p:nvPicPr>
        <p:blipFill>
          <a:blip r:embed="rId2"/>
          <a:stretch>
            <a:fillRect/>
          </a:stretch>
        </p:blipFill>
        <p:spPr>
          <a:xfrm>
            <a:off x="666751" y="1955007"/>
            <a:ext cx="266700" cy="304800"/>
          </a:xfrm>
          <a:prstGeom prst="rect">
            <a:avLst/>
          </a:prstGeom>
        </p:spPr>
      </p:pic>
      <p:sp>
        <p:nvSpPr>
          <p:cNvPr id="10" name="Text 6"/>
          <p:cNvSpPr/>
          <p:nvPr/>
        </p:nvSpPr>
        <p:spPr>
          <a:xfrm>
            <a:off x="1123951" y="1926431"/>
            <a:ext cx="3209925" cy="184150"/>
          </a:xfrm>
          <a:prstGeom prst="rect">
            <a:avLst/>
          </a:prstGeom>
          <a:noFill/>
        </p:spPr>
        <p:txBody>
          <a:bodyPr wrap="square" lIns="0" tIns="0" rIns="0" bIns="0" rtlCol="0" anchor="t">
            <a:spAutoFit/>
          </a:bodyPr>
          <a:lstStyle/>
          <a:p>
            <a:pPr marL="0" indent="0" algn="l">
              <a:buNone/>
            </a:pPr>
            <a:r>
              <a:rPr lang="en-US" sz="1200" b="1" dirty="0">
                <a:solidFill>
                  <a:srgbClr val="E6EDF3"/>
                </a:solidFill>
                <a:latin typeface="JetBrains Mono Bold" pitchFamily="34" charset="0"/>
                <a:ea typeface="JetBrains Mono Bold" pitchFamily="34" charset="-122"/>
                <a:cs typeface="JetBrains Mono Bold" pitchFamily="34" charset="-120"/>
              </a:rPr>
              <a:t>WhatsApp Messages</a:t>
            </a:r>
            <a:endParaRPr lang="en-US" sz="1200" dirty="0"/>
          </a:p>
        </p:txBody>
      </p:sp>
      <p:sp>
        <p:nvSpPr>
          <p:cNvPr id="11" name="Text 7"/>
          <p:cNvSpPr/>
          <p:nvPr/>
        </p:nvSpPr>
        <p:spPr>
          <a:xfrm>
            <a:off x="1123951" y="2152651"/>
            <a:ext cx="3209925" cy="266700"/>
          </a:xfrm>
          <a:prstGeom prst="rect">
            <a:avLst/>
          </a:prstGeom>
          <a:noFill/>
        </p:spPr>
        <p:txBody>
          <a:bodyPr wrap="square" lIns="0" tIns="113453"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Your private chats are scrambled from end-to-end.</a:t>
            </a:r>
            <a:endParaRPr lang="en-US" sz="1000" dirty="0"/>
          </a:p>
        </p:txBody>
      </p:sp>
      <p:sp>
        <p:nvSpPr>
          <p:cNvPr id="12" name="Shape 8"/>
          <p:cNvSpPr/>
          <p:nvPr/>
        </p:nvSpPr>
        <p:spPr>
          <a:xfrm>
            <a:off x="1123951" y="2552700"/>
            <a:ext cx="1697831" cy="245269"/>
          </a:xfrm>
          <a:prstGeom prst="roundRect">
            <a:avLst/>
          </a:prstGeom>
          <a:solidFill>
            <a:srgbClr val="E3B341">
              <a:alpha val="10000"/>
            </a:srgbClr>
          </a:solidFill>
          <a:ln w="9144">
            <a:solidFill>
              <a:srgbClr val="E3B341"/>
            </a:solidFill>
            <a:prstDash val="solid"/>
          </a:ln>
        </p:spPr>
      </p:sp>
      <p:sp>
        <p:nvSpPr>
          <p:cNvPr id="13" name="Text 9"/>
          <p:cNvSpPr/>
          <p:nvPr/>
        </p:nvSpPr>
        <p:spPr>
          <a:xfrm>
            <a:off x="1123951" y="2552700"/>
            <a:ext cx="1278255" cy="212725"/>
          </a:xfrm>
          <a:prstGeom prst="rect">
            <a:avLst/>
          </a:prstGeom>
          <a:noFill/>
        </p:spPr>
        <p:txBody>
          <a:bodyPr wrap="none" lIns="136144" tIns="45381" rIns="136144" bIns="45381" rtlCol="0" anchor="t">
            <a:spAutoFit/>
          </a:bodyPr>
          <a:lstStyle/>
          <a:p>
            <a:pPr marL="0" indent="0" algn="l">
              <a:buNone/>
            </a:pPr>
            <a:r>
              <a:rPr lang="en-US" sz="800" dirty="0">
                <a:solidFill>
                  <a:srgbClr val="E3B341"/>
                </a:solidFill>
                <a:latin typeface="JetBrains Mono Bold" pitchFamily="34" charset="0"/>
                <a:ea typeface="JetBrains Mono Bold" pitchFamily="34" charset="-122"/>
                <a:cs typeface="JetBrains Mono Bold" pitchFamily="34" charset="-120"/>
              </a:rPr>
              <a:t>End-to-end Encryption</a:t>
            </a:r>
            <a:endParaRPr lang="en-US" sz="800" dirty="0"/>
          </a:p>
        </p:txBody>
      </p:sp>
      <p:sp>
        <p:nvSpPr>
          <p:cNvPr id="14" name="Shape 10"/>
          <p:cNvSpPr/>
          <p:nvPr/>
        </p:nvSpPr>
        <p:spPr>
          <a:xfrm>
            <a:off x="6238875" y="1640681"/>
            <a:ext cx="5572125" cy="1462088"/>
          </a:xfrm>
          <a:prstGeom prst="rect">
            <a:avLst/>
          </a:prstGeom>
          <a:solidFill>
            <a:srgbClr val="161B22"/>
          </a:solidFill>
          <a:ln w="9144">
            <a:solidFill>
              <a:srgbClr val="161B22"/>
            </a:solidFill>
            <a:prstDash val="solid"/>
          </a:ln>
        </p:spPr>
      </p:sp>
      <p:pic>
        <p:nvPicPr>
          <p:cNvPr id="15" name="Image 2" descr="preencoded.png"/>
          <p:cNvPicPr>
            <a:picLocks noChangeAspect="1"/>
          </p:cNvPicPr>
          <p:nvPr/>
        </p:nvPicPr>
        <p:blipFill>
          <a:blip r:embed="rId3"/>
          <a:stretch>
            <a:fillRect/>
          </a:stretch>
        </p:blipFill>
        <p:spPr>
          <a:xfrm>
            <a:off x="6524625" y="1955007"/>
            <a:ext cx="304800" cy="304800"/>
          </a:xfrm>
          <a:prstGeom prst="rect">
            <a:avLst/>
          </a:prstGeom>
        </p:spPr>
      </p:pic>
      <p:sp>
        <p:nvSpPr>
          <p:cNvPr id="16" name="Text 11"/>
          <p:cNvSpPr/>
          <p:nvPr/>
        </p:nvSpPr>
        <p:spPr>
          <a:xfrm>
            <a:off x="7019925" y="1926431"/>
            <a:ext cx="2886075" cy="184150"/>
          </a:xfrm>
          <a:prstGeom prst="rect">
            <a:avLst/>
          </a:prstGeom>
          <a:noFill/>
        </p:spPr>
        <p:txBody>
          <a:bodyPr wrap="square" lIns="0" tIns="0" rIns="0" bIns="0" rtlCol="0" anchor="t">
            <a:spAutoFit/>
          </a:bodyPr>
          <a:lstStyle/>
          <a:p>
            <a:pPr marL="0" indent="0" algn="l">
              <a:buNone/>
            </a:pPr>
            <a:r>
              <a:rPr lang="en-US" sz="1200" b="1" dirty="0">
                <a:solidFill>
                  <a:srgbClr val="E6EDF3"/>
                </a:solidFill>
                <a:latin typeface="JetBrains Mono Bold" pitchFamily="34" charset="0"/>
                <a:ea typeface="JetBrains Mono Bold" pitchFamily="34" charset="-122"/>
                <a:cs typeface="JetBrains Mono Bold" pitchFamily="34" charset="-120"/>
              </a:rPr>
              <a:t>Bank Passwords</a:t>
            </a:r>
            <a:endParaRPr lang="en-US" sz="1200" dirty="0"/>
          </a:p>
        </p:txBody>
      </p:sp>
      <p:sp>
        <p:nvSpPr>
          <p:cNvPr id="17" name="Text 12"/>
          <p:cNvSpPr/>
          <p:nvPr/>
        </p:nvSpPr>
        <p:spPr>
          <a:xfrm>
            <a:off x="7019925" y="2152651"/>
            <a:ext cx="2886075" cy="266700"/>
          </a:xfrm>
          <a:prstGeom prst="rect">
            <a:avLst/>
          </a:prstGeom>
          <a:noFill/>
        </p:spPr>
        <p:txBody>
          <a:bodyPr wrap="square" lIns="0" tIns="113453"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Your passwords are never stored in plain text.</a:t>
            </a:r>
            <a:endParaRPr lang="en-US" sz="1000" dirty="0"/>
          </a:p>
        </p:txBody>
      </p:sp>
      <p:sp>
        <p:nvSpPr>
          <p:cNvPr id="18" name="Shape 13"/>
          <p:cNvSpPr/>
          <p:nvPr/>
        </p:nvSpPr>
        <p:spPr>
          <a:xfrm>
            <a:off x="7019925" y="2552700"/>
            <a:ext cx="731044" cy="245269"/>
          </a:xfrm>
          <a:prstGeom prst="roundRect">
            <a:avLst/>
          </a:prstGeom>
          <a:solidFill>
            <a:srgbClr val="E3B341">
              <a:alpha val="10000"/>
            </a:srgbClr>
          </a:solidFill>
          <a:ln w="9144">
            <a:solidFill>
              <a:srgbClr val="E3B341"/>
            </a:solidFill>
            <a:prstDash val="solid"/>
          </a:ln>
        </p:spPr>
      </p:sp>
      <p:sp>
        <p:nvSpPr>
          <p:cNvPr id="19" name="Text 14"/>
          <p:cNvSpPr/>
          <p:nvPr/>
        </p:nvSpPr>
        <p:spPr>
          <a:xfrm>
            <a:off x="7019925" y="2552700"/>
            <a:ext cx="631190" cy="212725"/>
          </a:xfrm>
          <a:prstGeom prst="rect">
            <a:avLst/>
          </a:prstGeom>
          <a:noFill/>
        </p:spPr>
        <p:txBody>
          <a:bodyPr wrap="none" lIns="136144" tIns="45381" rIns="136144" bIns="45381" rtlCol="0" anchor="t">
            <a:spAutoFit/>
          </a:bodyPr>
          <a:lstStyle/>
          <a:p>
            <a:pPr marL="0" indent="0" algn="l">
              <a:buNone/>
            </a:pPr>
            <a:r>
              <a:rPr lang="en-US" sz="800" dirty="0">
                <a:solidFill>
                  <a:srgbClr val="E3B341"/>
                </a:solidFill>
                <a:latin typeface="JetBrains Mono Bold" pitchFamily="34" charset="0"/>
                <a:ea typeface="JetBrains Mono Bold" pitchFamily="34" charset="-122"/>
                <a:cs typeface="JetBrains Mono Bold" pitchFamily="34" charset="-120"/>
              </a:rPr>
              <a:t>Hashing</a:t>
            </a:r>
            <a:endParaRPr lang="en-US" sz="800" dirty="0"/>
          </a:p>
        </p:txBody>
      </p:sp>
      <p:sp>
        <p:nvSpPr>
          <p:cNvPr id="20" name="Shape 15"/>
          <p:cNvSpPr/>
          <p:nvPr/>
        </p:nvSpPr>
        <p:spPr>
          <a:xfrm>
            <a:off x="381000" y="3350419"/>
            <a:ext cx="5572125" cy="1462088"/>
          </a:xfrm>
          <a:prstGeom prst="rect">
            <a:avLst/>
          </a:prstGeom>
          <a:solidFill>
            <a:srgbClr val="161B22"/>
          </a:solidFill>
          <a:ln w="9144">
            <a:solidFill>
              <a:srgbClr val="161B22"/>
            </a:solidFill>
            <a:prstDash val="solid"/>
          </a:ln>
        </p:spPr>
      </p:sp>
      <p:pic>
        <p:nvPicPr>
          <p:cNvPr id="21" name="Image 3" descr="preencoded.png"/>
          <p:cNvPicPr>
            <a:picLocks noChangeAspect="1"/>
          </p:cNvPicPr>
          <p:nvPr/>
        </p:nvPicPr>
        <p:blipFill>
          <a:blip r:embed="rId4"/>
          <a:stretch>
            <a:fillRect/>
          </a:stretch>
        </p:blipFill>
        <p:spPr>
          <a:xfrm>
            <a:off x="666751" y="3664744"/>
            <a:ext cx="304800" cy="304800"/>
          </a:xfrm>
          <a:prstGeom prst="rect">
            <a:avLst/>
          </a:prstGeom>
        </p:spPr>
      </p:pic>
      <p:sp>
        <p:nvSpPr>
          <p:cNvPr id="22" name="Text 16"/>
          <p:cNvSpPr/>
          <p:nvPr/>
        </p:nvSpPr>
        <p:spPr>
          <a:xfrm>
            <a:off x="1162051" y="3636169"/>
            <a:ext cx="2655093" cy="184150"/>
          </a:xfrm>
          <a:prstGeom prst="rect">
            <a:avLst/>
          </a:prstGeom>
          <a:noFill/>
        </p:spPr>
        <p:txBody>
          <a:bodyPr wrap="square" lIns="0" tIns="0" rIns="0" bIns="0" rtlCol="0" anchor="t">
            <a:spAutoFit/>
          </a:bodyPr>
          <a:lstStyle/>
          <a:p>
            <a:pPr marL="0" indent="0" algn="l">
              <a:buNone/>
            </a:pPr>
            <a:r>
              <a:rPr lang="en-US" sz="1200" b="1" dirty="0">
                <a:solidFill>
                  <a:srgbClr val="E6EDF3"/>
                </a:solidFill>
                <a:latin typeface="JetBrains Mono Bold" pitchFamily="34" charset="0"/>
                <a:ea typeface="JetBrains Mono Bold" pitchFamily="34" charset="-122"/>
                <a:cs typeface="JetBrains Mono Bold" pitchFamily="34" charset="-120"/>
              </a:rPr>
              <a:t>HTTPS Everywhere</a:t>
            </a:r>
            <a:endParaRPr lang="en-US" sz="1200" dirty="0"/>
          </a:p>
        </p:txBody>
      </p:sp>
      <p:sp>
        <p:nvSpPr>
          <p:cNvPr id="23" name="Text 17"/>
          <p:cNvSpPr/>
          <p:nvPr/>
        </p:nvSpPr>
        <p:spPr>
          <a:xfrm>
            <a:off x="1162051" y="3862388"/>
            <a:ext cx="2655093" cy="266700"/>
          </a:xfrm>
          <a:prstGeom prst="rect">
            <a:avLst/>
          </a:prstGeom>
          <a:noFill/>
        </p:spPr>
        <p:txBody>
          <a:bodyPr wrap="square" lIns="0" tIns="113453"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Every website you visit is secured by TLS.</a:t>
            </a:r>
            <a:endParaRPr lang="en-US" sz="1000" dirty="0"/>
          </a:p>
        </p:txBody>
      </p:sp>
      <p:sp>
        <p:nvSpPr>
          <p:cNvPr id="24" name="Shape 18"/>
          <p:cNvSpPr/>
          <p:nvPr/>
        </p:nvSpPr>
        <p:spPr>
          <a:xfrm>
            <a:off x="1162051" y="4262437"/>
            <a:ext cx="731044" cy="245269"/>
          </a:xfrm>
          <a:prstGeom prst="roundRect">
            <a:avLst/>
          </a:prstGeom>
          <a:solidFill>
            <a:srgbClr val="E3B341">
              <a:alpha val="10000"/>
            </a:srgbClr>
          </a:solidFill>
          <a:ln w="9144">
            <a:solidFill>
              <a:srgbClr val="E3B341"/>
            </a:solidFill>
            <a:prstDash val="solid"/>
          </a:ln>
        </p:spPr>
      </p:sp>
      <p:sp>
        <p:nvSpPr>
          <p:cNvPr id="25" name="Text 19"/>
          <p:cNvSpPr/>
          <p:nvPr/>
        </p:nvSpPr>
        <p:spPr>
          <a:xfrm>
            <a:off x="1162051" y="4262437"/>
            <a:ext cx="623570" cy="212725"/>
          </a:xfrm>
          <a:prstGeom prst="rect">
            <a:avLst/>
          </a:prstGeom>
          <a:noFill/>
        </p:spPr>
        <p:txBody>
          <a:bodyPr wrap="none" lIns="136144" tIns="45381" rIns="136144" bIns="45381" rtlCol="0" anchor="t">
            <a:spAutoFit/>
          </a:bodyPr>
          <a:lstStyle/>
          <a:p>
            <a:pPr marL="0" indent="0" algn="l">
              <a:buNone/>
            </a:pPr>
            <a:r>
              <a:rPr lang="en-US" sz="800" dirty="0">
                <a:solidFill>
                  <a:srgbClr val="E3B341"/>
                </a:solidFill>
                <a:latin typeface="JetBrains Mono Bold" pitchFamily="34" charset="0"/>
                <a:ea typeface="JetBrains Mono Bold" pitchFamily="34" charset="-122"/>
                <a:cs typeface="JetBrains Mono Bold" pitchFamily="34" charset="-120"/>
              </a:rPr>
              <a:t>TLS/SSL</a:t>
            </a:r>
            <a:endParaRPr lang="en-US" sz="800" dirty="0"/>
          </a:p>
        </p:txBody>
      </p:sp>
      <p:sp>
        <p:nvSpPr>
          <p:cNvPr id="26" name="Shape 20"/>
          <p:cNvSpPr/>
          <p:nvPr/>
        </p:nvSpPr>
        <p:spPr>
          <a:xfrm>
            <a:off x="6238875" y="3350419"/>
            <a:ext cx="5572125" cy="1462088"/>
          </a:xfrm>
          <a:prstGeom prst="rect">
            <a:avLst/>
          </a:prstGeom>
          <a:solidFill>
            <a:srgbClr val="161B22"/>
          </a:solidFill>
          <a:ln w="9144">
            <a:solidFill>
              <a:srgbClr val="161B22"/>
            </a:solidFill>
            <a:prstDash val="solid"/>
          </a:ln>
        </p:spPr>
      </p:sp>
      <p:pic>
        <p:nvPicPr>
          <p:cNvPr id="27" name="Image 4" descr="preencoded.png"/>
          <p:cNvPicPr>
            <a:picLocks noChangeAspect="1"/>
          </p:cNvPicPr>
          <p:nvPr/>
        </p:nvPicPr>
        <p:blipFill>
          <a:blip r:embed="rId5"/>
          <a:stretch>
            <a:fillRect/>
          </a:stretch>
        </p:blipFill>
        <p:spPr>
          <a:xfrm>
            <a:off x="6524625" y="3664744"/>
            <a:ext cx="304800" cy="304800"/>
          </a:xfrm>
          <a:prstGeom prst="rect">
            <a:avLst/>
          </a:prstGeom>
        </p:spPr>
      </p:pic>
      <p:sp>
        <p:nvSpPr>
          <p:cNvPr id="28" name="Text 21"/>
          <p:cNvSpPr/>
          <p:nvPr/>
        </p:nvSpPr>
        <p:spPr>
          <a:xfrm>
            <a:off x="7019925" y="3636169"/>
            <a:ext cx="2921793" cy="184150"/>
          </a:xfrm>
          <a:prstGeom prst="rect">
            <a:avLst/>
          </a:prstGeom>
          <a:noFill/>
        </p:spPr>
        <p:txBody>
          <a:bodyPr wrap="square" lIns="0" tIns="0" rIns="0" bIns="0" rtlCol="0" anchor="t">
            <a:spAutoFit/>
          </a:bodyPr>
          <a:lstStyle/>
          <a:p>
            <a:pPr marL="0" indent="0" algn="l">
              <a:buNone/>
            </a:pPr>
            <a:r>
              <a:rPr lang="en-US" sz="1200" b="1" dirty="0">
                <a:solidFill>
                  <a:srgbClr val="E6EDF3"/>
                </a:solidFill>
                <a:latin typeface="JetBrains Mono Bold" pitchFamily="34" charset="0"/>
                <a:ea typeface="JetBrains Mono Bold" pitchFamily="34" charset="-122"/>
                <a:cs typeface="JetBrains Mono Bold" pitchFamily="34" charset="-120"/>
              </a:rPr>
              <a:t>Bitcoin Transactions</a:t>
            </a:r>
            <a:endParaRPr lang="en-US" sz="1200" dirty="0"/>
          </a:p>
        </p:txBody>
      </p:sp>
      <p:sp>
        <p:nvSpPr>
          <p:cNvPr id="29" name="Text 22"/>
          <p:cNvSpPr/>
          <p:nvPr/>
        </p:nvSpPr>
        <p:spPr>
          <a:xfrm>
            <a:off x="7019925" y="3862388"/>
            <a:ext cx="2921793" cy="266700"/>
          </a:xfrm>
          <a:prstGeom prst="rect">
            <a:avLst/>
          </a:prstGeom>
          <a:noFill/>
        </p:spPr>
        <p:txBody>
          <a:bodyPr wrap="square" lIns="0" tIns="113453"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Decentralized finance relies on complex math.</a:t>
            </a:r>
            <a:endParaRPr lang="en-US" sz="1000" dirty="0"/>
          </a:p>
        </p:txBody>
      </p:sp>
      <p:sp>
        <p:nvSpPr>
          <p:cNvPr id="30" name="Shape 23"/>
          <p:cNvSpPr/>
          <p:nvPr/>
        </p:nvSpPr>
        <p:spPr>
          <a:xfrm>
            <a:off x="7019925" y="4262437"/>
            <a:ext cx="1421607" cy="245269"/>
          </a:xfrm>
          <a:prstGeom prst="roundRect">
            <a:avLst/>
          </a:prstGeom>
          <a:solidFill>
            <a:srgbClr val="E3B341">
              <a:alpha val="10000"/>
            </a:srgbClr>
          </a:solidFill>
          <a:ln w="9144">
            <a:solidFill>
              <a:srgbClr val="E3B341"/>
            </a:solidFill>
            <a:prstDash val="solid"/>
          </a:ln>
        </p:spPr>
      </p:sp>
      <p:sp>
        <p:nvSpPr>
          <p:cNvPr id="31" name="Text 24"/>
          <p:cNvSpPr/>
          <p:nvPr/>
        </p:nvSpPr>
        <p:spPr>
          <a:xfrm>
            <a:off x="7019925" y="4262437"/>
            <a:ext cx="1123315" cy="212725"/>
          </a:xfrm>
          <a:prstGeom prst="rect">
            <a:avLst/>
          </a:prstGeom>
          <a:noFill/>
        </p:spPr>
        <p:txBody>
          <a:bodyPr wrap="none" lIns="136144" tIns="45381" rIns="136144" bIns="45381" rtlCol="0" anchor="t">
            <a:spAutoFit/>
          </a:bodyPr>
          <a:lstStyle/>
          <a:p>
            <a:pPr marL="0" indent="0" algn="l">
              <a:buNone/>
            </a:pPr>
            <a:r>
              <a:rPr lang="en-US" sz="800" dirty="0">
                <a:solidFill>
                  <a:srgbClr val="E3B341"/>
                </a:solidFill>
                <a:latin typeface="JetBrains Mono Bold" pitchFamily="34" charset="0"/>
                <a:ea typeface="JetBrains Mono Bold" pitchFamily="34" charset="-122"/>
                <a:cs typeface="JetBrains Mono Bold" pitchFamily="34" charset="-120"/>
              </a:rPr>
              <a:t>Asymmetric Crypto</a:t>
            </a:r>
            <a:endParaRPr lang="en-US" sz="800" dirty="0"/>
          </a:p>
        </p:txBody>
      </p:sp>
      <p:sp>
        <p:nvSpPr>
          <p:cNvPr id="32" name="Text 25"/>
          <p:cNvSpPr/>
          <p:nvPr/>
        </p:nvSpPr>
        <p:spPr>
          <a:xfrm>
            <a:off x="0" y="6224588"/>
            <a:ext cx="12192000" cy="215265"/>
          </a:xfrm>
          <a:prstGeom prst="rect">
            <a:avLst/>
          </a:prstGeom>
          <a:noFill/>
        </p:spPr>
        <p:txBody>
          <a:bodyPr wrap="square" lIns="0" tIns="0" rIns="0" bIns="0" rtlCol="0" anchor="t">
            <a:spAutoFit/>
          </a:bodyPr>
          <a:lstStyle/>
          <a:p>
            <a:pPr marL="0" indent="0" algn="ctr">
              <a:buNone/>
            </a:pPr>
            <a:r>
              <a:rPr lang="en-US" sz="1400" dirty="0">
                <a:solidFill>
                  <a:srgbClr val="00FF9C"/>
                </a:solidFill>
                <a:latin typeface="JetBrains Mono Bold" pitchFamily="34" charset="0"/>
                <a:ea typeface="JetBrains Mono Bold" pitchFamily="34" charset="-122"/>
                <a:cs typeface="JetBrains Mono Bold" pitchFamily="34" charset="-120"/>
              </a:rPr>
              <a:t>"Today you will understand HOW all of these work."</a:t>
            </a:r>
            <a:endParaRPr lang="en-US" sz="1400" dirty="0"/>
          </a:p>
        </p:txBody>
      </p:sp>
      <p:grpSp>
        <p:nvGrpSpPr>
          <p:cNvPr id="33" name="Group 2"/>
          <p:cNvGrpSpPr/>
          <p:nvPr/>
        </p:nvGrpSpPr>
        <p:grpSpPr>
          <a:xfrm rot="0">
            <a:off x="294640" y="194310"/>
            <a:ext cx="789305" cy="299720"/>
            <a:chOff x="0" y="0"/>
            <a:chExt cx="341337" cy="102463"/>
          </a:xfrm>
        </p:grpSpPr>
        <p:sp>
          <p:nvSpPr>
            <p:cNvPr id="3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3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36" name="Group 5"/>
          <p:cNvGrpSpPr/>
          <p:nvPr/>
        </p:nvGrpSpPr>
        <p:grpSpPr>
          <a:xfrm rot="0">
            <a:off x="822325" y="209550"/>
            <a:ext cx="220980" cy="246380"/>
            <a:chOff x="0" y="0"/>
            <a:chExt cx="812800" cy="812800"/>
          </a:xfrm>
        </p:grpSpPr>
        <p:sp>
          <p:nvSpPr>
            <p:cNvPr id="3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3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476251"/>
          </a:xfrm>
          <a:prstGeom prst="rect">
            <a:avLst/>
          </a:prstGeom>
          <a:solidFill>
            <a:srgbClr val="000000">
              <a:alpha val="0"/>
            </a:srgbClr>
          </a:solidFill>
        </p:spPr>
      </p:sp>
      <p:sp>
        <p:nvSpPr>
          <p:cNvPr id="4" name="Shape 1"/>
          <p:cNvSpPr/>
          <p:nvPr/>
        </p:nvSpPr>
        <p:spPr>
          <a:xfrm>
            <a:off x="0" y="466725"/>
            <a:ext cx="12192000" cy="9525"/>
          </a:xfrm>
          <a:prstGeom prst="rect">
            <a:avLst/>
          </a:prstGeom>
          <a:solidFill>
            <a:srgbClr val="161B22"/>
          </a:solidFill>
        </p:spPr>
      </p:sp>
      <p:sp>
        <p:nvSpPr>
          <p:cNvPr id="6" name="Text 3"/>
          <p:cNvSpPr/>
          <p:nvPr/>
        </p:nvSpPr>
        <p:spPr>
          <a:xfrm>
            <a:off x="10353675" y="150019"/>
            <a:ext cx="113792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SLIDE 04 // EWUCSC</a:t>
            </a:r>
            <a:endParaRPr lang="en-US" sz="1000" dirty="0"/>
          </a:p>
        </p:txBody>
      </p:sp>
      <p:sp>
        <p:nvSpPr>
          <p:cNvPr id="7" name="Text 4"/>
          <p:cNvSpPr/>
          <p:nvPr/>
        </p:nvSpPr>
        <p:spPr>
          <a:xfrm>
            <a:off x="4445793" y="1047751"/>
            <a:ext cx="3300412" cy="328930"/>
          </a:xfrm>
          <a:prstGeom prst="rect">
            <a:avLst/>
          </a:prstGeom>
          <a:noFill/>
        </p:spPr>
        <p:txBody>
          <a:bodyPr wrap="square" lIns="0" tIns="0" rIns="0" bIns="0" rtlCol="0" anchor="t">
            <a:spAutoFit/>
          </a:bodyPr>
          <a:lstStyle/>
          <a:p>
            <a:pPr marL="0" indent="0" algn="ctr">
              <a:buNone/>
            </a:pPr>
            <a:r>
              <a:rPr lang="en-US" sz="2135" b="1" dirty="0">
                <a:solidFill>
                  <a:srgbClr val="E6EDF3"/>
                </a:solidFill>
                <a:latin typeface="JetBrains Mono Bold" pitchFamily="34" charset="0"/>
                <a:ea typeface="JetBrains Mono Bold" pitchFamily="34" charset="-122"/>
                <a:cs typeface="JetBrains Mono Bold" pitchFamily="34" charset="-120"/>
              </a:rPr>
              <a:t>YOUR JOURNEY TODAY</a:t>
            </a:r>
            <a:endParaRPr lang="en-US" sz="2135" dirty="0"/>
          </a:p>
        </p:txBody>
      </p:sp>
      <p:sp>
        <p:nvSpPr>
          <p:cNvPr id="8" name="Shape 5"/>
          <p:cNvSpPr/>
          <p:nvPr/>
        </p:nvSpPr>
        <p:spPr>
          <a:xfrm>
            <a:off x="552451" y="2402681"/>
            <a:ext cx="800100" cy="800100"/>
          </a:xfrm>
          <a:prstGeom prst="ellipse">
            <a:avLst/>
          </a:prstGeom>
          <a:solidFill>
            <a:srgbClr val="161B22"/>
          </a:solidFill>
          <a:ln w="18288">
            <a:solidFill>
              <a:srgbClr val="00FF9C"/>
            </a:solidFill>
            <a:prstDash val="solid"/>
          </a:ln>
        </p:spPr>
      </p:sp>
      <p:pic>
        <p:nvPicPr>
          <p:cNvPr id="9" name="Image 1" descr="preencoded.png"/>
          <p:cNvPicPr>
            <a:picLocks noChangeAspect="1"/>
          </p:cNvPicPr>
          <p:nvPr/>
        </p:nvPicPr>
        <p:blipFill>
          <a:blip r:embed="rId2"/>
          <a:stretch>
            <a:fillRect/>
          </a:stretch>
        </p:blipFill>
        <p:spPr>
          <a:xfrm>
            <a:off x="852488" y="2688431"/>
            <a:ext cx="200025" cy="228600"/>
          </a:xfrm>
          <a:prstGeom prst="rect">
            <a:avLst/>
          </a:prstGeom>
        </p:spPr>
      </p:pic>
      <p:sp>
        <p:nvSpPr>
          <p:cNvPr id="10" name="Text 6"/>
          <p:cNvSpPr/>
          <p:nvPr/>
        </p:nvSpPr>
        <p:spPr>
          <a:xfrm>
            <a:off x="524193" y="3326607"/>
            <a:ext cx="856615" cy="122555"/>
          </a:xfrm>
          <a:prstGeom prst="rect">
            <a:avLst/>
          </a:prstGeom>
          <a:noFill/>
        </p:spPr>
        <p:txBody>
          <a:bodyPr wrap="none" lIns="0" tIns="0" rIns="0" bIns="0" rtlCol="0" anchor="t">
            <a:spAutoFit/>
          </a:bodyPr>
          <a:lstStyle/>
          <a:p>
            <a:pPr marL="0" indent="0" algn="ctr">
              <a:buNone/>
            </a:pPr>
            <a:r>
              <a:rPr lang="en-US" sz="800" dirty="0">
                <a:solidFill>
                  <a:srgbClr val="00FF9C"/>
                </a:solidFill>
                <a:latin typeface="JetBrains Mono Bold" pitchFamily="34" charset="0"/>
                <a:ea typeface="JetBrains Mono Bold" pitchFamily="34" charset="-122"/>
                <a:cs typeface="JetBrains Mono Bold" pitchFamily="34" charset="-120"/>
              </a:rPr>
              <a:t>1. Number Systems</a:t>
            </a:r>
            <a:endParaRPr lang="en-US" sz="800" dirty="0"/>
          </a:p>
        </p:txBody>
      </p:sp>
      <p:sp>
        <p:nvSpPr>
          <p:cNvPr id="11" name="Shape 7"/>
          <p:cNvSpPr/>
          <p:nvPr/>
        </p:nvSpPr>
        <p:spPr>
          <a:xfrm>
            <a:off x="2022016" y="2477691"/>
            <a:ext cx="800100" cy="800100"/>
          </a:xfrm>
          <a:prstGeom prst="ellipse">
            <a:avLst/>
          </a:prstGeom>
          <a:solidFill>
            <a:srgbClr val="161B22"/>
          </a:solidFill>
          <a:ln w="18288">
            <a:solidFill>
              <a:srgbClr val="58A6FF"/>
            </a:solidFill>
            <a:prstDash val="solid"/>
          </a:ln>
        </p:spPr>
      </p:sp>
      <p:pic>
        <p:nvPicPr>
          <p:cNvPr id="12" name="Image 2" descr="preencoded.png"/>
          <p:cNvPicPr>
            <a:picLocks noChangeAspect="1"/>
          </p:cNvPicPr>
          <p:nvPr/>
        </p:nvPicPr>
        <p:blipFill>
          <a:blip r:embed="rId3"/>
          <a:stretch>
            <a:fillRect/>
          </a:stretch>
        </p:blipFill>
        <p:spPr>
          <a:xfrm>
            <a:off x="2307767" y="2763440"/>
            <a:ext cx="228600" cy="228600"/>
          </a:xfrm>
          <a:prstGeom prst="rect">
            <a:avLst/>
          </a:prstGeom>
        </p:spPr>
      </p:pic>
      <p:sp>
        <p:nvSpPr>
          <p:cNvPr id="13" name="Text 8"/>
          <p:cNvSpPr/>
          <p:nvPr/>
        </p:nvSpPr>
        <p:spPr>
          <a:xfrm>
            <a:off x="2168702" y="3401616"/>
            <a:ext cx="506730" cy="122555"/>
          </a:xfrm>
          <a:prstGeom prst="rect">
            <a:avLst/>
          </a:prstGeom>
          <a:noFill/>
        </p:spPr>
        <p:txBody>
          <a:bodyPr wrap="none" lIns="0" tIns="0" rIns="0" bIns="0" rtlCol="0" anchor="t">
            <a:spAutoFit/>
          </a:bodyPr>
          <a:lstStyle/>
          <a:p>
            <a:pPr marL="0" indent="0" algn="ctr">
              <a:buNone/>
            </a:pPr>
            <a:r>
              <a:rPr lang="en-US" sz="800" b="1" dirty="0">
                <a:solidFill>
                  <a:srgbClr val="58A6FF"/>
                </a:solidFill>
                <a:latin typeface="JetBrains Mono Bold" pitchFamily="34" charset="0"/>
                <a:ea typeface="JetBrains Mono Bold" pitchFamily="34" charset="-122"/>
                <a:cs typeface="JetBrains Mono Bold" pitchFamily="34" charset="-120"/>
              </a:rPr>
              <a:t>2. Encoding</a:t>
            </a:r>
            <a:endParaRPr lang="en-US" sz="800" dirty="0"/>
          </a:p>
        </p:txBody>
      </p:sp>
      <p:sp>
        <p:nvSpPr>
          <p:cNvPr id="14" name="Shape 9"/>
          <p:cNvSpPr/>
          <p:nvPr/>
        </p:nvSpPr>
        <p:spPr>
          <a:xfrm>
            <a:off x="3491583" y="2402681"/>
            <a:ext cx="800100" cy="800100"/>
          </a:xfrm>
          <a:prstGeom prst="ellipse">
            <a:avLst/>
          </a:prstGeom>
          <a:solidFill>
            <a:srgbClr val="161B22"/>
          </a:solidFill>
          <a:ln w="18288">
            <a:solidFill>
              <a:srgbClr val="8B949E"/>
            </a:solidFill>
            <a:prstDash val="solid"/>
          </a:ln>
        </p:spPr>
      </p:sp>
      <p:pic>
        <p:nvPicPr>
          <p:cNvPr id="15" name="Image 3" descr="preencoded.png"/>
          <p:cNvPicPr>
            <a:picLocks noChangeAspect="1"/>
          </p:cNvPicPr>
          <p:nvPr/>
        </p:nvPicPr>
        <p:blipFill>
          <a:blip r:embed="rId4"/>
          <a:stretch>
            <a:fillRect/>
          </a:stretch>
        </p:blipFill>
        <p:spPr>
          <a:xfrm>
            <a:off x="3763045" y="2688431"/>
            <a:ext cx="257175" cy="228600"/>
          </a:xfrm>
          <a:prstGeom prst="rect">
            <a:avLst/>
          </a:prstGeom>
        </p:spPr>
      </p:pic>
      <p:sp>
        <p:nvSpPr>
          <p:cNvPr id="16" name="Text 10"/>
          <p:cNvSpPr/>
          <p:nvPr/>
        </p:nvSpPr>
        <p:spPr>
          <a:xfrm>
            <a:off x="3473802" y="3326607"/>
            <a:ext cx="835660" cy="122555"/>
          </a:xfrm>
          <a:prstGeom prst="rect">
            <a:avLst/>
          </a:prstGeom>
          <a:noFill/>
        </p:spPr>
        <p:txBody>
          <a:bodyPr wrap="none" lIns="0" tIns="0" rIns="0" bIns="0" rtlCol="0" anchor="t">
            <a:spAutoFit/>
          </a:bodyPr>
          <a:lstStyle/>
          <a:p>
            <a:pPr marL="0" indent="0" algn="ctr">
              <a:buNone/>
            </a:pPr>
            <a:r>
              <a:rPr lang="en-US" sz="800" dirty="0">
                <a:solidFill>
                  <a:srgbClr val="8B949E"/>
                </a:solidFill>
                <a:latin typeface="JetBrains Mono Bold" pitchFamily="34" charset="0"/>
                <a:ea typeface="JetBrains Mono Bold" pitchFamily="34" charset="-122"/>
                <a:cs typeface="JetBrains Mono Bold" pitchFamily="34" charset="-120"/>
              </a:rPr>
              <a:t>3. Classical Ciphers</a:t>
            </a:r>
            <a:endParaRPr lang="en-US" sz="800" dirty="0"/>
          </a:p>
        </p:txBody>
      </p:sp>
      <p:sp>
        <p:nvSpPr>
          <p:cNvPr id="17" name="Shape 11"/>
          <p:cNvSpPr/>
          <p:nvPr/>
        </p:nvSpPr>
        <p:spPr>
          <a:xfrm>
            <a:off x="4961148" y="2477691"/>
            <a:ext cx="800100" cy="800100"/>
          </a:xfrm>
          <a:prstGeom prst="ellipse">
            <a:avLst/>
          </a:prstGeom>
          <a:solidFill>
            <a:srgbClr val="161B22"/>
          </a:solidFill>
          <a:ln w="18288">
            <a:solidFill>
              <a:srgbClr val="8B949E"/>
            </a:solidFill>
            <a:prstDash val="solid"/>
          </a:ln>
        </p:spPr>
      </p:sp>
      <p:pic>
        <p:nvPicPr>
          <p:cNvPr id="18" name="Image 4" descr="preencoded.png"/>
          <p:cNvPicPr>
            <a:picLocks noChangeAspect="1"/>
          </p:cNvPicPr>
          <p:nvPr/>
        </p:nvPicPr>
        <p:blipFill>
          <a:blip r:embed="rId5"/>
          <a:stretch>
            <a:fillRect/>
          </a:stretch>
        </p:blipFill>
        <p:spPr>
          <a:xfrm>
            <a:off x="5275473" y="2763440"/>
            <a:ext cx="171451" cy="228600"/>
          </a:xfrm>
          <a:prstGeom prst="rect">
            <a:avLst/>
          </a:prstGeom>
        </p:spPr>
      </p:pic>
      <p:sp>
        <p:nvSpPr>
          <p:cNvPr id="19" name="Text 12"/>
          <p:cNvSpPr/>
          <p:nvPr/>
        </p:nvSpPr>
        <p:spPr>
          <a:xfrm>
            <a:off x="5218641" y="3401616"/>
            <a:ext cx="285115" cy="122555"/>
          </a:xfrm>
          <a:prstGeom prst="rect">
            <a:avLst/>
          </a:prstGeom>
          <a:noFill/>
        </p:spPr>
        <p:txBody>
          <a:bodyPr wrap="none" lIns="0" tIns="0" rIns="0" bIns="0" rtlCol="0" anchor="t">
            <a:spAutoFit/>
          </a:bodyPr>
          <a:lstStyle/>
          <a:p>
            <a:pPr marL="0" indent="0" algn="ctr">
              <a:buNone/>
            </a:pPr>
            <a:r>
              <a:rPr lang="en-US" sz="800" dirty="0">
                <a:solidFill>
                  <a:srgbClr val="8B949E"/>
                </a:solidFill>
                <a:latin typeface="JetBrains Mono Bold" pitchFamily="34" charset="0"/>
                <a:ea typeface="JetBrains Mono Bold" pitchFamily="34" charset="-122"/>
                <a:cs typeface="JetBrains Mono Bold" pitchFamily="34" charset="-120"/>
              </a:rPr>
              <a:t>4. XOR</a:t>
            </a:r>
            <a:endParaRPr lang="en-US" sz="800" dirty="0"/>
          </a:p>
        </p:txBody>
      </p:sp>
      <p:sp>
        <p:nvSpPr>
          <p:cNvPr id="20" name="Shape 13"/>
          <p:cNvSpPr/>
          <p:nvPr/>
        </p:nvSpPr>
        <p:spPr>
          <a:xfrm>
            <a:off x="6430715" y="2477691"/>
            <a:ext cx="800100" cy="800100"/>
          </a:xfrm>
          <a:prstGeom prst="ellipse">
            <a:avLst/>
          </a:prstGeom>
          <a:solidFill>
            <a:srgbClr val="161B22"/>
          </a:solidFill>
          <a:ln w="18288">
            <a:solidFill>
              <a:srgbClr val="8B949E"/>
            </a:solidFill>
            <a:prstDash val="solid"/>
          </a:ln>
        </p:spPr>
      </p:sp>
      <p:pic>
        <p:nvPicPr>
          <p:cNvPr id="21" name="Image 5" descr="preencoded.png"/>
          <p:cNvPicPr>
            <a:picLocks noChangeAspect="1"/>
          </p:cNvPicPr>
          <p:nvPr/>
        </p:nvPicPr>
        <p:blipFill>
          <a:blip r:embed="rId6"/>
          <a:stretch>
            <a:fillRect/>
          </a:stretch>
        </p:blipFill>
        <p:spPr>
          <a:xfrm>
            <a:off x="6716464" y="2763440"/>
            <a:ext cx="228600" cy="228600"/>
          </a:xfrm>
          <a:prstGeom prst="rect">
            <a:avLst/>
          </a:prstGeom>
        </p:spPr>
      </p:pic>
      <p:sp>
        <p:nvSpPr>
          <p:cNvPr id="22" name="Text 14"/>
          <p:cNvSpPr/>
          <p:nvPr/>
        </p:nvSpPr>
        <p:spPr>
          <a:xfrm>
            <a:off x="6700907" y="3401616"/>
            <a:ext cx="259715" cy="122555"/>
          </a:xfrm>
          <a:prstGeom prst="rect">
            <a:avLst/>
          </a:prstGeom>
          <a:noFill/>
        </p:spPr>
        <p:txBody>
          <a:bodyPr wrap="none" lIns="0" tIns="0" rIns="0" bIns="0" rtlCol="0" anchor="t">
            <a:spAutoFit/>
          </a:bodyPr>
          <a:lstStyle/>
          <a:p>
            <a:pPr marL="0" indent="0" algn="ctr">
              <a:buNone/>
            </a:pPr>
            <a:r>
              <a:rPr lang="en-US" sz="800" dirty="0">
                <a:solidFill>
                  <a:srgbClr val="8B949E"/>
                </a:solidFill>
                <a:latin typeface="JetBrains Mono Bold" pitchFamily="34" charset="0"/>
                <a:ea typeface="JetBrains Mono Bold" pitchFamily="34" charset="-122"/>
                <a:cs typeface="JetBrains Mono Bold" pitchFamily="34" charset="-120"/>
              </a:rPr>
              <a:t>5. AES</a:t>
            </a:r>
            <a:endParaRPr lang="en-US" sz="800" dirty="0"/>
          </a:p>
        </p:txBody>
      </p:sp>
      <p:sp>
        <p:nvSpPr>
          <p:cNvPr id="23" name="Shape 15"/>
          <p:cNvSpPr/>
          <p:nvPr/>
        </p:nvSpPr>
        <p:spPr>
          <a:xfrm>
            <a:off x="7900280" y="2477691"/>
            <a:ext cx="800100" cy="800100"/>
          </a:xfrm>
          <a:prstGeom prst="ellipse">
            <a:avLst/>
          </a:prstGeom>
          <a:solidFill>
            <a:srgbClr val="161B22"/>
          </a:solidFill>
          <a:ln w="18288">
            <a:solidFill>
              <a:srgbClr val="8B949E"/>
            </a:solidFill>
            <a:prstDash val="solid"/>
          </a:ln>
        </p:spPr>
      </p:sp>
      <p:pic>
        <p:nvPicPr>
          <p:cNvPr id="24" name="Image 6" descr="preencoded.png"/>
          <p:cNvPicPr>
            <a:picLocks noChangeAspect="1"/>
          </p:cNvPicPr>
          <p:nvPr/>
        </p:nvPicPr>
        <p:blipFill>
          <a:blip r:embed="rId7"/>
          <a:stretch>
            <a:fillRect/>
          </a:stretch>
        </p:blipFill>
        <p:spPr>
          <a:xfrm>
            <a:off x="8186031" y="2763440"/>
            <a:ext cx="228600" cy="228600"/>
          </a:xfrm>
          <a:prstGeom prst="rect">
            <a:avLst/>
          </a:prstGeom>
        </p:spPr>
      </p:pic>
      <p:sp>
        <p:nvSpPr>
          <p:cNvPr id="25" name="Text 16"/>
          <p:cNvSpPr/>
          <p:nvPr/>
        </p:nvSpPr>
        <p:spPr>
          <a:xfrm>
            <a:off x="8166345" y="3401616"/>
            <a:ext cx="267970" cy="122555"/>
          </a:xfrm>
          <a:prstGeom prst="rect">
            <a:avLst/>
          </a:prstGeom>
          <a:noFill/>
        </p:spPr>
        <p:txBody>
          <a:bodyPr wrap="none" lIns="0" tIns="0" rIns="0" bIns="0" rtlCol="0" anchor="t">
            <a:spAutoFit/>
          </a:bodyPr>
          <a:lstStyle/>
          <a:p>
            <a:pPr marL="0" indent="0" algn="ctr">
              <a:buNone/>
            </a:pPr>
            <a:r>
              <a:rPr lang="en-US" sz="800" dirty="0">
                <a:solidFill>
                  <a:srgbClr val="8B949E"/>
                </a:solidFill>
                <a:latin typeface="JetBrains Mono Bold" pitchFamily="34" charset="0"/>
                <a:ea typeface="JetBrains Mono Bold" pitchFamily="34" charset="-122"/>
                <a:cs typeface="JetBrains Mono Bold" pitchFamily="34" charset="-120"/>
              </a:rPr>
              <a:t>6. RSA</a:t>
            </a:r>
            <a:endParaRPr lang="en-US" sz="800" dirty="0"/>
          </a:p>
        </p:txBody>
      </p:sp>
      <p:sp>
        <p:nvSpPr>
          <p:cNvPr id="26" name="Shape 17"/>
          <p:cNvSpPr/>
          <p:nvPr/>
        </p:nvSpPr>
        <p:spPr>
          <a:xfrm>
            <a:off x="9369847" y="2477691"/>
            <a:ext cx="800100" cy="800100"/>
          </a:xfrm>
          <a:prstGeom prst="ellipse">
            <a:avLst/>
          </a:prstGeom>
          <a:solidFill>
            <a:srgbClr val="161B22"/>
          </a:solidFill>
          <a:ln w="18288">
            <a:solidFill>
              <a:srgbClr val="8B949E"/>
            </a:solidFill>
            <a:prstDash val="solid"/>
          </a:ln>
        </p:spPr>
      </p:sp>
      <p:pic>
        <p:nvPicPr>
          <p:cNvPr id="27" name="Image 7" descr="preencoded.png"/>
          <p:cNvPicPr>
            <a:picLocks noChangeAspect="1"/>
          </p:cNvPicPr>
          <p:nvPr/>
        </p:nvPicPr>
        <p:blipFill>
          <a:blip r:embed="rId8"/>
          <a:stretch>
            <a:fillRect/>
          </a:stretch>
        </p:blipFill>
        <p:spPr>
          <a:xfrm>
            <a:off x="9655597" y="2763440"/>
            <a:ext cx="228600" cy="228600"/>
          </a:xfrm>
          <a:prstGeom prst="rect">
            <a:avLst/>
          </a:prstGeom>
        </p:spPr>
      </p:pic>
      <p:sp>
        <p:nvSpPr>
          <p:cNvPr id="28" name="Text 18"/>
          <p:cNvSpPr/>
          <p:nvPr/>
        </p:nvSpPr>
        <p:spPr>
          <a:xfrm>
            <a:off x="9541615" y="3401616"/>
            <a:ext cx="456565" cy="122555"/>
          </a:xfrm>
          <a:prstGeom prst="rect">
            <a:avLst/>
          </a:prstGeom>
          <a:noFill/>
        </p:spPr>
        <p:txBody>
          <a:bodyPr wrap="none" lIns="0" tIns="0" rIns="0" bIns="0" rtlCol="0" anchor="t">
            <a:spAutoFit/>
          </a:bodyPr>
          <a:lstStyle/>
          <a:p>
            <a:pPr marL="0" indent="0" algn="ctr">
              <a:buNone/>
            </a:pPr>
            <a:r>
              <a:rPr lang="en-US" sz="800" dirty="0">
                <a:solidFill>
                  <a:srgbClr val="8B949E"/>
                </a:solidFill>
                <a:latin typeface="JetBrains Mono Bold" pitchFamily="34" charset="0"/>
                <a:ea typeface="JetBrains Mono Bold" pitchFamily="34" charset="-122"/>
                <a:cs typeface="JetBrains Mono Bold" pitchFamily="34" charset="-120"/>
              </a:rPr>
              <a:t>7. Hashing</a:t>
            </a:r>
            <a:endParaRPr lang="en-US" sz="800" dirty="0"/>
          </a:p>
        </p:txBody>
      </p:sp>
      <p:sp>
        <p:nvSpPr>
          <p:cNvPr id="29" name="Shape 19"/>
          <p:cNvSpPr/>
          <p:nvPr/>
        </p:nvSpPr>
        <p:spPr>
          <a:xfrm>
            <a:off x="10839413" y="2402681"/>
            <a:ext cx="800100" cy="800100"/>
          </a:xfrm>
          <a:prstGeom prst="ellipse">
            <a:avLst/>
          </a:prstGeom>
          <a:solidFill>
            <a:srgbClr val="161B22"/>
          </a:solidFill>
          <a:ln w="18288">
            <a:solidFill>
              <a:srgbClr val="8B949E"/>
            </a:solidFill>
            <a:prstDash val="solid"/>
          </a:ln>
        </p:spPr>
      </p:sp>
      <p:pic>
        <p:nvPicPr>
          <p:cNvPr id="30" name="Image 8" descr="preencoded.png"/>
          <p:cNvPicPr>
            <a:picLocks noChangeAspect="1"/>
          </p:cNvPicPr>
          <p:nvPr/>
        </p:nvPicPr>
        <p:blipFill>
          <a:blip r:embed="rId9"/>
          <a:stretch>
            <a:fillRect/>
          </a:stretch>
        </p:blipFill>
        <p:spPr>
          <a:xfrm>
            <a:off x="11110875" y="2669381"/>
            <a:ext cx="257175" cy="228600"/>
          </a:xfrm>
          <a:prstGeom prst="rect">
            <a:avLst/>
          </a:prstGeom>
        </p:spPr>
      </p:pic>
      <p:sp>
        <p:nvSpPr>
          <p:cNvPr id="31" name="Text 20"/>
          <p:cNvSpPr/>
          <p:nvPr/>
        </p:nvSpPr>
        <p:spPr>
          <a:xfrm>
            <a:off x="10800360" y="3307556"/>
            <a:ext cx="878205" cy="122555"/>
          </a:xfrm>
          <a:prstGeom prst="rect">
            <a:avLst/>
          </a:prstGeom>
          <a:noFill/>
        </p:spPr>
        <p:txBody>
          <a:bodyPr wrap="none" lIns="0" tIns="0" rIns="0" bIns="0" rtlCol="0" anchor="t">
            <a:spAutoFit/>
          </a:bodyPr>
          <a:lstStyle/>
          <a:p>
            <a:pPr marL="0" indent="0" algn="ctr">
              <a:buNone/>
            </a:pPr>
            <a:r>
              <a:rPr lang="en-US" sz="800" dirty="0">
                <a:solidFill>
                  <a:srgbClr val="8B949E"/>
                </a:solidFill>
                <a:latin typeface="JetBrains Mono Bold" pitchFamily="34" charset="0"/>
                <a:ea typeface="JetBrains Mono Bold" pitchFamily="34" charset="-122"/>
                <a:cs typeface="JetBrains Mono Bold" pitchFamily="34" charset="-120"/>
              </a:rPr>
              <a:t>8. Digital Signatures</a:t>
            </a:r>
            <a:endParaRPr lang="en-US" sz="800" dirty="0"/>
          </a:p>
        </p:txBody>
      </p:sp>
      <p:sp>
        <p:nvSpPr>
          <p:cNvPr id="32" name="Shape 21"/>
          <p:cNvSpPr/>
          <p:nvPr/>
        </p:nvSpPr>
        <p:spPr>
          <a:xfrm>
            <a:off x="3176588" y="5781675"/>
            <a:ext cx="5838825" cy="504825"/>
          </a:xfrm>
          <a:prstGeom prst="rect">
            <a:avLst/>
          </a:prstGeom>
          <a:solidFill>
            <a:srgbClr val="E3B341">
              <a:alpha val="10000"/>
            </a:srgbClr>
          </a:solidFill>
          <a:ln w="9144">
            <a:solidFill>
              <a:srgbClr val="E3B341"/>
            </a:solidFill>
            <a:prstDash val="solid"/>
          </a:ln>
        </p:spPr>
      </p:sp>
      <p:sp>
        <p:nvSpPr>
          <p:cNvPr id="33" name="Text 22"/>
          <p:cNvSpPr/>
          <p:nvPr/>
        </p:nvSpPr>
        <p:spPr>
          <a:xfrm>
            <a:off x="3176588" y="5781675"/>
            <a:ext cx="5838825" cy="513715"/>
          </a:xfrm>
          <a:prstGeom prst="rect">
            <a:avLst/>
          </a:prstGeom>
          <a:noFill/>
        </p:spPr>
        <p:txBody>
          <a:bodyPr wrap="square" lIns="340190" tIns="170010" rIns="340190" bIns="170010" rtlCol="0" anchor="t">
            <a:spAutoFit/>
          </a:bodyPr>
          <a:lstStyle/>
          <a:p>
            <a:pPr marL="0" indent="0" algn="l">
              <a:buNone/>
            </a:pPr>
            <a:r>
              <a:rPr lang="en-US" sz="1135" dirty="0">
                <a:solidFill>
                  <a:srgbClr val="E6EDF3"/>
                </a:solidFill>
                <a:latin typeface="JetBrains Mono Bold" pitchFamily="34" charset="0"/>
                <a:ea typeface="JetBrains Mono Bold" pitchFamily="34" charset="-122"/>
                <a:cs typeface="JetBrains Mono Bold" pitchFamily="34" charset="-120"/>
              </a:rPr>
              <a:t>"Each topic builds on the previous one. Don't skip ahead."</a:t>
            </a:r>
            <a:endParaRPr lang="en-US" sz="1135" dirty="0"/>
          </a:p>
        </p:txBody>
      </p:sp>
      <p:grpSp>
        <p:nvGrpSpPr>
          <p:cNvPr id="34" name="Group 2"/>
          <p:cNvGrpSpPr/>
          <p:nvPr/>
        </p:nvGrpSpPr>
        <p:grpSpPr>
          <a:xfrm rot="0">
            <a:off x="294640" y="194310"/>
            <a:ext cx="789305" cy="299720"/>
            <a:chOff x="0" y="0"/>
            <a:chExt cx="341337" cy="102463"/>
          </a:xfrm>
        </p:grpSpPr>
        <p:sp>
          <p:nvSpPr>
            <p:cNvPr id="35"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36"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37" name="Group 5"/>
          <p:cNvGrpSpPr/>
          <p:nvPr/>
        </p:nvGrpSpPr>
        <p:grpSpPr>
          <a:xfrm rot="0">
            <a:off x="822325" y="209550"/>
            <a:ext cx="220980" cy="246380"/>
            <a:chOff x="0" y="0"/>
            <a:chExt cx="812800" cy="812800"/>
          </a:xfrm>
        </p:grpSpPr>
        <p:sp>
          <p:nvSpPr>
            <p:cNvPr id="38"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9"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0"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1"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49"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476251"/>
          </a:xfrm>
          <a:prstGeom prst="rect">
            <a:avLst/>
          </a:prstGeom>
          <a:solidFill>
            <a:srgbClr val="000000">
              <a:alpha val="0"/>
            </a:srgbClr>
          </a:solidFill>
        </p:spPr>
      </p:sp>
      <p:sp>
        <p:nvSpPr>
          <p:cNvPr id="4" name="Shape 1"/>
          <p:cNvSpPr/>
          <p:nvPr/>
        </p:nvSpPr>
        <p:spPr>
          <a:xfrm>
            <a:off x="0" y="466725"/>
            <a:ext cx="12192000" cy="9525"/>
          </a:xfrm>
          <a:prstGeom prst="rect">
            <a:avLst/>
          </a:prstGeom>
          <a:solidFill>
            <a:srgbClr val="161B22"/>
          </a:solidFill>
        </p:spPr>
      </p:sp>
      <p:sp>
        <p:nvSpPr>
          <p:cNvPr id="6" name="Text 3"/>
          <p:cNvSpPr/>
          <p:nvPr/>
        </p:nvSpPr>
        <p:spPr>
          <a:xfrm>
            <a:off x="10353675" y="150019"/>
            <a:ext cx="113792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SLIDE 05 // EWUCSC</a:t>
            </a:r>
            <a:endParaRPr lang="en-US" sz="1000" dirty="0"/>
          </a:p>
        </p:txBody>
      </p:sp>
      <p:sp>
        <p:nvSpPr>
          <p:cNvPr id="7" name="Text 4"/>
          <p:cNvSpPr/>
          <p:nvPr/>
        </p:nvSpPr>
        <p:spPr>
          <a:xfrm>
            <a:off x="381000" y="857251"/>
            <a:ext cx="11430000" cy="328930"/>
          </a:xfrm>
          <a:prstGeom prst="rect">
            <a:avLst/>
          </a:prstGeom>
          <a:noFill/>
        </p:spPr>
        <p:txBody>
          <a:bodyPr wrap="square" lIns="0" tIns="0" rIns="0" bIns="0" rtlCol="0" anchor="t">
            <a:spAutoFit/>
          </a:bodyPr>
          <a:lstStyle/>
          <a:p>
            <a:pPr marL="0" indent="0" algn="l">
              <a:buNone/>
            </a:pPr>
            <a:r>
              <a:rPr lang="en-US" sz="2135" b="1" dirty="0">
                <a:solidFill>
                  <a:srgbClr val="E6EDF3"/>
                </a:solidFill>
                <a:latin typeface="JetBrains Mono Bold" pitchFamily="34" charset="0"/>
                <a:ea typeface="JetBrains Mono Bold" pitchFamily="34" charset="-122"/>
                <a:cs typeface="JetBrains Mono Bold" pitchFamily="34" charset="-120"/>
              </a:rPr>
              <a:t>THREE THINGS THAT ARE NOT THE SAME</a:t>
            </a:r>
            <a:endParaRPr lang="en-US" sz="2135" dirty="0"/>
          </a:p>
        </p:txBody>
      </p:sp>
      <p:sp>
        <p:nvSpPr>
          <p:cNvPr id="8" name="Shape 5"/>
          <p:cNvSpPr/>
          <p:nvPr/>
        </p:nvSpPr>
        <p:spPr>
          <a:xfrm>
            <a:off x="381000" y="1735931"/>
            <a:ext cx="3683012" cy="3667125"/>
          </a:xfrm>
          <a:prstGeom prst="rect">
            <a:avLst/>
          </a:prstGeom>
          <a:solidFill>
            <a:srgbClr val="161B22"/>
          </a:solidFill>
        </p:spPr>
        <p:txBody>
          <a:bodyPr/>
          <a:p>
            <a:endParaRPr lang="en-GB" altLang="en-US"/>
          </a:p>
        </p:txBody>
      </p:sp>
      <p:sp>
        <p:nvSpPr>
          <p:cNvPr id="9" name="Shape 6"/>
          <p:cNvSpPr/>
          <p:nvPr/>
        </p:nvSpPr>
        <p:spPr>
          <a:xfrm>
            <a:off x="381000" y="1735931"/>
            <a:ext cx="3683012" cy="38100"/>
          </a:xfrm>
          <a:prstGeom prst="rect">
            <a:avLst/>
          </a:prstGeom>
          <a:solidFill>
            <a:srgbClr val="58A6FF"/>
          </a:solidFill>
        </p:spPr>
      </p:sp>
      <p:sp>
        <p:nvSpPr>
          <p:cNvPr id="10" name="Shape 7"/>
          <p:cNvSpPr/>
          <p:nvPr/>
        </p:nvSpPr>
        <p:spPr>
          <a:xfrm>
            <a:off x="4054488" y="1735931"/>
            <a:ext cx="9525" cy="3667125"/>
          </a:xfrm>
          <a:prstGeom prst="rect">
            <a:avLst/>
          </a:prstGeom>
          <a:solidFill>
            <a:srgbClr val="161B22"/>
          </a:solidFill>
        </p:spPr>
      </p:sp>
      <p:sp>
        <p:nvSpPr>
          <p:cNvPr id="11" name="Shape 8"/>
          <p:cNvSpPr/>
          <p:nvPr/>
        </p:nvSpPr>
        <p:spPr>
          <a:xfrm>
            <a:off x="381000" y="5393531"/>
            <a:ext cx="3683012" cy="9525"/>
          </a:xfrm>
          <a:prstGeom prst="rect">
            <a:avLst/>
          </a:prstGeom>
          <a:solidFill>
            <a:srgbClr val="161B22"/>
          </a:solidFill>
        </p:spPr>
      </p:sp>
      <p:sp>
        <p:nvSpPr>
          <p:cNvPr id="12" name="Shape 9"/>
          <p:cNvSpPr/>
          <p:nvPr/>
        </p:nvSpPr>
        <p:spPr>
          <a:xfrm>
            <a:off x="381000" y="1735931"/>
            <a:ext cx="9525" cy="3667125"/>
          </a:xfrm>
          <a:prstGeom prst="rect">
            <a:avLst/>
          </a:prstGeom>
          <a:solidFill>
            <a:srgbClr val="161B22"/>
          </a:solidFill>
        </p:spPr>
      </p:sp>
      <p:sp>
        <p:nvSpPr>
          <p:cNvPr id="13" name="Text 10"/>
          <p:cNvSpPr/>
          <p:nvPr/>
        </p:nvSpPr>
        <p:spPr>
          <a:xfrm>
            <a:off x="619125" y="2021681"/>
            <a:ext cx="3194037" cy="245745"/>
          </a:xfrm>
          <a:prstGeom prst="rect">
            <a:avLst/>
          </a:prstGeom>
          <a:noFill/>
        </p:spPr>
        <p:txBody>
          <a:bodyPr wrap="square" lIns="0" tIns="0" rIns="0" bIns="0" rtlCol="0" anchor="t">
            <a:spAutoFit/>
          </a:bodyPr>
          <a:lstStyle/>
          <a:p>
            <a:pPr marL="0" indent="0" algn="l">
              <a:buNone/>
            </a:pPr>
            <a:r>
              <a:rPr lang="en-US" sz="1600" b="1" dirty="0">
                <a:solidFill>
                  <a:srgbClr val="58A6FF"/>
                </a:solidFill>
                <a:latin typeface="JetBrains Mono Bold" pitchFamily="34" charset="0"/>
                <a:ea typeface="JetBrains Mono Bold" pitchFamily="34" charset="-122"/>
                <a:cs typeface="JetBrains Mono Bold" pitchFamily="34" charset="-120"/>
              </a:rPr>
              <a:t>ENCODING</a:t>
            </a:r>
            <a:endParaRPr lang="en-US" sz="1600" dirty="0"/>
          </a:p>
        </p:txBody>
      </p:sp>
      <p:sp>
        <p:nvSpPr>
          <p:cNvPr id="14" name="Text 11"/>
          <p:cNvSpPr/>
          <p:nvPr/>
        </p:nvSpPr>
        <p:spPr>
          <a:xfrm>
            <a:off x="619125" y="2514600"/>
            <a:ext cx="3013075" cy="337185"/>
          </a:xfrm>
          <a:prstGeom prst="rect">
            <a:avLst/>
          </a:prstGeom>
          <a:noFill/>
        </p:spPr>
        <p:txBody>
          <a:bodyPr wrap="square" lIns="0" tIns="113453" rIns="0" bIns="0" rtlCol="0" anchor="t">
            <a:spAutoFit/>
          </a:bodyPr>
          <a:lstStyle/>
          <a:p>
            <a:pPr marL="0" indent="0" algn="l">
              <a:lnSpc>
                <a:spcPct val="128000"/>
              </a:lnSpc>
              <a:buNone/>
            </a:pPr>
            <a:r>
              <a:rPr lang="en-US" sz="1135" dirty="0">
                <a:solidFill>
                  <a:srgbClr val="E6EDF3"/>
                </a:solidFill>
                <a:latin typeface="Inter" pitchFamily="34" charset="0"/>
                <a:ea typeface="Inter" pitchFamily="34" charset="-122"/>
                <a:cs typeface="Inter" pitchFamily="34" charset="-120"/>
              </a:rPr>
              <a:t>Transforming data format. “Change the LOOK”</a:t>
            </a:r>
            <a:endParaRPr lang="en-US" sz="1135" dirty="0"/>
          </a:p>
        </p:txBody>
      </p:sp>
      <p:sp>
        <p:nvSpPr>
          <p:cNvPr id="15" name="Text 12"/>
          <p:cNvSpPr/>
          <p:nvPr/>
        </p:nvSpPr>
        <p:spPr>
          <a:xfrm>
            <a:off x="619125" y="2853668"/>
            <a:ext cx="3194037" cy="323215"/>
          </a:xfrm>
          <a:prstGeom prst="rect">
            <a:avLst/>
          </a:prstGeom>
          <a:noFill/>
        </p:spPr>
        <p:txBody>
          <a:bodyPr wrap="square" lIns="0" tIns="17001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NOT secret. Anyone can reverse it. Used for compatibility.</a:t>
            </a:r>
            <a:endParaRPr lang="en-US" sz="1000" dirty="0"/>
          </a:p>
        </p:txBody>
      </p:sp>
      <p:sp>
        <p:nvSpPr>
          <p:cNvPr id="16" name="Text 13"/>
          <p:cNvSpPr/>
          <p:nvPr/>
        </p:nvSpPr>
        <p:spPr>
          <a:xfrm>
            <a:off x="619125" y="4750593"/>
            <a:ext cx="3194037" cy="720090"/>
          </a:xfrm>
          <a:prstGeom prst="rect">
            <a:avLst/>
          </a:prstGeom>
          <a:noFill/>
        </p:spPr>
        <p:txBody>
          <a:bodyPr wrap="square" lIns="0" tIns="226737" rIns="0" bIns="340190"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Example:</a:t>
            </a:r>
            <a:r>
              <a:rPr lang="en-US" sz="1000" dirty="0">
                <a:solidFill>
                  <a:srgbClr val="E6EDF3"/>
                </a:solidFill>
                <a:latin typeface="JetBrains Mono Bold" pitchFamily="34" charset="0"/>
                <a:ea typeface="JetBrains Mono Bold" pitchFamily="34" charset="-122"/>
                <a:cs typeface="JetBrains Mono Bold" pitchFamily="34" charset="-120"/>
              </a:rPr>
              <a:t> </a:t>
            </a:r>
            <a:r>
              <a:rPr lang="en-US" sz="935" b="1" dirty="0">
                <a:solidFill>
                  <a:srgbClr val="E6EDF3"/>
                </a:solidFill>
                <a:latin typeface="JetBrains Mono Bold" pitchFamily="34" charset="0"/>
                <a:ea typeface="JetBrains Mono Bold" pitchFamily="34" charset="-122"/>
                <a:cs typeface="JetBrains Mono Bold" pitchFamily="34" charset="-120"/>
              </a:rPr>
              <a:t>Base64</a:t>
            </a:r>
            <a:endParaRPr lang="en-US" sz="1000" dirty="0"/>
          </a:p>
        </p:txBody>
      </p:sp>
      <p:sp>
        <p:nvSpPr>
          <p:cNvPr id="17" name="Shape 14"/>
          <p:cNvSpPr/>
          <p:nvPr/>
        </p:nvSpPr>
        <p:spPr>
          <a:xfrm>
            <a:off x="4241788" y="1735931"/>
            <a:ext cx="3689337" cy="3667125"/>
          </a:xfrm>
          <a:prstGeom prst="rect">
            <a:avLst/>
          </a:prstGeom>
          <a:solidFill>
            <a:srgbClr val="161B22"/>
          </a:solidFill>
        </p:spPr>
      </p:sp>
      <p:sp>
        <p:nvSpPr>
          <p:cNvPr id="18" name="Shape 15"/>
          <p:cNvSpPr/>
          <p:nvPr/>
        </p:nvSpPr>
        <p:spPr>
          <a:xfrm>
            <a:off x="4241788" y="1735931"/>
            <a:ext cx="3689337" cy="38100"/>
          </a:xfrm>
          <a:prstGeom prst="rect">
            <a:avLst/>
          </a:prstGeom>
          <a:solidFill>
            <a:srgbClr val="00FF9C"/>
          </a:solidFill>
        </p:spPr>
      </p:sp>
      <p:sp>
        <p:nvSpPr>
          <p:cNvPr id="19" name="Shape 16"/>
          <p:cNvSpPr/>
          <p:nvPr/>
        </p:nvSpPr>
        <p:spPr>
          <a:xfrm>
            <a:off x="7921600" y="1735931"/>
            <a:ext cx="9525" cy="3667125"/>
          </a:xfrm>
          <a:prstGeom prst="rect">
            <a:avLst/>
          </a:prstGeom>
          <a:solidFill>
            <a:srgbClr val="161B22"/>
          </a:solidFill>
        </p:spPr>
      </p:sp>
      <p:sp>
        <p:nvSpPr>
          <p:cNvPr id="20" name="Shape 17"/>
          <p:cNvSpPr/>
          <p:nvPr/>
        </p:nvSpPr>
        <p:spPr>
          <a:xfrm>
            <a:off x="4241788" y="5393531"/>
            <a:ext cx="3689337" cy="9525"/>
          </a:xfrm>
          <a:prstGeom prst="rect">
            <a:avLst/>
          </a:prstGeom>
          <a:solidFill>
            <a:srgbClr val="161B22"/>
          </a:solidFill>
        </p:spPr>
      </p:sp>
      <p:sp>
        <p:nvSpPr>
          <p:cNvPr id="21" name="Shape 18"/>
          <p:cNvSpPr/>
          <p:nvPr/>
        </p:nvSpPr>
        <p:spPr>
          <a:xfrm>
            <a:off x="4241788" y="1735931"/>
            <a:ext cx="9525" cy="3667125"/>
          </a:xfrm>
          <a:prstGeom prst="rect">
            <a:avLst/>
          </a:prstGeom>
          <a:solidFill>
            <a:srgbClr val="161B22"/>
          </a:solidFill>
        </p:spPr>
      </p:sp>
      <p:sp>
        <p:nvSpPr>
          <p:cNvPr id="22" name="Text 19"/>
          <p:cNvSpPr/>
          <p:nvPr/>
        </p:nvSpPr>
        <p:spPr>
          <a:xfrm>
            <a:off x="4486275" y="2021681"/>
            <a:ext cx="3200400" cy="245745"/>
          </a:xfrm>
          <a:prstGeom prst="rect">
            <a:avLst/>
          </a:prstGeom>
          <a:noFill/>
        </p:spPr>
        <p:txBody>
          <a:bodyPr wrap="square" lIns="0" tIns="0" rIns="0" bIns="0" rtlCol="0" anchor="t">
            <a:spAutoFit/>
          </a:bodyPr>
          <a:lstStyle/>
          <a:p>
            <a:pPr marL="0" indent="0" algn="l">
              <a:buNone/>
            </a:pPr>
            <a:r>
              <a:rPr lang="en-US" sz="1600" b="1" dirty="0">
                <a:solidFill>
                  <a:srgbClr val="00FF9C"/>
                </a:solidFill>
                <a:latin typeface="JetBrains Mono Bold" pitchFamily="34" charset="0"/>
                <a:ea typeface="JetBrains Mono Bold" pitchFamily="34" charset="-122"/>
                <a:cs typeface="JetBrains Mono Bold" pitchFamily="34" charset="-120"/>
              </a:rPr>
              <a:t>ENCRYPTION</a:t>
            </a:r>
            <a:endParaRPr lang="en-US" sz="1600" dirty="0"/>
          </a:p>
        </p:txBody>
      </p:sp>
      <p:sp>
        <p:nvSpPr>
          <p:cNvPr id="23" name="Text 20"/>
          <p:cNvSpPr/>
          <p:nvPr/>
        </p:nvSpPr>
        <p:spPr>
          <a:xfrm>
            <a:off x="4486275" y="2514600"/>
            <a:ext cx="3343275" cy="337185"/>
          </a:xfrm>
          <a:prstGeom prst="rect">
            <a:avLst/>
          </a:prstGeom>
          <a:noFill/>
        </p:spPr>
        <p:txBody>
          <a:bodyPr wrap="square" lIns="0" tIns="113453" rIns="0" bIns="0" rtlCol="0" anchor="t">
            <a:spAutoFit/>
          </a:bodyPr>
          <a:lstStyle/>
          <a:p>
            <a:pPr marL="0" indent="0" algn="l">
              <a:lnSpc>
                <a:spcPct val="128000"/>
              </a:lnSpc>
              <a:buNone/>
            </a:pPr>
            <a:r>
              <a:rPr lang="en-US" sz="1135" dirty="0">
                <a:solidFill>
                  <a:srgbClr val="E6EDF3"/>
                </a:solidFill>
                <a:latin typeface="Inter" pitchFamily="34" charset="0"/>
                <a:ea typeface="Inter" pitchFamily="34" charset="-122"/>
                <a:cs typeface="Inter" pitchFamily="34" charset="-120"/>
              </a:rPr>
              <a:t>Scrambling data WITH a key. “Lock the DATA”</a:t>
            </a:r>
            <a:endParaRPr lang="en-US" sz="1135" dirty="0"/>
          </a:p>
        </p:txBody>
      </p:sp>
      <p:sp>
        <p:nvSpPr>
          <p:cNvPr id="24" name="Text 21"/>
          <p:cNvSpPr/>
          <p:nvPr/>
        </p:nvSpPr>
        <p:spPr>
          <a:xfrm>
            <a:off x="4486275" y="2853668"/>
            <a:ext cx="3200400" cy="476885"/>
          </a:xfrm>
          <a:prstGeom prst="rect">
            <a:avLst/>
          </a:prstGeom>
          <a:noFill/>
        </p:spPr>
        <p:txBody>
          <a:bodyPr wrap="square" lIns="0" tIns="17001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Secret. Only the key-holder can reverse it. Used for privacy.</a:t>
            </a:r>
            <a:endParaRPr lang="en-US" sz="1000" dirty="0"/>
          </a:p>
        </p:txBody>
      </p:sp>
      <p:sp>
        <p:nvSpPr>
          <p:cNvPr id="25" name="Text 22"/>
          <p:cNvSpPr/>
          <p:nvPr/>
        </p:nvSpPr>
        <p:spPr>
          <a:xfrm>
            <a:off x="4486275" y="4750593"/>
            <a:ext cx="3200400" cy="720090"/>
          </a:xfrm>
          <a:prstGeom prst="rect">
            <a:avLst/>
          </a:prstGeom>
          <a:noFill/>
        </p:spPr>
        <p:txBody>
          <a:bodyPr wrap="square" lIns="0" tIns="226737" rIns="0" bIns="340190"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Example:</a:t>
            </a:r>
            <a:r>
              <a:rPr lang="en-US" sz="1000" dirty="0">
                <a:solidFill>
                  <a:srgbClr val="E6EDF3"/>
                </a:solidFill>
                <a:latin typeface="JetBrains Mono Bold" pitchFamily="34" charset="0"/>
                <a:ea typeface="JetBrains Mono Bold" pitchFamily="34" charset="-122"/>
                <a:cs typeface="JetBrains Mono Bold" pitchFamily="34" charset="-120"/>
              </a:rPr>
              <a:t> </a:t>
            </a:r>
            <a:r>
              <a:rPr lang="en-US" sz="935" b="1" dirty="0">
                <a:solidFill>
                  <a:srgbClr val="E6EDF3"/>
                </a:solidFill>
                <a:latin typeface="JetBrains Mono Bold" pitchFamily="34" charset="0"/>
                <a:ea typeface="JetBrains Mono Bold" pitchFamily="34" charset="-122"/>
                <a:cs typeface="JetBrains Mono Bold" pitchFamily="34" charset="-120"/>
              </a:rPr>
              <a:t>AES</a:t>
            </a:r>
            <a:endParaRPr lang="en-US" sz="1000" dirty="0"/>
          </a:p>
        </p:txBody>
      </p:sp>
      <p:sp>
        <p:nvSpPr>
          <p:cNvPr id="26" name="Shape 23"/>
          <p:cNvSpPr/>
          <p:nvPr/>
        </p:nvSpPr>
        <p:spPr>
          <a:xfrm>
            <a:off x="8115300" y="1735931"/>
            <a:ext cx="3695700" cy="3667125"/>
          </a:xfrm>
          <a:prstGeom prst="rect">
            <a:avLst/>
          </a:prstGeom>
          <a:solidFill>
            <a:srgbClr val="161B22"/>
          </a:solidFill>
        </p:spPr>
      </p:sp>
      <p:sp>
        <p:nvSpPr>
          <p:cNvPr id="27" name="Shape 24"/>
          <p:cNvSpPr/>
          <p:nvPr/>
        </p:nvSpPr>
        <p:spPr>
          <a:xfrm>
            <a:off x="8115300" y="1735931"/>
            <a:ext cx="3695700" cy="38100"/>
          </a:xfrm>
          <a:prstGeom prst="rect">
            <a:avLst/>
          </a:prstGeom>
          <a:solidFill>
            <a:srgbClr val="FF6B6B"/>
          </a:solidFill>
        </p:spPr>
      </p:sp>
      <p:sp>
        <p:nvSpPr>
          <p:cNvPr id="28" name="Shape 25"/>
          <p:cNvSpPr/>
          <p:nvPr/>
        </p:nvSpPr>
        <p:spPr>
          <a:xfrm>
            <a:off x="11801475" y="1735931"/>
            <a:ext cx="9525" cy="3667125"/>
          </a:xfrm>
          <a:prstGeom prst="rect">
            <a:avLst/>
          </a:prstGeom>
          <a:solidFill>
            <a:srgbClr val="161B22"/>
          </a:solidFill>
        </p:spPr>
      </p:sp>
      <p:sp>
        <p:nvSpPr>
          <p:cNvPr id="29" name="Shape 26"/>
          <p:cNvSpPr/>
          <p:nvPr/>
        </p:nvSpPr>
        <p:spPr>
          <a:xfrm>
            <a:off x="8115300" y="5393531"/>
            <a:ext cx="3695700" cy="9525"/>
          </a:xfrm>
          <a:prstGeom prst="rect">
            <a:avLst/>
          </a:prstGeom>
          <a:solidFill>
            <a:srgbClr val="161B22"/>
          </a:solidFill>
        </p:spPr>
      </p:sp>
      <p:sp>
        <p:nvSpPr>
          <p:cNvPr id="30" name="Shape 27"/>
          <p:cNvSpPr/>
          <p:nvPr/>
        </p:nvSpPr>
        <p:spPr>
          <a:xfrm>
            <a:off x="8115300" y="1735931"/>
            <a:ext cx="9525" cy="3667125"/>
          </a:xfrm>
          <a:prstGeom prst="rect">
            <a:avLst/>
          </a:prstGeom>
          <a:solidFill>
            <a:srgbClr val="161B22"/>
          </a:solidFill>
        </p:spPr>
      </p:sp>
      <p:sp>
        <p:nvSpPr>
          <p:cNvPr id="31" name="Text 28"/>
          <p:cNvSpPr/>
          <p:nvPr/>
        </p:nvSpPr>
        <p:spPr>
          <a:xfrm>
            <a:off x="8366149" y="2021681"/>
            <a:ext cx="3206763" cy="245745"/>
          </a:xfrm>
          <a:prstGeom prst="rect">
            <a:avLst/>
          </a:prstGeom>
          <a:noFill/>
        </p:spPr>
        <p:txBody>
          <a:bodyPr wrap="square" lIns="0" tIns="0" rIns="0" bIns="0" rtlCol="0" anchor="t">
            <a:spAutoFit/>
          </a:bodyPr>
          <a:lstStyle/>
          <a:p>
            <a:pPr marL="0" indent="0" algn="l">
              <a:buNone/>
            </a:pPr>
            <a:r>
              <a:rPr lang="en-US" sz="1600" b="1" dirty="0">
                <a:solidFill>
                  <a:srgbClr val="FF6B6B"/>
                </a:solidFill>
                <a:latin typeface="JetBrains Mono Bold" pitchFamily="34" charset="0"/>
                <a:ea typeface="JetBrains Mono Bold" pitchFamily="34" charset="-122"/>
                <a:cs typeface="JetBrains Mono Bold" pitchFamily="34" charset="-120"/>
              </a:rPr>
              <a:t>HASHING</a:t>
            </a:r>
            <a:endParaRPr lang="en-US" sz="1600" dirty="0"/>
          </a:p>
        </p:txBody>
      </p:sp>
      <p:sp>
        <p:nvSpPr>
          <p:cNvPr id="32" name="Text 29"/>
          <p:cNvSpPr/>
          <p:nvPr/>
        </p:nvSpPr>
        <p:spPr>
          <a:xfrm>
            <a:off x="8366149" y="2514600"/>
            <a:ext cx="1312545" cy="337185"/>
          </a:xfrm>
          <a:prstGeom prst="rect">
            <a:avLst/>
          </a:prstGeom>
          <a:noFill/>
        </p:spPr>
        <p:txBody>
          <a:bodyPr wrap="none" lIns="0" tIns="113453" rIns="0" bIns="0" rtlCol="0" anchor="t">
            <a:spAutoFit/>
          </a:bodyPr>
          <a:lstStyle/>
          <a:p>
            <a:pPr marL="0" indent="0" algn="l">
              <a:lnSpc>
                <a:spcPct val="128000"/>
              </a:lnSpc>
              <a:buNone/>
            </a:pPr>
            <a:r>
              <a:rPr lang="en-US" sz="1135" dirty="0">
                <a:solidFill>
                  <a:srgbClr val="E6EDF3"/>
                </a:solidFill>
                <a:latin typeface="Inter" pitchFamily="34" charset="0"/>
                <a:ea typeface="Inter" pitchFamily="34" charset="-122"/>
                <a:cs typeface="Inter" pitchFamily="34" charset="-120"/>
              </a:rPr>
              <a:t>One-way fingerprint.</a:t>
            </a:r>
            <a:endParaRPr lang="en-US" sz="1135" dirty="0"/>
          </a:p>
        </p:txBody>
      </p:sp>
      <p:sp>
        <p:nvSpPr>
          <p:cNvPr id="33" name="Text 30"/>
          <p:cNvSpPr/>
          <p:nvPr/>
        </p:nvSpPr>
        <p:spPr>
          <a:xfrm>
            <a:off x="8366149" y="2853668"/>
            <a:ext cx="3206763" cy="476885"/>
          </a:xfrm>
          <a:prstGeom prst="rect">
            <a:avLst/>
          </a:prstGeom>
          <a:noFill/>
        </p:spPr>
        <p:txBody>
          <a:bodyPr wrap="square" lIns="0" tIns="17001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Cannot be reversed. Even a tiny change breaks the hash. Used for integrity.</a:t>
            </a:r>
            <a:endParaRPr lang="en-US" sz="1000" dirty="0"/>
          </a:p>
        </p:txBody>
      </p:sp>
      <p:sp>
        <p:nvSpPr>
          <p:cNvPr id="34" name="Text 31"/>
          <p:cNvSpPr/>
          <p:nvPr/>
        </p:nvSpPr>
        <p:spPr>
          <a:xfrm>
            <a:off x="8366149" y="4702969"/>
            <a:ext cx="3206763" cy="720090"/>
          </a:xfrm>
          <a:prstGeom prst="rect">
            <a:avLst/>
          </a:prstGeom>
          <a:noFill/>
        </p:spPr>
        <p:txBody>
          <a:bodyPr wrap="square" lIns="0" tIns="226737" rIns="0" bIns="340190"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Example:</a:t>
            </a:r>
            <a:r>
              <a:rPr lang="en-US" sz="1000" dirty="0">
                <a:solidFill>
                  <a:srgbClr val="E6EDF3"/>
                </a:solidFill>
                <a:latin typeface="JetBrains Mono Bold" pitchFamily="34" charset="0"/>
                <a:ea typeface="JetBrains Mono Bold" pitchFamily="34" charset="-122"/>
                <a:cs typeface="JetBrains Mono Bold" pitchFamily="34" charset="-120"/>
              </a:rPr>
              <a:t> </a:t>
            </a:r>
            <a:r>
              <a:rPr lang="en-US" sz="935" b="1" dirty="0">
                <a:solidFill>
                  <a:srgbClr val="E6EDF3"/>
                </a:solidFill>
                <a:latin typeface="JetBrains Mono Bold" pitchFamily="34" charset="0"/>
                <a:ea typeface="JetBrains Mono Bold" pitchFamily="34" charset="-122"/>
                <a:cs typeface="JetBrains Mono Bold" pitchFamily="34" charset="-120"/>
              </a:rPr>
              <a:t>MD5 / SHA-256</a:t>
            </a:r>
            <a:endParaRPr lang="en-US" sz="1000" dirty="0"/>
          </a:p>
        </p:txBody>
      </p:sp>
      <p:sp>
        <p:nvSpPr>
          <p:cNvPr id="35" name="Shape 32"/>
          <p:cNvSpPr/>
          <p:nvPr/>
        </p:nvSpPr>
        <p:spPr>
          <a:xfrm>
            <a:off x="381000" y="5850731"/>
            <a:ext cx="11430000" cy="626269"/>
          </a:xfrm>
          <a:prstGeom prst="rect">
            <a:avLst/>
          </a:prstGeom>
          <a:solidFill>
            <a:srgbClr val="E3B341">
              <a:alpha val="10000"/>
            </a:srgbClr>
          </a:solidFill>
          <a:ln w="9144">
            <a:solidFill>
              <a:srgbClr val="E3B341"/>
            </a:solidFill>
            <a:prstDash val="solid"/>
          </a:ln>
        </p:spPr>
      </p:sp>
      <p:sp>
        <p:nvSpPr>
          <p:cNvPr id="36" name="Text 33"/>
          <p:cNvSpPr/>
          <p:nvPr/>
        </p:nvSpPr>
        <p:spPr>
          <a:xfrm>
            <a:off x="381000" y="5850731"/>
            <a:ext cx="11430000" cy="637540"/>
          </a:xfrm>
          <a:prstGeom prst="rect">
            <a:avLst/>
          </a:prstGeom>
          <a:noFill/>
        </p:spPr>
        <p:txBody>
          <a:bodyPr wrap="square" lIns="226737" tIns="226737" rIns="226737" bIns="226737" rtlCol="0" anchor="t">
            <a:spAutoFit/>
          </a:bodyPr>
          <a:lstStyle/>
          <a:p>
            <a:pPr marL="0" indent="0" algn="ctr">
              <a:buNone/>
            </a:pPr>
            <a:r>
              <a:rPr lang="en-US" sz="1200" b="1" dirty="0">
                <a:solidFill>
                  <a:srgbClr val="E3B341"/>
                </a:solidFill>
                <a:latin typeface="JetBrains Mono Bold" pitchFamily="34" charset="0"/>
                <a:ea typeface="JetBrains Mono Bold" pitchFamily="34" charset="-122"/>
                <a:cs typeface="JetBrains Mono Bold" pitchFamily="34" charset="-120"/>
              </a:rPr>
              <a:t>"Mixing these up is the #1 beginner mistake in CTFs."</a:t>
            </a:r>
            <a:endParaRPr lang="en-US" sz="1200" dirty="0"/>
          </a:p>
        </p:txBody>
      </p:sp>
      <p:grpSp>
        <p:nvGrpSpPr>
          <p:cNvPr id="37" name="Group 2"/>
          <p:cNvGrpSpPr/>
          <p:nvPr/>
        </p:nvGrpSpPr>
        <p:grpSpPr>
          <a:xfrm rot="0">
            <a:off x="294640" y="194310"/>
            <a:ext cx="789305" cy="299720"/>
            <a:chOff x="0" y="0"/>
            <a:chExt cx="341337" cy="102463"/>
          </a:xfrm>
        </p:grpSpPr>
        <p:sp>
          <p:nvSpPr>
            <p:cNvPr id="38"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39"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0" name="Group 5"/>
          <p:cNvGrpSpPr/>
          <p:nvPr/>
        </p:nvGrpSpPr>
        <p:grpSpPr>
          <a:xfrm rot="0">
            <a:off x="822325" y="209550"/>
            <a:ext cx="220980" cy="246380"/>
            <a:chOff x="0" y="0"/>
            <a:chExt cx="812800" cy="812800"/>
          </a:xfrm>
        </p:grpSpPr>
        <p:sp>
          <p:nvSpPr>
            <p:cNvPr id="41"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9"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50"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51"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52"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525" y="-1016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8" name="Text 4"/>
          <p:cNvSpPr/>
          <p:nvPr/>
        </p:nvSpPr>
        <p:spPr>
          <a:xfrm>
            <a:off x="762000" y="3272790"/>
            <a:ext cx="4589301" cy="595630"/>
          </a:xfrm>
          <a:prstGeom prst="rect">
            <a:avLst/>
          </a:prstGeom>
          <a:noFill/>
        </p:spPr>
        <p:txBody>
          <a:bodyPr wrap="square" lIns="0" tIns="0" rIns="0" bIns="0" rtlCol="0" anchor="t">
            <a:spAutoFit/>
          </a:bodyPr>
          <a:lstStyle/>
          <a:p>
            <a:pPr marL="0" indent="0" algn="l">
              <a:lnSpc>
                <a:spcPct val="88000"/>
              </a:lnSpc>
              <a:buNone/>
            </a:pPr>
            <a:r>
              <a:rPr lang="en-US" sz="4400" b="1" dirty="0">
                <a:solidFill>
                  <a:srgbClr val="00FF9C"/>
                </a:solidFill>
                <a:latin typeface="Poppins ExtraBold" pitchFamily="34" charset="0"/>
                <a:ea typeface="Poppins ExtraBold" pitchFamily="34" charset="-122"/>
                <a:cs typeface="Poppins ExtraBold" pitchFamily="34" charset="-120"/>
              </a:rPr>
              <a:t>Tanjim M. Tuhin</a:t>
            </a:r>
            <a:endParaRPr lang="en-US" sz="4400" dirty="0"/>
          </a:p>
        </p:txBody>
      </p:sp>
      <p:sp>
        <p:nvSpPr>
          <p:cNvPr id="9" name="Text 5"/>
          <p:cNvSpPr/>
          <p:nvPr/>
        </p:nvSpPr>
        <p:spPr>
          <a:xfrm>
            <a:off x="762000" y="4198591"/>
            <a:ext cx="4589301" cy="255905"/>
          </a:xfrm>
          <a:prstGeom prst="rect">
            <a:avLst/>
          </a:prstGeom>
          <a:noFill/>
        </p:spPr>
        <p:txBody>
          <a:bodyPr wrap="square" lIns="0" tIns="0" rIns="0" bIns="0" rtlCol="0" anchor="t">
            <a:spAutoFit/>
          </a:bodyPr>
          <a:lstStyle/>
          <a:p>
            <a:pPr marL="0" indent="0" algn="l">
              <a:buNone/>
            </a:pPr>
            <a:r>
              <a:rPr lang="en-US" sz="1665" dirty="0">
                <a:solidFill>
                  <a:srgbClr val="58A6FF"/>
                </a:solidFill>
                <a:latin typeface="Poppins SemiBold" pitchFamily="34" charset="0"/>
                <a:ea typeface="Poppins SemiBold" pitchFamily="34" charset="-122"/>
                <a:cs typeface="Poppins SemiBold" pitchFamily="34" charset="-120"/>
              </a:rPr>
              <a:t>Researcher @ Hidden Investigation</a:t>
            </a:r>
            <a:endParaRPr lang="en-US" sz="1665" dirty="0"/>
          </a:p>
        </p:txBody>
      </p:sp>
      <p:sp>
        <p:nvSpPr>
          <p:cNvPr id="10" name="Shape 6"/>
          <p:cNvSpPr/>
          <p:nvPr/>
        </p:nvSpPr>
        <p:spPr>
          <a:xfrm>
            <a:off x="762000" y="4829621"/>
            <a:ext cx="3690937" cy="321469"/>
          </a:xfrm>
          <a:prstGeom prst="rect">
            <a:avLst/>
          </a:prstGeom>
          <a:solidFill>
            <a:srgbClr val="58A6FF">
              <a:alpha val="10000"/>
            </a:srgbClr>
          </a:solidFill>
          <a:ln w="9144">
            <a:solidFill>
              <a:srgbClr val="58A6FF"/>
            </a:solidFill>
            <a:prstDash val="solid"/>
          </a:ln>
        </p:spPr>
      </p:sp>
      <p:sp>
        <p:nvSpPr>
          <p:cNvPr id="11" name="Text 7"/>
          <p:cNvSpPr/>
          <p:nvPr/>
        </p:nvSpPr>
        <p:spPr>
          <a:xfrm>
            <a:off x="762000" y="4829621"/>
            <a:ext cx="3690937" cy="307340"/>
          </a:xfrm>
          <a:prstGeom prst="rect">
            <a:avLst/>
          </a:prstGeom>
          <a:noFill/>
        </p:spPr>
        <p:txBody>
          <a:bodyPr wrap="square" lIns="170010" tIns="56726" rIns="170010" bIns="56726" rtlCol="0" anchor="t">
            <a:spAutoFit/>
          </a:bodyPr>
          <a:lstStyle/>
          <a:p>
            <a:pPr marL="0" indent="0" algn="l">
              <a:buNone/>
            </a:pPr>
            <a:r>
              <a:rPr lang="en-US" sz="1265" dirty="0">
                <a:solidFill>
                  <a:srgbClr val="E6EDF3"/>
                </a:solidFill>
                <a:latin typeface="Inter" pitchFamily="34" charset="0"/>
                <a:ea typeface="Inter" pitchFamily="34" charset="-122"/>
                <a:cs typeface="Inter" pitchFamily="34" charset="-120"/>
              </a:rPr>
              <a:t>Class Conducted by: Hidden Investigation</a:t>
            </a:r>
            <a:endParaRPr lang="en-US" sz="1265" dirty="0"/>
          </a:p>
        </p:txBody>
      </p:sp>
      <p:pic>
        <p:nvPicPr>
          <p:cNvPr id="12" name="Image 2" descr="preencoded.png"/>
          <p:cNvPicPr>
            <a:picLocks noChangeAspect="1"/>
          </p:cNvPicPr>
          <p:nvPr/>
        </p:nvPicPr>
        <p:blipFill>
          <a:blip r:embed="rId2"/>
          <a:stretch>
            <a:fillRect/>
          </a:stretch>
        </p:blipFill>
        <p:spPr>
          <a:xfrm>
            <a:off x="762000" y="6075760"/>
            <a:ext cx="166688" cy="190500"/>
          </a:xfrm>
          <a:prstGeom prst="rect">
            <a:avLst/>
          </a:prstGeom>
        </p:spPr>
      </p:pic>
      <p:sp>
        <p:nvSpPr>
          <p:cNvPr id="13" name="Text 8"/>
          <p:cNvSpPr/>
          <p:nvPr/>
        </p:nvSpPr>
        <p:spPr>
          <a:xfrm>
            <a:off x="1071563" y="6055519"/>
            <a:ext cx="1015365" cy="215265"/>
          </a:xfrm>
          <a:prstGeom prst="rect">
            <a:avLst/>
          </a:prstGeom>
          <a:noFill/>
        </p:spPr>
        <p:txBody>
          <a:bodyPr wrap="none" lIns="0" tIns="0" rIns="0" bIns="0" rtlCol="0" anchor="t">
            <a:spAutoFit/>
          </a:bodyPr>
          <a:lstStyle/>
          <a:p>
            <a:pPr marL="0" indent="0" algn="l">
              <a:buNone/>
            </a:pPr>
            <a:r>
              <a:rPr lang="en-US" sz="1400" dirty="0">
                <a:solidFill>
                  <a:srgbClr val="58A6FF"/>
                </a:solidFill>
                <a:latin typeface="Inter" pitchFamily="34" charset="0"/>
                <a:ea typeface="Inter" pitchFamily="34" charset="-122"/>
                <a:cs typeface="Inter" pitchFamily="34" charset="-120"/>
              </a:rPr>
              <a:t>Tanjim Tuhin</a:t>
            </a:r>
            <a:endParaRPr lang="en-US" sz="1400" dirty="0"/>
          </a:p>
        </p:txBody>
      </p:sp>
      <p:sp>
        <p:nvSpPr>
          <p:cNvPr id="14" name="Shape 9"/>
          <p:cNvSpPr/>
          <p:nvPr/>
        </p:nvSpPr>
        <p:spPr>
          <a:xfrm>
            <a:off x="5922801" y="1143000"/>
            <a:ext cx="5507199" cy="1482031"/>
          </a:xfrm>
          <a:prstGeom prst="rect">
            <a:avLst/>
          </a:prstGeom>
          <a:solidFill>
            <a:srgbClr val="161B22"/>
          </a:solidFill>
          <a:ln w="9144">
            <a:solidFill>
              <a:srgbClr val="30363D"/>
            </a:solidFill>
            <a:prstDash val="solid"/>
          </a:ln>
        </p:spPr>
      </p:sp>
      <p:sp>
        <p:nvSpPr>
          <p:cNvPr id="15" name="Text 10"/>
          <p:cNvSpPr/>
          <p:nvPr/>
        </p:nvSpPr>
        <p:spPr>
          <a:xfrm>
            <a:off x="6303801" y="1381125"/>
            <a:ext cx="2726531" cy="194310"/>
          </a:xfrm>
          <a:prstGeom prst="rect">
            <a:avLst/>
          </a:prstGeom>
          <a:noFill/>
        </p:spPr>
        <p:txBody>
          <a:bodyPr wrap="square" lIns="0" tIns="0" rIns="0" bIns="0" rtlCol="0" anchor="t">
            <a:spAutoFit/>
          </a:bodyPr>
          <a:lstStyle/>
          <a:p>
            <a:pPr marL="0" indent="0" algn="l">
              <a:buNone/>
            </a:pPr>
            <a:r>
              <a:rPr lang="en-US" sz="1265" kern="0" spc="2" dirty="0">
                <a:solidFill>
                  <a:srgbClr val="8B949E"/>
                </a:solidFill>
                <a:latin typeface="Poppins SemiBold" pitchFamily="34" charset="0"/>
                <a:ea typeface="Poppins SemiBold" pitchFamily="34" charset="-122"/>
                <a:cs typeface="Poppins SemiBold" pitchFamily="34" charset="-120"/>
              </a:rPr>
              <a:t>PROFESSIONAL EXPERIENCE</a:t>
            </a:r>
            <a:endParaRPr lang="en-US" sz="1265" dirty="0"/>
          </a:p>
        </p:txBody>
      </p:sp>
      <p:sp>
        <p:nvSpPr>
          <p:cNvPr id="16" name="Text 11"/>
          <p:cNvSpPr/>
          <p:nvPr/>
        </p:nvSpPr>
        <p:spPr>
          <a:xfrm>
            <a:off x="6208551" y="1781175"/>
            <a:ext cx="4935699" cy="483235"/>
          </a:xfrm>
          <a:prstGeom prst="rect">
            <a:avLst/>
          </a:prstGeom>
          <a:noFill/>
        </p:spPr>
        <p:txBody>
          <a:bodyPr wrap="square" lIns="0" tIns="0" rIns="0" bIns="0" rtlCol="0" anchor="t">
            <a:spAutoFit/>
          </a:bodyPr>
          <a:lstStyle/>
          <a:p>
            <a:pPr marL="0" indent="0" algn="l">
              <a:lnSpc>
                <a:spcPct val="112000"/>
              </a:lnSpc>
              <a:buNone/>
            </a:pPr>
            <a:r>
              <a:rPr lang="en-US" sz="1535" dirty="0">
                <a:solidFill>
                  <a:srgbClr val="E6EDF3"/>
                </a:solidFill>
                <a:latin typeface="Inter" pitchFamily="34" charset="0"/>
                <a:ea typeface="Inter" pitchFamily="34" charset="-122"/>
                <a:cs typeface="Inter" pitchFamily="34" charset="-120"/>
              </a:rPr>
              <a:t>Govt. Project
</a:t>
            </a:r>
            <a:r>
              <a:rPr lang="en-US" sz="1265" dirty="0">
                <a:solidFill>
                  <a:srgbClr val="58A6FF"/>
                </a:solidFill>
                <a:latin typeface="Inter" pitchFamily="34" charset="0"/>
                <a:ea typeface="Inter" pitchFamily="34" charset="-122"/>
                <a:cs typeface="Inter" pitchFamily="34" charset="-120"/>
              </a:rPr>
              <a:t>SOC Analyst &amp; Forensics Investigator</a:t>
            </a:r>
            <a:endParaRPr lang="en-US" sz="1535" dirty="0"/>
          </a:p>
        </p:txBody>
      </p:sp>
      <p:sp>
        <p:nvSpPr>
          <p:cNvPr id="17" name="Shape 12"/>
          <p:cNvSpPr/>
          <p:nvPr/>
        </p:nvSpPr>
        <p:spPr>
          <a:xfrm>
            <a:off x="5922801" y="2891731"/>
            <a:ext cx="5507199" cy="1857375"/>
          </a:xfrm>
          <a:prstGeom prst="rect">
            <a:avLst/>
          </a:prstGeom>
          <a:solidFill>
            <a:srgbClr val="161B22"/>
          </a:solidFill>
          <a:ln w="9144">
            <a:solidFill>
              <a:srgbClr val="30363D"/>
            </a:solidFill>
            <a:prstDash val="solid"/>
          </a:ln>
        </p:spPr>
      </p:sp>
      <p:pic>
        <p:nvPicPr>
          <p:cNvPr id="18" name="Image 3" descr="preencoded.png"/>
          <p:cNvPicPr>
            <a:picLocks noChangeAspect="1"/>
          </p:cNvPicPr>
          <p:nvPr/>
        </p:nvPicPr>
        <p:blipFill>
          <a:blip r:embed="rId3"/>
          <a:stretch>
            <a:fillRect/>
          </a:stretch>
        </p:blipFill>
        <p:spPr>
          <a:xfrm>
            <a:off x="6208551" y="3172717"/>
            <a:ext cx="147637" cy="171451"/>
          </a:xfrm>
          <a:prstGeom prst="rect">
            <a:avLst/>
          </a:prstGeom>
        </p:spPr>
      </p:pic>
      <p:sp>
        <p:nvSpPr>
          <p:cNvPr id="19" name="Text 13"/>
          <p:cNvSpPr/>
          <p:nvPr/>
        </p:nvSpPr>
        <p:spPr>
          <a:xfrm>
            <a:off x="6451439" y="3129856"/>
            <a:ext cx="1163320" cy="194310"/>
          </a:xfrm>
          <a:prstGeom prst="rect">
            <a:avLst/>
          </a:prstGeom>
          <a:noFill/>
        </p:spPr>
        <p:txBody>
          <a:bodyPr wrap="none" lIns="0" tIns="0" rIns="0" bIns="0" rtlCol="0" anchor="t">
            <a:spAutoFit/>
          </a:bodyPr>
          <a:lstStyle/>
          <a:p>
            <a:pPr marL="0" indent="0" algn="l">
              <a:buNone/>
            </a:pPr>
            <a:r>
              <a:rPr lang="en-US" sz="1265" kern="0" spc="2" dirty="0">
                <a:solidFill>
                  <a:srgbClr val="8B949E"/>
                </a:solidFill>
                <a:latin typeface="Poppins SemiBold" pitchFamily="34" charset="0"/>
                <a:ea typeface="Poppins SemiBold" pitchFamily="34" charset="-122"/>
                <a:cs typeface="Poppins SemiBold" pitchFamily="34" charset="-120"/>
              </a:rPr>
              <a:t>CERTIFICATIONS</a:t>
            </a:r>
            <a:endParaRPr lang="en-US" sz="1265" dirty="0"/>
          </a:p>
        </p:txBody>
      </p:sp>
      <p:sp>
        <p:nvSpPr>
          <p:cNvPr id="20" name="Shape 14"/>
          <p:cNvSpPr/>
          <p:nvPr>
            <p:custDataLst>
              <p:tags r:id="rId4"/>
            </p:custDataLst>
          </p:nvPr>
        </p:nvSpPr>
        <p:spPr>
          <a:xfrm>
            <a:off x="6208551" y="3529905"/>
            <a:ext cx="2396393" cy="409575"/>
          </a:xfrm>
          <a:prstGeom prst="rect">
            <a:avLst/>
          </a:prstGeom>
          <a:solidFill>
            <a:srgbClr val="0D1117"/>
          </a:solidFill>
          <a:ln w="9144">
            <a:solidFill>
              <a:srgbClr val="30363D"/>
            </a:solidFill>
            <a:prstDash val="solid"/>
          </a:ln>
        </p:spPr>
      </p:sp>
      <p:sp>
        <p:nvSpPr>
          <p:cNvPr id="21" name="Text 15"/>
          <p:cNvSpPr/>
          <p:nvPr>
            <p:custDataLst>
              <p:tags r:id="rId5"/>
            </p:custDataLst>
          </p:nvPr>
        </p:nvSpPr>
        <p:spPr>
          <a:xfrm>
            <a:off x="6208551" y="3529905"/>
            <a:ext cx="2396393" cy="400685"/>
          </a:xfrm>
          <a:prstGeom prst="rect">
            <a:avLst/>
          </a:prstGeom>
          <a:noFill/>
        </p:spPr>
        <p:txBody>
          <a:bodyPr wrap="square" lIns="170010" tIns="113453" rIns="170010" bIns="113453" rtlCol="0" anchor="t">
            <a:spAutoFit/>
          </a:bodyPr>
          <a:lstStyle/>
          <a:p>
            <a:pPr marL="0" indent="0" algn="ctr">
              <a:buNone/>
            </a:pPr>
            <a:r>
              <a:rPr lang="en-US" sz="1135" dirty="0">
                <a:solidFill>
                  <a:srgbClr val="00FF9C"/>
                </a:solidFill>
                <a:latin typeface="JetBrains Mono Medium" pitchFamily="34" charset="0"/>
                <a:ea typeface="JetBrains Mono Medium" pitchFamily="34" charset="-122"/>
                <a:cs typeface="JetBrains Mono Medium" pitchFamily="34" charset="-120"/>
              </a:rPr>
              <a:t>CEH v13</a:t>
            </a:r>
            <a:endParaRPr lang="en-US" sz="1135" dirty="0"/>
          </a:p>
        </p:txBody>
      </p:sp>
      <p:sp>
        <p:nvSpPr>
          <p:cNvPr id="22" name="Shape 16"/>
          <p:cNvSpPr/>
          <p:nvPr>
            <p:custDataLst>
              <p:tags r:id="rId6"/>
            </p:custDataLst>
          </p:nvPr>
        </p:nvSpPr>
        <p:spPr>
          <a:xfrm>
            <a:off x="8747820" y="3529905"/>
            <a:ext cx="2396431" cy="409575"/>
          </a:xfrm>
          <a:prstGeom prst="rect">
            <a:avLst/>
          </a:prstGeom>
          <a:solidFill>
            <a:srgbClr val="0D1117"/>
          </a:solidFill>
          <a:ln w="9144">
            <a:solidFill>
              <a:srgbClr val="30363D"/>
            </a:solidFill>
            <a:prstDash val="solid"/>
          </a:ln>
        </p:spPr>
      </p:sp>
      <p:sp>
        <p:nvSpPr>
          <p:cNvPr id="23" name="Text 17"/>
          <p:cNvSpPr/>
          <p:nvPr>
            <p:custDataLst>
              <p:tags r:id="rId7"/>
            </p:custDataLst>
          </p:nvPr>
        </p:nvSpPr>
        <p:spPr>
          <a:xfrm>
            <a:off x="8747820" y="3529905"/>
            <a:ext cx="2396431" cy="400685"/>
          </a:xfrm>
          <a:prstGeom prst="rect">
            <a:avLst/>
          </a:prstGeom>
          <a:noFill/>
        </p:spPr>
        <p:txBody>
          <a:bodyPr wrap="square" lIns="170010" tIns="113453" rIns="170010" bIns="113453" rtlCol="0" anchor="t">
            <a:spAutoFit/>
          </a:bodyPr>
          <a:lstStyle/>
          <a:p>
            <a:pPr marL="0" indent="0" algn="ctr">
              <a:buNone/>
            </a:pPr>
            <a:r>
              <a:rPr lang="en-US" sz="1135" dirty="0">
                <a:solidFill>
                  <a:srgbClr val="00FF9C"/>
                </a:solidFill>
                <a:latin typeface="JetBrains Mono Medium" pitchFamily="34" charset="0"/>
                <a:ea typeface="JetBrains Mono Medium" pitchFamily="34" charset="-122"/>
                <a:cs typeface="JetBrains Mono Medium" pitchFamily="34" charset="-120"/>
              </a:rPr>
              <a:t>CHFI v11</a:t>
            </a:r>
            <a:endParaRPr lang="en-US" sz="1135" dirty="0"/>
          </a:p>
        </p:txBody>
      </p:sp>
      <p:sp>
        <p:nvSpPr>
          <p:cNvPr id="24" name="Shape 18"/>
          <p:cNvSpPr/>
          <p:nvPr>
            <p:custDataLst>
              <p:tags r:id="rId8"/>
            </p:custDataLst>
          </p:nvPr>
        </p:nvSpPr>
        <p:spPr>
          <a:xfrm>
            <a:off x="6208551" y="4063305"/>
            <a:ext cx="2396393" cy="409575"/>
          </a:xfrm>
          <a:prstGeom prst="rect">
            <a:avLst/>
          </a:prstGeom>
          <a:solidFill>
            <a:srgbClr val="0D1117"/>
          </a:solidFill>
          <a:ln w="9144">
            <a:solidFill>
              <a:srgbClr val="30363D"/>
            </a:solidFill>
            <a:prstDash val="solid"/>
          </a:ln>
        </p:spPr>
      </p:sp>
      <p:sp>
        <p:nvSpPr>
          <p:cNvPr id="25" name="Text 19"/>
          <p:cNvSpPr/>
          <p:nvPr>
            <p:custDataLst>
              <p:tags r:id="rId9"/>
            </p:custDataLst>
          </p:nvPr>
        </p:nvSpPr>
        <p:spPr>
          <a:xfrm>
            <a:off x="6208551" y="4063305"/>
            <a:ext cx="2396393" cy="400685"/>
          </a:xfrm>
          <a:prstGeom prst="rect">
            <a:avLst/>
          </a:prstGeom>
          <a:noFill/>
        </p:spPr>
        <p:txBody>
          <a:bodyPr wrap="square" lIns="170010" tIns="113453" rIns="170010" bIns="113453" rtlCol="0" anchor="t">
            <a:spAutoFit/>
          </a:bodyPr>
          <a:lstStyle/>
          <a:p>
            <a:pPr marL="0" indent="0" algn="ctr">
              <a:buNone/>
            </a:pPr>
            <a:r>
              <a:rPr lang="en-US" sz="1135" dirty="0">
                <a:solidFill>
                  <a:srgbClr val="00FF9C"/>
                </a:solidFill>
                <a:latin typeface="JetBrains Mono Medium" pitchFamily="34" charset="0"/>
                <a:ea typeface="JetBrains Mono Medium" pitchFamily="34" charset="-122"/>
                <a:cs typeface="JetBrains Mono Medium" pitchFamily="34" charset="-120"/>
              </a:rPr>
              <a:t>CSA</a:t>
            </a:r>
            <a:endParaRPr lang="en-US" sz="1135" dirty="0"/>
          </a:p>
        </p:txBody>
      </p:sp>
      <p:sp>
        <p:nvSpPr>
          <p:cNvPr id="26" name="Shape 20"/>
          <p:cNvSpPr/>
          <p:nvPr>
            <p:custDataLst>
              <p:tags r:id="rId10"/>
            </p:custDataLst>
          </p:nvPr>
        </p:nvSpPr>
        <p:spPr>
          <a:xfrm>
            <a:off x="8747820" y="4063305"/>
            <a:ext cx="2396431" cy="409575"/>
          </a:xfrm>
          <a:prstGeom prst="rect">
            <a:avLst/>
          </a:prstGeom>
          <a:solidFill>
            <a:srgbClr val="0D1117"/>
          </a:solidFill>
          <a:ln w="9144">
            <a:solidFill>
              <a:srgbClr val="30363D"/>
            </a:solidFill>
            <a:prstDash val="solid"/>
          </a:ln>
        </p:spPr>
      </p:sp>
      <p:sp>
        <p:nvSpPr>
          <p:cNvPr id="27" name="Text 21"/>
          <p:cNvSpPr/>
          <p:nvPr>
            <p:custDataLst>
              <p:tags r:id="rId11"/>
            </p:custDataLst>
          </p:nvPr>
        </p:nvSpPr>
        <p:spPr>
          <a:xfrm>
            <a:off x="8747820" y="4063305"/>
            <a:ext cx="2396431" cy="400685"/>
          </a:xfrm>
          <a:prstGeom prst="rect">
            <a:avLst/>
          </a:prstGeom>
          <a:noFill/>
        </p:spPr>
        <p:txBody>
          <a:bodyPr wrap="square" lIns="170010" tIns="113453" rIns="170010" bIns="113453" rtlCol="0" anchor="t">
            <a:spAutoFit/>
          </a:bodyPr>
          <a:lstStyle/>
          <a:p>
            <a:pPr marL="0" indent="0" algn="ctr">
              <a:buNone/>
            </a:pPr>
            <a:r>
              <a:rPr lang="en-US" sz="1135" dirty="0">
                <a:solidFill>
                  <a:srgbClr val="00FF9C"/>
                </a:solidFill>
                <a:latin typeface="JetBrains Mono Medium" pitchFamily="34" charset="0"/>
                <a:ea typeface="JetBrains Mono Medium" pitchFamily="34" charset="-122"/>
                <a:cs typeface="JetBrains Mono Medium" pitchFamily="34" charset="-120"/>
              </a:rPr>
              <a:t>ECIH</a:t>
            </a:r>
            <a:endParaRPr lang="en-US" sz="1135" dirty="0"/>
          </a:p>
        </p:txBody>
      </p:sp>
      <p:sp>
        <p:nvSpPr>
          <p:cNvPr id="28" name="Shape 9"/>
          <p:cNvSpPr/>
          <p:nvPr/>
        </p:nvSpPr>
        <p:spPr>
          <a:xfrm>
            <a:off x="5913276" y="4940935"/>
            <a:ext cx="5507199" cy="1482031"/>
          </a:xfrm>
          <a:prstGeom prst="rect">
            <a:avLst/>
          </a:prstGeom>
          <a:solidFill>
            <a:srgbClr val="161B22"/>
          </a:solidFill>
          <a:ln w="9144">
            <a:solidFill>
              <a:srgbClr val="30363D"/>
            </a:solidFill>
            <a:prstDash val="solid"/>
          </a:ln>
        </p:spPr>
      </p:sp>
      <p:sp>
        <p:nvSpPr>
          <p:cNvPr id="29" name="Text 10"/>
          <p:cNvSpPr/>
          <p:nvPr/>
        </p:nvSpPr>
        <p:spPr>
          <a:xfrm>
            <a:off x="6303801" y="5179060"/>
            <a:ext cx="2726531" cy="194310"/>
          </a:xfrm>
          <a:prstGeom prst="rect">
            <a:avLst/>
          </a:prstGeom>
          <a:noFill/>
        </p:spPr>
        <p:txBody>
          <a:bodyPr wrap="square" lIns="0" tIns="0" rIns="0" bIns="0" rtlCol="0" anchor="t">
            <a:spAutoFit/>
          </a:bodyPr>
          <a:lstStyle/>
          <a:p>
            <a:pPr marL="0" indent="0" algn="l">
              <a:buNone/>
            </a:pPr>
            <a:r>
              <a:rPr lang="en-US" sz="1265" kern="0" spc="2" dirty="0">
                <a:solidFill>
                  <a:srgbClr val="8B949E"/>
                </a:solidFill>
                <a:latin typeface="Poppins SemiBold" pitchFamily="34" charset="0"/>
                <a:ea typeface="Poppins SemiBold" pitchFamily="34" charset="-122"/>
                <a:cs typeface="Poppins SemiBold" pitchFamily="34" charset="-120"/>
              </a:rPr>
              <a:t>Previous EXPERIENCE</a:t>
            </a:r>
            <a:endParaRPr lang="en-US" sz="1265" dirty="0"/>
          </a:p>
        </p:txBody>
      </p:sp>
      <p:sp>
        <p:nvSpPr>
          <p:cNvPr id="30" name="Text 11"/>
          <p:cNvSpPr/>
          <p:nvPr/>
        </p:nvSpPr>
        <p:spPr>
          <a:xfrm>
            <a:off x="6208551" y="5450205"/>
            <a:ext cx="4935699" cy="264795"/>
          </a:xfrm>
          <a:prstGeom prst="rect">
            <a:avLst/>
          </a:prstGeom>
          <a:noFill/>
        </p:spPr>
        <p:txBody>
          <a:bodyPr wrap="square" lIns="0" tIns="0" rIns="0" bIns="0" rtlCol="0" anchor="t">
            <a:spAutoFit/>
          </a:bodyPr>
          <a:lstStyle/>
          <a:p>
            <a:pPr marL="0" indent="0" algn="l">
              <a:lnSpc>
                <a:spcPct val="112000"/>
              </a:lnSpc>
              <a:buNone/>
            </a:pPr>
            <a:r>
              <a:rPr lang="en-US" sz="1535" dirty="0">
                <a:solidFill>
                  <a:srgbClr val="E6EDF3"/>
                </a:solidFill>
                <a:latin typeface="Inter" pitchFamily="34" charset="0"/>
                <a:ea typeface="Inter" pitchFamily="34" charset="-122"/>
                <a:cs typeface="Inter" pitchFamily="34" charset="-120"/>
              </a:rPr>
              <a:t>RedData </a:t>
            </a:r>
            <a:r>
              <a:rPr lang="en-US" sz="1265" dirty="0">
                <a:solidFill>
                  <a:srgbClr val="58A6FF"/>
                </a:solidFill>
                <a:latin typeface="Inter" pitchFamily="34" charset="0"/>
                <a:ea typeface="Inter" pitchFamily="34" charset="-122"/>
                <a:cs typeface="Inter" pitchFamily="34" charset="-120"/>
              </a:rPr>
              <a:t>Network Engineer(RnD)</a:t>
            </a:r>
            <a:endParaRPr lang="en-US" sz="1535" dirty="0"/>
          </a:p>
        </p:txBody>
      </p:sp>
      <p:sp>
        <p:nvSpPr>
          <p:cNvPr id="31" name="Text 11"/>
          <p:cNvSpPr/>
          <p:nvPr/>
        </p:nvSpPr>
        <p:spPr>
          <a:xfrm>
            <a:off x="6208551" y="5715000"/>
            <a:ext cx="4935699" cy="264795"/>
          </a:xfrm>
          <a:prstGeom prst="rect">
            <a:avLst/>
          </a:prstGeom>
          <a:noFill/>
        </p:spPr>
        <p:txBody>
          <a:bodyPr wrap="square" lIns="0" tIns="0" rIns="0" bIns="0" rtlCol="0" anchor="t">
            <a:spAutoFit/>
          </a:bodyPr>
          <a:lstStyle/>
          <a:p>
            <a:pPr marL="0" indent="0" algn="l">
              <a:lnSpc>
                <a:spcPct val="112000"/>
              </a:lnSpc>
              <a:buNone/>
            </a:pPr>
            <a:r>
              <a:rPr lang="en-US" sz="1535" dirty="0">
                <a:solidFill>
                  <a:srgbClr val="E6EDF3"/>
                </a:solidFill>
                <a:latin typeface="Inter" pitchFamily="34" charset="0"/>
                <a:ea typeface="Inter" pitchFamily="34" charset="-122"/>
                <a:cs typeface="Inter" pitchFamily="34" charset="-120"/>
              </a:rPr>
              <a:t>RBD </a:t>
            </a:r>
            <a:r>
              <a:rPr lang="en-US" sz="1265" dirty="0">
                <a:solidFill>
                  <a:srgbClr val="58A6FF"/>
                </a:solidFill>
                <a:latin typeface="Inter" pitchFamily="34" charset="0"/>
                <a:ea typeface="Inter" pitchFamily="34" charset="-122"/>
                <a:cs typeface="Inter" pitchFamily="34" charset="-120"/>
              </a:rPr>
              <a:t>Unity Developer</a:t>
            </a:r>
            <a:endParaRPr lang="en-US" sz="1535" dirty="0"/>
          </a:p>
        </p:txBody>
      </p:sp>
      <p:sp>
        <p:nvSpPr>
          <p:cNvPr id="32" name="Text 11"/>
          <p:cNvSpPr/>
          <p:nvPr/>
        </p:nvSpPr>
        <p:spPr>
          <a:xfrm>
            <a:off x="6208551" y="6002655"/>
            <a:ext cx="4935699" cy="264795"/>
          </a:xfrm>
          <a:prstGeom prst="rect">
            <a:avLst/>
          </a:prstGeom>
          <a:noFill/>
        </p:spPr>
        <p:txBody>
          <a:bodyPr wrap="square" lIns="0" tIns="0" rIns="0" bIns="0" rtlCol="0" anchor="t">
            <a:spAutoFit/>
          </a:bodyPr>
          <a:lstStyle/>
          <a:p>
            <a:pPr marL="0" indent="0" algn="l">
              <a:lnSpc>
                <a:spcPct val="112000"/>
              </a:lnSpc>
              <a:buNone/>
            </a:pPr>
            <a:r>
              <a:rPr lang="en-US" sz="1535" dirty="0">
                <a:solidFill>
                  <a:srgbClr val="E6EDF3"/>
                </a:solidFill>
                <a:latin typeface="Inter" pitchFamily="34" charset="0"/>
                <a:ea typeface="Inter" pitchFamily="34" charset="-122"/>
                <a:cs typeface="Inter" pitchFamily="34" charset="-120"/>
              </a:rPr>
              <a:t>Cybernetics </a:t>
            </a:r>
            <a:r>
              <a:rPr lang="en-US" sz="1265" dirty="0">
                <a:solidFill>
                  <a:srgbClr val="58A6FF"/>
                </a:solidFill>
                <a:latin typeface="Inter" pitchFamily="34" charset="0"/>
                <a:ea typeface="Inter" pitchFamily="34" charset="-122"/>
                <a:cs typeface="Inter" pitchFamily="34" charset="-120"/>
              </a:rPr>
              <a:t>Robotics Engineer(Hardware)</a:t>
            </a:r>
            <a:endParaRPr lang="en-US" sz="153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38125"/>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pic>
        <p:nvPicPr>
          <p:cNvPr id="5" name="Picture 4" descr="Whimsical-Baby-Groot-In-Fairytale-Landscape-64526876-1-removebg-preview"/>
          <p:cNvPicPr>
            <a:picLocks noChangeAspect="1"/>
          </p:cNvPicPr>
          <p:nvPr/>
        </p:nvPicPr>
        <p:blipFill>
          <a:blip r:embed="rId12"/>
          <a:stretch>
            <a:fillRect/>
          </a:stretch>
        </p:blipFill>
        <p:spPr>
          <a:xfrm>
            <a:off x="1283970" y="639445"/>
            <a:ext cx="2646680" cy="2646680"/>
          </a:xfrm>
          <a:prstGeom prst="rect">
            <a:avLst/>
          </a:prstGeom>
        </p:spPr>
      </p:pic>
      <p:sp>
        <p:nvSpPr>
          <p:cNvPr id="33" name="AutoShape 13"/>
          <p:cNvSpPr/>
          <p:nvPr/>
        </p:nvSpPr>
        <p:spPr>
          <a:xfrm>
            <a:off x="411480" y="6507480"/>
            <a:ext cx="11366500" cy="16510"/>
          </a:xfrm>
          <a:prstGeom prst="line">
            <a:avLst/>
          </a:prstGeom>
          <a:ln w="19050" cap="flat">
            <a:solidFill>
              <a:schemeClr val="bg1"/>
            </a:solidFill>
            <a:prstDash val="solid"/>
            <a:headEnd type="none" w="sm" len="sm"/>
            <a:tailEnd type="none" w="sm" len="sm"/>
          </a:ln>
        </p:spPr>
      </p:sp>
      <p:sp>
        <p:nvSpPr>
          <p:cNvPr id="34" name="TextBox 21"/>
          <p:cNvSpPr txBox="1"/>
          <p:nvPr/>
        </p:nvSpPr>
        <p:spPr>
          <a:xfrm>
            <a:off x="4756785" y="645033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10160"/>
            <a:ext cx="12192000" cy="6858000"/>
          </a:xfrm>
          <a:prstGeom prst="rect">
            <a:avLst/>
          </a:prstGeom>
        </p:spPr>
      </p:pic>
      <p:sp>
        <p:nvSpPr>
          <p:cNvPr id="3" name="Shape 0"/>
          <p:cNvSpPr/>
          <p:nvPr/>
        </p:nvSpPr>
        <p:spPr>
          <a:xfrm>
            <a:off x="0" y="0"/>
            <a:ext cx="12192000" cy="476251"/>
          </a:xfrm>
          <a:prstGeom prst="rect">
            <a:avLst/>
          </a:prstGeom>
          <a:solidFill>
            <a:srgbClr val="000000">
              <a:alpha val="0"/>
            </a:srgbClr>
          </a:solidFill>
        </p:spPr>
      </p:sp>
      <p:sp>
        <p:nvSpPr>
          <p:cNvPr id="4" name="Shape 1"/>
          <p:cNvSpPr/>
          <p:nvPr/>
        </p:nvSpPr>
        <p:spPr>
          <a:xfrm>
            <a:off x="0" y="466725"/>
            <a:ext cx="12192000" cy="9525"/>
          </a:xfrm>
          <a:prstGeom prst="rect">
            <a:avLst/>
          </a:prstGeom>
          <a:solidFill>
            <a:srgbClr val="161B22"/>
          </a:solidFill>
        </p:spPr>
      </p:sp>
      <p:sp>
        <p:nvSpPr>
          <p:cNvPr id="6" name="Text 3"/>
          <p:cNvSpPr/>
          <p:nvPr/>
        </p:nvSpPr>
        <p:spPr>
          <a:xfrm>
            <a:off x="10353675" y="150019"/>
            <a:ext cx="113792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SLIDE 06 // EWUCSC</a:t>
            </a:r>
            <a:endParaRPr lang="en-US" sz="1000" dirty="0"/>
          </a:p>
        </p:txBody>
      </p:sp>
      <p:sp>
        <p:nvSpPr>
          <p:cNvPr id="7" name="Text 4"/>
          <p:cNvSpPr/>
          <p:nvPr/>
        </p:nvSpPr>
        <p:spPr>
          <a:xfrm>
            <a:off x="4314825" y="4500033"/>
            <a:ext cx="3562351" cy="1107440"/>
          </a:xfrm>
          <a:prstGeom prst="rect">
            <a:avLst/>
          </a:prstGeom>
          <a:noFill/>
        </p:spPr>
        <p:txBody>
          <a:bodyPr wrap="square" lIns="0" tIns="0" rIns="0" bIns="0" rtlCol="0" anchor="t">
            <a:spAutoFit/>
          </a:bodyPr>
          <a:lstStyle/>
          <a:p>
            <a:pPr marL="0" indent="0" algn="ctr">
              <a:lnSpc>
                <a:spcPct val="120000"/>
              </a:lnSpc>
              <a:buNone/>
            </a:pPr>
            <a:r>
              <a:rPr lang="en-US" sz="1000" dirty="0">
                <a:solidFill>
                  <a:srgbClr val="58A6FF"/>
                </a:solidFill>
                <a:latin typeface="JetBrains Mono Bold" pitchFamily="34" charset="0"/>
                <a:ea typeface="JetBrains Mono Bold" pitchFamily="34" charset="-122"/>
                <a:cs typeface="JetBrains Mono Bold" pitchFamily="34" charset="-120"/>
              </a:rPr>
              <a:t>01001000 01100101 01101100 01101100 01101111</a:t>
            </a:r>
            <a:endParaRPr lang="en-US" sz="1000" dirty="0"/>
          </a:p>
          <a:p>
            <a:pPr marL="0" indent="0" algn="ctr">
              <a:lnSpc>
                <a:spcPct val="120000"/>
              </a:lnSpc>
              <a:buNone/>
            </a:pPr>
            <a:r>
              <a:rPr lang="en-US" sz="1000" dirty="0">
                <a:solidFill>
                  <a:srgbClr val="58A6FF"/>
                </a:solidFill>
                <a:latin typeface="JetBrains Mono Bold" pitchFamily="34" charset="0"/>
                <a:ea typeface="JetBrains Mono Bold" pitchFamily="34" charset="-122"/>
                <a:cs typeface="JetBrains Mono Bold" pitchFamily="34" charset="-120"/>
              </a:rPr>
              <a:t>48 65 6C 6C 6F</a:t>
            </a:r>
            <a:endParaRPr lang="en-US" sz="1000" dirty="0"/>
          </a:p>
          <a:p>
            <a:pPr marL="0" indent="0" algn="ctr">
              <a:lnSpc>
                <a:spcPct val="120000"/>
              </a:lnSpc>
              <a:buNone/>
            </a:pPr>
            <a:r>
              <a:rPr lang="en-US" sz="1000" dirty="0">
                <a:solidFill>
                  <a:srgbClr val="58A6FF"/>
                </a:solidFill>
                <a:latin typeface="JetBrains Mono Bold" pitchFamily="34" charset="0"/>
                <a:ea typeface="JetBrains Mono Bold" pitchFamily="34" charset="-122"/>
                <a:cs typeface="JetBrains Mono Bold" pitchFamily="34" charset="-120"/>
              </a:rPr>
              <a:t>72 101 108 108 111</a:t>
            </a:r>
            <a:endParaRPr lang="en-US" sz="1000" dirty="0"/>
          </a:p>
          <a:p>
            <a:pPr marL="0" indent="0" algn="ctr">
              <a:lnSpc>
                <a:spcPct val="120000"/>
              </a:lnSpc>
              <a:buNone/>
            </a:pPr>
            <a:r>
              <a:rPr lang="en-US" sz="1000" dirty="0">
                <a:solidFill>
                  <a:srgbClr val="58A6FF"/>
                </a:solidFill>
                <a:latin typeface="JetBrains Mono Bold" pitchFamily="34" charset="0"/>
                <a:ea typeface="JetBrains Mono Bold" pitchFamily="34" charset="-122"/>
                <a:cs typeface="JetBrains Mono Bold" pitchFamily="34" charset="-120"/>
              </a:rPr>
              <a:t>01010111 01101111 01110010 01101100 01100100</a:t>
            </a:r>
            <a:endParaRPr lang="en-US" sz="1000" dirty="0"/>
          </a:p>
          <a:p>
            <a:pPr marL="0" indent="0" algn="ctr">
              <a:lnSpc>
                <a:spcPct val="120000"/>
              </a:lnSpc>
              <a:buNone/>
            </a:pPr>
            <a:r>
              <a:rPr lang="en-US" sz="1000" dirty="0">
                <a:solidFill>
                  <a:srgbClr val="58A6FF"/>
                </a:solidFill>
                <a:latin typeface="JetBrains Mono Bold" pitchFamily="34" charset="0"/>
                <a:ea typeface="JetBrains Mono Bold" pitchFamily="34" charset="-122"/>
                <a:cs typeface="JetBrains Mono Bold" pitchFamily="34" charset="-120"/>
              </a:rPr>
              <a:t>57 6F 72 6C 64</a:t>
            </a:r>
            <a:endParaRPr lang="en-US" sz="1000" dirty="0"/>
          </a:p>
          <a:p>
            <a:pPr marL="0" indent="0" algn="ctr">
              <a:lnSpc>
                <a:spcPct val="120000"/>
              </a:lnSpc>
              <a:buNone/>
            </a:pPr>
            <a:r>
              <a:rPr lang="en-US" sz="1000" dirty="0">
                <a:solidFill>
                  <a:srgbClr val="58A6FF"/>
                </a:solidFill>
                <a:latin typeface="JetBrains Mono Bold" pitchFamily="34" charset="0"/>
                <a:ea typeface="JetBrains Mono Bold" pitchFamily="34" charset="-122"/>
                <a:cs typeface="JetBrains Mono Bold" pitchFamily="34" charset="-120"/>
              </a:rPr>
              <a:t>87 111 114 108 100</a:t>
            </a:r>
            <a:endParaRPr lang="en-US" sz="1000" dirty="0"/>
          </a:p>
        </p:txBody>
      </p:sp>
      <p:sp>
        <p:nvSpPr>
          <p:cNvPr id="8" name="Text 5"/>
          <p:cNvSpPr/>
          <p:nvPr/>
        </p:nvSpPr>
        <p:spPr>
          <a:xfrm>
            <a:off x="4405312" y="2203847"/>
            <a:ext cx="3381375" cy="1082675"/>
          </a:xfrm>
          <a:prstGeom prst="rect">
            <a:avLst/>
          </a:prstGeom>
          <a:noFill/>
        </p:spPr>
        <p:txBody>
          <a:bodyPr wrap="none" lIns="0" tIns="0" rIns="0" bIns="0" rtlCol="0" anchor="t">
            <a:spAutoFit/>
          </a:bodyPr>
          <a:lstStyle/>
          <a:p>
            <a:pPr marL="0" indent="0" algn="ctr">
              <a:lnSpc>
                <a:spcPct val="80000"/>
              </a:lnSpc>
              <a:buNone/>
            </a:pPr>
            <a:r>
              <a:rPr lang="en-US" sz="8800" dirty="0">
                <a:solidFill>
                  <a:srgbClr val="00FF9C"/>
                </a:solidFill>
                <a:latin typeface="JetBrains Mono Bold" pitchFamily="34" charset="0"/>
                <a:ea typeface="JetBrains Mono Bold" pitchFamily="34" charset="-122"/>
                <a:cs typeface="JetBrains Mono Bold" pitchFamily="34" charset="-120"/>
              </a:rPr>
              <a:t>PART 1</a:t>
            </a:r>
            <a:endParaRPr lang="en-US" sz="8800" dirty="0"/>
          </a:p>
        </p:txBody>
      </p:sp>
      <p:sp>
        <p:nvSpPr>
          <p:cNvPr id="9" name="Text 6"/>
          <p:cNvSpPr/>
          <p:nvPr/>
        </p:nvSpPr>
        <p:spPr>
          <a:xfrm>
            <a:off x="3912393" y="3346847"/>
            <a:ext cx="4367212" cy="646430"/>
          </a:xfrm>
          <a:prstGeom prst="rect">
            <a:avLst/>
          </a:prstGeom>
          <a:noFill/>
        </p:spPr>
        <p:txBody>
          <a:bodyPr wrap="square" lIns="0" tIns="113453" rIns="0" bIns="0" rtlCol="0" anchor="t">
            <a:spAutoFit/>
          </a:bodyPr>
          <a:lstStyle/>
          <a:p>
            <a:pPr marL="0" indent="0" algn="ctr">
              <a:buNone/>
            </a:pPr>
            <a:r>
              <a:rPr lang="en-US" sz="3465" kern="0" spc="3" dirty="0">
                <a:solidFill>
                  <a:srgbClr val="E6EDF3"/>
                </a:solidFill>
                <a:latin typeface="JetBrains Mono Bold" pitchFamily="34" charset="0"/>
                <a:ea typeface="JetBrains Mono Bold" pitchFamily="34" charset="-122"/>
                <a:cs typeface="JetBrains Mono Bold" pitchFamily="34" charset="-120"/>
              </a:rPr>
              <a:t>NUMBER SYSTEMS</a:t>
            </a:r>
            <a:endParaRPr lang="en-US" sz="3465" dirty="0"/>
          </a:p>
        </p:txBody>
      </p:sp>
      <p:sp>
        <p:nvSpPr>
          <p:cNvPr id="10" name="Text 7"/>
          <p:cNvSpPr/>
          <p:nvPr/>
        </p:nvSpPr>
        <p:spPr>
          <a:xfrm>
            <a:off x="3912447" y="3930227"/>
            <a:ext cx="4367107" cy="255693"/>
          </a:xfrm>
          <a:prstGeom prst="rect">
            <a:avLst/>
          </a:prstGeom>
          <a:noFill/>
        </p:spPr>
        <p:txBody>
          <a:bodyPr wrap="square" lIns="0" tIns="453644" rIns="0" bIns="0" rtlCol="0" anchor="t">
            <a:noAutofit/>
          </a:bodyPr>
          <a:lstStyle/>
          <a:p>
            <a:pPr marL="0" indent="0" algn="ctr">
              <a:buNone/>
            </a:pPr>
            <a:r>
              <a:rPr lang="en-US" sz="1265" dirty="0">
                <a:solidFill>
                  <a:srgbClr val="8B949E"/>
                </a:solidFill>
                <a:latin typeface="JetBrains Mono Bold" pitchFamily="34" charset="0"/>
                <a:ea typeface="JetBrains Mono Bold" pitchFamily="34" charset="-122"/>
                <a:cs typeface="JetBrains Mono Bold" pitchFamily="34" charset="-120"/>
              </a:rPr>
              <a:t>Foundation of everything</a:t>
            </a:r>
            <a:endParaRPr lang="en-US" sz="1265" dirty="0"/>
          </a:p>
        </p:txBody>
      </p:sp>
      <p:grpSp>
        <p:nvGrpSpPr>
          <p:cNvPr id="22" name="Group 2"/>
          <p:cNvGrpSpPr/>
          <p:nvPr/>
        </p:nvGrpSpPr>
        <p:grpSpPr>
          <a:xfrm rot="0">
            <a:off x="294640" y="194310"/>
            <a:ext cx="789305" cy="299720"/>
            <a:chOff x="0" y="0"/>
            <a:chExt cx="341337" cy="102463"/>
          </a:xfrm>
        </p:grpSpPr>
        <p:sp>
          <p:nvSpPr>
            <p:cNvPr id="23"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24"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25" name="Group 5"/>
          <p:cNvGrpSpPr/>
          <p:nvPr/>
        </p:nvGrpSpPr>
        <p:grpSpPr>
          <a:xfrm rot="0">
            <a:off x="822325" y="209550"/>
            <a:ext cx="220980" cy="246380"/>
            <a:chOff x="0" y="0"/>
            <a:chExt cx="812800" cy="812800"/>
          </a:xfrm>
        </p:grpSpPr>
        <p:sp>
          <p:nvSpPr>
            <p:cNvPr id="2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7"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28"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11"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12"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964115"/>
          </a:xfrm>
          <a:prstGeom prst="rect">
            <a:avLst/>
          </a:prstGeom>
        </p:spPr>
      </p:pic>
      <p:sp>
        <p:nvSpPr>
          <p:cNvPr id="3" name="Shape 0"/>
          <p:cNvSpPr/>
          <p:nvPr/>
        </p:nvSpPr>
        <p:spPr>
          <a:xfrm>
            <a:off x="0" y="0"/>
            <a:ext cx="12192000" cy="476251"/>
          </a:xfrm>
          <a:prstGeom prst="rect">
            <a:avLst/>
          </a:prstGeom>
          <a:solidFill>
            <a:srgbClr val="000000">
              <a:alpha val="0"/>
            </a:srgbClr>
          </a:solidFill>
        </p:spPr>
      </p:sp>
      <p:sp>
        <p:nvSpPr>
          <p:cNvPr id="4" name="Shape 1"/>
          <p:cNvSpPr/>
          <p:nvPr/>
        </p:nvSpPr>
        <p:spPr>
          <a:xfrm>
            <a:off x="0" y="466725"/>
            <a:ext cx="12192000" cy="9525"/>
          </a:xfrm>
          <a:prstGeom prst="rect">
            <a:avLst/>
          </a:prstGeom>
          <a:solidFill>
            <a:srgbClr val="161B22"/>
          </a:solidFill>
        </p:spPr>
      </p:sp>
      <p:sp>
        <p:nvSpPr>
          <p:cNvPr id="5" name="Text 2"/>
          <p:cNvSpPr/>
          <p:nvPr/>
        </p:nvSpPr>
        <p:spPr>
          <a:xfrm>
            <a:off x="381000" y="150019"/>
            <a:ext cx="3238500" cy="153670"/>
          </a:xfrm>
          <a:prstGeom prst="rect">
            <a:avLst/>
          </a:prstGeom>
          <a:noFill/>
        </p:spPr>
        <p:txBody>
          <a:bodyPr wrap="square" lIns="0" tIns="0" rIns="0" bIns="0" rtlCol="0" anchor="t">
            <a:spAutoFit/>
          </a:bodyPr>
          <a:lstStyle/>
          <a:p>
            <a:pPr marL="0" indent="0" algn="l">
              <a:buNone/>
            </a:pPr>
            <a:endParaRPr lang="en-US" sz="1000" dirty="0"/>
          </a:p>
        </p:txBody>
      </p:sp>
      <p:sp>
        <p:nvSpPr>
          <p:cNvPr id="6" name="Text 3"/>
          <p:cNvSpPr/>
          <p:nvPr/>
        </p:nvSpPr>
        <p:spPr>
          <a:xfrm>
            <a:off x="10353675" y="150019"/>
            <a:ext cx="113792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SLIDE 07 // EWUCSC</a:t>
            </a:r>
            <a:endParaRPr lang="en-US" sz="1000" dirty="0"/>
          </a:p>
        </p:txBody>
      </p:sp>
      <p:sp>
        <p:nvSpPr>
          <p:cNvPr id="7" name="Text 4"/>
          <p:cNvSpPr/>
          <p:nvPr/>
        </p:nvSpPr>
        <p:spPr>
          <a:xfrm>
            <a:off x="381000" y="857251"/>
            <a:ext cx="11430000" cy="328930"/>
          </a:xfrm>
          <a:prstGeom prst="rect">
            <a:avLst/>
          </a:prstGeom>
          <a:noFill/>
        </p:spPr>
        <p:txBody>
          <a:bodyPr wrap="square" lIns="0" tIns="0" rIns="0" bIns="0" rtlCol="0" anchor="t">
            <a:spAutoFit/>
          </a:bodyPr>
          <a:lstStyle/>
          <a:p>
            <a:pPr marL="0" indent="0" algn="l">
              <a:buNone/>
            </a:pPr>
            <a:r>
              <a:rPr lang="en-US" sz="2135" b="1" dirty="0">
                <a:solidFill>
                  <a:srgbClr val="E6EDF3"/>
                </a:solidFill>
                <a:latin typeface="JetBrains Mono Bold" pitchFamily="34" charset="0"/>
                <a:ea typeface="JetBrains Mono Bold" pitchFamily="34" charset="-122"/>
                <a:cs typeface="JetBrains Mono Bold" pitchFamily="34" charset="-120"/>
              </a:rPr>
              <a:t>WHY DO COMPUTERS USE BINARY?</a:t>
            </a:r>
            <a:endParaRPr lang="en-US" sz="2135" dirty="0"/>
          </a:p>
        </p:txBody>
      </p:sp>
      <p:sp>
        <p:nvSpPr>
          <p:cNvPr id="8" name="Text 5"/>
          <p:cNvSpPr/>
          <p:nvPr/>
        </p:nvSpPr>
        <p:spPr>
          <a:xfrm>
            <a:off x="381000" y="1621631"/>
            <a:ext cx="4699635" cy="249555"/>
          </a:xfrm>
          <a:prstGeom prst="rect">
            <a:avLst/>
          </a:prstGeom>
          <a:noFill/>
        </p:spPr>
        <p:txBody>
          <a:bodyPr wrap="none" lIns="0" tIns="0" rIns="0" bIns="0" rtlCol="0" anchor="t">
            <a:spAutoFit/>
          </a:bodyPr>
          <a:lstStyle/>
          <a:p>
            <a:pPr marL="0" indent="0" algn="l">
              <a:lnSpc>
                <a:spcPct val="128000"/>
              </a:lnSpc>
              <a:buNone/>
            </a:pPr>
            <a:r>
              <a:rPr lang="en-US" sz="1265" dirty="0">
                <a:solidFill>
                  <a:srgbClr val="00FF9C"/>
                </a:solidFill>
                <a:latin typeface="JetBrains Mono Bold" pitchFamily="34" charset="0"/>
                <a:ea typeface="JetBrains Mono Bold" pitchFamily="34" charset="-122"/>
                <a:cs typeface="JetBrains Mono Bold" pitchFamily="34" charset="-120"/>
              </a:rPr>
              <a:t>&gt;</a:t>
            </a:r>
            <a:r>
              <a:rPr lang="en-US" sz="1265" dirty="0">
                <a:solidFill>
                  <a:srgbClr val="8B949E"/>
                </a:solidFill>
                <a:latin typeface="Inter" pitchFamily="34" charset="0"/>
                <a:ea typeface="Inter" pitchFamily="34" charset="-122"/>
                <a:cs typeface="Inter" pitchFamily="34" charset="-120"/>
              </a:rPr>
              <a:t> A computer is made of billions of tiny switches called transistors.</a:t>
            </a:r>
            <a:endParaRPr lang="en-US" sz="1265" dirty="0"/>
          </a:p>
        </p:txBody>
      </p:sp>
      <p:sp>
        <p:nvSpPr>
          <p:cNvPr id="9" name="Text 6"/>
          <p:cNvSpPr/>
          <p:nvPr/>
        </p:nvSpPr>
        <p:spPr>
          <a:xfrm>
            <a:off x="381000" y="2069753"/>
            <a:ext cx="3248660" cy="362585"/>
          </a:xfrm>
          <a:prstGeom prst="rect">
            <a:avLst/>
          </a:prstGeom>
          <a:noFill/>
        </p:spPr>
        <p:txBody>
          <a:bodyPr wrap="none" lIns="0" tIns="113453" rIns="0" bIns="0" rtlCol="0" anchor="t">
            <a:spAutoFit/>
          </a:bodyPr>
          <a:lstStyle/>
          <a:p>
            <a:pPr marL="0" indent="0" algn="l">
              <a:lnSpc>
                <a:spcPct val="128000"/>
              </a:lnSpc>
              <a:buNone/>
            </a:pPr>
            <a:r>
              <a:rPr lang="en-US" sz="1265" dirty="0">
                <a:solidFill>
                  <a:srgbClr val="00FF9C"/>
                </a:solidFill>
                <a:latin typeface="JetBrains Mono Bold" pitchFamily="34" charset="0"/>
                <a:ea typeface="JetBrains Mono Bold" pitchFamily="34" charset="-122"/>
                <a:cs typeface="JetBrains Mono Bold" pitchFamily="34" charset="-120"/>
              </a:rPr>
              <a:t>&gt;</a:t>
            </a:r>
            <a:r>
              <a:rPr lang="en-US" sz="1265" dirty="0">
                <a:solidFill>
                  <a:srgbClr val="8B949E"/>
                </a:solidFill>
                <a:latin typeface="Inter" pitchFamily="34" charset="0"/>
                <a:ea typeface="Inter" pitchFamily="34" charset="-122"/>
                <a:cs typeface="Inter" pitchFamily="34" charset="-120"/>
              </a:rPr>
              <a:t> Each switch has only </a:t>
            </a:r>
            <a:r>
              <a:rPr lang="en-US" sz="1265" dirty="0">
                <a:solidFill>
                  <a:srgbClr val="00FF9C"/>
                </a:solidFill>
                <a:latin typeface="Inter" pitchFamily="34" charset="0"/>
                <a:ea typeface="Inter" pitchFamily="34" charset="-122"/>
                <a:cs typeface="Inter" pitchFamily="34" charset="-120"/>
              </a:rPr>
              <a:t>TWO</a:t>
            </a:r>
            <a:r>
              <a:rPr lang="en-US" sz="1265" dirty="0">
                <a:solidFill>
                  <a:srgbClr val="8B949E"/>
                </a:solidFill>
                <a:latin typeface="Inter" pitchFamily="34" charset="0"/>
                <a:ea typeface="Inter" pitchFamily="34" charset="-122"/>
                <a:cs typeface="Inter" pitchFamily="34" charset="-120"/>
              </a:rPr>
              <a:t> states: </a:t>
            </a:r>
            <a:r>
              <a:rPr lang="en-US" sz="1265" dirty="0">
                <a:solidFill>
                  <a:srgbClr val="00FF9C"/>
                </a:solidFill>
                <a:latin typeface="Inter" pitchFamily="34" charset="0"/>
                <a:ea typeface="Inter" pitchFamily="34" charset="-122"/>
                <a:cs typeface="Inter" pitchFamily="34" charset="-120"/>
              </a:rPr>
              <a:t>ON</a:t>
            </a:r>
            <a:r>
              <a:rPr lang="en-US" sz="1265" dirty="0">
                <a:solidFill>
                  <a:srgbClr val="8B949E"/>
                </a:solidFill>
                <a:latin typeface="Inter" pitchFamily="34" charset="0"/>
                <a:ea typeface="Inter" pitchFamily="34" charset="-122"/>
                <a:cs typeface="Inter" pitchFamily="34" charset="-120"/>
              </a:rPr>
              <a:t> or OFF.</a:t>
            </a:r>
            <a:endParaRPr lang="en-US" sz="1265" dirty="0"/>
          </a:p>
        </p:txBody>
      </p:sp>
      <p:sp>
        <p:nvSpPr>
          <p:cNvPr id="10" name="Text 7"/>
          <p:cNvSpPr/>
          <p:nvPr/>
        </p:nvSpPr>
        <p:spPr>
          <a:xfrm>
            <a:off x="381000" y="2613124"/>
            <a:ext cx="5427980" cy="362585"/>
          </a:xfrm>
          <a:prstGeom prst="rect">
            <a:avLst/>
          </a:prstGeom>
          <a:noFill/>
        </p:spPr>
        <p:txBody>
          <a:bodyPr wrap="none" lIns="0" tIns="113453" rIns="0" bIns="0" rtlCol="0" anchor="t">
            <a:spAutoFit/>
          </a:bodyPr>
          <a:lstStyle/>
          <a:p>
            <a:pPr marL="0" indent="0" algn="l">
              <a:lnSpc>
                <a:spcPct val="128000"/>
              </a:lnSpc>
              <a:buNone/>
            </a:pPr>
            <a:r>
              <a:rPr lang="en-US" sz="1265" dirty="0">
                <a:solidFill>
                  <a:srgbClr val="00FF9C"/>
                </a:solidFill>
                <a:latin typeface="JetBrains Mono Bold" pitchFamily="34" charset="0"/>
                <a:ea typeface="JetBrains Mono Bold" pitchFamily="34" charset="-122"/>
                <a:cs typeface="JetBrains Mono Bold" pitchFamily="34" charset="-120"/>
              </a:rPr>
              <a:t>&gt;</a:t>
            </a:r>
            <a:r>
              <a:rPr lang="en-US" sz="1265" dirty="0">
                <a:solidFill>
                  <a:srgbClr val="8B949E"/>
                </a:solidFill>
                <a:latin typeface="Inter" pitchFamily="34" charset="0"/>
                <a:ea typeface="Inter" pitchFamily="34" charset="-122"/>
                <a:cs typeface="Inter" pitchFamily="34" charset="-120"/>
              </a:rPr>
              <a:t> From those two states, we build everything—photos, videos, and messages.</a:t>
            </a:r>
            <a:endParaRPr lang="en-US" sz="1265" dirty="0"/>
          </a:p>
        </p:txBody>
      </p:sp>
      <p:pic>
        <p:nvPicPr>
          <p:cNvPr id="11" name="Image 1" descr="preencoded.png"/>
          <p:cNvPicPr>
            <a:picLocks noChangeAspect="1"/>
          </p:cNvPicPr>
          <p:nvPr/>
        </p:nvPicPr>
        <p:blipFill>
          <a:blip r:embed="rId2"/>
          <a:stretch>
            <a:fillRect/>
          </a:stretch>
        </p:blipFill>
        <p:spPr>
          <a:xfrm>
            <a:off x="2127237" y="3418433"/>
            <a:ext cx="857251" cy="762000"/>
          </a:xfrm>
          <a:prstGeom prst="rect">
            <a:avLst/>
          </a:prstGeom>
        </p:spPr>
      </p:pic>
      <p:sp>
        <p:nvSpPr>
          <p:cNvPr id="12" name="Text 8"/>
          <p:cNvSpPr/>
          <p:nvPr/>
        </p:nvSpPr>
        <p:spPr>
          <a:xfrm>
            <a:off x="1603363" y="4411415"/>
            <a:ext cx="1905000" cy="245745"/>
          </a:xfrm>
          <a:prstGeom prst="rect">
            <a:avLst/>
          </a:prstGeom>
          <a:noFill/>
        </p:spPr>
        <p:txBody>
          <a:bodyPr wrap="square" lIns="0" tIns="0" rIns="0" bIns="0" rtlCol="0" anchor="t">
            <a:spAutoFit/>
          </a:bodyPr>
          <a:lstStyle/>
          <a:p>
            <a:pPr marL="0" indent="0" algn="ctr">
              <a:buNone/>
            </a:pPr>
            <a:r>
              <a:rPr lang="en-US" sz="1600" b="1" dirty="0">
                <a:solidFill>
                  <a:srgbClr val="8B949E"/>
                </a:solidFill>
                <a:latin typeface="JetBrains Mono Bold" pitchFamily="34" charset="0"/>
                <a:ea typeface="JetBrains Mono Bold" pitchFamily="34" charset="-122"/>
                <a:cs typeface="JetBrains Mono Bold" pitchFamily="34" charset="-120"/>
              </a:rPr>
              <a:t>OFF = 0</a:t>
            </a:r>
            <a:endParaRPr lang="en-US" sz="1600" dirty="0"/>
          </a:p>
        </p:txBody>
      </p:sp>
      <p:pic>
        <p:nvPicPr>
          <p:cNvPr id="13" name="Image 2" descr="preencoded.png"/>
          <p:cNvPicPr>
            <a:picLocks noChangeAspect="1"/>
          </p:cNvPicPr>
          <p:nvPr/>
        </p:nvPicPr>
        <p:blipFill>
          <a:blip r:embed="rId3"/>
          <a:stretch>
            <a:fillRect/>
          </a:stretch>
        </p:blipFill>
        <p:spPr>
          <a:xfrm>
            <a:off x="5953088" y="3835152"/>
            <a:ext cx="285751" cy="381000"/>
          </a:xfrm>
          <a:prstGeom prst="rect">
            <a:avLst/>
          </a:prstGeom>
        </p:spPr>
      </p:pic>
      <p:pic>
        <p:nvPicPr>
          <p:cNvPr id="14" name="Image 3" descr="preencoded.png"/>
          <p:cNvPicPr>
            <a:picLocks noChangeAspect="1"/>
          </p:cNvPicPr>
          <p:nvPr/>
        </p:nvPicPr>
        <p:blipFill>
          <a:blip r:embed="rId4"/>
          <a:stretch>
            <a:fillRect/>
          </a:stretch>
        </p:blipFill>
        <p:spPr>
          <a:xfrm>
            <a:off x="9207437" y="3418433"/>
            <a:ext cx="857251" cy="762000"/>
          </a:xfrm>
          <a:prstGeom prst="rect">
            <a:avLst/>
          </a:prstGeom>
        </p:spPr>
      </p:pic>
      <p:sp>
        <p:nvSpPr>
          <p:cNvPr id="15" name="Text 9"/>
          <p:cNvSpPr/>
          <p:nvPr/>
        </p:nvSpPr>
        <p:spPr>
          <a:xfrm>
            <a:off x="8683563" y="4411415"/>
            <a:ext cx="1905000" cy="245745"/>
          </a:xfrm>
          <a:prstGeom prst="rect">
            <a:avLst/>
          </a:prstGeom>
          <a:noFill/>
        </p:spPr>
        <p:txBody>
          <a:bodyPr wrap="square" lIns="0" tIns="0" rIns="0" bIns="0" rtlCol="0" anchor="t">
            <a:spAutoFit/>
          </a:bodyPr>
          <a:lstStyle/>
          <a:p>
            <a:pPr marL="0" indent="0" algn="ctr">
              <a:buNone/>
            </a:pPr>
            <a:r>
              <a:rPr lang="en-US" sz="1600" b="1" dirty="0">
                <a:solidFill>
                  <a:srgbClr val="00FF9C"/>
                </a:solidFill>
                <a:latin typeface="JetBrains Mono Bold" pitchFamily="34" charset="0"/>
                <a:ea typeface="JetBrains Mono Bold" pitchFamily="34" charset="-122"/>
                <a:cs typeface="JetBrains Mono Bold" pitchFamily="34" charset="-120"/>
              </a:rPr>
              <a:t>ON = 1</a:t>
            </a:r>
            <a:endParaRPr lang="en-US" sz="1600" dirty="0"/>
          </a:p>
        </p:txBody>
      </p:sp>
      <p:sp>
        <p:nvSpPr>
          <p:cNvPr id="16" name="Shape 10"/>
          <p:cNvSpPr/>
          <p:nvPr/>
        </p:nvSpPr>
        <p:spPr>
          <a:xfrm>
            <a:off x="381000" y="4999583"/>
            <a:ext cx="11430000" cy="1547812"/>
          </a:xfrm>
          <a:prstGeom prst="rect">
            <a:avLst/>
          </a:prstGeom>
          <a:solidFill>
            <a:srgbClr val="161B22"/>
          </a:solidFill>
          <a:ln w="9144">
            <a:solidFill>
              <a:srgbClr val="58A6FF"/>
            </a:solidFill>
            <a:prstDash val="solid"/>
          </a:ln>
        </p:spPr>
      </p:sp>
      <p:sp>
        <p:nvSpPr>
          <p:cNvPr id="17" name="Text 11"/>
          <p:cNvSpPr/>
          <p:nvPr/>
        </p:nvSpPr>
        <p:spPr>
          <a:xfrm>
            <a:off x="571500" y="5190083"/>
            <a:ext cx="11049000" cy="153670"/>
          </a:xfrm>
          <a:prstGeom prst="rect">
            <a:avLst/>
          </a:prstGeom>
          <a:noFill/>
        </p:spPr>
        <p:txBody>
          <a:bodyPr wrap="square" lIns="0" tIns="0" rIns="0" bIns="0" rtlCol="0" anchor="t">
            <a:spAutoFit/>
          </a:bodyPr>
          <a:lstStyle/>
          <a:p>
            <a:pPr marL="0" indent="0" algn="ctr">
              <a:buNone/>
            </a:pPr>
            <a:r>
              <a:rPr lang="en-US" sz="1000" dirty="0">
                <a:solidFill>
                  <a:srgbClr val="58A6FF"/>
                </a:solidFill>
                <a:latin typeface="JetBrains Mono Bold" pitchFamily="34" charset="0"/>
                <a:ea typeface="JetBrains Mono Bold" pitchFamily="34" charset="-122"/>
                <a:cs typeface="JetBrains Mono Bold" pitchFamily="34" charset="-120"/>
              </a:rPr>
              <a:t>8 SWITCHES = 1 BYTE (THE LETTER 'A')</a:t>
            </a:r>
            <a:endParaRPr lang="en-US" sz="1000" dirty="0"/>
          </a:p>
        </p:txBody>
      </p:sp>
      <p:sp>
        <p:nvSpPr>
          <p:cNvPr id="18" name="Shape 12"/>
          <p:cNvSpPr/>
          <p:nvPr/>
        </p:nvSpPr>
        <p:spPr>
          <a:xfrm>
            <a:off x="3233737" y="5461545"/>
            <a:ext cx="590551" cy="876300"/>
          </a:xfrm>
          <a:prstGeom prst="rect">
            <a:avLst/>
          </a:prstGeom>
          <a:solidFill>
            <a:srgbClr val="0D1117"/>
          </a:solidFill>
          <a:ln w="9144">
            <a:solidFill>
              <a:srgbClr val="161B22"/>
            </a:solidFill>
            <a:prstDash val="solid"/>
          </a:ln>
        </p:spPr>
      </p:sp>
      <p:pic>
        <p:nvPicPr>
          <p:cNvPr id="19" name="Image 4" descr="preencoded.png"/>
          <p:cNvPicPr>
            <a:picLocks noChangeAspect="1"/>
          </p:cNvPicPr>
          <p:nvPr/>
        </p:nvPicPr>
        <p:blipFill>
          <a:blip r:embed="rId5"/>
          <a:stretch>
            <a:fillRect/>
          </a:stretch>
        </p:blipFill>
        <p:spPr>
          <a:xfrm>
            <a:off x="3400425" y="5625852"/>
            <a:ext cx="257175" cy="228600"/>
          </a:xfrm>
          <a:prstGeom prst="rect">
            <a:avLst/>
          </a:prstGeom>
        </p:spPr>
      </p:pic>
      <p:sp>
        <p:nvSpPr>
          <p:cNvPr id="20" name="Text 13"/>
          <p:cNvSpPr/>
          <p:nvPr/>
        </p:nvSpPr>
        <p:spPr>
          <a:xfrm>
            <a:off x="3483293" y="5854452"/>
            <a:ext cx="91440" cy="271780"/>
          </a:xfrm>
          <a:prstGeom prst="rect">
            <a:avLst/>
          </a:prstGeom>
          <a:noFill/>
        </p:spPr>
        <p:txBody>
          <a:bodyPr wrap="none" lIns="0" tIns="56726" rIns="0" bIns="0" rtlCol="0" anchor="t">
            <a:spAutoFit/>
          </a:bodyPr>
          <a:lstStyle/>
          <a:p>
            <a:pPr marL="0" indent="0" algn="ctr">
              <a:buNone/>
            </a:pPr>
            <a:r>
              <a:rPr lang="en-US" sz="1400" dirty="0">
                <a:solidFill>
                  <a:srgbClr val="8B949E"/>
                </a:solidFill>
                <a:latin typeface="JetBrains Mono Bold" pitchFamily="34" charset="0"/>
                <a:ea typeface="JetBrains Mono Bold" pitchFamily="34" charset="-122"/>
                <a:cs typeface="JetBrains Mono Bold" pitchFamily="34" charset="-120"/>
              </a:rPr>
              <a:t>0</a:t>
            </a:r>
            <a:endParaRPr lang="en-US" sz="1400" dirty="0"/>
          </a:p>
        </p:txBody>
      </p:sp>
      <p:sp>
        <p:nvSpPr>
          <p:cNvPr id="21" name="Shape 14"/>
          <p:cNvSpPr/>
          <p:nvPr/>
        </p:nvSpPr>
        <p:spPr>
          <a:xfrm>
            <a:off x="3957637" y="5461545"/>
            <a:ext cx="590551" cy="876300"/>
          </a:xfrm>
          <a:prstGeom prst="rect">
            <a:avLst/>
          </a:prstGeom>
          <a:solidFill>
            <a:srgbClr val="0D1117"/>
          </a:solidFill>
          <a:ln w="9144">
            <a:solidFill>
              <a:srgbClr val="00FF9C"/>
            </a:solidFill>
            <a:prstDash val="solid"/>
          </a:ln>
        </p:spPr>
      </p:sp>
      <p:pic>
        <p:nvPicPr>
          <p:cNvPr id="22" name="Image 5" descr="preencoded.png"/>
          <p:cNvPicPr>
            <a:picLocks noChangeAspect="1"/>
          </p:cNvPicPr>
          <p:nvPr/>
        </p:nvPicPr>
        <p:blipFill>
          <a:blip r:embed="rId6"/>
          <a:stretch>
            <a:fillRect/>
          </a:stretch>
        </p:blipFill>
        <p:spPr>
          <a:xfrm>
            <a:off x="4124325" y="5625852"/>
            <a:ext cx="257175" cy="228600"/>
          </a:xfrm>
          <a:prstGeom prst="rect">
            <a:avLst/>
          </a:prstGeom>
        </p:spPr>
      </p:pic>
      <p:sp>
        <p:nvSpPr>
          <p:cNvPr id="23" name="Text 15"/>
          <p:cNvSpPr/>
          <p:nvPr/>
        </p:nvSpPr>
        <p:spPr>
          <a:xfrm>
            <a:off x="4207193" y="5854452"/>
            <a:ext cx="91440" cy="271780"/>
          </a:xfrm>
          <a:prstGeom prst="rect">
            <a:avLst/>
          </a:prstGeom>
          <a:noFill/>
        </p:spPr>
        <p:txBody>
          <a:bodyPr wrap="none" lIns="0" tIns="56726" rIns="0" bIns="0" rtlCol="0" anchor="t">
            <a:spAutoFit/>
          </a:bodyPr>
          <a:lstStyle/>
          <a:p>
            <a:pPr marL="0" indent="0" algn="ctr">
              <a:buNone/>
            </a:pPr>
            <a:r>
              <a:rPr lang="en-US" sz="1400" dirty="0">
                <a:solidFill>
                  <a:srgbClr val="00FF9C"/>
                </a:solidFill>
                <a:latin typeface="JetBrains Mono Bold" pitchFamily="34" charset="0"/>
                <a:ea typeface="JetBrains Mono Bold" pitchFamily="34" charset="-122"/>
                <a:cs typeface="JetBrains Mono Bold" pitchFamily="34" charset="-120"/>
              </a:rPr>
              <a:t>1</a:t>
            </a:r>
            <a:endParaRPr lang="en-US" sz="1400" dirty="0"/>
          </a:p>
        </p:txBody>
      </p:sp>
      <p:sp>
        <p:nvSpPr>
          <p:cNvPr id="24" name="Shape 16"/>
          <p:cNvSpPr/>
          <p:nvPr/>
        </p:nvSpPr>
        <p:spPr>
          <a:xfrm>
            <a:off x="4681537" y="5461545"/>
            <a:ext cx="590551" cy="876300"/>
          </a:xfrm>
          <a:prstGeom prst="rect">
            <a:avLst/>
          </a:prstGeom>
          <a:solidFill>
            <a:srgbClr val="0D1117"/>
          </a:solidFill>
          <a:ln w="9144">
            <a:solidFill>
              <a:srgbClr val="161B22"/>
            </a:solidFill>
            <a:prstDash val="solid"/>
          </a:ln>
        </p:spPr>
      </p:sp>
      <p:pic>
        <p:nvPicPr>
          <p:cNvPr id="25" name="Image 6" descr="preencoded.png"/>
          <p:cNvPicPr>
            <a:picLocks noChangeAspect="1"/>
          </p:cNvPicPr>
          <p:nvPr/>
        </p:nvPicPr>
        <p:blipFill>
          <a:blip r:embed="rId5"/>
          <a:stretch>
            <a:fillRect/>
          </a:stretch>
        </p:blipFill>
        <p:spPr>
          <a:xfrm>
            <a:off x="4848225" y="5625852"/>
            <a:ext cx="257175" cy="228600"/>
          </a:xfrm>
          <a:prstGeom prst="rect">
            <a:avLst/>
          </a:prstGeom>
        </p:spPr>
      </p:pic>
      <p:sp>
        <p:nvSpPr>
          <p:cNvPr id="26" name="Text 17"/>
          <p:cNvSpPr/>
          <p:nvPr/>
        </p:nvSpPr>
        <p:spPr>
          <a:xfrm>
            <a:off x="4931093" y="5854452"/>
            <a:ext cx="91440" cy="271780"/>
          </a:xfrm>
          <a:prstGeom prst="rect">
            <a:avLst/>
          </a:prstGeom>
          <a:noFill/>
        </p:spPr>
        <p:txBody>
          <a:bodyPr wrap="none" lIns="0" tIns="56726" rIns="0" bIns="0" rtlCol="0" anchor="t">
            <a:spAutoFit/>
          </a:bodyPr>
          <a:lstStyle/>
          <a:p>
            <a:pPr marL="0" indent="0" algn="ctr">
              <a:buNone/>
            </a:pPr>
            <a:r>
              <a:rPr lang="en-US" sz="1400" dirty="0">
                <a:solidFill>
                  <a:srgbClr val="8B949E"/>
                </a:solidFill>
                <a:latin typeface="JetBrains Mono Bold" pitchFamily="34" charset="0"/>
                <a:ea typeface="JetBrains Mono Bold" pitchFamily="34" charset="-122"/>
                <a:cs typeface="JetBrains Mono Bold" pitchFamily="34" charset="-120"/>
              </a:rPr>
              <a:t>0</a:t>
            </a:r>
            <a:endParaRPr lang="en-US" sz="1400" dirty="0"/>
          </a:p>
        </p:txBody>
      </p:sp>
      <p:sp>
        <p:nvSpPr>
          <p:cNvPr id="27" name="Shape 18"/>
          <p:cNvSpPr/>
          <p:nvPr/>
        </p:nvSpPr>
        <p:spPr>
          <a:xfrm>
            <a:off x="5405437" y="5461545"/>
            <a:ext cx="590551" cy="876300"/>
          </a:xfrm>
          <a:prstGeom prst="rect">
            <a:avLst/>
          </a:prstGeom>
          <a:solidFill>
            <a:srgbClr val="0D1117"/>
          </a:solidFill>
          <a:ln w="9144">
            <a:solidFill>
              <a:srgbClr val="161B22"/>
            </a:solidFill>
            <a:prstDash val="solid"/>
          </a:ln>
        </p:spPr>
      </p:sp>
      <p:pic>
        <p:nvPicPr>
          <p:cNvPr id="28" name="Image 7" descr="preencoded.png"/>
          <p:cNvPicPr>
            <a:picLocks noChangeAspect="1"/>
          </p:cNvPicPr>
          <p:nvPr/>
        </p:nvPicPr>
        <p:blipFill>
          <a:blip r:embed="rId5"/>
          <a:stretch>
            <a:fillRect/>
          </a:stretch>
        </p:blipFill>
        <p:spPr>
          <a:xfrm>
            <a:off x="5572125" y="5625852"/>
            <a:ext cx="257175" cy="228600"/>
          </a:xfrm>
          <a:prstGeom prst="rect">
            <a:avLst/>
          </a:prstGeom>
        </p:spPr>
      </p:pic>
      <p:sp>
        <p:nvSpPr>
          <p:cNvPr id="29" name="Text 19"/>
          <p:cNvSpPr/>
          <p:nvPr/>
        </p:nvSpPr>
        <p:spPr>
          <a:xfrm>
            <a:off x="5654993" y="5854452"/>
            <a:ext cx="91440" cy="271780"/>
          </a:xfrm>
          <a:prstGeom prst="rect">
            <a:avLst/>
          </a:prstGeom>
          <a:noFill/>
        </p:spPr>
        <p:txBody>
          <a:bodyPr wrap="none" lIns="0" tIns="56726" rIns="0" bIns="0" rtlCol="0" anchor="t">
            <a:spAutoFit/>
          </a:bodyPr>
          <a:lstStyle/>
          <a:p>
            <a:pPr marL="0" indent="0" algn="ctr">
              <a:buNone/>
            </a:pPr>
            <a:r>
              <a:rPr lang="en-US" sz="1400" dirty="0">
                <a:solidFill>
                  <a:srgbClr val="8B949E"/>
                </a:solidFill>
                <a:latin typeface="JetBrains Mono Bold" pitchFamily="34" charset="0"/>
                <a:ea typeface="JetBrains Mono Bold" pitchFamily="34" charset="-122"/>
                <a:cs typeface="JetBrains Mono Bold" pitchFamily="34" charset="-120"/>
              </a:rPr>
              <a:t>0</a:t>
            </a:r>
            <a:endParaRPr lang="en-US" sz="1400" dirty="0"/>
          </a:p>
        </p:txBody>
      </p:sp>
      <p:sp>
        <p:nvSpPr>
          <p:cNvPr id="30" name="Shape 20"/>
          <p:cNvSpPr/>
          <p:nvPr/>
        </p:nvSpPr>
        <p:spPr>
          <a:xfrm>
            <a:off x="6129337" y="5461545"/>
            <a:ext cx="590551" cy="876300"/>
          </a:xfrm>
          <a:prstGeom prst="rect">
            <a:avLst/>
          </a:prstGeom>
          <a:solidFill>
            <a:srgbClr val="0D1117"/>
          </a:solidFill>
          <a:ln w="9144">
            <a:solidFill>
              <a:srgbClr val="161B22"/>
            </a:solidFill>
            <a:prstDash val="solid"/>
          </a:ln>
        </p:spPr>
      </p:sp>
      <p:pic>
        <p:nvPicPr>
          <p:cNvPr id="31" name="Image 8" descr="preencoded.png"/>
          <p:cNvPicPr>
            <a:picLocks noChangeAspect="1"/>
          </p:cNvPicPr>
          <p:nvPr/>
        </p:nvPicPr>
        <p:blipFill>
          <a:blip r:embed="rId5"/>
          <a:stretch>
            <a:fillRect/>
          </a:stretch>
        </p:blipFill>
        <p:spPr>
          <a:xfrm>
            <a:off x="6296025" y="5625852"/>
            <a:ext cx="257175" cy="228600"/>
          </a:xfrm>
          <a:prstGeom prst="rect">
            <a:avLst/>
          </a:prstGeom>
        </p:spPr>
      </p:pic>
      <p:sp>
        <p:nvSpPr>
          <p:cNvPr id="32" name="Text 21"/>
          <p:cNvSpPr/>
          <p:nvPr/>
        </p:nvSpPr>
        <p:spPr>
          <a:xfrm>
            <a:off x="6378893" y="5854452"/>
            <a:ext cx="91440" cy="271780"/>
          </a:xfrm>
          <a:prstGeom prst="rect">
            <a:avLst/>
          </a:prstGeom>
          <a:noFill/>
        </p:spPr>
        <p:txBody>
          <a:bodyPr wrap="none" lIns="0" tIns="56726" rIns="0" bIns="0" rtlCol="0" anchor="t">
            <a:spAutoFit/>
          </a:bodyPr>
          <a:lstStyle/>
          <a:p>
            <a:pPr marL="0" indent="0" algn="ctr">
              <a:buNone/>
            </a:pPr>
            <a:r>
              <a:rPr lang="en-US" sz="1400" dirty="0">
                <a:solidFill>
                  <a:srgbClr val="8B949E"/>
                </a:solidFill>
                <a:latin typeface="JetBrains Mono Bold" pitchFamily="34" charset="0"/>
                <a:ea typeface="JetBrains Mono Bold" pitchFamily="34" charset="-122"/>
                <a:cs typeface="JetBrains Mono Bold" pitchFamily="34" charset="-120"/>
              </a:rPr>
              <a:t>0</a:t>
            </a:r>
            <a:endParaRPr lang="en-US" sz="1400" dirty="0"/>
          </a:p>
        </p:txBody>
      </p:sp>
      <p:sp>
        <p:nvSpPr>
          <p:cNvPr id="33" name="Shape 22"/>
          <p:cNvSpPr/>
          <p:nvPr/>
        </p:nvSpPr>
        <p:spPr>
          <a:xfrm>
            <a:off x="6853237" y="5461545"/>
            <a:ext cx="590551" cy="876300"/>
          </a:xfrm>
          <a:prstGeom prst="rect">
            <a:avLst/>
          </a:prstGeom>
          <a:solidFill>
            <a:srgbClr val="0D1117"/>
          </a:solidFill>
          <a:ln w="9144">
            <a:solidFill>
              <a:srgbClr val="161B22"/>
            </a:solidFill>
            <a:prstDash val="solid"/>
          </a:ln>
        </p:spPr>
      </p:sp>
      <p:pic>
        <p:nvPicPr>
          <p:cNvPr id="34" name="Image 9" descr="preencoded.png"/>
          <p:cNvPicPr>
            <a:picLocks noChangeAspect="1"/>
          </p:cNvPicPr>
          <p:nvPr/>
        </p:nvPicPr>
        <p:blipFill>
          <a:blip r:embed="rId5"/>
          <a:stretch>
            <a:fillRect/>
          </a:stretch>
        </p:blipFill>
        <p:spPr>
          <a:xfrm>
            <a:off x="7019925" y="5625852"/>
            <a:ext cx="257175" cy="228600"/>
          </a:xfrm>
          <a:prstGeom prst="rect">
            <a:avLst/>
          </a:prstGeom>
        </p:spPr>
      </p:pic>
      <p:sp>
        <p:nvSpPr>
          <p:cNvPr id="35" name="Text 23"/>
          <p:cNvSpPr/>
          <p:nvPr/>
        </p:nvSpPr>
        <p:spPr>
          <a:xfrm>
            <a:off x="7102793" y="5854452"/>
            <a:ext cx="91440" cy="271780"/>
          </a:xfrm>
          <a:prstGeom prst="rect">
            <a:avLst/>
          </a:prstGeom>
          <a:noFill/>
        </p:spPr>
        <p:txBody>
          <a:bodyPr wrap="none" lIns="0" tIns="56726" rIns="0" bIns="0" rtlCol="0" anchor="t">
            <a:spAutoFit/>
          </a:bodyPr>
          <a:lstStyle/>
          <a:p>
            <a:pPr marL="0" indent="0" algn="ctr">
              <a:buNone/>
            </a:pPr>
            <a:r>
              <a:rPr lang="en-US" sz="1400" dirty="0">
                <a:solidFill>
                  <a:srgbClr val="8B949E"/>
                </a:solidFill>
                <a:latin typeface="JetBrains Mono Bold" pitchFamily="34" charset="0"/>
                <a:ea typeface="JetBrains Mono Bold" pitchFamily="34" charset="-122"/>
                <a:cs typeface="JetBrains Mono Bold" pitchFamily="34" charset="-120"/>
              </a:rPr>
              <a:t>0</a:t>
            </a:r>
            <a:endParaRPr lang="en-US" sz="1400" dirty="0"/>
          </a:p>
        </p:txBody>
      </p:sp>
      <p:sp>
        <p:nvSpPr>
          <p:cNvPr id="36" name="Shape 24"/>
          <p:cNvSpPr/>
          <p:nvPr/>
        </p:nvSpPr>
        <p:spPr>
          <a:xfrm>
            <a:off x="7577137" y="5461545"/>
            <a:ext cx="590551" cy="876300"/>
          </a:xfrm>
          <a:prstGeom prst="rect">
            <a:avLst/>
          </a:prstGeom>
          <a:solidFill>
            <a:srgbClr val="0D1117"/>
          </a:solidFill>
          <a:ln w="9144">
            <a:solidFill>
              <a:srgbClr val="161B22"/>
            </a:solidFill>
            <a:prstDash val="solid"/>
          </a:ln>
        </p:spPr>
      </p:sp>
      <p:pic>
        <p:nvPicPr>
          <p:cNvPr id="37" name="Image 10" descr="preencoded.png"/>
          <p:cNvPicPr>
            <a:picLocks noChangeAspect="1"/>
          </p:cNvPicPr>
          <p:nvPr/>
        </p:nvPicPr>
        <p:blipFill>
          <a:blip r:embed="rId5"/>
          <a:stretch>
            <a:fillRect/>
          </a:stretch>
        </p:blipFill>
        <p:spPr>
          <a:xfrm>
            <a:off x="7743825" y="5625852"/>
            <a:ext cx="257175" cy="228600"/>
          </a:xfrm>
          <a:prstGeom prst="rect">
            <a:avLst/>
          </a:prstGeom>
        </p:spPr>
      </p:pic>
      <p:sp>
        <p:nvSpPr>
          <p:cNvPr id="38" name="Text 25"/>
          <p:cNvSpPr/>
          <p:nvPr/>
        </p:nvSpPr>
        <p:spPr>
          <a:xfrm>
            <a:off x="7826693" y="5854452"/>
            <a:ext cx="91440" cy="271780"/>
          </a:xfrm>
          <a:prstGeom prst="rect">
            <a:avLst/>
          </a:prstGeom>
          <a:noFill/>
        </p:spPr>
        <p:txBody>
          <a:bodyPr wrap="none" lIns="0" tIns="56726" rIns="0" bIns="0" rtlCol="0" anchor="t">
            <a:spAutoFit/>
          </a:bodyPr>
          <a:lstStyle/>
          <a:p>
            <a:pPr marL="0" indent="0" algn="ctr">
              <a:buNone/>
            </a:pPr>
            <a:r>
              <a:rPr lang="en-US" sz="1400" dirty="0">
                <a:solidFill>
                  <a:srgbClr val="8B949E"/>
                </a:solidFill>
                <a:latin typeface="JetBrains Mono Bold" pitchFamily="34" charset="0"/>
                <a:ea typeface="JetBrains Mono Bold" pitchFamily="34" charset="-122"/>
                <a:cs typeface="JetBrains Mono Bold" pitchFamily="34" charset="-120"/>
              </a:rPr>
              <a:t>0</a:t>
            </a:r>
            <a:endParaRPr lang="en-US" sz="1400" dirty="0"/>
          </a:p>
        </p:txBody>
      </p:sp>
      <p:sp>
        <p:nvSpPr>
          <p:cNvPr id="39" name="Shape 26"/>
          <p:cNvSpPr/>
          <p:nvPr/>
        </p:nvSpPr>
        <p:spPr>
          <a:xfrm>
            <a:off x="8301037" y="5461545"/>
            <a:ext cx="590551" cy="876300"/>
          </a:xfrm>
          <a:prstGeom prst="rect">
            <a:avLst/>
          </a:prstGeom>
          <a:solidFill>
            <a:srgbClr val="0D1117"/>
          </a:solidFill>
          <a:ln w="9144">
            <a:solidFill>
              <a:srgbClr val="00FF9C"/>
            </a:solidFill>
            <a:prstDash val="solid"/>
          </a:ln>
        </p:spPr>
      </p:sp>
      <p:pic>
        <p:nvPicPr>
          <p:cNvPr id="40" name="Image 11" descr="preencoded.png"/>
          <p:cNvPicPr>
            <a:picLocks noChangeAspect="1"/>
          </p:cNvPicPr>
          <p:nvPr/>
        </p:nvPicPr>
        <p:blipFill>
          <a:blip r:embed="rId6"/>
          <a:stretch>
            <a:fillRect/>
          </a:stretch>
        </p:blipFill>
        <p:spPr>
          <a:xfrm>
            <a:off x="8467725" y="5625852"/>
            <a:ext cx="257175" cy="228600"/>
          </a:xfrm>
          <a:prstGeom prst="rect">
            <a:avLst/>
          </a:prstGeom>
        </p:spPr>
      </p:pic>
      <p:sp>
        <p:nvSpPr>
          <p:cNvPr id="41" name="Text 27"/>
          <p:cNvSpPr/>
          <p:nvPr/>
        </p:nvSpPr>
        <p:spPr>
          <a:xfrm>
            <a:off x="8550593" y="5854452"/>
            <a:ext cx="91440" cy="271780"/>
          </a:xfrm>
          <a:prstGeom prst="rect">
            <a:avLst/>
          </a:prstGeom>
          <a:noFill/>
        </p:spPr>
        <p:txBody>
          <a:bodyPr wrap="none" lIns="0" tIns="56726" rIns="0" bIns="0" rtlCol="0" anchor="t">
            <a:spAutoFit/>
          </a:bodyPr>
          <a:lstStyle/>
          <a:p>
            <a:pPr marL="0" indent="0" algn="ctr">
              <a:buNone/>
            </a:pPr>
            <a:r>
              <a:rPr lang="en-US" sz="1400" dirty="0">
                <a:solidFill>
                  <a:srgbClr val="00FF9C"/>
                </a:solidFill>
                <a:latin typeface="JetBrains Mono Bold" pitchFamily="34" charset="0"/>
                <a:ea typeface="JetBrains Mono Bold" pitchFamily="34" charset="-122"/>
                <a:cs typeface="JetBrains Mono Bold" pitchFamily="34" charset="-120"/>
              </a:rPr>
              <a:t>1</a:t>
            </a:r>
            <a:endParaRPr lang="en-US" sz="1400" dirty="0"/>
          </a:p>
        </p:txBody>
      </p:sp>
      <p:sp>
        <p:nvSpPr>
          <p:cNvPr id="42" name="Text 28"/>
          <p:cNvSpPr/>
          <p:nvPr/>
        </p:nvSpPr>
        <p:spPr>
          <a:xfrm>
            <a:off x="0" y="6590576"/>
            <a:ext cx="12192000" cy="194310"/>
          </a:xfrm>
          <a:prstGeom prst="rect">
            <a:avLst/>
          </a:prstGeom>
          <a:noFill/>
        </p:spPr>
        <p:txBody>
          <a:bodyPr wrap="square" lIns="453644" tIns="0" rIns="453644" bIns="0" rtlCol="0" anchor="t">
            <a:spAutoFit/>
          </a:bodyPr>
          <a:lstStyle/>
          <a:p>
            <a:pPr marL="0" indent="0" algn="ctr">
              <a:buNone/>
            </a:pPr>
            <a:r>
              <a:rPr lang="en-US" sz="1265" dirty="0">
                <a:solidFill>
                  <a:srgbClr val="E3B341"/>
                </a:solidFill>
                <a:latin typeface="JetBrains Mono Bold" pitchFamily="34" charset="0"/>
                <a:ea typeface="JetBrains Mono Bold" pitchFamily="34" charset="-122"/>
                <a:cs typeface="JetBrains Mono Bold" pitchFamily="34" charset="-120"/>
              </a:rPr>
              <a:t>"Every file, every photo, every message you have ever sent is just billions of 0s and 1s."</a:t>
            </a:r>
            <a:endParaRPr lang="en-US" sz="1265" dirty="0"/>
          </a:p>
        </p:txBody>
      </p:sp>
      <p:grpSp>
        <p:nvGrpSpPr>
          <p:cNvPr id="50" name="Group 2"/>
          <p:cNvGrpSpPr/>
          <p:nvPr/>
        </p:nvGrpSpPr>
        <p:grpSpPr>
          <a:xfrm rot="0">
            <a:off x="294640" y="194310"/>
            <a:ext cx="789305" cy="299720"/>
            <a:chOff x="0" y="0"/>
            <a:chExt cx="341337" cy="102463"/>
          </a:xfrm>
        </p:grpSpPr>
        <p:sp>
          <p:nvSpPr>
            <p:cNvPr id="51"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52"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53" name="Group 5"/>
          <p:cNvGrpSpPr/>
          <p:nvPr/>
        </p:nvGrpSpPr>
        <p:grpSpPr>
          <a:xfrm rot="0">
            <a:off x="822325" y="209550"/>
            <a:ext cx="220980" cy="246380"/>
            <a:chOff x="0" y="0"/>
            <a:chExt cx="812800" cy="812800"/>
          </a:xfrm>
        </p:grpSpPr>
        <p:sp>
          <p:nvSpPr>
            <p:cNvPr id="54"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5"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56"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97885"/>
          </a:xfrm>
          <a:prstGeom prst="rect">
            <a:avLst/>
          </a:prstGeom>
        </p:spPr>
      </p:pic>
      <p:sp>
        <p:nvSpPr>
          <p:cNvPr id="3" name="Shape 0"/>
          <p:cNvSpPr/>
          <p:nvPr/>
        </p:nvSpPr>
        <p:spPr>
          <a:xfrm>
            <a:off x="0" y="0"/>
            <a:ext cx="12192000" cy="476251"/>
          </a:xfrm>
          <a:prstGeom prst="rect">
            <a:avLst/>
          </a:prstGeom>
          <a:solidFill>
            <a:srgbClr val="000000">
              <a:alpha val="0"/>
            </a:srgbClr>
          </a:solidFill>
        </p:spPr>
      </p:sp>
      <p:sp>
        <p:nvSpPr>
          <p:cNvPr id="4" name="Shape 1"/>
          <p:cNvSpPr/>
          <p:nvPr/>
        </p:nvSpPr>
        <p:spPr>
          <a:xfrm>
            <a:off x="0" y="466725"/>
            <a:ext cx="12192000" cy="9525"/>
          </a:xfrm>
          <a:prstGeom prst="rect">
            <a:avLst/>
          </a:prstGeom>
          <a:solidFill>
            <a:srgbClr val="161B22"/>
          </a:solidFill>
        </p:spPr>
      </p:sp>
      <p:sp>
        <p:nvSpPr>
          <p:cNvPr id="6" name="Text 3"/>
          <p:cNvSpPr/>
          <p:nvPr/>
        </p:nvSpPr>
        <p:spPr>
          <a:xfrm>
            <a:off x="10353675" y="150019"/>
            <a:ext cx="113792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SLIDE 08 // EWUCSC</a:t>
            </a:r>
            <a:endParaRPr lang="en-US" sz="1000" dirty="0"/>
          </a:p>
        </p:txBody>
      </p:sp>
      <p:sp>
        <p:nvSpPr>
          <p:cNvPr id="7" name="Text 4"/>
          <p:cNvSpPr/>
          <p:nvPr/>
        </p:nvSpPr>
        <p:spPr>
          <a:xfrm>
            <a:off x="381000" y="857251"/>
            <a:ext cx="11430000" cy="328930"/>
          </a:xfrm>
          <a:prstGeom prst="rect">
            <a:avLst/>
          </a:prstGeom>
          <a:noFill/>
        </p:spPr>
        <p:txBody>
          <a:bodyPr wrap="square" lIns="0" tIns="0" rIns="0" bIns="0" rtlCol="0" anchor="t">
            <a:spAutoFit/>
          </a:bodyPr>
          <a:lstStyle/>
          <a:p>
            <a:pPr marL="0" indent="0" algn="l">
              <a:buNone/>
            </a:pPr>
            <a:r>
              <a:rPr lang="en-US" sz="2135" b="1" dirty="0">
                <a:solidFill>
                  <a:srgbClr val="E6EDF3"/>
                </a:solidFill>
                <a:latin typeface="JetBrains Mono Bold" pitchFamily="34" charset="0"/>
                <a:ea typeface="JetBrains Mono Bold" pitchFamily="34" charset="-122"/>
                <a:cs typeface="JetBrains Mono Bold" pitchFamily="34" charset="-120"/>
              </a:rPr>
              <a:t>YOU ALREADY KNOW POSITIONAL NUMBER SYSTEMS</a:t>
            </a:r>
            <a:endParaRPr lang="en-US" sz="2135" dirty="0"/>
          </a:p>
        </p:txBody>
      </p:sp>
      <p:sp>
        <p:nvSpPr>
          <p:cNvPr id="8" name="Shape 5"/>
          <p:cNvSpPr/>
          <p:nvPr/>
        </p:nvSpPr>
        <p:spPr>
          <a:xfrm>
            <a:off x="381000" y="1640681"/>
            <a:ext cx="5524500" cy="4414243"/>
          </a:xfrm>
          <a:prstGeom prst="rect">
            <a:avLst/>
          </a:prstGeom>
          <a:solidFill>
            <a:srgbClr val="161B22"/>
          </a:solidFill>
        </p:spPr>
      </p:sp>
      <p:sp>
        <p:nvSpPr>
          <p:cNvPr id="9" name="Shape 6"/>
          <p:cNvSpPr/>
          <p:nvPr/>
        </p:nvSpPr>
        <p:spPr>
          <a:xfrm>
            <a:off x="381000" y="1640681"/>
            <a:ext cx="5524500" cy="28575"/>
          </a:xfrm>
          <a:prstGeom prst="rect">
            <a:avLst/>
          </a:prstGeom>
          <a:solidFill>
            <a:srgbClr val="58A6FF"/>
          </a:solidFill>
        </p:spPr>
      </p:sp>
      <p:sp>
        <p:nvSpPr>
          <p:cNvPr id="10" name="Shape 7"/>
          <p:cNvSpPr/>
          <p:nvPr/>
        </p:nvSpPr>
        <p:spPr>
          <a:xfrm>
            <a:off x="5895975" y="1640681"/>
            <a:ext cx="9525" cy="4414243"/>
          </a:xfrm>
          <a:prstGeom prst="rect">
            <a:avLst/>
          </a:prstGeom>
          <a:solidFill>
            <a:srgbClr val="161B22"/>
          </a:solidFill>
        </p:spPr>
      </p:sp>
      <p:sp>
        <p:nvSpPr>
          <p:cNvPr id="11" name="Shape 8"/>
          <p:cNvSpPr/>
          <p:nvPr/>
        </p:nvSpPr>
        <p:spPr>
          <a:xfrm>
            <a:off x="381000" y="6045399"/>
            <a:ext cx="5524500" cy="9525"/>
          </a:xfrm>
          <a:prstGeom prst="rect">
            <a:avLst/>
          </a:prstGeom>
          <a:solidFill>
            <a:srgbClr val="161B22"/>
          </a:solidFill>
        </p:spPr>
      </p:sp>
      <p:sp>
        <p:nvSpPr>
          <p:cNvPr id="12" name="Shape 9"/>
          <p:cNvSpPr/>
          <p:nvPr/>
        </p:nvSpPr>
        <p:spPr>
          <a:xfrm>
            <a:off x="381000" y="1640681"/>
            <a:ext cx="9525" cy="4414243"/>
          </a:xfrm>
          <a:prstGeom prst="rect">
            <a:avLst/>
          </a:prstGeom>
          <a:solidFill>
            <a:srgbClr val="161B22"/>
          </a:solidFill>
        </p:spPr>
      </p:sp>
      <p:sp>
        <p:nvSpPr>
          <p:cNvPr id="13" name="Text 10"/>
          <p:cNvSpPr/>
          <p:nvPr/>
        </p:nvSpPr>
        <p:spPr>
          <a:xfrm>
            <a:off x="619125" y="1878807"/>
            <a:ext cx="5048251" cy="394970"/>
          </a:xfrm>
          <a:prstGeom prst="rect">
            <a:avLst/>
          </a:prstGeom>
          <a:noFill/>
        </p:spPr>
        <p:txBody>
          <a:bodyPr wrap="square" lIns="0" tIns="0" rIns="0" bIns="170010" rtlCol="0" anchor="t">
            <a:spAutoFit/>
          </a:bodyPr>
          <a:lstStyle/>
          <a:p>
            <a:pPr marL="0" indent="0" algn="l">
              <a:buNone/>
            </a:pPr>
            <a:r>
              <a:rPr lang="en-US" sz="1465" b="1" dirty="0">
                <a:solidFill>
                  <a:srgbClr val="58A6FF"/>
                </a:solidFill>
                <a:latin typeface="JetBrains Mono Bold" pitchFamily="34" charset="0"/>
                <a:ea typeface="JetBrains Mono Bold" pitchFamily="34" charset="-122"/>
                <a:cs typeface="JetBrains Mono Bold" pitchFamily="34" charset="-120"/>
              </a:rPr>
              <a:t>Decimal (Base 10)</a:t>
            </a:r>
            <a:endParaRPr lang="en-US" sz="1465" dirty="0"/>
          </a:p>
        </p:txBody>
      </p:sp>
      <p:sp>
        <p:nvSpPr>
          <p:cNvPr id="14" name="Text 11"/>
          <p:cNvSpPr/>
          <p:nvPr/>
        </p:nvSpPr>
        <p:spPr>
          <a:xfrm>
            <a:off x="619125" y="2450307"/>
            <a:ext cx="972185" cy="251460"/>
          </a:xfrm>
          <a:prstGeom prst="rect">
            <a:avLst/>
          </a:prstGeom>
          <a:noFill/>
        </p:spPr>
        <p:txBody>
          <a:bodyPr wrap="none" lIns="0" tIns="0" rIns="0" bIns="0" rtlCol="0" anchor="t">
            <a:spAutoFit/>
          </a:bodyPr>
          <a:lstStyle/>
          <a:p>
            <a:pPr marL="0" indent="0" algn="l">
              <a:lnSpc>
                <a:spcPct val="144000"/>
              </a:lnSpc>
              <a:buNone/>
            </a:pPr>
            <a:r>
              <a:rPr lang="en-US" sz="1135" dirty="0">
                <a:solidFill>
                  <a:srgbClr val="8B949E"/>
                </a:solidFill>
                <a:latin typeface="JetBrains Mono Bold" pitchFamily="34" charset="0"/>
                <a:ea typeface="JetBrains Mono Bold" pitchFamily="34" charset="-122"/>
                <a:cs typeface="JetBrains Mono Bold" pitchFamily="34" charset="-120"/>
              </a:rPr>
              <a:t>Uses digits </a:t>
            </a:r>
            <a:r>
              <a:rPr lang="en-US" sz="1135" dirty="0">
                <a:solidFill>
                  <a:srgbClr val="E6EDF3"/>
                </a:solidFill>
                <a:latin typeface="JetBrains Mono Bold" pitchFamily="34" charset="0"/>
                <a:ea typeface="JetBrains Mono Bold" pitchFamily="34" charset="-122"/>
                <a:cs typeface="JetBrains Mono Bold" pitchFamily="34" charset="-120"/>
              </a:rPr>
              <a:t>0–9</a:t>
            </a:r>
            <a:endParaRPr lang="en-US" sz="1135" dirty="0"/>
          </a:p>
        </p:txBody>
      </p:sp>
      <p:sp>
        <p:nvSpPr>
          <p:cNvPr id="15" name="Text 12"/>
          <p:cNvSpPr/>
          <p:nvPr/>
        </p:nvSpPr>
        <p:spPr>
          <a:xfrm>
            <a:off x="619125" y="2876996"/>
            <a:ext cx="1679575" cy="251460"/>
          </a:xfrm>
          <a:prstGeom prst="rect">
            <a:avLst/>
          </a:prstGeom>
          <a:noFill/>
        </p:spPr>
        <p:txBody>
          <a:bodyPr wrap="none" lIns="0" tIns="0" rIns="0" bIns="0" rtlCol="0" anchor="t">
            <a:spAutoFit/>
          </a:bodyPr>
          <a:lstStyle/>
          <a:p>
            <a:pPr marL="0" indent="0" algn="l">
              <a:lnSpc>
                <a:spcPct val="144000"/>
              </a:lnSpc>
              <a:buNone/>
            </a:pPr>
            <a:r>
              <a:rPr lang="en-US" sz="1135" dirty="0">
                <a:solidFill>
                  <a:srgbClr val="8B949E"/>
                </a:solidFill>
                <a:latin typeface="JetBrains Mono Bold" pitchFamily="34" charset="0"/>
                <a:ea typeface="JetBrains Mono Bold" pitchFamily="34" charset="-122"/>
                <a:cs typeface="JetBrains Mono Bold" pitchFamily="34" charset="-120"/>
              </a:rPr>
              <a:t>Positions are powers of </a:t>
            </a:r>
            <a:r>
              <a:rPr lang="en-US" sz="1135" dirty="0">
                <a:solidFill>
                  <a:srgbClr val="E6EDF3"/>
                </a:solidFill>
                <a:latin typeface="JetBrains Mono Bold" pitchFamily="34" charset="0"/>
                <a:ea typeface="JetBrains Mono Bold" pitchFamily="34" charset="-122"/>
                <a:cs typeface="JetBrains Mono Bold" pitchFamily="34" charset="-120"/>
              </a:rPr>
              <a:t>10</a:t>
            </a:r>
            <a:endParaRPr lang="en-US" sz="1135" dirty="0"/>
          </a:p>
        </p:txBody>
      </p:sp>
      <p:sp>
        <p:nvSpPr>
          <p:cNvPr id="16" name="Text 13"/>
          <p:cNvSpPr/>
          <p:nvPr/>
        </p:nvSpPr>
        <p:spPr>
          <a:xfrm>
            <a:off x="619125" y="3303687"/>
            <a:ext cx="1127125" cy="251460"/>
          </a:xfrm>
          <a:prstGeom prst="rect">
            <a:avLst/>
          </a:prstGeom>
          <a:noFill/>
        </p:spPr>
        <p:txBody>
          <a:bodyPr wrap="none" lIns="0" tIns="0" rIns="0" bIns="0" rtlCol="0" anchor="t">
            <a:spAutoFit/>
          </a:bodyPr>
          <a:lstStyle/>
          <a:p>
            <a:pPr marL="0" indent="0" algn="l">
              <a:lnSpc>
                <a:spcPct val="144000"/>
              </a:lnSpc>
              <a:buNone/>
            </a:pPr>
            <a:r>
              <a:rPr lang="en-US" sz="1135" dirty="0">
                <a:solidFill>
                  <a:srgbClr val="8B949E"/>
                </a:solidFill>
                <a:latin typeface="JetBrains Mono Bold" pitchFamily="34" charset="0"/>
                <a:ea typeface="JetBrains Mono Bold" pitchFamily="34" charset="-122"/>
                <a:cs typeface="JetBrains Mono Bold" pitchFamily="34" charset="-120"/>
              </a:rPr>
              <a:t>(1, 10, 100, 1000...)</a:t>
            </a:r>
            <a:endParaRPr lang="en-US" sz="1135" dirty="0"/>
          </a:p>
        </p:txBody>
      </p:sp>
      <p:sp>
        <p:nvSpPr>
          <p:cNvPr id="17" name="Text 14"/>
          <p:cNvSpPr/>
          <p:nvPr/>
        </p:nvSpPr>
        <p:spPr>
          <a:xfrm>
            <a:off x="619125" y="3730377"/>
            <a:ext cx="5048251" cy="986790"/>
          </a:xfrm>
          <a:prstGeom prst="rect">
            <a:avLst/>
          </a:prstGeom>
          <a:noFill/>
        </p:spPr>
        <p:txBody>
          <a:bodyPr wrap="square" lIns="0" tIns="226737" rIns="0" bIns="226737" rtlCol="0" anchor="t">
            <a:spAutoFit/>
          </a:bodyPr>
          <a:lstStyle/>
          <a:p>
            <a:pPr marL="0" indent="0" algn="ctr">
              <a:buNone/>
            </a:pPr>
            <a:r>
              <a:rPr lang="en-US" sz="3465" dirty="0">
                <a:solidFill>
                  <a:srgbClr val="E6EDF3"/>
                </a:solidFill>
                <a:latin typeface="Inter" pitchFamily="34" charset="0"/>
                <a:ea typeface="Inter" pitchFamily="34" charset="-122"/>
                <a:cs typeface="Inter" pitchFamily="34" charset="-120"/>
              </a:rPr>
              <a:t>42</a:t>
            </a:r>
            <a:endParaRPr lang="en-US" sz="3465" dirty="0"/>
          </a:p>
        </p:txBody>
      </p:sp>
      <p:sp>
        <p:nvSpPr>
          <p:cNvPr id="18" name="Shape 15"/>
          <p:cNvSpPr/>
          <p:nvPr/>
        </p:nvSpPr>
        <p:spPr>
          <a:xfrm>
            <a:off x="2695575" y="4854327"/>
            <a:ext cx="400051" cy="495300"/>
          </a:xfrm>
          <a:prstGeom prst="rect">
            <a:avLst/>
          </a:prstGeom>
          <a:solidFill>
            <a:srgbClr val="0D1117"/>
          </a:solidFill>
          <a:ln w="9144">
            <a:solidFill>
              <a:srgbClr val="58A6FF"/>
            </a:solidFill>
            <a:prstDash val="solid"/>
          </a:ln>
        </p:spPr>
      </p:sp>
      <p:sp>
        <p:nvSpPr>
          <p:cNvPr id="19" name="Text 16"/>
          <p:cNvSpPr/>
          <p:nvPr/>
        </p:nvSpPr>
        <p:spPr>
          <a:xfrm>
            <a:off x="2840990" y="4974024"/>
            <a:ext cx="109220" cy="255905"/>
          </a:xfrm>
          <a:prstGeom prst="rect">
            <a:avLst/>
          </a:prstGeom>
          <a:noFill/>
        </p:spPr>
        <p:txBody>
          <a:bodyPr wrap="none" lIns="0" tIns="0" rIns="0" bIns="0" rtlCol="0" anchor="ctr">
            <a:spAutoFit/>
          </a:bodyPr>
          <a:lstStyle/>
          <a:p>
            <a:pPr marL="0" indent="0" algn="ctr">
              <a:buNone/>
            </a:pPr>
            <a:r>
              <a:rPr lang="en-US" sz="1665" dirty="0">
                <a:solidFill>
                  <a:srgbClr val="E6EDF3"/>
                </a:solidFill>
                <a:latin typeface="Inter" pitchFamily="34" charset="0"/>
                <a:ea typeface="Inter" pitchFamily="34" charset="-122"/>
                <a:cs typeface="Inter" pitchFamily="34" charset="-120"/>
              </a:rPr>
              <a:t>4</a:t>
            </a:r>
            <a:endParaRPr lang="en-US" sz="1665" dirty="0"/>
          </a:p>
        </p:txBody>
      </p:sp>
      <p:sp>
        <p:nvSpPr>
          <p:cNvPr id="20" name="Text 17"/>
          <p:cNvSpPr/>
          <p:nvPr/>
        </p:nvSpPr>
        <p:spPr>
          <a:xfrm>
            <a:off x="2818209" y="5330577"/>
            <a:ext cx="137795" cy="179070"/>
          </a:xfrm>
          <a:prstGeom prst="rect">
            <a:avLst/>
          </a:prstGeom>
          <a:noFill/>
        </p:spPr>
        <p:txBody>
          <a:bodyPr wrap="none" lIns="0" tIns="56726" rIns="0" bIns="0" rtlCol="0" anchor="t">
            <a:spAutoFit/>
          </a:bodyPr>
          <a:lstStyle/>
          <a:p>
            <a:pPr marL="0" indent="0" algn="l">
              <a:buNone/>
            </a:pPr>
            <a:r>
              <a:rPr lang="en-US" sz="800" dirty="0">
                <a:solidFill>
                  <a:srgbClr val="8B949E"/>
                </a:solidFill>
                <a:latin typeface="Inter" pitchFamily="34" charset="0"/>
                <a:ea typeface="Inter" pitchFamily="34" charset="-122"/>
                <a:cs typeface="Inter" pitchFamily="34" charset="-120"/>
              </a:rPr>
              <a:t>10¹</a:t>
            </a:r>
            <a:endParaRPr lang="en-US" sz="800" dirty="0"/>
          </a:p>
        </p:txBody>
      </p:sp>
      <p:sp>
        <p:nvSpPr>
          <p:cNvPr id="21" name="Shape 18"/>
          <p:cNvSpPr/>
          <p:nvPr/>
        </p:nvSpPr>
        <p:spPr>
          <a:xfrm>
            <a:off x="3181351" y="4854327"/>
            <a:ext cx="400051" cy="495300"/>
          </a:xfrm>
          <a:prstGeom prst="rect">
            <a:avLst/>
          </a:prstGeom>
          <a:solidFill>
            <a:srgbClr val="0D1117"/>
          </a:solidFill>
          <a:ln w="9144">
            <a:solidFill>
              <a:srgbClr val="58A6FF"/>
            </a:solidFill>
            <a:prstDash val="solid"/>
          </a:ln>
        </p:spPr>
      </p:sp>
      <p:sp>
        <p:nvSpPr>
          <p:cNvPr id="22" name="Text 19"/>
          <p:cNvSpPr/>
          <p:nvPr/>
        </p:nvSpPr>
        <p:spPr>
          <a:xfrm>
            <a:off x="3326766" y="4974024"/>
            <a:ext cx="109220" cy="255905"/>
          </a:xfrm>
          <a:prstGeom prst="rect">
            <a:avLst/>
          </a:prstGeom>
          <a:noFill/>
        </p:spPr>
        <p:txBody>
          <a:bodyPr wrap="none" lIns="0" tIns="0" rIns="0" bIns="0" rtlCol="0" anchor="ctr">
            <a:spAutoFit/>
          </a:bodyPr>
          <a:lstStyle/>
          <a:p>
            <a:pPr marL="0" indent="0" algn="ctr">
              <a:buNone/>
            </a:pPr>
            <a:r>
              <a:rPr lang="en-US" sz="1665" dirty="0">
                <a:solidFill>
                  <a:srgbClr val="E6EDF3"/>
                </a:solidFill>
                <a:latin typeface="Inter" pitchFamily="34" charset="0"/>
                <a:ea typeface="Inter" pitchFamily="34" charset="-122"/>
                <a:cs typeface="Inter" pitchFamily="34" charset="-120"/>
              </a:rPr>
              <a:t>2</a:t>
            </a:r>
            <a:endParaRPr lang="en-US" sz="1665" dirty="0"/>
          </a:p>
        </p:txBody>
      </p:sp>
      <p:sp>
        <p:nvSpPr>
          <p:cNvPr id="23" name="Text 20"/>
          <p:cNvSpPr/>
          <p:nvPr/>
        </p:nvSpPr>
        <p:spPr>
          <a:xfrm>
            <a:off x="3301603" y="5330577"/>
            <a:ext cx="137795" cy="179070"/>
          </a:xfrm>
          <a:prstGeom prst="rect">
            <a:avLst/>
          </a:prstGeom>
          <a:noFill/>
        </p:spPr>
        <p:txBody>
          <a:bodyPr wrap="none" lIns="0" tIns="56726" rIns="0" bIns="0" rtlCol="0" anchor="t">
            <a:spAutoFit/>
          </a:bodyPr>
          <a:lstStyle/>
          <a:p>
            <a:pPr marL="0" indent="0" algn="l">
              <a:buNone/>
            </a:pPr>
            <a:r>
              <a:rPr lang="en-US" sz="800" dirty="0">
                <a:solidFill>
                  <a:srgbClr val="8B949E"/>
                </a:solidFill>
                <a:latin typeface="Inter" pitchFamily="34" charset="0"/>
                <a:ea typeface="Inter" pitchFamily="34" charset="-122"/>
                <a:cs typeface="Inter" pitchFamily="34" charset="-120"/>
              </a:rPr>
              <a:t>10⁰</a:t>
            </a:r>
            <a:endParaRPr lang="en-US" sz="800" dirty="0"/>
          </a:p>
        </p:txBody>
      </p:sp>
      <p:sp>
        <p:nvSpPr>
          <p:cNvPr id="24" name="Text 21"/>
          <p:cNvSpPr/>
          <p:nvPr/>
        </p:nvSpPr>
        <p:spPr>
          <a:xfrm>
            <a:off x="619125" y="5532983"/>
            <a:ext cx="5048251" cy="478155"/>
          </a:xfrm>
          <a:prstGeom prst="rect">
            <a:avLst/>
          </a:prstGeom>
          <a:noFill/>
        </p:spPr>
        <p:txBody>
          <a:bodyPr wrap="square" lIns="0" tIns="226737" rIns="0" bIns="0" rtlCol="0" anchor="t">
            <a:spAutoFit/>
          </a:bodyPr>
          <a:lstStyle/>
          <a:p>
            <a:pPr marL="0" indent="0" algn="ctr">
              <a:lnSpc>
                <a:spcPct val="144000"/>
              </a:lnSpc>
              <a:buNone/>
            </a:pPr>
            <a:r>
              <a:rPr lang="en-US" sz="1135" dirty="0">
                <a:solidFill>
                  <a:srgbClr val="8B949E"/>
                </a:solidFill>
                <a:latin typeface="JetBrains Mono Bold" pitchFamily="34" charset="0"/>
                <a:ea typeface="JetBrains Mono Bold" pitchFamily="34" charset="-122"/>
                <a:cs typeface="JetBrains Mono Bold" pitchFamily="34" charset="-120"/>
              </a:rPr>
              <a:t>(4 × 10) + (2 × 1) = 42</a:t>
            </a:r>
            <a:endParaRPr lang="en-US" sz="1135" dirty="0"/>
          </a:p>
        </p:txBody>
      </p:sp>
      <p:sp>
        <p:nvSpPr>
          <p:cNvPr id="25" name="Shape 22"/>
          <p:cNvSpPr/>
          <p:nvPr/>
        </p:nvSpPr>
        <p:spPr>
          <a:xfrm>
            <a:off x="6286500" y="1640681"/>
            <a:ext cx="5524500" cy="4414243"/>
          </a:xfrm>
          <a:prstGeom prst="rect">
            <a:avLst/>
          </a:prstGeom>
          <a:solidFill>
            <a:srgbClr val="161B22"/>
          </a:solidFill>
        </p:spPr>
      </p:sp>
      <p:sp>
        <p:nvSpPr>
          <p:cNvPr id="26" name="Shape 23"/>
          <p:cNvSpPr/>
          <p:nvPr/>
        </p:nvSpPr>
        <p:spPr>
          <a:xfrm>
            <a:off x="6286500" y="1640681"/>
            <a:ext cx="5524500" cy="28575"/>
          </a:xfrm>
          <a:prstGeom prst="rect">
            <a:avLst/>
          </a:prstGeom>
          <a:solidFill>
            <a:srgbClr val="00FF9C"/>
          </a:solidFill>
        </p:spPr>
      </p:sp>
      <p:sp>
        <p:nvSpPr>
          <p:cNvPr id="27" name="Shape 24"/>
          <p:cNvSpPr/>
          <p:nvPr/>
        </p:nvSpPr>
        <p:spPr>
          <a:xfrm>
            <a:off x="11801475" y="1640681"/>
            <a:ext cx="9525" cy="4414243"/>
          </a:xfrm>
          <a:prstGeom prst="rect">
            <a:avLst/>
          </a:prstGeom>
          <a:solidFill>
            <a:srgbClr val="161B22"/>
          </a:solidFill>
        </p:spPr>
      </p:sp>
      <p:sp>
        <p:nvSpPr>
          <p:cNvPr id="28" name="Shape 25"/>
          <p:cNvSpPr/>
          <p:nvPr/>
        </p:nvSpPr>
        <p:spPr>
          <a:xfrm>
            <a:off x="6286500" y="6045399"/>
            <a:ext cx="5524500" cy="9525"/>
          </a:xfrm>
          <a:prstGeom prst="rect">
            <a:avLst/>
          </a:prstGeom>
          <a:solidFill>
            <a:srgbClr val="161B22"/>
          </a:solidFill>
        </p:spPr>
      </p:sp>
      <p:sp>
        <p:nvSpPr>
          <p:cNvPr id="29" name="Shape 26"/>
          <p:cNvSpPr/>
          <p:nvPr/>
        </p:nvSpPr>
        <p:spPr>
          <a:xfrm>
            <a:off x="6286500" y="1640681"/>
            <a:ext cx="9525" cy="4414243"/>
          </a:xfrm>
          <a:prstGeom prst="rect">
            <a:avLst/>
          </a:prstGeom>
          <a:solidFill>
            <a:srgbClr val="161B22"/>
          </a:solidFill>
        </p:spPr>
      </p:sp>
      <p:sp>
        <p:nvSpPr>
          <p:cNvPr id="30" name="Text 27"/>
          <p:cNvSpPr/>
          <p:nvPr/>
        </p:nvSpPr>
        <p:spPr>
          <a:xfrm>
            <a:off x="6524625" y="1878807"/>
            <a:ext cx="5048251" cy="394970"/>
          </a:xfrm>
          <a:prstGeom prst="rect">
            <a:avLst/>
          </a:prstGeom>
          <a:noFill/>
        </p:spPr>
        <p:txBody>
          <a:bodyPr wrap="square" lIns="0" tIns="0" rIns="0" bIns="170010" rtlCol="0" anchor="t">
            <a:spAutoFit/>
          </a:bodyPr>
          <a:lstStyle/>
          <a:p>
            <a:pPr marL="0" indent="0" algn="l">
              <a:buNone/>
            </a:pPr>
            <a:r>
              <a:rPr lang="en-US" sz="1465" b="1" dirty="0">
                <a:solidFill>
                  <a:srgbClr val="00FF9C"/>
                </a:solidFill>
                <a:latin typeface="JetBrains Mono Bold" pitchFamily="34" charset="0"/>
                <a:ea typeface="JetBrains Mono Bold" pitchFamily="34" charset="-122"/>
                <a:cs typeface="JetBrains Mono Bold" pitchFamily="34" charset="-120"/>
              </a:rPr>
              <a:t>Binary (Base 2)</a:t>
            </a:r>
            <a:endParaRPr lang="en-US" sz="1465" dirty="0"/>
          </a:p>
        </p:txBody>
      </p:sp>
      <p:sp>
        <p:nvSpPr>
          <p:cNvPr id="31" name="Text 28"/>
          <p:cNvSpPr/>
          <p:nvPr/>
        </p:nvSpPr>
        <p:spPr>
          <a:xfrm>
            <a:off x="6524625" y="2450307"/>
            <a:ext cx="972185" cy="251460"/>
          </a:xfrm>
          <a:prstGeom prst="rect">
            <a:avLst/>
          </a:prstGeom>
          <a:noFill/>
        </p:spPr>
        <p:txBody>
          <a:bodyPr wrap="none" lIns="0" tIns="0" rIns="0" bIns="0" rtlCol="0" anchor="t">
            <a:spAutoFit/>
          </a:bodyPr>
          <a:lstStyle/>
          <a:p>
            <a:pPr marL="0" indent="0" algn="l">
              <a:lnSpc>
                <a:spcPct val="144000"/>
              </a:lnSpc>
              <a:buNone/>
            </a:pPr>
            <a:r>
              <a:rPr lang="en-US" sz="1135" dirty="0">
                <a:solidFill>
                  <a:srgbClr val="8B949E"/>
                </a:solidFill>
                <a:latin typeface="JetBrains Mono Bold" pitchFamily="34" charset="0"/>
                <a:ea typeface="JetBrains Mono Bold" pitchFamily="34" charset="-122"/>
                <a:cs typeface="JetBrains Mono Bold" pitchFamily="34" charset="-120"/>
              </a:rPr>
              <a:t>Uses digits </a:t>
            </a:r>
            <a:r>
              <a:rPr lang="en-US" sz="1135" dirty="0">
                <a:solidFill>
                  <a:srgbClr val="E6EDF3"/>
                </a:solidFill>
                <a:latin typeface="JetBrains Mono Bold" pitchFamily="34" charset="0"/>
                <a:ea typeface="JetBrains Mono Bold" pitchFamily="34" charset="-122"/>
                <a:cs typeface="JetBrains Mono Bold" pitchFamily="34" charset="-120"/>
              </a:rPr>
              <a:t>0–1</a:t>
            </a:r>
            <a:endParaRPr lang="en-US" sz="1135" dirty="0"/>
          </a:p>
        </p:txBody>
      </p:sp>
      <p:sp>
        <p:nvSpPr>
          <p:cNvPr id="32" name="Text 29"/>
          <p:cNvSpPr/>
          <p:nvPr/>
        </p:nvSpPr>
        <p:spPr>
          <a:xfrm>
            <a:off x="6524625" y="2876996"/>
            <a:ext cx="1605280" cy="251460"/>
          </a:xfrm>
          <a:prstGeom prst="rect">
            <a:avLst/>
          </a:prstGeom>
          <a:noFill/>
        </p:spPr>
        <p:txBody>
          <a:bodyPr wrap="none" lIns="0" tIns="0" rIns="0" bIns="0" rtlCol="0" anchor="t">
            <a:spAutoFit/>
          </a:bodyPr>
          <a:lstStyle/>
          <a:p>
            <a:pPr marL="0" indent="0" algn="l">
              <a:lnSpc>
                <a:spcPct val="144000"/>
              </a:lnSpc>
              <a:buNone/>
            </a:pPr>
            <a:r>
              <a:rPr lang="en-US" sz="1135" dirty="0">
                <a:solidFill>
                  <a:srgbClr val="8B949E"/>
                </a:solidFill>
                <a:latin typeface="JetBrains Mono Bold" pitchFamily="34" charset="0"/>
                <a:ea typeface="JetBrains Mono Bold" pitchFamily="34" charset="-122"/>
                <a:cs typeface="JetBrains Mono Bold" pitchFamily="34" charset="-120"/>
              </a:rPr>
              <a:t>Positions are powers of </a:t>
            </a:r>
            <a:r>
              <a:rPr lang="en-US" sz="1135" dirty="0">
                <a:solidFill>
                  <a:srgbClr val="E6EDF3"/>
                </a:solidFill>
                <a:latin typeface="JetBrains Mono Bold" pitchFamily="34" charset="0"/>
                <a:ea typeface="JetBrains Mono Bold" pitchFamily="34" charset="-122"/>
                <a:cs typeface="JetBrains Mono Bold" pitchFamily="34" charset="-120"/>
              </a:rPr>
              <a:t>2</a:t>
            </a:r>
            <a:endParaRPr lang="en-US" sz="1135" dirty="0"/>
          </a:p>
        </p:txBody>
      </p:sp>
      <p:sp>
        <p:nvSpPr>
          <p:cNvPr id="33" name="Text 30"/>
          <p:cNvSpPr/>
          <p:nvPr/>
        </p:nvSpPr>
        <p:spPr>
          <a:xfrm>
            <a:off x="6524625" y="3303687"/>
            <a:ext cx="1109345" cy="251460"/>
          </a:xfrm>
          <a:prstGeom prst="rect">
            <a:avLst/>
          </a:prstGeom>
          <a:noFill/>
        </p:spPr>
        <p:txBody>
          <a:bodyPr wrap="none" lIns="0" tIns="0" rIns="0" bIns="0" rtlCol="0" anchor="t">
            <a:spAutoFit/>
          </a:bodyPr>
          <a:lstStyle/>
          <a:p>
            <a:pPr marL="0" indent="0" algn="l">
              <a:lnSpc>
                <a:spcPct val="144000"/>
              </a:lnSpc>
              <a:buNone/>
            </a:pPr>
            <a:r>
              <a:rPr lang="en-US" sz="1135" dirty="0">
                <a:solidFill>
                  <a:srgbClr val="8B949E"/>
                </a:solidFill>
                <a:latin typeface="JetBrains Mono Bold" pitchFamily="34" charset="0"/>
                <a:ea typeface="JetBrains Mono Bold" pitchFamily="34" charset="-122"/>
                <a:cs typeface="JetBrains Mono Bold" pitchFamily="34" charset="-120"/>
              </a:rPr>
              <a:t>(1, 2, 4, 8, 16, 32...)</a:t>
            </a:r>
            <a:endParaRPr lang="en-US" sz="1135" dirty="0"/>
          </a:p>
        </p:txBody>
      </p:sp>
      <p:sp>
        <p:nvSpPr>
          <p:cNvPr id="34" name="Text 31"/>
          <p:cNvSpPr/>
          <p:nvPr/>
        </p:nvSpPr>
        <p:spPr>
          <a:xfrm>
            <a:off x="6524625" y="3730377"/>
            <a:ext cx="5048251" cy="986790"/>
          </a:xfrm>
          <a:prstGeom prst="rect">
            <a:avLst/>
          </a:prstGeom>
          <a:noFill/>
        </p:spPr>
        <p:txBody>
          <a:bodyPr wrap="square" lIns="0" tIns="226737" rIns="0" bIns="226737" rtlCol="0" anchor="t">
            <a:spAutoFit/>
          </a:bodyPr>
          <a:lstStyle/>
          <a:p>
            <a:pPr marL="0" indent="0" algn="ctr">
              <a:buNone/>
            </a:pPr>
            <a:r>
              <a:rPr lang="en-US" sz="3465" dirty="0">
                <a:solidFill>
                  <a:srgbClr val="E6EDF3"/>
                </a:solidFill>
                <a:latin typeface="Inter" pitchFamily="34" charset="0"/>
                <a:ea typeface="Inter" pitchFamily="34" charset="-122"/>
                <a:cs typeface="Inter" pitchFamily="34" charset="-120"/>
              </a:rPr>
              <a:t>101010</a:t>
            </a:r>
            <a:endParaRPr lang="en-US" sz="3465" dirty="0"/>
          </a:p>
        </p:txBody>
      </p:sp>
      <p:sp>
        <p:nvSpPr>
          <p:cNvPr id="35" name="Shape 32"/>
          <p:cNvSpPr/>
          <p:nvPr/>
        </p:nvSpPr>
        <p:spPr>
          <a:xfrm>
            <a:off x="7610475" y="4854327"/>
            <a:ext cx="400051" cy="495300"/>
          </a:xfrm>
          <a:prstGeom prst="rect">
            <a:avLst/>
          </a:prstGeom>
          <a:solidFill>
            <a:srgbClr val="0D1117"/>
          </a:solidFill>
          <a:ln w="9144">
            <a:solidFill>
              <a:srgbClr val="161B22"/>
            </a:solidFill>
            <a:prstDash val="solid"/>
          </a:ln>
        </p:spPr>
      </p:sp>
      <p:sp>
        <p:nvSpPr>
          <p:cNvPr id="36" name="Text 33"/>
          <p:cNvSpPr/>
          <p:nvPr/>
        </p:nvSpPr>
        <p:spPr>
          <a:xfrm>
            <a:off x="7755890" y="4974024"/>
            <a:ext cx="109220" cy="255905"/>
          </a:xfrm>
          <a:prstGeom prst="rect">
            <a:avLst/>
          </a:prstGeom>
          <a:noFill/>
        </p:spPr>
        <p:txBody>
          <a:bodyPr wrap="none" lIns="0" tIns="0" rIns="0" bIns="0" rtlCol="0" anchor="ctr">
            <a:spAutoFit/>
          </a:bodyPr>
          <a:lstStyle/>
          <a:p>
            <a:pPr marL="0" indent="0" algn="ctr">
              <a:buNone/>
            </a:pPr>
            <a:r>
              <a:rPr lang="en-US" sz="1665" dirty="0">
                <a:solidFill>
                  <a:srgbClr val="E6EDF3"/>
                </a:solidFill>
                <a:latin typeface="Inter" pitchFamily="34" charset="0"/>
                <a:ea typeface="Inter" pitchFamily="34" charset="-122"/>
                <a:cs typeface="Inter" pitchFamily="34" charset="-120"/>
              </a:rPr>
              <a:t>1</a:t>
            </a:r>
            <a:endParaRPr lang="en-US" sz="1665" dirty="0"/>
          </a:p>
        </p:txBody>
      </p:sp>
      <p:sp>
        <p:nvSpPr>
          <p:cNvPr id="37" name="Text 34"/>
          <p:cNvSpPr/>
          <p:nvPr/>
        </p:nvSpPr>
        <p:spPr>
          <a:xfrm>
            <a:off x="7752271" y="5330577"/>
            <a:ext cx="85725" cy="179070"/>
          </a:xfrm>
          <a:prstGeom prst="rect">
            <a:avLst/>
          </a:prstGeom>
          <a:noFill/>
        </p:spPr>
        <p:txBody>
          <a:bodyPr wrap="none" lIns="0" tIns="56726" rIns="0" bIns="0" rtlCol="0" anchor="t">
            <a:spAutoFit/>
          </a:bodyPr>
          <a:lstStyle/>
          <a:p>
            <a:pPr marL="0" indent="0" algn="l">
              <a:buNone/>
            </a:pPr>
            <a:r>
              <a:rPr lang="en-US" sz="800" dirty="0">
                <a:solidFill>
                  <a:srgbClr val="8B949E"/>
                </a:solidFill>
                <a:latin typeface="Inter" pitchFamily="34" charset="0"/>
                <a:ea typeface="Inter" pitchFamily="34" charset="-122"/>
                <a:cs typeface="Inter" pitchFamily="34" charset="-120"/>
              </a:rPr>
              <a:t>2⁵</a:t>
            </a:r>
            <a:endParaRPr lang="en-US" sz="800" dirty="0"/>
          </a:p>
        </p:txBody>
      </p:sp>
      <p:sp>
        <p:nvSpPr>
          <p:cNvPr id="38" name="Shape 35"/>
          <p:cNvSpPr/>
          <p:nvPr/>
        </p:nvSpPr>
        <p:spPr>
          <a:xfrm>
            <a:off x="8096251" y="4854327"/>
            <a:ext cx="400051" cy="495300"/>
          </a:xfrm>
          <a:prstGeom prst="rect">
            <a:avLst/>
          </a:prstGeom>
          <a:solidFill>
            <a:srgbClr val="0D1117"/>
          </a:solidFill>
          <a:ln w="9144">
            <a:solidFill>
              <a:srgbClr val="161B22"/>
            </a:solidFill>
            <a:prstDash val="solid"/>
          </a:ln>
        </p:spPr>
      </p:sp>
      <p:sp>
        <p:nvSpPr>
          <p:cNvPr id="39" name="Text 36"/>
          <p:cNvSpPr/>
          <p:nvPr/>
        </p:nvSpPr>
        <p:spPr>
          <a:xfrm>
            <a:off x="8241666" y="4974024"/>
            <a:ext cx="109220" cy="255905"/>
          </a:xfrm>
          <a:prstGeom prst="rect">
            <a:avLst/>
          </a:prstGeom>
          <a:noFill/>
        </p:spPr>
        <p:txBody>
          <a:bodyPr wrap="none" lIns="0" tIns="0" rIns="0" bIns="0" rtlCol="0" anchor="ctr">
            <a:spAutoFit/>
          </a:bodyPr>
          <a:lstStyle/>
          <a:p>
            <a:pPr marL="0" indent="0" algn="ctr">
              <a:buNone/>
            </a:pPr>
            <a:r>
              <a:rPr lang="en-US" sz="1665" dirty="0">
                <a:solidFill>
                  <a:srgbClr val="E6EDF3"/>
                </a:solidFill>
                <a:latin typeface="Inter" pitchFamily="34" charset="0"/>
                <a:ea typeface="Inter" pitchFamily="34" charset="-122"/>
                <a:cs typeface="Inter" pitchFamily="34" charset="-120"/>
              </a:rPr>
              <a:t>0</a:t>
            </a:r>
            <a:endParaRPr lang="en-US" sz="1665" dirty="0"/>
          </a:p>
        </p:txBody>
      </p:sp>
      <p:sp>
        <p:nvSpPr>
          <p:cNvPr id="40" name="Text 37"/>
          <p:cNvSpPr/>
          <p:nvPr/>
        </p:nvSpPr>
        <p:spPr>
          <a:xfrm>
            <a:off x="8237191" y="5330577"/>
            <a:ext cx="85725" cy="179070"/>
          </a:xfrm>
          <a:prstGeom prst="rect">
            <a:avLst/>
          </a:prstGeom>
          <a:noFill/>
        </p:spPr>
        <p:txBody>
          <a:bodyPr wrap="none" lIns="0" tIns="56726" rIns="0" bIns="0" rtlCol="0" anchor="t">
            <a:spAutoFit/>
          </a:bodyPr>
          <a:lstStyle/>
          <a:p>
            <a:pPr marL="0" indent="0" algn="l">
              <a:buNone/>
            </a:pPr>
            <a:r>
              <a:rPr lang="en-US" sz="800" dirty="0">
                <a:solidFill>
                  <a:srgbClr val="8B949E"/>
                </a:solidFill>
                <a:latin typeface="Inter" pitchFamily="34" charset="0"/>
                <a:ea typeface="Inter" pitchFamily="34" charset="-122"/>
                <a:cs typeface="Inter" pitchFamily="34" charset="-120"/>
              </a:rPr>
              <a:t>2⁴</a:t>
            </a:r>
            <a:endParaRPr lang="en-US" sz="800" dirty="0"/>
          </a:p>
        </p:txBody>
      </p:sp>
      <p:sp>
        <p:nvSpPr>
          <p:cNvPr id="41" name="Shape 38"/>
          <p:cNvSpPr/>
          <p:nvPr/>
        </p:nvSpPr>
        <p:spPr>
          <a:xfrm>
            <a:off x="8582025" y="4854327"/>
            <a:ext cx="400051" cy="495300"/>
          </a:xfrm>
          <a:prstGeom prst="rect">
            <a:avLst/>
          </a:prstGeom>
          <a:solidFill>
            <a:srgbClr val="0D1117"/>
          </a:solidFill>
          <a:ln w="9144">
            <a:solidFill>
              <a:srgbClr val="161B22"/>
            </a:solidFill>
            <a:prstDash val="solid"/>
          </a:ln>
        </p:spPr>
      </p:sp>
      <p:sp>
        <p:nvSpPr>
          <p:cNvPr id="42" name="Text 39"/>
          <p:cNvSpPr/>
          <p:nvPr/>
        </p:nvSpPr>
        <p:spPr>
          <a:xfrm>
            <a:off x="8727441" y="4974024"/>
            <a:ext cx="109220" cy="255905"/>
          </a:xfrm>
          <a:prstGeom prst="rect">
            <a:avLst/>
          </a:prstGeom>
          <a:noFill/>
        </p:spPr>
        <p:txBody>
          <a:bodyPr wrap="none" lIns="0" tIns="0" rIns="0" bIns="0" rtlCol="0" anchor="ctr">
            <a:spAutoFit/>
          </a:bodyPr>
          <a:lstStyle/>
          <a:p>
            <a:pPr marL="0" indent="0" algn="ctr">
              <a:buNone/>
            </a:pPr>
            <a:r>
              <a:rPr lang="en-US" sz="1665" dirty="0">
                <a:solidFill>
                  <a:srgbClr val="E6EDF3"/>
                </a:solidFill>
                <a:latin typeface="Inter" pitchFamily="34" charset="0"/>
                <a:ea typeface="Inter" pitchFamily="34" charset="-122"/>
                <a:cs typeface="Inter" pitchFamily="34" charset="-120"/>
              </a:rPr>
              <a:t>1</a:t>
            </a:r>
            <a:endParaRPr lang="en-US" sz="1665" dirty="0"/>
          </a:p>
        </p:txBody>
      </p:sp>
      <p:sp>
        <p:nvSpPr>
          <p:cNvPr id="43" name="Text 40"/>
          <p:cNvSpPr/>
          <p:nvPr/>
        </p:nvSpPr>
        <p:spPr>
          <a:xfrm>
            <a:off x="8722519" y="5330577"/>
            <a:ext cx="85725" cy="179070"/>
          </a:xfrm>
          <a:prstGeom prst="rect">
            <a:avLst/>
          </a:prstGeom>
          <a:noFill/>
        </p:spPr>
        <p:txBody>
          <a:bodyPr wrap="none" lIns="0" tIns="56726" rIns="0" bIns="0" rtlCol="0" anchor="t">
            <a:spAutoFit/>
          </a:bodyPr>
          <a:lstStyle/>
          <a:p>
            <a:pPr marL="0" indent="0" algn="l">
              <a:buNone/>
            </a:pPr>
            <a:r>
              <a:rPr lang="en-US" sz="800" dirty="0">
                <a:solidFill>
                  <a:srgbClr val="8B949E"/>
                </a:solidFill>
                <a:latin typeface="Inter" pitchFamily="34" charset="0"/>
                <a:ea typeface="Inter" pitchFamily="34" charset="-122"/>
                <a:cs typeface="Inter" pitchFamily="34" charset="-120"/>
              </a:rPr>
              <a:t>2³</a:t>
            </a:r>
            <a:endParaRPr lang="en-US" sz="800" dirty="0"/>
          </a:p>
        </p:txBody>
      </p:sp>
      <p:sp>
        <p:nvSpPr>
          <p:cNvPr id="44" name="Shape 41"/>
          <p:cNvSpPr/>
          <p:nvPr/>
        </p:nvSpPr>
        <p:spPr>
          <a:xfrm>
            <a:off x="9067800" y="4854327"/>
            <a:ext cx="400051" cy="495300"/>
          </a:xfrm>
          <a:prstGeom prst="rect">
            <a:avLst/>
          </a:prstGeom>
          <a:solidFill>
            <a:srgbClr val="0D1117"/>
          </a:solidFill>
          <a:ln w="9144">
            <a:solidFill>
              <a:srgbClr val="161B22"/>
            </a:solidFill>
            <a:prstDash val="solid"/>
          </a:ln>
        </p:spPr>
      </p:sp>
      <p:sp>
        <p:nvSpPr>
          <p:cNvPr id="45" name="Text 42"/>
          <p:cNvSpPr/>
          <p:nvPr/>
        </p:nvSpPr>
        <p:spPr>
          <a:xfrm>
            <a:off x="9213215" y="4974024"/>
            <a:ext cx="109220" cy="255905"/>
          </a:xfrm>
          <a:prstGeom prst="rect">
            <a:avLst/>
          </a:prstGeom>
          <a:noFill/>
        </p:spPr>
        <p:txBody>
          <a:bodyPr wrap="none" lIns="0" tIns="0" rIns="0" bIns="0" rtlCol="0" anchor="ctr">
            <a:spAutoFit/>
          </a:bodyPr>
          <a:lstStyle/>
          <a:p>
            <a:pPr marL="0" indent="0" algn="ctr">
              <a:buNone/>
            </a:pPr>
            <a:r>
              <a:rPr lang="en-US" sz="1665" dirty="0">
                <a:solidFill>
                  <a:srgbClr val="E6EDF3"/>
                </a:solidFill>
                <a:latin typeface="Inter" pitchFamily="34" charset="0"/>
                <a:ea typeface="Inter" pitchFamily="34" charset="-122"/>
                <a:cs typeface="Inter" pitchFamily="34" charset="-120"/>
              </a:rPr>
              <a:t>0</a:t>
            </a:r>
            <a:endParaRPr lang="en-US" sz="1665" dirty="0"/>
          </a:p>
        </p:txBody>
      </p:sp>
      <p:sp>
        <p:nvSpPr>
          <p:cNvPr id="46" name="Text 43"/>
          <p:cNvSpPr/>
          <p:nvPr/>
        </p:nvSpPr>
        <p:spPr>
          <a:xfrm>
            <a:off x="9208293" y="5330577"/>
            <a:ext cx="85725" cy="179070"/>
          </a:xfrm>
          <a:prstGeom prst="rect">
            <a:avLst/>
          </a:prstGeom>
          <a:noFill/>
        </p:spPr>
        <p:txBody>
          <a:bodyPr wrap="none" lIns="0" tIns="56726" rIns="0" bIns="0" rtlCol="0" anchor="t">
            <a:spAutoFit/>
          </a:bodyPr>
          <a:lstStyle/>
          <a:p>
            <a:pPr marL="0" indent="0" algn="l">
              <a:buNone/>
            </a:pPr>
            <a:r>
              <a:rPr lang="en-US" sz="800" dirty="0">
                <a:solidFill>
                  <a:srgbClr val="8B949E"/>
                </a:solidFill>
                <a:latin typeface="Inter" pitchFamily="34" charset="0"/>
                <a:ea typeface="Inter" pitchFamily="34" charset="-122"/>
                <a:cs typeface="Inter" pitchFamily="34" charset="-120"/>
              </a:rPr>
              <a:t>2²</a:t>
            </a:r>
            <a:endParaRPr lang="en-US" sz="800" dirty="0"/>
          </a:p>
        </p:txBody>
      </p:sp>
      <p:sp>
        <p:nvSpPr>
          <p:cNvPr id="47" name="Shape 44"/>
          <p:cNvSpPr/>
          <p:nvPr/>
        </p:nvSpPr>
        <p:spPr>
          <a:xfrm>
            <a:off x="9553575" y="4854327"/>
            <a:ext cx="400051" cy="495300"/>
          </a:xfrm>
          <a:prstGeom prst="rect">
            <a:avLst/>
          </a:prstGeom>
          <a:solidFill>
            <a:srgbClr val="0D1117"/>
          </a:solidFill>
          <a:ln w="9144">
            <a:solidFill>
              <a:srgbClr val="161B22"/>
            </a:solidFill>
            <a:prstDash val="solid"/>
          </a:ln>
        </p:spPr>
      </p:sp>
      <p:sp>
        <p:nvSpPr>
          <p:cNvPr id="48" name="Text 45"/>
          <p:cNvSpPr/>
          <p:nvPr/>
        </p:nvSpPr>
        <p:spPr>
          <a:xfrm>
            <a:off x="9698990" y="4974024"/>
            <a:ext cx="109220" cy="255905"/>
          </a:xfrm>
          <a:prstGeom prst="rect">
            <a:avLst/>
          </a:prstGeom>
          <a:noFill/>
        </p:spPr>
        <p:txBody>
          <a:bodyPr wrap="none" lIns="0" tIns="0" rIns="0" bIns="0" rtlCol="0" anchor="ctr">
            <a:spAutoFit/>
          </a:bodyPr>
          <a:lstStyle/>
          <a:p>
            <a:pPr marL="0" indent="0" algn="ctr">
              <a:buNone/>
            </a:pPr>
            <a:r>
              <a:rPr lang="en-US" sz="1665" dirty="0">
                <a:solidFill>
                  <a:srgbClr val="E6EDF3"/>
                </a:solidFill>
                <a:latin typeface="Inter" pitchFamily="34" charset="0"/>
                <a:ea typeface="Inter" pitchFamily="34" charset="-122"/>
                <a:cs typeface="Inter" pitchFamily="34" charset="-120"/>
              </a:rPr>
              <a:t>1</a:t>
            </a:r>
            <a:endParaRPr lang="en-US" sz="1665" dirty="0"/>
          </a:p>
        </p:txBody>
      </p:sp>
      <p:sp>
        <p:nvSpPr>
          <p:cNvPr id="49" name="Text 46"/>
          <p:cNvSpPr/>
          <p:nvPr/>
        </p:nvSpPr>
        <p:spPr>
          <a:xfrm>
            <a:off x="9701212" y="5330577"/>
            <a:ext cx="85725" cy="179070"/>
          </a:xfrm>
          <a:prstGeom prst="rect">
            <a:avLst/>
          </a:prstGeom>
          <a:noFill/>
        </p:spPr>
        <p:txBody>
          <a:bodyPr wrap="none" lIns="0" tIns="56726" rIns="0" bIns="0" rtlCol="0" anchor="t">
            <a:spAutoFit/>
          </a:bodyPr>
          <a:lstStyle/>
          <a:p>
            <a:pPr marL="0" indent="0" algn="l">
              <a:buNone/>
            </a:pPr>
            <a:r>
              <a:rPr lang="en-US" sz="800" dirty="0">
                <a:solidFill>
                  <a:srgbClr val="8B949E"/>
                </a:solidFill>
                <a:latin typeface="Inter" pitchFamily="34" charset="0"/>
                <a:ea typeface="Inter" pitchFamily="34" charset="-122"/>
                <a:cs typeface="Inter" pitchFamily="34" charset="-120"/>
              </a:rPr>
              <a:t>2¹</a:t>
            </a:r>
            <a:endParaRPr lang="en-US" sz="800" dirty="0"/>
          </a:p>
        </p:txBody>
      </p:sp>
      <p:sp>
        <p:nvSpPr>
          <p:cNvPr id="50" name="Shape 47"/>
          <p:cNvSpPr/>
          <p:nvPr/>
        </p:nvSpPr>
        <p:spPr>
          <a:xfrm>
            <a:off x="10039351" y="4854327"/>
            <a:ext cx="400051" cy="495300"/>
          </a:xfrm>
          <a:prstGeom prst="rect">
            <a:avLst/>
          </a:prstGeom>
          <a:solidFill>
            <a:srgbClr val="0D1117"/>
          </a:solidFill>
          <a:ln w="9144">
            <a:solidFill>
              <a:srgbClr val="161B22"/>
            </a:solidFill>
            <a:prstDash val="solid"/>
          </a:ln>
        </p:spPr>
      </p:sp>
      <p:sp>
        <p:nvSpPr>
          <p:cNvPr id="51" name="Text 48"/>
          <p:cNvSpPr/>
          <p:nvPr/>
        </p:nvSpPr>
        <p:spPr>
          <a:xfrm>
            <a:off x="10184766" y="4974024"/>
            <a:ext cx="109220" cy="255905"/>
          </a:xfrm>
          <a:prstGeom prst="rect">
            <a:avLst/>
          </a:prstGeom>
          <a:noFill/>
        </p:spPr>
        <p:txBody>
          <a:bodyPr wrap="none" lIns="0" tIns="0" rIns="0" bIns="0" rtlCol="0" anchor="ctr">
            <a:spAutoFit/>
          </a:bodyPr>
          <a:lstStyle/>
          <a:p>
            <a:pPr marL="0" indent="0" algn="ctr">
              <a:buNone/>
            </a:pPr>
            <a:r>
              <a:rPr lang="en-US" sz="1665" dirty="0">
                <a:solidFill>
                  <a:srgbClr val="E6EDF3"/>
                </a:solidFill>
                <a:latin typeface="Inter" pitchFamily="34" charset="0"/>
                <a:ea typeface="Inter" pitchFamily="34" charset="-122"/>
                <a:cs typeface="Inter" pitchFamily="34" charset="-120"/>
              </a:rPr>
              <a:t>0</a:t>
            </a:r>
            <a:endParaRPr lang="en-US" sz="1665" dirty="0"/>
          </a:p>
        </p:txBody>
      </p:sp>
      <p:sp>
        <p:nvSpPr>
          <p:cNvPr id="52" name="Text 49"/>
          <p:cNvSpPr/>
          <p:nvPr/>
        </p:nvSpPr>
        <p:spPr>
          <a:xfrm>
            <a:off x="10184607" y="5330577"/>
            <a:ext cx="85725" cy="179070"/>
          </a:xfrm>
          <a:prstGeom prst="rect">
            <a:avLst/>
          </a:prstGeom>
          <a:noFill/>
        </p:spPr>
        <p:txBody>
          <a:bodyPr wrap="none" lIns="0" tIns="56726" rIns="0" bIns="0" rtlCol="0" anchor="t">
            <a:spAutoFit/>
          </a:bodyPr>
          <a:lstStyle/>
          <a:p>
            <a:pPr marL="0" indent="0" algn="l">
              <a:buNone/>
            </a:pPr>
            <a:r>
              <a:rPr lang="en-US" sz="800" dirty="0">
                <a:solidFill>
                  <a:srgbClr val="8B949E"/>
                </a:solidFill>
                <a:latin typeface="Inter" pitchFamily="34" charset="0"/>
                <a:ea typeface="Inter" pitchFamily="34" charset="-122"/>
                <a:cs typeface="Inter" pitchFamily="34" charset="-120"/>
              </a:rPr>
              <a:t>2⁰</a:t>
            </a:r>
            <a:endParaRPr lang="en-US" sz="800" dirty="0"/>
          </a:p>
        </p:txBody>
      </p:sp>
      <p:sp>
        <p:nvSpPr>
          <p:cNvPr id="53" name="Text 50"/>
          <p:cNvSpPr/>
          <p:nvPr/>
        </p:nvSpPr>
        <p:spPr>
          <a:xfrm>
            <a:off x="6524625" y="5532983"/>
            <a:ext cx="5048251" cy="478155"/>
          </a:xfrm>
          <a:prstGeom prst="rect">
            <a:avLst/>
          </a:prstGeom>
          <a:noFill/>
        </p:spPr>
        <p:txBody>
          <a:bodyPr wrap="square" lIns="0" tIns="226737" rIns="0" bIns="0" rtlCol="0" anchor="t">
            <a:spAutoFit/>
          </a:bodyPr>
          <a:lstStyle/>
          <a:p>
            <a:pPr marL="0" indent="0" algn="ctr">
              <a:lnSpc>
                <a:spcPct val="144000"/>
              </a:lnSpc>
              <a:buNone/>
            </a:pPr>
            <a:r>
              <a:rPr lang="en-US" sz="1135" dirty="0">
                <a:solidFill>
                  <a:srgbClr val="8B949E"/>
                </a:solidFill>
                <a:latin typeface="JetBrains Mono Bold" pitchFamily="34" charset="0"/>
                <a:ea typeface="JetBrains Mono Bold" pitchFamily="34" charset="-122"/>
                <a:cs typeface="JetBrains Mono Bold" pitchFamily="34" charset="-120"/>
              </a:rPr>
              <a:t>(1×32) + (0×16) + (1×8) + (0×4) + (1×2) + (0×1) = 42</a:t>
            </a:r>
            <a:endParaRPr lang="en-US" sz="1135" dirty="0"/>
          </a:p>
        </p:txBody>
      </p:sp>
      <p:sp>
        <p:nvSpPr>
          <p:cNvPr id="54" name="Shape 51"/>
          <p:cNvSpPr/>
          <p:nvPr/>
        </p:nvSpPr>
        <p:spPr>
          <a:xfrm>
            <a:off x="381000" y="6015037"/>
            <a:ext cx="11430000" cy="652463"/>
          </a:xfrm>
          <a:prstGeom prst="rect">
            <a:avLst/>
          </a:prstGeom>
          <a:solidFill>
            <a:srgbClr val="E3B341">
              <a:alpha val="10000"/>
            </a:srgbClr>
          </a:solidFill>
          <a:ln w="9144">
            <a:solidFill>
              <a:srgbClr val="E3B341"/>
            </a:solidFill>
            <a:prstDash val="solid"/>
          </a:ln>
        </p:spPr>
      </p:sp>
      <p:sp>
        <p:nvSpPr>
          <p:cNvPr id="55" name="Text 52"/>
          <p:cNvSpPr/>
          <p:nvPr/>
        </p:nvSpPr>
        <p:spPr>
          <a:xfrm>
            <a:off x="381000" y="6015037"/>
            <a:ext cx="11430000" cy="668655"/>
          </a:xfrm>
          <a:prstGeom prst="rect">
            <a:avLst/>
          </a:prstGeom>
          <a:noFill/>
        </p:spPr>
        <p:txBody>
          <a:bodyPr wrap="square" lIns="226737" tIns="226737" rIns="226737" bIns="226737" rtlCol="0" anchor="t">
            <a:spAutoFit/>
          </a:bodyPr>
          <a:lstStyle/>
          <a:p>
            <a:pPr marL="0" indent="0" algn="ctr">
              <a:buNone/>
            </a:pPr>
            <a:r>
              <a:rPr lang="en-US" sz="1400" dirty="0">
                <a:solidFill>
                  <a:srgbClr val="E3B341"/>
                </a:solidFill>
                <a:latin typeface="JetBrains Mono Bold" pitchFamily="34" charset="0"/>
                <a:ea typeface="JetBrains Mono Bold" pitchFamily="34" charset="-122"/>
                <a:cs typeface="JetBrains Mono Bold" pitchFamily="34" charset="-120"/>
              </a:rPr>
              <a:t>"Same number. Different costume."</a:t>
            </a:r>
            <a:endParaRPr lang="en-US" sz="1400" dirty="0"/>
          </a:p>
        </p:txBody>
      </p:sp>
      <p:grpSp>
        <p:nvGrpSpPr>
          <p:cNvPr id="63" name="Group 2"/>
          <p:cNvGrpSpPr/>
          <p:nvPr/>
        </p:nvGrpSpPr>
        <p:grpSpPr>
          <a:xfrm rot="0">
            <a:off x="294640" y="194310"/>
            <a:ext cx="789305" cy="299720"/>
            <a:chOff x="0" y="0"/>
            <a:chExt cx="341337" cy="102463"/>
          </a:xfrm>
        </p:grpSpPr>
        <p:sp>
          <p:nvSpPr>
            <p:cNvPr id="6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6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66" name="Group 5"/>
          <p:cNvGrpSpPr/>
          <p:nvPr/>
        </p:nvGrpSpPr>
        <p:grpSpPr>
          <a:xfrm rot="0">
            <a:off x="822325" y="209550"/>
            <a:ext cx="220980" cy="246380"/>
            <a:chOff x="0" y="0"/>
            <a:chExt cx="812800" cy="812800"/>
          </a:xfrm>
        </p:grpSpPr>
        <p:sp>
          <p:nvSpPr>
            <p:cNvPr id="6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6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6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476251"/>
          </a:xfrm>
          <a:prstGeom prst="rect">
            <a:avLst/>
          </a:prstGeom>
          <a:solidFill>
            <a:srgbClr val="000000">
              <a:alpha val="0"/>
            </a:srgbClr>
          </a:solidFill>
        </p:spPr>
      </p:sp>
      <p:sp>
        <p:nvSpPr>
          <p:cNvPr id="4" name="Shape 1"/>
          <p:cNvSpPr/>
          <p:nvPr/>
        </p:nvSpPr>
        <p:spPr>
          <a:xfrm>
            <a:off x="0" y="466725"/>
            <a:ext cx="12192000" cy="9525"/>
          </a:xfrm>
          <a:prstGeom prst="rect">
            <a:avLst/>
          </a:prstGeom>
          <a:solidFill>
            <a:srgbClr val="161B22"/>
          </a:solidFill>
        </p:spPr>
      </p:sp>
      <p:sp>
        <p:nvSpPr>
          <p:cNvPr id="6" name="Text 3"/>
          <p:cNvSpPr/>
          <p:nvPr/>
        </p:nvSpPr>
        <p:spPr>
          <a:xfrm>
            <a:off x="10353675" y="150019"/>
            <a:ext cx="113792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SLIDE 09 // EWUCSC</a:t>
            </a:r>
            <a:endParaRPr lang="en-US" sz="1000" dirty="0"/>
          </a:p>
        </p:txBody>
      </p:sp>
      <p:sp>
        <p:nvSpPr>
          <p:cNvPr id="7" name="Text 4"/>
          <p:cNvSpPr/>
          <p:nvPr/>
        </p:nvSpPr>
        <p:spPr>
          <a:xfrm>
            <a:off x="381000" y="857251"/>
            <a:ext cx="11430000" cy="328930"/>
          </a:xfrm>
          <a:prstGeom prst="rect">
            <a:avLst/>
          </a:prstGeom>
          <a:noFill/>
        </p:spPr>
        <p:txBody>
          <a:bodyPr wrap="square" lIns="0" tIns="0" rIns="0" bIns="0" rtlCol="0" anchor="t">
            <a:spAutoFit/>
          </a:bodyPr>
          <a:lstStyle/>
          <a:p>
            <a:pPr marL="0" indent="0" algn="l">
              <a:buNone/>
            </a:pPr>
            <a:r>
              <a:rPr lang="en-US" sz="2135" b="1" dirty="0">
                <a:solidFill>
                  <a:srgbClr val="E6EDF3"/>
                </a:solidFill>
                <a:latin typeface="JetBrains Mono Bold" pitchFamily="34" charset="0"/>
                <a:ea typeface="JetBrains Mono Bold" pitchFamily="34" charset="-122"/>
                <a:cs typeface="JetBrains Mono Bold" pitchFamily="34" charset="-120"/>
              </a:rPr>
              <a:t>CONVERTING BINARY → DECIMAL</a:t>
            </a:r>
            <a:endParaRPr lang="en-US" sz="2135" dirty="0"/>
          </a:p>
        </p:txBody>
      </p:sp>
      <p:sp>
        <p:nvSpPr>
          <p:cNvPr id="8" name="Text 5"/>
          <p:cNvSpPr/>
          <p:nvPr/>
        </p:nvSpPr>
        <p:spPr>
          <a:xfrm>
            <a:off x="381000" y="1273969"/>
            <a:ext cx="11430000" cy="271780"/>
          </a:xfrm>
          <a:prstGeom prst="rect">
            <a:avLst/>
          </a:prstGeom>
          <a:noFill/>
        </p:spPr>
        <p:txBody>
          <a:bodyPr wrap="square" lIns="0" tIns="56726" rIns="0" bIns="0" rtlCol="0" anchor="t">
            <a:spAutoFit/>
          </a:bodyPr>
          <a:lstStyle/>
          <a:p>
            <a:pPr marL="0" indent="0" algn="l">
              <a:buNone/>
            </a:pPr>
            <a:r>
              <a:rPr lang="en-US" sz="1400" dirty="0">
                <a:solidFill>
                  <a:srgbClr val="58A6FF"/>
                </a:solidFill>
                <a:latin typeface="JetBrains Mono Bold" pitchFamily="34" charset="0"/>
                <a:ea typeface="JetBrains Mono Bold" pitchFamily="34" charset="-122"/>
                <a:cs typeface="JetBrains Mono Bold" pitchFamily="34" charset="-120"/>
              </a:rPr>
              <a:t>The Positional Value Method</a:t>
            </a:r>
            <a:endParaRPr lang="en-US" sz="1400" dirty="0"/>
          </a:p>
        </p:txBody>
      </p:sp>
      <p:sp>
        <p:nvSpPr>
          <p:cNvPr id="9" name="Text 6"/>
          <p:cNvSpPr/>
          <p:nvPr/>
        </p:nvSpPr>
        <p:spPr>
          <a:xfrm>
            <a:off x="381000" y="1955007"/>
            <a:ext cx="583565" cy="245745"/>
          </a:xfrm>
          <a:prstGeom prst="rect">
            <a:avLst/>
          </a:prstGeom>
          <a:noFill/>
        </p:spPr>
        <p:txBody>
          <a:bodyPr wrap="none" lIns="0" tIns="0" rIns="0" bIns="0" rtlCol="0" anchor="t">
            <a:spAutoFit/>
          </a:bodyPr>
          <a:lstStyle/>
          <a:p>
            <a:pPr marL="0" indent="0" algn="l">
              <a:buNone/>
            </a:pPr>
            <a:r>
              <a:rPr lang="en-US" sz="1600" b="1" dirty="0">
                <a:solidFill>
                  <a:srgbClr val="00FF9C"/>
                </a:solidFill>
                <a:latin typeface="JetBrains Mono Bold" pitchFamily="34" charset="0"/>
                <a:ea typeface="JetBrains Mono Bold" pitchFamily="34" charset="-122"/>
                <a:cs typeface="JetBrains Mono Bold" pitchFamily="34" charset="-120"/>
              </a:rPr>
              <a:t>STEP 1</a:t>
            </a:r>
            <a:endParaRPr lang="en-US" sz="1600" dirty="0"/>
          </a:p>
        </p:txBody>
      </p:sp>
      <p:sp>
        <p:nvSpPr>
          <p:cNvPr id="10" name="Text 7"/>
          <p:cNvSpPr/>
          <p:nvPr/>
        </p:nvSpPr>
        <p:spPr>
          <a:xfrm>
            <a:off x="1524000" y="1955007"/>
            <a:ext cx="4107656" cy="194310"/>
          </a:xfrm>
          <a:prstGeom prst="rect">
            <a:avLst/>
          </a:prstGeom>
          <a:noFill/>
        </p:spPr>
        <p:txBody>
          <a:bodyPr wrap="square" lIns="0" tIns="0" rIns="0" bIns="0" rtlCol="0" anchor="t">
            <a:spAutoFit/>
          </a:bodyPr>
          <a:lstStyle/>
          <a:p>
            <a:pPr marL="0" indent="0" algn="l">
              <a:buNone/>
            </a:pPr>
            <a:r>
              <a:rPr lang="en-US" sz="1265" dirty="0">
                <a:solidFill>
                  <a:srgbClr val="E6EDF3"/>
                </a:solidFill>
                <a:latin typeface="Inter" pitchFamily="34" charset="0"/>
                <a:ea typeface="Inter" pitchFamily="34" charset="-122"/>
                <a:cs typeface="Inter" pitchFamily="34" charset="-120"/>
              </a:rPr>
              <a:t>Write position values above each bit (powers of 2).</a:t>
            </a:r>
            <a:endParaRPr lang="en-US" sz="1265" dirty="0"/>
          </a:p>
        </p:txBody>
      </p:sp>
      <p:sp>
        <p:nvSpPr>
          <p:cNvPr id="11" name="Text 8"/>
          <p:cNvSpPr/>
          <p:nvPr/>
        </p:nvSpPr>
        <p:spPr>
          <a:xfrm>
            <a:off x="1530192" y="2346801"/>
            <a:ext cx="535305" cy="492760"/>
          </a:xfrm>
          <a:prstGeom prst="rect">
            <a:avLst/>
          </a:prstGeom>
          <a:noFill/>
        </p:spPr>
        <p:txBody>
          <a:bodyPr wrap="none" lIns="170010" tIns="170010" rIns="170010" bIns="170010" rtlCol="0" anchor="ctr">
            <a:spAutoFit/>
          </a:bodyPr>
          <a:lstStyle/>
          <a:p>
            <a:pPr marL="0" indent="0" algn="ctr">
              <a:buNone/>
            </a:pPr>
            <a:r>
              <a:rPr lang="en-US" sz="1000" dirty="0">
                <a:solidFill>
                  <a:srgbClr val="58A6FF"/>
                </a:solidFill>
                <a:latin typeface="JetBrains Mono Bold" pitchFamily="34" charset="0"/>
                <a:ea typeface="JetBrains Mono Bold" pitchFamily="34" charset="-122"/>
                <a:cs typeface="JetBrains Mono Bold" pitchFamily="34" charset="-120"/>
              </a:rPr>
              <a:t>128</a:t>
            </a:r>
            <a:endParaRPr lang="en-US" sz="1000" dirty="0"/>
          </a:p>
        </p:txBody>
      </p:sp>
      <p:sp>
        <p:nvSpPr>
          <p:cNvPr id="12" name="Text 9"/>
          <p:cNvSpPr/>
          <p:nvPr/>
        </p:nvSpPr>
        <p:spPr>
          <a:xfrm>
            <a:off x="2086285" y="2346801"/>
            <a:ext cx="469900" cy="492760"/>
          </a:xfrm>
          <a:prstGeom prst="rect">
            <a:avLst/>
          </a:prstGeom>
          <a:noFill/>
        </p:spPr>
        <p:txBody>
          <a:bodyPr wrap="none" lIns="170010" tIns="170010" rIns="170010" bIns="170010" rtlCol="0" anchor="ctr">
            <a:spAutoFit/>
          </a:bodyPr>
          <a:lstStyle/>
          <a:p>
            <a:pPr marL="0" indent="0" algn="ctr">
              <a:buNone/>
            </a:pPr>
            <a:r>
              <a:rPr lang="en-US" sz="1000" dirty="0">
                <a:solidFill>
                  <a:srgbClr val="58A6FF"/>
                </a:solidFill>
                <a:latin typeface="JetBrains Mono Bold" pitchFamily="34" charset="0"/>
                <a:ea typeface="JetBrains Mono Bold" pitchFamily="34" charset="-122"/>
                <a:cs typeface="JetBrains Mono Bold" pitchFamily="34" charset="-120"/>
              </a:rPr>
              <a:t>64</a:t>
            </a:r>
            <a:endParaRPr lang="en-US" sz="1000" dirty="0"/>
          </a:p>
        </p:txBody>
      </p:sp>
      <p:sp>
        <p:nvSpPr>
          <p:cNvPr id="13" name="Text 10"/>
          <p:cNvSpPr/>
          <p:nvPr/>
        </p:nvSpPr>
        <p:spPr>
          <a:xfrm>
            <a:off x="2594905" y="2346801"/>
            <a:ext cx="469900" cy="492760"/>
          </a:xfrm>
          <a:prstGeom prst="rect">
            <a:avLst/>
          </a:prstGeom>
          <a:noFill/>
        </p:spPr>
        <p:txBody>
          <a:bodyPr wrap="none" lIns="170010" tIns="170010" rIns="170010" bIns="170010" rtlCol="0" anchor="ctr">
            <a:spAutoFit/>
          </a:bodyPr>
          <a:lstStyle/>
          <a:p>
            <a:pPr marL="0" indent="0" algn="ctr">
              <a:buNone/>
            </a:pPr>
            <a:r>
              <a:rPr lang="en-US" sz="1000" dirty="0">
                <a:solidFill>
                  <a:srgbClr val="58A6FF"/>
                </a:solidFill>
                <a:latin typeface="JetBrains Mono Bold" pitchFamily="34" charset="0"/>
                <a:ea typeface="JetBrains Mono Bold" pitchFamily="34" charset="-122"/>
                <a:cs typeface="JetBrains Mono Bold" pitchFamily="34" charset="-120"/>
              </a:rPr>
              <a:t>32</a:t>
            </a:r>
            <a:endParaRPr lang="en-US" sz="1000" dirty="0"/>
          </a:p>
        </p:txBody>
      </p:sp>
      <p:sp>
        <p:nvSpPr>
          <p:cNvPr id="14" name="Text 11"/>
          <p:cNvSpPr/>
          <p:nvPr/>
        </p:nvSpPr>
        <p:spPr>
          <a:xfrm>
            <a:off x="3103525" y="2346801"/>
            <a:ext cx="469900" cy="492760"/>
          </a:xfrm>
          <a:prstGeom prst="rect">
            <a:avLst/>
          </a:prstGeom>
          <a:noFill/>
        </p:spPr>
        <p:txBody>
          <a:bodyPr wrap="none" lIns="170010" tIns="170010" rIns="170010" bIns="170010" rtlCol="0" anchor="ctr">
            <a:spAutoFit/>
          </a:bodyPr>
          <a:lstStyle/>
          <a:p>
            <a:pPr marL="0" indent="0" algn="ctr">
              <a:buNone/>
            </a:pPr>
            <a:r>
              <a:rPr lang="en-US" sz="1000" dirty="0">
                <a:solidFill>
                  <a:srgbClr val="58A6FF"/>
                </a:solidFill>
                <a:latin typeface="JetBrains Mono Bold" pitchFamily="34" charset="0"/>
                <a:ea typeface="JetBrains Mono Bold" pitchFamily="34" charset="-122"/>
                <a:cs typeface="JetBrains Mono Bold" pitchFamily="34" charset="-120"/>
              </a:rPr>
              <a:t>16</a:t>
            </a:r>
            <a:endParaRPr lang="en-US" sz="1000" dirty="0"/>
          </a:p>
        </p:txBody>
      </p:sp>
      <p:sp>
        <p:nvSpPr>
          <p:cNvPr id="15" name="Text 12"/>
          <p:cNvSpPr/>
          <p:nvPr/>
        </p:nvSpPr>
        <p:spPr>
          <a:xfrm>
            <a:off x="3644773" y="2346801"/>
            <a:ext cx="404495" cy="492760"/>
          </a:xfrm>
          <a:prstGeom prst="rect">
            <a:avLst/>
          </a:prstGeom>
          <a:noFill/>
        </p:spPr>
        <p:txBody>
          <a:bodyPr wrap="none" lIns="170010" tIns="170010" rIns="170010" bIns="170010" rtlCol="0" anchor="ctr">
            <a:spAutoFit/>
          </a:bodyPr>
          <a:lstStyle/>
          <a:p>
            <a:pPr marL="0" indent="0" algn="ctr">
              <a:buNone/>
            </a:pPr>
            <a:r>
              <a:rPr lang="en-US" sz="1000" dirty="0">
                <a:solidFill>
                  <a:srgbClr val="58A6FF"/>
                </a:solidFill>
                <a:latin typeface="JetBrains Mono Bold" pitchFamily="34" charset="0"/>
                <a:ea typeface="JetBrains Mono Bold" pitchFamily="34" charset="-122"/>
                <a:cs typeface="JetBrains Mono Bold" pitchFamily="34" charset="-120"/>
              </a:rPr>
              <a:t>8</a:t>
            </a:r>
            <a:endParaRPr lang="en-US" sz="1000" dirty="0"/>
          </a:p>
        </p:txBody>
      </p:sp>
      <p:sp>
        <p:nvSpPr>
          <p:cNvPr id="16" name="Text 13"/>
          <p:cNvSpPr/>
          <p:nvPr/>
        </p:nvSpPr>
        <p:spPr>
          <a:xfrm>
            <a:off x="4153244" y="2346801"/>
            <a:ext cx="404495" cy="492760"/>
          </a:xfrm>
          <a:prstGeom prst="rect">
            <a:avLst/>
          </a:prstGeom>
          <a:noFill/>
        </p:spPr>
        <p:txBody>
          <a:bodyPr wrap="none" lIns="170010" tIns="170010" rIns="170010" bIns="170010" rtlCol="0" anchor="ctr">
            <a:spAutoFit/>
          </a:bodyPr>
          <a:lstStyle/>
          <a:p>
            <a:pPr marL="0" indent="0" algn="ctr">
              <a:buNone/>
            </a:pPr>
            <a:r>
              <a:rPr lang="en-US" sz="1000" dirty="0">
                <a:solidFill>
                  <a:srgbClr val="58A6FF"/>
                </a:solidFill>
                <a:latin typeface="JetBrains Mono Bold" pitchFamily="34" charset="0"/>
                <a:ea typeface="JetBrains Mono Bold" pitchFamily="34" charset="-122"/>
                <a:cs typeface="JetBrains Mono Bold" pitchFamily="34" charset="-120"/>
              </a:rPr>
              <a:t>4</a:t>
            </a:r>
            <a:endParaRPr lang="en-US" sz="1000" dirty="0"/>
          </a:p>
        </p:txBody>
      </p:sp>
      <p:sp>
        <p:nvSpPr>
          <p:cNvPr id="17" name="Text 14"/>
          <p:cNvSpPr/>
          <p:nvPr/>
        </p:nvSpPr>
        <p:spPr>
          <a:xfrm>
            <a:off x="4661716" y="2346801"/>
            <a:ext cx="404495" cy="492760"/>
          </a:xfrm>
          <a:prstGeom prst="rect">
            <a:avLst/>
          </a:prstGeom>
          <a:noFill/>
        </p:spPr>
        <p:txBody>
          <a:bodyPr wrap="none" lIns="170010" tIns="170010" rIns="170010" bIns="170010" rtlCol="0" anchor="ctr">
            <a:spAutoFit/>
          </a:bodyPr>
          <a:lstStyle/>
          <a:p>
            <a:pPr marL="0" indent="0" algn="ctr">
              <a:buNone/>
            </a:pPr>
            <a:r>
              <a:rPr lang="en-US" sz="1000" dirty="0">
                <a:solidFill>
                  <a:srgbClr val="58A6FF"/>
                </a:solidFill>
                <a:latin typeface="JetBrains Mono Bold" pitchFamily="34" charset="0"/>
                <a:ea typeface="JetBrains Mono Bold" pitchFamily="34" charset="-122"/>
                <a:cs typeface="JetBrains Mono Bold" pitchFamily="34" charset="-120"/>
              </a:rPr>
              <a:t>2</a:t>
            </a:r>
            <a:endParaRPr lang="en-US" sz="1000" dirty="0"/>
          </a:p>
        </p:txBody>
      </p:sp>
      <p:sp>
        <p:nvSpPr>
          <p:cNvPr id="18" name="Text 15"/>
          <p:cNvSpPr/>
          <p:nvPr/>
        </p:nvSpPr>
        <p:spPr>
          <a:xfrm>
            <a:off x="5170298" y="2346801"/>
            <a:ext cx="404495" cy="492760"/>
          </a:xfrm>
          <a:prstGeom prst="rect">
            <a:avLst/>
          </a:prstGeom>
          <a:noFill/>
        </p:spPr>
        <p:txBody>
          <a:bodyPr wrap="none" lIns="170010" tIns="170010" rIns="170010" bIns="170010" rtlCol="0" anchor="ctr">
            <a:spAutoFit/>
          </a:bodyPr>
          <a:lstStyle/>
          <a:p>
            <a:pPr marL="0" indent="0" algn="ctr">
              <a:buNone/>
            </a:pPr>
            <a:r>
              <a:rPr lang="en-US" sz="1000" dirty="0">
                <a:solidFill>
                  <a:srgbClr val="58A6FF"/>
                </a:solidFill>
                <a:latin typeface="JetBrains Mono Bold" pitchFamily="34" charset="0"/>
                <a:ea typeface="JetBrains Mono Bold" pitchFamily="34" charset="-122"/>
                <a:cs typeface="JetBrains Mono Bold" pitchFamily="34" charset="-120"/>
              </a:rPr>
              <a:t>1</a:t>
            </a:r>
            <a:endParaRPr lang="en-US" sz="1000" dirty="0"/>
          </a:p>
        </p:txBody>
      </p:sp>
      <p:sp>
        <p:nvSpPr>
          <p:cNvPr id="19" name="Shape 16"/>
          <p:cNvSpPr/>
          <p:nvPr/>
        </p:nvSpPr>
        <p:spPr>
          <a:xfrm>
            <a:off x="1528763" y="2828925"/>
            <a:ext cx="538163" cy="647700"/>
          </a:xfrm>
          <a:prstGeom prst="rect">
            <a:avLst/>
          </a:prstGeom>
          <a:solidFill>
            <a:srgbClr val="00FF9C">
              <a:alpha val="5000"/>
            </a:srgbClr>
          </a:solidFill>
          <a:ln w="9144">
            <a:solidFill>
              <a:srgbClr val="161B22"/>
            </a:solidFill>
            <a:prstDash val="solid"/>
          </a:ln>
        </p:spPr>
      </p:sp>
      <p:sp>
        <p:nvSpPr>
          <p:cNvPr id="20" name="Text 17"/>
          <p:cNvSpPr/>
          <p:nvPr/>
        </p:nvSpPr>
        <p:spPr>
          <a:xfrm>
            <a:off x="1566704" y="2839720"/>
            <a:ext cx="462280" cy="626110"/>
          </a:xfrm>
          <a:prstGeom prst="rect">
            <a:avLst/>
          </a:prstGeom>
          <a:noFill/>
        </p:spPr>
        <p:txBody>
          <a:bodyPr wrap="none" lIns="170010" tIns="170010" rIns="170010" bIns="170010" rtlCol="0" anchor="ctr">
            <a:spAutoFit/>
          </a:bodyPr>
          <a:lstStyle/>
          <a:p>
            <a:pPr marL="0" indent="0" algn="ctr">
              <a:buNone/>
            </a:pPr>
            <a:r>
              <a:rPr lang="en-US" sz="1865" b="1" dirty="0">
                <a:solidFill>
                  <a:srgbClr val="00FF9C"/>
                </a:solidFill>
                <a:latin typeface="JetBrains Mono Bold" pitchFamily="34" charset="0"/>
                <a:ea typeface="JetBrains Mono Bold" pitchFamily="34" charset="-122"/>
                <a:cs typeface="JetBrains Mono Bold" pitchFamily="34" charset="-120"/>
              </a:rPr>
              <a:t>1</a:t>
            </a:r>
            <a:endParaRPr lang="en-US" sz="1865" dirty="0"/>
          </a:p>
        </p:txBody>
      </p:sp>
      <p:sp>
        <p:nvSpPr>
          <p:cNvPr id="21" name="Text 18"/>
          <p:cNvSpPr/>
          <p:nvPr/>
        </p:nvSpPr>
        <p:spPr>
          <a:xfrm>
            <a:off x="2090095" y="2839720"/>
            <a:ext cx="462280" cy="626110"/>
          </a:xfrm>
          <a:prstGeom prst="rect">
            <a:avLst/>
          </a:prstGeom>
          <a:noFill/>
        </p:spPr>
        <p:txBody>
          <a:bodyPr wrap="none" lIns="170010" tIns="170010" rIns="170010" bIns="170010" rtlCol="0" anchor="ctr">
            <a:spAutoFit/>
          </a:bodyPr>
          <a:lstStyle/>
          <a:p>
            <a:pPr marL="0" indent="0" algn="ctr">
              <a:buNone/>
            </a:pPr>
            <a:r>
              <a:rPr lang="en-US" sz="1865" b="1" dirty="0">
                <a:solidFill>
                  <a:srgbClr val="161B22"/>
                </a:solidFill>
                <a:latin typeface="JetBrains Mono Bold" pitchFamily="34" charset="0"/>
                <a:ea typeface="JetBrains Mono Bold" pitchFamily="34" charset="-122"/>
                <a:cs typeface="JetBrains Mono Bold" pitchFamily="34" charset="-120"/>
              </a:rPr>
              <a:t>0</a:t>
            </a:r>
            <a:endParaRPr lang="en-US" sz="1865" dirty="0"/>
          </a:p>
        </p:txBody>
      </p:sp>
      <p:sp>
        <p:nvSpPr>
          <p:cNvPr id="22" name="Shape 19"/>
          <p:cNvSpPr/>
          <p:nvPr/>
        </p:nvSpPr>
        <p:spPr>
          <a:xfrm>
            <a:off x="2575545" y="2828925"/>
            <a:ext cx="508620" cy="647700"/>
          </a:xfrm>
          <a:prstGeom prst="rect">
            <a:avLst/>
          </a:prstGeom>
          <a:solidFill>
            <a:srgbClr val="00FF9C">
              <a:alpha val="5000"/>
            </a:srgbClr>
          </a:solidFill>
          <a:ln w="9144">
            <a:solidFill>
              <a:srgbClr val="161B22"/>
            </a:solidFill>
            <a:prstDash val="solid"/>
          </a:ln>
        </p:spPr>
      </p:sp>
      <p:sp>
        <p:nvSpPr>
          <p:cNvPr id="23" name="Text 20"/>
          <p:cNvSpPr/>
          <p:nvPr/>
        </p:nvSpPr>
        <p:spPr>
          <a:xfrm>
            <a:off x="2598715" y="2839720"/>
            <a:ext cx="462280" cy="626110"/>
          </a:xfrm>
          <a:prstGeom prst="rect">
            <a:avLst/>
          </a:prstGeom>
          <a:noFill/>
        </p:spPr>
        <p:txBody>
          <a:bodyPr wrap="none" lIns="170010" tIns="170010" rIns="170010" bIns="170010" rtlCol="0" anchor="ctr">
            <a:spAutoFit/>
          </a:bodyPr>
          <a:lstStyle/>
          <a:p>
            <a:pPr marL="0" indent="0" algn="ctr">
              <a:buNone/>
            </a:pPr>
            <a:r>
              <a:rPr lang="en-US" sz="1865" b="1" dirty="0">
                <a:solidFill>
                  <a:srgbClr val="00FF9C"/>
                </a:solidFill>
                <a:latin typeface="JetBrains Mono Bold" pitchFamily="34" charset="0"/>
                <a:ea typeface="JetBrains Mono Bold" pitchFamily="34" charset="-122"/>
                <a:cs typeface="JetBrains Mono Bold" pitchFamily="34" charset="-120"/>
              </a:rPr>
              <a:t>1</a:t>
            </a:r>
            <a:endParaRPr lang="en-US" sz="1865" dirty="0"/>
          </a:p>
        </p:txBody>
      </p:sp>
      <p:sp>
        <p:nvSpPr>
          <p:cNvPr id="24" name="Shape 21"/>
          <p:cNvSpPr/>
          <p:nvPr/>
        </p:nvSpPr>
        <p:spPr>
          <a:xfrm>
            <a:off x="3084165" y="2828925"/>
            <a:ext cx="508620" cy="647700"/>
          </a:xfrm>
          <a:prstGeom prst="rect">
            <a:avLst/>
          </a:prstGeom>
          <a:solidFill>
            <a:srgbClr val="00FF9C">
              <a:alpha val="5000"/>
            </a:srgbClr>
          </a:solidFill>
          <a:ln w="9144">
            <a:solidFill>
              <a:srgbClr val="161B22"/>
            </a:solidFill>
            <a:prstDash val="solid"/>
          </a:ln>
        </p:spPr>
      </p:sp>
      <p:sp>
        <p:nvSpPr>
          <p:cNvPr id="25" name="Text 22"/>
          <p:cNvSpPr/>
          <p:nvPr/>
        </p:nvSpPr>
        <p:spPr>
          <a:xfrm>
            <a:off x="3107335" y="2839720"/>
            <a:ext cx="462280" cy="626110"/>
          </a:xfrm>
          <a:prstGeom prst="rect">
            <a:avLst/>
          </a:prstGeom>
          <a:noFill/>
        </p:spPr>
        <p:txBody>
          <a:bodyPr wrap="none" lIns="170010" tIns="170010" rIns="170010" bIns="170010" rtlCol="0" anchor="ctr">
            <a:spAutoFit/>
          </a:bodyPr>
          <a:lstStyle/>
          <a:p>
            <a:pPr marL="0" indent="0" algn="ctr">
              <a:buNone/>
            </a:pPr>
            <a:r>
              <a:rPr lang="en-US" sz="1865" b="1" dirty="0">
                <a:solidFill>
                  <a:srgbClr val="00FF9C"/>
                </a:solidFill>
                <a:latin typeface="JetBrains Mono Bold" pitchFamily="34" charset="0"/>
                <a:ea typeface="JetBrains Mono Bold" pitchFamily="34" charset="-122"/>
                <a:cs typeface="JetBrains Mono Bold" pitchFamily="34" charset="-120"/>
              </a:rPr>
              <a:t>1</a:t>
            </a:r>
            <a:endParaRPr lang="en-US" sz="1865" dirty="0"/>
          </a:p>
        </p:txBody>
      </p:sp>
      <p:sp>
        <p:nvSpPr>
          <p:cNvPr id="26" name="Text 23"/>
          <p:cNvSpPr/>
          <p:nvPr/>
        </p:nvSpPr>
        <p:spPr>
          <a:xfrm>
            <a:off x="3615881" y="2839720"/>
            <a:ext cx="462280" cy="626110"/>
          </a:xfrm>
          <a:prstGeom prst="rect">
            <a:avLst/>
          </a:prstGeom>
          <a:noFill/>
        </p:spPr>
        <p:txBody>
          <a:bodyPr wrap="none" lIns="170010" tIns="170010" rIns="170010" bIns="170010" rtlCol="0" anchor="ctr">
            <a:spAutoFit/>
          </a:bodyPr>
          <a:lstStyle/>
          <a:p>
            <a:pPr marL="0" indent="0" algn="ctr">
              <a:buNone/>
            </a:pPr>
            <a:r>
              <a:rPr lang="en-US" sz="1865" b="1" dirty="0">
                <a:solidFill>
                  <a:srgbClr val="161B22"/>
                </a:solidFill>
                <a:latin typeface="JetBrains Mono Bold" pitchFamily="34" charset="0"/>
                <a:ea typeface="JetBrains Mono Bold" pitchFamily="34" charset="-122"/>
                <a:cs typeface="JetBrains Mono Bold" pitchFamily="34" charset="-120"/>
              </a:rPr>
              <a:t>0</a:t>
            </a:r>
            <a:endParaRPr lang="en-US" sz="1865" dirty="0"/>
          </a:p>
        </p:txBody>
      </p:sp>
      <p:sp>
        <p:nvSpPr>
          <p:cNvPr id="27" name="Text 24"/>
          <p:cNvSpPr/>
          <p:nvPr/>
        </p:nvSpPr>
        <p:spPr>
          <a:xfrm>
            <a:off x="4124351" y="2839720"/>
            <a:ext cx="462280" cy="626110"/>
          </a:xfrm>
          <a:prstGeom prst="rect">
            <a:avLst/>
          </a:prstGeom>
          <a:noFill/>
        </p:spPr>
        <p:txBody>
          <a:bodyPr wrap="none" lIns="170010" tIns="170010" rIns="170010" bIns="170010" rtlCol="0" anchor="ctr">
            <a:spAutoFit/>
          </a:bodyPr>
          <a:lstStyle/>
          <a:p>
            <a:pPr marL="0" indent="0" algn="ctr">
              <a:buNone/>
            </a:pPr>
            <a:r>
              <a:rPr lang="en-US" sz="1865" b="1" dirty="0">
                <a:solidFill>
                  <a:srgbClr val="161B22"/>
                </a:solidFill>
                <a:latin typeface="JetBrains Mono Bold" pitchFamily="34" charset="0"/>
                <a:ea typeface="JetBrains Mono Bold" pitchFamily="34" charset="-122"/>
                <a:cs typeface="JetBrains Mono Bold" pitchFamily="34" charset="-120"/>
              </a:rPr>
              <a:t>0</a:t>
            </a:r>
            <a:endParaRPr lang="en-US" sz="1865" dirty="0"/>
          </a:p>
        </p:txBody>
      </p:sp>
      <p:sp>
        <p:nvSpPr>
          <p:cNvPr id="28" name="Shape 25"/>
          <p:cNvSpPr/>
          <p:nvPr/>
        </p:nvSpPr>
        <p:spPr>
          <a:xfrm>
            <a:off x="4609728" y="2828925"/>
            <a:ext cx="508471" cy="647700"/>
          </a:xfrm>
          <a:prstGeom prst="rect">
            <a:avLst/>
          </a:prstGeom>
          <a:solidFill>
            <a:srgbClr val="00FF9C">
              <a:alpha val="5000"/>
            </a:srgbClr>
          </a:solidFill>
          <a:ln w="9144">
            <a:solidFill>
              <a:srgbClr val="161B22"/>
            </a:solidFill>
            <a:prstDash val="solid"/>
          </a:ln>
        </p:spPr>
      </p:sp>
      <p:sp>
        <p:nvSpPr>
          <p:cNvPr id="29" name="Text 26"/>
          <p:cNvSpPr/>
          <p:nvPr/>
        </p:nvSpPr>
        <p:spPr>
          <a:xfrm>
            <a:off x="4632823" y="2839720"/>
            <a:ext cx="462280" cy="626110"/>
          </a:xfrm>
          <a:prstGeom prst="rect">
            <a:avLst/>
          </a:prstGeom>
          <a:noFill/>
        </p:spPr>
        <p:txBody>
          <a:bodyPr wrap="none" lIns="170010" tIns="170010" rIns="170010" bIns="170010" rtlCol="0" anchor="ctr">
            <a:spAutoFit/>
          </a:bodyPr>
          <a:lstStyle/>
          <a:p>
            <a:pPr marL="0" indent="0" algn="ctr">
              <a:buNone/>
            </a:pPr>
            <a:r>
              <a:rPr lang="en-US" sz="1865" b="1" dirty="0">
                <a:solidFill>
                  <a:srgbClr val="00FF9C"/>
                </a:solidFill>
                <a:latin typeface="JetBrains Mono Bold" pitchFamily="34" charset="0"/>
                <a:ea typeface="JetBrains Mono Bold" pitchFamily="34" charset="-122"/>
                <a:cs typeface="JetBrains Mono Bold" pitchFamily="34" charset="-120"/>
              </a:rPr>
              <a:t>1</a:t>
            </a:r>
            <a:endParaRPr lang="en-US" sz="1865" dirty="0"/>
          </a:p>
        </p:txBody>
      </p:sp>
      <p:sp>
        <p:nvSpPr>
          <p:cNvPr id="30" name="Shape 27"/>
          <p:cNvSpPr/>
          <p:nvPr/>
        </p:nvSpPr>
        <p:spPr>
          <a:xfrm>
            <a:off x="5118199" y="2828925"/>
            <a:ext cx="508695" cy="647700"/>
          </a:xfrm>
          <a:prstGeom prst="rect">
            <a:avLst/>
          </a:prstGeom>
          <a:solidFill>
            <a:srgbClr val="00FF9C">
              <a:alpha val="5000"/>
            </a:srgbClr>
          </a:solidFill>
          <a:ln w="9144">
            <a:solidFill>
              <a:srgbClr val="161B22"/>
            </a:solidFill>
            <a:prstDash val="solid"/>
          </a:ln>
        </p:spPr>
      </p:sp>
      <p:sp>
        <p:nvSpPr>
          <p:cNvPr id="31" name="Text 28"/>
          <p:cNvSpPr/>
          <p:nvPr/>
        </p:nvSpPr>
        <p:spPr>
          <a:xfrm>
            <a:off x="5141406" y="2839720"/>
            <a:ext cx="462280" cy="626110"/>
          </a:xfrm>
          <a:prstGeom prst="rect">
            <a:avLst/>
          </a:prstGeom>
          <a:noFill/>
        </p:spPr>
        <p:txBody>
          <a:bodyPr wrap="none" lIns="170010" tIns="170010" rIns="170010" bIns="170010" rtlCol="0" anchor="ctr">
            <a:spAutoFit/>
          </a:bodyPr>
          <a:lstStyle/>
          <a:p>
            <a:pPr marL="0" indent="0" algn="ctr">
              <a:buNone/>
            </a:pPr>
            <a:r>
              <a:rPr lang="en-US" sz="1865" b="1" dirty="0">
                <a:solidFill>
                  <a:srgbClr val="00FF9C"/>
                </a:solidFill>
                <a:latin typeface="JetBrains Mono Bold" pitchFamily="34" charset="0"/>
                <a:ea typeface="JetBrains Mono Bold" pitchFamily="34" charset="-122"/>
                <a:cs typeface="JetBrains Mono Bold" pitchFamily="34" charset="-120"/>
              </a:rPr>
              <a:t>1</a:t>
            </a:r>
            <a:endParaRPr lang="en-US" sz="1865" dirty="0"/>
          </a:p>
        </p:txBody>
      </p:sp>
      <p:sp>
        <p:nvSpPr>
          <p:cNvPr id="32" name="Text 29"/>
          <p:cNvSpPr/>
          <p:nvPr/>
        </p:nvSpPr>
        <p:spPr>
          <a:xfrm>
            <a:off x="381000" y="3767137"/>
            <a:ext cx="583565" cy="245745"/>
          </a:xfrm>
          <a:prstGeom prst="rect">
            <a:avLst/>
          </a:prstGeom>
          <a:noFill/>
        </p:spPr>
        <p:txBody>
          <a:bodyPr wrap="none" lIns="0" tIns="0" rIns="0" bIns="0" rtlCol="0" anchor="t">
            <a:spAutoFit/>
          </a:bodyPr>
          <a:lstStyle/>
          <a:p>
            <a:pPr marL="0" indent="0" algn="l">
              <a:buNone/>
            </a:pPr>
            <a:r>
              <a:rPr lang="en-US" sz="1600" b="1" dirty="0">
                <a:solidFill>
                  <a:srgbClr val="00FF9C"/>
                </a:solidFill>
                <a:latin typeface="JetBrains Mono Bold" pitchFamily="34" charset="0"/>
                <a:ea typeface="JetBrains Mono Bold" pitchFamily="34" charset="-122"/>
                <a:cs typeface="JetBrains Mono Bold" pitchFamily="34" charset="-120"/>
              </a:rPr>
              <a:t>STEP 2</a:t>
            </a:r>
            <a:endParaRPr lang="en-US" sz="1600" dirty="0"/>
          </a:p>
        </p:txBody>
      </p:sp>
      <p:sp>
        <p:nvSpPr>
          <p:cNvPr id="33" name="Text 30"/>
          <p:cNvSpPr/>
          <p:nvPr/>
        </p:nvSpPr>
        <p:spPr>
          <a:xfrm>
            <a:off x="1524000" y="3767137"/>
            <a:ext cx="4445793" cy="194310"/>
          </a:xfrm>
          <a:prstGeom prst="rect">
            <a:avLst/>
          </a:prstGeom>
          <a:noFill/>
        </p:spPr>
        <p:txBody>
          <a:bodyPr wrap="square" lIns="0" tIns="0" rIns="0" bIns="0" rtlCol="0" anchor="t">
            <a:spAutoFit/>
          </a:bodyPr>
          <a:lstStyle/>
          <a:p>
            <a:pPr marL="0" indent="0" algn="l">
              <a:buNone/>
            </a:pPr>
            <a:r>
              <a:rPr lang="en-US" sz="1265" dirty="0">
                <a:solidFill>
                  <a:srgbClr val="E6EDF3"/>
                </a:solidFill>
                <a:latin typeface="Inter" pitchFamily="34" charset="0"/>
                <a:ea typeface="Inter" pitchFamily="34" charset="-122"/>
                <a:cs typeface="Inter" pitchFamily="34" charset="-120"/>
              </a:rPr>
              <a:t>Multiply each bit by its position value and add them up.</a:t>
            </a:r>
            <a:endParaRPr lang="en-US" sz="1265" dirty="0"/>
          </a:p>
        </p:txBody>
      </p:sp>
      <p:sp>
        <p:nvSpPr>
          <p:cNvPr id="34" name="Shape 31"/>
          <p:cNvSpPr/>
          <p:nvPr/>
        </p:nvSpPr>
        <p:spPr>
          <a:xfrm>
            <a:off x="1524000" y="4164807"/>
            <a:ext cx="4876800" cy="633412"/>
          </a:xfrm>
          <a:prstGeom prst="rect">
            <a:avLst/>
          </a:prstGeom>
          <a:solidFill>
            <a:srgbClr val="161B22"/>
          </a:solidFill>
        </p:spPr>
      </p:sp>
      <p:sp>
        <p:nvSpPr>
          <p:cNvPr id="35" name="Shape 32"/>
          <p:cNvSpPr/>
          <p:nvPr/>
        </p:nvSpPr>
        <p:spPr>
          <a:xfrm>
            <a:off x="1524000" y="4164807"/>
            <a:ext cx="38100" cy="633412"/>
          </a:xfrm>
          <a:prstGeom prst="rect">
            <a:avLst/>
          </a:prstGeom>
          <a:solidFill>
            <a:srgbClr val="00FF9C"/>
          </a:solidFill>
        </p:spPr>
      </p:sp>
      <p:sp>
        <p:nvSpPr>
          <p:cNvPr id="36" name="Text 33"/>
          <p:cNvSpPr/>
          <p:nvPr/>
        </p:nvSpPr>
        <p:spPr>
          <a:xfrm>
            <a:off x="1524000" y="4164807"/>
            <a:ext cx="4876800" cy="668655"/>
          </a:xfrm>
          <a:prstGeom prst="rect">
            <a:avLst/>
          </a:prstGeom>
          <a:noFill/>
        </p:spPr>
        <p:txBody>
          <a:bodyPr wrap="square" lIns="226737" tIns="226737" rIns="226737" bIns="226737" rtlCol="0" anchor="t">
            <a:spAutoFit/>
          </a:bodyPr>
          <a:lstStyle/>
          <a:p>
            <a:pPr marL="0" indent="0" algn="l">
              <a:buNone/>
            </a:pPr>
            <a:r>
              <a:rPr lang="en-US" sz="1400" dirty="0">
                <a:solidFill>
                  <a:srgbClr val="E6EDF3"/>
                </a:solidFill>
                <a:latin typeface="JetBrains Mono Bold" pitchFamily="34" charset="0"/>
                <a:ea typeface="JetBrains Mono Bold" pitchFamily="34" charset="-122"/>
                <a:cs typeface="JetBrains Mono Bold" pitchFamily="34" charset="-120"/>
              </a:rPr>
              <a:t>128 + 0 + 32 + 16 + 0 + 0 + 2 + 1 = </a:t>
            </a:r>
            <a:r>
              <a:rPr lang="en-US" sz="1400" dirty="0">
                <a:solidFill>
                  <a:srgbClr val="00FF9C"/>
                </a:solidFill>
                <a:latin typeface="JetBrains Mono Bold" pitchFamily="34" charset="0"/>
                <a:ea typeface="JetBrains Mono Bold" pitchFamily="34" charset="-122"/>
                <a:cs typeface="JetBrains Mono Bold" pitchFamily="34" charset="-120"/>
              </a:rPr>
              <a:t>179</a:t>
            </a:r>
            <a:endParaRPr lang="en-US" sz="1400" dirty="0"/>
          </a:p>
        </p:txBody>
      </p:sp>
      <p:sp>
        <p:nvSpPr>
          <p:cNvPr id="37" name="Shape 34"/>
          <p:cNvSpPr/>
          <p:nvPr/>
        </p:nvSpPr>
        <p:spPr>
          <a:xfrm>
            <a:off x="381000" y="5800725"/>
            <a:ext cx="11430000" cy="676275"/>
          </a:xfrm>
          <a:prstGeom prst="rect">
            <a:avLst/>
          </a:prstGeom>
          <a:solidFill>
            <a:srgbClr val="E3B341">
              <a:alpha val="10000"/>
            </a:srgbClr>
          </a:solidFill>
          <a:ln w="9144">
            <a:solidFill>
              <a:srgbClr val="E3B341"/>
            </a:solidFill>
            <a:prstDash val="solid"/>
          </a:ln>
        </p:spPr>
      </p:sp>
      <p:pic>
        <p:nvPicPr>
          <p:cNvPr id="38" name="Image 1" descr="preencoded.png"/>
          <p:cNvPicPr>
            <a:picLocks noChangeAspect="1"/>
          </p:cNvPicPr>
          <p:nvPr/>
        </p:nvPicPr>
        <p:blipFill>
          <a:blip r:embed="rId2"/>
          <a:stretch>
            <a:fillRect/>
          </a:stretch>
        </p:blipFill>
        <p:spPr>
          <a:xfrm>
            <a:off x="571500" y="6031707"/>
            <a:ext cx="228600" cy="228600"/>
          </a:xfrm>
          <a:prstGeom prst="rect">
            <a:avLst/>
          </a:prstGeom>
        </p:spPr>
      </p:pic>
      <p:sp>
        <p:nvSpPr>
          <p:cNvPr id="39" name="Text 35"/>
          <p:cNvSpPr/>
          <p:nvPr/>
        </p:nvSpPr>
        <p:spPr>
          <a:xfrm>
            <a:off x="990600" y="6048375"/>
            <a:ext cx="8415337"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JetBrains Mono Bold" pitchFamily="34" charset="0"/>
                <a:ea typeface="JetBrains Mono Bold" pitchFamily="34" charset="-122"/>
                <a:cs typeface="JetBrains Mono Bold" pitchFamily="34" charset="-120"/>
              </a:rPr>
              <a:t>MEMORY TIP: Just memorize </a:t>
            </a:r>
            <a:r>
              <a:rPr lang="en-US" sz="1135" dirty="0">
                <a:solidFill>
                  <a:srgbClr val="00FF9C"/>
                </a:solidFill>
                <a:latin typeface="JetBrains Mono Bold" pitchFamily="34" charset="0"/>
                <a:ea typeface="JetBrains Mono Bold" pitchFamily="34" charset="-122"/>
                <a:cs typeface="JetBrains Mono Bold" pitchFamily="34" charset="-120"/>
              </a:rPr>
              <a:t>128, 64, 32, 16, 8, 4, 2, 1</a:t>
            </a:r>
            <a:r>
              <a:rPr lang="en-US" sz="1135" dirty="0">
                <a:solidFill>
                  <a:srgbClr val="E6EDF3"/>
                </a:solidFill>
                <a:latin typeface="JetBrains Mono Bold" pitchFamily="34" charset="0"/>
                <a:ea typeface="JetBrains Mono Bold" pitchFamily="34" charset="-122"/>
                <a:cs typeface="JetBrains Mono Bold" pitchFamily="34" charset="-120"/>
              </a:rPr>
              <a:t> — that's all you need for 8-bit binary.</a:t>
            </a:r>
            <a:endParaRPr lang="en-US" sz="1135" dirty="0"/>
          </a:p>
        </p:txBody>
      </p:sp>
      <p:grpSp>
        <p:nvGrpSpPr>
          <p:cNvPr id="40" name="Group 2"/>
          <p:cNvGrpSpPr/>
          <p:nvPr/>
        </p:nvGrpSpPr>
        <p:grpSpPr>
          <a:xfrm rot="0">
            <a:off x="294640" y="194310"/>
            <a:ext cx="789305" cy="299720"/>
            <a:chOff x="0" y="0"/>
            <a:chExt cx="341337" cy="102463"/>
          </a:xfrm>
        </p:grpSpPr>
        <p:sp>
          <p:nvSpPr>
            <p:cNvPr id="41"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9"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50" name="Group 5"/>
          <p:cNvGrpSpPr/>
          <p:nvPr/>
        </p:nvGrpSpPr>
        <p:grpSpPr>
          <a:xfrm rot="0">
            <a:off x="822325" y="209550"/>
            <a:ext cx="220980" cy="246380"/>
            <a:chOff x="0" y="0"/>
            <a:chExt cx="812800" cy="812800"/>
          </a:xfrm>
        </p:grpSpPr>
        <p:sp>
          <p:nvSpPr>
            <p:cNvPr id="51"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2"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53"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54"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55"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988969"/>
          </a:xfrm>
          <a:prstGeom prst="rect">
            <a:avLst/>
          </a:prstGeom>
        </p:spPr>
      </p:pic>
      <p:sp>
        <p:nvSpPr>
          <p:cNvPr id="3" name="Shape 0"/>
          <p:cNvSpPr/>
          <p:nvPr/>
        </p:nvSpPr>
        <p:spPr>
          <a:xfrm>
            <a:off x="0" y="0"/>
            <a:ext cx="12192000" cy="476251"/>
          </a:xfrm>
          <a:prstGeom prst="rect">
            <a:avLst/>
          </a:prstGeom>
          <a:solidFill>
            <a:srgbClr val="000000">
              <a:alpha val="0"/>
            </a:srgbClr>
          </a:solidFill>
        </p:spPr>
      </p:sp>
      <p:sp>
        <p:nvSpPr>
          <p:cNvPr id="4" name="Shape 1"/>
          <p:cNvSpPr/>
          <p:nvPr/>
        </p:nvSpPr>
        <p:spPr>
          <a:xfrm>
            <a:off x="0" y="466725"/>
            <a:ext cx="12192000" cy="9525"/>
          </a:xfrm>
          <a:prstGeom prst="rect">
            <a:avLst/>
          </a:prstGeom>
          <a:solidFill>
            <a:srgbClr val="161B22"/>
          </a:solidFill>
        </p:spPr>
      </p:sp>
      <p:sp>
        <p:nvSpPr>
          <p:cNvPr id="5" name="Text 2"/>
          <p:cNvSpPr/>
          <p:nvPr/>
        </p:nvSpPr>
        <p:spPr>
          <a:xfrm>
            <a:off x="381000" y="150019"/>
            <a:ext cx="2914651" cy="153670"/>
          </a:xfrm>
          <a:prstGeom prst="rect">
            <a:avLst/>
          </a:prstGeom>
          <a:noFill/>
        </p:spPr>
        <p:txBody>
          <a:bodyPr wrap="square" lIns="0" tIns="0" rIns="0" bIns="0" rtlCol="0" anchor="t">
            <a:spAutoFit/>
          </a:bodyPr>
          <a:lstStyle/>
          <a:p>
            <a:pPr marL="0" indent="0" algn="l">
              <a:buNone/>
            </a:pPr>
            <a:endParaRPr lang="en-US" sz="1000" dirty="0"/>
          </a:p>
        </p:txBody>
      </p:sp>
      <p:sp>
        <p:nvSpPr>
          <p:cNvPr id="6" name="Text 3"/>
          <p:cNvSpPr/>
          <p:nvPr/>
        </p:nvSpPr>
        <p:spPr>
          <a:xfrm>
            <a:off x="10353675" y="150019"/>
            <a:ext cx="113792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SLIDE 10 // EWUCSC</a:t>
            </a:r>
            <a:endParaRPr lang="en-US" sz="1000" dirty="0"/>
          </a:p>
        </p:txBody>
      </p:sp>
      <p:sp>
        <p:nvSpPr>
          <p:cNvPr id="7" name="Text 4"/>
          <p:cNvSpPr/>
          <p:nvPr/>
        </p:nvSpPr>
        <p:spPr>
          <a:xfrm>
            <a:off x="381000" y="857251"/>
            <a:ext cx="4935661" cy="328930"/>
          </a:xfrm>
          <a:prstGeom prst="rect">
            <a:avLst/>
          </a:prstGeom>
          <a:noFill/>
        </p:spPr>
        <p:txBody>
          <a:bodyPr wrap="square" lIns="0" tIns="0" rIns="0" bIns="0" rtlCol="0" anchor="t">
            <a:spAutoFit/>
          </a:bodyPr>
          <a:lstStyle/>
          <a:p>
            <a:pPr marL="0" indent="0" algn="l">
              <a:buNone/>
            </a:pPr>
            <a:r>
              <a:rPr lang="en-US" sz="2135" b="1" dirty="0">
                <a:solidFill>
                  <a:srgbClr val="E6EDF3"/>
                </a:solidFill>
                <a:latin typeface="JetBrains Mono Bold" pitchFamily="34" charset="0"/>
                <a:ea typeface="JetBrains Mono Bold" pitchFamily="34" charset="-122"/>
                <a:cs typeface="JetBrains Mono Bold" pitchFamily="34" charset="-120"/>
              </a:rPr>
              <a:t>CONVERTING DECIMAL → BINARY</a:t>
            </a:r>
            <a:endParaRPr lang="en-US" sz="2135" dirty="0"/>
          </a:p>
        </p:txBody>
      </p:sp>
      <p:sp>
        <p:nvSpPr>
          <p:cNvPr id="8" name="Text 5"/>
          <p:cNvSpPr/>
          <p:nvPr/>
        </p:nvSpPr>
        <p:spPr>
          <a:xfrm>
            <a:off x="381000" y="2038351"/>
            <a:ext cx="1842135" cy="249555"/>
          </a:xfrm>
          <a:prstGeom prst="rect">
            <a:avLst/>
          </a:prstGeom>
          <a:noFill/>
        </p:spPr>
        <p:txBody>
          <a:bodyPr wrap="none" lIns="0" tIns="0" rIns="0" bIns="0" rtlCol="0" anchor="t">
            <a:spAutoFit/>
          </a:bodyPr>
          <a:lstStyle/>
          <a:p>
            <a:pPr marL="0" indent="0" algn="l">
              <a:lnSpc>
                <a:spcPct val="128000"/>
              </a:lnSpc>
              <a:buNone/>
            </a:pPr>
            <a:r>
              <a:rPr lang="en-US" sz="1265" dirty="0">
                <a:solidFill>
                  <a:srgbClr val="00FF9C"/>
                </a:solidFill>
                <a:latin typeface="JetBrains Mono Bold" pitchFamily="34" charset="0"/>
                <a:ea typeface="JetBrains Mono Bold" pitchFamily="34" charset="-122"/>
                <a:cs typeface="JetBrains Mono Bold" pitchFamily="34" charset="-120"/>
              </a:rPr>
              <a:t>&gt;</a:t>
            </a:r>
            <a:r>
              <a:rPr lang="en-US" sz="1265" dirty="0">
                <a:solidFill>
                  <a:srgbClr val="8B949E"/>
                </a:solidFill>
                <a:latin typeface="Inter" pitchFamily="34" charset="0"/>
                <a:ea typeface="Inter" pitchFamily="34" charset="-122"/>
                <a:cs typeface="Inter" pitchFamily="34" charset="-120"/>
              </a:rPr>
              <a:t> The </a:t>
            </a:r>
            <a:r>
              <a:rPr lang="en-US" sz="1265" dirty="0">
                <a:solidFill>
                  <a:srgbClr val="58A6FF"/>
                </a:solidFill>
                <a:latin typeface="Inter" pitchFamily="34" charset="0"/>
                <a:ea typeface="Inter" pitchFamily="34" charset="-122"/>
                <a:cs typeface="Inter" pitchFamily="34" charset="-120"/>
              </a:rPr>
              <a:t>Divide-by-2</a:t>
            </a:r>
            <a:r>
              <a:rPr lang="en-US" sz="1265" dirty="0">
                <a:solidFill>
                  <a:srgbClr val="8B949E"/>
                </a:solidFill>
                <a:latin typeface="Inter" pitchFamily="34" charset="0"/>
                <a:ea typeface="Inter" pitchFamily="34" charset="-122"/>
                <a:cs typeface="Inter" pitchFamily="34" charset="-120"/>
              </a:rPr>
              <a:t> method.</a:t>
            </a:r>
            <a:endParaRPr lang="en-US" sz="1265" dirty="0"/>
          </a:p>
        </p:txBody>
      </p:sp>
      <p:sp>
        <p:nvSpPr>
          <p:cNvPr id="9" name="Shape 6"/>
          <p:cNvSpPr/>
          <p:nvPr/>
        </p:nvSpPr>
        <p:spPr>
          <a:xfrm>
            <a:off x="381000" y="2600772"/>
            <a:ext cx="4935661" cy="1085851"/>
          </a:xfrm>
          <a:prstGeom prst="rect">
            <a:avLst/>
          </a:prstGeom>
          <a:solidFill>
            <a:srgbClr val="161B22"/>
          </a:solidFill>
        </p:spPr>
      </p:sp>
      <p:sp>
        <p:nvSpPr>
          <p:cNvPr id="10" name="Shape 7"/>
          <p:cNvSpPr/>
          <p:nvPr/>
        </p:nvSpPr>
        <p:spPr>
          <a:xfrm>
            <a:off x="381000" y="2600772"/>
            <a:ext cx="38100" cy="1085851"/>
          </a:xfrm>
          <a:prstGeom prst="rect">
            <a:avLst/>
          </a:prstGeom>
          <a:solidFill>
            <a:srgbClr val="58A6FF"/>
          </a:solidFill>
        </p:spPr>
      </p:sp>
      <p:sp>
        <p:nvSpPr>
          <p:cNvPr id="11" name="Text 8"/>
          <p:cNvSpPr/>
          <p:nvPr/>
        </p:nvSpPr>
        <p:spPr>
          <a:xfrm>
            <a:off x="381000" y="2600772"/>
            <a:ext cx="4935661" cy="1068705"/>
          </a:xfrm>
          <a:prstGeom prst="rect">
            <a:avLst/>
          </a:prstGeom>
          <a:noFill/>
        </p:spPr>
        <p:txBody>
          <a:bodyPr wrap="square" lIns="226737" tIns="226737" rIns="226737" bIns="226737"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1. Divide the number by 2.
2. Write down the remainder (0 or 1).
3. Use the quotient for the next step.
4. Repeat until the quotient is 0.</a:t>
            </a:r>
            <a:endParaRPr lang="en-US" sz="1000" dirty="0"/>
          </a:p>
        </p:txBody>
      </p:sp>
      <p:sp>
        <p:nvSpPr>
          <p:cNvPr id="12" name="Shape 9"/>
          <p:cNvSpPr/>
          <p:nvPr/>
        </p:nvSpPr>
        <p:spPr>
          <a:xfrm>
            <a:off x="5888161" y="857251"/>
            <a:ext cx="5922839" cy="5245893"/>
          </a:xfrm>
          <a:prstGeom prst="rect">
            <a:avLst/>
          </a:prstGeom>
          <a:solidFill>
            <a:srgbClr val="161B22"/>
          </a:solidFill>
          <a:ln w="9144">
            <a:solidFill>
              <a:srgbClr val="161B22"/>
            </a:solidFill>
            <a:prstDash val="solid"/>
          </a:ln>
        </p:spPr>
      </p:sp>
      <p:sp>
        <p:nvSpPr>
          <p:cNvPr id="13" name="Text 10"/>
          <p:cNvSpPr/>
          <p:nvPr/>
        </p:nvSpPr>
        <p:spPr>
          <a:xfrm>
            <a:off x="6173912" y="1143000"/>
            <a:ext cx="5351339" cy="323215"/>
          </a:xfrm>
          <a:prstGeom prst="rect">
            <a:avLst/>
          </a:prstGeom>
          <a:noFill/>
        </p:spPr>
        <p:txBody>
          <a:bodyPr wrap="square" lIns="0" tIns="0" rIns="0" bIns="170010" rtlCol="0" anchor="t">
            <a:spAutoFit/>
          </a:bodyPr>
          <a:lstStyle/>
          <a:p>
            <a:pPr marL="0" indent="0" algn="l">
              <a:buNone/>
            </a:pPr>
            <a:r>
              <a:rPr lang="en-US" sz="1000" dirty="0">
                <a:solidFill>
                  <a:srgbClr val="58A6FF"/>
                </a:solidFill>
                <a:latin typeface="JetBrains Mono Bold" pitchFamily="34" charset="0"/>
                <a:ea typeface="JetBrains Mono Bold" pitchFamily="34" charset="-122"/>
                <a:cs typeface="JetBrains Mono Bold" pitchFamily="34" charset="-120"/>
              </a:rPr>
              <a:t>WORKED EXAMPLE: 179</a:t>
            </a:r>
            <a:endParaRPr lang="en-US" sz="1000" dirty="0"/>
          </a:p>
        </p:txBody>
      </p:sp>
      <p:sp>
        <p:nvSpPr>
          <p:cNvPr id="14" name="Text 11"/>
          <p:cNvSpPr/>
          <p:nvPr/>
        </p:nvSpPr>
        <p:spPr>
          <a:xfrm>
            <a:off x="6173912" y="1557337"/>
            <a:ext cx="1021080" cy="215265"/>
          </a:xfrm>
          <a:prstGeom prst="rect">
            <a:avLst/>
          </a:prstGeom>
          <a:noFill/>
        </p:spPr>
        <p:txBody>
          <a:bodyPr wrap="none" lIns="0" tIns="0" rIns="0" bIns="0" rtlCol="0" anchor="t">
            <a:spAutoFit/>
          </a:bodyPr>
          <a:lstStyle/>
          <a:p>
            <a:pPr marL="0" indent="0" algn="l">
              <a:buNone/>
            </a:pPr>
            <a:r>
              <a:rPr lang="en-US" sz="1400" dirty="0">
                <a:solidFill>
                  <a:srgbClr val="E6EDF3"/>
                </a:solidFill>
                <a:latin typeface="JetBrains Mono Bold" pitchFamily="34" charset="0"/>
                <a:ea typeface="JetBrains Mono Bold" pitchFamily="34" charset="-122"/>
                <a:cs typeface="JetBrains Mono Bold" pitchFamily="34" charset="-120"/>
              </a:rPr>
              <a:t>179 ÷ 2 = 89</a:t>
            </a:r>
            <a:endParaRPr lang="en-US" sz="1400" dirty="0"/>
          </a:p>
        </p:txBody>
      </p:sp>
      <p:sp>
        <p:nvSpPr>
          <p:cNvPr id="15" name="Text 12"/>
          <p:cNvSpPr/>
          <p:nvPr/>
        </p:nvSpPr>
        <p:spPr>
          <a:xfrm>
            <a:off x="10953751" y="1557337"/>
            <a:ext cx="438785" cy="205740"/>
          </a:xfrm>
          <a:prstGeom prst="rect">
            <a:avLst/>
          </a:prstGeom>
          <a:noFill/>
        </p:spPr>
        <p:txBody>
          <a:bodyPr wrap="none" lIns="0" tIns="0" rIns="0" bIns="0" rtlCol="0" anchor="t">
            <a:spAutoFit/>
          </a:bodyPr>
          <a:lstStyle/>
          <a:p>
            <a:pPr marL="0" indent="0" algn="l">
              <a:buNone/>
            </a:pPr>
            <a:r>
              <a:rPr lang="en-US" sz="1335" b="1" dirty="0">
                <a:solidFill>
                  <a:srgbClr val="00FF9C"/>
                </a:solidFill>
                <a:latin typeface="JetBrains Mono Bold" pitchFamily="34" charset="0"/>
                <a:ea typeface="JetBrains Mono Bold" pitchFamily="34" charset="-122"/>
                <a:cs typeface="JetBrains Mono Bold" pitchFamily="34" charset="-120"/>
              </a:rPr>
              <a:t>rem 1</a:t>
            </a:r>
            <a:endParaRPr lang="en-US" sz="1335" dirty="0"/>
          </a:p>
        </p:txBody>
      </p:sp>
      <p:sp>
        <p:nvSpPr>
          <p:cNvPr id="16" name="Text 13"/>
          <p:cNvSpPr/>
          <p:nvPr/>
        </p:nvSpPr>
        <p:spPr>
          <a:xfrm>
            <a:off x="6173912" y="1914525"/>
            <a:ext cx="929640" cy="215265"/>
          </a:xfrm>
          <a:prstGeom prst="rect">
            <a:avLst/>
          </a:prstGeom>
          <a:noFill/>
        </p:spPr>
        <p:txBody>
          <a:bodyPr wrap="none" lIns="0" tIns="0" rIns="0" bIns="0" rtlCol="0" anchor="t">
            <a:spAutoFit/>
          </a:bodyPr>
          <a:lstStyle/>
          <a:p>
            <a:pPr marL="0" indent="0" algn="l">
              <a:buNone/>
            </a:pPr>
            <a:r>
              <a:rPr lang="en-US" sz="1400" dirty="0">
                <a:solidFill>
                  <a:srgbClr val="E6EDF3"/>
                </a:solidFill>
                <a:latin typeface="JetBrains Mono Bold" pitchFamily="34" charset="0"/>
                <a:ea typeface="JetBrains Mono Bold" pitchFamily="34" charset="-122"/>
                <a:cs typeface="JetBrains Mono Bold" pitchFamily="34" charset="-120"/>
              </a:rPr>
              <a:t>89 ÷ 2 = 44</a:t>
            </a:r>
            <a:endParaRPr lang="en-US" sz="1400" dirty="0"/>
          </a:p>
        </p:txBody>
      </p:sp>
      <p:sp>
        <p:nvSpPr>
          <p:cNvPr id="17" name="Text 14"/>
          <p:cNvSpPr/>
          <p:nvPr/>
        </p:nvSpPr>
        <p:spPr>
          <a:xfrm>
            <a:off x="10953751" y="1914525"/>
            <a:ext cx="438785" cy="205740"/>
          </a:xfrm>
          <a:prstGeom prst="rect">
            <a:avLst/>
          </a:prstGeom>
          <a:noFill/>
        </p:spPr>
        <p:txBody>
          <a:bodyPr wrap="none" lIns="0" tIns="0" rIns="0" bIns="0" rtlCol="0" anchor="t">
            <a:spAutoFit/>
          </a:bodyPr>
          <a:lstStyle/>
          <a:p>
            <a:pPr marL="0" indent="0" algn="l">
              <a:buNone/>
            </a:pPr>
            <a:r>
              <a:rPr lang="en-US" sz="1335" b="1" dirty="0">
                <a:solidFill>
                  <a:srgbClr val="00FF9C"/>
                </a:solidFill>
                <a:latin typeface="JetBrains Mono Bold" pitchFamily="34" charset="0"/>
                <a:ea typeface="JetBrains Mono Bold" pitchFamily="34" charset="-122"/>
                <a:cs typeface="JetBrains Mono Bold" pitchFamily="34" charset="-120"/>
              </a:rPr>
              <a:t>rem 1</a:t>
            </a:r>
            <a:endParaRPr lang="en-US" sz="1335" dirty="0"/>
          </a:p>
        </p:txBody>
      </p:sp>
      <p:sp>
        <p:nvSpPr>
          <p:cNvPr id="18" name="Text 15"/>
          <p:cNvSpPr/>
          <p:nvPr/>
        </p:nvSpPr>
        <p:spPr>
          <a:xfrm>
            <a:off x="6173912" y="2271712"/>
            <a:ext cx="929640" cy="215265"/>
          </a:xfrm>
          <a:prstGeom prst="rect">
            <a:avLst/>
          </a:prstGeom>
          <a:noFill/>
        </p:spPr>
        <p:txBody>
          <a:bodyPr wrap="none" lIns="0" tIns="0" rIns="0" bIns="0" rtlCol="0" anchor="t">
            <a:spAutoFit/>
          </a:bodyPr>
          <a:lstStyle/>
          <a:p>
            <a:pPr marL="0" indent="0" algn="l">
              <a:buNone/>
            </a:pPr>
            <a:r>
              <a:rPr lang="en-US" sz="1400" dirty="0">
                <a:solidFill>
                  <a:srgbClr val="E6EDF3"/>
                </a:solidFill>
                <a:latin typeface="JetBrains Mono Bold" pitchFamily="34" charset="0"/>
                <a:ea typeface="JetBrains Mono Bold" pitchFamily="34" charset="-122"/>
                <a:cs typeface="JetBrains Mono Bold" pitchFamily="34" charset="-120"/>
              </a:rPr>
              <a:t>44 ÷ 2 = 22</a:t>
            </a:r>
            <a:endParaRPr lang="en-US" sz="1400" dirty="0"/>
          </a:p>
        </p:txBody>
      </p:sp>
      <p:sp>
        <p:nvSpPr>
          <p:cNvPr id="19" name="Text 16"/>
          <p:cNvSpPr/>
          <p:nvPr/>
        </p:nvSpPr>
        <p:spPr>
          <a:xfrm>
            <a:off x="10953751" y="2271712"/>
            <a:ext cx="438785" cy="205740"/>
          </a:xfrm>
          <a:prstGeom prst="rect">
            <a:avLst/>
          </a:prstGeom>
          <a:noFill/>
        </p:spPr>
        <p:txBody>
          <a:bodyPr wrap="none" lIns="0" tIns="0" rIns="0" bIns="0" rtlCol="0" anchor="t">
            <a:spAutoFit/>
          </a:bodyPr>
          <a:lstStyle/>
          <a:p>
            <a:pPr marL="0" indent="0" algn="l">
              <a:buNone/>
            </a:pPr>
            <a:r>
              <a:rPr lang="en-US" sz="1335" b="1" dirty="0">
                <a:solidFill>
                  <a:srgbClr val="00FF9C"/>
                </a:solidFill>
                <a:latin typeface="JetBrains Mono Bold" pitchFamily="34" charset="0"/>
                <a:ea typeface="JetBrains Mono Bold" pitchFamily="34" charset="-122"/>
                <a:cs typeface="JetBrains Mono Bold" pitchFamily="34" charset="-120"/>
              </a:rPr>
              <a:t>rem 0</a:t>
            </a:r>
            <a:endParaRPr lang="en-US" sz="1335" dirty="0"/>
          </a:p>
        </p:txBody>
      </p:sp>
      <p:sp>
        <p:nvSpPr>
          <p:cNvPr id="20" name="Text 17"/>
          <p:cNvSpPr/>
          <p:nvPr/>
        </p:nvSpPr>
        <p:spPr>
          <a:xfrm>
            <a:off x="6173912" y="2628900"/>
            <a:ext cx="929640" cy="215265"/>
          </a:xfrm>
          <a:prstGeom prst="rect">
            <a:avLst/>
          </a:prstGeom>
          <a:noFill/>
        </p:spPr>
        <p:txBody>
          <a:bodyPr wrap="none" lIns="0" tIns="0" rIns="0" bIns="0" rtlCol="0" anchor="t">
            <a:spAutoFit/>
          </a:bodyPr>
          <a:lstStyle/>
          <a:p>
            <a:pPr marL="0" indent="0" algn="l">
              <a:buNone/>
            </a:pPr>
            <a:r>
              <a:rPr lang="en-US" sz="1400" dirty="0">
                <a:solidFill>
                  <a:srgbClr val="E6EDF3"/>
                </a:solidFill>
                <a:latin typeface="JetBrains Mono Bold" pitchFamily="34" charset="0"/>
                <a:ea typeface="JetBrains Mono Bold" pitchFamily="34" charset="-122"/>
                <a:cs typeface="JetBrains Mono Bold" pitchFamily="34" charset="-120"/>
              </a:rPr>
              <a:t>22 ÷ 2 = 11</a:t>
            </a:r>
            <a:endParaRPr lang="en-US" sz="1400" dirty="0"/>
          </a:p>
        </p:txBody>
      </p:sp>
      <p:sp>
        <p:nvSpPr>
          <p:cNvPr id="21" name="Text 18"/>
          <p:cNvSpPr/>
          <p:nvPr/>
        </p:nvSpPr>
        <p:spPr>
          <a:xfrm>
            <a:off x="10953751" y="2628900"/>
            <a:ext cx="438785" cy="205740"/>
          </a:xfrm>
          <a:prstGeom prst="rect">
            <a:avLst/>
          </a:prstGeom>
          <a:noFill/>
        </p:spPr>
        <p:txBody>
          <a:bodyPr wrap="none" lIns="0" tIns="0" rIns="0" bIns="0" rtlCol="0" anchor="t">
            <a:spAutoFit/>
          </a:bodyPr>
          <a:lstStyle/>
          <a:p>
            <a:pPr marL="0" indent="0" algn="l">
              <a:buNone/>
            </a:pPr>
            <a:r>
              <a:rPr lang="en-US" sz="1335" b="1" dirty="0">
                <a:solidFill>
                  <a:srgbClr val="00FF9C"/>
                </a:solidFill>
                <a:latin typeface="JetBrains Mono Bold" pitchFamily="34" charset="0"/>
                <a:ea typeface="JetBrains Mono Bold" pitchFamily="34" charset="-122"/>
                <a:cs typeface="JetBrains Mono Bold" pitchFamily="34" charset="-120"/>
              </a:rPr>
              <a:t>rem 0</a:t>
            </a:r>
            <a:endParaRPr lang="en-US" sz="1335" dirty="0"/>
          </a:p>
        </p:txBody>
      </p:sp>
      <p:sp>
        <p:nvSpPr>
          <p:cNvPr id="22" name="Text 19"/>
          <p:cNvSpPr/>
          <p:nvPr/>
        </p:nvSpPr>
        <p:spPr>
          <a:xfrm>
            <a:off x="6173912" y="2986088"/>
            <a:ext cx="838200" cy="215265"/>
          </a:xfrm>
          <a:prstGeom prst="rect">
            <a:avLst/>
          </a:prstGeom>
          <a:noFill/>
        </p:spPr>
        <p:txBody>
          <a:bodyPr wrap="none" lIns="0" tIns="0" rIns="0" bIns="0" rtlCol="0" anchor="t">
            <a:spAutoFit/>
          </a:bodyPr>
          <a:lstStyle/>
          <a:p>
            <a:pPr marL="0" indent="0" algn="l">
              <a:buNone/>
            </a:pPr>
            <a:r>
              <a:rPr lang="en-US" sz="1400" dirty="0">
                <a:solidFill>
                  <a:srgbClr val="E6EDF3"/>
                </a:solidFill>
                <a:latin typeface="JetBrains Mono Bold" pitchFamily="34" charset="0"/>
                <a:ea typeface="JetBrains Mono Bold" pitchFamily="34" charset="-122"/>
                <a:cs typeface="JetBrains Mono Bold" pitchFamily="34" charset="-120"/>
              </a:rPr>
              <a:t>11 ÷ 2 = 5</a:t>
            </a:r>
            <a:endParaRPr lang="en-US" sz="1400" dirty="0"/>
          </a:p>
        </p:txBody>
      </p:sp>
      <p:sp>
        <p:nvSpPr>
          <p:cNvPr id="23" name="Text 20"/>
          <p:cNvSpPr/>
          <p:nvPr/>
        </p:nvSpPr>
        <p:spPr>
          <a:xfrm>
            <a:off x="10953751" y="2986088"/>
            <a:ext cx="438785" cy="205740"/>
          </a:xfrm>
          <a:prstGeom prst="rect">
            <a:avLst/>
          </a:prstGeom>
          <a:noFill/>
        </p:spPr>
        <p:txBody>
          <a:bodyPr wrap="none" lIns="0" tIns="0" rIns="0" bIns="0" rtlCol="0" anchor="t">
            <a:spAutoFit/>
          </a:bodyPr>
          <a:lstStyle/>
          <a:p>
            <a:pPr marL="0" indent="0" algn="l">
              <a:buNone/>
            </a:pPr>
            <a:r>
              <a:rPr lang="en-US" sz="1335" b="1" dirty="0">
                <a:solidFill>
                  <a:srgbClr val="00FF9C"/>
                </a:solidFill>
                <a:latin typeface="JetBrains Mono Bold" pitchFamily="34" charset="0"/>
                <a:ea typeface="JetBrains Mono Bold" pitchFamily="34" charset="-122"/>
                <a:cs typeface="JetBrains Mono Bold" pitchFamily="34" charset="-120"/>
              </a:rPr>
              <a:t>rem 1</a:t>
            </a:r>
            <a:endParaRPr lang="en-US" sz="1335" dirty="0"/>
          </a:p>
        </p:txBody>
      </p:sp>
      <p:sp>
        <p:nvSpPr>
          <p:cNvPr id="24" name="Text 21"/>
          <p:cNvSpPr/>
          <p:nvPr/>
        </p:nvSpPr>
        <p:spPr>
          <a:xfrm>
            <a:off x="6173912" y="3343275"/>
            <a:ext cx="746760" cy="215265"/>
          </a:xfrm>
          <a:prstGeom prst="rect">
            <a:avLst/>
          </a:prstGeom>
          <a:noFill/>
        </p:spPr>
        <p:txBody>
          <a:bodyPr wrap="none" lIns="0" tIns="0" rIns="0" bIns="0" rtlCol="0" anchor="t">
            <a:spAutoFit/>
          </a:bodyPr>
          <a:lstStyle/>
          <a:p>
            <a:pPr marL="0" indent="0" algn="l">
              <a:buNone/>
            </a:pPr>
            <a:r>
              <a:rPr lang="en-US" sz="1400" dirty="0">
                <a:solidFill>
                  <a:srgbClr val="E6EDF3"/>
                </a:solidFill>
                <a:latin typeface="JetBrains Mono Bold" pitchFamily="34" charset="0"/>
                <a:ea typeface="JetBrains Mono Bold" pitchFamily="34" charset="-122"/>
                <a:cs typeface="JetBrains Mono Bold" pitchFamily="34" charset="-120"/>
              </a:rPr>
              <a:t>5 ÷ 2 = 2</a:t>
            </a:r>
            <a:endParaRPr lang="en-US" sz="1400" dirty="0"/>
          </a:p>
        </p:txBody>
      </p:sp>
      <p:sp>
        <p:nvSpPr>
          <p:cNvPr id="25" name="Text 22"/>
          <p:cNvSpPr/>
          <p:nvPr/>
        </p:nvSpPr>
        <p:spPr>
          <a:xfrm>
            <a:off x="10953751" y="3343275"/>
            <a:ext cx="438785" cy="205740"/>
          </a:xfrm>
          <a:prstGeom prst="rect">
            <a:avLst/>
          </a:prstGeom>
          <a:noFill/>
        </p:spPr>
        <p:txBody>
          <a:bodyPr wrap="none" lIns="0" tIns="0" rIns="0" bIns="0" rtlCol="0" anchor="t">
            <a:spAutoFit/>
          </a:bodyPr>
          <a:lstStyle/>
          <a:p>
            <a:pPr marL="0" indent="0" algn="l">
              <a:buNone/>
            </a:pPr>
            <a:r>
              <a:rPr lang="en-US" sz="1335" b="1" dirty="0">
                <a:solidFill>
                  <a:srgbClr val="00FF9C"/>
                </a:solidFill>
                <a:latin typeface="JetBrains Mono Bold" pitchFamily="34" charset="0"/>
                <a:ea typeface="JetBrains Mono Bold" pitchFamily="34" charset="-122"/>
                <a:cs typeface="JetBrains Mono Bold" pitchFamily="34" charset="-120"/>
              </a:rPr>
              <a:t>rem 1</a:t>
            </a:r>
            <a:endParaRPr lang="en-US" sz="1335" dirty="0"/>
          </a:p>
        </p:txBody>
      </p:sp>
      <p:sp>
        <p:nvSpPr>
          <p:cNvPr id="26" name="Text 23"/>
          <p:cNvSpPr/>
          <p:nvPr/>
        </p:nvSpPr>
        <p:spPr>
          <a:xfrm>
            <a:off x="6173912" y="3700463"/>
            <a:ext cx="746760" cy="215265"/>
          </a:xfrm>
          <a:prstGeom prst="rect">
            <a:avLst/>
          </a:prstGeom>
          <a:noFill/>
        </p:spPr>
        <p:txBody>
          <a:bodyPr wrap="none" lIns="0" tIns="0" rIns="0" bIns="0" rtlCol="0" anchor="t">
            <a:spAutoFit/>
          </a:bodyPr>
          <a:lstStyle/>
          <a:p>
            <a:pPr marL="0" indent="0" algn="l">
              <a:buNone/>
            </a:pPr>
            <a:r>
              <a:rPr lang="en-US" sz="1400" dirty="0">
                <a:solidFill>
                  <a:srgbClr val="E6EDF3"/>
                </a:solidFill>
                <a:latin typeface="JetBrains Mono Bold" pitchFamily="34" charset="0"/>
                <a:ea typeface="JetBrains Mono Bold" pitchFamily="34" charset="-122"/>
                <a:cs typeface="JetBrains Mono Bold" pitchFamily="34" charset="-120"/>
              </a:rPr>
              <a:t>2 ÷ 2 = 1</a:t>
            </a:r>
            <a:endParaRPr lang="en-US" sz="1400" dirty="0"/>
          </a:p>
        </p:txBody>
      </p:sp>
      <p:sp>
        <p:nvSpPr>
          <p:cNvPr id="27" name="Text 24"/>
          <p:cNvSpPr/>
          <p:nvPr/>
        </p:nvSpPr>
        <p:spPr>
          <a:xfrm>
            <a:off x="10953751" y="3700463"/>
            <a:ext cx="438785" cy="205740"/>
          </a:xfrm>
          <a:prstGeom prst="rect">
            <a:avLst/>
          </a:prstGeom>
          <a:noFill/>
        </p:spPr>
        <p:txBody>
          <a:bodyPr wrap="none" lIns="0" tIns="0" rIns="0" bIns="0" rtlCol="0" anchor="t">
            <a:spAutoFit/>
          </a:bodyPr>
          <a:lstStyle/>
          <a:p>
            <a:pPr marL="0" indent="0" algn="l">
              <a:buNone/>
            </a:pPr>
            <a:r>
              <a:rPr lang="en-US" sz="1335" b="1" dirty="0">
                <a:solidFill>
                  <a:srgbClr val="00FF9C"/>
                </a:solidFill>
                <a:latin typeface="JetBrains Mono Bold" pitchFamily="34" charset="0"/>
                <a:ea typeface="JetBrains Mono Bold" pitchFamily="34" charset="-122"/>
                <a:cs typeface="JetBrains Mono Bold" pitchFamily="34" charset="-120"/>
              </a:rPr>
              <a:t>rem 0</a:t>
            </a:r>
            <a:endParaRPr lang="en-US" sz="1335" dirty="0"/>
          </a:p>
        </p:txBody>
      </p:sp>
      <p:sp>
        <p:nvSpPr>
          <p:cNvPr id="28" name="Text 25"/>
          <p:cNvSpPr/>
          <p:nvPr/>
        </p:nvSpPr>
        <p:spPr>
          <a:xfrm>
            <a:off x="6173912" y="4057651"/>
            <a:ext cx="746760" cy="215265"/>
          </a:xfrm>
          <a:prstGeom prst="rect">
            <a:avLst/>
          </a:prstGeom>
          <a:noFill/>
        </p:spPr>
        <p:txBody>
          <a:bodyPr wrap="none" lIns="0" tIns="0" rIns="0" bIns="0" rtlCol="0" anchor="t">
            <a:spAutoFit/>
          </a:bodyPr>
          <a:lstStyle/>
          <a:p>
            <a:pPr marL="0" indent="0" algn="l">
              <a:buNone/>
            </a:pPr>
            <a:r>
              <a:rPr lang="en-US" sz="1400" dirty="0">
                <a:solidFill>
                  <a:srgbClr val="E6EDF3"/>
                </a:solidFill>
                <a:latin typeface="JetBrains Mono Bold" pitchFamily="34" charset="0"/>
                <a:ea typeface="JetBrains Mono Bold" pitchFamily="34" charset="-122"/>
                <a:cs typeface="JetBrains Mono Bold" pitchFamily="34" charset="-120"/>
              </a:rPr>
              <a:t>1 ÷ 2 = 0</a:t>
            </a:r>
            <a:endParaRPr lang="en-US" sz="1400" dirty="0"/>
          </a:p>
        </p:txBody>
      </p:sp>
      <p:sp>
        <p:nvSpPr>
          <p:cNvPr id="29" name="Text 26"/>
          <p:cNvSpPr/>
          <p:nvPr/>
        </p:nvSpPr>
        <p:spPr>
          <a:xfrm>
            <a:off x="10953751" y="4057651"/>
            <a:ext cx="438785" cy="205740"/>
          </a:xfrm>
          <a:prstGeom prst="rect">
            <a:avLst/>
          </a:prstGeom>
          <a:noFill/>
        </p:spPr>
        <p:txBody>
          <a:bodyPr wrap="none" lIns="0" tIns="0" rIns="0" bIns="0" rtlCol="0" anchor="t">
            <a:spAutoFit/>
          </a:bodyPr>
          <a:lstStyle/>
          <a:p>
            <a:pPr marL="0" indent="0" algn="l">
              <a:buNone/>
            </a:pPr>
            <a:r>
              <a:rPr lang="en-US" sz="1335" b="1" dirty="0">
                <a:solidFill>
                  <a:srgbClr val="00FF9C"/>
                </a:solidFill>
                <a:latin typeface="JetBrains Mono Bold" pitchFamily="34" charset="0"/>
                <a:ea typeface="JetBrains Mono Bold" pitchFamily="34" charset="-122"/>
                <a:cs typeface="JetBrains Mono Bold" pitchFamily="34" charset="-120"/>
              </a:rPr>
              <a:t>rem 1</a:t>
            </a:r>
            <a:endParaRPr lang="en-US" sz="1335" dirty="0"/>
          </a:p>
        </p:txBody>
      </p:sp>
      <p:sp>
        <p:nvSpPr>
          <p:cNvPr id="30" name="Shape 27"/>
          <p:cNvSpPr/>
          <p:nvPr/>
        </p:nvSpPr>
        <p:spPr>
          <a:xfrm>
            <a:off x="6173912" y="4700588"/>
            <a:ext cx="5351339" cy="1097756"/>
          </a:xfrm>
          <a:prstGeom prst="rect">
            <a:avLst/>
          </a:prstGeom>
          <a:solidFill>
            <a:srgbClr val="0D1117"/>
          </a:solidFill>
          <a:ln w="9144">
            <a:solidFill>
              <a:srgbClr val="00FF9C"/>
            </a:solidFill>
            <a:prstDash val="solid"/>
          </a:ln>
        </p:spPr>
      </p:sp>
      <p:sp>
        <p:nvSpPr>
          <p:cNvPr id="31" name="Text 28"/>
          <p:cNvSpPr/>
          <p:nvPr/>
        </p:nvSpPr>
        <p:spPr>
          <a:xfrm>
            <a:off x="6364412" y="4891088"/>
            <a:ext cx="4970339" cy="122555"/>
          </a:xfrm>
          <a:prstGeom prst="rect">
            <a:avLst/>
          </a:prstGeom>
          <a:noFill/>
        </p:spPr>
        <p:txBody>
          <a:bodyPr wrap="square" lIns="0" tIns="0" rIns="0" bIns="0" rtlCol="0" anchor="t">
            <a:spAutoFit/>
          </a:bodyPr>
          <a:lstStyle/>
          <a:p>
            <a:pPr marL="0" indent="0" algn="ctr">
              <a:buNone/>
            </a:pPr>
            <a:r>
              <a:rPr lang="en-US" sz="800" dirty="0">
                <a:solidFill>
                  <a:srgbClr val="8B949E"/>
                </a:solidFill>
                <a:latin typeface="JetBrains Mono Bold" pitchFamily="34" charset="0"/>
                <a:ea typeface="JetBrains Mono Bold" pitchFamily="34" charset="-122"/>
                <a:cs typeface="JetBrains Mono Bold" pitchFamily="34" charset="-120"/>
              </a:rPr>
              <a:t>BINARY RESULT</a:t>
            </a:r>
            <a:endParaRPr lang="en-US" sz="800" dirty="0"/>
          </a:p>
        </p:txBody>
      </p:sp>
      <p:sp>
        <p:nvSpPr>
          <p:cNvPr id="32" name="Text 29"/>
          <p:cNvSpPr/>
          <p:nvPr/>
        </p:nvSpPr>
        <p:spPr>
          <a:xfrm>
            <a:off x="6364412" y="5041107"/>
            <a:ext cx="4970339" cy="502920"/>
          </a:xfrm>
          <a:prstGeom prst="rect">
            <a:avLst/>
          </a:prstGeom>
          <a:noFill/>
        </p:spPr>
        <p:txBody>
          <a:bodyPr wrap="square" lIns="0" tIns="113453" rIns="0" bIns="0" rtlCol="0" anchor="t">
            <a:spAutoFit/>
          </a:bodyPr>
          <a:lstStyle/>
          <a:p>
            <a:pPr marL="0" indent="0" algn="ctr">
              <a:buNone/>
            </a:pPr>
            <a:r>
              <a:rPr lang="en-US" sz="2535" kern="0" spc="4" dirty="0">
                <a:solidFill>
                  <a:srgbClr val="00FF9C"/>
                </a:solidFill>
                <a:latin typeface="JetBrains Mono Bold" pitchFamily="34" charset="0"/>
                <a:ea typeface="JetBrains Mono Bold" pitchFamily="34" charset="-122"/>
                <a:cs typeface="JetBrains Mono Bold" pitchFamily="34" charset="-120"/>
              </a:rPr>
              <a:t>10110011</a:t>
            </a:r>
            <a:endParaRPr lang="en-US" sz="2535" dirty="0"/>
          </a:p>
        </p:txBody>
      </p:sp>
      <p:pic>
        <p:nvPicPr>
          <p:cNvPr id="33" name="Image 1" descr="preencoded.png"/>
          <p:cNvPicPr>
            <a:picLocks noChangeAspect="1"/>
          </p:cNvPicPr>
          <p:nvPr/>
        </p:nvPicPr>
        <p:blipFill>
          <a:blip r:embed="rId2"/>
          <a:stretch>
            <a:fillRect/>
          </a:stretch>
        </p:blipFill>
        <p:spPr>
          <a:xfrm>
            <a:off x="11563351" y="2822972"/>
            <a:ext cx="114300" cy="152400"/>
          </a:xfrm>
          <a:prstGeom prst="rect">
            <a:avLst/>
          </a:prstGeom>
        </p:spPr>
      </p:pic>
      <p:sp>
        <p:nvSpPr>
          <p:cNvPr id="34" name="Text 30"/>
          <p:cNvSpPr/>
          <p:nvPr/>
        </p:nvSpPr>
        <p:spPr>
          <a:xfrm>
            <a:off x="11557397" y="2975372"/>
            <a:ext cx="850900" cy="215265"/>
          </a:xfrm>
          <a:prstGeom prst="rect">
            <a:avLst/>
          </a:prstGeom>
          <a:noFill/>
        </p:spPr>
        <p:txBody>
          <a:bodyPr wrap="none" lIns="0" tIns="113453" rIns="0" bIns="0" rtlCol="0" anchor="t">
            <a:spAutoFit/>
          </a:bodyPr>
          <a:lstStyle/>
          <a:p>
            <a:pPr marL="0" indent="0" algn="l">
              <a:buNone/>
            </a:pPr>
            <a:r>
              <a:rPr lang="en-US" sz="665" dirty="0">
                <a:solidFill>
                  <a:srgbClr val="58A6FF"/>
                </a:solidFill>
                <a:latin typeface="JetBrains Mono Bold" pitchFamily="34" charset="0"/>
                <a:ea typeface="JetBrains Mono Bold" pitchFamily="34" charset="-122"/>
                <a:cs typeface="JetBrains Mono Bold" pitchFamily="34" charset="-120"/>
              </a:rPr>
              <a:t>READ BOTTOM TO TOP</a:t>
            </a:r>
            <a:endParaRPr lang="en-US" sz="665" dirty="0"/>
          </a:p>
        </p:txBody>
      </p:sp>
      <p:sp>
        <p:nvSpPr>
          <p:cNvPr id="35" name="Shape 31"/>
          <p:cNvSpPr/>
          <p:nvPr/>
        </p:nvSpPr>
        <p:spPr>
          <a:xfrm>
            <a:off x="381000" y="6065044"/>
            <a:ext cx="11430000" cy="504825"/>
          </a:xfrm>
          <a:prstGeom prst="rect">
            <a:avLst/>
          </a:prstGeom>
          <a:solidFill>
            <a:srgbClr val="FF6B6B">
              <a:alpha val="10000"/>
            </a:srgbClr>
          </a:solidFill>
          <a:ln w="9144">
            <a:solidFill>
              <a:srgbClr val="FF6B6B"/>
            </a:solidFill>
            <a:prstDash val="solid"/>
          </a:ln>
        </p:spPr>
      </p:sp>
      <p:sp>
        <p:nvSpPr>
          <p:cNvPr id="36" name="Text 32"/>
          <p:cNvSpPr/>
          <p:nvPr/>
        </p:nvSpPr>
        <p:spPr>
          <a:xfrm>
            <a:off x="381000" y="6065044"/>
            <a:ext cx="11430000" cy="513715"/>
          </a:xfrm>
          <a:prstGeom prst="rect">
            <a:avLst/>
          </a:prstGeom>
          <a:noFill/>
        </p:spPr>
        <p:txBody>
          <a:bodyPr wrap="square" lIns="170010" tIns="170010" rIns="170010" bIns="170010" rtlCol="0" anchor="t">
            <a:spAutoFit/>
          </a:bodyPr>
          <a:lstStyle/>
          <a:p>
            <a:pPr marL="0" indent="0" algn="ctr">
              <a:buNone/>
            </a:pPr>
            <a:r>
              <a:rPr lang="en-US" sz="1135" dirty="0">
                <a:solidFill>
                  <a:srgbClr val="E6EDF3"/>
                </a:solidFill>
                <a:latin typeface="JetBrains Mono Bold" pitchFamily="34" charset="0"/>
                <a:ea typeface="JetBrains Mono Bold" pitchFamily="34" charset="-122"/>
                <a:cs typeface="JetBrains Mono Bold" pitchFamily="34" charset="-120"/>
              </a:rPr>
              <a:t>"Always read remainders from BOTTOM to TOP to get the correct binary string."</a:t>
            </a:r>
            <a:endParaRPr lang="en-US" sz="1135" dirty="0"/>
          </a:p>
        </p:txBody>
      </p:sp>
      <p:grpSp>
        <p:nvGrpSpPr>
          <p:cNvPr id="37" name="Group 2"/>
          <p:cNvGrpSpPr/>
          <p:nvPr/>
        </p:nvGrpSpPr>
        <p:grpSpPr>
          <a:xfrm rot="0">
            <a:off x="294640" y="194310"/>
            <a:ext cx="789305" cy="299720"/>
            <a:chOff x="0" y="0"/>
            <a:chExt cx="341337" cy="102463"/>
          </a:xfrm>
        </p:grpSpPr>
        <p:sp>
          <p:nvSpPr>
            <p:cNvPr id="38"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39"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0" name="Group 5"/>
          <p:cNvGrpSpPr/>
          <p:nvPr/>
        </p:nvGrpSpPr>
        <p:grpSpPr>
          <a:xfrm rot="0">
            <a:off x="822325" y="209550"/>
            <a:ext cx="220980" cy="246380"/>
            <a:chOff x="0" y="0"/>
            <a:chExt cx="812800" cy="812800"/>
          </a:xfrm>
        </p:grpSpPr>
        <p:sp>
          <p:nvSpPr>
            <p:cNvPr id="41"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9"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50"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51" name="AutoShape 13"/>
          <p:cNvSpPr/>
          <p:nvPr/>
        </p:nvSpPr>
        <p:spPr>
          <a:xfrm>
            <a:off x="411480" y="6593840"/>
            <a:ext cx="11366500" cy="16510"/>
          </a:xfrm>
          <a:prstGeom prst="line">
            <a:avLst/>
          </a:prstGeom>
          <a:ln w="19050" cap="flat">
            <a:solidFill>
              <a:schemeClr val="bg1"/>
            </a:solidFill>
            <a:prstDash val="solid"/>
            <a:headEnd type="none" w="sm" len="sm"/>
            <a:tailEnd type="none" w="sm" len="sm"/>
          </a:ln>
        </p:spPr>
      </p:sp>
      <p:sp>
        <p:nvSpPr>
          <p:cNvPr id="52" name="TextBox 21"/>
          <p:cNvSpPr txBox="1"/>
          <p:nvPr/>
        </p:nvSpPr>
        <p:spPr>
          <a:xfrm>
            <a:off x="4756785" y="653669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476251"/>
          </a:xfrm>
          <a:prstGeom prst="rect">
            <a:avLst/>
          </a:prstGeom>
          <a:solidFill>
            <a:srgbClr val="000000">
              <a:alpha val="0"/>
            </a:srgbClr>
          </a:solidFill>
        </p:spPr>
      </p:sp>
      <p:sp>
        <p:nvSpPr>
          <p:cNvPr id="4" name="Shape 1"/>
          <p:cNvSpPr/>
          <p:nvPr/>
        </p:nvSpPr>
        <p:spPr>
          <a:xfrm>
            <a:off x="0" y="466725"/>
            <a:ext cx="12192000" cy="9525"/>
          </a:xfrm>
          <a:prstGeom prst="rect">
            <a:avLst/>
          </a:prstGeom>
          <a:solidFill>
            <a:srgbClr val="161B22"/>
          </a:solidFill>
        </p:spPr>
      </p:sp>
      <p:sp>
        <p:nvSpPr>
          <p:cNvPr id="6" name="Text 3"/>
          <p:cNvSpPr/>
          <p:nvPr/>
        </p:nvSpPr>
        <p:spPr>
          <a:xfrm>
            <a:off x="10353675" y="150019"/>
            <a:ext cx="113792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SLIDE 11 // EWUCSC</a:t>
            </a:r>
            <a:endParaRPr lang="en-US" sz="1000" dirty="0"/>
          </a:p>
        </p:txBody>
      </p:sp>
      <p:sp>
        <p:nvSpPr>
          <p:cNvPr id="7" name="Text 4"/>
          <p:cNvSpPr/>
          <p:nvPr/>
        </p:nvSpPr>
        <p:spPr>
          <a:xfrm>
            <a:off x="381000" y="857251"/>
            <a:ext cx="11430000" cy="328930"/>
          </a:xfrm>
          <a:prstGeom prst="rect">
            <a:avLst/>
          </a:prstGeom>
          <a:noFill/>
        </p:spPr>
        <p:txBody>
          <a:bodyPr wrap="square" lIns="0" tIns="0" rIns="0" bIns="0" rtlCol="0" anchor="t">
            <a:spAutoFit/>
          </a:bodyPr>
          <a:lstStyle/>
          <a:p>
            <a:pPr marL="0" indent="0" algn="l">
              <a:buNone/>
            </a:pPr>
            <a:r>
              <a:rPr lang="en-US" sz="2135" b="1" dirty="0">
                <a:solidFill>
                  <a:srgbClr val="E6EDF3"/>
                </a:solidFill>
                <a:latin typeface="JetBrains Mono Bold" pitchFamily="34" charset="0"/>
                <a:ea typeface="JetBrains Mono Bold" pitchFamily="34" charset="-122"/>
                <a:cs typeface="JetBrains Mono Bold" pitchFamily="34" charset="-120"/>
              </a:rPr>
              <a:t>WHERE YOU'LL SEE BINARY IN CTFS AND SECURITY</a:t>
            </a:r>
            <a:endParaRPr lang="en-US" sz="2135" dirty="0"/>
          </a:p>
        </p:txBody>
      </p:sp>
      <p:sp>
        <p:nvSpPr>
          <p:cNvPr id="8" name="Shape 5"/>
          <p:cNvSpPr/>
          <p:nvPr/>
        </p:nvSpPr>
        <p:spPr>
          <a:xfrm>
            <a:off x="381000" y="1640681"/>
            <a:ext cx="5600700" cy="2076451"/>
          </a:xfrm>
          <a:prstGeom prst="rect">
            <a:avLst/>
          </a:prstGeom>
          <a:solidFill>
            <a:srgbClr val="161B22"/>
          </a:solidFill>
          <a:ln w="9144">
            <a:solidFill>
              <a:srgbClr val="161B22"/>
            </a:solidFill>
            <a:prstDash val="solid"/>
          </a:ln>
        </p:spPr>
      </p:sp>
      <p:sp>
        <p:nvSpPr>
          <p:cNvPr id="9" name="Shape 6"/>
          <p:cNvSpPr/>
          <p:nvPr/>
        </p:nvSpPr>
        <p:spPr>
          <a:xfrm>
            <a:off x="5081588" y="1774031"/>
            <a:ext cx="766763" cy="233363"/>
          </a:xfrm>
          <a:prstGeom prst="rect">
            <a:avLst/>
          </a:prstGeom>
          <a:solidFill>
            <a:srgbClr val="00FF9C">
              <a:alpha val="10000"/>
            </a:srgbClr>
          </a:solidFill>
          <a:ln w="9144">
            <a:solidFill>
              <a:srgbClr val="00FF9C"/>
            </a:solidFill>
            <a:prstDash val="solid"/>
          </a:ln>
        </p:spPr>
      </p:sp>
      <p:sp>
        <p:nvSpPr>
          <p:cNvPr id="10" name="Text 7"/>
          <p:cNvSpPr/>
          <p:nvPr/>
        </p:nvSpPr>
        <p:spPr>
          <a:xfrm>
            <a:off x="5081588" y="1774031"/>
            <a:ext cx="683895" cy="203200"/>
          </a:xfrm>
          <a:prstGeom prst="rect">
            <a:avLst/>
          </a:prstGeom>
          <a:noFill/>
        </p:spPr>
        <p:txBody>
          <a:bodyPr wrap="none" lIns="113453" tIns="45381" rIns="113453" bIns="45381" rtlCol="0" anchor="t">
            <a:spAutoFit/>
          </a:bodyPr>
          <a:lstStyle/>
          <a:p>
            <a:pPr marL="0" indent="0" algn="l">
              <a:buNone/>
            </a:pPr>
            <a:r>
              <a:rPr lang="en-US" sz="735" dirty="0">
                <a:solidFill>
                  <a:srgbClr val="00FF9C"/>
                </a:solidFill>
                <a:latin typeface="JetBrains Mono Bold" pitchFamily="34" charset="0"/>
                <a:ea typeface="JetBrains Mono Bold" pitchFamily="34" charset="-122"/>
                <a:cs typeface="JetBrains Mono Bold" pitchFamily="34" charset="-120"/>
              </a:rPr>
              <a:t>FORENSICS</a:t>
            </a:r>
            <a:endParaRPr lang="en-US" sz="735" dirty="0"/>
          </a:p>
        </p:txBody>
      </p:sp>
      <p:pic>
        <p:nvPicPr>
          <p:cNvPr id="11" name="Image 1" descr="preencoded.png"/>
          <p:cNvPicPr>
            <a:picLocks noChangeAspect="1"/>
          </p:cNvPicPr>
          <p:nvPr/>
        </p:nvPicPr>
        <p:blipFill>
          <a:blip r:embed="rId2"/>
          <a:stretch>
            <a:fillRect/>
          </a:stretch>
        </p:blipFill>
        <p:spPr>
          <a:xfrm>
            <a:off x="552451" y="1812131"/>
            <a:ext cx="200025" cy="266700"/>
          </a:xfrm>
          <a:prstGeom prst="rect">
            <a:avLst/>
          </a:prstGeom>
        </p:spPr>
      </p:pic>
      <p:sp>
        <p:nvSpPr>
          <p:cNvPr id="12" name="Text 8"/>
          <p:cNvSpPr/>
          <p:nvPr/>
        </p:nvSpPr>
        <p:spPr>
          <a:xfrm>
            <a:off x="866775" y="1832372"/>
            <a:ext cx="2047875" cy="184150"/>
          </a:xfrm>
          <a:prstGeom prst="rect">
            <a:avLst/>
          </a:prstGeom>
          <a:noFill/>
        </p:spPr>
        <p:txBody>
          <a:bodyPr wrap="square" lIns="0" tIns="0" rIns="0" bIns="0" rtlCol="0" anchor="t">
            <a:spAutoFit/>
          </a:bodyPr>
          <a:lstStyle/>
          <a:p>
            <a:pPr marL="0" indent="0" algn="l">
              <a:buNone/>
            </a:pPr>
            <a:r>
              <a:rPr lang="en-US" sz="1200" b="1" dirty="0">
                <a:solidFill>
                  <a:srgbClr val="E6EDF3"/>
                </a:solidFill>
                <a:latin typeface="JetBrains Mono Bold" pitchFamily="34" charset="0"/>
                <a:ea typeface="JetBrains Mono Bold" pitchFamily="34" charset="-122"/>
                <a:cs typeface="JetBrains Mono Bold" pitchFamily="34" charset="-120"/>
              </a:rPr>
              <a:t>File Sizes &amp; Storage</a:t>
            </a:r>
            <a:endParaRPr lang="en-US" sz="1200" dirty="0"/>
          </a:p>
        </p:txBody>
      </p:sp>
      <p:sp>
        <p:nvSpPr>
          <p:cNvPr id="13" name="Text 9"/>
          <p:cNvSpPr/>
          <p:nvPr/>
        </p:nvSpPr>
        <p:spPr>
          <a:xfrm>
            <a:off x="552451" y="2193131"/>
            <a:ext cx="5257800" cy="394970"/>
          </a:xfrm>
          <a:prstGeom prst="rect">
            <a:avLst/>
          </a:prstGeom>
          <a:noFill/>
        </p:spPr>
        <p:txBody>
          <a:bodyPr wrap="square" lIns="0" tIns="0" rIns="0" bIns="0" rtlCol="0" anchor="t">
            <a:spAutoFit/>
          </a:bodyPr>
          <a:lstStyle/>
          <a:p>
            <a:pPr marL="0" indent="0" algn="l">
              <a:lnSpc>
                <a:spcPct val="120000"/>
              </a:lnSpc>
              <a:buNone/>
            </a:pPr>
            <a:r>
              <a:rPr lang="en-US" sz="1065" dirty="0">
                <a:solidFill>
                  <a:srgbClr val="8B949E"/>
                </a:solidFill>
                <a:latin typeface="Inter" pitchFamily="34" charset="0"/>
                <a:ea typeface="Inter" pitchFamily="34" charset="-122"/>
                <a:cs typeface="Inter" pitchFamily="34" charset="-120"/>
              </a:rPr>
              <a:t>1 byte = 8 bits. 1KB = 1024 bytes. Understanding raw data sizes is critical for </a:t>
            </a:r>
            <a:r>
              <a:rPr lang="en-US" sz="1065" dirty="0">
                <a:solidFill>
                  <a:srgbClr val="00FF9C"/>
                </a:solidFill>
                <a:latin typeface="Inter" pitchFamily="34" charset="0"/>
                <a:ea typeface="Inter" pitchFamily="34" charset="-122"/>
                <a:cs typeface="Inter" pitchFamily="34" charset="-120"/>
              </a:rPr>
              <a:t>Forensics</a:t>
            </a:r>
            <a:r>
              <a:rPr lang="en-US" sz="1065" dirty="0">
                <a:solidFill>
                  <a:srgbClr val="8B949E"/>
                </a:solidFill>
                <a:latin typeface="Inter" pitchFamily="34" charset="0"/>
                <a:ea typeface="Inter" pitchFamily="34" charset="-122"/>
                <a:cs typeface="Inter" pitchFamily="34" charset="-120"/>
              </a:rPr>
              <a:t> and memory analysis.</a:t>
            </a:r>
            <a:endParaRPr lang="en-US" sz="1065" dirty="0"/>
          </a:p>
        </p:txBody>
      </p:sp>
      <p:sp>
        <p:nvSpPr>
          <p:cNvPr id="14" name="Shape 10"/>
          <p:cNvSpPr/>
          <p:nvPr/>
        </p:nvSpPr>
        <p:spPr>
          <a:xfrm>
            <a:off x="6210300" y="1640681"/>
            <a:ext cx="5600700" cy="2076451"/>
          </a:xfrm>
          <a:prstGeom prst="rect">
            <a:avLst/>
          </a:prstGeom>
          <a:solidFill>
            <a:srgbClr val="161B22"/>
          </a:solidFill>
          <a:ln w="9144">
            <a:solidFill>
              <a:srgbClr val="161B22"/>
            </a:solidFill>
            <a:prstDash val="solid"/>
          </a:ln>
        </p:spPr>
      </p:sp>
      <p:sp>
        <p:nvSpPr>
          <p:cNvPr id="15" name="Shape 11"/>
          <p:cNvSpPr/>
          <p:nvPr/>
        </p:nvSpPr>
        <p:spPr>
          <a:xfrm>
            <a:off x="11158537" y="1774031"/>
            <a:ext cx="519112" cy="233363"/>
          </a:xfrm>
          <a:prstGeom prst="rect">
            <a:avLst/>
          </a:prstGeom>
          <a:solidFill>
            <a:srgbClr val="00FF9C">
              <a:alpha val="10000"/>
            </a:srgbClr>
          </a:solidFill>
          <a:ln w="9144">
            <a:solidFill>
              <a:srgbClr val="00FF9C"/>
            </a:solidFill>
            <a:prstDash val="solid"/>
          </a:ln>
        </p:spPr>
      </p:sp>
      <p:sp>
        <p:nvSpPr>
          <p:cNvPr id="16" name="Text 12"/>
          <p:cNvSpPr/>
          <p:nvPr/>
        </p:nvSpPr>
        <p:spPr>
          <a:xfrm>
            <a:off x="11158537" y="1774031"/>
            <a:ext cx="467995" cy="203200"/>
          </a:xfrm>
          <a:prstGeom prst="rect">
            <a:avLst/>
          </a:prstGeom>
          <a:noFill/>
        </p:spPr>
        <p:txBody>
          <a:bodyPr wrap="none" lIns="113453" tIns="45381" rIns="113453" bIns="45381" rtlCol="0" anchor="t">
            <a:spAutoFit/>
          </a:bodyPr>
          <a:lstStyle/>
          <a:p>
            <a:pPr marL="0" indent="0" algn="l">
              <a:buNone/>
            </a:pPr>
            <a:r>
              <a:rPr lang="en-US" sz="735" dirty="0">
                <a:solidFill>
                  <a:srgbClr val="00FF9C"/>
                </a:solidFill>
                <a:latin typeface="JetBrains Mono Bold" pitchFamily="34" charset="0"/>
                <a:ea typeface="JetBrains Mono Bold" pitchFamily="34" charset="-122"/>
                <a:cs typeface="JetBrains Mono Bold" pitchFamily="34" charset="-120"/>
              </a:rPr>
              <a:t>DAY 1</a:t>
            </a:r>
            <a:endParaRPr lang="en-US" sz="735" dirty="0"/>
          </a:p>
        </p:txBody>
      </p:sp>
      <p:pic>
        <p:nvPicPr>
          <p:cNvPr id="17" name="Image 2" descr="preencoded.png"/>
          <p:cNvPicPr>
            <a:picLocks noChangeAspect="1"/>
          </p:cNvPicPr>
          <p:nvPr/>
        </p:nvPicPr>
        <p:blipFill>
          <a:blip r:embed="rId3"/>
          <a:stretch>
            <a:fillRect/>
          </a:stretch>
        </p:blipFill>
        <p:spPr>
          <a:xfrm>
            <a:off x="6381751" y="1812131"/>
            <a:ext cx="200025" cy="266700"/>
          </a:xfrm>
          <a:prstGeom prst="rect">
            <a:avLst/>
          </a:prstGeom>
        </p:spPr>
      </p:pic>
      <p:sp>
        <p:nvSpPr>
          <p:cNvPr id="18" name="Text 13"/>
          <p:cNvSpPr/>
          <p:nvPr/>
        </p:nvSpPr>
        <p:spPr>
          <a:xfrm>
            <a:off x="6696075" y="1832372"/>
            <a:ext cx="809625" cy="184150"/>
          </a:xfrm>
          <a:prstGeom prst="rect">
            <a:avLst/>
          </a:prstGeom>
          <a:noFill/>
        </p:spPr>
        <p:txBody>
          <a:bodyPr wrap="none" lIns="0" tIns="0" rIns="0" bIns="0" rtlCol="0" anchor="t">
            <a:spAutoFit/>
          </a:bodyPr>
          <a:lstStyle/>
          <a:p>
            <a:pPr marL="0" indent="0" algn="l">
              <a:buNone/>
            </a:pPr>
            <a:r>
              <a:rPr lang="en-US" sz="1200" b="1" dirty="0">
                <a:solidFill>
                  <a:srgbClr val="E6EDF3"/>
                </a:solidFill>
                <a:latin typeface="JetBrains Mono Bold" pitchFamily="34" charset="0"/>
                <a:ea typeface="JetBrains Mono Bold" pitchFamily="34" charset="-122"/>
                <a:cs typeface="JetBrains Mono Bold" pitchFamily="34" charset="-120"/>
              </a:rPr>
              <a:t>Bitwise XOR</a:t>
            </a:r>
            <a:endParaRPr lang="en-US" sz="1200" dirty="0"/>
          </a:p>
        </p:txBody>
      </p:sp>
      <p:sp>
        <p:nvSpPr>
          <p:cNvPr id="19" name="Text 14"/>
          <p:cNvSpPr/>
          <p:nvPr/>
        </p:nvSpPr>
        <p:spPr>
          <a:xfrm>
            <a:off x="6381751" y="2193131"/>
            <a:ext cx="5257800" cy="394970"/>
          </a:xfrm>
          <a:prstGeom prst="rect">
            <a:avLst/>
          </a:prstGeom>
          <a:noFill/>
        </p:spPr>
        <p:txBody>
          <a:bodyPr wrap="square" lIns="0" tIns="0" rIns="0" bIns="0" rtlCol="0" anchor="t">
            <a:spAutoFit/>
          </a:bodyPr>
          <a:lstStyle/>
          <a:p>
            <a:pPr marL="0" indent="0" algn="l">
              <a:lnSpc>
                <a:spcPct val="120000"/>
              </a:lnSpc>
              <a:buNone/>
            </a:pPr>
            <a:r>
              <a:rPr lang="en-US" sz="1065" dirty="0">
                <a:solidFill>
                  <a:srgbClr val="8B949E"/>
                </a:solidFill>
                <a:latin typeface="Inter" pitchFamily="34" charset="0"/>
                <a:ea typeface="Inter" pitchFamily="34" charset="-122"/>
                <a:cs typeface="Inter" pitchFamily="34" charset="-120"/>
              </a:rPr>
              <a:t>The core of many </a:t>
            </a:r>
            <a:r>
              <a:rPr lang="en-US" sz="1065" dirty="0">
                <a:solidFill>
                  <a:srgbClr val="00FF9C"/>
                </a:solidFill>
                <a:latin typeface="Inter" pitchFamily="34" charset="0"/>
                <a:ea typeface="Inter" pitchFamily="34" charset="-122"/>
                <a:cs typeface="Inter" pitchFamily="34" charset="-120"/>
              </a:rPr>
              <a:t>Crypto</a:t>
            </a:r>
            <a:r>
              <a:rPr lang="en-US" sz="1065" dirty="0">
                <a:solidFill>
                  <a:srgbClr val="8B949E"/>
                </a:solidFill>
                <a:latin typeface="Inter" pitchFamily="34" charset="0"/>
                <a:ea typeface="Inter" pitchFamily="34" charset="-122"/>
                <a:cs typeface="Inter" pitchFamily="34" charset="-120"/>
              </a:rPr>
              <a:t> challenges. XORing bits is how we scramble data at the lowest level.</a:t>
            </a:r>
            <a:endParaRPr lang="en-US" sz="1065" dirty="0"/>
          </a:p>
        </p:txBody>
      </p:sp>
      <p:sp>
        <p:nvSpPr>
          <p:cNvPr id="20" name="Shape 15"/>
          <p:cNvSpPr/>
          <p:nvPr/>
        </p:nvSpPr>
        <p:spPr>
          <a:xfrm>
            <a:off x="381000" y="3926681"/>
            <a:ext cx="5600700" cy="2076451"/>
          </a:xfrm>
          <a:prstGeom prst="rect">
            <a:avLst/>
          </a:prstGeom>
          <a:solidFill>
            <a:srgbClr val="161B22"/>
          </a:solidFill>
          <a:ln w="9144">
            <a:solidFill>
              <a:srgbClr val="161B22"/>
            </a:solidFill>
            <a:prstDash val="solid"/>
          </a:ln>
        </p:spPr>
      </p:sp>
      <p:sp>
        <p:nvSpPr>
          <p:cNvPr id="21" name="Shape 16"/>
          <p:cNvSpPr/>
          <p:nvPr/>
        </p:nvSpPr>
        <p:spPr>
          <a:xfrm>
            <a:off x="5205412" y="4060031"/>
            <a:ext cx="642937" cy="233363"/>
          </a:xfrm>
          <a:prstGeom prst="rect">
            <a:avLst/>
          </a:prstGeom>
          <a:solidFill>
            <a:srgbClr val="00FF9C">
              <a:alpha val="10000"/>
            </a:srgbClr>
          </a:solidFill>
          <a:ln w="9144">
            <a:solidFill>
              <a:srgbClr val="00FF9C"/>
            </a:solidFill>
            <a:prstDash val="solid"/>
          </a:ln>
        </p:spPr>
      </p:sp>
      <p:sp>
        <p:nvSpPr>
          <p:cNvPr id="22" name="Text 17"/>
          <p:cNvSpPr/>
          <p:nvPr/>
        </p:nvSpPr>
        <p:spPr>
          <a:xfrm>
            <a:off x="5205412" y="4060031"/>
            <a:ext cx="551815" cy="203200"/>
          </a:xfrm>
          <a:prstGeom prst="rect">
            <a:avLst/>
          </a:prstGeom>
          <a:noFill/>
        </p:spPr>
        <p:txBody>
          <a:bodyPr wrap="none" lIns="113453" tIns="45381" rIns="113453" bIns="45381" rtlCol="0" anchor="t">
            <a:spAutoFit/>
          </a:bodyPr>
          <a:lstStyle/>
          <a:p>
            <a:pPr marL="0" indent="0" algn="l">
              <a:buNone/>
            </a:pPr>
            <a:r>
              <a:rPr lang="en-US" sz="735" dirty="0">
                <a:solidFill>
                  <a:srgbClr val="00FF9C"/>
                </a:solidFill>
                <a:latin typeface="JetBrains Mono Bold" pitchFamily="34" charset="0"/>
                <a:ea typeface="JetBrains Mono Bold" pitchFamily="34" charset="-122"/>
                <a:cs typeface="JetBrains Mono Bold" pitchFamily="34" charset="-120"/>
              </a:rPr>
              <a:t>DAY 7-8</a:t>
            </a:r>
            <a:endParaRPr lang="en-US" sz="735" dirty="0"/>
          </a:p>
        </p:txBody>
      </p:sp>
      <p:pic>
        <p:nvPicPr>
          <p:cNvPr id="23" name="Image 3" descr="preencoded.png"/>
          <p:cNvPicPr>
            <a:picLocks noChangeAspect="1"/>
          </p:cNvPicPr>
          <p:nvPr/>
        </p:nvPicPr>
        <p:blipFill>
          <a:blip r:embed="rId4"/>
          <a:stretch>
            <a:fillRect/>
          </a:stretch>
        </p:blipFill>
        <p:spPr>
          <a:xfrm>
            <a:off x="552451" y="4098131"/>
            <a:ext cx="333375" cy="266700"/>
          </a:xfrm>
          <a:prstGeom prst="rect">
            <a:avLst/>
          </a:prstGeom>
        </p:spPr>
      </p:pic>
      <p:sp>
        <p:nvSpPr>
          <p:cNvPr id="24" name="Text 18"/>
          <p:cNvSpPr/>
          <p:nvPr/>
        </p:nvSpPr>
        <p:spPr>
          <a:xfrm>
            <a:off x="1000125" y="4118372"/>
            <a:ext cx="1843088" cy="184150"/>
          </a:xfrm>
          <a:prstGeom prst="rect">
            <a:avLst/>
          </a:prstGeom>
          <a:noFill/>
        </p:spPr>
        <p:txBody>
          <a:bodyPr wrap="square" lIns="0" tIns="0" rIns="0" bIns="0" rtlCol="0" anchor="t">
            <a:spAutoFit/>
          </a:bodyPr>
          <a:lstStyle/>
          <a:p>
            <a:pPr marL="0" indent="0" algn="l">
              <a:buNone/>
            </a:pPr>
            <a:r>
              <a:rPr lang="en-US" sz="1200" b="1" dirty="0">
                <a:solidFill>
                  <a:srgbClr val="E6EDF3"/>
                </a:solidFill>
                <a:latin typeface="JetBrains Mono Bold" pitchFamily="34" charset="0"/>
                <a:ea typeface="JetBrains Mono Bold" pitchFamily="34" charset="-122"/>
                <a:cs typeface="JetBrains Mono Bold" pitchFamily="34" charset="-120"/>
              </a:rPr>
              <a:t>Network Subnetting</a:t>
            </a:r>
            <a:endParaRPr lang="en-US" sz="1200" dirty="0"/>
          </a:p>
        </p:txBody>
      </p:sp>
      <p:sp>
        <p:nvSpPr>
          <p:cNvPr id="25" name="Text 19"/>
          <p:cNvSpPr/>
          <p:nvPr/>
        </p:nvSpPr>
        <p:spPr>
          <a:xfrm>
            <a:off x="552451" y="4479131"/>
            <a:ext cx="5257800" cy="197485"/>
          </a:xfrm>
          <a:prstGeom prst="rect">
            <a:avLst/>
          </a:prstGeom>
          <a:noFill/>
        </p:spPr>
        <p:txBody>
          <a:bodyPr wrap="square" lIns="0" tIns="0" rIns="0" bIns="0" rtlCol="0" anchor="t">
            <a:spAutoFit/>
          </a:bodyPr>
          <a:lstStyle/>
          <a:p>
            <a:pPr marL="0" indent="0" algn="l">
              <a:lnSpc>
                <a:spcPct val="120000"/>
              </a:lnSpc>
              <a:buNone/>
            </a:pPr>
            <a:r>
              <a:rPr lang="en-US" sz="1065" dirty="0">
                <a:solidFill>
                  <a:srgbClr val="8B949E"/>
                </a:solidFill>
                <a:latin typeface="Inter" pitchFamily="34" charset="0"/>
                <a:ea typeface="Inter" pitchFamily="34" charset="-122"/>
                <a:cs typeface="Inter" pitchFamily="34" charset="-120"/>
              </a:rPr>
              <a:t>IP address masks are just binary strings. You'll need this for </a:t>
            </a:r>
            <a:r>
              <a:rPr lang="en-US" sz="1065" dirty="0">
                <a:solidFill>
                  <a:srgbClr val="00FF9C"/>
                </a:solidFill>
                <a:latin typeface="Inter" pitchFamily="34" charset="0"/>
                <a:ea typeface="Inter" pitchFamily="34" charset="-122"/>
                <a:cs typeface="Inter" pitchFamily="34" charset="-120"/>
              </a:rPr>
              <a:t>Networking</a:t>
            </a:r>
            <a:r>
              <a:rPr lang="en-US" sz="1065" dirty="0">
                <a:solidFill>
                  <a:srgbClr val="8B949E"/>
                </a:solidFill>
                <a:latin typeface="Inter" pitchFamily="34" charset="0"/>
                <a:ea typeface="Inter" pitchFamily="34" charset="-122"/>
                <a:cs typeface="Inter" pitchFamily="34" charset="-120"/>
              </a:rPr>
              <a:t> and pivoting.</a:t>
            </a:r>
            <a:endParaRPr lang="en-US" sz="1065" dirty="0"/>
          </a:p>
        </p:txBody>
      </p:sp>
      <p:sp>
        <p:nvSpPr>
          <p:cNvPr id="26" name="Shape 20"/>
          <p:cNvSpPr/>
          <p:nvPr/>
        </p:nvSpPr>
        <p:spPr>
          <a:xfrm>
            <a:off x="6210300" y="3926681"/>
            <a:ext cx="5600700" cy="2076451"/>
          </a:xfrm>
          <a:prstGeom prst="rect">
            <a:avLst/>
          </a:prstGeom>
          <a:solidFill>
            <a:srgbClr val="161B22"/>
          </a:solidFill>
          <a:ln w="9144">
            <a:solidFill>
              <a:srgbClr val="161B22"/>
            </a:solidFill>
            <a:prstDash val="solid"/>
          </a:ln>
        </p:spPr>
      </p:sp>
      <p:sp>
        <p:nvSpPr>
          <p:cNvPr id="27" name="Shape 21"/>
          <p:cNvSpPr/>
          <p:nvPr/>
        </p:nvSpPr>
        <p:spPr>
          <a:xfrm>
            <a:off x="10972800" y="4060031"/>
            <a:ext cx="704851" cy="233363"/>
          </a:xfrm>
          <a:prstGeom prst="rect">
            <a:avLst/>
          </a:prstGeom>
          <a:solidFill>
            <a:srgbClr val="00FF9C">
              <a:alpha val="10000"/>
            </a:srgbClr>
          </a:solidFill>
          <a:ln w="9144">
            <a:solidFill>
              <a:srgbClr val="00FF9C"/>
            </a:solidFill>
            <a:prstDash val="solid"/>
          </a:ln>
        </p:spPr>
      </p:sp>
      <p:sp>
        <p:nvSpPr>
          <p:cNvPr id="28" name="Text 22"/>
          <p:cNvSpPr/>
          <p:nvPr/>
        </p:nvSpPr>
        <p:spPr>
          <a:xfrm>
            <a:off x="10972800" y="4060031"/>
            <a:ext cx="600075" cy="203200"/>
          </a:xfrm>
          <a:prstGeom prst="rect">
            <a:avLst/>
          </a:prstGeom>
          <a:noFill/>
        </p:spPr>
        <p:txBody>
          <a:bodyPr wrap="none" lIns="113453" tIns="45381" rIns="113453" bIns="45381" rtlCol="0" anchor="t">
            <a:spAutoFit/>
          </a:bodyPr>
          <a:lstStyle/>
          <a:p>
            <a:pPr marL="0" indent="0" algn="l">
              <a:buNone/>
            </a:pPr>
            <a:r>
              <a:rPr lang="en-US" sz="735" dirty="0">
                <a:solidFill>
                  <a:srgbClr val="00FF9C"/>
                </a:solidFill>
                <a:latin typeface="JetBrains Mono Bold" pitchFamily="34" charset="0"/>
                <a:ea typeface="JetBrains Mono Bold" pitchFamily="34" charset="-122"/>
                <a:cs typeface="JetBrains Mono Bold" pitchFamily="34" charset="-120"/>
              </a:rPr>
              <a:t>DAY 9-10</a:t>
            </a:r>
            <a:endParaRPr lang="en-US" sz="735" dirty="0"/>
          </a:p>
        </p:txBody>
      </p:sp>
      <p:pic>
        <p:nvPicPr>
          <p:cNvPr id="29" name="Image 4" descr="preencoded.png"/>
          <p:cNvPicPr>
            <a:picLocks noChangeAspect="1"/>
          </p:cNvPicPr>
          <p:nvPr/>
        </p:nvPicPr>
        <p:blipFill>
          <a:blip r:embed="rId5"/>
          <a:stretch>
            <a:fillRect/>
          </a:stretch>
        </p:blipFill>
        <p:spPr>
          <a:xfrm>
            <a:off x="6381751" y="4098131"/>
            <a:ext cx="266700" cy="266700"/>
          </a:xfrm>
          <a:prstGeom prst="rect">
            <a:avLst/>
          </a:prstGeom>
        </p:spPr>
      </p:pic>
      <p:sp>
        <p:nvSpPr>
          <p:cNvPr id="30" name="Text 23"/>
          <p:cNvSpPr/>
          <p:nvPr/>
        </p:nvSpPr>
        <p:spPr>
          <a:xfrm>
            <a:off x="6762751" y="4118372"/>
            <a:ext cx="2047875" cy="184150"/>
          </a:xfrm>
          <a:prstGeom prst="rect">
            <a:avLst/>
          </a:prstGeom>
          <a:noFill/>
        </p:spPr>
        <p:txBody>
          <a:bodyPr wrap="square" lIns="0" tIns="0" rIns="0" bIns="0" rtlCol="0" anchor="t">
            <a:spAutoFit/>
          </a:bodyPr>
          <a:lstStyle/>
          <a:p>
            <a:pPr marL="0" indent="0" algn="l">
              <a:buNone/>
            </a:pPr>
            <a:r>
              <a:rPr lang="en-US" sz="1200" b="1" dirty="0">
                <a:solidFill>
                  <a:srgbClr val="E6EDF3"/>
                </a:solidFill>
                <a:latin typeface="JetBrains Mono Bold" pitchFamily="34" charset="0"/>
                <a:ea typeface="JetBrains Mono Bold" pitchFamily="34" charset="-122"/>
                <a:cs typeface="JetBrains Mono Bold" pitchFamily="34" charset="-120"/>
              </a:rPr>
              <a:t>Binary File Analysis</a:t>
            </a:r>
            <a:endParaRPr lang="en-US" sz="1200" dirty="0"/>
          </a:p>
        </p:txBody>
      </p:sp>
      <p:sp>
        <p:nvSpPr>
          <p:cNvPr id="31" name="Text 24"/>
          <p:cNvSpPr/>
          <p:nvPr/>
        </p:nvSpPr>
        <p:spPr>
          <a:xfrm>
            <a:off x="6381751" y="4479131"/>
            <a:ext cx="5257800" cy="394970"/>
          </a:xfrm>
          <a:prstGeom prst="rect">
            <a:avLst/>
          </a:prstGeom>
          <a:noFill/>
        </p:spPr>
        <p:txBody>
          <a:bodyPr wrap="square" lIns="0" tIns="0" rIns="0" bIns="0" rtlCol="0" anchor="t">
            <a:spAutoFit/>
          </a:bodyPr>
          <a:lstStyle/>
          <a:p>
            <a:pPr marL="0" indent="0" algn="l">
              <a:lnSpc>
                <a:spcPct val="120000"/>
              </a:lnSpc>
              <a:buNone/>
            </a:pPr>
            <a:r>
              <a:rPr lang="en-US" sz="1065" dirty="0">
                <a:solidFill>
                  <a:srgbClr val="8B949E"/>
                </a:solidFill>
                <a:latin typeface="Inter" pitchFamily="34" charset="0"/>
                <a:ea typeface="Inter" pitchFamily="34" charset="-122"/>
                <a:cs typeface="Inter" pitchFamily="34" charset="-120"/>
              </a:rPr>
              <a:t>Magic bytes that identify file types are represented in hex but processed in binary. Essential for </a:t>
            </a:r>
            <a:r>
              <a:rPr lang="en-US" sz="1065" dirty="0">
                <a:solidFill>
                  <a:srgbClr val="00FF9C"/>
                </a:solidFill>
                <a:latin typeface="Inter" pitchFamily="34" charset="0"/>
                <a:ea typeface="Inter" pitchFamily="34" charset="-122"/>
                <a:cs typeface="Inter" pitchFamily="34" charset="-120"/>
              </a:rPr>
              <a:t>Pwn</a:t>
            </a:r>
            <a:r>
              <a:rPr lang="en-US" sz="1065" dirty="0">
                <a:solidFill>
                  <a:srgbClr val="8B949E"/>
                </a:solidFill>
                <a:latin typeface="Inter" pitchFamily="34" charset="0"/>
                <a:ea typeface="Inter" pitchFamily="34" charset="-122"/>
                <a:cs typeface="Inter" pitchFamily="34" charset="-120"/>
              </a:rPr>
              <a:t> and </a:t>
            </a:r>
            <a:r>
              <a:rPr lang="en-US" sz="1065" dirty="0">
                <a:solidFill>
                  <a:srgbClr val="00FF9C"/>
                </a:solidFill>
                <a:latin typeface="Inter" pitchFamily="34" charset="0"/>
                <a:ea typeface="Inter" pitchFamily="34" charset="-122"/>
                <a:cs typeface="Inter" pitchFamily="34" charset="-120"/>
              </a:rPr>
              <a:t>Reversing</a:t>
            </a:r>
            <a:r>
              <a:rPr lang="en-US" sz="1065" dirty="0">
                <a:solidFill>
                  <a:srgbClr val="8B949E"/>
                </a:solidFill>
                <a:latin typeface="Inter" pitchFamily="34" charset="0"/>
                <a:ea typeface="Inter" pitchFamily="34" charset="-122"/>
                <a:cs typeface="Inter" pitchFamily="34" charset="-120"/>
              </a:rPr>
              <a:t>.</a:t>
            </a:r>
            <a:endParaRPr lang="en-US" sz="1065" dirty="0"/>
          </a:p>
        </p:txBody>
      </p:sp>
      <p:grpSp>
        <p:nvGrpSpPr>
          <p:cNvPr id="32" name="Group 2"/>
          <p:cNvGrpSpPr/>
          <p:nvPr/>
        </p:nvGrpSpPr>
        <p:grpSpPr>
          <a:xfrm rot="0">
            <a:off x="294640" y="194310"/>
            <a:ext cx="789305" cy="299720"/>
            <a:chOff x="0" y="0"/>
            <a:chExt cx="341337" cy="102463"/>
          </a:xfrm>
        </p:grpSpPr>
        <p:sp>
          <p:nvSpPr>
            <p:cNvPr id="33"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34"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35" name="Group 5"/>
          <p:cNvGrpSpPr/>
          <p:nvPr/>
        </p:nvGrpSpPr>
        <p:grpSpPr>
          <a:xfrm rot="0">
            <a:off x="822325" y="209550"/>
            <a:ext cx="220980" cy="246380"/>
            <a:chOff x="0" y="0"/>
            <a:chExt cx="812800" cy="812800"/>
          </a:xfrm>
        </p:grpSpPr>
        <p:sp>
          <p:nvSpPr>
            <p:cNvPr id="3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7"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38"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476251"/>
          </a:xfrm>
          <a:prstGeom prst="rect">
            <a:avLst/>
          </a:prstGeom>
          <a:solidFill>
            <a:srgbClr val="000000">
              <a:alpha val="0"/>
            </a:srgbClr>
          </a:solidFill>
        </p:spPr>
      </p:sp>
      <p:sp>
        <p:nvSpPr>
          <p:cNvPr id="4" name="Shape 1"/>
          <p:cNvSpPr/>
          <p:nvPr/>
        </p:nvSpPr>
        <p:spPr>
          <a:xfrm>
            <a:off x="0" y="466725"/>
            <a:ext cx="12192000" cy="9525"/>
          </a:xfrm>
          <a:prstGeom prst="rect">
            <a:avLst/>
          </a:prstGeom>
          <a:solidFill>
            <a:srgbClr val="161B22"/>
          </a:solidFill>
        </p:spPr>
      </p:sp>
      <p:sp>
        <p:nvSpPr>
          <p:cNvPr id="6" name="Text 3"/>
          <p:cNvSpPr/>
          <p:nvPr/>
        </p:nvSpPr>
        <p:spPr>
          <a:xfrm>
            <a:off x="10353675" y="150019"/>
            <a:ext cx="113792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JetBrains Mono Bold" pitchFamily="34" charset="0"/>
                <a:ea typeface="JetBrains Mono Bold" pitchFamily="34" charset="-122"/>
                <a:cs typeface="JetBrains Mono Bold" pitchFamily="34" charset="-120"/>
              </a:rPr>
              <a:t>SLIDE 12 // EWUCSC</a:t>
            </a:r>
            <a:endParaRPr lang="en-US" sz="1000" dirty="0"/>
          </a:p>
        </p:txBody>
      </p:sp>
      <p:sp>
        <p:nvSpPr>
          <p:cNvPr id="7" name="Text 4"/>
          <p:cNvSpPr/>
          <p:nvPr/>
        </p:nvSpPr>
        <p:spPr>
          <a:xfrm>
            <a:off x="381000" y="857251"/>
            <a:ext cx="11430000" cy="328930"/>
          </a:xfrm>
          <a:prstGeom prst="rect">
            <a:avLst/>
          </a:prstGeom>
          <a:noFill/>
        </p:spPr>
        <p:txBody>
          <a:bodyPr wrap="square" lIns="0" tIns="0" rIns="0" bIns="0" rtlCol="0" anchor="t">
            <a:spAutoFit/>
          </a:bodyPr>
          <a:lstStyle/>
          <a:p>
            <a:pPr marL="0" indent="0" algn="l">
              <a:buNone/>
            </a:pPr>
            <a:r>
              <a:rPr lang="en-US" sz="2135" b="1" dirty="0">
                <a:solidFill>
                  <a:srgbClr val="E6EDF3"/>
                </a:solidFill>
                <a:latin typeface="JetBrains Mono Bold" pitchFamily="34" charset="0"/>
                <a:ea typeface="JetBrains Mono Bold" pitchFamily="34" charset="-122"/>
                <a:cs typeface="JetBrains Mono Bold" pitchFamily="34" charset="-120"/>
              </a:rPr>
              <a:t>HEX — BECAUSE BINARY IS EXHAUSTING</a:t>
            </a:r>
            <a:endParaRPr lang="en-US" sz="2135" dirty="0"/>
          </a:p>
        </p:txBody>
      </p:sp>
      <p:sp>
        <p:nvSpPr>
          <p:cNvPr id="8" name="Text 5"/>
          <p:cNvSpPr/>
          <p:nvPr/>
        </p:nvSpPr>
        <p:spPr>
          <a:xfrm>
            <a:off x="381000" y="1621631"/>
            <a:ext cx="7609205" cy="249555"/>
          </a:xfrm>
          <a:prstGeom prst="rect">
            <a:avLst/>
          </a:prstGeom>
          <a:noFill/>
        </p:spPr>
        <p:txBody>
          <a:bodyPr wrap="none" lIns="0" tIns="0" rIns="0" bIns="0" rtlCol="0" anchor="t">
            <a:spAutoFit/>
          </a:bodyPr>
          <a:lstStyle/>
          <a:p>
            <a:pPr marL="0" indent="0" algn="l">
              <a:lnSpc>
                <a:spcPct val="128000"/>
              </a:lnSpc>
              <a:buNone/>
            </a:pPr>
            <a:r>
              <a:rPr lang="en-US" sz="1265" dirty="0">
                <a:solidFill>
                  <a:srgbClr val="00FF9C"/>
                </a:solidFill>
                <a:latin typeface="JetBrains Mono Bold" pitchFamily="34" charset="0"/>
                <a:ea typeface="JetBrains Mono Bold" pitchFamily="34" charset="-122"/>
                <a:cs typeface="JetBrains Mono Bold" pitchFamily="34" charset="-120"/>
              </a:rPr>
              <a:t>&gt;</a:t>
            </a:r>
            <a:r>
              <a:rPr lang="en-US" sz="1265" dirty="0">
                <a:solidFill>
                  <a:srgbClr val="8B949E"/>
                </a:solidFill>
                <a:latin typeface="Inter" pitchFamily="34" charset="0"/>
                <a:ea typeface="Inter" pitchFamily="34" charset="-122"/>
                <a:cs typeface="Inter" pitchFamily="34" charset="-120"/>
              </a:rPr>
              <a:t> Imagine you're a security researcher looking at raw memory. The computer shows you a wall of 0s and 1s.</a:t>
            </a:r>
            <a:endParaRPr lang="en-US" sz="1265" dirty="0"/>
          </a:p>
        </p:txBody>
      </p:sp>
      <p:sp>
        <p:nvSpPr>
          <p:cNvPr id="9" name="Text 6"/>
          <p:cNvSpPr/>
          <p:nvPr/>
        </p:nvSpPr>
        <p:spPr>
          <a:xfrm>
            <a:off x="381000" y="2069753"/>
            <a:ext cx="7699375" cy="362585"/>
          </a:xfrm>
          <a:prstGeom prst="rect">
            <a:avLst/>
          </a:prstGeom>
          <a:noFill/>
        </p:spPr>
        <p:txBody>
          <a:bodyPr wrap="none" lIns="0" tIns="113453" rIns="0" bIns="0" rtlCol="0" anchor="t">
            <a:spAutoFit/>
          </a:bodyPr>
          <a:lstStyle/>
          <a:p>
            <a:pPr marL="0" indent="0" algn="l">
              <a:lnSpc>
                <a:spcPct val="128000"/>
              </a:lnSpc>
              <a:buNone/>
            </a:pPr>
            <a:r>
              <a:rPr lang="en-US" sz="1265" dirty="0">
                <a:solidFill>
                  <a:srgbClr val="00FF9C"/>
                </a:solidFill>
                <a:latin typeface="JetBrains Mono Bold" pitchFamily="34" charset="0"/>
                <a:ea typeface="JetBrains Mono Bold" pitchFamily="34" charset="-122"/>
                <a:cs typeface="JetBrains Mono Bold" pitchFamily="34" charset="-120"/>
              </a:rPr>
              <a:t>&gt;</a:t>
            </a:r>
            <a:r>
              <a:rPr lang="en-US" sz="1265" dirty="0">
                <a:solidFill>
                  <a:srgbClr val="8B949E"/>
                </a:solidFill>
                <a:latin typeface="Inter" pitchFamily="34" charset="0"/>
                <a:ea typeface="Inter" pitchFamily="34" charset="-122"/>
                <a:cs typeface="Inter" pitchFamily="34" charset="-120"/>
              </a:rPr>
              <a:t> Reading gigabytes of binary is impossible for humans. </a:t>
            </a:r>
            <a:r>
              <a:rPr lang="en-US" sz="1265" dirty="0">
                <a:solidFill>
                  <a:srgbClr val="58A6FF"/>
                </a:solidFill>
                <a:latin typeface="Inter" pitchFamily="34" charset="0"/>
                <a:ea typeface="Inter" pitchFamily="34" charset="-122"/>
                <a:cs typeface="Inter" pitchFamily="34" charset="-120"/>
              </a:rPr>
              <a:t>Hexadecimal</a:t>
            </a:r>
            <a:r>
              <a:rPr lang="en-US" sz="1265" dirty="0">
                <a:solidFill>
                  <a:srgbClr val="8B949E"/>
                </a:solidFill>
                <a:latin typeface="Inter" pitchFamily="34" charset="0"/>
                <a:ea typeface="Inter" pitchFamily="34" charset="-122"/>
                <a:cs typeface="Inter" pitchFamily="34" charset="-120"/>
              </a:rPr>
              <a:t> was invented so we wouldn't go insane.</a:t>
            </a:r>
            <a:endParaRPr lang="en-US" sz="1265" dirty="0"/>
          </a:p>
        </p:txBody>
      </p:sp>
      <p:sp>
        <p:nvSpPr>
          <p:cNvPr id="10" name="Shape 7"/>
          <p:cNvSpPr/>
          <p:nvPr/>
        </p:nvSpPr>
        <p:spPr>
          <a:xfrm>
            <a:off x="381000" y="2917924"/>
            <a:ext cx="11430000" cy="2085975"/>
          </a:xfrm>
          <a:prstGeom prst="rect">
            <a:avLst/>
          </a:prstGeom>
          <a:solidFill>
            <a:srgbClr val="161B22"/>
          </a:solidFill>
          <a:ln w="9144">
            <a:solidFill>
              <a:srgbClr val="161B22"/>
            </a:solidFill>
            <a:prstDash val="solid"/>
          </a:ln>
        </p:spPr>
      </p:sp>
      <p:sp>
        <p:nvSpPr>
          <p:cNvPr id="11" name="Text 8"/>
          <p:cNvSpPr/>
          <p:nvPr/>
        </p:nvSpPr>
        <p:spPr>
          <a:xfrm>
            <a:off x="762000" y="3348931"/>
            <a:ext cx="422910" cy="153670"/>
          </a:xfrm>
          <a:prstGeom prst="rect">
            <a:avLst/>
          </a:prstGeom>
          <a:noFill/>
        </p:spPr>
        <p:txBody>
          <a:bodyPr wrap="none" lIns="0" tIns="0" rIns="0" bIns="0" rtlCol="0" anchor="t">
            <a:spAutoFit/>
          </a:bodyPr>
          <a:lstStyle/>
          <a:p>
            <a:pPr marL="0" indent="0" algn="l">
              <a:buNone/>
            </a:pPr>
            <a:r>
              <a:rPr lang="en-US" sz="1000" dirty="0">
                <a:solidFill>
                  <a:srgbClr val="58A6FF"/>
                </a:solidFill>
                <a:latin typeface="JetBrains Mono Bold" pitchFamily="34" charset="0"/>
                <a:ea typeface="JetBrains Mono Bold" pitchFamily="34" charset="-122"/>
                <a:cs typeface="JetBrains Mono Bold" pitchFamily="34" charset="-120"/>
              </a:rPr>
              <a:t>BINARY</a:t>
            </a:r>
            <a:endParaRPr lang="en-US" sz="1000" dirty="0"/>
          </a:p>
        </p:txBody>
      </p:sp>
      <p:sp>
        <p:nvSpPr>
          <p:cNvPr id="12" name="Text 9"/>
          <p:cNvSpPr/>
          <p:nvPr/>
        </p:nvSpPr>
        <p:spPr>
          <a:xfrm>
            <a:off x="2000251" y="3298924"/>
            <a:ext cx="6391275" cy="236220"/>
          </a:xfrm>
          <a:prstGeom prst="rect">
            <a:avLst/>
          </a:prstGeom>
          <a:noFill/>
        </p:spPr>
        <p:txBody>
          <a:bodyPr wrap="square" lIns="0" tIns="0" rIns="0" bIns="0" rtlCol="0" anchor="t">
            <a:spAutoFit/>
          </a:bodyPr>
          <a:lstStyle/>
          <a:p>
            <a:pPr marL="0" indent="0" algn="l">
              <a:buNone/>
            </a:pPr>
            <a:r>
              <a:rPr lang="en-US" sz="1535" kern="0" spc="2" dirty="0">
                <a:solidFill>
                  <a:srgbClr val="E6EDF3"/>
                </a:solidFill>
                <a:latin typeface="JetBrains Mono Bold" pitchFamily="34" charset="0"/>
                <a:ea typeface="JetBrains Mono Bold" pitchFamily="34" charset="-122"/>
                <a:cs typeface="JetBrains Mono Bold" pitchFamily="34" charset="-120"/>
              </a:rPr>
              <a:t>01001000 01100101 01101100 01101100 01101111</a:t>
            </a:r>
            <a:endParaRPr lang="en-US" sz="1535" dirty="0"/>
          </a:p>
        </p:txBody>
      </p:sp>
      <p:sp>
        <p:nvSpPr>
          <p:cNvPr id="13" name="Text 10"/>
          <p:cNvSpPr/>
          <p:nvPr/>
        </p:nvSpPr>
        <p:spPr>
          <a:xfrm>
            <a:off x="762000" y="3863280"/>
            <a:ext cx="221615" cy="153670"/>
          </a:xfrm>
          <a:prstGeom prst="rect">
            <a:avLst/>
          </a:prstGeom>
          <a:noFill/>
        </p:spPr>
        <p:txBody>
          <a:bodyPr wrap="none" lIns="0" tIns="0" rIns="0" bIns="0" rtlCol="0" anchor="t">
            <a:spAutoFit/>
          </a:bodyPr>
          <a:lstStyle/>
          <a:p>
            <a:pPr marL="0" indent="0" algn="l">
              <a:buNone/>
            </a:pPr>
            <a:r>
              <a:rPr lang="en-US" sz="1000" dirty="0">
                <a:solidFill>
                  <a:srgbClr val="58A6FF"/>
                </a:solidFill>
                <a:latin typeface="JetBrains Mono Bold" pitchFamily="34" charset="0"/>
                <a:ea typeface="JetBrains Mono Bold" pitchFamily="34" charset="-122"/>
                <a:cs typeface="JetBrains Mono Bold" pitchFamily="34" charset="-120"/>
              </a:rPr>
              <a:t>HEX</a:t>
            </a:r>
            <a:endParaRPr lang="en-US" sz="1000" dirty="0"/>
          </a:p>
        </p:txBody>
      </p:sp>
      <p:sp>
        <p:nvSpPr>
          <p:cNvPr id="14" name="Text 11"/>
          <p:cNvSpPr/>
          <p:nvPr/>
        </p:nvSpPr>
        <p:spPr>
          <a:xfrm>
            <a:off x="2000251" y="3813275"/>
            <a:ext cx="2033588" cy="236220"/>
          </a:xfrm>
          <a:prstGeom prst="rect">
            <a:avLst/>
          </a:prstGeom>
          <a:noFill/>
        </p:spPr>
        <p:txBody>
          <a:bodyPr wrap="square" lIns="0" tIns="0" rIns="0" bIns="0" rtlCol="0" anchor="t">
            <a:spAutoFit/>
          </a:bodyPr>
          <a:lstStyle/>
          <a:p>
            <a:pPr marL="0" indent="0" algn="l">
              <a:buNone/>
            </a:pPr>
            <a:r>
              <a:rPr lang="en-US" sz="1535" kern="0" spc="2" dirty="0">
                <a:solidFill>
                  <a:srgbClr val="00FF9C"/>
                </a:solidFill>
                <a:latin typeface="JetBrains Mono Bold" pitchFamily="34" charset="0"/>
                <a:ea typeface="JetBrains Mono Bold" pitchFamily="34" charset="-122"/>
                <a:cs typeface="JetBrains Mono Bold" pitchFamily="34" charset="-120"/>
              </a:rPr>
              <a:t>48 65 6C 6C 6F</a:t>
            </a:r>
            <a:endParaRPr lang="en-US" sz="1535" dirty="0"/>
          </a:p>
        </p:txBody>
      </p:sp>
      <p:sp>
        <p:nvSpPr>
          <p:cNvPr id="15" name="Text 12"/>
          <p:cNvSpPr/>
          <p:nvPr/>
        </p:nvSpPr>
        <p:spPr>
          <a:xfrm>
            <a:off x="762000" y="4377631"/>
            <a:ext cx="294005" cy="153670"/>
          </a:xfrm>
          <a:prstGeom prst="rect">
            <a:avLst/>
          </a:prstGeom>
          <a:noFill/>
        </p:spPr>
        <p:txBody>
          <a:bodyPr wrap="none" lIns="0" tIns="0" rIns="0" bIns="0" rtlCol="0" anchor="t">
            <a:spAutoFit/>
          </a:bodyPr>
          <a:lstStyle/>
          <a:p>
            <a:pPr marL="0" indent="0" algn="l">
              <a:buNone/>
            </a:pPr>
            <a:r>
              <a:rPr lang="en-US" sz="1000" dirty="0">
                <a:solidFill>
                  <a:srgbClr val="58A6FF"/>
                </a:solidFill>
                <a:latin typeface="JetBrains Mono Bold" pitchFamily="34" charset="0"/>
                <a:ea typeface="JetBrains Mono Bold" pitchFamily="34" charset="-122"/>
                <a:cs typeface="JetBrains Mono Bold" pitchFamily="34" charset="-120"/>
              </a:rPr>
              <a:t>ASCII</a:t>
            </a:r>
            <a:endParaRPr lang="en-US" sz="1000" dirty="0"/>
          </a:p>
        </p:txBody>
      </p:sp>
      <p:sp>
        <p:nvSpPr>
          <p:cNvPr id="16" name="Text 13"/>
          <p:cNvSpPr/>
          <p:nvPr/>
        </p:nvSpPr>
        <p:spPr>
          <a:xfrm>
            <a:off x="2000251" y="4327624"/>
            <a:ext cx="652145" cy="236220"/>
          </a:xfrm>
          <a:prstGeom prst="rect">
            <a:avLst/>
          </a:prstGeom>
          <a:noFill/>
        </p:spPr>
        <p:txBody>
          <a:bodyPr wrap="none" lIns="0" tIns="0" rIns="0" bIns="0" rtlCol="0" anchor="t">
            <a:spAutoFit/>
          </a:bodyPr>
          <a:lstStyle/>
          <a:p>
            <a:pPr marL="0" indent="0" algn="l">
              <a:buNone/>
            </a:pPr>
            <a:r>
              <a:rPr lang="en-US" sz="1535" kern="0" spc="2" dirty="0">
                <a:solidFill>
                  <a:srgbClr val="58A6FF"/>
                </a:solidFill>
                <a:latin typeface="JetBrains Mono Bold" pitchFamily="34" charset="0"/>
                <a:ea typeface="JetBrains Mono Bold" pitchFamily="34" charset="-122"/>
                <a:cs typeface="JetBrains Mono Bold" pitchFamily="34" charset="-120"/>
              </a:rPr>
              <a:t>H e l l o</a:t>
            </a:r>
            <a:endParaRPr lang="en-US" sz="1535" dirty="0"/>
          </a:p>
        </p:txBody>
      </p:sp>
      <p:sp>
        <p:nvSpPr>
          <p:cNvPr id="17" name="Shape 14"/>
          <p:cNvSpPr/>
          <p:nvPr/>
        </p:nvSpPr>
        <p:spPr>
          <a:xfrm>
            <a:off x="381000" y="5800725"/>
            <a:ext cx="11430000" cy="676275"/>
          </a:xfrm>
          <a:prstGeom prst="rect">
            <a:avLst/>
          </a:prstGeom>
          <a:solidFill>
            <a:srgbClr val="00FF9C">
              <a:alpha val="10000"/>
            </a:srgbClr>
          </a:solidFill>
          <a:ln w="9144">
            <a:solidFill>
              <a:srgbClr val="00FF9C"/>
            </a:solidFill>
            <a:prstDash val="solid"/>
          </a:ln>
        </p:spPr>
      </p:sp>
      <p:pic>
        <p:nvPicPr>
          <p:cNvPr id="18" name="Image 1" descr="preencoded.png"/>
          <p:cNvPicPr>
            <a:picLocks noChangeAspect="1"/>
          </p:cNvPicPr>
          <p:nvPr/>
        </p:nvPicPr>
        <p:blipFill>
          <a:blip r:embed="rId2"/>
          <a:stretch>
            <a:fillRect/>
          </a:stretch>
        </p:blipFill>
        <p:spPr>
          <a:xfrm>
            <a:off x="571500" y="6031707"/>
            <a:ext cx="228600" cy="228600"/>
          </a:xfrm>
          <a:prstGeom prst="rect">
            <a:avLst/>
          </a:prstGeom>
        </p:spPr>
      </p:pic>
      <p:sp>
        <p:nvSpPr>
          <p:cNvPr id="19" name="Text 15"/>
          <p:cNvSpPr/>
          <p:nvPr/>
        </p:nvSpPr>
        <p:spPr>
          <a:xfrm>
            <a:off x="990600" y="6048375"/>
            <a:ext cx="5338763" cy="163830"/>
          </a:xfrm>
          <a:prstGeom prst="rect">
            <a:avLst/>
          </a:prstGeom>
          <a:noFill/>
        </p:spPr>
        <p:txBody>
          <a:bodyPr wrap="square" lIns="0" tIns="0" rIns="0" bIns="0" rtlCol="0" anchor="t">
            <a:spAutoFit/>
          </a:bodyPr>
          <a:lstStyle/>
          <a:p>
            <a:pPr marL="0" indent="0" algn="l">
              <a:buNone/>
            </a:pPr>
            <a:r>
              <a:rPr lang="en-US" sz="1065" b="1" dirty="0">
                <a:solidFill>
                  <a:srgbClr val="E6EDF3"/>
                </a:solidFill>
                <a:latin typeface="JetBrains Mono Bold" pitchFamily="34" charset="0"/>
                <a:ea typeface="JetBrains Mono Bold" pitchFamily="34" charset="-122"/>
                <a:cs typeface="JetBrains Mono Bold" pitchFamily="34" charset="-120"/>
              </a:rPr>
              <a:t>"Hex is just a shorthand for binary. 4 bits = 1 hex digit."</a:t>
            </a:r>
            <a:endParaRPr lang="en-US" sz="1065" dirty="0"/>
          </a:p>
        </p:txBody>
      </p:sp>
      <p:grpSp>
        <p:nvGrpSpPr>
          <p:cNvPr id="22" name="Group 2"/>
          <p:cNvGrpSpPr/>
          <p:nvPr/>
        </p:nvGrpSpPr>
        <p:grpSpPr>
          <a:xfrm rot="0">
            <a:off x="294640" y="194310"/>
            <a:ext cx="789305" cy="299720"/>
            <a:chOff x="0" y="0"/>
            <a:chExt cx="341337" cy="102463"/>
          </a:xfrm>
        </p:grpSpPr>
        <p:sp>
          <p:nvSpPr>
            <p:cNvPr id="23"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24"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25" name="Group 5"/>
          <p:cNvGrpSpPr/>
          <p:nvPr/>
        </p:nvGrpSpPr>
        <p:grpSpPr>
          <a:xfrm rot="0">
            <a:off x="822325" y="209550"/>
            <a:ext cx="220980" cy="246380"/>
            <a:chOff x="0" y="0"/>
            <a:chExt cx="812800" cy="812800"/>
          </a:xfrm>
        </p:grpSpPr>
        <p:sp>
          <p:nvSpPr>
            <p:cNvPr id="2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7"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28"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48208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2493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00FF9C"/>
                </a:solidFill>
                <a:latin typeface="Poppins Bold" pitchFamily="34" charset="0"/>
                <a:ea typeface="Poppins Bold" pitchFamily="34" charset="-122"/>
                <a:cs typeface="Poppins Bold" pitchFamily="34" charset="-120"/>
              </a:rPr>
              <a:t>THE 16 HEX DIGITS</a:t>
            </a:r>
            <a:endParaRPr lang="en-US" sz="3265" dirty="0"/>
          </a:p>
        </p:txBody>
      </p:sp>
      <p:sp>
        <p:nvSpPr>
          <p:cNvPr id="4" name="Text 1"/>
          <p:cNvSpPr/>
          <p:nvPr/>
        </p:nvSpPr>
        <p:spPr>
          <a:xfrm>
            <a:off x="381000" y="2098476"/>
            <a:ext cx="4000500" cy="986790"/>
          </a:xfrm>
          <a:prstGeom prst="rect">
            <a:avLst/>
          </a:prstGeom>
          <a:noFill/>
        </p:spPr>
        <p:txBody>
          <a:bodyPr wrap="square" lIns="0" tIns="0" rIns="0" bIns="0" rtlCol="0" anchor="t">
            <a:spAutoFit/>
          </a:bodyPr>
          <a:lstStyle/>
          <a:p>
            <a:pPr marL="0" indent="0" algn="l">
              <a:lnSpc>
                <a:spcPct val="128000"/>
              </a:lnSpc>
              <a:buNone/>
            </a:pPr>
            <a:r>
              <a:rPr lang="en-US" sz="1665" dirty="0">
                <a:solidFill>
                  <a:srgbClr val="E6EDF3"/>
                </a:solidFill>
                <a:latin typeface="Inter" pitchFamily="34" charset="0"/>
                <a:ea typeface="Inter" pitchFamily="34" charset="-122"/>
                <a:cs typeface="Inter" pitchFamily="34" charset="-120"/>
              </a:rPr>
              <a:t>Hexadecimal uses </a:t>
            </a:r>
            <a:r>
              <a:rPr lang="en-US" sz="1600" b="1" dirty="0">
                <a:solidFill>
                  <a:srgbClr val="E6EDF3"/>
                </a:solidFill>
                <a:latin typeface="Inter" pitchFamily="34" charset="0"/>
                <a:ea typeface="Inter" pitchFamily="34" charset="-122"/>
                <a:cs typeface="Inter" pitchFamily="34" charset="-120"/>
              </a:rPr>
              <a:t>Base 16</a:t>
            </a:r>
            <a:r>
              <a:rPr lang="en-US" sz="1665" dirty="0">
                <a:solidFill>
                  <a:srgbClr val="E6EDF3"/>
                </a:solidFill>
                <a:latin typeface="Inter" pitchFamily="34" charset="0"/>
                <a:ea typeface="Inter" pitchFamily="34" charset="-122"/>
                <a:cs typeface="Inter" pitchFamily="34" charset="-120"/>
              </a:rPr>
              <a:t> to represent data efficiently. It is the bridge between human-readable text and binary code.</a:t>
            </a:r>
            <a:endParaRPr lang="en-US" sz="1665" dirty="0"/>
          </a:p>
        </p:txBody>
      </p:sp>
      <p:sp>
        <p:nvSpPr>
          <p:cNvPr id="5" name="Shape 2"/>
          <p:cNvSpPr/>
          <p:nvPr/>
        </p:nvSpPr>
        <p:spPr>
          <a:xfrm>
            <a:off x="381000" y="3675757"/>
            <a:ext cx="4000500" cy="1188691"/>
          </a:xfrm>
          <a:prstGeom prst="rect">
            <a:avLst/>
          </a:prstGeom>
          <a:solidFill>
            <a:srgbClr val="E3B341">
              <a:alpha val="10000"/>
            </a:srgbClr>
          </a:solidFill>
        </p:spPr>
      </p:sp>
      <p:sp>
        <p:nvSpPr>
          <p:cNvPr id="6" name="Shape 3"/>
          <p:cNvSpPr/>
          <p:nvPr/>
        </p:nvSpPr>
        <p:spPr>
          <a:xfrm>
            <a:off x="381000" y="3675757"/>
            <a:ext cx="38100" cy="1188691"/>
          </a:xfrm>
          <a:prstGeom prst="rect">
            <a:avLst/>
          </a:prstGeom>
          <a:solidFill>
            <a:srgbClr val="E3B341"/>
          </a:solidFill>
        </p:spPr>
      </p:sp>
      <p:pic>
        <p:nvPicPr>
          <p:cNvPr id="7" name="Image 1" descr="preencoded.png"/>
          <p:cNvPicPr>
            <a:picLocks noChangeAspect="1"/>
          </p:cNvPicPr>
          <p:nvPr/>
        </p:nvPicPr>
        <p:blipFill>
          <a:blip r:embed="rId2"/>
          <a:stretch>
            <a:fillRect/>
          </a:stretch>
        </p:blipFill>
        <p:spPr>
          <a:xfrm>
            <a:off x="495300" y="3818632"/>
            <a:ext cx="192881" cy="171451"/>
          </a:xfrm>
          <a:prstGeom prst="rect">
            <a:avLst/>
          </a:prstGeom>
        </p:spPr>
      </p:pic>
      <p:sp>
        <p:nvSpPr>
          <p:cNvPr id="8" name="Text 4"/>
          <p:cNvSpPr/>
          <p:nvPr/>
        </p:nvSpPr>
        <p:spPr>
          <a:xfrm>
            <a:off x="688181" y="3794820"/>
            <a:ext cx="644525" cy="218440"/>
          </a:xfrm>
          <a:prstGeom prst="rect">
            <a:avLst/>
          </a:prstGeom>
          <a:noFill/>
        </p:spPr>
        <p:txBody>
          <a:bodyPr wrap="none" lIns="0" tIns="0" rIns="0" bIns="0" rtlCol="0" anchor="t">
            <a:spAutoFit/>
          </a:bodyPr>
          <a:lstStyle/>
          <a:p>
            <a:pPr marL="0" indent="0" algn="l">
              <a:lnSpc>
                <a:spcPct val="112000"/>
              </a:lnSpc>
              <a:buNone/>
            </a:pPr>
            <a:r>
              <a:rPr lang="en-US" sz="1265" dirty="0">
                <a:solidFill>
                  <a:srgbClr val="E3B341"/>
                </a:solidFill>
                <a:latin typeface="JetBrains Mono" pitchFamily="34" charset="0"/>
                <a:ea typeface="JetBrains Mono" pitchFamily="34" charset="-122"/>
                <a:cs typeface="JetBrains Mono" pitchFamily="34" charset="-120"/>
              </a:rPr>
              <a:t>0x Prefix:</a:t>
            </a:r>
            <a:endParaRPr lang="en-US" sz="1265" dirty="0"/>
          </a:p>
        </p:txBody>
      </p:sp>
      <p:sp>
        <p:nvSpPr>
          <p:cNvPr id="9" name="Text 5"/>
          <p:cNvSpPr/>
          <p:nvPr/>
        </p:nvSpPr>
        <p:spPr>
          <a:xfrm>
            <a:off x="495300" y="4034843"/>
            <a:ext cx="2320925" cy="218440"/>
          </a:xfrm>
          <a:prstGeom prst="rect">
            <a:avLst/>
          </a:prstGeom>
          <a:noFill/>
        </p:spPr>
        <p:txBody>
          <a:bodyPr wrap="none" lIns="0" tIns="0" rIns="0" bIns="0" rtlCol="0" anchor="t">
            <a:spAutoFit/>
          </a:bodyPr>
          <a:lstStyle/>
          <a:p>
            <a:pPr marL="0" indent="0" algn="l">
              <a:lnSpc>
                <a:spcPct val="112000"/>
              </a:lnSpc>
              <a:buNone/>
            </a:pPr>
            <a:r>
              <a:rPr lang="en-US" sz="1265" dirty="0">
                <a:solidFill>
                  <a:srgbClr val="E3B341"/>
                </a:solidFill>
                <a:latin typeface="JetBrains Mono" pitchFamily="34" charset="0"/>
                <a:ea typeface="JetBrains Mono" pitchFamily="34" charset="-122"/>
                <a:cs typeface="JetBrains Mono" pitchFamily="34" charset="-120"/>
              </a:rPr>
              <a:t>Hex values are always written as</a:t>
            </a:r>
            <a:endParaRPr lang="en-US" sz="1265" dirty="0"/>
          </a:p>
        </p:txBody>
      </p:sp>
      <p:sp>
        <p:nvSpPr>
          <p:cNvPr id="10" name="Text 6"/>
          <p:cNvSpPr/>
          <p:nvPr/>
        </p:nvSpPr>
        <p:spPr>
          <a:xfrm>
            <a:off x="495300" y="4274864"/>
            <a:ext cx="2541270" cy="218440"/>
          </a:xfrm>
          <a:prstGeom prst="rect">
            <a:avLst/>
          </a:prstGeom>
          <a:noFill/>
        </p:spPr>
        <p:txBody>
          <a:bodyPr wrap="none" lIns="0" tIns="0" rIns="0" bIns="0" rtlCol="0" anchor="t">
            <a:spAutoFit/>
          </a:bodyPr>
          <a:lstStyle/>
          <a:p>
            <a:pPr marL="0" indent="0" algn="l">
              <a:lnSpc>
                <a:spcPct val="112000"/>
              </a:lnSpc>
              <a:buNone/>
            </a:pPr>
            <a:r>
              <a:rPr lang="en-US" sz="1265" dirty="0">
                <a:solidFill>
                  <a:srgbClr val="E3B341"/>
                </a:solidFill>
                <a:latin typeface="JetBrains Mono" pitchFamily="34" charset="0"/>
                <a:ea typeface="JetBrains Mono" pitchFamily="34" charset="-122"/>
                <a:cs typeface="JetBrains Mono" pitchFamily="34" charset="-120"/>
              </a:rPr>
              <a:t>0x4A, 0xFF to distinguish them from</a:t>
            </a:r>
            <a:endParaRPr lang="en-US" sz="1265" dirty="0"/>
          </a:p>
        </p:txBody>
      </p:sp>
      <p:sp>
        <p:nvSpPr>
          <p:cNvPr id="11" name="Text 7"/>
          <p:cNvSpPr/>
          <p:nvPr/>
        </p:nvSpPr>
        <p:spPr>
          <a:xfrm>
            <a:off x="495300" y="4514887"/>
            <a:ext cx="579755" cy="218440"/>
          </a:xfrm>
          <a:prstGeom prst="rect">
            <a:avLst/>
          </a:prstGeom>
          <a:noFill/>
        </p:spPr>
        <p:txBody>
          <a:bodyPr wrap="none" lIns="0" tIns="0" rIns="0" bIns="0" rtlCol="0" anchor="t">
            <a:spAutoFit/>
          </a:bodyPr>
          <a:lstStyle/>
          <a:p>
            <a:pPr marL="0" indent="0" algn="l">
              <a:lnSpc>
                <a:spcPct val="112000"/>
              </a:lnSpc>
              <a:buNone/>
            </a:pPr>
            <a:r>
              <a:rPr lang="en-US" sz="1265" dirty="0">
                <a:solidFill>
                  <a:srgbClr val="E3B341"/>
                </a:solidFill>
                <a:latin typeface="JetBrains Mono" pitchFamily="34" charset="0"/>
                <a:ea typeface="JetBrains Mono" pitchFamily="34" charset="-122"/>
                <a:cs typeface="JetBrains Mono" pitchFamily="34" charset="-120"/>
              </a:rPr>
              <a:t>decimal.</a:t>
            </a:r>
            <a:endParaRPr lang="en-US" sz="1265" dirty="0"/>
          </a:p>
        </p:txBody>
      </p:sp>
      <p:sp>
        <p:nvSpPr>
          <p:cNvPr id="12" name="Shape 8"/>
          <p:cNvSpPr/>
          <p:nvPr/>
        </p:nvSpPr>
        <p:spPr>
          <a:xfrm>
            <a:off x="5753100" y="1869876"/>
            <a:ext cx="6057900" cy="3829051"/>
          </a:xfrm>
          <a:prstGeom prst="rect">
            <a:avLst/>
          </a:prstGeom>
          <a:solidFill>
            <a:srgbClr val="161B22"/>
          </a:solidFill>
        </p:spPr>
      </p:sp>
      <p:sp>
        <p:nvSpPr>
          <p:cNvPr id="13" name="Text 9"/>
          <p:cNvSpPr/>
          <p:nvPr/>
        </p:nvSpPr>
        <p:spPr>
          <a:xfrm>
            <a:off x="5924551" y="2058630"/>
            <a:ext cx="2017031" cy="341630"/>
          </a:xfrm>
          <a:prstGeom prst="rect">
            <a:avLst/>
          </a:prstGeom>
          <a:noFill/>
        </p:spPr>
        <p:txBody>
          <a:bodyPr wrap="square" lIns="68072" tIns="68072" rIns="68072" bIns="68072" rtlCol="0" anchor="ctr">
            <a:spAutoFit/>
          </a:bodyPr>
          <a:lstStyle/>
          <a:p>
            <a:pPr marL="0" indent="0" algn="l">
              <a:buNone/>
            </a:pPr>
            <a:r>
              <a:rPr lang="en-US" sz="1335" b="1" dirty="0">
                <a:solidFill>
                  <a:srgbClr val="58A6FF"/>
                </a:solidFill>
                <a:latin typeface="JetBrains Mono" pitchFamily="34" charset="0"/>
                <a:ea typeface="JetBrains Mono" pitchFamily="34" charset="-122"/>
                <a:cs typeface="JetBrains Mono" pitchFamily="34" charset="-120"/>
              </a:rPr>
              <a:t>Decimal</a:t>
            </a:r>
            <a:endParaRPr lang="en-US" sz="1335" dirty="0"/>
          </a:p>
        </p:txBody>
      </p:sp>
      <p:sp>
        <p:nvSpPr>
          <p:cNvPr id="14" name="Text 10"/>
          <p:cNvSpPr/>
          <p:nvPr/>
        </p:nvSpPr>
        <p:spPr>
          <a:xfrm>
            <a:off x="7941580" y="2058630"/>
            <a:ext cx="2605348" cy="341630"/>
          </a:xfrm>
          <a:prstGeom prst="rect">
            <a:avLst/>
          </a:prstGeom>
          <a:noFill/>
        </p:spPr>
        <p:txBody>
          <a:bodyPr wrap="square" lIns="68072" tIns="68072" rIns="68072" bIns="68072" rtlCol="0" anchor="ctr">
            <a:spAutoFit/>
          </a:bodyPr>
          <a:lstStyle/>
          <a:p>
            <a:pPr marL="0" indent="0" algn="l">
              <a:buNone/>
            </a:pPr>
            <a:r>
              <a:rPr lang="en-US" sz="1335" b="1" dirty="0">
                <a:solidFill>
                  <a:srgbClr val="58A6FF"/>
                </a:solidFill>
                <a:latin typeface="JetBrains Mono" pitchFamily="34" charset="0"/>
                <a:ea typeface="JetBrains Mono" pitchFamily="34" charset="-122"/>
                <a:cs typeface="JetBrains Mono" pitchFamily="34" charset="-120"/>
              </a:rPr>
              <a:t>Binary</a:t>
            </a:r>
            <a:endParaRPr lang="en-US" sz="1335" dirty="0"/>
          </a:p>
        </p:txBody>
      </p:sp>
      <p:sp>
        <p:nvSpPr>
          <p:cNvPr id="15" name="Text 11"/>
          <p:cNvSpPr/>
          <p:nvPr/>
        </p:nvSpPr>
        <p:spPr>
          <a:xfrm>
            <a:off x="10546928" y="2058630"/>
            <a:ext cx="426720" cy="341630"/>
          </a:xfrm>
          <a:prstGeom prst="rect">
            <a:avLst/>
          </a:prstGeom>
          <a:noFill/>
        </p:spPr>
        <p:txBody>
          <a:bodyPr wrap="none" lIns="68072" tIns="68072" rIns="68072" bIns="68072" rtlCol="0" anchor="ctr">
            <a:spAutoFit/>
          </a:bodyPr>
          <a:lstStyle/>
          <a:p>
            <a:pPr marL="0" indent="0" algn="l">
              <a:buNone/>
            </a:pPr>
            <a:r>
              <a:rPr lang="en-US" sz="1335" b="1" dirty="0">
                <a:solidFill>
                  <a:srgbClr val="58A6FF"/>
                </a:solidFill>
                <a:latin typeface="JetBrains Mono" pitchFamily="34" charset="0"/>
                <a:ea typeface="JetBrains Mono" pitchFamily="34" charset="-122"/>
                <a:cs typeface="JetBrains Mono" pitchFamily="34" charset="-120"/>
              </a:rPr>
              <a:t>Hex</a:t>
            </a:r>
            <a:endParaRPr lang="en-US" sz="1335" dirty="0"/>
          </a:p>
        </p:txBody>
      </p:sp>
      <p:sp>
        <p:nvSpPr>
          <p:cNvPr id="16" name="Text 12"/>
          <p:cNvSpPr/>
          <p:nvPr/>
        </p:nvSpPr>
        <p:spPr>
          <a:xfrm>
            <a:off x="5924551" y="2432487"/>
            <a:ext cx="2017031" cy="351155"/>
          </a:xfrm>
          <a:prstGeom prst="rect">
            <a:avLst/>
          </a:prstGeom>
          <a:noFill/>
        </p:spPr>
        <p:txBody>
          <a:bodyPr wrap="square" lIns="90762" tIns="68072" rIns="90762" bIns="68072" rtlCol="0" anchor="ctr">
            <a:spAutoFit/>
          </a:bodyPr>
          <a:lstStyle/>
          <a:p>
            <a:pPr marL="0" indent="0" algn="l">
              <a:buNone/>
            </a:pPr>
            <a:r>
              <a:rPr lang="en-US" sz="1400" dirty="0">
                <a:solidFill>
                  <a:srgbClr val="E6EDF3"/>
                </a:solidFill>
                <a:latin typeface="JetBrains Mono" pitchFamily="34" charset="0"/>
                <a:ea typeface="JetBrains Mono" pitchFamily="34" charset="-122"/>
                <a:cs typeface="JetBrains Mono" pitchFamily="34" charset="-120"/>
              </a:rPr>
              <a:t>0-9</a:t>
            </a:r>
            <a:endParaRPr lang="en-US" sz="1400" dirty="0"/>
          </a:p>
        </p:txBody>
      </p:sp>
      <p:sp>
        <p:nvSpPr>
          <p:cNvPr id="17" name="Text 13"/>
          <p:cNvSpPr/>
          <p:nvPr/>
        </p:nvSpPr>
        <p:spPr>
          <a:xfrm>
            <a:off x="7941580" y="2432487"/>
            <a:ext cx="2605348" cy="351155"/>
          </a:xfrm>
          <a:prstGeom prst="rect">
            <a:avLst/>
          </a:prstGeom>
          <a:noFill/>
        </p:spPr>
        <p:txBody>
          <a:bodyPr wrap="square" lIns="90762" tIns="68072" rIns="90762" bIns="68072" rtlCol="0" anchor="ctr">
            <a:spAutoFit/>
          </a:bodyPr>
          <a:lstStyle/>
          <a:p>
            <a:pPr marL="0" indent="0" algn="l">
              <a:buNone/>
            </a:pPr>
            <a:r>
              <a:rPr lang="en-US" sz="1400" dirty="0">
                <a:solidFill>
                  <a:srgbClr val="E6EDF3"/>
                </a:solidFill>
                <a:latin typeface="JetBrains Mono" pitchFamily="34" charset="0"/>
                <a:ea typeface="JetBrains Mono" pitchFamily="34" charset="-122"/>
                <a:cs typeface="JetBrains Mono" pitchFamily="34" charset="-120"/>
              </a:rPr>
              <a:t>0000-1001</a:t>
            </a:r>
            <a:endParaRPr lang="en-US" sz="1400" dirty="0"/>
          </a:p>
        </p:txBody>
      </p:sp>
      <p:sp>
        <p:nvSpPr>
          <p:cNvPr id="18" name="Text 14"/>
          <p:cNvSpPr/>
          <p:nvPr/>
        </p:nvSpPr>
        <p:spPr>
          <a:xfrm>
            <a:off x="10546928" y="2432487"/>
            <a:ext cx="430530" cy="351155"/>
          </a:xfrm>
          <a:prstGeom prst="rect">
            <a:avLst/>
          </a:prstGeom>
          <a:noFill/>
        </p:spPr>
        <p:txBody>
          <a:bodyPr wrap="none" lIns="90762" tIns="68072" rIns="90762" bIns="68072" rtlCol="0" anchor="ctr">
            <a:spAutoFit/>
          </a:bodyPr>
          <a:lstStyle/>
          <a:p>
            <a:pPr marL="0" indent="0" algn="l">
              <a:buNone/>
            </a:pPr>
            <a:r>
              <a:rPr lang="en-US" sz="1400" dirty="0">
                <a:solidFill>
                  <a:srgbClr val="E6EDF3"/>
                </a:solidFill>
                <a:latin typeface="JetBrains Mono" pitchFamily="34" charset="0"/>
                <a:ea typeface="JetBrains Mono" pitchFamily="34" charset="-122"/>
                <a:cs typeface="JetBrains Mono" pitchFamily="34" charset="-120"/>
              </a:rPr>
              <a:t>0-9</a:t>
            </a:r>
            <a:endParaRPr lang="en-US" sz="1400" dirty="0"/>
          </a:p>
        </p:txBody>
      </p:sp>
      <p:sp>
        <p:nvSpPr>
          <p:cNvPr id="19" name="Text 15"/>
          <p:cNvSpPr/>
          <p:nvPr/>
        </p:nvSpPr>
        <p:spPr>
          <a:xfrm>
            <a:off x="5924551" y="2815868"/>
            <a:ext cx="2017031" cy="341630"/>
          </a:xfrm>
          <a:prstGeom prst="rect">
            <a:avLst/>
          </a:prstGeom>
          <a:noFill/>
        </p:spPr>
        <p:txBody>
          <a:bodyPr wrap="squar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10</a:t>
            </a:r>
            <a:endParaRPr lang="en-US" sz="1335" dirty="0"/>
          </a:p>
        </p:txBody>
      </p:sp>
      <p:sp>
        <p:nvSpPr>
          <p:cNvPr id="20" name="Text 16"/>
          <p:cNvSpPr/>
          <p:nvPr/>
        </p:nvSpPr>
        <p:spPr>
          <a:xfrm>
            <a:off x="7941580" y="2815868"/>
            <a:ext cx="2605348" cy="341630"/>
          </a:xfrm>
          <a:prstGeom prst="rect">
            <a:avLst/>
          </a:prstGeom>
          <a:noFill/>
        </p:spPr>
        <p:txBody>
          <a:bodyPr wrap="squar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1010</a:t>
            </a:r>
            <a:endParaRPr lang="en-US" sz="1335" dirty="0"/>
          </a:p>
        </p:txBody>
      </p:sp>
      <p:sp>
        <p:nvSpPr>
          <p:cNvPr id="21" name="Text 17"/>
          <p:cNvSpPr/>
          <p:nvPr/>
        </p:nvSpPr>
        <p:spPr>
          <a:xfrm>
            <a:off x="10546928" y="2815868"/>
            <a:ext cx="282575" cy="341630"/>
          </a:xfrm>
          <a:prstGeom prst="rect">
            <a:avLst/>
          </a:prstGeom>
          <a:noFill/>
        </p:spPr>
        <p:txBody>
          <a:bodyPr wrap="non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A</a:t>
            </a:r>
            <a:endParaRPr lang="en-US" sz="1335" dirty="0"/>
          </a:p>
        </p:txBody>
      </p:sp>
      <p:sp>
        <p:nvSpPr>
          <p:cNvPr id="22" name="Text 18"/>
          <p:cNvSpPr/>
          <p:nvPr/>
        </p:nvSpPr>
        <p:spPr>
          <a:xfrm>
            <a:off x="5924551" y="3192105"/>
            <a:ext cx="2017031" cy="341630"/>
          </a:xfrm>
          <a:prstGeom prst="rect">
            <a:avLst/>
          </a:prstGeom>
          <a:noFill/>
        </p:spPr>
        <p:txBody>
          <a:bodyPr wrap="squar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11</a:t>
            </a:r>
            <a:endParaRPr lang="en-US" sz="1335" dirty="0"/>
          </a:p>
        </p:txBody>
      </p:sp>
      <p:sp>
        <p:nvSpPr>
          <p:cNvPr id="23" name="Text 19"/>
          <p:cNvSpPr/>
          <p:nvPr/>
        </p:nvSpPr>
        <p:spPr>
          <a:xfrm>
            <a:off x="7941580" y="3192105"/>
            <a:ext cx="2605348" cy="341630"/>
          </a:xfrm>
          <a:prstGeom prst="rect">
            <a:avLst/>
          </a:prstGeom>
          <a:noFill/>
        </p:spPr>
        <p:txBody>
          <a:bodyPr wrap="squar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1011</a:t>
            </a:r>
            <a:endParaRPr lang="en-US" sz="1335" dirty="0"/>
          </a:p>
        </p:txBody>
      </p:sp>
      <p:sp>
        <p:nvSpPr>
          <p:cNvPr id="24" name="Text 20"/>
          <p:cNvSpPr/>
          <p:nvPr/>
        </p:nvSpPr>
        <p:spPr>
          <a:xfrm>
            <a:off x="10546928" y="3192105"/>
            <a:ext cx="281940" cy="341630"/>
          </a:xfrm>
          <a:prstGeom prst="rect">
            <a:avLst/>
          </a:prstGeom>
          <a:noFill/>
        </p:spPr>
        <p:txBody>
          <a:bodyPr wrap="non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B</a:t>
            </a:r>
            <a:endParaRPr lang="en-US" sz="1335" dirty="0"/>
          </a:p>
        </p:txBody>
      </p:sp>
      <p:sp>
        <p:nvSpPr>
          <p:cNvPr id="25" name="Text 21"/>
          <p:cNvSpPr/>
          <p:nvPr/>
        </p:nvSpPr>
        <p:spPr>
          <a:xfrm>
            <a:off x="5924551" y="3568342"/>
            <a:ext cx="2017031" cy="341630"/>
          </a:xfrm>
          <a:prstGeom prst="rect">
            <a:avLst/>
          </a:prstGeom>
          <a:noFill/>
        </p:spPr>
        <p:txBody>
          <a:bodyPr wrap="squar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12</a:t>
            </a:r>
            <a:endParaRPr lang="en-US" sz="1335" dirty="0"/>
          </a:p>
        </p:txBody>
      </p:sp>
      <p:sp>
        <p:nvSpPr>
          <p:cNvPr id="26" name="Text 22"/>
          <p:cNvSpPr/>
          <p:nvPr/>
        </p:nvSpPr>
        <p:spPr>
          <a:xfrm>
            <a:off x="7941580" y="3568342"/>
            <a:ext cx="2605348" cy="341630"/>
          </a:xfrm>
          <a:prstGeom prst="rect">
            <a:avLst/>
          </a:prstGeom>
          <a:noFill/>
        </p:spPr>
        <p:txBody>
          <a:bodyPr wrap="squar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1100</a:t>
            </a:r>
            <a:endParaRPr lang="en-US" sz="1335" dirty="0"/>
          </a:p>
        </p:txBody>
      </p:sp>
      <p:sp>
        <p:nvSpPr>
          <p:cNvPr id="27" name="Text 23"/>
          <p:cNvSpPr/>
          <p:nvPr/>
        </p:nvSpPr>
        <p:spPr>
          <a:xfrm>
            <a:off x="10546928" y="3568342"/>
            <a:ext cx="278130" cy="341630"/>
          </a:xfrm>
          <a:prstGeom prst="rect">
            <a:avLst/>
          </a:prstGeom>
          <a:noFill/>
        </p:spPr>
        <p:txBody>
          <a:bodyPr wrap="non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C</a:t>
            </a:r>
            <a:endParaRPr lang="en-US" sz="1335" dirty="0"/>
          </a:p>
        </p:txBody>
      </p:sp>
      <p:sp>
        <p:nvSpPr>
          <p:cNvPr id="28" name="Text 24"/>
          <p:cNvSpPr/>
          <p:nvPr/>
        </p:nvSpPr>
        <p:spPr>
          <a:xfrm>
            <a:off x="5924551" y="3944580"/>
            <a:ext cx="2017031" cy="341630"/>
          </a:xfrm>
          <a:prstGeom prst="rect">
            <a:avLst/>
          </a:prstGeom>
          <a:noFill/>
        </p:spPr>
        <p:txBody>
          <a:bodyPr wrap="squar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13</a:t>
            </a:r>
            <a:endParaRPr lang="en-US" sz="1335" dirty="0"/>
          </a:p>
        </p:txBody>
      </p:sp>
      <p:sp>
        <p:nvSpPr>
          <p:cNvPr id="29" name="Text 25"/>
          <p:cNvSpPr/>
          <p:nvPr/>
        </p:nvSpPr>
        <p:spPr>
          <a:xfrm>
            <a:off x="7941580" y="3944580"/>
            <a:ext cx="2605348" cy="341630"/>
          </a:xfrm>
          <a:prstGeom prst="rect">
            <a:avLst/>
          </a:prstGeom>
          <a:noFill/>
        </p:spPr>
        <p:txBody>
          <a:bodyPr wrap="squar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1101</a:t>
            </a:r>
            <a:endParaRPr lang="en-US" sz="1335" dirty="0"/>
          </a:p>
        </p:txBody>
      </p:sp>
      <p:sp>
        <p:nvSpPr>
          <p:cNvPr id="30" name="Text 26"/>
          <p:cNvSpPr/>
          <p:nvPr/>
        </p:nvSpPr>
        <p:spPr>
          <a:xfrm>
            <a:off x="10546928" y="3944580"/>
            <a:ext cx="293370" cy="341630"/>
          </a:xfrm>
          <a:prstGeom prst="rect">
            <a:avLst/>
          </a:prstGeom>
          <a:noFill/>
        </p:spPr>
        <p:txBody>
          <a:bodyPr wrap="non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D</a:t>
            </a:r>
            <a:endParaRPr lang="en-US" sz="1335" dirty="0"/>
          </a:p>
        </p:txBody>
      </p:sp>
      <p:sp>
        <p:nvSpPr>
          <p:cNvPr id="31" name="Text 27"/>
          <p:cNvSpPr/>
          <p:nvPr/>
        </p:nvSpPr>
        <p:spPr>
          <a:xfrm>
            <a:off x="5924551" y="4320818"/>
            <a:ext cx="2017031" cy="341630"/>
          </a:xfrm>
          <a:prstGeom prst="rect">
            <a:avLst/>
          </a:prstGeom>
          <a:noFill/>
        </p:spPr>
        <p:txBody>
          <a:bodyPr wrap="squar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14</a:t>
            </a:r>
            <a:endParaRPr lang="en-US" sz="1335" dirty="0"/>
          </a:p>
        </p:txBody>
      </p:sp>
      <p:sp>
        <p:nvSpPr>
          <p:cNvPr id="32" name="Text 28"/>
          <p:cNvSpPr/>
          <p:nvPr/>
        </p:nvSpPr>
        <p:spPr>
          <a:xfrm>
            <a:off x="7941580" y="4320818"/>
            <a:ext cx="2605348" cy="341630"/>
          </a:xfrm>
          <a:prstGeom prst="rect">
            <a:avLst/>
          </a:prstGeom>
          <a:noFill/>
        </p:spPr>
        <p:txBody>
          <a:bodyPr wrap="squar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1110</a:t>
            </a:r>
            <a:endParaRPr lang="en-US" sz="1335" dirty="0"/>
          </a:p>
        </p:txBody>
      </p:sp>
      <p:sp>
        <p:nvSpPr>
          <p:cNvPr id="33" name="Text 29"/>
          <p:cNvSpPr/>
          <p:nvPr/>
        </p:nvSpPr>
        <p:spPr>
          <a:xfrm>
            <a:off x="10546928" y="4320818"/>
            <a:ext cx="266700" cy="341630"/>
          </a:xfrm>
          <a:prstGeom prst="rect">
            <a:avLst/>
          </a:prstGeom>
          <a:noFill/>
        </p:spPr>
        <p:txBody>
          <a:bodyPr wrap="non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E</a:t>
            </a:r>
            <a:endParaRPr lang="en-US" sz="1335" dirty="0"/>
          </a:p>
        </p:txBody>
      </p:sp>
      <p:sp>
        <p:nvSpPr>
          <p:cNvPr id="34" name="Text 30"/>
          <p:cNvSpPr/>
          <p:nvPr/>
        </p:nvSpPr>
        <p:spPr>
          <a:xfrm>
            <a:off x="5924551" y="4697056"/>
            <a:ext cx="2017031" cy="341630"/>
          </a:xfrm>
          <a:prstGeom prst="rect">
            <a:avLst/>
          </a:prstGeom>
          <a:noFill/>
        </p:spPr>
        <p:txBody>
          <a:bodyPr wrap="squar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15</a:t>
            </a:r>
            <a:endParaRPr lang="en-US" sz="1335" dirty="0"/>
          </a:p>
        </p:txBody>
      </p:sp>
      <p:sp>
        <p:nvSpPr>
          <p:cNvPr id="35" name="Text 31"/>
          <p:cNvSpPr/>
          <p:nvPr/>
        </p:nvSpPr>
        <p:spPr>
          <a:xfrm>
            <a:off x="7941580" y="4697056"/>
            <a:ext cx="2605348" cy="341630"/>
          </a:xfrm>
          <a:prstGeom prst="rect">
            <a:avLst/>
          </a:prstGeom>
          <a:noFill/>
        </p:spPr>
        <p:txBody>
          <a:bodyPr wrap="squar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1111</a:t>
            </a:r>
            <a:endParaRPr lang="en-US" sz="1335" dirty="0"/>
          </a:p>
        </p:txBody>
      </p:sp>
      <p:sp>
        <p:nvSpPr>
          <p:cNvPr id="36" name="Text 32"/>
          <p:cNvSpPr/>
          <p:nvPr/>
        </p:nvSpPr>
        <p:spPr>
          <a:xfrm>
            <a:off x="10546928" y="4697056"/>
            <a:ext cx="262890" cy="341630"/>
          </a:xfrm>
          <a:prstGeom prst="rect">
            <a:avLst/>
          </a:prstGeom>
          <a:noFill/>
        </p:spPr>
        <p:txBody>
          <a:bodyPr wrap="none" lIns="90762" tIns="68072" rIns="90762" bIns="68072" rtlCol="0" anchor="ctr">
            <a:spAutoFit/>
          </a:bodyPr>
          <a:lstStyle/>
          <a:p>
            <a:pPr marL="0" indent="0" algn="l">
              <a:buNone/>
            </a:pPr>
            <a:r>
              <a:rPr lang="en-US" sz="1335" b="1" dirty="0">
                <a:solidFill>
                  <a:srgbClr val="00FF9C"/>
                </a:solidFill>
                <a:latin typeface="JetBrains Mono" pitchFamily="34" charset="0"/>
                <a:ea typeface="JetBrains Mono" pitchFamily="34" charset="-122"/>
                <a:cs typeface="JetBrains Mono" pitchFamily="34" charset="-120"/>
              </a:rPr>
              <a:t>F</a:t>
            </a:r>
            <a:endParaRPr lang="en-US" sz="1335" dirty="0"/>
          </a:p>
        </p:txBody>
      </p:sp>
      <p:sp>
        <p:nvSpPr>
          <p:cNvPr id="37" name="Text 33"/>
          <p:cNvSpPr/>
          <p:nvPr/>
        </p:nvSpPr>
        <p:spPr>
          <a:xfrm>
            <a:off x="5924551" y="5175052"/>
            <a:ext cx="5715000" cy="174625"/>
          </a:xfrm>
          <a:prstGeom prst="rect">
            <a:avLst/>
          </a:prstGeom>
          <a:noFill/>
        </p:spPr>
        <p:txBody>
          <a:bodyPr wrap="square" lIns="0" tIns="0" rIns="0" bIns="0" rtlCol="0" anchor="t">
            <a:spAutoFit/>
          </a:bodyPr>
          <a:lstStyle/>
          <a:p>
            <a:pPr marL="0" indent="0" algn="l">
              <a:buNone/>
            </a:pPr>
            <a:r>
              <a:rPr lang="en-US" sz="1135" dirty="0">
                <a:solidFill>
                  <a:srgbClr val="8B949E"/>
                </a:solidFill>
                <a:latin typeface="JetBrains Mono" pitchFamily="34" charset="0"/>
                <a:ea typeface="JetBrains Mono" pitchFamily="34" charset="-122"/>
                <a:cs typeface="JetBrains Mono" pitchFamily="34" charset="-120"/>
              </a:rPr>
              <a:t>* Memorize A-F for fast manual decoding in CTFs.</a:t>
            </a:r>
            <a:endParaRPr lang="en-US" sz="1135" dirty="0"/>
          </a:p>
        </p:txBody>
      </p:sp>
      <p:grpSp>
        <p:nvGrpSpPr>
          <p:cNvPr id="38" name="Group 2"/>
          <p:cNvGrpSpPr/>
          <p:nvPr/>
        </p:nvGrpSpPr>
        <p:grpSpPr>
          <a:xfrm rot="0">
            <a:off x="294640" y="194310"/>
            <a:ext cx="789305" cy="299720"/>
            <a:chOff x="0" y="0"/>
            <a:chExt cx="341337" cy="102463"/>
          </a:xfrm>
        </p:grpSpPr>
        <p:sp>
          <p:nvSpPr>
            <p:cNvPr id="39"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0"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1" name="Group 5"/>
          <p:cNvGrpSpPr/>
          <p:nvPr/>
        </p:nvGrpSpPr>
        <p:grpSpPr>
          <a:xfrm rot="0">
            <a:off x="822325" y="209550"/>
            <a:ext cx="220980" cy="246380"/>
            <a:chOff x="0" y="0"/>
            <a:chExt cx="812800" cy="812800"/>
          </a:xfrm>
        </p:grpSpPr>
        <p:sp>
          <p:nvSpPr>
            <p:cNvPr id="49"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0"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51"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52"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53"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7470576"/>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00FF9C"/>
                </a:solidFill>
                <a:latin typeface="Poppins Bold" pitchFamily="34" charset="0"/>
                <a:ea typeface="Poppins Bold" pitchFamily="34" charset="-122"/>
                <a:cs typeface="Poppins Bold" pitchFamily="34" charset="-120"/>
              </a:rPr>
              <a:t>BINARY ↔ HEX: THE "GROUP BY 4" RULE</a:t>
            </a:r>
            <a:endParaRPr lang="en-US" sz="3265" dirty="0"/>
          </a:p>
        </p:txBody>
      </p:sp>
      <p:sp>
        <p:nvSpPr>
          <p:cNvPr id="4" name="Text 1"/>
          <p:cNvSpPr/>
          <p:nvPr/>
        </p:nvSpPr>
        <p:spPr>
          <a:xfrm>
            <a:off x="4067175" y="1755576"/>
            <a:ext cx="4057651" cy="194310"/>
          </a:xfrm>
          <a:prstGeom prst="rect">
            <a:avLst/>
          </a:prstGeom>
          <a:noFill/>
        </p:spPr>
        <p:txBody>
          <a:bodyPr wrap="square" lIns="0" tIns="0" rIns="0" bIns="0" rtlCol="0" anchor="t">
            <a:spAutoFit/>
          </a:bodyPr>
          <a:lstStyle/>
          <a:p>
            <a:pPr marL="0" indent="0" algn="ctr">
              <a:buNone/>
            </a:pPr>
            <a:r>
              <a:rPr lang="en-US" sz="1265" dirty="0">
                <a:solidFill>
                  <a:srgbClr val="8B949E"/>
                </a:solidFill>
                <a:latin typeface="JetBrains Mono" pitchFamily="34" charset="0"/>
                <a:ea typeface="JetBrains Mono" pitchFamily="34" charset="-122"/>
                <a:cs typeface="JetBrains Mono" pitchFamily="34" charset="-120"/>
              </a:rPr>
              <a:t>BINARY (8 bits)</a:t>
            </a:r>
            <a:endParaRPr lang="en-US" sz="1265" dirty="0"/>
          </a:p>
        </p:txBody>
      </p:sp>
      <p:sp>
        <p:nvSpPr>
          <p:cNvPr id="5" name="Shape 2"/>
          <p:cNvSpPr/>
          <p:nvPr/>
        </p:nvSpPr>
        <p:spPr>
          <a:xfrm>
            <a:off x="4067175" y="2077045"/>
            <a:ext cx="1971675" cy="871537"/>
          </a:xfrm>
          <a:prstGeom prst="rect">
            <a:avLst/>
          </a:prstGeom>
          <a:solidFill>
            <a:srgbClr val="161B22"/>
          </a:solidFill>
          <a:ln w="18288">
            <a:solidFill>
              <a:srgbClr val="30363D"/>
            </a:solidFill>
            <a:prstDash val="solid"/>
          </a:ln>
        </p:spPr>
      </p:sp>
      <p:sp>
        <p:nvSpPr>
          <p:cNvPr id="6" name="Text 3"/>
          <p:cNvSpPr/>
          <p:nvPr/>
        </p:nvSpPr>
        <p:spPr>
          <a:xfrm>
            <a:off x="4067175" y="2077045"/>
            <a:ext cx="1971675" cy="805180"/>
          </a:xfrm>
          <a:prstGeom prst="rect">
            <a:avLst/>
          </a:prstGeom>
          <a:noFill/>
        </p:spPr>
        <p:txBody>
          <a:bodyPr wrap="square" lIns="272118" tIns="136144" rIns="272118" bIns="136144" rtlCol="0" anchor="t">
            <a:spAutoFit/>
          </a:bodyPr>
          <a:lstStyle/>
          <a:p>
            <a:pPr marL="0" indent="0" algn="ctr">
              <a:buNone/>
            </a:pPr>
            <a:r>
              <a:rPr lang="en-US" sz="3465" kern="0" spc="8" dirty="0">
                <a:solidFill>
                  <a:srgbClr val="58A6FF"/>
                </a:solidFill>
                <a:latin typeface="JetBrains Mono" pitchFamily="34" charset="0"/>
                <a:ea typeface="JetBrains Mono" pitchFamily="34" charset="-122"/>
                <a:cs typeface="JetBrains Mono" pitchFamily="34" charset="-120"/>
              </a:rPr>
              <a:t>1010</a:t>
            </a:r>
            <a:endParaRPr lang="en-US" sz="3465" dirty="0"/>
          </a:p>
        </p:txBody>
      </p:sp>
      <p:sp>
        <p:nvSpPr>
          <p:cNvPr id="7" name="Shape 4"/>
          <p:cNvSpPr/>
          <p:nvPr/>
        </p:nvSpPr>
        <p:spPr>
          <a:xfrm>
            <a:off x="6134100" y="2077045"/>
            <a:ext cx="1971675" cy="871537"/>
          </a:xfrm>
          <a:prstGeom prst="rect">
            <a:avLst/>
          </a:prstGeom>
          <a:solidFill>
            <a:srgbClr val="161B22"/>
          </a:solidFill>
          <a:ln w="18288">
            <a:solidFill>
              <a:srgbClr val="30363D"/>
            </a:solidFill>
            <a:prstDash val="solid"/>
          </a:ln>
        </p:spPr>
      </p:sp>
      <p:sp>
        <p:nvSpPr>
          <p:cNvPr id="8" name="Text 5"/>
          <p:cNvSpPr/>
          <p:nvPr/>
        </p:nvSpPr>
        <p:spPr>
          <a:xfrm>
            <a:off x="6134100" y="2077045"/>
            <a:ext cx="1971675" cy="805180"/>
          </a:xfrm>
          <a:prstGeom prst="rect">
            <a:avLst/>
          </a:prstGeom>
          <a:noFill/>
        </p:spPr>
        <p:txBody>
          <a:bodyPr wrap="square" lIns="272118" tIns="136144" rIns="272118" bIns="136144" rtlCol="0" anchor="t">
            <a:spAutoFit/>
          </a:bodyPr>
          <a:lstStyle/>
          <a:p>
            <a:pPr marL="0" indent="0" algn="ctr">
              <a:buNone/>
            </a:pPr>
            <a:r>
              <a:rPr lang="en-US" sz="3465" kern="0" spc="8" dirty="0">
                <a:solidFill>
                  <a:srgbClr val="58A6FF"/>
                </a:solidFill>
                <a:latin typeface="JetBrains Mono" pitchFamily="34" charset="0"/>
                <a:ea typeface="JetBrains Mono" pitchFamily="34" charset="-122"/>
                <a:cs typeface="JetBrains Mono" pitchFamily="34" charset="-120"/>
              </a:rPr>
              <a:t>1111</a:t>
            </a:r>
            <a:endParaRPr lang="en-US" sz="3465" dirty="0"/>
          </a:p>
        </p:txBody>
      </p:sp>
      <p:pic>
        <p:nvPicPr>
          <p:cNvPr id="9" name="Image 1" descr="preencoded.png"/>
          <p:cNvPicPr>
            <a:picLocks noChangeAspect="1"/>
          </p:cNvPicPr>
          <p:nvPr/>
        </p:nvPicPr>
        <p:blipFill>
          <a:blip r:embed="rId2"/>
          <a:stretch>
            <a:fillRect/>
          </a:stretch>
        </p:blipFill>
        <p:spPr>
          <a:xfrm>
            <a:off x="5929312" y="3136701"/>
            <a:ext cx="333375" cy="381000"/>
          </a:xfrm>
          <a:prstGeom prst="rect">
            <a:avLst/>
          </a:prstGeom>
        </p:spPr>
      </p:pic>
      <p:sp>
        <p:nvSpPr>
          <p:cNvPr id="10" name="Shape 6"/>
          <p:cNvSpPr/>
          <p:nvPr/>
        </p:nvSpPr>
        <p:spPr>
          <a:xfrm>
            <a:off x="4948237" y="3715345"/>
            <a:ext cx="1090612" cy="1071563"/>
          </a:xfrm>
          <a:prstGeom prst="rect">
            <a:avLst/>
          </a:prstGeom>
          <a:solidFill>
            <a:srgbClr val="00FF9C">
              <a:alpha val="10000"/>
            </a:srgbClr>
          </a:solidFill>
          <a:ln w="18288">
            <a:solidFill>
              <a:srgbClr val="00FF9C"/>
            </a:solidFill>
            <a:prstDash val="solid"/>
          </a:ln>
        </p:spPr>
      </p:sp>
      <p:sp>
        <p:nvSpPr>
          <p:cNvPr id="11" name="Text 7"/>
          <p:cNvSpPr/>
          <p:nvPr/>
        </p:nvSpPr>
        <p:spPr>
          <a:xfrm>
            <a:off x="4908708" y="3715345"/>
            <a:ext cx="1169670" cy="989330"/>
          </a:xfrm>
          <a:prstGeom prst="rect">
            <a:avLst/>
          </a:prstGeom>
          <a:noFill/>
        </p:spPr>
        <p:txBody>
          <a:bodyPr wrap="none" lIns="408262" tIns="136144" rIns="408262" bIns="136144" rtlCol="0" anchor="t">
            <a:spAutoFit/>
          </a:bodyPr>
          <a:lstStyle/>
          <a:p>
            <a:pPr marL="0" indent="0" algn="ctr">
              <a:buNone/>
            </a:pPr>
            <a:r>
              <a:rPr lang="en-US" sz="4665" dirty="0">
                <a:solidFill>
                  <a:srgbClr val="00FF9C"/>
                </a:solidFill>
                <a:latin typeface="JetBrains Mono" pitchFamily="34" charset="0"/>
                <a:ea typeface="JetBrains Mono" pitchFamily="34" charset="-122"/>
                <a:cs typeface="JetBrains Mono" pitchFamily="34" charset="-120"/>
              </a:rPr>
              <a:t>A</a:t>
            </a:r>
            <a:endParaRPr lang="en-US" sz="4665" dirty="0"/>
          </a:p>
        </p:txBody>
      </p:sp>
      <p:sp>
        <p:nvSpPr>
          <p:cNvPr id="12" name="Shape 8"/>
          <p:cNvSpPr/>
          <p:nvPr/>
        </p:nvSpPr>
        <p:spPr>
          <a:xfrm>
            <a:off x="6134100" y="3715345"/>
            <a:ext cx="1090612" cy="1071563"/>
          </a:xfrm>
          <a:prstGeom prst="rect">
            <a:avLst/>
          </a:prstGeom>
          <a:solidFill>
            <a:srgbClr val="00FF9C">
              <a:alpha val="10000"/>
            </a:srgbClr>
          </a:solidFill>
          <a:ln w="18288">
            <a:solidFill>
              <a:srgbClr val="00FF9C"/>
            </a:solidFill>
            <a:prstDash val="solid"/>
          </a:ln>
        </p:spPr>
      </p:sp>
      <p:sp>
        <p:nvSpPr>
          <p:cNvPr id="13" name="Text 9"/>
          <p:cNvSpPr/>
          <p:nvPr/>
        </p:nvSpPr>
        <p:spPr>
          <a:xfrm>
            <a:off x="6129496" y="3715345"/>
            <a:ext cx="1099820" cy="989330"/>
          </a:xfrm>
          <a:prstGeom prst="rect">
            <a:avLst/>
          </a:prstGeom>
          <a:noFill/>
        </p:spPr>
        <p:txBody>
          <a:bodyPr wrap="none" lIns="408262" tIns="136144" rIns="408262" bIns="136144" rtlCol="0" anchor="t">
            <a:spAutoFit/>
          </a:bodyPr>
          <a:lstStyle/>
          <a:p>
            <a:pPr marL="0" indent="0" algn="ctr">
              <a:buNone/>
            </a:pPr>
            <a:r>
              <a:rPr lang="en-US" sz="4665" dirty="0">
                <a:solidFill>
                  <a:srgbClr val="00FF9C"/>
                </a:solidFill>
                <a:latin typeface="JetBrains Mono" pitchFamily="34" charset="0"/>
                <a:ea typeface="JetBrains Mono" pitchFamily="34" charset="-122"/>
                <a:cs typeface="JetBrains Mono" pitchFamily="34" charset="-120"/>
              </a:rPr>
              <a:t>F</a:t>
            </a:r>
            <a:endParaRPr lang="en-US" sz="4665" dirty="0"/>
          </a:p>
        </p:txBody>
      </p:sp>
      <p:sp>
        <p:nvSpPr>
          <p:cNvPr id="14" name="Text 10"/>
          <p:cNvSpPr/>
          <p:nvPr/>
        </p:nvSpPr>
        <p:spPr>
          <a:xfrm>
            <a:off x="4986337" y="4825008"/>
            <a:ext cx="2219325" cy="194310"/>
          </a:xfrm>
          <a:prstGeom prst="rect">
            <a:avLst/>
          </a:prstGeom>
          <a:noFill/>
        </p:spPr>
        <p:txBody>
          <a:bodyPr wrap="square" lIns="0" tIns="0" rIns="0" bIns="0" rtlCol="0" anchor="t">
            <a:spAutoFit/>
          </a:bodyPr>
          <a:lstStyle/>
          <a:p>
            <a:pPr marL="0" indent="0" algn="ctr">
              <a:buNone/>
            </a:pPr>
            <a:r>
              <a:rPr lang="en-US" sz="1265" dirty="0">
                <a:solidFill>
                  <a:srgbClr val="8B949E"/>
                </a:solidFill>
                <a:latin typeface="JetBrains Mono" pitchFamily="34" charset="0"/>
                <a:ea typeface="JetBrains Mono" pitchFamily="34" charset="-122"/>
                <a:cs typeface="JetBrains Mono" pitchFamily="34" charset="-120"/>
              </a:rPr>
              <a:t>HEXADECIMAL (0xAF)</a:t>
            </a:r>
            <a:endParaRPr lang="en-US" sz="1265" dirty="0"/>
          </a:p>
        </p:txBody>
      </p:sp>
      <p:sp>
        <p:nvSpPr>
          <p:cNvPr id="15" name="Shape 11"/>
          <p:cNvSpPr/>
          <p:nvPr/>
        </p:nvSpPr>
        <p:spPr>
          <a:xfrm>
            <a:off x="2143125" y="5451475"/>
            <a:ext cx="7905750" cy="1483995"/>
          </a:xfrm>
          <a:prstGeom prst="rect">
            <a:avLst/>
          </a:prstGeom>
          <a:solidFill>
            <a:srgbClr val="58A6FF">
              <a:alpha val="5000"/>
            </a:srgbClr>
          </a:solidFill>
          <a:ln w="9144">
            <a:solidFill>
              <a:srgbClr val="58A6FF"/>
            </a:solidFill>
            <a:prstDash val="dash"/>
          </a:ln>
        </p:spPr>
      </p:sp>
      <p:sp>
        <p:nvSpPr>
          <p:cNvPr id="16" name="Text 12"/>
          <p:cNvSpPr/>
          <p:nvPr/>
        </p:nvSpPr>
        <p:spPr>
          <a:xfrm>
            <a:off x="2286000" y="5851327"/>
            <a:ext cx="7620000" cy="287020"/>
          </a:xfrm>
          <a:prstGeom prst="rect">
            <a:avLst/>
          </a:prstGeom>
          <a:noFill/>
        </p:spPr>
        <p:txBody>
          <a:bodyPr wrap="square" lIns="0" tIns="0" rIns="0" bIns="0" rtlCol="0" anchor="t">
            <a:spAutoFit/>
          </a:bodyPr>
          <a:lstStyle/>
          <a:p>
            <a:pPr marL="0" indent="0" algn="ctr">
              <a:buNone/>
            </a:pPr>
            <a:r>
              <a:rPr lang="en-US" sz="1865" b="1" dirty="0">
                <a:solidFill>
                  <a:srgbClr val="58A6FF"/>
                </a:solidFill>
                <a:latin typeface="Poppins Bold" pitchFamily="34" charset="0"/>
                <a:ea typeface="Poppins Bold" pitchFamily="34" charset="-122"/>
                <a:cs typeface="Poppins Bold" pitchFamily="34" charset="-120"/>
              </a:rPr>
              <a:t>Why it works: 2⁴ = 16</a:t>
            </a:r>
            <a:endParaRPr lang="en-US" sz="1865" dirty="0"/>
          </a:p>
        </p:txBody>
      </p:sp>
      <p:sp>
        <p:nvSpPr>
          <p:cNvPr id="17" name="Text 13"/>
          <p:cNvSpPr/>
          <p:nvPr/>
        </p:nvSpPr>
        <p:spPr>
          <a:xfrm>
            <a:off x="2286000" y="6325671"/>
            <a:ext cx="7620000" cy="551180"/>
          </a:xfrm>
          <a:prstGeom prst="rect">
            <a:avLst/>
          </a:prstGeom>
          <a:noFill/>
        </p:spPr>
        <p:txBody>
          <a:bodyPr wrap="square" lIns="0" tIns="0" rIns="0" bIns="0" rtlCol="0" anchor="t">
            <a:spAutoFit/>
          </a:bodyPr>
          <a:lstStyle/>
          <a:p>
            <a:pPr marL="0" indent="0" algn="ctr">
              <a:lnSpc>
                <a:spcPct val="128000"/>
              </a:lnSpc>
              <a:buNone/>
            </a:pPr>
            <a:r>
              <a:rPr lang="en-US" sz="1400" dirty="0">
                <a:solidFill>
                  <a:srgbClr val="E6EDF3"/>
                </a:solidFill>
                <a:latin typeface="Inter" pitchFamily="34" charset="0"/>
                <a:ea typeface="Inter" pitchFamily="34" charset="-122"/>
                <a:cs typeface="Inter" pitchFamily="34" charset="-120"/>
              </a:rPr>
              <a:t>Because one hex digit can represent exactly 16 values, it perfectly maps to 4 bits of binary. To convert any binary string, group the bits by 4 starting from the right.</a:t>
            </a:r>
            <a:endParaRPr lang="en-US" sz="1400" dirty="0"/>
          </a:p>
        </p:txBody>
      </p:sp>
      <p:grpSp>
        <p:nvGrpSpPr>
          <p:cNvPr id="22" name="Group 2"/>
          <p:cNvGrpSpPr/>
          <p:nvPr/>
        </p:nvGrpSpPr>
        <p:grpSpPr>
          <a:xfrm rot="0">
            <a:off x="294640" y="194310"/>
            <a:ext cx="789305" cy="299720"/>
            <a:chOff x="0" y="0"/>
            <a:chExt cx="341337" cy="102463"/>
          </a:xfrm>
        </p:grpSpPr>
        <p:sp>
          <p:nvSpPr>
            <p:cNvPr id="23"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24"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25" name="Group 5"/>
          <p:cNvGrpSpPr/>
          <p:nvPr/>
        </p:nvGrpSpPr>
        <p:grpSpPr>
          <a:xfrm rot="0">
            <a:off x="822325" y="209550"/>
            <a:ext cx="220980" cy="246380"/>
            <a:chOff x="0" y="0"/>
            <a:chExt cx="812800" cy="812800"/>
          </a:xfrm>
        </p:grpSpPr>
        <p:sp>
          <p:nvSpPr>
            <p:cNvPr id="2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7"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28"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702183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96468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84789"/>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00FF9C"/>
                </a:solidFill>
                <a:latin typeface="Poppins Bold" pitchFamily="34" charset="0"/>
                <a:ea typeface="Poppins Bold" pitchFamily="34" charset="-122"/>
                <a:cs typeface="Poppins Bold" pitchFamily="34" charset="-120"/>
              </a:rPr>
              <a:t>HEX IS EVERYWHERE IN SECURITY</a:t>
            </a:r>
            <a:endParaRPr lang="en-US" sz="3265" dirty="0"/>
          </a:p>
        </p:txBody>
      </p:sp>
      <p:sp>
        <p:nvSpPr>
          <p:cNvPr id="4" name="Shape 1"/>
          <p:cNvSpPr/>
          <p:nvPr/>
        </p:nvSpPr>
        <p:spPr>
          <a:xfrm>
            <a:off x="571500" y="2060376"/>
            <a:ext cx="5381625" cy="2078831"/>
          </a:xfrm>
          <a:prstGeom prst="rect">
            <a:avLst/>
          </a:prstGeom>
          <a:solidFill>
            <a:srgbClr val="161B22"/>
          </a:solidFill>
        </p:spPr>
      </p:sp>
      <p:sp>
        <p:nvSpPr>
          <p:cNvPr id="5" name="Shape 2"/>
          <p:cNvSpPr/>
          <p:nvPr/>
        </p:nvSpPr>
        <p:spPr>
          <a:xfrm>
            <a:off x="571500" y="2060376"/>
            <a:ext cx="38100" cy="2078831"/>
          </a:xfrm>
          <a:prstGeom prst="rect">
            <a:avLst/>
          </a:prstGeom>
          <a:solidFill>
            <a:srgbClr val="58A6FF"/>
          </a:solidFill>
        </p:spPr>
      </p:sp>
      <p:pic>
        <p:nvPicPr>
          <p:cNvPr id="6" name="Image 1" descr="preencoded.png"/>
          <p:cNvPicPr>
            <a:picLocks noChangeAspect="1"/>
          </p:cNvPicPr>
          <p:nvPr/>
        </p:nvPicPr>
        <p:blipFill>
          <a:blip r:embed="rId2"/>
          <a:stretch>
            <a:fillRect/>
          </a:stretch>
        </p:blipFill>
        <p:spPr>
          <a:xfrm>
            <a:off x="809625" y="2318743"/>
            <a:ext cx="304800" cy="304800"/>
          </a:xfrm>
          <a:prstGeom prst="rect">
            <a:avLst/>
          </a:prstGeom>
        </p:spPr>
      </p:pic>
      <p:sp>
        <p:nvSpPr>
          <p:cNvPr id="7" name="Text 3"/>
          <p:cNvSpPr/>
          <p:nvPr/>
        </p:nvSpPr>
        <p:spPr>
          <a:xfrm>
            <a:off x="1257300" y="2298501"/>
            <a:ext cx="2271712" cy="255905"/>
          </a:xfrm>
          <a:prstGeom prst="rect">
            <a:avLst/>
          </a:prstGeom>
          <a:noFill/>
        </p:spPr>
        <p:txBody>
          <a:bodyPr wrap="square" lIns="0" tIns="0" rIns="0" bIns="0" rtlCol="0" anchor="t">
            <a:spAutoFit/>
          </a:bodyPr>
          <a:lstStyle/>
          <a:p>
            <a:pPr marL="0" indent="0" algn="l">
              <a:buNone/>
            </a:pPr>
            <a:r>
              <a:rPr lang="en-US" sz="1665" dirty="0">
                <a:solidFill>
                  <a:srgbClr val="58A6FF"/>
                </a:solidFill>
                <a:latin typeface="Poppins Bold" pitchFamily="34" charset="0"/>
                <a:ea typeface="Poppins Bold" pitchFamily="34" charset="-122"/>
                <a:cs typeface="Poppins Bold" pitchFamily="34" charset="-120"/>
              </a:rPr>
              <a:t>Memory Addresses</a:t>
            </a:r>
            <a:endParaRPr lang="en-US" sz="1665" dirty="0"/>
          </a:p>
        </p:txBody>
      </p:sp>
      <p:sp>
        <p:nvSpPr>
          <p:cNvPr id="8" name="Shape 4"/>
          <p:cNvSpPr/>
          <p:nvPr/>
        </p:nvSpPr>
        <p:spPr>
          <a:xfrm>
            <a:off x="4819651" y="2335411"/>
            <a:ext cx="895351" cy="271463"/>
          </a:xfrm>
          <a:prstGeom prst="rect">
            <a:avLst/>
          </a:prstGeom>
          <a:solidFill>
            <a:srgbClr val="E3B341">
              <a:alpha val="20000"/>
            </a:srgbClr>
          </a:solidFill>
          <a:ln w="9144">
            <a:solidFill>
              <a:srgbClr val="E3B341"/>
            </a:solidFill>
            <a:prstDash val="solid"/>
          </a:ln>
        </p:spPr>
      </p:sp>
      <p:sp>
        <p:nvSpPr>
          <p:cNvPr id="9" name="Text 5"/>
          <p:cNvSpPr/>
          <p:nvPr/>
        </p:nvSpPr>
        <p:spPr>
          <a:xfrm>
            <a:off x="4819651" y="2335411"/>
            <a:ext cx="762000" cy="243840"/>
          </a:xfrm>
          <a:prstGeom prst="rect">
            <a:avLst/>
          </a:prstGeom>
          <a:noFill/>
        </p:spPr>
        <p:txBody>
          <a:bodyPr wrap="none" lIns="136144" tIns="45381" rIns="136144" bIns="45381" rtlCol="0" anchor="t">
            <a:spAutoFit/>
          </a:bodyPr>
          <a:lstStyle/>
          <a:p>
            <a:pPr marL="0" indent="0" algn="l">
              <a:buNone/>
            </a:pPr>
            <a:r>
              <a:rPr lang="en-US" sz="1000" dirty="0">
                <a:solidFill>
                  <a:srgbClr val="E3B341"/>
                </a:solidFill>
                <a:latin typeface="JetBrains Mono" pitchFamily="34" charset="0"/>
                <a:ea typeface="JetBrains Mono" pitchFamily="34" charset="-122"/>
                <a:cs typeface="JetBrains Mono" pitchFamily="34" charset="-120"/>
              </a:rPr>
              <a:t>Day 9-10</a:t>
            </a:r>
            <a:endParaRPr lang="en-US" sz="1000" dirty="0"/>
          </a:p>
        </p:txBody>
      </p:sp>
      <p:sp>
        <p:nvSpPr>
          <p:cNvPr id="10" name="Text 6"/>
          <p:cNvSpPr/>
          <p:nvPr/>
        </p:nvSpPr>
        <p:spPr>
          <a:xfrm>
            <a:off x="809625" y="2939057"/>
            <a:ext cx="4905375"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Inter" pitchFamily="34" charset="0"/>
                <a:ea typeface="Inter" pitchFamily="34" charset="-122"/>
                <a:cs typeface="Inter" pitchFamily="34" charset="-120"/>
              </a:rPr>
              <a:t>Debuggers use hex to show where data lives in RAM.</a:t>
            </a:r>
            <a:endParaRPr lang="en-US" sz="1135" dirty="0"/>
          </a:p>
        </p:txBody>
      </p:sp>
      <p:sp>
        <p:nvSpPr>
          <p:cNvPr id="11" name="Shape 7"/>
          <p:cNvSpPr/>
          <p:nvPr/>
        </p:nvSpPr>
        <p:spPr>
          <a:xfrm>
            <a:off x="809625" y="3370064"/>
            <a:ext cx="4905375" cy="531019"/>
          </a:xfrm>
          <a:prstGeom prst="rect">
            <a:avLst/>
          </a:prstGeom>
          <a:solidFill>
            <a:srgbClr val="0D1117"/>
          </a:solidFill>
          <a:ln w="9144">
            <a:solidFill>
              <a:srgbClr val="30363D"/>
            </a:solidFill>
            <a:prstDash val="solid"/>
          </a:ln>
        </p:spPr>
      </p:sp>
      <p:sp>
        <p:nvSpPr>
          <p:cNvPr id="12" name="Text 8"/>
          <p:cNvSpPr/>
          <p:nvPr/>
        </p:nvSpPr>
        <p:spPr>
          <a:xfrm>
            <a:off x="809625" y="3370064"/>
            <a:ext cx="4905375" cy="533400"/>
          </a:xfrm>
          <a:prstGeom prst="rect">
            <a:avLst/>
          </a:prstGeom>
          <a:noFill/>
        </p:spPr>
        <p:txBody>
          <a:bodyPr wrap="square" lIns="170010" tIns="170010" rIns="170010" bIns="170010" rtlCol="0" anchor="t">
            <a:spAutoFit/>
          </a:bodyPr>
          <a:lstStyle/>
          <a:p>
            <a:pPr marL="0" indent="0" algn="l">
              <a:buNone/>
            </a:pPr>
            <a:r>
              <a:rPr lang="en-US" sz="1265" dirty="0">
                <a:solidFill>
                  <a:srgbClr val="8B949E"/>
                </a:solidFill>
                <a:latin typeface="JetBrains Mono" pitchFamily="34" charset="0"/>
                <a:ea typeface="JetBrains Mono" pitchFamily="34" charset="-122"/>
                <a:cs typeface="JetBrains Mono" pitchFamily="34" charset="-120"/>
              </a:rPr>
              <a:t>0x7FFE4A2B </a:t>
            </a:r>
            <a:r>
              <a:rPr lang="en-US" sz="1265" dirty="0">
                <a:solidFill>
                  <a:srgbClr val="00FF9C"/>
                </a:solidFill>
                <a:latin typeface="JetBrains Mono" pitchFamily="34" charset="0"/>
                <a:ea typeface="JetBrains Mono" pitchFamily="34" charset="-122"/>
                <a:cs typeface="JetBrains Mono" pitchFamily="34" charset="-120"/>
              </a:rPr>
              <a:t>48 65 6C 6C 6F</a:t>
            </a:r>
            <a:endParaRPr lang="en-US" sz="1265" dirty="0"/>
          </a:p>
        </p:txBody>
      </p:sp>
      <p:sp>
        <p:nvSpPr>
          <p:cNvPr id="13" name="Shape 9"/>
          <p:cNvSpPr/>
          <p:nvPr/>
        </p:nvSpPr>
        <p:spPr>
          <a:xfrm>
            <a:off x="6238875" y="2060376"/>
            <a:ext cx="5381625" cy="2078831"/>
          </a:xfrm>
          <a:prstGeom prst="rect">
            <a:avLst/>
          </a:prstGeom>
          <a:solidFill>
            <a:srgbClr val="161B22"/>
          </a:solidFill>
        </p:spPr>
      </p:sp>
      <p:sp>
        <p:nvSpPr>
          <p:cNvPr id="14" name="Shape 10"/>
          <p:cNvSpPr/>
          <p:nvPr/>
        </p:nvSpPr>
        <p:spPr>
          <a:xfrm>
            <a:off x="6238875" y="2060376"/>
            <a:ext cx="38100" cy="2078831"/>
          </a:xfrm>
          <a:prstGeom prst="rect">
            <a:avLst/>
          </a:prstGeom>
          <a:solidFill>
            <a:srgbClr val="58A6FF"/>
          </a:solidFill>
        </p:spPr>
      </p:sp>
      <p:pic>
        <p:nvPicPr>
          <p:cNvPr id="15" name="Image 2" descr="preencoded.png"/>
          <p:cNvPicPr>
            <a:picLocks noChangeAspect="1"/>
          </p:cNvPicPr>
          <p:nvPr/>
        </p:nvPicPr>
        <p:blipFill>
          <a:blip r:embed="rId3"/>
          <a:stretch>
            <a:fillRect/>
          </a:stretch>
        </p:blipFill>
        <p:spPr>
          <a:xfrm>
            <a:off x="6477000" y="2318743"/>
            <a:ext cx="228600" cy="304800"/>
          </a:xfrm>
          <a:prstGeom prst="rect">
            <a:avLst/>
          </a:prstGeom>
        </p:spPr>
      </p:pic>
      <p:sp>
        <p:nvSpPr>
          <p:cNvPr id="16" name="Text 11"/>
          <p:cNvSpPr/>
          <p:nvPr/>
        </p:nvSpPr>
        <p:spPr>
          <a:xfrm>
            <a:off x="6848475" y="2298501"/>
            <a:ext cx="1878807" cy="255905"/>
          </a:xfrm>
          <a:prstGeom prst="rect">
            <a:avLst/>
          </a:prstGeom>
          <a:noFill/>
        </p:spPr>
        <p:txBody>
          <a:bodyPr wrap="square" lIns="0" tIns="0" rIns="0" bIns="0" rtlCol="0" anchor="t">
            <a:spAutoFit/>
          </a:bodyPr>
          <a:lstStyle/>
          <a:p>
            <a:pPr marL="0" indent="0" algn="l">
              <a:buNone/>
            </a:pPr>
            <a:r>
              <a:rPr lang="en-US" sz="1665" dirty="0">
                <a:solidFill>
                  <a:srgbClr val="58A6FF"/>
                </a:solidFill>
                <a:latin typeface="Poppins Bold" pitchFamily="34" charset="0"/>
                <a:ea typeface="Poppins Bold" pitchFamily="34" charset="-122"/>
                <a:cs typeface="Poppins Bold" pitchFamily="34" charset="-120"/>
              </a:rPr>
              <a:t>File Magic Bytes</a:t>
            </a:r>
            <a:endParaRPr lang="en-US" sz="1665" dirty="0"/>
          </a:p>
        </p:txBody>
      </p:sp>
      <p:sp>
        <p:nvSpPr>
          <p:cNvPr id="17" name="Shape 12"/>
          <p:cNvSpPr/>
          <p:nvPr/>
        </p:nvSpPr>
        <p:spPr>
          <a:xfrm>
            <a:off x="10729912" y="2335411"/>
            <a:ext cx="652463" cy="271463"/>
          </a:xfrm>
          <a:prstGeom prst="rect">
            <a:avLst/>
          </a:prstGeom>
          <a:solidFill>
            <a:srgbClr val="E3B341">
              <a:alpha val="20000"/>
            </a:srgbClr>
          </a:solidFill>
          <a:ln w="9144">
            <a:solidFill>
              <a:srgbClr val="E3B341"/>
            </a:solidFill>
            <a:prstDash val="solid"/>
          </a:ln>
        </p:spPr>
      </p:sp>
      <p:sp>
        <p:nvSpPr>
          <p:cNvPr id="18" name="Text 13"/>
          <p:cNvSpPr/>
          <p:nvPr/>
        </p:nvSpPr>
        <p:spPr>
          <a:xfrm>
            <a:off x="10729912" y="2335411"/>
            <a:ext cx="583565" cy="243840"/>
          </a:xfrm>
          <a:prstGeom prst="rect">
            <a:avLst/>
          </a:prstGeom>
          <a:noFill/>
        </p:spPr>
        <p:txBody>
          <a:bodyPr wrap="none" lIns="136144" tIns="45381" rIns="136144" bIns="45381" rtlCol="0" anchor="t">
            <a:spAutoFit/>
          </a:bodyPr>
          <a:lstStyle/>
          <a:p>
            <a:pPr marL="0" indent="0" algn="l">
              <a:buNone/>
            </a:pPr>
            <a:r>
              <a:rPr lang="en-US" sz="1000" dirty="0">
                <a:solidFill>
                  <a:srgbClr val="E3B341"/>
                </a:solidFill>
                <a:latin typeface="JetBrains Mono" pitchFamily="34" charset="0"/>
                <a:ea typeface="JetBrains Mono" pitchFamily="34" charset="-122"/>
                <a:cs typeface="JetBrains Mono" pitchFamily="34" charset="-120"/>
              </a:rPr>
              <a:t>Day 4</a:t>
            </a:r>
            <a:endParaRPr lang="en-US" sz="1000" dirty="0"/>
          </a:p>
        </p:txBody>
      </p:sp>
      <p:sp>
        <p:nvSpPr>
          <p:cNvPr id="19" name="Text 14"/>
          <p:cNvSpPr/>
          <p:nvPr/>
        </p:nvSpPr>
        <p:spPr>
          <a:xfrm>
            <a:off x="6477000" y="2939057"/>
            <a:ext cx="4905375"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Inter" pitchFamily="34" charset="0"/>
                <a:ea typeface="Inter" pitchFamily="34" charset="-122"/>
                <a:cs typeface="Inter" pitchFamily="34" charset="-120"/>
              </a:rPr>
              <a:t>The first few bytes identify the file type (Magic Bytes).</a:t>
            </a:r>
            <a:endParaRPr lang="en-US" sz="1135" dirty="0"/>
          </a:p>
        </p:txBody>
      </p:sp>
      <p:sp>
        <p:nvSpPr>
          <p:cNvPr id="20" name="Shape 15"/>
          <p:cNvSpPr/>
          <p:nvPr/>
        </p:nvSpPr>
        <p:spPr>
          <a:xfrm>
            <a:off x="6477000" y="3370064"/>
            <a:ext cx="4905375" cy="531019"/>
          </a:xfrm>
          <a:prstGeom prst="rect">
            <a:avLst/>
          </a:prstGeom>
          <a:solidFill>
            <a:srgbClr val="0D1117"/>
          </a:solidFill>
          <a:ln w="9144">
            <a:solidFill>
              <a:srgbClr val="30363D"/>
            </a:solidFill>
            <a:prstDash val="solid"/>
          </a:ln>
        </p:spPr>
      </p:sp>
      <p:sp>
        <p:nvSpPr>
          <p:cNvPr id="21" name="Text 16"/>
          <p:cNvSpPr/>
          <p:nvPr/>
        </p:nvSpPr>
        <p:spPr>
          <a:xfrm>
            <a:off x="6477000" y="3370064"/>
            <a:ext cx="4905375" cy="533400"/>
          </a:xfrm>
          <a:prstGeom prst="rect">
            <a:avLst/>
          </a:prstGeom>
          <a:noFill/>
        </p:spPr>
        <p:txBody>
          <a:bodyPr wrap="square" lIns="170010" tIns="170010" rIns="170010" bIns="170010" rtlCol="0" anchor="t">
            <a:spAutoFit/>
          </a:bodyPr>
          <a:lstStyle/>
          <a:p>
            <a:pPr marL="0" indent="0" algn="l">
              <a:buNone/>
            </a:pPr>
            <a:r>
              <a:rPr lang="en-US" sz="1265" dirty="0">
                <a:solidFill>
                  <a:srgbClr val="00FF9C"/>
                </a:solidFill>
                <a:latin typeface="JetBrains Mono" pitchFamily="34" charset="0"/>
                <a:ea typeface="JetBrains Mono" pitchFamily="34" charset="-122"/>
                <a:cs typeface="JetBrains Mono" pitchFamily="34" charset="-120"/>
              </a:rPr>
              <a:t>FF D8 FF</a:t>
            </a:r>
            <a:r>
              <a:rPr lang="en-US" sz="1265" dirty="0">
                <a:solidFill>
                  <a:srgbClr val="8B949E"/>
                </a:solidFill>
                <a:latin typeface="JetBrains Mono" pitchFamily="34" charset="0"/>
                <a:ea typeface="JetBrains Mono" pitchFamily="34" charset="-122"/>
                <a:cs typeface="JetBrains Mono" pitchFamily="34" charset="-120"/>
              </a:rPr>
              <a:t> (JPEG Header)</a:t>
            </a:r>
            <a:endParaRPr lang="en-US" sz="1265" dirty="0"/>
          </a:p>
        </p:txBody>
      </p:sp>
      <p:sp>
        <p:nvSpPr>
          <p:cNvPr id="22" name="Shape 17"/>
          <p:cNvSpPr/>
          <p:nvPr/>
        </p:nvSpPr>
        <p:spPr>
          <a:xfrm>
            <a:off x="571500" y="4424957"/>
            <a:ext cx="5381625" cy="2078831"/>
          </a:xfrm>
          <a:prstGeom prst="rect">
            <a:avLst/>
          </a:prstGeom>
          <a:solidFill>
            <a:srgbClr val="161B22"/>
          </a:solidFill>
        </p:spPr>
      </p:sp>
      <p:sp>
        <p:nvSpPr>
          <p:cNvPr id="23" name="Shape 18"/>
          <p:cNvSpPr/>
          <p:nvPr/>
        </p:nvSpPr>
        <p:spPr>
          <a:xfrm>
            <a:off x="571500" y="4424957"/>
            <a:ext cx="38100" cy="2078831"/>
          </a:xfrm>
          <a:prstGeom prst="rect">
            <a:avLst/>
          </a:prstGeom>
          <a:solidFill>
            <a:srgbClr val="58A6FF"/>
          </a:solidFill>
        </p:spPr>
      </p:sp>
      <p:pic>
        <p:nvPicPr>
          <p:cNvPr id="24" name="Image 3" descr="preencoded.png"/>
          <p:cNvPicPr>
            <a:picLocks noChangeAspect="1"/>
          </p:cNvPicPr>
          <p:nvPr/>
        </p:nvPicPr>
        <p:blipFill>
          <a:blip r:embed="rId4"/>
          <a:stretch>
            <a:fillRect/>
          </a:stretch>
        </p:blipFill>
        <p:spPr>
          <a:xfrm>
            <a:off x="809625" y="4683324"/>
            <a:ext cx="304800" cy="304800"/>
          </a:xfrm>
          <a:prstGeom prst="rect">
            <a:avLst/>
          </a:prstGeom>
        </p:spPr>
      </p:pic>
      <p:sp>
        <p:nvSpPr>
          <p:cNvPr id="25" name="Text 19"/>
          <p:cNvSpPr/>
          <p:nvPr/>
        </p:nvSpPr>
        <p:spPr>
          <a:xfrm>
            <a:off x="1257300" y="4663083"/>
            <a:ext cx="1826419" cy="255905"/>
          </a:xfrm>
          <a:prstGeom prst="rect">
            <a:avLst/>
          </a:prstGeom>
          <a:noFill/>
        </p:spPr>
        <p:txBody>
          <a:bodyPr wrap="square" lIns="0" tIns="0" rIns="0" bIns="0" rtlCol="0" anchor="t">
            <a:spAutoFit/>
          </a:bodyPr>
          <a:lstStyle/>
          <a:p>
            <a:pPr marL="0" indent="0" algn="l">
              <a:buNone/>
            </a:pPr>
            <a:r>
              <a:rPr lang="en-US" sz="1665" dirty="0">
                <a:solidFill>
                  <a:srgbClr val="58A6FF"/>
                </a:solidFill>
                <a:latin typeface="Poppins Bold" pitchFamily="34" charset="0"/>
                <a:ea typeface="Poppins Bold" pitchFamily="34" charset="-122"/>
                <a:cs typeface="Poppins Bold" pitchFamily="34" charset="-120"/>
              </a:rPr>
              <a:t>SHA256 Hashes</a:t>
            </a:r>
            <a:endParaRPr lang="en-US" sz="1665" dirty="0"/>
          </a:p>
        </p:txBody>
      </p:sp>
      <p:sp>
        <p:nvSpPr>
          <p:cNvPr id="26" name="Shape 20"/>
          <p:cNvSpPr/>
          <p:nvPr/>
        </p:nvSpPr>
        <p:spPr>
          <a:xfrm>
            <a:off x="5062537" y="4699992"/>
            <a:ext cx="652463" cy="271463"/>
          </a:xfrm>
          <a:prstGeom prst="rect">
            <a:avLst/>
          </a:prstGeom>
          <a:solidFill>
            <a:srgbClr val="E3B341">
              <a:alpha val="20000"/>
            </a:srgbClr>
          </a:solidFill>
          <a:ln w="9144">
            <a:solidFill>
              <a:srgbClr val="E3B341"/>
            </a:solidFill>
            <a:prstDash val="solid"/>
          </a:ln>
        </p:spPr>
      </p:sp>
      <p:sp>
        <p:nvSpPr>
          <p:cNvPr id="27" name="Text 21"/>
          <p:cNvSpPr/>
          <p:nvPr/>
        </p:nvSpPr>
        <p:spPr>
          <a:xfrm>
            <a:off x="5062537" y="4699992"/>
            <a:ext cx="607060" cy="243840"/>
          </a:xfrm>
          <a:prstGeom prst="rect">
            <a:avLst/>
          </a:prstGeom>
          <a:noFill/>
        </p:spPr>
        <p:txBody>
          <a:bodyPr wrap="none" lIns="136144" tIns="45381" rIns="136144" bIns="45381" rtlCol="0" anchor="t">
            <a:spAutoFit/>
          </a:bodyPr>
          <a:lstStyle/>
          <a:p>
            <a:pPr marL="0" indent="0" algn="l">
              <a:buNone/>
            </a:pPr>
            <a:r>
              <a:rPr lang="en-US" sz="1000" dirty="0">
                <a:solidFill>
                  <a:srgbClr val="E3B341"/>
                </a:solidFill>
                <a:latin typeface="JetBrains Mono" pitchFamily="34" charset="0"/>
                <a:ea typeface="JetBrains Mono" pitchFamily="34" charset="-122"/>
                <a:cs typeface="JetBrains Mono" pitchFamily="34" charset="-120"/>
              </a:rPr>
              <a:t>Today</a:t>
            </a:r>
            <a:endParaRPr lang="en-US" sz="1000" dirty="0"/>
          </a:p>
        </p:txBody>
      </p:sp>
      <p:sp>
        <p:nvSpPr>
          <p:cNvPr id="28" name="Text 22"/>
          <p:cNvSpPr/>
          <p:nvPr/>
        </p:nvSpPr>
        <p:spPr>
          <a:xfrm>
            <a:off x="809625" y="5303639"/>
            <a:ext cx="4905375"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Inter" pitchFamily="34" charset="0"/>
                <a:ea typeface="Inter" pitchFamily="34" charset="-122"/>
                <a:cs typeface="Inter" pitchFamily="34" charset="-120"/>
              </a:rPr>
              <a:t>Cryptographic hashes are represented as 64 hex characters.</a:t>
            </a:r>
            <a:endParaRPr lang="en-US" sz="1135" dirty="0"/>
          </a:p>
        </p:txBody>
      </p:sp>
      <p:sp>
        <p:nvSpPr>
          <p:cNvPr id="29" name="Shape 23"/>
          <p:cNvSpPr/>
          <p:nvPr/>
        </p:nvSpPr>
        <p:spPr>
          <a:xfrm>
            <a:off x="809625" y="5734645"/>
            <a:ext cx="4905375" cy="531019"/>
          </a:xfrm>
          <a:prstGeom prst="rect">
            <a:avLst/>
          </a:prstGeom>
          <a:solidFill>
            <a:srgbClr val="0D1117"/>
          </a:solidFill>
          <a:ln w="9144">
            <a:solidFill>
              <a:srgbClr val="30363D"/>
            </a:solidFill>
            <a:prstDash val="solid"/>
          </a:ln>
        </p:spPr>
      </p:sp>
      <p:sp>
        <p:nvSpPr>
          <p:cNvPr id="30" name="Text 24"/>
          <p:cNvSpPr/>
          <p:nvPr/>
        </p:nvSpPr>
        <p:spPr>
          <a:xfrm>
            <a:off x="809625" y="5734645"/>
            <a:ext cx="4905375" cy="533400"/>
          </a:xfrm>
          <a:prstGeom prst="rect">
            <a:avLst/>
          </a:prstGeom>
          <a:noFill/>
        </p:spPr>
        <p:txBody>
          <a:bodyPr wrap="square" lIns="170010" tIns="170010" rIns="170010" bIns="170010" rtlCol="0" anchor="t">
            <a:spAutoFit/>
          </a:bodyPr>
          <a:lstStyle/>
          <a:p>
            <a:pPr marL="0" indent="0" algn="l">
              <a:buNone/>
            </a:pPr>
            <a:r>
              <a:rPr lang="en-US" sz="1265" dirty="0">
                <a:solidFill>
                  <a:srgbClr val="8B949E"/>
                </a:solidFill>
                <a:latin typeface="JetBrains Mono" pitchFamily="34" charset="0"/>
                <a:ea typeface="JetBrains Mono" pitchFamily="34" charset="-122"/>
                <a:cs typeface="JetBrains Mono" pitchFamily="34" charset="-120"/>
              </a:rPr>
              <a:t>64 chars: </a:t>
            </a:r>
            <a:r>
              <a:rPr lang="en-US" sz="1265" dirty="0">
                <a:solidFill>
                  <a:srgbClr val="00FF9C"/>
                </a:solidFill>
                <a:latin typeface="JetBrains Mono" pitchFamily="34" charset="0"/>
                <a:ea typeface="JetBrains Mono" pitchFamily="34" charset="-122"/>
                <a:cs typeface="JetBrains Mono" pitchFamily="34" charset="-120"/>
              </a:rPr>
              <a:t>185f8db32...</a:t>
            </a:r>
            <a:endParaRPr lang="en-US" sz="1265" dirty="0"/>
          </a:p>
        </p:txBody>
      </p:sp>
      <p:sp>
        <p:nvSpPr>
          <p:cNvPr id="31" name="Shape 25"/>
          <p:cNvSpPr/>
          <p:nvPr/>
        </p:nvSpPr>
        <p:spPr>
          <a:xfrm>
            <a:off x="6238875" y="4424957"/>
            <a:ext cx="5381625" cy="2078831"/>
          </a:xfrm>
          <a:prstGeom prst="rect">
            <a:avLst/>
          </a:prstGeom>
          <a:solidFill>
            <a:srgbClr val="161B22"/>
          </a:solidFill>
        </p:spPr>
      </p:sp>
      <p:sp>
        <p:nvSpPr>
          <p:cNvPr id="32" name="Shape 26"/>
          <p:cNvSpPr/>
          <p:nvPr/>
        </p:nvSpPr>
        <p:spPr>
          <a:xfrm>
            <a:off x="6238875" y="4424957"/>
            <a:ext cx="38100" cy="2078831"/>
          </a:xfrm>
          <a:prstGeom prst="rect">
            <a:avLst/>
          </a:prstGeom>
          <a:solidFill>
            <a:srgbClr val="58A6FF"/>
          </a:solidFill>
        </p:spPr>
      </p:sp>
      <p:pic>
        <p:nvPicPr>
          <p:cNvPr id="33" name="Image 4" descr="preencoded.png"/>
          <p:cNvPicPr>
            <a:picLocks noChangeAspect="1"/>
          </p:cNvPicPr>
          <p:nvPr/>
        </p:nvPicPr>
        <p:blipFill>
          <a:blip r:embed="rId5"/>
          <a:stretch>
            <a:fillRect/>
          </a:stretch>
        </p:blipFill>
        <p:spPr>
          <a:xfrm>
            <a:off x="6477000" y="4683324"/>
            <a:ext cx="342900" cy="304800"/>
          </a:xfrm>
          <a:prstGeom prst="rect">
            <a:avLst/>
          </a:prstGeom>
        </p:spPr>
      </p:pic>
      <p:sp>
        <p:nvSpPr>
          <p:cNvPr id="34" name="Text 27"/>
          <p:cNvSpPr/>
          <p:nvPr/>
        </p:nvSpPr>
        <p:spPr>
          <a:xfrm>
            <a:off x="6962775" y="4663083"/>
            <a:ext cx="886460" cy="255905"/>
          </a:xfrm>
          <a:prstGeom prst="rect">
            <a:avLst/>
          </a:prstGeom>
          <a:noFill/>
        </p:spPr>
        <p:txBody>
          <a:bodyPr wrap="none" lIns="0" tIns="0" rIns="0" bIns="0" rtlCol="0" anchor="t">
            <a:spAutoFit/>
          </a:bodyPr>
          <a:lstStyle/>
          <a:p>
            <a:pPr marL="0" indent="0" algn="l">
              <a:buNone/>
            </a:pPr>
            <a:r>
              <a:rPr lang="en-US" sz="1665" dirty="0">
                <a:solidFill>
                  <a:srgbClr val="58A6FF"/>
                </a:solidFill>
                <a:latin typeface="Poppins Bold" pitchFamily="34" charset="0"/>
                <a:ea typeface="Poppins Bold" pitchFamily="34" charset="-122"/>
                <a:cs typeface="Poppins Bold" pitchFamily="34" charset="-120"/>
              </a:rPr>
              <a:t>Shellcode</a:t>
            </a:r>
            <a:endParaRPr lang="en-US" sz="1665" dirty="0"/>
          </a:p>
        </p:txBody>
      </p:sp>
      <p:sp>
        <p:nvSpPr>
          <p:cNvPr id="35" name="Shape 28"/>
          <p:cNvSpPr/>
          <p:nvPr/>
        </p:nvSpPr>
        <p:spPr>
          <a:xfrm>
            <a:off x="10648951" y="4699992"/>
            <a:ext cx="733425" cy="271463"/>
          </a:xfrm>
          <a:prstGeom prst="rect">
            <a:avLst/>
          </a:prstGeom>
          <a:solidFill>
            <a:srgbClr val="E3B341">
              <a:alpha val="20000"/>
            </a:srgbClr>
          </a:solidFill>
          <a:ln w="9144">
            <a:solidFill>
              <a:srgbClr val="E3B341"/>
            </a:solidFill>
            <a:prstDash val="solid"/>
          </a:ln>
        </p:spPr>
      </p:sp>
      <p:sp>
        <p:nvSpPr>
          <p:cNvPr id="36" name="Text 29"/>
          <p:cNvSpPr/>
          <p:nvPr/>
        </p:nvSpPr>
        <p:spPr>
          <a:xfrm>
            <a:off x="10648951" y="4699992"/>
            <a:ext cx="648970" cy="243840"/>
          </a:xfrm>
          <a:prstGeom prst="rect">
            <a:avLst/>
          </a:prstGeom>
          <a:noFill/>
        </p:spPr>
        <p:txBody>
          <a:bodyPr wrap="none" lIns="136144" tIns="45381" rIns="136144" bIns="45381" rtlCol="0" anchor="t">
            <a:spAutoFit/>
          </a:bodyPr>
          <a:lstStyle/>
          <a:p>
            <a:pPr marL="0" indent="0" algn="l">
              <a:buNone/>
            </a:pPr>
            <a:r>
              <a:rPr lang="en-US" sz="1000" dirty="0">
                <a:solidFill>
                  <a:srgbClr val="E3B341"/>
                </a:solidFill>
                <a:latin typeface="JetBrains Mono" pitchFamily="34" charset="0"/>
                <a:ea typeface="JetBrains Mono" pitchFamily="34" charset="-122"/>
                <a:cs typeface="JetBrains Mono" pitchFamily="34" charset="-120"/>
              </a:rPr>
              <a:t>Day 12</a:t>
            </a:r>
            <a:endParaRPr lang="en-US" sz="1000" dirty="0"/>
          </a:p>
        </p:txBody>
      </p:sp>
      <p:sp>
        <p:nvSpPr>
          <p:cNvPr id="37" name="Text 30"/>
          <p:cNvSpPr/>
          <p:nvPr/>
        </p:nvSpPr>
        <p:spPr>
          <a:xfrm>
            <a:off x="6477000" y="5303639"/>
            <a:ext cx="4905375"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Inter" pitchFamily="34" charset="0"/>
                <a:ea typeface="Inter" pitchFamily="34" charset="-122"/>
                <a:cs typeface="Inter" pitchFamily="34" charset="-120"/>
              </a:rPr>
              <a:t>Exploit payloads are written in hex bytes for the CPU.</a:t>
            </a:r>
            <a:endParaRPr lang="en-US" sz="1135" dirty="0"/>
          </a:p>
        </p:txBody>
      </p:sp>
      <p:sp>
        <p:nvSpPr>
          <p:cNvPr id="38" name="Shape 31"/>
          <p:cNvSpPr/>
          <p:nvPr/>
        </p:nvSpPr>
        <p:spPr>
          <a:xfrm>
            <a:off x="6477000" y="5734645"/>
            <a:ext cx="4905375" cy="531019"/>
          </a:xfrm>
          <a:prstGeom prst="rect">
            <a:avLst/>
          </a:prstGeom>
          <a:solidFill>
            <a:srgbClr val="0D1117"/>
          </a:solidFill>
          <a:ln w="9144">
            <a:solidFill>
              <a:srgbClr val="30363D"/>
            </a:solidFill>
            <a:prstDash val="solid"/>
          </a:ln>
        </p:spPr>
      </p:sp>
      <p:sp>
        <p:nvSpPr>
          <p:cNvPr id="39" name="Text 32"/>
          <p:cNvSpPr/>
          <p:nvPr/>
        </p:nvSpPr>
        <p:spPr>
          <a:xfrm>
            <a:off x="6477000" y="5734645"/>
            <a:ext cx="4905375" cy="533400"/>
          </a:xfrm>
          <a:prstGeom prst="rect">
            <a:avLst/>
          </a:prstGeom>
          <a:noFill/>
        </p:spPr>
        <p:txBody>
          <a:bodyPr wrap="square" lIns="170010" tIns="170010" rIns="170010" bIns="170010" rtlCol="0" anchor="t">
            <a:spAutoFit/>
          </a:bodyPr>
          <a:lstStyle/>
          <a:p>
            <a:pPr marL="0" indent="0" algn="l">
              <a:buNone/>
            </a:pPr>
            <a:r>
              <a:rPr lang="en-US" sz="1265" dirty="0">
                <a:solidFill>
                  <a:srgbClr val="8B949E"/>
                </a:solidFill>
                <a:latin typeface="JetBrains Mono" pitchFamily="34" charset="0"/>
                <a:ea typeface="JetBrains Mono" pitchFamily="34" charset="-122"/>
                <a:cs typeface="JetBrains Mono" pitchFamily="34" charset="-120"/>
              </a:rPr>
              <a:t>\x90\x90</a:t>
            </a:r>
            <a:r>
              <a:rPr lang="en-US" sz="1265" dirty="0">
                <a:solidFill>
                  <a:srgbClr val="00FF9C"/>
                </a:solidFill>
                <a:latin typeface="JetBrains Mono" pitchFamily="34" charset="0"/>
                <a:ea typeface="JetBrains Mono" pitchFamily="34" charset="-122"/>
                <a:cs typeface="JetBrains Mono" pitchFamily="34" charset="-120"/>
              </a:rPr>
              <a:t>\x31\xc0</a:t>
            </a:r>
            <a:r>
              <a:rPr lang="en-US" sz="1265" dirty="0">
                <a:solidFill>
                  <a:srgbClr val="8B949E"/>
                </a:solidFill>
                <a:latin typeface="JetBrains Mono" pitchFamily="34" charset="0"/>
                <a:ea typeface="JetBrains Mono" pitchFamily="34" charset="-122"/>
                <a:cs typeface="JetBrains Mono" pitchFamily="34" charset="-120"/>
              </a:rPr>
              <a:t>\x50</a:t>
            </a:r>
            <a:endParaRPr lang="en-US" sz="1265" dirty="0"/>
          </a:p>
        </p:txBody>
      </p:sp>
      <p:grpSp>
        <p:nvGrpSpPr>
          <p:cNvPr id="40" name="Group 2"/>
          <p:cNvGrpSpPr/>
          <p:nvPr/>
        </p:nvGrpSpPr>
        <p:grpSpPr>
          <a:xfrm rot="0">
            <a:off x="294640" y="194310"/>
            <a:ext cx="789305" cy="299720"/>
            <a:chOff x="0" y="0"/>
            <a:chExt cx="341337" cy="102463"/>
          </a:xfrm>
        </p:grpSpPr>
        <p:sp>
          <p:nvSpPr>
            <p:cNvPr id="41"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2"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3" name="Group 5"/>
          <p:cNvGrpSpPr/>
          <p:nvPr/>
        </p:nvGrpSpPr>
        <p:grpSpPr>
          <a:xfrm rot="0">
            <a:off x="822325" y="209550"/>
            <a:ext cx="220980" cy="246380"/>
            <a:chOff x="0" y="0"/>
            <a:chExt cx="812800" cy="812800"/>
          </a:xfrm>
        </p:grpSpPr>
        <p:sp>
          <p:nvSpPr>
            <p:cNvPr id="44"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5"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6"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9" name="AutoShape 13"/>
          <p:cNvSpPr/>
          <p:nvPr/>
        </p:nvSpPr>
        <p:spPr>
          <a:xfrm>
            <a:off x="411480" y="6564630"/>
            <a:ext cx="11366500" cy="16510"/>
          </a:xfrm>
          <a:prstGeom prst="line">
            <a:avLst/>
          </a:prstGeom>
          <a:ln w="19050" cap="flat">
            <a:solidFill>
              <a:schemeClr val="bg1"/>
            </a:solidFill>
            <a:prstDash val="solid"/>
            <a:headEnd type="none" w="sm" len="sm"/>
            <a:tailEnd type="none" w="sm" len="sm"/>
          </a:ln>
        </p:spPr>
      </p:sp>
      <p:sp>
        <p:nvSpPr>
          <p:cNvPr id="50" name="TextBox 21"/>
          <p:cNvSpPr txBox="1"/>
          <p:nvPr/>
        </p:nvSpPr>
        <p:spPr>
          <a:xfrm>
            <a:off x="4756785" y="650748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906220"/>
          </a:xfrm>
          <a:prstGeom prst="rect">
            <a:avLst/>
          </a:prstGeom>
        </p:spPr>
      </p:pic>
      <p:sp>
        <p:nvSpPr>
          <p:cNvPr id="3" name="Text 0"/>
          <p:cNvSpPr/>
          <p:nvPr/>
        </p:nvSpPr>
        <p:spPr>
          <a:xfrm>
            <a:off x="571500" y="687288"/>
            <a:ext cx="6731793" cy="502285"/>
          </a:xfrm>
          <a:prstGeom prst="rect">
            <a:avLst/>
          </a:prstGeom>
          <a:noFill/>
        </p:spPr>
        <p:txBody>
          <a:bodyPr wrap="square" lIns="0" tIns="0" rIns="0" bIns="0" rtlCol="0" anchor="t">
            <a:spAutoFit/>
          </a:bodyPr>
          <a:lstStyle/>
          <a:p>
            <a:pPr marL="0" indent="0" algn="l">
              <a:buNone/>
            </a:pPr>
            <a:r>
              <a:rPr lang="en-US" sz="3265" b="1" kern="0" spc="2" dirty="0">
                <a:solidFill>
                  <a:srgbClr val="00FF9C"/>
                </a:solidFill>
                <a:latin typeface="Poppins Bold" pitchFamily="34" charset="0"/>
                <a:ea typeface="Poppins Bold" pitchFamily="34" charset="-122"/>
                <a:cs typeface="Poppins Bold" pitchFamily="34" charset="-120"/>
              </a:rPr>
              <a:t>OCTAL: LINUX PERMISSIONS</a:t>
            </a:r>
            <a:endParaRPr lang="en-US" sz="3265" dirty="0"/>
          </a:p>
        </p:txBody>
      </p:sp>
      <p:sp>
        <p:nvSpPr>
          <p:cNvPr id="4" name="Shape 1"/>
          <p:cNvSpPr/>
          <p:nvPr/>
        </p:nvSpPr>
        <p:spPr>
          <a:xfrm>
            <a:off x="9043988" y="831353"/>
            <a:ext cx="2576512" cy="397669"/>
          </a:xfrm>
          <a:prstGeom prst="rect">
            <a:avLst/>
          </a:prstGeom>
          <a:solidFill>
            <a:srgbClr val="E3B341">
              <a:alpha val="20000"/>
            </a:srgbClr>
          </a:solidFill>
          <a:ln w="9144">
            <a:solidFill>
              <a:srgbClr val="E3B341"/>
            </a:solidFill>
            <a:prstDash val="solid"/>
          </a:ln>
        </p:spPr>
      </p:sp>
      <p:sp>
        <p:nvSpPr>
          <p:cNvPr id="5" name="Text 2"/>
          <p:cNvSpPr/>
          <p:nvPr/>
        </p:nvSpPr>
        <p:spPr>
          <a:xfrm>
            <a:off x="9043988" y="831353"/>
            <a:ext cx="2576512" cy="374650"/>
          </a:xfrm>
          <a:prstGeom prst="rect">
            <a:avLst/>
          </a:prstGeom>
          <a:noFill/>
        </p:spPr>
        <p:txBody>
          <a:bodyPr wrap="square" lIns="181356" tIns="90762" rIns="181356" bIns="90762" rtlCol="0" anchor="t">
            <a:spAutoFit/>
          </a:bodyPr>
          <a:lstStyle/>
          <a:p>
            <a:pPr marL="0" indent="0" algn="l">
              <a:buNone/>
            </a:pPr>
            <a:r>
              <a:rPr lang="en-US" sz="1265" dirty="0">
                <a:solidFill>
                  <a:srgbClr val="E3B341"/>
                </a:solidFill>
                <a:latin typeface="JetBrains Mono" pitchFamily="34" charset="0"/>
                <a:ea typeface="JetBrains Mono" pitchFamily="34" charset="-122"/>
                <a:cs typeface="JetBrains Mono" pitchFamily="34" charset="-120"/>
              </a:rPr>
              <a:t>Day 11: Linux Security</a:t>
            </a:r>
            <a:endParaRPr lang="en-US" sz="1265" dirty="0"/>
          </a:p>
        </p:txBody>
      </p:sp>
      <p:sp>
        <p:nvSpPr>
          <p:cNvPr id="6" name="Shape 3"/>
          <p:cNvSpPr/>
          <p:nvPr/>
        </p:nvSpPr>
        <p:spPr>
          <a:xfrm>
            <a:off x="571500" y="1965127"/>
            <a:ext cx="11049000" cy="1323975"/>
          </a:xfrm>
          <a:prstGeom prst="rect">
            <a:avLst/>
          </a:prstGeom>
          <a:solidFill>
            <a:srgbClr val="161B22"/>
          </a:solidFill>
          <a:ln w="9144">
            <a:solidFill>
              <a:srgbClr val="30363D"/>
            </a:solidFill>
            <a:prstDash val="solid"/>
          </a:ln>
        </p:spPr>
      </p:sp>
      <p:sp>
        <p:nvSpPr>
          <p:cNvPr id="7" name="Text 4"/>
          <p:cNvSpPr/>
          <p:nvPr/>
        </p:nvSpPr>
        <p:spPr>
          <a:xfrm>
            <a:off x="762000" y="2155627"/>
            <a:ext cx="10668000" cy="236220"/>
          </a:xfrm>
          <a:prstGeom prst="rect">
            <a:avLst/>
          </a:prstGeom>
          <a:noFill/>
        </p:spPr>
        <p:txBody>
          <a:bodyPr wrap="square" lIns="0" tIns="0" rIns="0" bIns="0" rtlCol="0" anchor="t">
            <a:spAutoFit/>
          </a:bodyPr>
          <a:lstStyle/>
          <a:p>
            <a:pPr marL="0" indent="0" algn="l">
              <a:buNone/>
            </a:pPr>
            <a:r>
              <a:rPr lang="en-US" sz="1535" dirty="0">
                <a:solidFill>
                  <a:srgbClr val="00FF9C"/>
                </a:solidFill>
                <a:latin typeface="JetBrains Mono" pitchFamily="34" charset="0"/>
                <a:ea typeface="JetBrains Mono" pitchFamily="34" charset="-122"/>
                <a:cs typeface="JetBrains Mono" pitchFamily="34" charset="-120"/>
              </a:rPr>
              <a:t>user@ctf:~$</a:t>
            </a:r>
            <a:r>
              <a:rPr lang="en-US" sz="1535" dirty="0">
                <a:solidFill>
                  <a:srgbClr val="E6EDF3"/>
                </a:solidFill>
                <a:latin typeface="JetBrains Mono" pitchFamily="34" charset="0"/>
                <a:ea typeface="JetBrains Mono" pitchFamily="34" charset="-122"/>
                <a:cs typeface="JetBrains Mono" pitchFamily="34" charset="-120"/>
              </a:rPr>
              <a:t> chmod 755 exploit.py</a:t>
            </a:r>
            <a:endParaRPr lang="en-US" sz="1535" dirty="0"/>
          </a:p>
        </p:txBody>
      </p:sp>
      <p:sp>
        <p:nvSpPr>
          <p:cNvPr id="8" name="Text 5"/>
          <p:cNvSpPr/>
          <p:nvPr/>
        </p:nvSpPr>
        <p:spPr>
          <a:xfrm>
            <a:off x="762000" y="2527101"/>
            <a:ext cx="10668000" cy="473075"/>
          </a:xfrm>
          <a:prstGeom prst="rect">
            <a:avLst/>
          </a:prstGeom>
          <a:noFill/>
        </p:spPr>
        <p:txBody>
          <a:bodyPr wrap="square" lIns="0" tIns="0" rIns="0" bIns="0" rtlCol="0" anchor="t">
            <a:spAutoFit/>
          </a:bodyPr>
          <a:lstStyle/>
          <a:p>
            <a:pPr marL="0" indent="0" algn="l">
              <a:buNone/>
            </a:pPr>
            <a:r>
              <a:rPr lang="en-US" sz="1535" dirty="0">
                <a:solidFill>
                  <a:srgbClr val="00FF9C"/>
                </a:solidFill>
                <a:latin typeface="JetBrains Mono" pitchFamily="34" charset="0"/>
                <a:ea typeface="JetBrains Mono" pitchFamily="34" charset="-122"/>
                <a:cs typeface="JetBrains Mono" pitchFamily="34" charset="-120"/>
              </a:rPr>
              <a:t>user@ctf:~$</a:t>
            </a:r>
            <a:r>
              <a:rPr lang="en-US" sz="1535" dirty="0">
                <a:solidFill>
                  <a:srgbClr val="8B949E"/>
                </a:solidFill>
                <a:latin typeface="JetBrains Mono" pitchFamily="34" charset="0"/>
                <a:ea typeface="JetBrains Mono" pitchFamily="34" charset="-122"/>
                <a:cs typeface="JetBrains Mono" pitchFamily="34" charset="-120"/>
              </a:rPr>
              <a:t> ls -l exploit.py
-rwxr-xr-x 1 user user 1024 May 18 2026 exploit.py</a:t>
            </a:r>
            <a:endParaRPr lang="en-US" sz="1535" dirty="0"/>
          </a:p>
        </p:txBody>
      </p:sp>
      <p:sp>
        <p:nvSpPr>
          <p:cNvPr id="9" name="Shape 6"/>
          <p:cNvSpPr/>
          <p:nvPr/>
        </p:nvSpPr>
        <p:spPr>
          <a:xfrm>
            <a:off x="571500" y="3422452"/>
            <a:ext cx="3555988" cy="2588419"/>
          </a:xfrm>
          <a:prstGeom prst="rect">
            <a:avLst/>
          </a:prstGeom>
          <a:solidFill>
            <a:srgbClr val="161B22"/>
          </a:solidFill>
        </p:spPr>
      </p:sp>
      <p:sp>
        <p:nvSpPr>
          <p:cNvPr id="10" name="Shape 7"/>
          <p:cNvSpPr/>
          <p:nvPr/>
        </p:nvSpPr>
        <p:spPr>
          <a:xfrm>
            <a:off x="571500" y="3422452"/>
            <a:ext cx="3555988" cy="38100"/>
          </a:xfrm>
          <a:prstGeom prst="rect">
            <a:avLst/>
          </a:prstGeom>
          <a:solidFill>
            <a:srgbClr val="58A6FF"/>
          </a:solidFill>
        </p:spPr>
      </p:sp>
      <p:sp>
        <p:nvSpPr>
          <p:cNvPr id="11" name="Text 8"/>
          <p:cNvSpPr/>
          <p:nvPr/>
        </p:nvSpPr>
        <p:spPr>
          <a:xfrm>
            <a:off x="809625" y="3660576"/>
            <a:ext cx="3079737" cy="717550"/>
          </a:xfrm>
          <a:prstGeom prst="rect">
            <a:avLst/>
          </a:prstGeom>
          <a:noFill/>
        </p:spPr>
        <p:txBody>
          <a:bodyPr wrap="square" lIns="0" tIns="0" rIns="0" bIns="0" rtlCol="0" anchor="t">
            <a:spAutoFit/>
          </a:bodyPr>
          <a:lstStyle/>
          <a:p>
            <a:pPr marL="0" indent="0" algn="ctr">
              <a:buNone/>
            </a:pPr>
            <a:r>
              <a:rPr lang="en-US" sz="4665" dirty="0">
                <a:solidFill>
                  <a:srgbClr val="58A6FF"/>
                </a:solidFill>
                <a:latin typeface="JetBrains Mono" pitchFamily="34" charset="0"/>
                <a:ea typeface="JetBrains Mono" pitchFamily="34" charset="-122"/>
                <a:cs typeface="JetBrains Mono" pitchFamily="34" charset="-120"/>
              </a:rPr>
              <a:t>7</a:t>
            </a:r>
            <a:endParaRPr lang="en-US" sz="4665" dirty="0"/>
          </a:p>
        </p:txBody>
      </p:sp>
      <p:sp>
        <p:nvSpPr>
          <p:cNvPr id="12" name="Text 9"/>
          <p:cNvSpPr/>
          <p:nvPr/>
        </p:nvSpPr>
        <p:spPr>
          <a:xfrm>
            <a:off x="809625" y="4560689"/>
            <a:ext cx="3079737" cy="255905"/>
          </a:xfrm>
          <a:prstGeom prst="rect">
            <a:avLst/>
          </a:prstGeom>
          <a:noFill/>
        </p:spPr>
        <p:txBody>
          <a:bodyPr wrap="square" lIns="0" tIns="0" rIns="0" bIns="0" rtlCol="0" anchor="t">
            <a:spAutoFit/>
          </a:bodyPr>
          <a:lstStyle/>
          <a:p>
            <a:pPr marL="0" indent="0" algn="ctr">
              <a:buNone/>
            </a:pPr>
            <a:r>
              <a:rPr lang="en-US" sz="1665" dirty="0">
                <a:solidFill>
                  <a:srgbClr val="8B949E"/>
                </a:solidFill>
                <a:latin typeface="JetBrains Mono" pitchFamily="34" charset="0"/>
                <a:ea typeface="JetBrains Mono" pitchFamily="34" charset="-122"/>
                <a:cs typeface="JetBrains Mono" pitchFamily="34" charset="-120"/>
              </a:rPr>
              <a:t>111</a:t>
            </a:r>
            <a:endParaRPr lang="en-US" sz="1665" dirty="0"/>
          </a:p>
        </p:txBody>
      </p:sp>
      <p:sp>
        <p:nvSpPr>
          <p:cNvPr id="13" name="Text 10"/>
          <p:cNvSpPr/>
          <p:nvPr/>
        </p:nvSpPr>
        <p:spPr>
          <a:xfrm>
            <a:off x="809625" y="5005983"/>
            <a:ext cx="3079737" cy="348615"/>
          </a:xfrm>
          <a:prstGeom prst="rect">
            <a:avLst/>
          </a:prstGeom>
          <a:noFill/>
        </p:spPr>
        <p:txBody>
          <a:bodyPr wrap="square" lIns="0" tIns="0" rIns="0" bIns="0" rtlCol="0" anchor="t">
            <a:spAutoFit/>
          </a:bodyPr>
          <a:lstStyle/>
          <a:p>
            <a:pPr marL="0" indent="0" algn="ctr">
              <a:buNone/>
            </a:pPr>
            <a:r>
              <a:rPr lang="en-US" sz="2265" kern="0" spc="4" dirty="0">
                <a:solidFill>
                  <a:srgbClr val="00FF9C"/>
                </a:solidFill>
                <a:latin typeface="JetBrains Mono" pitchFamily="34" charset="0"/>
                <a:ea typeface="JetBrains Mono" pitchFamily="34" charset="-122"/>
                <a:cs typeface="JetBrains Mono" pitchFamily="34" charset="-120"/>
              </a:rPr>
              <a:t>rwx</a:t>
            </a:r>
            <a:endParaRPr lang="en-US" sz="2265" dirty="0"/>
          </a:p>
        </p:txBody>
      </p:sp>
      <p:sp>
        <p:nvSpPr>
          <p:cNvPr id="14" name="Text 11"/>
          <p:cNvSpPr/>
          <p:nvPr/>
        </p:nvSpPr>
        <p:spPr>
          <a:xfrm>
            <a:off x="809625" y="5551289"/>
            <a:ext cx="3079737" cy="174625"/>
          </a:xfrm>
          <a:prstGeom prst="rect">
            <a:avLst/>
          </a:prstGeom>
          <a:noFill/>
        </p:spPr>
        <p:txBody>
          <a:bodyPr wrap="square" lIns="0" tIns="0" rIns="0" bIns="0" rtlCol="0" anchor="t">
            <a:spAutoFit/>
          </a:bodyPr>
          <a:lstStyle/>
          <a:p>
            <a:pPr marL="0" indent="0" algn="ctr">
              <a:buNone/>
            </a:pPr>
            <a:r>
              <a:rPr lang="en-US" sz="1135" dirty="0">
                <a:solidFill>
                  <a:srgbClr val="8B949E"/>
                </a:solidFill>
                <a:latin typeface="Inter" pitchFamily="34" charset="0"/>
                <a:ea typeface="Inter" pitchFamily="34" charset="-122"/>
                <a:cs typeface="Inter" pitchFamily="34" charset="-120"/>
              </a:rPr>
              <a:t>OWNER</a:t>
            </a:r>
            <a:endParaRPr lang="en-US" sz="1135" dirty="0"/>
          </a:p>
        </p:txBody>
      </p:sp>
      <p:sp>
        <p:nvSpPr>
          <p:cNvPr id="15" name="Shape 12"/>
          <p:cNvSpPr/>
          <p:nvPr/>
        </p:nvSpPr>
        <p:spPr>
          <a:xfrm>
            <a:off x="4317988" y="3422452"/>
            <a:ext cx="3555988" cy="2588419"/>
          </a:xfrm>
          <a:prstGeom prst="rect">
            <a:avLst/>
          </a:prstGeom>
          <a:solidFill>
            <a:srgbClr val="161B22"/>
          </a:solidFill>
        </p:spPr>
      </p:sp>
      <p:sp>
        <p:nvSpPr>
          <p:cNvPr id="16" name="Shape 13"/>
          <p:cNvSpPr/>
          <p:nvPr/>
        </p:nvSpPr>
        <p:spPr>
          <a:xfrm>
            <a:off x="4317988" y="3422452"/>
            <a:ext cx="3555988" cy="38100"/>
          </a:xfrm>
          <a:prstGeom prst="rect">
            <a:avLst/>
          </a:prstGeom>
          <a:solidFill>
            <a:srgbClr val="58A6FF"/>
          </a:solidFill>
        </p:spPr>
      </p:sp>
      <p:sp>
        <p:nvSpPr>
          <p:cNvPr id="17" name="Text 14"/>
          <p:cNvSpPr/>
          <p:nvPr/>
        </p:nvSpPr>
        <p:spPr>
          <a:xfrm>
            <a:off x="4556112" y="3660576"/>
            <a:ext cx="3079737" cy="717550"/>
          </a:xfrm>
          <a:prstGeom prst="rect">
            <a:avLst/>
          </a:prstGeom>
          <a:noFill/>
        </p:spPr>
        <p:txBody>
          <a:bodyPr wrap="square" lIns="0" tIns="0" rIns="0" bIns="0" rtlCol="0" anchor="t">
            <a:spAutoFit/>
          </a:bodyPr>
          <a:lstStyle/>
          <a:p>
            <a:pPr marL="0" indent="0" algn="ctr">
              <a:buNone/>
            </a:pPr>
            <a:r>
              <a:rPr lang="en-US" sz="4665" dirty="0">
                <a:solidFill>
                  <a:srgbClr val="58A6FF"/>
                </a:solidFill>
                <a:latin typeface="JetBrains Mono" pitchFamily="34" charset="0"/>
                <a:ea typeface="JetBrains Mono" pitchFamily="34" charset="-122"/>
                <a:cs typeface="JetBrains Mono" pitchFamily="34" charset="-120"/>
              </a:rPr>
              <a:t>5</a:t>
            </a:r>
            <a:endParaRPr lang="en-US" sz="4665" dirty="0"/>
          </a:p>
        </p:txBody>
      </p:sp>
      <p:sp>
        <p:nvSpPr>
          <p:cNvPr id="18" name="Text 15"/>
          <p:cNvSpPr/>
          <p:nvPr/>
        </p:nvSpPr>
        <p:spPr>
          <a:xfrm>
            <a:off x="4556112" y="4560689"/>
            <a:ext cx="3079737" cy="255905"/>
          </a:xfrm>
          <a:prstGeom prst="rect">
            <a:avLst/>
          </a:prstGeom>
          <a:noFill/>
        </p:spPr>
        <p:txBody>
          <a:bodyPr wrap="square" lIns="0" tIns="0" rIns="0" bIns="0" rtlCol="0" anchor="t">
            <a:spAutoFit/>
          </a:bodyPr>
          <a:lstStyle/>
          <a:p>
            <a:pPr marL="0" indent="0" algn="ctr">
              <a:buNone/>
            </a:pPr>
            <a:r>
              <a:rPr lang="en-US" sz="1665" dirty="0">
                <a:solidFill>
                  <a:srgbClr val="8B949E"/>
                </a:solidFill>
                <a:latin typeface="JetBrains Mono" pitchFamily="34" charset="0"/>
                <a:ea typeface="JetBrains Mono" pitchFamily="34" charset="-122"/>
                <a:cs typeface="JetBrains Mono" pitchFamily="34" charset="-120"/>
              </a:rPr>
              <a:t>101</a:t>
            </a:r>
            <a:endParaRPr lang="en-US" sz="1665" dirty="0"/>
          </a:p>
        </p:txBody>
      </p:sp>
      <p:sp>
        <p:nvSpPr>
          <p:cNvPr id="19" name="Text 16"/>
          <p:cNvSpPr/>
          <p:nvPr/>
        </p:nvSpPr>
        <p:spPr>
          <a:xfrm>
            <a:off x="4556112" y="5005983"/>
            <a:ext cx="3079737" cy="348615"/>
          </a:xfrm>
          <a:prstGeom prst="rect">
            <a:avLst/>
          </a:prstGeom>
          <a:noFill/>
        </p:spPr>
        <p:txBody>
          <a:bodyPr wrap="square" lIns="0" tIns="0" rIns="0" bIns="0" rtlCol="0" anchor="t">
            <a:spAutoFit/>
          </a:bodyPr>
          <a:lstStyle/>
          <a:p>
            <a:pPr marL="0" indent="0" algn="ctr">
              <a:buNone/>
            </a:pPr>
            <a:r>
              <a:rPr lang="en-US" sz="2265" kern="0" spc="4" dirty="0">
                <a:solidFill>
                  <a:srgbClr val="00FF9C"/>
                </a:solidFill>
                <a:latin typeface="JetBrains Mono" pitchFamily="34" charset="0"/>
                <a:ea typeface="JetBrains Mono" pitchFamily="34" charset="-122"/>
                <a:cs typeface="JetBrains Mono" pitchFamily="34" charset="-120"/>
              </a:rPr>
              <a:t>r-x</a:t>
            </a:r>
            <a:endParaRPr lang="en-US" sz="2265" dirty="0"/>
          </a:p>
        </p:txBody>
      </p:sp>
      <p:sp>
        <p:nvSpPr>
          <p:cNvPr id="20" name="Text 17"/>
          <p:cNvSpPr/>
          <p:nvPr/>
        </p:nvSpPr>
        <p:spPr>
          <a:xfrm>
            <a:off x="4556112" y="5551289"/>
            <a:ext cx="3079737" cy="174625"/>
          </a:xfrm>
          <a:prstGeom prst="rect">
            <a:avLst/>
          </a:prstGeom>
          <a:noFill/>
        </p:spPr>
        <p:txBody>
          <a:bodyPr wrap="square" lIns="0" tIns="0" rIns="0" bIns="0" rtlCol="0" anchor="t">
            <a:spAutoFit/>
          </a:bodyPr>
          <a:lstStyle/>
          <a:p>
            <a:pPr marL="0" indent="0" algn="ctr">
              <a:buNone/>
            </a:pPr>
            <a:r>
              <a:rPr lang="en-US" sz="1135" dirty="0">
                <a:solidFill>
                  <a:srgbClr val="8B949E"/>
                </a:solidFill>
                <a:latin typeface="Inter" pitchFamily="34" charset="0"/>
                <a:ea typeface="Inter" pitchFamily="34" charset="-122"/>
                <a:cs typeface="Inter" pitchFamily="34" charset="-120"/>
              </a:rPr>
              <a:t>GROUP</a:t>
            </a:r>
            <a:endParaRPr lang="en-US" sz="1135" dirty="0"/>
          </a:p>
        </p:txBody>
      </p:sp>
      <p:sp>
        <p:nvSpPr>
          <p:cNvPr id="21" name="Shape 18"/>
          <p:cNvSpPr/>
          <p:nvPr/>
        </p:nvSpPr>
        <p:spPr>
          <a:xfrm>
            <a:off x="8064475" y="3422452"/>
            <a:ext cx="3556025" cy="2588419"/>
          </a:xfrm>
          <a:prstGeom prst="rect">
            <a:avLst/>
          </a:prstGeom>
          <a:solidFill>
            <a:srgbClr val="161B22"/>
          </a:solidFill>
        </p:spPr>
      </p:sp>
      <p:sp>
        <p:nvSpPr>
          <p:cNvPr id="22" name="Shape 19"/>
          <p:cNvSpPr/>
          <p:nvPr/>
        </p:nvSpPr>
        <p:spPr>
          <a:xfrm>
            <a:off x="8064475" y="3422452"/>
            <a:ext cx="3556025" cy="38100"/>
          </a:xfrm>
          <a:prstGeom prst="rect">
            <a:avLst/>
          </a:prstGeom>
          <a:solidFill>
            <a:srgbClr val="58A6FF"/>
          </a:solidFill>
        </p:spPr>
      </p:sp>
      <p:sp>
        <p:nvSpPr>
          <p:cNvPr id="23" name="Text 20"/>
          <p:cNvSpPr/>
          <p:nvPr/>
        </p:nvSpPr>
        <p:spPr>
          <a:xfrm>
            <a:off x="8302600" y="3660576"/>
            <a:ext cx="3079775" cy="717550"/>
          </a:xfrm>
          <a:prstGeom prst="rect">
            <a:avLst/>
          </a:prstGeom>
          <a:noFill/>
        </p:spPr>
        <p:txBody>
          <a:bodyPr wrap="square" lIns="0" tIns="0" rIns="0" bIns="0" rtlCol="0" anchor="t">
            <a:spAutoFit/>
          </a:bodyPr>
          <a:lstStyle/>
          <a:p>
            <a:pPr marL="0" indent="0" algn="ctr">
              <a:buNone/>
            </a:pPr>
            <a:r>
              <a:rPr lang="en-US" sz="4665" dirty="0">
                <a:solidFill>
                  <a:srgbClr val="58A6FF"/>
                </a:solidFill>
                <a:latin typeface="JetBrains Mono" pitchFamily="34" charset="0"/>
                <a:ea typeface="JetBrains Mono" pitchFamily="34" charset="-122"/>
                <a:cs typeface="JetBrains Mono" pitchFamily="34" charset="-120"/>
              </a:rPr>
              <a:t>5</a:t>
            </a:r>
            <a:endParaRPr lang="en-US" sz="4665" dirty="0"/>
          </a:p>
        </p:txBody>
      </p:sp>
      <p:sp>
        <p:nvSpPr>
          <p:cNvPr id="24" name="Text 21"/>
          <p:cNvSpPr/>
          <p:nvPr/>
        </p:nvSpPr>
        <p:spPr>
          <a:xfrm>
            <a:off x="8302600" y="4560689"/>
            <a:ext cx="3079775" cy="255905"/>
          </a:xfrm>
          <a:prstGeom prst="rect">
            <a:avLst/>
          </a:prstGeom>
          <a:noFill/>
        </p:spPr>
        <p:txBody>
          <a:bodyPr wrap="square" lIns="0" tIns="0" rIns="0" bIns="0" rtlCol="0" anchor="t">
            <a:spAutoFit/>
          </a:bodyPr>
          <a:lstStyle/>
          <a:p>
            <a:pPr marL="0" indent="0" algn="ctr">
              <a:buNone/>
            </a:pPr>
            <a:r>
              <a:rPr lang="en-US" sz="1665" dirty="0">
                <a:solidFill>
                  <a:srgbClr val="8B949E"/>
                </a:solidFill>
                <a:latin typeface="JetBrains Mono" pitchFamily="34" charset="0"/>
                <a:ea typeface="JetBrains Mono" pitchFamily="34" charset="-122"/>
                <a:cs typeface="JetBrains Mono" pitchFamily="34" charset="-120"/>
              </a:rPr>
              <a:t>101</a:t>
            </a:r>
            <a:endParaRPr lang="en-US" sz="1665" dirty="0"/>
          </a:p>
        </p:txBody>
      </p:sp>
      <p:sp>
        <p:nvSpPr>
          <p:cNvPr id="25" name="Text 22"/>
          <p:cNvSpPr/>
          <p:nvPr/>
        </p:nvSpPr>
        <p:spPr>
          <a:xfrm>
            <a:off x="8302600" y="5005983"/>
            <a:ext cx="3079775" cy="348615"/>
          </a:xfrm>
          <a:prstGeom prst="rect">
            <a:avLst/>
          </a:prstGeom>
          <a:noFill/>
        </p:spPr>
        <p:txBody>
          <a:bodyPr wrap="square" lIns="0" tIns="0" rIns="0" bIns="0" rtlCol="0" anchor="t">
            <a:spAutoFit/>
          </a:bodyPr>
          <a:lstStyle/>
          <a:p>
            <a:pPr marL="0" indent="0" algn="ctr">
              <a:buNone/>
            </a:pPr>
            <a:r>
              <a:rPr lang="en-US" sz="2265" kern="0" spc="4" dirty="0">
                <a:solidFill>
                  <a:srgbClr val="00FF9C"/>
                </a:solidFill>
                <a:latin typeface="JetBrains Mono" pitchFamily="34" charset="0"/>
                <a:ea typeface="JetBrains Mono" pitchFamily="34" charset="-122"/>
                <a:cs typeface="JetBrains Mono" pitchFamily="34" charset="-120"/>
              </a:rPr>
              <a:t>r-x</a:t>
            </a:r>
            <a:endParaRPr lang="en-US" sz="2265" dirty="0"/>
          </a:p>
        </p:txBody>
      </p:sp>
      <p:sp>
        <p:nvSpPr>
          <p:cNvPr id="26" name="Text 23"/>
          <p:cNvSpPr/>
          <p:nvPr/>
        </p:nvSpPr>
        <p:spPr>
          <a:xfrm>
            <a:off x="8302600" y="5551289"/>
            <a:ext cx="3079775" cy="174625"/>
          </a:xfrm>
          <a:prstGeom prst="rect">
            <a:avLst/>
          </a:prstGeom>
          <a:noFill/>
        </p:spPr>
        <p:txBody>
          <a:bodyPr wrap="square" lIns="0" tIns="0" rIns="0" bIns="0" rtlCol="0" anchor="t">
            <a:spAutoFit/>
          </a:bodyPr>
          <a:lstStyle/>
          <a:p>
            <a:pPr marL="0" indent="0" algn="ctr">
              <a:buNone/>
            </a:pPr>
            <a:r>
              <a:rPr lang="en-US" sz="1135" dirty="0">
                <a:solidFill>
                  <a:srgbClr val="8B949E"/>
                </a:solidFill>
                <a:latin typeface="Inter" pitchFamily="34" charset="0"/>
                <a:ea typeface="Inter" pitchFamily="34" charset="-122"/>
                <a:cs typeface="Inter" pitchFamily="34" charset="-120"/>
              </a:rPr>
              <a:t>OTHERS</a:t>
            </a:r>
            <a:endParaRPr lang="en-US" sz="1135" dirty="0"/>
          </a:p>
        </p:txBody>
      </p:sp>
      <p:sp>
        <p:nvSpPr>
          <p:cNvPr id="27" name="Text 24"/>
          <p:cNvSpPr/>
          <p:nvPr/>
        </p:nvSpPr>
        <p:spPr>
          <a:xfrm>
            <a:off x="571500" y="6048971"/>
            <a:ext cx="11049000" cy="551180"/>
          </a:xfrm>
          <a:prstGeom prst="rect">
            <a:avLst/>
          </a:prstGeom>
          <a:noFill/>
        </p:spPr>
        <p:txBody>
          <a:bodyPr wrap="square" lIns="0" tIns="0" rIns="0" bIns="0" rtlCol="0" anchor="t">
            <a:spAutoFit/>
          </a:bodyPr>
          <a:lstStyle/>
          <a:p>
            <a:pPr marL="0" indent="0" algn="l">
              <a:lnSpc>
                <a:spcPct val="128000"/>
              </a:lnSpc>
              <a:buNone/>
            </a:pPr>
            <a:r>
              <a:rPr lang="en-US" sz="1400" dirty="0">
                <a:solidFill>
                  <a:srgbClr val="8B949E"/>
                </a:solidFill>
                <a:latin typeface="Inter" pitchFamily="34" charset="0"/>
                <a:ea typeface="Inter" pitchFamily="34" charset="-122"/>
                <a:cs typeface="Inter" pitchFamily="34" charset="-120"/>
              </a:rPr>
              <a:t>Octal (Base 8) uses digits 0-7. In Linux, each digit represents a set of 3 bits (Read, Write, Execute). </a:t>
            </a:r>
            <a:r>
              <a:rPr lang="en-US" sz="1335" b="1" dirty="0">
                <a:solidFill>
                  <a:srgbClr val="8B949E"/>
                </a:solidFill>
                <a:latin typeface="Inter" pitchFamily="34" charset="0"/>
                <a:ea typeface="Inter" pitchFamily="34" charset="-122"/>
                <a:cs typeface="Inter" pitchFamily="34" charset="-120"/>
              </a:rPr>
              <a:t>7 (111)</a:t>
            </a:r>
            <a:r>
              <a:rPr lang="en-US" sz="1400" dirty="0">
                <a:solidFill>
                  <a:srgbClr val="8B949E"/>
                </a:solidFill>
                <a:latin typeface="Inter" pitchFamily="34" charset="0"/>
                <a:ea typeface="Inter" pitchFamily="34" charset="-122"/>
                <a:cs typeface="Inter" pitchFamily="34" charset="-120"/>
              </a:rPr>
              <a:t> means all permissions are ON, while </a:t>
            </a:r>
            <a:r>
              <a:rPr lang="en-US" sz="1335" b="1" dirty="0">
                <a:solidFill>
                  <a:srgbClr val="8B949E"/>
                </a:solidFill>
                <a:latin typeface="Inter" pitchFamily="34" charset="0"/>
                <a:ea typeface="Inter" pitchFamily="34" charset="-122"/>
                <a:cs typeface="Inter" pitchFamily="34" charset="-120"/>
              </a:rPr>
              <a:t>5 (101)</a:t>
            </a:r>
            <a:r>
              <a:rPr lang="en-US" sz="1400" dirty="0">
                <a:solidFill>
                  <a:srgbClr val="8B949E"/>
                </a:solidFill>
                <a:latin typeface="Inter" pitchFamily="34" charset="0"/>
                <a:ea typeface="Inter" pitchFamily="34" charset="-122"/>
                <a:cs typeface="Inter" pitchFamily="34" charset="-120"/>
              </a:rPr>
              <a:t> means Read and Execute are ON, but Write is OFF.</a:t>
            </a:r>
            <a:endParaRPr lang="en-US" sz="1400" dirty="0"/>
          </a:p>
        </p:txBody>
      </p:sp>
      <p:grpSp>
        <p:nvGrpSpPr>
          <p:cNvPr id="28" name="Group 2"/>
          <p:cNvGrpSpPr/>
          <p:nvPr/>
        </p:nvGrpSpPr>
        <p:grpSpPr>
          <a:xfrm rot="0">
            <a:off x="294640" y="194310"/>
            <a:ext cx="789305" cy="299720"/>
            <a:chOff x="0" y="0"/>
            <a:chExt cx="341337" cy="102463"/>
          </a:xfrm>
        </p:grpSpPr>
        <p:sp>
          <p:nvSpPr>
            <p:cNvPr id="29"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30"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31" name="Group 5"/>
          <p:cNvGrpSpPr/>
          <p:nvPr/>
        </p:nvGrpSpPr>
        <p:grpSpPr>
          <a:xfrm rot="0">
            <a:off x="822325" y="209550"/>
            <a:ext cx="220980" cy="246380"/>
            <a:chOff x="0" y="0"/>
            <a:chExt cx="812800" cy="812800"/>
          </a:xfrm>
        </p:grpSpPr>
        <p:sp>
          <p:nvSpPr>
            <p:cNvPr id="32"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3"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34"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59892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54177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7015385"/>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00FF9C"/>
                </a:solidFill>
                <a:latin typeface="Poppins Bold" pitchFamily="34" charset="0"/>
                <a:ea typeface="Poppins Bold" pitchFamily="34" charset="-122"/>
                <a:cs typeface="Poppins Bold" pitchFamily="34" charset="-120"/>
              </a:rPr>
              <a:t>ASCII: HOW TEXT BECOMES NUMBERS</a:t>
            </a:r>
            <a:endParaRPr lang="en-US" sz="3265" dirty="0"/>
          </a:p>
        </p:txBody>
      </p:sp>
      <p:sp>
        <p:nvSpPr>
          <p:cNvPr id="4" name="Text 1"/>
          <p:cNvSpPr/>
          <p:nvPr/>
        </p:nvSpPr>
        <p:spPr>
          <a:xfrm>
            <a:off x="571500" y="2079427"/>
            <a:ext cx="3810000" cy="909320"/>
          </a:xfrm>
          <a:prstGeom prst="rect">
            <a:avLst/>
          </a:prstGeom>
          <a:noFill/>
        </p:spPr>
        <p:txBody>
          <a:bodyPr wrap="square" lIns="0" tIns="0" rIns="0" bIns="0" rtlCol="0" anchor="t">
            <a:spAutoFit/>
          </a:bodyPr>
          <a:lstStyle/>
          <a:p>
            <a:pPr marL="0" indent="0" algn="l">
              <a:lnSpc>
                <a:spcPct val="128000"/>
              </a:lnSpc>
              <a:buNone/>
            </a:pPr>
            <a:r>
              <a:rPr lang="en-US" sz="1535" dirty="0">
                <a:solidFill>
                  <a:srgbClr val="E6EDF3"/>
                </a:solidFill>
                <a:latin typeface="Inter" pitchFamily="34" charset="0"/>
                <a:ea typeface="Inter" pitchFamily="34" charset="-122"/>
                <a:cs typeface="Inter" pitchFamily="34" charset="-120"/>
              </a:rPr>
              <a:t>Computers don't store letters; they store numbers mapped to a character set called </a:t>
            </a:r>
            <a:r>
              <a:rPr lang="en-US" sz="1465" b="1" dirty="0">
                <a:solidFill>
                  <a:srgbClr val="E6EDF3"/>
                </a:solidFill>
                <a:latin typeface="Inter" pitchFamily="34" charset="0"/>
                <a:ea typeface="Inter" pitchFamily="34" charset="-122"/>
                <a:cs typeface="Inter" pitchFamily="34" charset="-120"/>
              </a:rPr>
              <a:t>ASCII</a:t>
            </a:r>
            <a:r>
              <a:rPr lang="en-US" sz="1535" dirty="0">
                <a:solidFill>
                  <a:srgbClr val="E6EDF3"/>
                </a:solidFill>
                <a:latin typeface="Inter" pitchFamily="34" charset="0"/>
                <a:ea typeface="Inter" pitchFamily="34" charset="-122"/>
                <a:cs typeface="Inter" pitchFamily="34" charset="-120"/>
              </a:rPr>
              <a:t>.</a:t>
            </a:r>
            <a:endParaRPr lang="en-US" sz="1535" dirty="0"/>
          </a:p>
        </p:txBody>
      </p:sp>
      <p:sp>
        <p:nvSpPr>
          <p:cNvPr id="5" name="Text 2"/>
          <p:cNvSpPr/>
          <p:nvPr/>
        </p:nvSpPr>
        <p:spPr>
          <a:xfrm>
            <a:off x="571500" y="3294795"/>
            <a:ext cx="3810000" cy="606425"/>
          </a:xfrm>
          <a:prstGeom prst="rect">
            <a:avLst/>
          </a:prstGeom>
          <a:noFill/>
        </p:spPr>
        <p:txBody>
          <a:bodyPr wrap="square" lIns="0" tIns="0" rIns="0" bIns="0" rtlCol="0" anchor="t">
            <a:spAutoFit/>
          </a:bodyPr>
          <a:lstStyle/>
          <a:p>
            <a:pPr marL="0" indent="0" algn="l">
              <a:lnSpc>
                <a:spcPct val="128000"/>
              </a:lnSpc>
              <a:buNone/>
            </a:pPr>
            <a:r>
              <a:rPr lang="en-US" sz="1535" dirty="0">
                <a:solidFill>
                  <a:srgbClr val="E6EDF3"/>
                </a:solidFill>
                <a:latin typeface="Inter" pitchFamily="34" charset="0"/>
                <a:ea typeface="Inter" pitchFamily="34" charset="-122"/>
                <a:cs typeface="Inter" pitchFamily="34" charset="-120"/>
              </a:rPr>
              <a:t>Every character you've ever typed is secretly a decimal value between 0 and 127.</a:t>
            </a:r>
            <a:endParaRPr lang="en-US" sz="1535" dirty="0"/>
          </a:p>
        </p:txBody>
      </p:sp>
      <p:sp>
        <p:nvSpPr>
          <p:cNvPr id="6" name="Shape 3"/>
          <p:cNvSpPr/>
          <p:nvPr/>
        </p:nvSpPr>
        <p:spPr>
          <a:xfrm>
            <a:off x="571500" y="4586361"/>
            <a:ext cx="3810000" cy="2429024"/>
          </a:xfrm>
          <a:prstGeom prst="rect">
            <a:avLst/>
          </a:prstGeom>
          <a:solidFill>
            <a:srgbClr val="E3B341">
              <a:alpha val="10000"/>
            </a:srgbClr>
          </a:solidFill>
        </p:spPr>
      </p:sp>
      <p:sp>
        <p:nvSpPr>
          <p:cNvPr id="7" name="Shape 4"/>
          <p:cNvSpPr/>
          <p:nvPr/>
        </p:nvSpPr>
        <p:spPr>
          <a:xfrm>
            <a:off x="571500" y="4586361"/>
            <a:ext cx="38100" cy="2429024"/>
          </a:xfrm>
          <a:prstGeom prst="rect">
            <a:avLst/>
          </a:prstGeom>
          <a:solidFill>
            <a:srgbClr val="E3B341"/>
          </a:solidFill>
        </p:spPr>
      </p:sp>
      <p:pic>
        <p:nvPicPr>
          <p:cNvPr id="8" name="Image 1" descr="preencoded.png"/>
          <p:cNvPicPr>
            <a:picLocks noChangeAspect="1"/>
          </p:cNvPicPr>
          <p:nvPr/>
        </p:nvPicPr>
        <p:blipFill>
          <a:blip r:embed="rId2"/>
          <a:stretch>
            <a:fillRect/>
          </a:stretch>
        </p:blipFill>
        <p:spPr>
          <a:xfrm>
            <a:off x="762000" y="5012867"/>
            <a:ext cx="114300" cy="152400"/>
          </a:xfrm>
          <a:prstGeom prst="rect">
            <a:avLst/>
          </a:prstGeom>
        </p:spPr>
      </p:pic>
      <p:sp>
        <p:nvSpPr>
          <p:cNvPr id="9" name="Text 5"/>
          <p:cNvSpPr/>
          <p:nvPr/>
        </p:nvSpPr>
        <p:spPr>
          <a:xfrm>
            <a:off x="876300" y="4986672"/>
            <a:ext cx="826135" cy="163830"/>
          </a:xfrm>
          <a:prstGeom prst="rect">
            <a:avLst/>
          </a:prstGeom>
          <a:noFill/>
        </p:spPr>
        <p:txBody>
          <a:bodyPr wrap="none" lIns="0" tIns="0" rIns="0" bIns="0" rtlCol="0" anchor="t">
            <a:spAutoFit/>
          </a:bodyPr>
          <a:lstStyle/>
          <a:p>
            <a:pPr marL="0" indent="0" algn="l">
              <a:buNone/>
            </a:pPr>
            <a:r>
              <a:rPr lang="en-US" sz="1065" b="1" dirty="0">
                <a:solidFill>
                  <a:srgbClr val="E3B341"/>
                </a:solidFill>
                <a:latin typeface="Poppins Bold" pitchFamily="34" charset="0"/>
                <a:ea typeface="Poppins Bold" pitchFamily="34" charset="-122"/>
                <a:cs typeface="Poppins Bold" pitchFamily="34" charset="-120"/>
              </a:rPr>
              <a:t>Memory Trick</a:t>
            </a:r>
            <a:endParaRPr lang="en-US" sz="1065" dirty="0"/>
          </a:p>
        </p:txBody>
      </p:sp>
      <p:sp>
        <p:nvSpPr>
          <p:cNvPr id="10" name="Text 6"/>
          <p:cNvSpPr/>
          <p:nvPr/>
        </p:nvSpPr>
        <p:spPr>
          <a:xfrm>
            <a:off x="762000" y="5377197"/>
            <a:ext cx="3429000" cy="74993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E6EDF3"/>
                </a:solidFill>
                <a:latin typeface="JetBrains Mono" pitchFamily="34" charset="0"/>
                <a:ea typeface="JetBrains Mono" pitchFamily="34" charset="-122"/>
                <a:cs typeface="JetBrains Mono" pitchFamily="34" charset="-120"/>
              </a:rPr>
              <a:t>A = 65
a = 97
Difference = 32 (Space)</a:t>
            </a:r>
            <a:endParaRPr lang="en-US" sz="1265" dirty="0"/>
          </a:p>
        </p:txBody>
      </p:sp>
      <p:sp>
        <p:nvSpPr>
          <p:cNvPr id="11" name="Text 7"/>
          <p:cNvSpPr/>
          <p:nvPr/>
        </p:nvSpPr>
        <p:spPr>
          <a:xfrm>
            <a:off x="762000" y="6390568"/>
            <a:ext cx="1809750" cy="224155"/>
          </a:xfrm>
          <a:prstGeom prst="rect">
            <a:avLst/>
          </a:prstGeom>
          <a:noFill/>
        </p:spPr>
        <p:txBody>
          <a:bodyPr wrap="none" lIns="0" tIns="0" rIns="0" bIns="0" rtlCol="0" anchor="t">
            <a:spAutoFit/>
          </a:bodyPr>
          <a:lstStyle/>
          <a:p>
            <a:pPr marL="0" indent="0" algn="l">
              <a:lnSpc>
                <a:spcPct val="128000"/>
              </a:lnSpc>
              <a:buNone/>
            </a:pPr>
            <a:r>
              <a:rPr lang="en-US" sz="1135" dirty="0">
                <a:solidFill>
                  <a:srgbClr val="8B949E"/>
                </a:solidFill>
                <a:latin typeface="Inter" pitchFamily="34" charset="0"/>
                <a:ea typeface="Inter" pitchFamily="34" charset="-122"/>
                <a:cs typeface="Inter" pitchFamily="34" charset="-120"/>
              </a:rPr>
              <a:t>Uppercase + 32 = Lowercase</a:t>
            </a:r>
            <a:endParaRPr lang="en-US" sz="1135" dirty="0"/>
          </a:p>
        </p:txBody>
      </p:sp>
      <p:sp>
        <p:nvSpPr>
          <p:cNvPr id="12" name="Shape 8"/>
          <p:cNvSpPr/>
          <p:nvPr/>
        </p:nvSpPr>
        <p:spPr>
          <a:xfrm>
            <a:off x="4552951" y="1869876"/>
            <a:ext cx="7067551" cy="5145509"/>
          </a:xfrm>
          <a:prstGeom prst="rect">
            <a:avLst/>
          </a:prstGeom>
          <a:solidFill>
            <a:srgbClr val="161B22"/>
          </a:solidFill>
          <a:ln w="9144">
            <a:solidFill>
              <a:srgbClr val="30363D"/>
            </a:solidFill>
            <a:prstDash val="solid"/>
          </a:ln>
        </p:spPr>
      </p:sp>
      <p:sp>
        <p:nvSpPr>
          <p:cNvPr id="13" name="Text 9"/>
          <p:cNvSpPr/>
          <p:nvPr/>
        </p:nvSpPr>
        <p:spPr>
          <a:xfrm>
            <a:off x="4762500" y="2068393"/>
            <a:ext cx="1784337" cy="410210"/>
          </a:xfrm>
          <a:prstGeom prst="rect">
            <a:avLst/>
          </a:prstGeom>
          <a:noFill/>
        </p:spPr>
        <p:txBody>
          <a:bodyPr wrap="square" lIns="113453" tIns="113453" rIns="113453" bIns="113453" rtlCol="0" anchor="ctr">
            <a:spAutoFit/>
          </a:bodyPr>
          <a:lstStyle/>
          <a:p>
            <a:pPr marL="0" indent="0" algn="l">
              <a:buNone/>
            </a:pPr>
            <a:r>
              <a:rPr lang="en-US" sz="1200" b="1" dirty="0">
                <a:solidFill>
                  <a:srgbClr val="58A6FF"/>
                </a:solidFill>
                <a:latin typeface="JetBrains Mono" pitchFamily="34" charset="0"/>
                <a:ea typeface="JetBrains Mono" pitchFamily="34" charset="-122"/>
                <a:cs typeface="JetBrains Mono" pitchFamily="34" charset="-120"/>
              </a:rPr>
              <a:t>Range</a:t>
            </a:r>
            <a:endParaRPr lang="en-US" sz="1200" dirty="0"/>
          </a:p>
        </p:txBody>
      </p:sp>
      <p:sp>
        <p:nvSpPr>
          <p:cNvPr id="14" name="Text 10"/>
          <p:cNvSpPr/>
          <p:nvPr/>
        </p:nvSpPr>
        <p:spPr>
          <a:xfrm>
            <a:off x="6546837" y="2068393"/>
            <a:ext cx="2277256" cy="410210"/>
          </a:xfrm>
          <a:prstGeom prst="rect">
            <a:avLst/>
          </a:prstGeom>
          <a:noFill/>
        </p:spPr>
        <p:txBody>
          <a:bodyPr wrap="square" lIns="113453" tIns="113453" rIns="113453" bIns="113453" rtlCol="0" anchor="ctr">
            <a:spAutoFit/>
          </a:bodyPr>
          <a:lstStyle/>
          <a:p>
            <a:pPr marL="0" indent="0" algn="l">
              <a:buNone/>
            </a:pPr>
            <a:r>
              <a:rPr lang="en-US" sz="1200" b="1" dirty="0">
                <a:solidFill>
                  <a:srgbClr val="58A6FF"/>
                </a:solidFill>
                <a:latin typeface="JetBrains Mono" pitchFamily="34" charset="0"/>
                <a:ea typeface="JetBrains Mono" pitchFamily="34" charset="-122"/>
                <a:cs typeface="JetBrains Mono" pitchFamily="34" charset="-120"/>
              </a:rPr>
              <a:t>Characters</a:t>
            </a:r>
            <a:endParaRPr lang="en-US" sz="1200" dirty="0"/>
          </a:p>
        </p:txBody>
      </p:sp>
      <p:sp>
        <p:nvSpPr>
          <p:cNvPr id="15" name="Text 11"/>
          <p:cNvSpPr/>
          <p:nvPr/>
        </p:nvSpPr>
        <p:spPr>
          <a:xfrm>
            <a:off x="8824093" y="2068393"/>
            <a:ext cx="2605907" cy="410210"/>
          </a:xfrm>
          <a:prstGeom prst="rect">
            <a:avLst/>
          </a:prstGeom>
          <a:noFill/>
        </p:spPr>
        <p:txBody>
          <a:bodyPr wrap="square" lIns="113453" tIns="113453" rIns="113453" bIns="113453" rtlCol="0" anchor="ctr">
            <a:spAutoFit/>
          </a:bodyPr>
          <a:lstStyle/>
          <a:p>
            <a:pPr marL="0" indent="0" algn="l">
              <a:buNone/>
            </a:pPr>
            <a:r>
              <a:rPr lang="en-US" sz="1200" b="1" dirty="0">
                <a:solidFill>
                  <a:srgbClr val="58A6FF"/>
                </a:solidFill>
                <a:latin typeface="JetBrains Mono" pitchFamily="34" charset="0"/>
                <a:ea typeface="JetBrains Mono" pitchFamily="34" charset="-122"/>
                <a:cs typeface="JetBrains Mono" pitchFamily="34" charset="-120"/>
              </a:rPr>
              <a:t>Decimal Values</a:t>
            </a:r>
            <a:endParaRPr lang="en-US" sz="1200" dirty="0"/>
          </a:p>
        </p:txBody>
      </p:sp>
      <p:sp>
        <p:nvSpPr>
          <p:cNvPr id="16" name="Text 12"/>
          <p:cNvSpPr/>
          <p:nvPr/>
        </p:nvSpPr>
        <p:spPr>
          <a:xfrm>
            <a:off x="4762500" y="2495748"/>
            <a:ext cx="1784337" cy="374650"/>
          </a:xfrm>
          <a:prstGeom prst="rect">
            <a:avLst/>
          </a:prstGeom>
          <a:noFill/>
        </p:spPr>
        <p:txBody>
          <a:bodyPr wrap="square" lIns="113453" tIns="90762" rIns="113453" bIns="90762" rtlCol="0" anchor="ctr">
            <a:spAutoFit/>
          </a:bodyPr>
          <a:lstStyle/>
          <a:p>
            <a:pPr marL="0" indent="0" algn="l">
              <a:buNone/>
            </a:pPr>
            <a:r>
              <a:rPr lang="en-US" sz="1265" dirty="0">
                <a:solidFill>
                  <a:srgbClr val="58A6FF"/>
                </a:solidFill>
                <a:latin typeface="JetBrains Mono" pitchFamily="34" charset="0"/>
                <a:ea typeface="JetBrains Mono" pitchFamily="34" charset="-122"/>
                <a:cs typeface="JetBrains Mono" pitchFamily="34" charset="-120"/>
              </a:rPr>
              <a:t>Uppercase</a:t>
            </a:r>
            <a:endParaRPr lang="en-US" sz="1265" dirty="0"/>
          </a:p>
        </p:txBody>
      </p:sp>
      <p:sp>
        <p:nvSpPr>
          <p:cNvPr id="17" name="Text 13"/>
          <p:cNvSpPr/>
          <p:nvPr/>
        </p:nvSpPr>
        <p:spPr>
          <a:xfrm>
            <a:off x="6546837" y="2495748"/>
            <a:ext cx="2277256" cy="374650"/>
          </a:xfrm>
          <a:prstGeom prst="rect">
            <a:avLst/>
          </a:prstGeom>
          <a:noFill/>
        </p:spPr>
        <p:txBody>
          <a:bodyPr wrap="square" lIns="113453" tIns="90762" rIns="113453"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A - Z</a:t>
            </a:r>
            <a:endParaRPr lang="en-US" sz="1265" dirty="0"/>
          </a:p>
        </p:txBody>
      </p:sp>
      <p:sp>
        <p:nvSpPr>
          <p:cNvPr id="18" name="Text 14"/>
          <p:cNvSpPr/>
          <p:nvPr/>
        </p:nvSpPr>
        <p:spPr>
          <a:xfrm>
            <a:off x="8824093" y="2495748"/>
            <a:ext cx="2605907" cy="374650"/>
          </a:xfrm>
          <a:prstGeom prst="rect">
            <a:avLst/>
          </a:prstGeom>
          <a:noFill/>
        </p:spPr>
        <p:txBody>
          <a:bodyPr wrap="square" lIns="113453" tIns="90762" rIns="113453"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65 - 90</a:t>
            </a:r>
            <a:endParaRPr lang="en-US" sz="1265" dirty="0"/>
          </a:p>
        </p:txBody>
      </p:sp>
      <p:sp>
        <p:nvSpPr>
          <p:cNvPr id="19" name="Text 15"/>
          <p:cNvSpPr/>
          <p:nvPr/>
        </p:nvSpPr>
        <p:spPr>
          <a:xfrm>
            <a:off x="4762500" y="2886274"/>
            <a:ext cx="1784337" cy="374650"/>
          </a:xfrm>
          <a:prstGeom prst="rect">
            <a:avLst/>
          </a:prstGeom>
          <a:noFill/>
        </p:spPr>
        <p:txBody>
          <a:bodyPr wrap="square" lIns="113453" tIns="90762" rIns="113453" bIns="90762" rtlCol="0" anchor="ctr">
            <a:spAutoFit/>
          </a:bodyPr>
          <a:lstStyle/>
          <a:p>
            <a:pPr marL="0" indent="0" algn="l">
              <a:buNone/>
            </a:pPr>
            <a:r>
              <a:rPr lang="en-US" sz="1265" dirty="0">
                <a:solidFill>
                  <a:srgbClr val="58A6FF"/>
                </a:solidFill>
                <a:latin typeface="JetBrains Mono" pitchFamily="34" charset="0"/>
                <a:ea typeface="JetBrains Mono" pitchFamily="34" charset="-122"/>
                <a:cs typeface="JetBrains Mono" pitchFamily="34" charset="-120"/>
              </a:rPr>
              <a:t>Lowercase</a:t>
            </a:r>
            <a:endParaRPr lang="en-US" sz="1265" dirty="0"/>
          </a:p>
        </p:txBody>
      </p:sp>
      <p:sp>
        <p:nvSpPr>
          <p:cNvPr id="20" name="Text 16"/>
          <p:cNvSpPr/>
          <p:nvPr/>
        </p:nvSpPr>
        <p:spPr>
          <a:xfrm>
            <a:off x="6546837" y="2886274"/>
            <a:ext cx="2277256" cy="374650"/>
          </a:xfrm>
          <a:prstGeom prst="rect">
            <a:avLst/>
          </a:prstGeom>
          <a:noFill/>
        </p:spPr>
        <p:txBody>
          <a:bodyPr wrap="square" lIns="113453" tIns="90762" rIns="113453"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a - z</a:t>
            </a:r>
            <a:endParaRPr lang="en-US" sz="1265" dirty="0"/>
          </a:p>
        </p:txBody>
      </p:sp>
      <p:sp>
        <p:nvSpPr>
          <p:cNvPr id="21" name="Text 17"/>
          <p:cNvSpPr/>
          <p:nvPr/>
        </p:nvSpPr>
        <p:spPr>
          <a:xfrm>
            <a:off x="8824093" y="2886274"/>
            <a:ext cx="2605907" cy="374650"/>
          </a:xfrm>
          <a:prstGeom prst="rect">
            <a:avLst/>
          </a:prstGeom>
          <a:noFill/>
        </p:spPr>
        <p:txBody>
          <a:bodyPr wrap="square" lIns="113453" tIns="90762" rIns="113453"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97 - 122</a:t>
            </a:r>
            <a:endParaRPr lang="en-US" sz="1265" dirty="0"/>
          </a:p>
        </p:txBody>
      </p:sp>
      <p:sp>
        <p:nvSpPr>
          <p:cNvPr id="22" name="Text 18"/>
          <p:cNvSpPr/>
          <p:nvPr/>
        </p:nvSpPr>
        <p:spPr>
          <a:xfrm>
            <a:off x="4762500" y="3274418"/>
            <a:ext cx="1784337" cy="374650"/>
          </a:xfrm>
          <a:prstGeom prst="rect">
            <a:avLst/>
          </a:prstGeom>
          <a:noFill/>
        </p:spPr>
        <p:txBody>
          <a:bodyPr wrap="square" lIns="113453" tIns="90762" rIns="113453" bIns="90762" rtlCol="0" anchor="ctr">
            <a:spAutoFit/>
          </a:bodyPr>
          <a:lstStyle/>
          <a:p>
            <a:pPr marL="0" indent="0" algn="l">
              <a:buNone/>
            </a:pPr>
            <a:r>
              <a:rPr lang="en-US" sz="1265" dirty="0">
                <a:solidFill>
                  <a:srgbClr val="58A6FF"/>
                </a:solidFill>
                <a:latin typeface="JetBrains Mono" pitchFamily="34" charset="0"/>
                <a:ea typeface="JetBrains Mono" pitchFamily="34" charset="-122"/>
                <a:cs typeface="JetBrains Mono" pitchFamily="34" charset="-120"/>
              </a:rPr>
              <a:t>Digits</a:t>
            </a:r>
            <a:endParaRPr lang="en-US" sz="1265" dirty="0"/>
          </a:p>
        </p:txBody>
      </p:sp>
      <p:sp>
        <p:nvSpPr>
          <p:cNvPr id="23" name="Text 19"/>
          <p:cNvSpPr/>
          <p:nvPr/>
        </p:nvSpPr>
        <p:spPr>
          <a:xfrm>
            <a:off x="6546837" y="3274418"/>
            <a:ext cx="2277256" cy="374650"/>
          </a:xfrm>
          <a:prstGeom prst="rect">
            <a:avLst/>
          </a:prstGeom>
          <a:noFill/>
        </p:spPr>
        <p:txBody>
          <a:bodyPr wrap="square" lIns="113453" tIns="90762" rIns="113453"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0 - 9</a:t>
            </a:r>
            <a:endParaRPr lang="en-US" sz="1265" dirty="0"/>
          </a:p>
        </p:txBody>
      </p:sp>
      <p:sp>
        <p:nvSpPr>
          <p:cNvPr id="24" name="Text 20"/>
          <p:cNvSpPr/>
          <p:nvPr/>
        </p:nvSpPr>
        <p:spPr>
          <a:xfrm>
            <a:off x="8824093" y="3274418"/>
            <a:ext cx="2605907" cy="374650"/>
          </a:xfrm>
          <a:prstGeom prst="rect">
            <a:avLst/>
          </a:prstGeom>
          <a:noFill/>
        </p:spPr>
        <p:txBody>
          <a:bodyPr wrap="square" lIns="113453" tIns="90762" rIns="113453"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48 - 57</a:t>
            </a:r>
            <a:endParaRPr lang="en-US" sz="1265" dirty="0"/>
          </a:p>
        </p:txBody>
      </p:sp>
      <p:sp>
        <p:nvSpPr>
          <p:cNvPr id="25" name="Text 21"/>
          <p:cNvSpPr/>
          <p:nvPr/>
        </p:nvSpPr>
        <p:spPr>
          <a:xfrm>
            <a:off x="4762500" y="3662562"/>
            <a:ext cx="1784337" cy="374650"/>
          </a:xfrm>
          <a:prstGeom prst="rect">
            <a:avLst/>
          </a:prstGeom>
          <a:noFill/>
        </p:spPr>
        <p:txBody>
          <a:bodyPr wrap="square" lIns="113453" tIns="90762" rIns="113453" bIns="90762" rtlCol="0" anchor="ctr">
            <a:spAutoFit/>
          </a:bodyPr>
          <a:lstStyle/>
          <a:p>
            <a:pPr marL="0" indent="0" algn="l">
              <a:buNone/>
            </a:pPr>
            <a:r>
              <a:rPr lang="en-US" sz="1265" dirty="0">
                <a:solidFill>
                  <a:srgbClr val="58A6FF"/>
                </a:solidFill>
                <a:latin typeface="JetBrains Mono" pitchFamily="34" charset="0"/>
                <a:ea typeface="JetBrains Mono" pitchFamily="34" charset="-122"/>
                <a:cs typeface="JetBrains Mono" pitchFamily="34" charset="-120"/>
              </a:rPr>
              <a:t>Special</a:t>
            </a:r>
            <a:endParaRPr lang="en-US" sz="1265" dirty="0"/>
          </a:p>
        </p:txBody>
      </p:sp>
      <p:sp>
        <p:nvSpPr>
          <p:cNvPr id="26" name="Text 22"/>
          <p:cNvSpPr/>
          <p:nvPr/>
        </p:nvSpPr>
        <p:spPr>
          <a:xfrm>
            <a:off x="6546837" y="3662562"/>
            <a:ext cx="2277256" cy="374650"/>
          </a:xfrm>
          <a:prstGeom prst="rect">
            <a:avLst/>
          </a:prstGeom>
          <a:noFill/>
        </p:spPr>
        <p:txBody>
          <a:bodyPr wrap="square" lIns="113453" tIns="90762" rIns="113453"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Space</a:t>
            </a:r>
            <a:endParaRPr lang="en-US" sz="1265" dirty="0"/>
          </a:p>
        </p:txBody>
      </p:sp>
      <p:sp>
        <p:nvSpPr>
          <p:cNvPr id="27" name="Text 23"/>
          <p:cNvSpPr/>
          <p:nvPr/>
        </p:nvSpPr>
        <p:spPr>
          <a:xfrm>
            <a:off x="8824093" y="3662562"/>
            <a:ext cx="2605907" cy="374650"/>
          </a:xfrm>
          <a:prstGeom prst="rect">
            <a:avLst/>
          </a:prstGeom>
          <a:noFill/>
        </p:spPr>
        <p:txBody>
          <a:bodyPr wrap="square" lIns="113453" tIns="90762" rIns="113453"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32</a:t>
            </a:r>
            <a:endParaRPr lang="en-US" sz="1265" dirty="0"/>
          </a:p>
        </p:txBody>
      </p:sp>
      <p:sp>
        <p:nvSpPr>
          <p:cNvPr id="28" name="Text 24"/>
          <p:cNvSpPr/>
          <p:nvPr/>
        </p:nvSpPr>
        <p:spPr>
          <a:xfrm>
            <a:off x="4762500" y="4050704"/>
            <a:ext cx="1784337" cy="374650"/>
          </a:xfrm>
          <a:prstGeom prst="rect">
            <a:avLst/>
          </a:prstGeom>
          <a:noFill/>
        </p:spPr>
        <p:txBody>
          <a:bodyPr wrap="square" lIns="113453" tIns="90762" rIns="113453" bIns="90762" rtlCol="0" anchor="ctr">
            <a:spAutoFit/>
          </a:bodyPr>
          <a:lstStyle/>
          <a:p>
            <a:pPr marL="0" indent="0" algn="l">
              <a:buNone/>
            </a:pPr>
            <a:r>
              <a:rPr lang="en-US" sz="1265" dirty="0">
                <a:solidFill>
                  <a:srgbClr val="58A6FF"/>
                </a:solidFill>
                <a:latin typeface="JetBrains Mono" pitchFamily="34" charset="0"/>
                <a:ea typeface="JetBrains Mono" pitchFamily="34" charset="-122"/>
                <a:cs typeface="JetBrains Mono" pitchFamily="34" charset="-120"/>
              </a:rPr>
              <a:t>Special</a:t>
            </a:r>
            <a:endParaRPr lang="en-US" sz="1265" dirty="0"/>
          </a:p>
        </p:txBody>
      </p:sp>
      <p:sp>
        <p:nvSpPr>
          <p:cNvPr id="29" name="Text 25"/>
          <p:cNvSpPr/>
          <p:nvPr/>
        </p:nvSpPr>
        <p:spPr>
          <a:xfrm>
            <a:off x="6546837" y="4050704"/>
            <a:ext cx="2277256" cy="374650"/>
          </a:xfrm>
          <a:prstGeom prst="rect">
            <a:avLst/>
          </a:prstGeom>
          <a:noFill/>
        </p:spPr>
        <p:txBody>
          <a:bodyPr wrap="square" lIns="113453" tIns="90762" rIns="113453"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Newline (\n)</a:t>
            </a:r>
            <a:endParaRPr lang="en-US" sz="1265" dirty="0"/>
          </a:p>
        </p:txBody>
      </p:sp>
      <p:sp>
        <p:nvSpPr>
          <p:cNvPr id="30" name="Text 26"/>
          <p:cNvSpPr/>
          <p:nvPr/>
        </p:nvSpPr>
        <p:spPr>
          <a:xfrm>
            <a:off x="8824093" y="4050704"/>
            <a:ext cx="2605907" cy="374650"/>
          </a:xfrm>
          <a:prstGeom prst="rect">
            <a:avLst/>
          </a:prstGeom>
          <a:noFill/>
        </p:spPr>
        <p:txBody>
          <a:bodyPr wrap="square" lIns="113453" tIns="90762" rIns="113453"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10</a:t>
            </a:r>
            <a:endParaRPr lang="en-US" sz="1265" dirty="0"/>
          </a:p>
        </p:txBody>
      </p:sp>
      <p:sp>
        <p:nvSpPr>
          <p:cNvPr id="31" name="Text 27"/>
          <p:cNvSpPr/>
          <p:nvPr/>
        </p:nvSpPr>
        <p:spPr>
          <a:xfrm>
            <a:off x="4762500" y="4627364"/>
            <a:ext cx="6667500" cy="174625"/>
          </a:xfrm>
          <a:prstGeom prst="rect">
            <a:avLst/>
          </a:prstGeom>
          <a:noFill/>
        </p:spPr>
        <p:txBody>
          <a:bodyPr wrap="square" lIns="0" tIns="0" rIns="0" bIns="0" rtlCol="0" anchor="t">
            <a:spAutoFit/>
          </a:bodyPr>
          <a:lstStyle/>
          <a:p>
            <a:pPr marL="0" indent="0" algn="l">
              <a:buNone/>
            </a:pPr>
            <a:r>
              <a:rPr lang="en-US" sz="1135" dirty="0">
                <a:solidFill>
                  <a:srgbClr val="8B949E"/>
                </a:solidFill>
                <a:latin typeface="JetBrains Mono" pitchFamily="34" charset="0"/>
                <a:ea typeface="JetBrains Mono" pitchFamily="34" charset="-122"/>
                <a:cs typeface="JetBrains Mono" pitchFamily="34" charset="-120"/>
              </a:rPr>
              <a:t>* Standard ASCII uses 7 bits (0-127). Extended ASCII uses 8 bits (0-255).</a:t>
            </a:r>
            <a:endParaRPr lang="en-US" sz="1135" dirty="0"/>
          </a:p>
        </p:txBody>
      </p:sp>
      <p:grpSp>
        <p:nvGrpSpPr>
          <p:cNvPr id="32" name="Group 2"/>
          <p:cNvGrpSpPr/>
          <p:nvPr/>
        </p:nvGrpSpPr>
        <p:grpSpPr>
          <a:xfrm rot="0">
            <a:off x="294640" y="194310"/>
            <a:ext cx="789305" cy="299720"/>
            <a:chOff x="0" y="0"/>
            <a:chExt cx="341337" cy="102463"/>
          </a:xfrm>
        </p:grpSpPr>
        <p:sp>
          <p:nvSpPr>
            <p:cNvPr id="33"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34"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35" name="Group 5"/>
          <p:cNvGrpSpPr/>
          <p:nvPr/>
        </p:nvGrpSpPr>
        <p:grpSpPr>
          <a:xfrm rot="0">
            <a:off x="822325" y="209550"/>
            <a:ext cx="220980" cy="246380"/>
            <a:chOff x="0" y="0"/>
            <a:chExt cx="812800" cy="812800"/>
          </a:xfrm>
        </p:grpSpPr>
        <p:sp>
          <p:nvSpPr>
            <p:cNvPr id="3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7"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38"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00FF9C"/>
                </a:solidFill>
                <a:latin typeface="Poppins Bold" pitchFamily="34" charset="0"/>
                <a:ea typeface="Poppins Bold" pitchFamily="34" charset="-122"/>
                <a:cs typeface="Poppins Bold" pitchFamily="34" charset="-120"/>
              </a:rPr>
              <a:t>ASCII IS YOUR BEST FRIEND IN CTFS</a:t>
            </a:r>
            <a:endParaRPr lang="en-US" sz="3265" dirty="0"/>
          </a:p>
        </p:txBody>
      </p:sp>
      <p:sp>
        <p:nvSpPr>
          <p:cNvPr id="4" name="Shape 1"/>
          <p:cNvSpPr/>
          <p:nvPr/>
        </p:nvSpPr>
        <p:spPr>
          <a:xfrm>
            <a:off x="571500" y="2455367"/>
            <a:ext cx="11049000" cy="683419"/>
          </a:xfrm>
          <a:prstGeom prst="rect">
            <a:avLst/>
          </a:prstGeom>
          <a:solidFill>
            <a:srgbClr val="161B22"/>
          </a:solidFill>
        </p:spPr>
      </p:sp>
      <p:sp>
        <p:nvSpPr>
          <p:cNvPr id="5" name="Shape 2"/>
          <p:cNvSpPr/>
          <p:nvPr/>
        </p:nvSpPr>
        <p:spPr>
          <a:xfrm>
            <a:off x="571500" y="2455367"/>
            <a:ext cx="38100" cy="683419"/>
          </a:xfrm>
          <a:prstGeom prst="rect">
            <a:avLst/>
          </a:prstGeom>
          <a:solidFill>
            <a:srgbClr val="58A6FF"/>
          </a:solidFill>
        </p:spPr>
      </p:sp>
      <p:sp>
        <p:nvSpPr>
          <p:cNvPr id="6" name="Shape 3"/>
          <p:cNvSpPr/>
          <p:nvPr/>
        </p:nvSpPr>
        <p:spPr>
          <a:xfrm>
            <a:off x="571500" y="2477988"/>
            <a:ext cx="2286000" cy="638175"/>
          </a:xfrm>
          <a:prstGeom prst="rect">
            <a:avLst/>
          </a:prstGeom>
          <a:solidFill>
            <a:srgbClr val="58A6FF">
              <a:alpha val="5000"/>
            </a:srgbClr>
          </a:solidFill>
        </p:spPr>
      </p:sp>
      <p:sp>
        <p:nvSpPr>
          <p:cNvPr id="7" name="Text 4"/>
          <p:cNvSpPr/>
          <p:nvPr/>
        </p:nvSpPr>
        <p:spPr>
          <a:xfrm>
            <a:off x="571500" y="2477988"/>
            <a:ext cx="2286000" cy="647700"/>
          </a:xfrm>
          <a:prstGeom prst="rect">
            <a:avLst/>
          </a:prstGeom>
          <a:noFill/>
        </p:spPr>
        <p:txBody>
          <a:bodyPr wrap="square" lIns="226737" tIns="226737" rIns="226737" bIns="226737" rtlCol="0" anchor="t">
            <a:spAutoFit/>
          </a:bodyPr>
          <a:lstStyle/>
          <a:p>
            <a:pPr marL="0" indent="0" algn="l">
              <a:buNone/>
            </a:pPr>
            <a:r>
              <a:rPr lang="en-US" sz="1265" dirty="0">
                <a:solidFill>
                  <a:srgbClr val="58A6FF"/>
                </a:solidFill>
                <a:latin typeface="Poppins Bold" pitchFamily="34" charset="0"/>
                <a:ea typeface="Poppins Bold" pitchFamily="34" charset="-122"/>
                <a:cs typeface="Poppins Bold" pitchFamily="34" charset="-120"/>
              </a:rPr>
              <a:t>DECIMAL LIST</a:t>
            </a:r>
            <a:endParaRPr lang="en-US" sz="1265" dirty="0"/>
          </a:p>
        </p:txBody>
      </p:sp>
      <p:sp>
        <p:nvSpPr>
          <p:cNvPr id="8" name="Text 5"/>
          <p:cNvSpPr/>
          <p:nvPr/>
        </p:nvSpPr>
        <p:spPr>
          <a:xfrm>
            <a:off x="2857500" y="2468463"/>
            <a:ext cx="6629400" cy="689610"/>
          </a:xfrm>
          <a:prstGeom prst="rect">
            <a:avLst/>
          </a:prstGeom>
          <a:noFill/>
        </p:spPr>
        <p:txBody>
          <a:bodyPr wrap="square" lIns="226737" tIns="226737" rIns="226737" bIns="226737" rtlCol="0" anchor="t">
            <a:spAutoFit/>
          </a:bodyPr>
          <a:lstStyle/>
          <a:p>
            <a:pPr marL="0" indent="0" algn="l">
              <a:buNone/>
            </a:pPr>
            <a:r>
              <a:rPr lang="en-US" sz="1535" dirty="0">
                <a:solidFill>
                  <a:srgbClr val="8B949E"/>
                </a:solidFill>
                <a:latin typeface="JetBrains Mono" pitchFamily="34" charset="0"/>
                <a:ea typeface="JetBrains Mono" pitchFamily="34" charset="-122"/>
                <a:cs typeface="JetBrains Mono" pitchFamily="34" charset="-120"/>
              </a:rPr>
              <a:t>[72, 101, 108, 108, 111]</a:t>
            </a:r>
            <a:endParaRPr lang="en-US" sz="1535" dirty="0"/>
          </a:p>
        </p:txBody>
      </p:sp>
      <p:pic>
        <p:nvPicPr>
          <p:cNvPr id="9" name="Image 1" descr="preencoded.png"/>
          <p:cNvPicPr>
            <a:picLocks noChangeAspect="1"/>
          </p:cNvPicPr>
          <p:nvPr/>
        </p:nvPicPr>
        <p:blipFill>
          <a:blip r:embed="rId2"/>
          <a:stretch>
            <a:fillRect/>
          </a:stretch>
        </p:blipFill>
        <p:spPr>
          <a:xfrm>
            <a:off x="9677400" y="2680395"/>
            <a:ext cx="228600" cy="228600"/>
          </a:xfrm>
          <a:prstGeom prst="rect">
            <a:avLst/>
          </a:prstGeom>
        </p:spPr>
      </p:pic>
      <p:sp>
        <p:nvSpPr>
          <p:cNvPr id="10" name="Text 6"/>
          <p:cNvSpPr/>
          <p:nvPr/>
        </p:nvSpPr>
        <p:spPr>
          <a:xfrm>
            <a:off x="10400665" y="2455367"/>
            <a:ext cx="915670" cy="699135"/>
          </a:xfrm>
          <a:prstGeom prst="rect">
            <a:avLst/>
          </a:prstGeom>
          <a:noFill/>
        </p:spPr>
        <p:txBody>
          <a:bodyPr wrap="none" lIns="226737" tIns="226737" rIns="226737" bIns="226737" rtlCol="0" anchor="t">
            <a:spAutoFit/>
          </a:bodyPr>
          <a:lstStyle/>
          <a:p>
            <a:pPr marL="0" indent="0" algn="ctr">
              <a:buNone/>
            </a:pPr>
            <a:r>
              <a:rPr lang="en-US" sz="1600" b="1" dirty="0">
                <a:solidFill>
                  <a:srgbClr val="00FF9C"/>
                </a:solidFill>
                <a:latin typeface="JetBrains Mono" pitchFamily="34" charset="0"/>
                <a:ea typeface="JetBrains Mono" pitchFamily="34" charset="-122"/>
                <a:cs typeface="JetBrains Mono" pitchFamily="34" charset="-120"/>
              </a:rPr>
              <a:t>Hello</a:t>
            </a:r>
            <a:endParaRPr lang="en-US" sz="1600" dirty="0"/>
          </a:p>
        </p:txBody>
      </p:sp>
      <p:sp>
        <p:nvSpPr>
          <p:cNvPr id="11" name="Shape 7"/>
          <p:cNvSpPr/>
          <p:nvPr/>
        </p:nvSpPr>
        <p:spPr>
          <a:xfrm>
            <a:off x="571500" y="3376911"/>
            <a:ext cx="11049000" cy="683419"/>
          </a:xfrm>
          <a:prstGeom prst="rect">
            <a:avLst/>
          </a:prstGeom>
          <a:solidFill>
            <a:srgbClr val="161B22"/>
          </a:solidFill>
        </p:spPr>
      </p:sp>
      <p:sp>
        <p:nvSpPr>
          <p:cNvPr id="12" name="Shape 8"/>
          <p:cNvSpPr/>
          <p:nvPr/>
        </p:nvSpPr>
        <p:spPr>
          <a:xfrm>
            <a:off x="571500" y="3376911"/>
            <a:ext cx="38100" cy="683419"/>
          </a:xfrm>
          <a:prstGeom prst="rect">
            <a:avLst/>
          </a:prstGeom>
          <a:solidFill>
            <a:srgbClr val="58A6FF"/>
          </a:solidFill>
        </p:spPr>
      </p:sp>
      <p:sp>
        <p:nvSpPr>
          <p:cNvPr id="13" name="Shape 9"/>
          <p:cNvSpPr/>
          <p:nvPr/>
        </p:nvSpPr>
        <p:spPr>
          <a:xfrm>
            <a:off x="571500" y="3399532"/>
            <a:ext cx="2286000" cy="638175"/>
          </a:xfrm>
          <a:prstGeom prst="rect">
            <a:avLst/>
          </a:prstGeom>
          <a:solidFill>
            <a:srgbClr val="58A6FF">
              <a:alpha val="5000"/>
            </a:srgbClr>
          </a:solidFill>
        </p:spPr>
      </p:sp>
      <p:sp>
        <p:nvSpPr>
          <p:cNvPr id="14" name="Text 10"/>
          <p:cNvSpPr/>
          <p:nvPr/>
        </p:nvSpPr>
        <p:spPr>
          <a:xfrm>
            <a:off x="571500" y="3399532"/>
            <a:ext cx="2286000" cy="647700"/>
          </a:xfrm>
          <a:prstGeom prst="rect">
            <a:avLst/>
          </a:prstGeom>
          <a:noFill/>
        </p:spPr>
        <p:txBody>
          <a:bodyPr wrap="square" lIns="226737" tIns="226737" rIns="226737" bIns="226737" rtlCol="0" anchor="t">
            <a:spAutoFit/>
          </a:bodyPr>
          <a:lstStyle/>
          <a:p>
            <a:pPr marL="0" indent="0" algn="l">
              <a:buNone/>
            </a:pPr>
            <a:r>
              <a:rPr lang="en-US" sz="1265" dirty="0">
                <a:solidFill>
                  <a:srgbClr val="58A6FF"/>
                </a:solidFill>
                <a:latin typeface="Poppins Bold" pitchFamily="34" charset="0"/>
                <a:ea typeface="Poppins Bold" pitchFamily="34" charset="-122"/>
                <a:cs typeface="Poppins Bold" pitchFamily="34" charset="-120"/>
              </a:rPr>
              <a:t>HEX STRING</a:t>
            </a:r>
            <a:endParaRPr lang="en-US" sz="1265" dirty="0"/>
          </a:p>
        </p:txBody>
      </p:sp>
      <p:sp>
        <p:nvSpPr>
          <p:cNvPr id="15" name="Text 11"/>
          <p:cNvSpPr/>
          <p:nvPr/>
        </p:nvSpPr>
        <p:spPr>
          <a:xfrm>
            <a:off x="2857500" y="3390007"/>
            <a:ext cx="6629400" cy="689610"/>
          </a:xfrm>
          <a:prstGeom prst="rect">
            <a:avLst/>
          </a:prstGeom>
          <a:noFill/>
        </p:spPr>
        <p:txBody>
          <a:bodyPr wrap="square" lIns="226737" tIns="226737" rIns="226737" bIns="226737" rtlCol="0" anchor="t">
            <a:spAutoFit/>
          </a:bodyPr>
          <a:lstStyle/>
          <a:p>
            <a:pPr marL="0" indent="0" algn="l">
              <a:buNone/>
            </a:pPr>
            <a:r>
              <a:rPr lang="en-US" sz="1535" dirty="0">
                <a:solidFill>
                  <a:srgbClr val="8B949E"/>
                </a:solidFill>
                <a:latin typeface="JetBrains Mono" pitchFamily="34" charset="0"/>
                <a:ea typeface="JetBrains Mono" pitchFamily="34" charset="-122"/>
                <a:cs typeface="JetBrains Mono" pitchFamily="34" charset="-120"/>
              </a:rPr>
              <a:t>48 65 6C 6C 6F</a:t>
            </a:r>
            <a:endParaRPr lang="en-US" sz="1535" dirty="0"/>
          </a:p>
        </p:txBody>
      </p:sp>
      <p:pic>
        <p:nvPicPr>
          <p:cNvPr id="16" name="Image 2" descr="preencoded.png"/>
          <p:cNvPicPr>
            <a:picLocks noChangeAspect="1"/>
          </p:cNvPicPr>
          <p:nvPr/>
        </p:nvPicPr>
        <p:blipFill>
          <a:blip r:embed="rId3"/>
          <a:stretch>
            <a:fillRect/>
          </a:stretch>
        </p:blipFill>
        <p:spPr>
          <a:xfrm>
            <a:off x="9677400" y="3601939"/>
            <a:ext cx="228600" cy="228600"/>
          </a:xfrm>
          <a:prstGeom prst="rect">
            <a:avLst/>
          </a:prstGeom>
        </p:spPr>
      </p:pic>
      <p:sp>
        <p:nvSpPr>
          <p:cNvPr id="17" name="Text 12"/>
          <p:cNvSpPr/>
          <p:nvPr/>
        </p:nvSpPr>
        <p:spPr>
          <a:xfrm>
            <a:off x="10400665" y="3376911"/>
            <a:ext cx="915670" cy="699135"/>
          </a:xfrm>
          <a:prstGeom prst="rect">
            <a:avLst/>
          </a:prstGeom>
          <a:noFill/>
        </p:spPr>
        <p:txBody>
          <a:bodyPr wrap="none" lIns="226737" tIns="226737" rIns="226737" bIns="226737" rtlCol="0" anchor="t">
            <a:spAutoFit/>
          </a:bodyPr>
          <a:lstStyle/>
          <a:p>
            <a:pPr marL="0" indent="0" algn="ctr">
              <a:buNone/>
            </a:pPr>
            <a:r>
              <a:rPr lang="en-US" sz="1600" b="1" dirty="0">
                <a:solidFill>
                  <a:srgbClr val="00FF9C"/>
                </a:solidFill>
                <a:latin typeface="JetBrains Mono" pitchFamily="34" charset="0"/>
                <a:ea typeface="JetBrains Mono" pitchFamily="34" charset="-122"/>
                <a:cs typeface="JetBrains Mono" pitchFamily="34" charset="-120"/>
              </a:rPr>
              <a:t>Hello</a:t>
            </a:r>
            <a:endParaRPr lang="en-US" sz="1600" dirty="0"/>
          </a:p>
        </p:txBody>
      </p:sp>
      <p:sp>
        <p:nvSpPr>
          <p:cNvPr id="18" name="Shape 13"/>
          <p:cNvSpPr/>
          <p:nvPr/>
        </p:nvSpPr>
        <p:spPr>
          <a:xfrm>
            <a:off x="571500" y="4298453"/>
            <a:ext cx="11049000" cy="683419"/>
          </a:xfrm>
          <a:prstGeom prst="rect">
            <a:avLst/>
          </a:prstGeom>
          <a:solidFill>
            <a:srgbClr val="161B22"/>
          </a:solidFill>
        </p:spPr>
      </p:sp>
      <p:sp>
        <p:nvSpPr>
          <p:cNvPr id="19" name="Shape 14"/>
          <p:cNvSpPr/>
          <p:nvPr/>
        </p:nvSpPr>
        <p:spPr>
          <a:xfrm>
            <a:off x="571500" y="4298453"/>
            <a:ext cx="38100" cy="683419"/>
          </a:xfrm>
          <a:prstGeom prst="rect">
            <a:avLst/>
          </a:prstGeom>
          <a:solidFill>
            <a:srgbClr val="58A6FF"/>
          </a:solidFill>
        </p:spPr>
      </p:sp>
      <p:sp>
        <p:nvSpPr>
          <p:cNvPr id="20" name="Shape 15"/>
          <p:cNvSpPr/>
          <p:nvPr/>
        </p:nvSpPr>
        <p:spPr>
          <a:xfrm>
            <a:off x="571500" y="4321076"/>
            <a:ext cx="2286000" cy="638175"/>
          </a:xfrm>
          <a:prstGeom prst="rect">
            <a:avLst/>
          </a:prstGeom>
          <a:solidFill>
            <a:srgbClr val="58A6FF">
              <a:alpha val="5000"/>
            </a:srgbClr>
          </a:solidFill>
        </p:spPr>
      </p:sp>
      <p:sp>
        <p:nvSpPr>
          <p:cNvPr id="21" name="Text 16"/>
          <p:cNvSpPr/>
          <p:nvPr/>
        </p:nvSpPr>
        <p:spPr>
          <a:xfrm>
            <a:off x="571500" y="4321076"/>
            <a:ext cx="2286000" cy="647700"/>
          </a:xfrm>
          <a:prstGeom prst="rect">
            <a:avLst/>
          </a:prstGeom>
          <a:noFill/>
        </p:spPr>
        <p:txBody>
          <a:bodyPr wrap="square" lIns="226737" tIns="226737" rIns="226737" bIns="226737" rtlCol="0" anchor="t">
            <a:spAutoFit/>
          </a:bodyPr>
          <a:lstStyle/>
          <a:p>
            <a:pPr marL="0" indent="0" algn="l">
              <a:buNone/>
            </a:pPr>
            <a:r>
              <a:rPr lang="en-US" sz="1265" dirty="0">
                <a:solidFill>
                  <a:srgbClr val="58A6FF"/>
                </a:solidFill>
                <a:latin typeface="Poppins Bold" pitchFamily="34" charset="0"/>
                <a:ea typeface="Poppins Bold" pitchFamily="34" charset="-122"/>
                <a:cs typeface="Poppins Bold" pitchFamily="34" charset="-120"/>
              </a:rPr>
              <a:t>BINARY STRING</a:t>
            </a:r>
            <a:endParaRPr lang="en-US" sz="1265" dirty="0"/>
          </a:p>
        </p:txBody>
      </p:sp>
      <p:sp>
        <p:nvSpPr>
          <p:cNvPr id="22" name="Text 17"/>
          <p:cNvSpPr/>
          <p:nvPr/>
        </p:nvSpPr>
        <p:spPr>
          <a:xfrm>
            <a:off x="2857500" y="4311551"/>
            <a:ext cx="6629400" cy="689610"/>
          </a:xfrm>
          <a:prstGeom prst="rect">
            <a:avLst/>
          </a:prstGeom>
          <a:noFill/>
        </p:spPr>
        <p:txBody>
          <a:bodyPr wrap="square" lIns="226737" tIns="226737" rIns="226737" bIns="226737" rtlCol="0" anchor="t">
            <a:spAutoFit/>
          </a:bodyPr>
          <a:lstStyle/>
          <a:p>
            <a:pPr marL="0" indent="0" algn="l">
              <a:buNone/>
            </a:pPr>
            <a:r>
              <a:rPr lang="en-US" sz="1535" dirty="0">
                <a:solidFill>
                  <a:srgbClr val="8B949E"/>
                </a:solidFill>
                <a:latin typeface="JetBrains Mono" pitchFamily="34" charset="0"/>
                <a:ea typeface="JetBrains Mono" pitchFamily="34" charset="-122"/>
                <a:cs typeface="JetBrains Mono" pitchFamily="34" charset="-120"/>
              </a:rPr>
              <a:t>01001000 01100101 01101100 01101100 01101111</a:t>
            </a:r>
            <a:endParaRPr lang="en-US" sz="1535" dirty="0"/>
          </a:p>
        </p:txBody>
      </p:sp>
      <p:pic>
        <p:nvPicPr>
          <p:cNvPr id="23" name="Image 3" descr="preencoded.png"/>
          <p:cNvPicPr>
            <a:picLocks noChangeAspect="1"/>
          </p:cNvPicPr>
          <p:nvPr/>
        </p:nvPicPr>
        <p:blipFill>
          <a:blip r:embed="rId4"/>
          <a:stretch>
            <a:fillRect/>
          </a:stretch>
        </p:blipFill>
        <p:spPr>
          <a:xfrm>
            <a:off x="9677400" y="4523483"/>
            <a:ext cx="228600" cy="228600"/>
          </a:xfrm>
          <a:prstGeom prst="rect">
            <a:avLst/>
          </a:prstGeom>
        </p:spPr>
      </p:pic>
      <p:sp>
        <p:nvSpPr>
          <p:cNvPr id="24" name="Text 18"/>
          <p:cNvSpPr/>
          <p:nvPr/>
        </p:nvSpPr>
        <p:spPr>
          <a:xfrm>
            <a:off x="10400665" y="4298453"/>
            <a:ext cx="915670" cy="699135"/>
          </a:xfrm>
          <a:prstGeom prst="rect">
            <a:avLst/>
          </a:prstGeom>
          <a:noFill/>
        </p:spPr>
        <p:txBody>
          <a:bodyPr wrap="none" lIns="226737" tIns="226737" rIns="226737" bIns="226737" rtlCol="0" anchor="t">
            <a:spAutoFit/>
          </a:bodyPr>
          <a:lstStyle/>
          <a:p>
            <a:pPr marL="0" indent="0" algn="ctr">
              <a:buNone/>
            </a:pPr>
            <a:r>
              <a:rPr lang="en-US" sz="1600" b="1" dirty="0">
                <a:solidFill>
                  <a:srgbClr val="00FF9C"/>
                </a:solidFill>
                <a:latin typeface="JetBrains Mono" pitchFamily="34" charset="0"/>
                <a:ea typeface="JetBrains Mono" pitchFamily="34" charset="-122"/>
                <a:cs typeface="JetBrains Mono" pitchFamily="34" charset="-120"/>
              </a:rPr>
              <a:t>Hello</a:t>
            </a:r>
            <a:endParaRPr lang="en-US" sz="1600" dirty="0"/>
          </a:p>
        </p:txBody>
      </p:sp>
      <p:sp>
        <p:nvSpPr>
          <p:cNvPr id="25" name="Shape 19"/>
          <p:cNvSpPr/>
          <p:nvPr/>
        </p:nvSpPr>
        <p:spPr>
          <a:xfrm>
            <a:off x="571500" y="5410497"/>
            <a:ext cx="11049000" cy="862012"/>
          </a:xfrm>
          <a:prstGeom prst="rect">
            <a:avLst/>
          </a:prstGeom>
          <a:solidFill>
            <a:srgbClr val="E3B341">
              <a:alpha val="10000"/>
            </a:srgbClr>
          </a:solidFill>
          <a:ln w="9144">
            <a:solidFill>
              <a:srgbClr val="E3B341"/>
            </a:solidFill>
            <a:prstDash val="dash"/>
          </a:ln>
        </p:spPr>
      </p:sp>
      <p:pic>
        <p:nvPicPr>
          <p:cNvPr id="26" name="Image 4" descr="preencoded.png"/>
          <p:cNvPicPr>
            <a:picLocks noChangeAspect="1"/>
          </p:cNvPicPr>
          <p:nvPr/>
        </p:nvPicPr>
        <p:blipFill>
          <a:blip r:embed="rId5"/>
          <a:stretch>
            <a:fillRect/>
          </a:stretch>
        </p:blipFill>
        <p:spPr>
          <a:xfrm>
            <a:off x="762000" y="5689104"/>
            <a:ext cx="228600" cy="304800"/>
          </a:xfrm>
          <a:prstGeom prst="rect">
            <a:avLst/>
          </a:prstGeom>
        </p:spPr>
      </p:pic>
      <p:sp>
        <p:nvSpPr>
          <p:cNvPr id="27" name="Text 20"/>
          <p:cNvSpPr/>
          <p:nvPr/>
        </p:nvSpPr>
        <p:spPr>
          <a:xfrm>
            <a:off x="1181100" y="5610523"/>
            <a:ext cx="10248900" cy="430530"/>
          </a:xfrm>
          <a:prstGeom prst="rect">
            <a:avLst/>
          </a:prstGeom>
          <a:noFill/>
        </p:spPr>
        <p:txBody>
          <a:bodyPr wrap="square" lIns="0" tIns="0" rIns="0" bIns="0" rtlCol="0" anchor="t">
            <a:spAutoFit/>
          </a:bodyPr>
          <a:lstStyle/>
          <a:p>
            <a:pPr marL="0" indent="0" algn="l">
              <a:buNone/>
            </a:pPr>
            <a:r>
              <a:rPr lang="en-US" sz="1335" b="1" dirty="0">
                <a:solidFill>
                  <a:srgbClr val="E3B341"/>
                </a:solidFill>
                <a:latin typeface="Inter" pitchFamily="34" charset="0"/>
                <a:ea typeface="Inter" pitchFamily="34" charset="-122"/>
                <a:cs typeface="Inter" pitchFamily="34" charset="-120"/>
              </a:rPr>
              <a:t>CTF PRO-TIP:</a:t>
            </a:r>
            <a:r>
              <a:rPr lang="en-US" sz="1400" dirty="0">
                <a:solidFill>
                  <a:srgbClr val="E6EDF3"/>
                </a:solidFill>
                <a:latin typeface="Inter" pitchFamily="34" charset="0"/>
                <a:ea typeface="Inter" pitchFamily="34" charset="-122"/>
                <a:cs typeface="Inter" pitchFamily="34" charset="-120"/>
              </a:rPr>
              <a:t> When you see a list of numbers or a strange string of characters in a challenge, </a:t>
            </a:r>
            <a:r>
              <a:rPr lang="en-US" sz="1335" b="1" dirty="0">
                <a:solidFill>
                  <a:srgbClr val="E3B341"/>
                </a:solidFill>
                <a:latin typeface="Inter" pitchFamily="34" charset="0"/>
                <a:ea typeface="Inter" pitchFamily="34" charset="-122"/>
                <a:cs typeface="Inter" pitchFamily="34" charset="-120"/>
              </a:rPr>
              <a:t>always try ASCII conversion first</a:t>
            </a:r>
            <a:r>
              <a:rPr lang="en-US" sz="1400" dirty="0">
                <a:solidFill>
                  <a:srgbClr val="E6EDF3"/>
                </a:solidFill>
                <a:latin typeface="Inter" pitchFamily="34" charset="0"/>
                <a:ea typeface="Inter" pitchFamily="34" charset="-122"/>
                <a:cs typeface="Inter" pitchFamily="34" charset="-120"/>
              </a:rPr>
              <a:t>. It is the most common way flags are hidden in beginner levels.</a:t>
            </a:r>
            <a:endParaRPr lang="en-US" sz="1400" dirty="0"/>
          </a:p>
        </p:txBody>
      </p:sp>
      <p:grpSp>
        <p:nvGrpSpPr>
          <p:cNvPr id="28" name="Group 2"/>
          <p:cNvGrpSpPr/>
          <p:nvPr/>
        </p:nvGrpSpPr>
        <p:grpSpPr>
          <a:xfrm rot="0">
            <a:off x="294640" y="194310"/>
            <a:ext cx="789305" cy="299720"/>
            <a:chOff x="0" y="0"/>
            <a:chExt cx="341337" cy="102463"/>
          </a:xfrm>
        </p:grpSpPr>
        <p:sp>
          <p:nvSpPr>
            <p:cNvPr id="29"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30"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31" name="Group 5"/>
          <p:cNvGrpSpPr/>
          <p:nvPr/>
        </p:nvGrpSpPr>
        <p:grpSpPr>
          <a:xfrm rot="0">
            <a:off x="822325" y="209550"/>
            <a:ext cx="220980" cy="246380"/>
            <a:chOff x="0" y="0"/>
            <a:chExt cx="812800" cy="812800"/>
          </a:xfrm>
        </p:grpSpPr>
        <p:sp>
          <p:nvSpPr>
            <p:cNvPr id="32"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3"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34"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00FF9C"/>
                </a:solidFill>
                <a:latin typeface="Poppins Bold" pitchFamily="34" charset="0"/>
                <a:ea typeface="Poppins Bold" pitchFamily="34" charset="-122"/>
                <a:cs typeface="Poppins Bold" pitchFamily="34" charset="-120"/>
              </a:rPr>
              <a:t>FOUR WAYS TO SAY THE SAME THING</a:t>
            </a:r>
            <a:endParaRPr lang="en-US" sz="3265" dirty="0"/>
          </a:p>
        </p:txBody>
      </p:sp>
      <p:sp>
        <p:nvSpPr>
          <p:cNvPr id="4" name="Shape 1"/>
          <p:cNvSpPr/>
          <p:nvPr/>
        </p:nvSpPr>
        <p:spPr>
          <a:xfrm>
            <a:off x="561975" y="2250876"/>
            <a:ext cx="11068051" cy="3417093"/>
          </a:xfrm>
          <a:prstGeom prst="rect">
            <a:avLst/>
          </a:prstGeom>
          <a:solidFill>
            <a:srgbClr val="161B22"/>
          </a:solidFill>
          <a:ln w="9144">
            <a:solidFill>
              <a:srgbClr val="30363D"/>
            </a:solidFill>
            <a:prstDash val="solid"/>
          </a:ln>
        </p:spPr>
      </p:sp>
      <p:sp>
        <p:nvSpPr>
          <p:cNvPr id="5" name="Shape 2"/>
          <p:cNvSpPr/>
          <p:nvPr/>
        </p:nvSpPr>
        <p:spPr>
          <a:xfrm>
            <a:off x="571500" y="2250876"/>
            <a:ext cx="2762251" cy="616744"/>
          </a:xfrm>
          <a:prstGeom prst="rect">
            <a:avLst/>
          </a:prstGeom>
          <a:solidFill>
            <a:srgbClr val="1F2937"/>
          </a:solidFill>
        </p:spPr>
      </p:sp>
      <p:sp>
        <p:nvSpPr>
          <p:cNvPr id="6" name="Shape 3"/>
          <p:cNvSpPr/>
          <p:nvPr/>
        </p:nvSpPr>
        <p:spPr>
          <a:xfrm>
            <a:off x="571500" y="2848571"/>
            <a:ext cx="2762251" cy="19051"/>
          </a:xfrm>
          <a:prstGeom prst="rect">
            <a:avLst/>
          </a:prstGeom>
          <a:solidFill>
            <a:srgbClr val="30363D"/>
          </a:solidFill>
        </p:spPr>
      </p:sp>
      <p:sp>
        <p:nvSpPr>
          <p:cNvPr id="7" name="Text 4"/>
          <p:cNvSpPr/>
          <p:nvPr/>
        </p:nvSpPr>
        <p:spPr>
          <a:xfrm>
            <a:off x="571500" y="2240478"/>
            <a:ext cx="2762251" cy="637540"/>
          </a:xfrm>
          <a:prstGeom prst="rect">
            <a:avLst/>
          </a:prstGeom>
          <a:noFill/>
        </p:spPr>
        <p:txBody>
          <a:bodyPr wrap="square" lIns="226737" tIns="226737" rIns="226737" bIns="226737" rtlCol="0" anchor="ctr">
            <a:spAutoFit/>
          </a:bodyPr>
          <a:lstStyle/>
          <a:p>
            <a:pPr marL="0" indent="0" algn="l">
              <a:buNone/>
            </a:pPr>
            <a:r>
              <a:rPr lang="en-US" sz="1200" b="1" kern="0" spc="1" dirty="0">
                <a:solidFill>
                  <a:srgbClr val="00FF9C"/>
                </a:solidFill>
                <a:latin typeface="JetBrains Mono" pitchFamily="34" charset="0"/>
                <a:ea typeface="JetBrains Mono" pitchFamily="34" charset="-122"/>
                <a:cs typeface="JetBrains Mono" pitchFamily="34" charset="-120"/>
              </a:rPr>
              <a:t>SYSTEM</a:t>
            </a:r>
            <a:endParaRPr lang="en-US" sz="1200" dirty="0"/>
          </a:p>
        </p:txBody>
      </p:sp>
      <p:sp>
        <p:nvSpPr>
          <p:cNvPr id="8" name="Shape 5"/>
          <p:cNvSpPr/>
          <p:nvPr/>
        </p:nvSpPr>
        <p:spPr>
          <a:xfrm>
            <a:off x="3333751" y="2250876"/>
            <a:ext cx="2762251" cy="616744"/>
          </a:xfrm>
          <a:prstGeom prst="rect">
            <a:avLst/>
          </a:prstGeom>
          <a:solidFill>
            <a:srgbClr val="1F2937"/>
          </a:solidFill>
        </p:spPr>
      </p:sp>
      <p:sp>
        <p:nvSpPr>
          <p:cNvPr id="9" name="Shape 6"/>
          <p:cNvSpPr/>
          <p:nvPr/>
        </p:nvSpPr>
        <p:spPr>
          <a:xfrm>
            <a:off x="3333751" y="2848571"/>
            <a:ext cx="2762251" cy="19051"/>
          </a:xfrm>
          <a:prstGeom prst="rect">
            <a:avLst/>
          </a:prstGeom>
          <a:solidFill>
            <a:srgbClr val="30363D"/>
          </a:solidFill>
        </p:spPr>
      </p:sp>
      <p:sp>
        <p:nvSpPr>
          <p:cNvPr id="10" name="Text 7"/>
          <p:cNvSpPr/>
          <p:nvPr/>
        </p:nvSpPr>
        <p:spPr>
          <a:xfrm>
            <a:off x="3333751" y="2240478"/>
            <a:ext cx="2762251" cy="637540"/>
          </a:xfrm>
          <a:prstGeom prst="rect">
            <a:avLst/>
          </a:prstGeom>
          <a:noFill/>
        </p:spPr>
        <p:txBody>
          <a:bodyPr wrap="square" lIns="226737" tIns="226737" rIns="226737" bIns="226737" rtlCol="0" anchor="ctr">
            <a:spAutoFit/>
          </a:bodyPr>
          <a:lstStyle/>
          <a:p>
            <a:pPr marL="0" indent="0" algn="l">
              <a:buNone/>
            </a:pPr>
            <a:r>
              <a:rPr lang="en-US" sz="1200" b="1" kern="0" spc="1" dirty="0">
                <a:solidFill>
                  <a:srgbClr val="00FF9C"/>
                </a:solidFill>
                <a:latin typeface="JetBrains Mono" pitchFamily="34" charset="0"/>
                <a:ea typeface="JetBrains Mono" pitchFamily="34" charset="-122"/>
                <a:cs typeface="JetBrains Mono" pitchFamily="34" charset="-120"/>
              </a:rPr>
              <a:t>C</a:t>
            </a:r>
            <a:endParaRPr lang="en-US" sz="1200" dirty="0"/>
          </a:p>
        </p:txBody>
      </p:sp>
      <p:sp>
        <p:nvSpPr>
          <p:cNvPr id="11" name="Shape 8"/>
          <p:cNvSpPr/>
          <p:nvPr/>
        </p:nvSpPr>
        <p:spPr>
          <a:xfrm>
            <a:off x="6096000" y="2250876"/>
            <a:ext cx="2762251" cy="616744"/>
          </a:xfrm>
          <a:prstGeom prst="rect">
            <a:avLst/>
          </a:prstGeom>
          <a:solidFill>
            <a:srgbClr val="1F2937"/>
          </a:solidFill>
        </p:spPr>
      </p:sp>
      <p:sp>
        <p:nvSpPr>
          <p:cNvPr id="12" name="Shape 9"/>
          <p:cNvSpPr/>
          <p:nvPr/>
        </p:nvSpPr>
        <p:spPr>
          <a:xfrm>
            <a:off x="6096000" y="2848571"/>
            <a:ext cx="2762251" cy="19051"/>
          </a:xfrm>
          <a:prstGeom prst="rect">
            <a:avLst/>
          </a:prstGeom>
          <a:solidFill>
            <a:srgbClr val="30363D"/>
          </a:solidFill>
        </p:spPr>
      </p:sp>
      <p:sp>
        <p:nvSpPr>
          <p:cNvPr id="13" name="Text 10"/>
          <p:cNvSpPr/>
          <p:nvPr/>
        </p:nvSpPr>
        <p:spPr>
          <a:xfrm>
            <a:off x="6096000" y="2240478"/>
            <a:ext cx="2762251" cy="637540"/>
          </a:xfrm>
          <a:prstGeom prst="rect">
            <a:avLst/>
          </a:prstGeom>
          <a:noFill/>
        </p:spPr>
        <p:txBody>
          <a:bodyPr wrap="square" lIns="226737" tIns="226737" rIns="226737" bIns="226737" rtlCol="0" anchor="ctr">
            <a:spAutoFit/>
          </a:bodyPr>
          <a:lstStyle/>
          <a:p>
            <a:pPr marL="0" indent="0" algn="l">
              <a:buNone/>
            </a:pPr>
            <a:r>
              <a:rPr lang="en-US" sz="1200" b="1" kern="0" spc="1" dirty="0">
                <a:solidFill>
                  <a:srgbClr val="00FF9C"/>
                </a:solidFill>
                <a:latin typeface="JetBrains Mono" pitchFamily="34" charset="0"/>
                <a:ea typeface="JetBrains Mono" pitchFamily="34" charset="-122"/>
                <a:cs typeface="JetBrains Mono" pitchFamily="34" charset="-120"/>
              </a:rPr>
              <a:t>T</a:t>
            </a:r>
            <a:endParaRPr lang="en-US" sz="1200" dirty="0"/>
          </a:p>
        </p:txBody>
      </p:sp>
      <p:sp>
        <p:nvSpPr>
          <p:cNvPr id="14" name="Shape 11"/>
          <p:cNvSpPr/>
          <p:nvPr/>
        </p:nvSpPr>
        <p:spPr>
          <a:xfrm>
            <a:off x="8858251" y="2250876"/>
            <a:ext cx="2762251" cy="616744"/>
          </a:xfrm>
          <a:prstGeom prst="rect">
            <a:avLst/>
          </a:prstGeom>
          <a:solidFill>
            <a:srgbClr val="1F2937"/>
          </a:solidFill>
        </p:spPr>
      </p:sp>
      <p:sp>
        <p:nvSpPr>
          <p:cNvPr id="15" name="Shape 12"/>
          <p:cNvSpPr/>
          <p:nvPr/>
        </p:nvSpPr>
        <p:spPr>
          <a:xfrm>
            <a:off x="8858251" y="2848571"/>
            <a:ext cx="2762251" cy="19051"/>
          </a:xfrm>
          <a:prstGeom prst="rect">
            <a:avLst/>
          </a:prstGeom>
          <a:solidFill>
            <a:srgbClr val="30363D"/>
          </a:solidFill>
        </p:spPr>
      </p:sp>
      <p:sp>
        <p:nvSpPr>
          <p:cNvPr id="16" name="Text 13"/>
          <p:cNvSpPr/>
          <p:nvPr/>
        </p:nvSpPr>
        <p:spPr>
          <a:xfrm>
            <a:off x="8858251" y="2240478"/>
            <a:ext cx="2762251" cy="637540"/>
          </a:xfrm>
          <a:prstGeom prst="rect">
            <a:avLst/>
          </a:prstGeom>
          <a:noFill/>
        </p:spPr>
        <p:txBody>
          <a:bodyPr wrap="square" lIns="226737" tIns="226737" rIns="226737" bIns="226737" rtlCol="0" anchor="ctr">
            <a:spAutoFit/>
          </a:bodyPr>
          <a:lstStyle/>
          <a:p>
            <a:pPr marL="0" indent="0" algn="l">
              <a:buNone/>
            </a:pPr>
            <a:r>
              <a:rPr lang="en-US" sz="1200" b="1" kern="0" spc="1" dirty="0">
                <a:solidFill>
                  <a:srgbClr val="00FF9C"/>
                </a:solidFill>
                <a:latin typeface="JetBrains Mono" pitchFamily="34" charset="0"/>
                <a:ea typeface="JetBrains Mono" pitchFamily="34" charset="-122"/>
                <a:cs typeface="JetBrains Mono" pitchFamily="34" charset="-120"/>
              </a:rPr>
              <a:t>F</a:t>
            </a:r>
            <a:endParaRPr lang="en-US" sz="1200" dirty="0"/>
          </a:p>
        </p:txBody>
      </p:sp>
      <p:sp>
        <p:nvSpPr>
          <p:cNvPr id="17" name="Text 14"/>
          <p:cNvSpPr/>
          <p:nvPr/>
        </p:nvSpPr>
        <p:spPr>
          <a:xfrm>
            <a:off x="571500" y="2847538"/>
            <a:ext cx="2762251" cy="709295"/>
          </a:xfrm>
          <a:prstGeom prst="rect">
            <a:avLst/>
          </a:prstGeom>
          <a:noFill/>
        </p:spPr>
        <p:txBody>
          <a:bodyPr wrap="square" lIns="226737" tIns="226737" rIns="226737" bIns="226737" rtlCol="0" anchor="ctr">
            <a:spAutoFit/>
          </a:bodyPr>
          <a:lstStyle/>
          <a:p>
            <a:pPr marL="0" indent="0" algn="l">
              <a:buNone/>
            </a:pPr>
            <a:r>
              <a:rPr lang="en-US" sz="1665" dirty="0">
                <a:solidFill>
                  <a:srgbClr val="8B949E"/>
                </a:solidFill>
                <a:latin typeface="JetBrains Mono" pitchFamily="34" charset="0"/>
                <a:ea typeface="JetBrains Mono" pitchFamily="34" charset="-122"/>
                <a:cs typeface="JetBrains Mono" pitchFamily="34" charset="-120"/>
              </a:rPr>
              <a:t>Decimal (Base 10)</a:t>
            </a:r>
            <a:endParaRPr lang="en-US" sz="1665" dirty="0"/>
          </a:p>
        </p:txBody>
      </p:sp>
      <p:sp>
        <p:nvSpPr>
          <p:cNvPr id="18" name="Text 15"/>
          <p:cNvSpPr/>
          <p:nvPr/>
        </p:nvSpPr>
        <p:spPr>
          <a:xfrm>
            <a:off x="3333751" y="2847538"/>
            <a:ext cx="2762251" cy="709295"/>
          </a:xfrm>
          <a:prstGeom prst="rect">
            <a:avLst/>
          </a:prstGeom>
          <a:noFill/>
        </p:spPr>
        <p:txBody>
          <a:bodyPr wrap="square" lIns="226737" tIns="226737" rIns="226737" bIns="226737" rtlCol="0" anchor="ctr">
            <a:spAutoFit/>
          </a:bodyPr>
          <a:lstStyle/>
          <a:p>
            <a:pPr marL="0" indent="0" algn="l">
              <a:buNone/>
            </a:pPr>
            <a:r>
              <a:rPr lang="en-US" sz="1665" dirty="0">
                <a:solidFill>
                  <a:srgbClr val="58A6FF"/>
                </a:solidFill>
                <a:latin typeface="JetBrains Mono" pitchFamily="34" charset="0"/>
                <a:ea typeface="JetBrains Mono" pitchFamily="34" charset="-122"/>
                <a:cs typeface="JetBrains Mono" pitchFamily="34" charset="-120"/>
              </a:rPr>
              <a:t>67</a:t>
            </a:r>
            <a:endParaRPr lang="en-US" sz="1665" dirty="0"/>
          </a:p>
        </p:txBody>
      </p:sp>
      <p:sp>
        <p:nvSpPr>
          <p:cNvPr id="19" name="Text 16"/>
          <p:cNvSpPr/>
          <p:nvPr/>
        </p:nvSpPr>
        <p:spPr>
          <a:xfrm>
            <a:off x="6096000" y="2847538"/>
            <a:ext cx="2762251" cy="709295"/>
          </a:xfrm>
          <a:prstGeom prst="rect">
            <a:avLst/>
          </a:prstGeom>
          <a:noFill/>
        </p:spPr>
        <p:txBody>
          <a:bodyPr wrap="square" lIns="226737" tIns="226737" rIns="226737" bIns="226737" rtlCol="0" anchor="ctr">
            <a:spAutoFit/>
          </a:bodyPr>
          <a:lstStyle/>
          <a:p>
            <a:pPr marL="0" indent="0" algn="l">
              <a:buNone/>
            </a:pPr>
            <a:r>
              <a:rPr lang="en-US" sz="1665" dirty="0">
                <a:solidFill>
                  <a:srgbClr val="58A6FF"/>
                </a:solidFill>
                <a:latin typeface="JetBrains Mono" pitchFamily="34" charset="0"/>
                <a:ea typeface="JetBrains Mono" pitchFamily="34" charset="-122"/>
                <a:cs typeface="JetBrains Mono" pitchFamily="34" charset="-120"/>
              </a:rPr>
              <a:t>84</a:t>
            </a:r>
            <a:endParaRPr lang="en-US" sz="1665" dirty="0"/>
          </a:p>
        </p:txBody>
      </p:sp>
      <p:sp>
        <p:nvSpPr>
          <p:cNvPr id="20" name="Text 17"/>
          <p:cNvSpPr/>
          <p:nvPr/>
        </p:nvSpPr>
        <p:spPr>
          <a:xfrm>
            <a:off x="8858251" y="2847538"/>
            <a:ext cx="2762251" cy="709295"/>
          </a:xfrm>
          <a:prstGeom prst="rect">
            <a:avLst/>
          </a:prstGeom>
          <a:noFill/>
        </p:spPr>
        <p:txBody>
          <a:bodyPr wrap="square" lIns="226737" tIns="226737" rIns="226737" bIns="226737" rtlCol="0" anchor="ctr">
            <a:spAutoFit/>
          </a:bodyPr>
          <a:lstStyle/>
          <a:p>
            <a:pPr marL="0" indent="0" algn="l">
              <a:buNone/>
            </a:pPr>
            <a:r>
              <a:rPr lang="en-US" sz="1665" dirty="0">
                <a:solidFill>
                  <a:srgbClr val="58A6FF"/>
                </a:solidFill>
                <a:latin typeface="JetBrains Mono" pitchFamily="34" charset="0"/>
                <a:ea typeface="JetBrains Mono" pitchFamily="34" charset="-122"/>
                <a:cs typeface="JetBrains Mono" pitchFamily="34" charset="-120"/>
              </a:rPr>
              <a:t>70</a:t>
            </a:r>
            <a:endParaRPr lang="en-US" sz="1665" dirty="0"/>
          </a:p>
        </p:txBody>
      </p:sp>
      <p:sp>
        <p:nvSpPr>
          <p:cNvPr id="21" name="Text 18"/>
          <p:cNvSpPr/>
          <p:nvPr/>
        </p:nvSpPr>
        <p:spPr>
          <a:xfrm>
            <a:off x="571500" y="3538101"/>
            <a:ext cx="2762251" cy="709295"/>
          </a:xfrm>
          <a:prstGeom prst="rect">
            <a:avLst/>
          </a:prstGeom>
          <a:noFill/>
        </p:spPr>
        <p:txBody>
          <a:bodyPr wrap="square" lIns="226737" tIns="226737" rIns="226737" bIns="226737" rtlCol="0" anchor="ctr">
            <a:spAutoFit/>
          </a:bodyPr>
          <a:lstStyle/>
          <a:p>
            <a:pPr marL="0" indent="0" algn="l">
              <a:buNone/>
            </a:pPr>
            <a:r>
              <a:rPr lang="en-US" sz="1665" dirty="0">
                <a:solidFill>
                  <a:srgbClr val="8B949E"/>
                </a:solidFill>
                <a:latin typeface="JetBrains Mono" pitchFamily="34" charset="0"/>
                <a:ea typeface="JetBrains Mono" pitchFamily="34" charset="-122"/>
                <a:cs typeface="JetBrains Mono" pitchFamily="34" charset="-120"/>
              </a:rPr>
              <a:t>Binary (Base 2)</a:t>
            </a:r>
            <a:endParaRPr lang="en-US" sz="1665" dirty="0"/>
          </a:p>
        </p:txBody>
      </p:sp>
      <p:sp>
        <p:nvSpPr>
          <p:cNvPr id="22" name="Text 19"/>
          <p:cNvSpPr/>
          <p:nvPr/>
        </p:nvSpPr>
        <p:spPr>
          <a:xfrm>
            <a:off x="3333751" y="3538101"/>
            <a:ext cx="2762251" cy="709295"/>
          </a:xfrm>
          <a:prstGeom prst="rect">
            <a:avLst/>
          </a:prstGeom>
          <a:noFill/>
        </p:spPr>
        <p:txBody>
          <a:bodyPr wrap="square" lIns="226737" tIns="226737" rIns="226737" bIns="226737" rtlCol="0" anchor="ctr">
            <a:spAutoFit/>
          </a:bodyPr>
          <a:lstStyle/>
          <a:p>
            <a:pPr marL="0" indent="0" algn="l">
              <a:buNone/>
            </a:pPr>
            <a:r>
              <a:rPr lang="en-US" sz="1665" dirty="0">
                <a:solidFill>
                  <a:srgbClr val="58A6FF"/>
                </a:solidFill>
                <a:latin typeface="JetBrains Mono" pitchFamily="34" charset="0"/>
                <a:ea typeface="JetBrains Mono" pitchFamily="34" charset="-122"/>
                <a:cs typeface="JetBrains Mono" pitchFamily="34" charset="-120"/>
              </a:rPr>
              <a:t>01000011</a:t>
            </a:r>
            <a:endParaRPr lang="en-US" sz="1665" dirty="0"/>
          </a:p>
        </p:txBody>
      </p:sp>
      <p:sp>
        <p:nvSpPr>
          <p:cNvPr id="23" name="Text 20"/>
          <p:cNvSpPr/>
          <p:nvPr/>
        </p:nvSpPr>
        <p:spPr>
          <a:xfrm>
            <a:off x="6096000" y="3538101"/>
            <a:ext cx="2762251" cy="709295"/>
          </a:xfrm>
          <a:prstGeom prst="rect">
            <a:avLst/>
          </a:prstGeom>
          <a:noFill/>
        </p:spPr>
        <p:txBody>
          <a:bodyPr wrap="square" lIns="226737" tIns="226737" rIns="226737" bIns="226737" rtlCol="0" anchor="ctr">
            <a:spAutoFit/>
          </a:bodyPr>
          <a:lstStyle/>
          <a:p>
            <a:pPr marL="0" indent="0" algn="l">
              <a:buNone/>
            </a:pPr>
            <a:r>
              <a:rPr lang="en-US" sz="1665" dirty="0">
                <a:solidFill>
                  <a:srgbClr val="58A6FF"/>
                </a:solidFill>
                <a:latin typeface="JetBrains Mono" pitchFamily="34" charset="0"/>
                <a:ea typeface="JetBrains Mono" pitchFamily="34" charset="-122"/>
                <a:cs typeface="JetBrains Mono" pitchFamily="34" charset="-120"/>
              </a:rPr>
              <a:t>01010100</a:t>
            </a:r>
            <a:endParaRPr lang="en-US" sz="1665" dirty="0"/>
          </a:p>
        </p:txBody>
      </p:sp>
      <p:sp>
        <p:nvSpPr>
          <p:cNvPr id="24" name="Text 21"/>
          <p:cNvSpPr/>
          <p:nvPr/>
        </p:nvSpPr>
        <p:spPr>
          <a:xfrm>
            <a:off x="8858251" y="3538101"/>
            <a:ext cx="2762251" cy="709295"/>
          </a:xfrm>
          <a:prstGeom prst="rect">
            <a:avLst/>
          </a:prstGeom>
          <a:noFill/>
        </p:spPr>
        <p:txBody>
          <a:bodyPr wrap="square" lIns="226737" tIns="226737" rIns="226737" bIns="226737" rtlCol="0" anchor="ctr">
            <a:spAutoFit/>
          </a:bodyPr>
          <a:lstStyle/>
          <a:p>
            <a:pPr marL="0" indent="0" algn="l">
              <a:buNone/>
            </a:pPr>
            <a:r>
              <a:rPr lang="en-US" sz="1665" dirty="0">
                <a:solidFill>
                  <a:srgbClr val="58A6FF"/>
                </a:solidFill>
                <a:latin typeface="JetBrains Mono" pitchFamily="34" charset="0"/>
                <a:ea typeface="JetBrains Mono" pitchFamily="34" charset="-122"/>
                <a:cs typeface="JetBrains Mono" pitchFamily="34" charset="-120"/>
              </a:rPr>
              <a:t>01000110</a:t>
            </a:r>
            <a:endParaRPr lang="en-US" sz="1665" dirty="0"/>
          </a:p>
        </p:txBody>
      </p:sp>
      <p:sp>
        <p:nvSpPr>
          <p:cNvPr id="25" name="Text 22"/>
          <p:cNvSpPr/>
          <p:nvPr/>
        </p:nvSpPr>
        <p:spPr>
          <a:xfrm>
            <a:off x="571500" y="4231045"/>
            <a:ext cx="2762251" cy="709295"/>
          </a:xfrm>
          <a:prstGeom prst="rect">
            <a:avLst/>
          </a:prstGeom>
          <a:noFill/>
        </p:spPr>
        <p:txBody>
          <a:bodyPr wrap="square" lIns="226737" tIns="226737" rIns="226737" bIns="226737" rtlCol="0" anchor="ctr">
            <a:spAutoFit/>
          </a:bodyPr>
          <a:lstStyle/>
          <a:p>
            <a:pPr marL="0" indent="0" algn="l">
              <a:buNone/>
            </a:pPr>
            <a:r>
              <a:rPr lang="en-US" sz="1665" dirty="0">
                <a:solidFill>
                  <a:srgbClr val="8B949E"/>
                </a:solidFill>
                <a:latin typeface="JetBrains Mono" pitchFamily="34" charset="0"/>
                <a:ea typeface="JetBrains Mono" pitchFamily="34" charset="-122"/>
                <a:cs typeface="JetBrains Mono" pitchFamily="34" charset="-120"/>
              </a:rPr>
              <a:t>Hex (Base 16)</a:t>
            </a:r>
            <a:endParaRPr lang="en-US" sz="1665" dirty="0"/>
          </a:p>
        </p:txBody>
      </p:sp>
      <p:sp>
        <p:nvSpPr>
          <p:cNvPr id="26" name="Text 23"/>
          <p:cNvSpPr/>
          <p:nvPr/>
        </p:nvSpPr>
        <p:spPr>
          <a:xfrm>
            <a:off x="3333751" y="4231045"/>
            <a:ext cx="2762251" cy="709295"/>
          </a:xfrm>
          <a:prstGeom prst="rect">
            <a:avLst/>
          </a:prstGeom>
          <a:noFill/>
        </p:spPr>
        <p:txBody>
          <a:bodyPr wrap="square" lIns="226737" tIns="226737" rIns="226737" bIns="226737" rtlCol="0" anchor="ctr">
            <a:spAutoFit/>
          </a:bodyPr>
          <a:lstStyle/>
          <a:p>
            <a:pPr marL="0" indent="0" algn="l">
              <a:buNone/>
            </a:pPr>
            <a:r>
              <a:rPr lang="en-US" sz="1665" dirty="0">
                <a:solidFill>
                  <a:srgbClr val="58A6FF"/>
                </a:solidFill>
                <a:latin typeface="JetBrains Mono" pitchFamily="34" charset="0"/>
                <a:ea typeface="JetBrains Mono" pitchFamily="34" charset="-122"/>
                <a:cs typeface="JetBrains Mono" pitchFamily="34" charset="-120"/>
              </a:rPr>
              <a:t>43</a:t>
            </a:r>
            <a:endParaRPr lang="en-US" sz="1665" dirty="0"/>
          </a:p>
        </p:txBody>
      </p:sp>
      <p:sp>
        <p:nvSpPr>
          <p:cNvPr id="27" name="Text 24"/>
          <p:cNvSpPr/>
          <p:nvPr/>
        </p:nvSpPr>
        <p:spPr>
          <a:xfrm>
            <a:off x="6096000" y="4231045"/>
            <a:ext cx="2762251" cy="709295"/>
          </a:xfrm>
          <a:prstGeom prst="rect">
            <a:avLst/>
          </a:prstGeom>
          <a:noFill/>
        </p:spPr>
        <p:txBody>
          <a:bodyPr wrap="square" lIns="226737" tIns="226737" rIns="226737" bIns="226737" rtlCol="0" anchor="ctr">
            <a:spAutoFit/>
          </a:bodyPr>
          <a:lstStyle/>
          <a:p>
            <a:pPr marL="0" indent="0" algn="l">
              <a:buNone/>
            </a:pPr>
            <a:r>
              <a:rPr lang="en-US" sz="1665" dirty="0">
                <a:solidFill>
                  <a:srgbClr val="58A6FF"/>
                </a:solidFill>
                <a:latin typeface="JetBrains Mono" pitchFamily="34" charset="0"/>
                <a:ea typeface="JetBrains Mono" pitchFamily="34" charset="-122"/>
                <a:cs typeface="JetBrains Mono" pitchFamily="34" charset="-120"/>
              </a:rPr>
              <a:t>54</a:t>
            </a:r>
            <a:endParaRPr lang="en-US" sz="1665" dirty="0"/>
          </a:p>
        </p:txBody>
      </p:sp>
      <p:sp>
        <p:nvSpPr>
          <p:cNvPr id="28" name="Text 25"/>
          <p:cNvSpPr/>
          <p:nvPr/>
        </p:nvSpPr>
        <p:spPr>
          <a:xfrm>
            <a:off x="8858251" y="4231045"/>
            <a:ext cx="2762251" cy="709295"/>
          </a:xfrm>
          <a:prstGeom prst="rect">
            <a:avLst/>
          </a:prstGeom>
          <a:noFill/>
        </p:spPr>
        <p:txBody>
          <a:bodyPr wrap="square" lIns="226737" tIns="226737" rIns="226737" bIns="226737" rtlCol="0" anchor="ctr">
            <a:spAutoFit/>
          </a:bodyPr>
          <a:lstStyle/>
          <a:p>
            <a:pPr marL="0" indent="0" algn="l">
              <a:buNone/>
            </a:pPr>
            <a:r>
              <a:rPr lang="en-US" sz="1665" dirty="0">
                <a:solidFill>
                  <a:srgbClr val="58A6FF"/>
                </a:solidFill>
                <a:latin typeface="JetBrains Mono" pitchFamily="34" charset="0"/>
                <a:ea typeface="JetBrains Mono" pitchFamily="34" charset="-122"/>
                <a:cs typeface="JetBrains Mono" pitchFamily="34" charset="-120"/>
              </a:rPr>
              <a:t>46</a:t>
            </a:r>
            <a:endParaRPr lang="en-US" sz="1665" dirty="0"/>
          </a:p>
        </p:txBody>
      </p:sp>
      <p:sp>
        <p:nvSpPr>
          <p:cNvPr id="29" name="Text 26"/>
          <p:cNvSpPr/>
          <p:nvPr/>
        </p:nvSpPr>
        <p:spPr>
          <a:xfrm>
            <a:off x="571500" y="4923989"/>
            <a:ext cx="2762251" cy="709295"/>
          </a:xfrm>
          <a:prstGeom prst="rect">
            <a:avLst/>
          </a:prstGeom>
          <a:noFill/>
        </p:spPr>
        <p:txBody>
          <a:bodyPr wrap="square" lIns="226737" tIns="226737" rIns="226737" bIns="226737" rtlCol="0" anchor="ctr">
            <a:spAutoFit/>
          </a:bodyPr>
          <a:lstStyle/>
          <a:p>
            <a:pPr marL="0" indent="0" algn="l">
              <a:buNone/>
            </a:pPr>
            <a:r>
              <a:rPr lang="en-US" sz="1665" dirty="0">
                <a:solidFill>
                  <a:srgbClr val="8B949E"/>
                </a:solidFill>
                <a:latin typeface="JetBrains Mono" pitchFamily="34" charset="0"/>
                <a:ea typeface="JetBrains Mono" pitchFamily="34" charset="-122"/>
                <a:cs typeface="JetBrains Mono" pitchFamily="34" charset="-120"/>
              </a:rPr>
              <a:t>Octal (Base 8)</a:t>
            </a:r>
            <a:endParaRPr lang="en-US" sz="1665" dirty="0"/>
          </a:p>
        </p:txBody>
      </p:sp>
      <p:sp>
        <p:nvSpPr>
          <p:cNvPr id="30" name="Text 27"/>
          <p:cNvSpPr/>
          <p:nvPr/>
        </p:nvSpPr>
        <p:spPr>
          <a:xfrm>
            <a:off x="3333751" y="4923989"/>
            <a:ext cx="2762251" cy="709295"/>
          </a:xfrm>
          <a:prstGeom prst="rect">
            <a:avLst/>
          </a:prstGeom>
          <a:noFill/>
        </p:spPr>
        <p:txBody>
          <a:bodyPr wrap="square" lIns="226737" tIns="226737" rIns="226737" bIns="226737" rtlCol="0" anchor="ctr">
            <a:spAutoFit/>
          </a:bodyPr>
          <a:lstStyle/>
          <a:p>
            <a:pPr marL="0" indent="0" algn="l">
              <a:buNone/>
            </a:pPr>
            <a:r>
              <a:rPr lang="en-US" sz="1665" dirty="0">
                <a:solidFill>
                  <a:srgbClr val="58A6FF"/>
                </a:solidFill>
                <a:latin typeface="JetBrains Mono" pitchFamily="34" charset="0"/>
                <a:ea typeface="JetBrains Mono" pitchFamily="34" charset="-122"/>
                <a:cs typeface="JetBrains Mono" pitchFamily="34" charset="-120"/>
              </a:rPr>
              <a:t>103</a:t>
            </a:r>
            <a:endParaRPr lang="en-US" sz="1665" dirty="0"/>
          </a:p>
        </p:txBody>
      </p:sp>
      <p:sp>
        <p:nvSpPr>
          <p:cNvPr id="31" name="Text 28"/>
          <p:cNvSpPr/>
          <p:nvPr/>
        </p:nvSpPr>
        <p:spPr>
          <a:xfrm>
            <a:off x="6096000" y="4923989"/>
            <a:ext cx="2762251" cy="709295"/>
          </a:xfrm>
          <a:prstGeom prst="rect">
            <a:avLst/>
          </a:prstGeom>
          <a:noFill/>
        </p:spPr>
        <p:txBody>
          <a:bodyPr wrap="square" lIns="226737" tIns="226737" rIns="226737" bIns="226737" rtlCol="0" anchor="ctr">
            <a:spAutoFit/>
          </a:bodyPr>
          <a:lstStyle/>
          <a:p>
            <a:pPr marL="0" indent="0" algn="l">
              <a:buNone/>
            </a:pPr>
            <a:r>
              <a:rPr lang="en-US" sz="1665" dirty="0">
                <a:solidFill>
                  <a:srgbClr val="58A6FF"/>
                </a:solidFill>
                <a:latin typeface="JetBrains Mono" pitchFamily="34" charset="0"/>
                <a:ea typeface="JetBrains Mono" pitchFamily="34" charset="-122"/>
                <a:cs typeface="JetBrains Mono" pitchFamily="34" charset="-120"/>
              </a:rPr>
              <a:t>124</a:t>
            </a:r>
            <a:endParaRPr lang="en-US" sz="1665" dirty="0"/>
          </a:p>
        </p:txBody>
      </p:sp>
      <p:sp>
        <p:nvSpPr>
          <p:cNvPr id="32" name="Text 29"/>
          <p:cNvSpPr/>
          <p:nvPr/>
        </p:nvSpPr>
        <p:spPr>
          <a:xfrm>
            <a:off x="8858251" y="4923989"/>
            <a:ext cx="2762251" cy="709295"/>
          </a:xfrm>
          <a:prstGeom prst="rect">
            <a:avLst/>
          </a:prstGeom>
          <a:noFill/>
        </p:spPr>
        <p:txBody>
          <a:bodyPr wrap="square" lIns="226737" tIns="226737" rIns="226737" bIns="226737" rtlCol="0" anchor="ctr">
            <a:spAutoFit/>
          </a:bodyPr>
          <a:lstStyle/>
          <a:p>
            <a:pPr marL="0" indent="0" algn="l">
              <a:buNone/>
            </a:pPr>
            <a:r>
              <a:rPr lang="en-US" sz="1665" dirty="0">
                <a:solidFill>
                  <a:srgbClr val="58A6FF"/>
                </a:solidFill>
                <a:latin typeface="JetBrains Mono" pitchFamily="34" charset="0"/>
                <a:ea typeface="JetBrains Mono" pitchFamily="34" charset="-122"/>
                <a:cs typeface="JetBrains Mono" pitchFamily="34" charset="-120"/>
              </a:rPr>
              <a:t>106</a:t>
            </a:r>
            <a:endParaRPr lang="en-US" sz="1665" dirty="0"/>
          </a:p>
        </p:txBody>
      </p:sp>
      <p:sp>
        <p:nvSpPr>
          <p:cNvPr id="33" name="Shape 30"/>
          <p:cNvSpPr/>
          <p:nvPr/>
        </p:nvSpPr>
        <p:spPr>
          <a:xfrm>
            <a:off x="1782365" y="6010871"/>
            <a:ext cx="8627269" cy="611981"/>
          </a:xfrm>
          <a:prstGeom prst="rect">
            <a:avLst/>
          </a:prstGeom>
          <a:solidFill>
            <a:srgbClr val="E3B341">
              <a:alpha val="5000"/>
            </a:srgbClr>
          </a:solidFill>
        </p:spPr>
      </p:sp>
      <p:sp>
        <p:nvSpPr>
          <p:cNvPr id="34" name="Shape 31"/>
          <p:cNvSpPr/>
          <p:nvPr/>
        </p:nvSpPr>
        <p:spPr>
          <a:xfrm>
            <a:off x="1782365" y="6010871"/>
            <a:ext cx="38100" cy="611981"/>
          </a:xfrm>
          <a:prstGeom prst="rect">
            <a:avLst/>
          </a:prstGeom>
          <a:solidFill>
            <a:srgbClr val="E3B341"/>
          </a:solidFill>
        </p:spPr>
      </p:sp>
      <p:pic>
        <p:nvPicPr>
          <p:cNvPr id="35" name="Image 1" descr="preencoded.png"/>
          <p:cNvPicPr>
            <a:picLocks noChangeAspect="1"/>
          </p:cNvPicPr>
          <p:nvPr/>
        </p:nvPicPr>
        <p:blipFill>
          <a:blip r:embed="rId2"/>
          <a:stretch>
            <a:fillRect/>
          </a:stretch>
        </p:blipFill>
        <p:spPr>
          <a:xfrm>
            <a:off x="2182416" y="6220420"/>
            <a:ext cx="190500" cy="190500"/>
          </a:xfrm>
          <a:prstGeom prst="rect">
            <a:avLst/>
          </a:prstGeom>
        </p:spPr>
      </p:pic>
      <p:sp>
        <p:nvSpPr>
          <p:cNvPr id="36" name="Text 32"/>
          <p:cNvSpPr/>
          <p:nvPr/>
        </p:nvSpPr>
        <p:spPr>
          <a:xfrm>
            <a:off x="2468165" y="6201371"/>
            <a:ext cx="854075" cy="215265"/>
          </a:xfrm>
          <a:prstGeom prst="rect">
            <a:avLst/>
          </a:prstGeom>
          <a:noFill/>
        </p:spPr>
        <p:txBody>
          <a:bodyPr wrap="none" lIns="0" tIns="0" rIns="0" bIns="0" rtlCol="0" anchor="t">
            <a:spAutoFit/>
          </a:bodyPr>
          <a:lstStyle/>
          <a:p>
            <a:pPr marL="0" indent="0" algn="l">
              <a:buNone/>
            </a:pPr>
            <a:r>
              <a:rPr lang="en-US" sz="1400" dirty="0">
                <a:solidFill>
                  <a:srgbClr val="E6EDF3"/>
                </a:solidFill>
                <a:latin typeface="Inter" pitchFamily="34" charset="0"/>
                <a:ea typeface="Inter" pitchFamily="34" charset="-122"/>
                <a:cs typeface="Inter" pitchFamily="34" charset="-120"/>
              </a:rPr>
              <a:t>Same data.</a:t>
            </a:r>
            <a:endParaRPr lang="en-US" sz="1400" dirty="0"/>
          </a:p>
        </p:txBody>
      </p:sp>
      <p:sp>
        <p:nvSpPr>
          <p:cNvPr id="37" name="Text 33"/>
          <p:cNvSpPr/>
          <p:nvPr/>
        </p:nvSpPr>
        <p:spPr>
          <a:xfrm>
            <a:off x="3587353" y="6201371"/>
            <a:ext cx="2452688" cy="205740"/>
          </a:xfrm>
          <a:prstGeom prst="rect">
            <a:avLst/>
          </a:prstGeom>
          <a:noFill/>
        </p:spPr>
        <p:txBody>
          <a:bodyPr wrap="square" lIns="0" tIns="0" rIns="0" bIns="0" rtlCol="0" anchor="t">
            <a:spAutoFit/>
          </a:bodyPr>
          <a:lstStyle/>
          <a:p>
            <a:pPr marL="0" indent="0" algn="l">
              <a:buNone/>
            </a:pPr>
            <a:r>
              <a:rPr lang="en-US" sz="1335" b="1" dirty="0">
                <a:solidFill>
                  <a:srgbClr val="E3B341"/>
                </a:solidFill>
                <a:latin typeface="Inter" pitchFamily="34" charset="0"/>
                <a:ea typeface="Inter" pitchFamily="34" charset="-122"/>
                <a:cs typeface="Inter" pitchFamily="34" charset="-120"/>
              </a:rPr>
              <a:t>4 different representations.</a:t>
            </a:r>
            <a:endParaRPr lang="en-US" sz="1335" dirty="0"/>
          </a:p>
        </p:txBody>
      </p:sp>
      <p:sp>
        <p:nvSpPr>
          <p:cNvPr id="38" name="Text 34"/>
          <p:cNvSpPr/>
          <p:nvPr/>
        </p:nvSpPr>
        <p:spPr>
          <a:xfrm>
            <a:off x="6040040" y="6201371"/>
            <a:ext cx="3969544" cy="215265"/>
          </a:xfrm>
          <a:prstGeom prst="rect">
            <a:avLst/>
          </a:prstGeom>
          <a:noFill/>
        </p:spPr>
        <p:txBody>
          <a:bodyPr wrap="square" lIns="0" tIns="0" rIns="0" bIns="0" rtlCol="0" anchor="t">
            <a:spAutoFit/>
          </a:bodyPr>
          <a:lstStyle/>
          <a:p>
            <a:pPr marL="0" indent="0" algn="l">
              <a:buNone/>
            </a:pPr>
            <a:r>
              <a:rPr lang="en-US" sz="1400" dirty="0">
                <a:solidFill>
                  <a:srgbClr val="E6EDF3"/>
                </a:solidFill>
                <a:latin typeface="Inter" pitchFamily="34" charset="0"/>
                <a:ea typeface="Inter" pitchFamily="34" charset="-122"/>
                <a:cs typeface="Inter" pitchFamily="34" charset="-120"/>
              </a:rPr>
              <a:t>Computers use all of them interchangeably.</a:t>
            </a:r>
            <a:endParaRPr lang="en-US" sz="1400" dirty="0"/>
          </a:p>
        </p:txBody>
      </p:sp>
      <p:grpSp>
        <p:nvGrpSpPr>
          <p:cNvPr id="39" name="Group 2"/>
          <p:cNvGrpSpPr/>
          <p:nvPr/>
        </p:nvGrpSpPr>
        <p:grpSpPr>
          <a:xfrm rot="0">
            <a:off x="294640" y="194310"/>
            <a:ext cx="789305" cy="299720"/>
            <a:chOff x="0" y="0"/>
            <a:chExt cx="341337" cy="102463"/>
          </a:xfrm>
        </p:grpSpPr>
        <p:sp>
          <p:nvSpPr>
            <p:cNvPr id="40"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1"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2" name="Group 5"/>
          <p:cNvGrpSpPr/>
          <p:nvPr/>
        </p:nvGrpSpPr>
        <p:grpSpPr>
          <a:xfrm rot="0">
            <a:off x="822325" y="209550"/>
            <a:ext cx="220980" cy="246380"/>
            <a:chOff x="0" y="0"/>
            <a:chExt cx="812800" cy="812800"/>
          </a:xfrm>
        </p:grpSpPr>
        <p:sp>
          <p:nvSpPr>
            <p:cNvPr id="43"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4"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5"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E3B341"/>
                </a:solidFill>
                <a:latin typeface="Poppins Bold" pitchFamily="34" charset="0"/>
                <a:ea typeface="Poppins Bold" pitchFamily="34" charset="-122"/>
                <a:cs typeface="Poppins Bold" pitchFamily="34" charset="-120"/>
              </a:rPr>
              <a:t>PRACTICE PROBLEMS: YOUR TURN</a:t>
            </a:r>
            <a:endParaRPr lang="en-US" sz="3265" dirty="0"/>
          </a:p>
        </p:txBody>
      </p:sp>
      <p:sp>
        <p:nvSpPr>
          <p:cNvPr id="4" name="Shape 1"/>
          <p:cNvSpPr/>
          <p:nvPr/>
        </p:nvSpPr>
        <p:spPr>
          <a:xfrm>
            <a:off x="571500" y="1869876"/>
            <a:ext cx="5467351" cy="1415839"/>
          </a:xfrm>
          <a:prstGeom prst="rect">
            <a:avLst/>
          </a:prstGeom>
          <a:solidFill>
            <a:srgbClr val="161B22"/>
          </a:solidFill>
        </p:spPr>
      </p:sp>
      <p:sp>
        <p:nvSpPr>
          <p:cNvPr id="5" name="Shape 2"/>
          <p:cNvSpPr/>
          <p:nvPr/>
        </p:nvSpPr>
        <p:spPr>
          <a:xfrm>
            <a:off x="571500" y="1869876"/>
            <a:ext cx="5467351" cy="38100"/>
          </a:xfrm>
          <a:prstGeom prst="rect">
            <a:avLst/>
          </a:prstGeom>
          <a:solidFill>
            <a:srgbClr val="E3B341"/>
          </a:solidFill>
        </p:spPr>
      </p:sp>
      <p:pic>
        <p:nvPicPr>
          <p:cNvPr id="6" name="Image 1" descr="preencoded.png"/>
          <p:cNvPicPr>
            <a:picLocks noChangeAspect="1"/>
          </p:cNvPicPr>
          <p:nvPr/>
        </p:nvPicPr>
        <p:blipFill>
          <a:blip r:embed="rId2"/>
          <a:stretch>
            <a:fillRect/>
          </a:stretch>
        </p:blipFill>
        <p:spPr>
          <a:xfrm>
            <a:off x="685800" y="2015133"/>
            <a:ext cx="171451" cy="171451"/>
          </a:xfrm>
          <a:prstGeom prst="rect">
            <a:avLst/>
          </a:prstGeom>
        </p:spPr>
      </p:pic>
      <p:sp>
        <p:nvSpPr>
          <p:cNvPr id="7" name="Text 3"/>
          <p:cNvSpPr/>
          <p:nvPr/>
        </p:nvSpPr>
        <p:spPr>
          <a:xfrm>
            <a:off x="952500" y="1984176"/>
            <a:ext cx="2048359" cy="194310"/>
          </a:xfrm>
          <a:prstGeom prst="rect">
            <a:avLst/>
          </a:prstGeom>
          <a:noFill/>
        </p:spPr>
        <p:txBody>
          <a:bodyPr wrap="square" lIns="0" tIns="0" rIns="0" bIns="0" rtlCol="0" anchor="t">
            <a:spAutoFit/>
          </a:bodyPr>
          <a:lstStyle/>
          <a:p>
            <a:pPr marL="0" indent="0" algn="l">
              <a:buNone/>
            </a:pPr>
            <a:r>
              <a:rPr lang="en-US" sz="1265" dirty="0">
                <a:solidFill>
                  <a:srgbClr val="E3B341"/>
                </a:solidFill>
                <a:latin typeface="JetBrains Mono" pitchFamily="34" charset="0"/>
                <a:ea typeface="JetBrains Mono" pitchFamily="34" charset="-122"/>
                <a:cs typeface="JetBrains Mono" pitchFamily="34" charset="-120"/>
              </a:rPr>
              <a:t>Q1: BINARY → DECIMAL</a:t>
            </a:r>
            <a:endParaRPr lang="en-US" sz="1265" dirty="0"/>
          </a:p>
        </p:txBody>
      </p:sp>
      <p:sp>
        <p:nvSpPr>
          <p:cNvPr id="8" name="Text 4"/>
          <p:cNvSpPr/>
          <p:nvPr/>
        </p:nvSpPr>
        <p:spPr>
          <a:xfrm>
            <a:off x="685800" y="2293739"/>
            <a:ext cx="3583305" cy="264795"/>
          </a:xfrm>
          <a:prstGeom prst="rect">
            <a:avLst/>
          </a:prstGeom>
          <a:noFill/>
        </p:spPr>
        <p:txBody>
          <a:bodyPr wrap="none" lIns="0" tIns="0" rIns="0" bIns="0" rtlCol="0" anchor="t">
            <a:spAutoFit/>
          </a:bodyPr>
          <a:lstStyle/>
          <a:p>
            <a:pPr marL="0" indent="0" algn="l">
              <a:lnSpc>
                <a:spcPct val="112000"/>
              </a:lnSpc>
              <a:buNone/>
            </a:pPr>
            <a:r>
              <a:rPr lang="en-US" sz="1535" dirty="0">
                <a:solidFill>
                  <a:srgbClr val="E6EDF3"/>
                </a:solidFill>
                <a:latin typeface="JetBrains Mono" pitchFamily="34" charset="0"/>
                <a:ea typeface="JetBrains Mono" pitchFamily="34" charset="-122"/>
                <a:cs typeface="JetBrains Mono" pitchFamily="34" charset="-120"/>
              </a:rPr>
              <a:t>Convert </a:t>
            </a:r>
            <a:r>
              <a:rPr lang="en-US" sz="1535" dirty="0">
                <a:solidFill>
                  <a:srgbClr val="00FF9C"/>
                </a:solidFill>
                <a:latin typeface="JetBrains Mono" pitchFamily="34" charset="0"/>
                <a:ea typeface="JetBrains Mono" pitchFamily="34" charset="-122"/>
                <a:cs typeface="JetBrains Mono" pitchFamily="34" charset="-120"/>
              </a:rPr>
              <a:t>10101010</a:t>
            </a:r>
            <a:r>
              <a:rPr lang="en-US" sz="1535" dirty="0">
                <a:solidFill>
                  <a:srgbClr val="E6EDF3"/>
                </a:solidFill>
                <a:latin typeface="JetBrains Mono" pitchFamily="34" charset="0"/>
                <a:ea typeface="JetBrains Mono" pitchFamily="34" charset="-122"/>
                <a:cs typeface="JetBrains Mono" pitchFamily="34" charset="-120"/>
              </a:rPr>
              <a:t> from binary to decimal.</a:t>
            </a:r>
            <a:endParaRPr lang="en-US" sz="1535" dirty="0"/>
          </a:p>
        </p:txBody>
      </p:sp>
      <p:sp>
        <p:nvSpPr>
          <p:cNvPr id="9" name="Shape 5"/>
          <p:cNvSpPr/>
          <p:nvPr/>
        </p:nvSpPr>
        <p:spPr>
          <a:xfrm>
            <a:off x="6153151" y="1869876"/>
            <a:ext cx="5467351" cy="1415839"/>
          </a:xfrm>
          <a:prstGeom prst="rect">
            <a:avLst/>
          </a:prstGeom>
          <a:solidFill>
            <a:srgbClr val="161B22"/>
          </a:solidFill>
        </p:spPr>
      </p:sp>
      <p:sp>
        <p:nvSpPr>
          <p:cNvPr id="10" name="Shape 6"/>
          <p:cNvSpPr/>
          <p:nvPr/>
        </p:nvSpPr>
        <p:spPr>
          <a:xfrm>
            <a:off x="6153151" y="1869876"/>
            <a:ext cx="5467351" cy="38100"/>
          </a:xfrm>
          <a:prstGeom prst="rect">
            <a:avLst/>
          </a:prstGeom>
          <a:solidFill>
            <a:srgbClr val="E3B341"/>
          </a:solidFill>
        </p:spPr>
      </p:sp>
      <p:pic>
        <p:nvPicPr>
          <p:cNvPr id="11" name="Image 2" descr="preencoded.png"/>
          <p:cNvPicPr>
            <a:picLocks noChangeAspect="1"/>
          </p:cNvPicPr>
          <p:nvPr/>
        </p:nvPicPr>
        <p:blipFill>
          <a:blip r:embed="rId3"/>
          <a:stretch>
            <a:fillRect/>
          </a:stretch>
        </p:blipFill>
        <p:spPr>
          <a:xfrm>
            <a:off x="6267451" y="2015133"/>
            <a:ext cx="128588" cy="171451"/>
          </a:xfrm>
          <a:prstGeom prst="rect">
            <a:avLst/>
          </a:prstGeom>
        </p:spPr>
      </p:pic>
      <p:sp>
        <p:nvSpPr>
          <p:cNvPr id="12" name="Text 7"/>
          <p:cNvSpPr/>
          <p:nvPr/>
        </p:nvSpPr>
        <p:spPr>
          <a:xfrm>
            <a:off x="6491288" y="1984176"/>
            <a:ext cx="2048359" cy="194310"/>
          </a:xfrm>
          <a:prstGeom prst="rect">
            <a:avLst/>
          </a:prstGeom>
          <a:noFill/>
        </p:spPr>
        <p:txBody>
          <a:bodyPr wrap="square" lIns="0" tIns="0" rIns="0" bIns="0" rtlCol="0" anchor="t">
            <a:spAutoFit/>
          </a:bodyPr>
          <a:lstStyle/>
          <a:p>
            <a:pPr marL="0" indent="0" algn="l">
              <a:buNone/>
            </a:pPr>
            <a:r>
              <a:rPr lang="en-US" sz="1265" dirty="0">
                <a:solidFill>
                  <a:srgbClr val="E3B341"/>
                </a:solidFill>
                <a:latin typeface="JetBrains Mono" pitchFamily="34" charset="0"/>
                <a:ea typeface="JetBrains Mono" pitchFamily="34" charset="-122"/>
                <a:cs typeface="JetBrains Mono" pitchFamily="34" charset="-120"/>
              </a:rPr>
              <a:t>Q2: DECIMAL → BINARY</a:t>
            </a:r>
            <a:endParaRPr lang="en-US" sz="1265" dirty="0"/>
          </a:p>
        </p:txBody>
      </p:sp>
      <p:sp>
        <p:nvSpPr>
          <p:cNvPr id="13" name="Text 8"/>
          <p:cNvSpPr/>
          <p:nvPr/>
        </p:nvSpPr>
        <p:spPr>
          <a:xfrm>
            <a:off x="6267451" y="2293739"/>
            <a:ext cx="3077210" cy="264795"/>
          </a:xfrm>
          <a:prstGeom prst="rect">
            <a:avLst/>
          </a:prstGeom>
          <a:noFill/>
        </p:spPr>
        <p:txBody>
          <a:bodyPr wrap="none" lIns="0" tIns="0" rIns="0" bIns="0" rtlCol="0" anchor="t">
            <a:spAutoFit/>
          </a:bodyPr>
          <a:lstStyle/>
          <a:p>
            <a:pPr marL="0" indent="0" algn="l">
              <a:lnSpc>
                <a:spcPct val="112000"/>
              </a:lnSpc>
              <a:buNone/>
            </a:pPr>
            <a:r>
              <a:rPr lang="en-US" sz="1535" dirty="0">
                <a:solidFill>
                  <a:srgbClr val="E6EDF3"/>
                </a:solidFill>
                <a:latin typeface="JetBrains Mono" pitchFamily="34" charset="0"/>
                <a:ea typeface="JetBrains Mono" pitchFamily="34" charset="-122"/>
                <a:cs typeface="JetBrains Mono" pitchFamily="34" charset="-120"/>
              </a:rPr>
              <a:t>Convert </a:t>
            </a:r>
            <a:r>
              <a:rPr lang="en-US" sz="1535" dirty="0">
                <a:solidFill>
                  <a:srgbClr val="00FF9C"/>
                </a:solidFill>
                <a:latin typeface="JetBrains Mono" pitchFamily="34" charset="0"/>
                <a:ea typeface="JetBrains Mono" pitchFamily="34" charset="-122"/>
                <a:cs typeface="JetBrains Mono" pitchFamily="34" charset="-120"/>
              </a:rPr>
              <a:t>255</a:t>
            </a:r>
            <a:r>
              <a:rPr lang="en-US" sz="1535" dirty="0">
                <a:solidFill>
                  <a:srgbClr val="E6EDF3"/>
                </a:solidFill>
                <a:latin typeface="JetBrains Mono" pitchFamily="34" charset="0"/>
                <a:ea typeface="JetBrains Mono" pitchFamily="34" charset="-122"/>
                <a:cs typeface="JetBrains Mono" pitchFamily="34" charset="-120"/>
              </a:rPr>
              <a:t> from decimal to binary.</a:t>
            </a:r>
            <a:endParaRPr lang="en-US" sz="1535" dirty="0"/>
          </a:p>
        </p:txBody>
      </p:sp>
      <p:sp>
        <p:nvSpPr>
          <p:cNvPr id="14" name="Shape 9"/>
          <p:cNvSpPr/>
          <p:nvPr/>
        </p:nvSpPr>
        <p:spPr>
          <a:xfrm>
            <a:off x="571500" y="3374603"/>
            <a:ext cx="5467351" cy="1428564"/>
          </a:xfrm>
          <a:prstGeom prst="rect">
            <a:avLst/>
          </a:prstGeom>
          <a:solidFill>
            <a:srgbClr val="161B22"/>
          </a:solidFill>
        </p:spPr>
      </p:sp>
      <p:sp>
        <p:nvSpPr>
          <p:cNvPr id="15" name="Shape 10"/>
          <p:cNvSpPr/>
          <p:nvPr/>
        </p:nvSpPr>
        <p:spPr>
          <a:xfrm>
            <a:off x="571500" y="3374603"/>
            <a:ext cx="5467351" cy="38100"/>
          </a:xfrm>
          <a:prstGeom prst="rect">
            <a:avLst/>
          </a:prstGeom>
          <a:solidFill>
            <a:srgbClr val="E3B341"/>
          </a:solidFill>
        </p:spPr>
      </p:sp>
      <p:pic>
        <p:nvPicPr>
          <p:cNvPr id="16" name="Image 3" descr="preencoded.png"/>
          <p:cNvPicPr>
            <a:picLocks noChangeAspect="1"/>
          </p:cNvPicPr>
          <p:nvPr/>
        </p:nvPicPr>
        <p:blipFill>
          <a:blip r:embed="rId4"/>
          <a:stretch>
            <a:fillRect/>
          </a:stretch>
        </p:blipFill>
        <p:spPr>
          <a:xfrm>
            <a:off x="685800" y="3516288"/>
            <a:ext cx="150019" cy="171451"/>
          </a:xfrm>
          <a:prstGeom prst="rect">
            <a:avLst/>
          </a:prstGeom>
        </p:spPr>
      </p:pic>
      <p:sp>
        <p:nvSpPr>
          <p:cNvPr id="17" name="Text 11"/>
          <p:cNvSpPr/>
          <p:nvPr/>
        </p:nvSpPr>
        <p:spPr>
          <a:xfrm>
            <a:off x="931069" y="3488903"/>
            <a:ext cx="1269365" cy="194310"/>
          </a:xfrm>
          <a:prstGeom prst="rect">
            <a:avLst/>
          </a:prstGeom>
          <a:noFill/>
        </p:spPr>
        <p:txBody>
          <a:bodyPr wrap="none" lIns="0" tIns="0" rIns="0" bIns="0" rtlCol="0" anchor="t">
            <a:spAutoFit/>
          </a:bodyPr>
          <a:lstStyle/>
          <a:p>
            <a:pPr marL="0" indent="0" algn="l">
              <a:buNone/>
            </a:pPr>
            <a:r>
              <a:rPr lang="en-US" sz="1265" dirty="0">
                <a:solidFill>
                  <a:srgbClr val="E3B341"/>
                </a:solidFill>
                <a:latin typeface="JetBrains Mono" pitchFamily="34" charset="0"/>
                <a:ea typeface="JetBrains Mono" pitchFamily="34" charset="-122"/>
                <a:cs typeface="JetBrains Mono" pitchFamily="34" charset="-120"/>
              </a:rPr>
              <a:t>Q3: ASCII DECODE</a:t>
            </a:r>
            <a:endParaRPr lang="en-US" sz="1265" dirty="0"/>
          </a:p>
        </p:txBody>
      </p:sp>
      <p:sp>
        <p:nvSpPr>
          <p:cNvPr id="18" name="Text 12"/>
          <p:cNvSpPr/>
          <p:nvPr/>
        </p:nvSpPr>
        <p:spPr>
          <a:xfrm>
            <a:off x="685800" y="3791323"/>
            <a:ext cx="3176270" cy="264795"/>
          </a:xfrm>
          <a:prstGeom prst="rect">
            <a:avLst/>
          </a:prstGeom>
          <a:noFill/>
        </p:spPr>
        <p:txBody>
          <a:bodyPr wrap="none" lIns="0" tIns="0" rIns="0" bIns="0" rtlCol="0" anchor="t">
            <a:spAutoFit/>
          </a:bodyPr>
          <a:lstStyle/>
          <a:p>
            <a:pPr marL="0" indent="0" algn="l">
              <a:lnSpc>
                <a:spcPct val="112000"/>
              </a:lnSpc>
              <a:buNone/>
            </a:pPr>
            <a:r>
              <a:rPr lang="en-US" sz="1535" dirty="0">
                <a:solidFill>
                  <a:srgbClr val="E6EDF3"/>
                </a:solidFill>
                <a:latin typeface="JetBrains Mono" pitchFamily="34" charset="0"/>
                <a:ea typeface="JetBrains Mono" pitchFamily="34" charset="-122"/>
                <a:cs typeface="JetBrains Mono" pitchFamily="34" charset="-120"/>
              </a:rPr>
              <a:t>What ASCII character is decimal </a:t>
            </a:r>
            <a:r>
              <a:rPr lang="en-US" sz="1535" dirty="0">
                <a:solidFill>
                  <a:srgbClr val="00FF9C"/>
                </a:solidFill>
                <a:latin typeface="JetBrains Mono" pitchFamily="34" charset="0"/>
                <a:ea typeface="JetBrains Mono" pitchFamily="34" charset="-122"/>
                <a:cs typeface="JetBrains Mono" pitchFamily="34" charset="-120"/>
              </a:rPr>
              <a:t>102</a:t>
            </a:r>
            <a:r>
              <a:rPr lang="en-US" sz="1535" dirty="0">
                <a:solidFill>
                  <a:srgbClr val="E6EDF3"/>
                </a:solidFill>
                <a:latin typeface="JetBrains Mono" pitchFamily="34" charset="0"/>
                <a:ea typeface="JetBrains Mono" pitchFamily="34" charset="-122"/>
                <a:cs typeface="JetBrains Mono" pitchFamily="34" charset="-120"/>
              </a:rPr>
              <a:t>?</a:t>
            </a:r>
            <a:endParaRPr lang="en-US" sz="1535" dirty="0"/>
          </a:p>
        </p:txBody>
      </p:sp>
      <p:sp>
        <p:nvSpPr>
          <p:cNvPr id="19" name="Shape 13"/>
          <p:cNvSpPr/>
          <p:nvPr/>
        </p:nvSpPr>
        <p:spPr>
          <a:xfrm>
            <a:off x="6153151" y="3374603"/>
            <a:ext cx="5467351" cy="1428564"/>
          </a:xfrm>
          <a:prstGeom prst="rect">
            <a:avLst/>
          </a:prstGeom>
          <a:solidFill>
            <a:srgbClr val="161B22"/>
          </a:solidFill>
        </p:spPr>
      </p:sp>
      <p:sp>
        <p:nvSpPr>
          <p:cNvPr id="20" name="Shape 14"/>
          <p:cNvSpPr/>
          <p:nvPr/>
        </p:nvSpPr>
        <p:spPr>
          <a:xfrm>
            <a:off x="6153151" y="3374603"/>
            <a:ext cx="5467351" cy="38100"/>
          </a:xfrm>
          <a:prstGeom prst="rect">
            <a:avLst/>
          </a:prstGeom>
          <a:solidFill>
            <a:srgbClr val="E3B341"/>
          </a:solidFill>
        </p:spPr>
      </p:sp>
      <p:pic>
        <p:nvPicPr>
          <p:cNvPr id="21" name="Image 4" descr="preencoded.png"/>
          <p:cNvPicPr>
            <a:picLocks noChangeAspect="1"/>
          </p:cNvPicPr>
          <p:nvPr/>
        </p:nvPicPr>
        <p:blipFill>
          <a:blip r:embed="rId5"/>
          <a:stretch>
            <a:fillRect/>
          </a:stretch>
        </p:blipFill>
        <p:spPr>
          <a:xfrm>
            <a:off x="6267451" y="3532584"/>
            <a:ext cx="214312" cy="171451"/>
          </a:xfrm>
          <a:prstGeom prst="rect">
            <a:avLst/>
          </a:prstGeom>
        </p:spPr>
      </p:pic>
      <p:sp>
        <p:nvSpPr>
          <p:cNvPr id="22" name="Text 15"/>
          <p:cNvSpPr/>
          <p:nvPr/>
        </p:nvSpPr>
        <p:spPr>
          <a:xfrm>
            <a:off x="6577012" y="3501628"/>
            <a:ext cx="1741177" cy="194310"/>
          </a:xfrm>
          <a:prstGeom prst="rect">
            <a:avLst/>
          </a:prstGeom>
          <a:noFill/>
        </p:spPr>
        <p:txBody>
          <a:bodyPr wrap="square" lIns="0" tIns="0" rIns="0" bIns="0" rtlCol="0" anchor="t">
            <a:spAutoFit/>
          </a:bodyPr>
          <a:lstStyle/>
          <a:p>
            <a:pPr marL="0" indent="0" algn="l">
              <a:buNone/>
            </a:pPr>
            <a:r>
              <a:rPr lang="en-US" sz="1265" dirty="0">
                <a:solidFill>
                  <a:srgbClr val="E3B341"/>
                </a:solidFill>
                <a:latin typeface="JetBrains Mono" pitchFamily="34" charset="0"/>
                <a:ea typeface="JetBrains Mono" pitchFamily="34" charset="-122"/>
                <a:cs typeface="JetBrains Mono" pitchFamily="34" charset="-120"/>
              </a:rPr>
              <a:t>Q4: HEX → DECIMAL</a:t>
            </a:r>
            <a:endParaRPr lang="en-US" sz="1265" dirty="0"/>
          </a:p>
        </p:txBody>
      </p:sp>
      <p:sp>
        <p:nvSpPr>
          <p:cNvPr id="23" name="Text 16"/>
          <p:cNvSpPr/>
          <p:nvPr/>
        </p:nvSpPr>
        <p:spPr>
          <a:xfrm>
            <a:off x="6267451" y="3811191"/>
            <a:ext cx="2096135" cy="264795"/>
          </a:xfrm>
          <a:prstGeom prst="rect">
            <a:avLst/>
          </a:prstGeom>
          <a:noFill/>
        </p:spPr>
        <p:txBody>
          <a:bodyPr wrap="none" lIns="0" tIns="0" rIns="0" bIns="0" rtlCol="0" anchor="t">
            <a:spAutoFit/>
          </a:bodyPr>
          <a:lstStyle/>
          <a:p>
            <a:pPr marL="0" indent="0" algn="l">
              <a:lnSpc>
                <a:spcPct val="112000"/>
              </a:lnSpc>
              <a:buNone/>
            </a:pPr>
            <a:r>
              <a:rPr lang="en-US" sz="1535" dirty="0">
                <a:solidFill>
                  <a:srgbClr val="E6EDF3"/>
                </a:solidFill>
                <a:latin typeface="JetBrains Mono" pitchFamily="34" charset="0"/>
                <a:ea typeface="JetBrains Mono" pitchFamily="34" charset="-122"/>
                <a:cs typeface="JetBrains Mono" pitchFamily="34" charset="-120"/>
              </a:rPr>
              <a:t>Convert </a:t>
            </a:r>
            <a:r>
              <a:rPr lang="en-US" sz="1535" dirty="0">
                <a:solidFill>
                  <a:srgbClr val="00FF9C"/>
                </a:solidFill>
                <a:latin typeface="JetBrains Mono" pitchFamily="34" charset="0"/>
                <a:ea typeface="JetBrains Mono" pitchFamily="34" charset="-122"/>
                <a:cs typeface="JetBrains Mono" pitchFamily="34" charset="-120"/>
              </a:rPr>
              <a:t>0xFF</a:t>
            </a:r>
            <a:r>
              <a:rPr lang="en-US" sz="1535" dirty="0">
                <a:solidFill>
                  <a:srgbClr val="E6EDF3"/>
                </a:solidFill>
                <a:latin typeface="JetBrains Mono" pitchFamily="34" charset="0"/>
                <a:ea typeface="JetBrains Mono" pitchFamily="34" charset="-122"/>
                <a:cs typeface="JetBrains Mono" pitchFamily="34" charset="-120"/>
              </a:rPr>
              <a:t> to decimal.</a:t>
            </a:r>
            <a:endParaRPr lang="en-US" sz="1535" dirty="0"/>
          </a:p>
        </p:txBody>
      </p:sp>
      <p:sp>
        <p:nvSpPr>
          <p:cNvPr id="24" name="Shape 17"/>
          <p:cNvSpPr/>
          <p:nvPr/>
        </p:nvSpPr>
        <p:spPr>
          <a:xfrm>
            <a:off x="571500" y="4904780"/>
            <a:ext cx="11049000" cy="1155501"/>
          </a:xfrm>
          <a:prstGeom prst="rect">
            <a:avLst/>
          </a:prstGeom>
          <a:solidFill>
            <a:srgbClr val="161B22"/>
          </a:solidFill>
        </p:spPr>
      </p:sp>
      <p:sp>
        <p:nvSpPr>
          <p:cNvPr id="25" name="Shape 18"/>
          <p:cNvSpPr/>
          <p:nvPr/>
        </p:nvSpPr>
        <p:spPr>
          <a:xfrm>
            <a:off x="571500" y="4904780"/>
            <a:ext cx="11049000" cy="38100"/>
          </a:xfrm>
          <a:prstGeom prst="rect">
            <a:avLst/>
          </a:prstGeom>
          <a:solidFill>
            <a:srgbClr val="E3B341"/>
          </a:solidFill>
        </p:spPr>
      </p:sp>
      <p:pic>
        <p:nvPicPr>
          <p:cNvPr id="26" name="Image 5" descr="preencoded.png"/>
          <p:cNvPicPr>
            <a:picLocks noChangeAspect="1"/>
          </p:cNvPicPr>
          <p:nvPr/>
        </p:nvPicPr>
        <p:blipFill>
          <a:blip r:embed="rId6"/>
          <a:stretch>
            <a:fillRect/>
          </a:stretch>
        </p:blipFill>
        <p:spPr>
          <a:xfrm>
            <a:off x="685800" y="5071839"/>
            <a:ext cx="171451" cy="171451"/>
          </a:xfrm>
          <a:prstGeom prst="rect">
            <a:avLst/>
          </a:prstGeom>
        </p:spPr>
      </p:pic>
      <p:sp>
        <p:nvSpPr>
          <p:cNvPr id="27" name="Text 19"/>
          <p:cNvSpPr/>
          <p:nvPr/>
        </p:nvSpPr>
        <p:spPr>
          <a:xfrm>
            <a:off x="952500" y="5044455"/>
            <a:ext cx="2150269" cy="194310"/>
          </a:xfrm>
          <a:prstGeom prst="rect">
            <a:avLst/>
          </a:prstGeom>
          <a:noFill/>
        </p:spPr>
        <p:txBody>
          <a:bodyPr wrap="square" lIns="0" tIns="0" rIns="0" bIns="0" rtlCol="0" anchor="t">
            <a:spAutoFit/>
          </a:bodyPr>
          <a:lstStyle/>
          <a:p>
            <a:pPr marL="0" indent="0" algn="l">
              <a:buNone/>
            </a:pPr>
            <a:r>
              <a:rPr lang="en-US" sz="1265" dirty="0">
                <a:solidFill>
                  <a:srgbClr val="E3B341"/>
                </a:solidFill>
                <a:latin typeface="JetBrains Mono" pitchFamily="34" charset="0"/>
                <a:ea typeface="JetBrains Mono" pitchFamily="34" charset="-122"/>
                <a:cs typeface="JetBrains Mono" pitchFamily="34" charset="-120"/>
              </a:rPr>
              <a:t>Q5: LINUX PERMISSIONS</a:t>
            </a:r>
            <a:endParaRPr lang="en-US" sz="1265" dirty="0"/>
          </a:p>
        </p:txBody>
      </p:sp>
      <p:sp>
        <p:nvSpPr>
          <p:cNvPr id="28" name="Text 20"/>
          <p:cNvSpPr/>
          <p:nvPr/>
        </p:nvSpPr>
        <p:spPr>
          <a:xfrm>
            <a:off x="685800" y="5346873"/>
            <a:ext cx="3615690" cy="264795"/>
          </a:xfrm>
          <a:prstGeom prst="rect">
            <a:avLst/>
          </a:prstGeom>
          <a:noFill/>
        </p:spPr>
        <p:txBody>
          <a:bodyPr wrap="none" lIns="0" tIns="0" rIns="0" bIns="0" rtlCol="0" anchor="t">
            <a:spAutoFit/>
          </a:bodyPr>
          <a:lstStyle/>
          <a:p>
            <a:pPr marL="0" indent="0" algn="l">
              <a:lnSpc>
                <a:spcPct val="112000"/>
              </a:lnSpc>
              <a:buNone/>
            </a:pPr>
            <a:r>
              <a:rPr lang="en-US" sz="1535" dirty="0">
                <a:solidFill>
                  <a:srgbClr val="E6EDF3"/>
                </a:solidFill>
                <a:latin typeface="JetBrains Mono" pitchFamily="34" charset="0"/>
                <a:ea typeface="JetBrains Mono" pitchFamily="34" charset="-122"/>
                <a:cs typeface="JetBrains Mono" pitchFamily="34" charset="-120"/>
              </a:rPr>
              <a:t>What is </a:t>
            </a:r>
            <a:r>
              <a:rPr lang="en-US" sz="1535" dirty="0">
                <a:solidFill>
                  <a:srgbClr val="00FF9C"/>
                </a:solidFill>
                <a:latin typeface="JetBrains Mono" pitchFamily="34" charset="0"/>
                <a:ea typeface="JetBrains Mono" pitchFamily="34" charset="-122"/>
                <a:cs typeface="JetBrains Mono" pitchFamily="34" charset="-120"/>
              </a:rPr>
              <a:t>chmod 644</a:t>
            </a:r>
            <a:r>
              <a:rPr lang="en-US" sz="1535" dirty="0">
                <a:solidFill>
                  <a:srgbClr val="E6EDF3"/>
                </a:solidFill>
                <a:latin typeface="JetBrains Mono" pitchFamily="34" charset="0"/>
                <a:ea typeface="JetBrains Mono" pitchFamily="34" charset="-122"/>
                <a:cs typeface="JetBrains Mono" pitchFamily="34" charset="-120"/>
              </a:rPr>
              <a:t> in binary permissions?</a:t>
            </a:r>
            <a:endParaRPr lang="en-US" sz="1535" dirty="0"/>
          </a:p>
        </p:txBody>
      </p:sp>
      <p:pic>
        <p:nvPicPr>
          <p:cNvPr id="29" name="Image 6" descr="preencoded.png"/>
          <p:cNvPicPr>
            <a:picLocks noChangeAspect="1"/>
          </p:cNvPicPr>
          <p:nvPr/>
        </p:nvPicPr>
        <p:blipFill>
          <a:blip r:embed="rId7"/>
          <a:stretch>
            <a:fillRect/>
          </a:stretch>
        </p:blipFill>
        <p:spPr>
          <a:xfrm>
            <a:off x="571500" y="6278165"/>
            <a:ext cx="171451" cy="171451"/>
          </a:xfrm>
          <a:prstGeom prst="rect">
            <a:avLst/>
          </a:prstGeom>
        </p:spPr>
      </p:pic>
      <p:sp>
        <p:nvSpPr>
          <p:cNvPr id="30" name="Text 21"/>
          <p:cNvSpPr/>
          <p:nvPr/>
        </p:nvSpPr>
        <p:spPr>
          <a:xfrm>
            <a:off x="885825" y="6250781"/>
            <a:ext cx="7474744"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pitchFamily="34" charset="0"/>
                <a:ea typeface="JetBrains Mono" pitchFamily="34" charset="-122"/>
                <a:cs typeface="JetBrains Mono" pitchFamily="34" charset="-120"/>
              </a:rPr>
              <a:t>Try solving without tools first. Then verify your answers with </a:t>
            </a:r>
            <a:r>
              <a:rPr lang="en-US" sz="1265" dirty="0">
                <a:solidFill>
                  <a:srgbClr val="00FF9C"/>
                </a:solidFill>
                <a:latin typeface="JetBrains Mono" pitchFamily="34" charset="0"/>
                <a:ea typeface="JetBrains Mono" pitchFamily="34" charset="-122"/>
                <a:cs typeface="JetBrains Mono" pitchFamily="34" charset="-120"/>
              </a:rPr>
              <a:t>CyberChef</a:t>
            </a:r>
            <a:r>
              <a:rPr lang="en-US" sz="1265" dirty="0">
                <a:solidFill>
                  <a:srgbClr val="8B949E"/>
                </a:solidFill>
                <a:latin typeface="JetBrains Mono" pitchFamily="34" charset="0"/>
                <a:ea typeface="JetBrains Mono" pitchFamily="34" charset="-122"/>
                <a:cs typeface="JetBrains Mono" pitchFamily="34" charset="-120"/>
              </a:rPr>
              <a:t>.</a:t>
            </a:r>
            <a:endParaRPr lang="en-US" sz="1265" dirty="0"/>
          </a:p>
        </p:txBody>
      </p:sp>
      <p:grpSp>
        <p:nvGrpSpPr>
          <p:cNvPr id="31" name="Group 2"/>
          <p:cNvGrpSpPr/>
          <p:nvPr/>
        </p:nvGrpSpPr>
        <p:grpSpPr>
          <a:xfrm rot="0">
            <a:off x="294640" y="194310"/>
            <a:ext cx="789305" cy="299720"/>
            <a:chOff x="0" y="0"/>
            <a:chExt cx="341337" cy="102463"/>
          </a:xfrm>
        </p:grpSpPr>
        <p:sp>
          <p:nvSpPr>
            <p:cNvPr id="32"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33"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34" name="Group 5"/>
          <p:cNvGrpSpPr/>
          <p:nvPr/>
        </p:nvGrpSpPr>
        <p:grpSpPr>
          <a:xfrm rot="0">
            <a:off x="822325" y="209550"/>
            <a:ext cx="220980" cy="246380"/>
            <a:chOff x="0" y="0"/>
            <a:chExt cx="812800" cy="812800"/>
          </a:xfrm>
        </p:grpSpPr>
        <p:sp>
          <p:nvSpPr>
            <p:cNvPr id="35"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6"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37"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49605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3890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7024241"/>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00FF9C"/>
                </a:solidFill>
                <a:latin typeface="Poppins Bold" pitchFamily="34" charset="0"/>
                <a:ea typeface="Poppins Bold" pitchFamily="34" charset="-122"/>
                <a:cs typeface="Poppins Bold" pitchFamily="34" charset="-120"/>
              </a:rPr>
              <a:t>SOLUTIONS &amp; WORKING</a:t>
            </a:r>
            <a:endParaRPr lang="en-US" sz="3265" dirty="0"/>
          </a:p>
        </p:txBody>
      </p:sp>
      <p:sp>
        <p:nvSpPr>
          <p:cNvPr id="4" name="Shape 1"/>
          <p:cNvSpPr/>
          <p:nvPr/>
        </p:nvSpPr>
        <p:spPr>
          <a:xfrm>
            <a:off x="571500" y="1869876"/>
            <a:ext cx="5453063" cy="1220613"/>
          </a:xfrm>
          <a:prstGeom prst="rect">
            <a:avLst/>
          </a:prstGeom>
          <a:solidFill>
            <a:srgbClr val="161B22"/>
          </a:solidFill>
        </p:spPr>
      </p:sp>
      <p:sp>
        <p:nvSpPr>
          <p:cNvPr id="5" name="Shape 2"/>
          <p:cNvSpPr/>
          <p:nvPr/>
        </p:nvSpPr>
        <p:spPr>
          <a:xfrm>
            <a:off x="571500" y="1869876"/>
            <a:ext cx="5453063" cy="38100"/>
          </a:xfrm>
          <a:prstGeom prst="rect">
            <a:avLst/>
          </a:prstGeom>
          <a:solidFill>
            <a:srgbClr val="00FF9C"/>
          </a:solidFill>
        </p:spPr>
      </p:sp>
      <p:sp>
        <p:nvSpPr>
          <p:cNvPr id="6" name="Text 3"/>
          <p:cNvSpPr/>
          <p:nvPr/>
        </p:nvSpPr>
        <p:spPr>
          <a:xfrm>
            <a:off x="762000" y="2012752"/>
            <a:ext cx="5072063" cy="174625"/>
          </a:xfrm>
          <a:prstGeom prst="rect">
            <a:avLst/>
          </a:prstGeom>
          <a:noFill/>
        </p:spPr>
        <p:txBody>
          <a:bodyPr wrap="square" lIns="0" tIns="0" rIns="0" bIns="0" rtlCol="0" anchor="t">
            <a:spAutoFit/>
          </a:bodyPr>
          <a:lstStyle/>
          <a:p>
            <a:pPr marL="0" indent="0" algn="l">
              <a:buNone/>
            </a:pPr>
            <a:r>
              <a:rPr lang="en-US" sz="1135" dirty="0">
                <a:solidFill>
                  <a:srgbClr val="58A6FF"/>
                </a:solidFill>
                <a:latin typeface="JetBrains Mono" pitchFamily="34" charset="0"/>
                <a:ea typeface="JetBrains Mono" pitchFamily="34" charset="-122"/>
                <a:cs typeface="JetBrains Mono" pitchFamily="34" charset="-120"/>
              </a:rPr>
              <a:t>A1: BINARY → DECIMAL</a:t>
            </a:r>
            <a:endParaRPr lang="en-US" sz="1135" dirty="0"/>
          </a:p>
        </p:txBody>
      </p:sp>
      <p:sp>
        <p:nvSpPr>
          <p:cNvPr id="7" name="Text 4"/>
          <p:cNvSpPr/>
          <p:nvPr/>
        </p:nvSpPr>
        <p:spPr>
          <a:xfrm>
            <a:off x="762000" y="2296120"/>
            <a:ext cx="5072063" cy="287020"/>
          </a:xfrm>
          <a:prstGeom prst="rect">
            <a:avLst/>
          </a:prstGeom>
          <a:noFill/>
        </p:spPr>
        <p:txBody>
          <a:bodyPr wrap="square" lIns="0" tIns="0" rIns="0" bIns="0" rtlCol="0" anchor="t">
            <a:spAutoFit/>
          </a:bodyPr>
          <a:lstStyle/>
          <a:p>
            <a:pPr marL="0" indent="0" algn="l">
              <a:buNone/>
            </a:pPr>
            <a:r>
              <a:rPr lang="en-US" sz="1865" b="1" dirty="0">
                <a:solidFill>
                  <a:srgbClr val="00FF9C"/>
                </a:solidFill>
                <a:latin typeface="JetBrains Mono" pitchFamily="34" charset="0"/>
                <a:ea typeface="JetBrains Mono" pitchFamily="34" charset="-122"/>
                <a:cs typeface="JetBrains Mono" pitchFamily="34" charset="-120"/>
              </a:rPr>
              <a:t>170</a:t>
            </a:r>
            <a:endParaRPr lang="en-US" sz="1865" dirty="0"/>
          </a:p>
        </p:txBody>
      </p:sp>
      <p:sp>
        <p:nvSpPr>
          <p:cNvPr id="8" name="Text 5"/>
          <p:cNvSpPr/>
          <p:nvPr/>
        </p:nvSpPr>
        <p:spPr>
          <a:xfrm>
            <a:off x="762000" y="2696171"/>
            <a:ext cx="2313305" cy="195580"/>
          </a:xfrm>
          <a:prstGeom prst="rect">
            <a:avLst/>
          </a:prstGeom>
          <a:noFill/>
        </p:spPr>
        <p:txBody>
          <a:bodyPr wrap="none" lIns="0" tIns="0" rIns="0" bIns="0" rtlCol="0" anchor="t">
            <a:spAutoFit/>
          </a:bodyPr>
          <a:lstStyle/>
          <a:p>
            <a:pPr marL="0" indent="0" algn="l">
              <a:lnSpc>
                <a:spcPct val="112000"/>
              </a:lnSpc>
              <a:buNone/>
            </a:pPr>
            <a:r>
              <a:rPr lang="en-US" sz="1135" dirty="0">
                <a:solidFill>
                  <a:srgbClr val="8B949E"/>
                </a:solidFill>
                <a:latin typeface="JetBrains Mono" pitchFamily="34" charset="0"/>
                <a:ea typeface="JetBrains Mono" pitchFamily="34" charset="-122"/>
                <a:cs typeface="JetBrains Mono" pitchFamily="34" charset="-120"/>
              </a:rPr>
              <a:t>128 + 0 + 32 + 0 + 8 + 0 + 2 + 0 = 170</a:t>
            </a:r>
            <a:endParaRPr lang="en-US" sz="1135" dirty="0"/>
          </a:p>
        </p:txBody>
      </p:sp>
      <p:sp>
        <p:nvSpPr>
          <p:cNvPr id="9" name="Shape 6"/>
          <p:cNvSpPr/>
          <p:nvPr/>
        </p:nvSpPr>
        <p:spPr>
          <a:xfrm>
            <a:off x="6167437" y="1869876"/>
            <a:ext cx="5453063" cy="1220613"/>
          </a:xfrm>
          <a:prstGeom prst="rect">
            <a:avLst/>
          </a:prstGeom>
          <a:solidFill>
            <a:srgbClr val="161B22"/>
          </a:solidFill>
        </p:spPr>
      </p:sp>
      <p:sp>
        <p:nvSpPr>
          <p:cNvPr id="10" name="Shape 7"/>
          <p:cNvSpPr/>
          <p:nvPr/>
        </p:nvSpPr>
        <p:spPr>
          <a:xfrm>
            <a:off x="6167437" y="1869876"/>
            <a:ext cx="5453063" cy="38100"/>
          </a:xfrm>
          <a:prstGeom prst="rect">
            <a:avLst/>
          </a:prstGeom>
          <a:solidFill>
            <a:srgbClr val="00FF9C"/>
          </a:solidFill>
        </p:spPr>
      </p:sp>
      <p:sp>
        <p:nvSpPr>
          <p:cNvPr id="11" name="Text 8"/>
          <p:cNvSpPr/>
          <p:nvPr/>
        </p:nvSpPr>
        <p:spPr>
          <a:xfrm>
            <a:off x="6357937" y="2012752"/>
            <a:ext cx="5072063" cy="174625"/>
          </a:xfrm>
          <a:prstGeom prst="rect">
            <a:avLst/>
          </a:prstGeom>
          <a:noFill/>
        </p:spPr>
        <p:txBody>
          <a:bodyPr wrap="square" lIns="0" tIns="0" rIns="0" bIns="0" rtlCol="0" anchor="t">
            <a:spAutoFit/>
          </a:bodyPr>
          <a:lstStyle/>
          <a:p>
            <a:pPr marL="0" indent="0" algn="l">
              <a:buNone/>
            </a:pPr>
            <a:r>
              <a:rPr lang="en-US" sz="1135" dirty="0">
                <a:solidFill>
                  <a:srgbClr val="58A6FF"/>
                </a:solidFill>
                <a:latin typeface="JetBrains Mono" pitchFamily="34" charset="0"/>
                <a:ea typeface="JetBrains Mono" pitchFamily="34" charset="-122"/>
                <a:cs typeface="JetBrains Mono" pitchFamily="34" charset="-120"/>
              </a:rPr>
              <a:t>A2: DECIMAL → BINARY</a:t>
            </a:r>
            <a:endParaRPr lang="en-US" sz="1135" dirty="0"/>
          </a:p>
        </p:txBody>
      </p:sp>
      <p:sp>
        <p:nvSpPr>
          <p:cNvPr id="12" name="Text 9"/>
          <p:cNvSpPr/>
          <p:nvPr/>
        </p:nvSpPr>
        <p:spPr>
          <a:xfrm>
            <a:off x="6357937" y="2296120"/>
            <a:ext cx="5072063" cy="287020"/>
          </a:xfrm>
          <a:prstGeom prst="rect">
            <a:avLst/>
          </a:prstGeom>
          <a:noFill/>
        </p:spPr>
        <p:txBody>
          <a:bodyPr wrap="square" lIns="0" tIns="0" rIns="0" bIns="0" rtlCol="0" anchor="t">
            <a:spAutoFit/>
          </a:bodyPr>
          <a:lstStyle/>
          <a:p>
            <a:pPr marL="0" indent="0" algn="l">
              <a:buNone/>
            </a:pPr>
            <a:r>
              <a:rPr lang="en-US" sz="1865" b="1" dirty="0">
                <a:solidFill>
                  <a:srgbClr val="00FF9C"/>
                </a:solidFill>
                <a:latin typeface="JetBrains Mono" pitchFamily="34" charset="0"/>
                <a:ea typeface="JetBrains Mono" pitchFamily="34" charset="-122"/>
                <a:cs typeface="JetBrains Mono" pitchFamily="34" charset="-120"/>
              </a:rPr>
              <a:t>11111111</a:t>
            </a:r>
            <a:endParaRPr lang="en-US" sz="1865" dirty="0"/>
          </a:p>
        </p:txBody>
      </p:sp>
      <p:sp>
        <p:nvSpPr>
          <p:cNvPr id="13" name="Text 10"/>
          <p:cNvSpPr/>
          <p:nvPr/>
        </p:nvSpPr>
        <p:spPr>
          <a:xfrm>
            <a:off x="6357937" y="2696171"/>
            <a:ext cx="3291205" cy="195580"/>
          </a:xfrm>
          <a:prstGeom prst="rect">
            <a:avLst/>
          </a:prstGeom>
          <a:noFill/>
        </p:spPr>
        <p:txBody>
          <a:bodyPr wrap="none" lIns="0" tIns="0" rIns="0" bIns="0" rtlCol="0" anchor="t">
            <a:spAutoFit/>
          </a:bodyPr>
          <a:lstStyle/>
          <a:p>
            <a:pPr marL="0" indent="0" algn="l">
              <a:lnSpc>
                <a:spcPct val="112000"/>
              </a:lnSpc>
              <a:buNone/>
            </a:pPr>
            <a:r>
              <a:rPr lang="en-US" sz="1135" dirty="0">
                <a:solidFill>
                  <a:srgbClr val="8B949E"/>
                </a:solidFill>
                <a:latin typeface="JetBrains Mono" pitchFamily="34" charset="0"/>
                <a:ea typeface="JetBrains Mono" pitchFamily="34" charset="-122"/>
                <a:cs typeface="JetBrains Mono" pitchFamily="34" charset="-120"/>
              </a:rPr>
              <a:t>255 is the maximum value for 8 bits. All bits are ON.</a:t>
            </a:r>
            <a:endParaRPr lang="en-US" sz="1135" dirty="0"/>
          </a:p>
        </p:txBody>
      </p:sp>
      <p:sp>
        <p:nvSpPr>
          <p:cNvPr id="14" name="Shape 11"/>
          <p:cNvSpPr/>
          <p:nvPr/>
        </p:nvSpPr>
        <p:spPr>
          <a:xfrm>
            <a:off x="571500" y="3195265"/>
            <a:ext cx="5453063" cy="1426815"/>
          </a:xfrm>
          <a:prstGeom prst="rect">
            <a:avLst/>
          </a:prstGeom>
          <a:solidFill>
            <a:srgbClr val="161B22"/>
          </a:solidFill>
        </p:spPr>
      </p:sp>
      <p:sp>
        <p:nvSpPr>
          <p:cNvPr id="15" name="Shape 12"/>
          <p:cNvSpPr/>
          <p:nvPr/>
        </p:nvSpPr>
        <p:spPr>
          <a:xfrm>
            <a:off x="571500" y="3195265"/>
            <a:ext cx="5453063" cy="38100"/>
          </a:xfrm>
          <a:prstGeom prst="rect">
            <a:avLst/>
          </a:prstGeom>
          <a:solidFill>
            <a:srgbClr val="00FF9C"/>
          </a:solidFill>
        </p:spPr>
      </p:sp>
      <p:sp>
        <p:nvSpPr>
          <p:cNvPr id="16" name="Text 13"/>
          <p:cNvSpPr/>
          <p:nvPr/>
        </p:nvSpPr>
        <p:spPr>
          <a:xfrm>
            <a:off x="762000" y="3338140"/>
            <a:ext cx="5072063" cy="174625"/>
          </a:xfrm>
          <a:prstGeom prst="rect">
            <a:avLst/>
          </a:prstGeom>
          <a:noFill/>
        </p:spPr>
        <p:txBody>
          <a:bodyPr wrap="square" lIns="0" tIns="0" rIns="0" bIns="0" rtlCol="0" anchor="t">
            <a:spAutoFit/>
          </a:bodyPr>
          <a:lstStyle/>
          <a:p>
            <a:pPr marL="0" indent="0" algn="l">
              <a:buNone/>
            </a:pPr>
            <a:r>
              <a:rPr lang="en-US" sz="1135" dirty="0">
                <a:solidFill>
                  <a:srgbClr val="58A6FF"/>
                </a:solidFill>
                <a:latin typeface="JetBrains Mono" pitchFamily="34" charset="0"/>
                <a:ea typeface="JetBrains Mono" pitchFamily="34" charset="-122"/>
                <a:cs typeface="JetBrains Mono" pitchFamily="34" charset="-120"/>
              </a:rPr>
              <a:t>A3: ASCII DECODE</a:t>
            </a:r>
            <a:endParaRPr lang="en-US" sz="1135" dirty="0"/>
          </a:p>
        </p:txBody>
      </p:sp>
      <p:sp>
        <p:nvSpPr>
          <p:cNvPr id="17" name="Text 14"/>
          <p:cNvSpPr/>
          <p:nvPr/>
        </p:nvSpPr>
        <p:spPr>
          <a:xfrm>
            <a:off x="762000" y="3614365"/>
            <a:ext cx="5072063" cy="287020"/>
          </a:xfrm>
          <a:prstGeom prst="rect">
            <a:avLst/>
          </a:prstGeom>
          <a:noFill/>
        </p:spPr>
        <p:txBody>
          <a:bodyPr wrap="square" lIns="0" tIns="0" rIns="0" bIns="0" rtlCol="0" anchor="t">
            <a:spAutoFit/>
          </a:bodyPr>
          <a:lstStyle/>
          <a:p>
            <a:pPr marL="0" indent="0" algn="l">
              <a:buNone/>
            </a:pPr>
            <a:r>
              <a:rPr lang="en-US" sz="1865" b="1" dirty="0">
                <a:solidFill>
                  <a:srgbClr val="00FF9C"/>
                </a:solidFill>
                <a:latin typeface="JetBrains Mono" pitchFamily="34" charset="0"/>
                <a:ea typeface="JetBrains Mono" pitchFamily="34" charset="-122"/>
                <a:cs typeface="JetBrains Mono" pitchFamily="34" charset="-120"/>
              </a:rPr>
              <a:t>'f'</a:t>
            </a:r>
            <a:endParaRPr lang="en-US" sz="1865" dirty="0"/>
          </a:p>
        </p:txBody>
      </p:sp>
      <p:sp>
        <p:nvSpPr>
          <p:cNvPr id="18" name="Text 15"/>
          <p:cNvSpPr/>
          <p:nvPr/>
        </p:nvSpPr>
        <p:spPr>
          <a:xfrm>
            <a:off x="762000" y="4014416"/>
            <a:ext cx="5072063" cy="195580"/>
          </a:xfrm>
          <a:prstGeom prst="rect">
            <a:avLst/>
          </a:prstGeom>
          <a:noFill/>
        </p:spPr>
        <p:txBody>
          <a:bodyPr wrap="square" lIns="0" tIns="0" rIns="0" bIns="0" rtlCol="0" anchor="t">
            <a:spAutoFit/>
          </a:bodyPr>
          <a:lstStyle/>
          <a:p>
            <a:pPr marL="0" indent="0" algn="l">
              <a:lnSpc>
                <a:spcPct val="112000"/>
              </a:lnSpc>
              <a:buNone/>
            </a:pPr>
            <a:r>
              <a:rPr lang="en-US" sz="1135" dirty="0">
                <a:solidFill>
                  <a:srgbClr val="8B949E"/>
                </a:solidFill>
                <a:latin typeface="JetBrains Mono" pitchFamily="34" charset="0"/>
                <a:ea typeface="JetBrains Mono" pitchFamily="34" charset="-122"/>
                <a:cs typeface="JetBrains Mono" pitchFamily="34" charset="-120"/>
              </a:rPr>
              <a:t>A=65, a=97. Counting from 97: a, b, c, d, e, f (97+5=102).</a:t>
            </a:r>
            <a:endParaRPr lang="en-US" sz="1135" dirty="0"/>
          </a:p>
        </p:txBody>
      </p:sp>
      <p:sp>
        <p:nvSpPr>
          <p:cNvPr id="19" name="Shape 16"/>
          <p:cNvSpPr/>
          <p:nvPr/>
        </p:nvSpPr>
        <p:spPr>
          <a:xfrm>
            <a:off x="6167437" y="3195265"/>
            <a:ext cx="5453063" cy="1388715"/>
          </a:xfrm>
          <a:prstGeom prst="rect">
            <a:avLst/>
          </a:prstGeom>
          <a:solidFill>
            <a:srgbClr val="161B22"/>
          </a:solidFill>
        </p:spPr>
      </p:sp>
      <p:sp>
        <p:nvSpPr>
          <p:cNvPr id="20" name="Shape 17"/>
          <p:cNvSpPr/>
          <p:nvPr/>
        </p:nvSpPr>
        <p:spPr>
          <a:xfrm>
            <a:off x="6167437" y="3195265"/>
            <a:ext cx="5453063" cy="38100"/>
          </a:xfrm>
          <a:prstGeom prst="rect">
            <a:avLst/>
          </a:prstGeom>
          <a:solidFill>
            <a:srgbClr val="00FF9C"/>
          </a:solidFill>
        </p:spPr>
      </p:sp>
      <p:sp>
        <p:nvSpPr>
          <p:cNvPr id="21" name="Text 18"/>
          <p:cNvSpPr/>
          <p:nvPr/>
        </p:nvSpPr>
        <p:spPr>
          <a:xfrm>
            <a:off x="6357937" y="3338140"/>
            <a:ext cx="5072063" cy="174625"/>
          </a:xfrm>
          <a:prstGeom prst="rect">
            <a:avLst/>
          </a:prstGeom>
          <a:noFill/>
        </p:spPr>
        <p:txBody>
          <a:bodyPr wrap="square" lIns="0" tIns="0" rIns="0" bIns="0" rtlCol="0" anchor="t">
            <a:spAutoFit/>
          </a:bodyPr>
          <a:lstStyle/>
          <a:p>
            <a:pPr marL="0" indent="0" algn="l">
              <a:buNone/>
            </a:pPr>
            <a:r>
              <a:rPr lang="en-US" sz="1135" dirty="0">
                <a:solidFill>
                  <a:srgbClr val="58A6FF"/>
                </a:solidFill>
                <a:latin typeface="JetBrains Mono" pitchFamily="34" charset="0"/>
                <a:ea typeface="JetBrains Mono" pitchFamily="34" charset="-122"/>
                <a:cs typeface="JetBrains Mono" pitchFamily="34" charset="-120"/>
              </a:rPr>
              <a:t>A4: HEX → DECIMAL</a:t>
            </a:r>
            <a:endParaRPr lang="en-US" sz="1135" dirty="0"/>
          </a:p>
        </p:txBody>
      </p:sp>
      <p:sp>
        <p:nvSpPr>
          <p:cNvPr id="22" name="Text 19"/>
          <p:cNvSpPr/>
          <p:nvPr/>
        </p:nvSpPr>
        <p:spPr>
          <a:xfrm>
            <a:off x="6357937" y="3621509"/>
            <a:ext cx="5072063" cy="287020"/>
          </a:xfrm>
          <a:prstGeom prst="rect">
            <a:avLst/>
          </a:prstGeom>
          <a:noFill/>
        </p:spPr>
        <p:txBody>
          <a:bodyPr wrap="square" lIns="0" tIns="0" rIns="0" bIns="0" rtlCol="0" anchor="t">
            <a:spAutoFit/>
          </a:bodyPr>
          <a:lstStyle/>
          <a:p>
            <a:pPr marL="0" indent="0" algn="l">
              <a:buNone/>
            </a:pPr>
            <a:r>
              <a:rPr lang="en-US" sz="1865" b="1" dirty="0">
                <a:solidFill>
                  <a:srgbClr val="00FF9C"/>
                </a:solidFill>
                <a:latin typeface="JetBrains Mono" pitchFamily="34" charset="0"/>
                <a:ea typeface="JetBrains Mono" pitchFamily="34" charset="-122"/>
                <a:cs typeface="JetBrains Mono" pitchFamily="34" charset="-120"/>
              </a:rPr>
              <a:t>255</a:t>
            </a:r>
            <a:endParaRPr lang="en-US" sz="1865" dirty="0"/>
          </a:p>
        </p:txBody>
      </p:sp>
      <p:sp>
        <p:nvSpPr>
          <p:cNvPr id="23" name="Text 20"/>
          <p:cNvSpPr/>
          <p:nvPr/>
        </p:nvSpPr>
        <p:spPr>
          <a:xfrm>
            <a:off x="6357937" y="4021559"/>
            <a:ext cx="2629535" cy="195580"/>
          </a:xfrm>
          <a:prstGeom prst="rect">
            <a:avLst/>
          </a:prstGeom>
          <a:noFill/>
        </p:spPr>
        <p:txBody>
          <a:bodyPr wrap="none" lIns="0" tIns="0" rIns="0" bIns="0" rtlCol="0" anchor="t">
            <a:spAutoFit/>
          </a:bodyPr>
          <a:lstStyle/>
          <a:p>
            <a:pPr marL="0" indent="0" algn="l">
              <a:lnSpc>
                <a:spcPct val="112000"/>
              </a:lnSpc>
              <a:buNone/>
            </a:pPr>
            <a:r>
              <a:rPr lang="en-US" sz="1135" dirty="0">
                <a:solidFill>
                  <a:srgbClr val="8B949E"/>
                </a:solidFill>
                <a:latin typeface="JetBrains Mono" pitchFamily="34" charset="0"/>
                <a:ea typeface="JetBrains Mono" pitchFamily="34" charset="-122"/>
                <a:cs typeface="JetBrains Mono" pitchFamily="34" charset="-120"/>
              </a:rPr>
              <a:t>(15 × 16¹) + (15 × 16⁰) = 240 + 15 = 255.</a:t>
            </a:r>
            <a:endParaRPr lang="en-US" sz="1135" dirty="0"/>
          </a:p>
        </p:txBody>
      </p:sp>
      <p:sp>
        <p:nvSpPr>
          <p:cNvPr id="24" name="Shape 21"/>
          <p:cNvSpPr/>
          <p:nvPr/>
        </p:nvSpPr>
        <p:spPr>
          <a:xfrm>
            <a:off x="571500" y="4726856"/>
            <a:ext cx="11049000" cy="1640160"/>
          </a:xfrm>
          <a:prstGeom prst="rect">
            <a:avLst/>
          </a:prstGeom>
          <a:solidFill>
            <a:srgbClr val="161B22"/>
          </a:solidFill>
        </p:spPr>
      </p:sp>
      <p:sp>
        <p:nvSpPr>
          <p:cNvPr id="25" name="Shape 22"/>
          <p:cNvSpPr/>
          <p:nvPr/>
        </p:nvSpPr>
        <p:spPr>
          <a:xfrm>
            <a:off x="571500" y="4726856"/>
            <a:ext cx="11049000" cy="38100"/>
          </a:xfrm>
          <a:prstGeom prst="rect">
            <a:avLst/>
          </a:prstGeom>
          <a:solidFill>
            <a:srgbClr val="00FF9C"/>
          </a:solidFill>
        </p:spPr>
      </p:sp>
      <p:sp>
        <p:nvSpPr>
          <p:cNvPr id="26" name="Text 23"/>
          <p:cNvSpPr/>
          <p:nvPr/>
        </p:nvSpPr>
        <p:spPr>
          <a:xfrm>
            <a:off x="762000" y="4869731"/>
            <a:ext cx="10668000" cy="174625"/>
          </a:xfrm>
          <a:prstGeom prst="rect">
            <a:avLst/>
          </a:prstGeom>
          <a:noFill/>
        </p:spPr>
        <p:txBody>
          <a:bodyPr wrap="square" lIns="0" tIns="0" rIns="0" bIns="0" rtlCol="0" anchor="t">
            <a:spAutoFit/>
          </a:bodyPr>
          <a:lstStyle/>
          <a:p>
            <a:pPr marL="0" indent="0" algn="l">
              <a:buNone/>
            </a:pPr>
            <a:r>
              <a:rPr lang="en-US" sz="1135" dirty="0">
                <a:solidFill>
                  <a:srgbClr val="58A6FF"/>
                </a:solidFill>
                <a:latin typeface="JetBrains Mono" pitchFamily="34" charset="0"/>
                <a:ea typeface="JetBrains Mono" pitchFamily="34" charset="-122"/>
                <a:cs typeface="JetBrains Mono" pitchFamily="34" charset="-120"/>
              </a:rPr>
              <a:t>A5: LINUX PERMISSIONS (chmod 644)</a:t>
            </a:r>
            <a:endParaRPr lang="en-US" sz="1135" dirty="0"/>
          </a:p>
        </p:txBody>
      </p:sp>
      <p:sp>
        <p:nvSpPr>
          <p:cNvPr id="27" name="Text 24"/>
          <p:cNvSpPr/>
          <p:nvPr/>
        </p:nvSpPr>
        <p:spPr>
          <a:xfrm>
            <a:off x="762000" y="5145956"/>
            <a:ext cx="10668000" cy="287020"/>
          </a:xfrm>
          <a:prstGeom prst="rect">
            <a:avLst/>
          </a:prstGeom>
          <a:noFill/>
        </p:spPr>
        <p:txBody>
          <a:bodyPr wrap="square" lIns="0" tIns="0" rIns="0" bIns="0" rtlCol="0" anchor="t">
            <a:spAutoFit/>
          </a:bodyPr>
          <a:lstStyle/>
          <a:p>
            <a:pPr marL="0" indent="0" algn="l">
              <a:buNone/>
            </a:pPr>
            <a:r>
              <a:rPr lang="en-US" sz="1865" b="1" dirty="0">
                <a:solidFill>
                  <a:srgbClr val="00FF9C"/>
                </a:solidFill>
                <a:latin typeface="JetBrains Mono" pitchFamily="34" charset="0"/>
                <a:ea typeface="JetBrains Mono" pitchFamily="34" charset="-122"/>
                <a:cs typeface="JetBrains Mono" pitchFamily="34" charset="-120"/>
              </a:rPr>
              <a:t>110 100 100</a:t>
            </a:r>
            <a:endParaRPr lang="en-US" sz="1865" dirty="0"/>
          </a:p>
        </p:txBody>
      </p:sp>
      <p:sp>
        <p:nvSpPr>
          <p:cNvPr id="28" name="Text 25"/>
          <p:cNvSpPr/>
          <p:nvPr/>
        </p:nvSpPr>
        <p:spPr>
          <a:xfrm>
            <a:off x="762000" y="5546005"/>
            <a:ext cx="10668000" cy="588010"/>
          </a:xfrm>
          <a:prstGeom prst="rect">
            <a:avLst/>
          </a:prstGeom>
          <a:noFill/>
        </p:spPr>
        <p:txBody>
          <a:bodyPr wrap="square" lIns="0" tIns="0" rIns="0" bIns="0" rtlCol="0" anchor="t">
            <a:spAutoFit/>
          </a:bodyPr>
          <a:lstStyle/>
          <a:p>
            <a:pPr marL="0" indent="0" algn="l">
              <a:lnSpc>
                <a:spcPct val="112000"/>
              </a:lnSpc>
              <a:buNone/>
            </a:pPr>
            <a:r>
              <a:rPr lang="en-US" sz="1135" dirty="0">
                <a:solidFill>
                  <a:srgbClr val="8B949E"/>
                </a:solidFill>
                <a:latin typeface="JetBrains Mono" pitchFamily="34" charset="0"/>
                <a:ea typeface="JetBrains Mono" pitchFamily="34" charset="-122"/>
                <a:cs typeface="JetBrains Mono" pitchFamily="34" charset="-120"/>
              </a:rPr>
              <a:t>6 = 110 (rw-)
4 = 100 (r--)
4 = 100 (r--)</a:t>
            </a:r>
            <a:endParaRPr lang="en-US" sz="1135" dirty="0"/>
          </a:p>
        </p:txBody>
      </p:sp>
      <p:pic>
        <p:nvPicPr>
          <p:cNvPr id="29" name="Image 1" descr="preencoded.png"/>
          <p:cNvPicPr>
            <a:picLocks noChangeAspect="1"/>
          </p:cNvPicPr>
          <p:nvPr/>
        </p:nvPicPr>
        <p:blipFill>
          <a:blip r:embed="rId2"/>
          <a:stretch>
            <a:fillRect/>
          </a:stretch>
        </p:blipFill>
        <p:spPr>
          <a:xfrm>
            <a:off x="571500" y="6445597"/>
            <a:ext cx="152400" cy="152400"/>
          </a:xfrm>
          <a:prstGeom prst="rect">
            <a:avLst/>
          </a:prstGeom>
        </p:spPr>
      </p:pic>
      <p:sp>
        <p:nvSpPr>
          <p:cNvPr id="30" name="Text 26"/>
          <p:cNvSpPr/>
          <p:nvPr/>
        </p:nvSpPr>
        <p:spPr>
          <a:xfrm>
            <a:off x="819151" y="6424167"/>
            <a:ext cx="6424612" cy="174625"/>
          </a:xfrm>
          <a:prstGeom prst="rect">
            <a:avLst/>
          </a:prstGeom>
          <a:noFill/>
        </p:spPr>
        <p:txBody>
          <a:bodyPr wrap="square" lIns="0" tIns="0" rIns="0" bIns="0" rtlCol="0" anchor="t">
            <a:spAutoFit/>
          </a:bodyPr>
          <a:lstStyle/>
          <a:p>
            <a:pPr marL="0" indent="0" algn="l">
              <a:buNone/>
            </a:pPr>
            <a:r>
              <a:rPr lang="en-US" sz="1135" dirty="0">
                <a:solidFill>
                  <a:srgbClr val="8B949E"/>
                </a:solidFill>
                <a:latin typeface="JetBrains Mono" pitchFamily="34" charset="0"/>
                <a:ea typeface="JetBrains Mono" pitchFamily="34" charset="-122"/>
                <a:cs typeface="JetBrains Mono" pitchFamily="34" charset="-120"/>
              </a:rPr>
              <a:t>Understanding the manual process is key to mastering CTF cryptography.</a:t>
            </a:r>
            <a:endParaRPr lang="en-US" sz="1135" dirty="0"/>
          </a:p>
        </p:txBody>
      </p:sp>
      <p:grpSp>
        <p:nvGrpSpPr>
          <p:cNvPr id="31" name="Group 2"/>
          <p:cNvGrpSpPr/>
          <p:nvPr/>
        </p:nvGrpSpPr>
        <p:grpSpPr>
          <a:xfrm rot="0">
            <a:off x="294640" y="194310"/>
            <a:ext cx="789305" cy="299720"/>
            <a:chOff x="0" y="0"/>
            <a:chExt cx="341337" cy="102463"/>
          </a:xfrm>
        </p:grpSpPr>
        <p:sp>
          <p:nvSpPr>
            <p:cNvPr id="32"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33"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34" name="Group 5"/>
          <p:cNvGrpSpPr/>
          <p:nvPr/>
        </p:nvGrpSpPr>
        <p:grpSpPr>
          <a:xfrm rot="0">
            <a:off x="822325" y="209550"/>
            <a:ext cx="220980" cy="246380"/>
            <a:chOff x="0" y="0"/>
            <a:chExt cx="812800" cy="812800"/>
          </a:xfrm>
        </p:grpSpPr>
        <p:sp>
          <p:nvSpPr>
            <p:cNvPr id="35"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6"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37"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69036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6332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E3B341"/>
                </a:solidFill>
                <a:latin typeface="Poppins Bold" pitchFamily="34" charset="0"/>
                <a:ea typeface="Poppins Bold" pitchFamily="34" charset="-122"/>
                <a:cs typeface="Poppins Bold" pitchFamily="34" charset="-120"/>
              </a:rPr>
              <a:t>CTF CHALLENGE: DECODE THE MESSAGE</a:t>
            </a:r>
            <a:endParaRPr lang="en-US" sz="3265" dirty="0"/>
          </a:p>
        </p:txBody>
      </p:sp>
      <p:sp>
        <p:nvSpPr>
          <p:cNvPr id="4" name="Text 1"/>
          <p:cNvSpPr/>
          <p:nvPr/>
        </p:nvSpPr>
        <p:spPr>
          <a:xfrm>
            <a:off x="571500" y="2079427"/>
            <a:ext cx="5772151" cy="473075"/>
          </a:xfrm>
          <a:prstGeom prst="rect">
            <a:avLst/>
          </a:prstGeom>
          <a:noFill/>
        </p:spPr>
        <p:txBody>
          <a:bodyPr wrap="square" lIns="0" tIns="0" rIns="0" bIns="0" rtlCol="0" anchor="t">
            <a:spAutoFit/>
          </a:bodyPr>
          <a:lstStyle/>
          <a:p>
            <a:pPr marL="0" indent="0" algn="l">
              <a:buNone/>
            </a:pPr>
            <a:r>
              <a:rPr lang="en-US" sz="1535" dirty="0">
                <a:solidFill>
                  <a:srgbClr val="E6EDF3"/>
                </a:solidFill>
                <a:latin typeface="Inter" pitchFamily="34" charset="0"/>
                <a:ea typeface="Inter" pitchFamily="34" charset="-122"/>
                <a:cs typeface="Inter" pitchFamily="34" charset="-120"/>
              </a:rPr>
              <a:t>A spy intercepted this transmission from a secure server. The data appears to be a sequence of decimal values.</a:t>
            </a:r>
            <a:endParaRPr lang="en-US" sz="1535" dirty="0"/>
          </a:p>
        </p:txBody>
      </p:sp>
      <p:sp>
        <p:nvSpPr>
          <p:cNvPr id="5" name="Shape 2"/>
          <p:cNvSpPr/>
          <p:nvPr/>
        </p:nvSpPr>
        <p:spPr>
          <a:xfrm>
            <a:off x="571500" y="2774950"/>
            <a:ext cx="5772150" cy="3674745"/>
          </a:xfrm>
          <a:prstGeom prst="rect">
            <a:avLst/>
          </a:prstGeom>
          <a:solidFill>
            <a:srgbClr val="000000"/>
          </a:solidFill>
          <a:ln w="9144">
            <a:solidFill>
              <a:srgbClr val="30363D"/>
            </a:solidFill>
            <a:prstDash val="solid"/>
          </a:ln>
        </p:spPr>
      </p:sp>
      <p:sp>
        <p:nvSpPr>
          <p:cNvPr id="6" name="Text 3"/>
          <p:cNvSpPr/>
          <p:nvPr/>
        </p:nvSpPr>
        <p:spPr>
          <a:xfrm>
            <a:off x="809625" y="3012876"/>
            <a:ext cx="5295900" cy="210185"/>
          </a:xfrm>
          <a:prstGeom prst="rect">
            <a:avLst/>
          </a:prstGeom>
          <a:noFill/>
        </p:spPr>
        <p:txBody>
          <a:bodyPr wrap="square" lIns="0" tIns="0" rIns="0" bIns="56726" rtlCol="0" anchor="t">
            <a:spAutoFit/>
          </a:bodyPr>
          <a:lstStyle/>
          <a:p>
            <a:pPr marL="0" indent="0" algn="l">
              <a:buNone/>
            </a:pPr>
            <a:r>
              <a:rPr lang="en-US" sz="1000" dirty="0">
                <a:solidFill>
                  <a:srgbClr val="8B949E"/>
                </a:solidFill>
                <a:latin typeface="JetBrains Mono" pitchFamily="34" charset="0"/>
                <a:ea typeface="JetBrains Mono" pitchFamily="34" charset="-122"/>
                <a:cs typeface="JetBrains Mono" pitchFamily="34" charset="-120"/>
              </a:rPr>
              <a:t>INTERCEPTED_DATA_STREAM [SECURE_CHANNEL_7]</a:t>
            </a:r>
            <a:endParaRPr lang="en-US" sz="1000" dirty="0"/>
          </a:p>
        </p:txBody>
      </p:sp>
      <p:sp>
        <p:nvSpPr>
          <p:cNvPr id="7" name="Text 4"/>
          <p:cNvSpPr/>
          <p:nvPr/>
        </p:nvSpPr>
        <p:spPr>
          <a:xfrm>
            <a:off x="809625" y="3389115"/>
            <a:ext cx="5295900" cy="215265"/>
          </a:xfrm>
          <a:prstGeom prst="rect">
            <a:avLst/>
          </a:prstGeom>
          <a:noFill/>
        </p:spPr>
        <p:txBody>
          <a:bodyPr wrap="square" lIns="0" tIns="0" rIns="0" bIns="0" rtlCol="0" anchor="t">
            <a:spAutoFit/>
          </a:bodyPr>
          <a:lstStyle/>
          <a:p>
            <a:pPr marL="0" indent="0" algn="l">
              <a:buNone/>
            </a:pPr>
            <a:r>
              <a:rPr lang="en-US" sz="1400" dirty="0">
                <a:solidFill>
                  <a:srgbClr val="00FF9C"/>
                </a:solidFill>
                <a:latin typeface="JetBrains Mono" pitchFamily="34" charset="0"/>
                <a:ea typeface="JetBrains Mono" pitchFamily="34" charset="-122"/>
                <a:cs typeface="JetBrains Mono" pitchFamily="34" charset="-120"/>
              </a:rPr>
              <a:t>072 101 108 108 111 032 072 097 099 107 101 114</a:t>
            </a:r>
            <a:endParaRPr lang="en-US" sz="1400" dirty="0"/>
          </a:p>
        </p:txBody>
      </p:sp>
      <p:sp>
        <p:nvSpPr>
          <p:cNvPr id="8" name="Text 5"/>
          <p:cNvSpPr/>
          <p:nvPr/>
        </p:nvSpPr>
        <p:spPr>
          <a:xfrm>
            <a:off x="809625" y="4084439"/>
            <a:ext cx="5295900" cy="215265"/>
          </a:xfrm>
          <a:prstGeom prst="rect">
            <a:avLst/>
          </a:prstGeom>
          <a:noFill/>
        </p:spPr>
        <p:txBody>
          <a:bodyPr wrap="square" lIns="0" tIns="0" rIns="0" bIns="0" rtlCol="0" anchor="t">
            <a:spAutoFit/>
          </a:bodyPr>
          <a:lstStyle/>
          <a:p>
            <a:pPr marL="0" indent="0" algn="l">
              <a:buNone/>
            </a:pPr>
            <a:r>
              <a:rPr lang="en-US" sz="1400" dirty="0">
                <a:solidFill>
                  <a:srgbClr val="8B949E"/>
                </a:solidFill>
                <a:latin typeface="JetBrains Mono" pitchFamily="34" charset="0"/>
                <a:ea typeface="JetBrains Mono" pitchFamily="34" charset="-122"/>
                <a:cs typeface="JetBrains Mono" pitchFamily="34" charset="-120"/>
              </a:rPr>
              <a:t>[SYSTEM] Analysis required...</a:t>
            </a:r>
            <a:endParaRPr lang="en-US" sz="1400" dirty="0"/>
          </a:p>
        </p:txBody>
      </p:sp>
      <p:sp>
        <p:nvSpPr>
          <p:cNvPr id="9" name="Text 6"/>
          <p:cNvSpPr/>
          <p:nvPr/>
        </p:nvSpPr>
        <p:spPr>
          <a:xfrm>
            <a:off x="809625" y="4336852"/>
            <a:ext cx="5295900" cy="215265"/>
          </a:xfrm>
          <a:prstGeom prst="rect">
            <a:avLst/>
          </a:prstGeom>
          <a:noFill/>
        </p:spPr>
        <p:txBody>
          <a:bodyPr wrap="square" lIns="0" tIns="0" rIns="0" bIns="0" rtlCol="0" anchor="t">
            <a:spAutoFit/>
          </a:bodyPr>
          <a:lstStyle/>
          <a:p>
            <a:pPr marL="0" indent="0" algn="l">
              <a:buNone/>
            </a:pPr>
            <a:r>
              <a:rPr lang="en-US" sz="1400" dirty="0">
                <a:solidFill>
                  <a:srgbClr val="8B949E"/>
                </a:solidFill>
                <a:latin typeface="JetBrains Mono" pitchFamily="34" charset="0"/>
                <a:ea typeface="JetBrains Mono" pitchFamily="34" charset="-122"/>
                <a:cs typeface="JetBrains Mono" pitchFamily="34" charset="-120"/>
              </a:rPr>
              <a:t>[SYSTEM] Possible encoding: ASCII (Decimal)</a:t>
            </a:r>
            <a:endParaRPr lang="en-US" sz="1400" dirty="0"/>
          </a:p>
        </p:txBody>
      </p:sp>
      <p:pic>
        <p:nvPicPr>
          <p:cNvPr id="10" name="Image 1" descr="preencoded.png"/>
          <p:cNvPicPr>
            <a:picLocks noChangeAspect="1"/>
          </p:cNvPicPr>
          <p:nvPr/>
        </p:nvPicPr>
        <p:blipFill>
          <a:blip r:embed="rId2"/>
          <a:stretch>
            <a:fillRect/>
          </a:stretch>
        </p:blipFill>
        <p:spPr>
          <a:xfrm>
            <a:off x="571500" y="6688931"/>
            <a:ext cx="152400" cy="152400"/>
          </a:xfrm>
          <a:prstGeom prst="rect">
            <a:avLst/>
          </a:prstGeom>
        </p:spPr>
      </p:pic>
      <p:sp>
        <p:nvSpPr>
          <p:cNvPr id="11" name="Text 7"/>
          <p:cNvSpPr/>
          <p:nvPr/>
        </p:nvSpPr>
        <p:spPr>
          <a:xfrm>
            <a:off x="723900" y="6531769"/>
            <a:ext cx="5462588" cy="174625"/>
          </a:xfrm>
          <a:prstGeom prst="rect">
            <a:avLst/>
          </a:prstGeom>
          <a:noFill/>
        </p:spPr>
        <p:txBody>
          <a:bodyPr wrap="square" lIns="0" tIns="0" rIns="0" bIns="0" rtlCol="0" anchor="t">
            <a:spAutoFit/>
          </a:bodyPr>
          <a:lstStyle/>
          <a:p>
            <a:pPr marL="0" indent="0" algn="l">
              <a:buNone/>
            </a:pPr>
            <a:r>
              <a:rPr lang="en-US" sz="1135" i="1" dirty="0">
                <a:solidFill>
                  <a:srgbClr val="8B949E"/>
                </a:solidFill>
                <a:latin typeface="Inter" pitchFamily="34" charset="0"/>
                <a:ea typeface="Inter" pitchFamily="34" charset="-122"/>
                <a:cs typeface="Inter" pitchFamily="34" charset="-120"/>
              </a:rPr>
              <a:t>Hint: Use the ASCII table from Slide 17 to map each number to its character.</a:t>
            </a:r>
            <a:endParaRPr lang="en-US" sz="1135" dirty="0"/>
          </a:p>
        </p:txBody>
      </p:sp>
      <p:sp>
        <p:nvSpPr>
          <p:cNvPr id="12" name="Shape 8"/>
          <p:cNvSpPr/>
          <p:nvPr/>
        </p:nvSpPr>
        <p:spPr>
          <a:xfrm>
            <a:off x="6724650" y="1870075"/>
            <a:ext cx="4895850" cy="4836795"/>
          </a:xfrm>
          <a:prstGeom prst="rect">
            <a:avLst/>
          </a:prstGeom>
          <a:solidFill>
            <a:srgbClr val="161B22"/>
          </a:solidFill>
        </p:spPr>
      </p:sp>
      <p:sp>
        <p:nvSpPr>
          <p:cNvPr id="13" name="Shape 9"/>
          <p:cNvSpPr/>
          <p:nvPr/>
        </p:nvSpPr>
        <p:spPr>
          <a:xfrm>
            <a:off x="6724650" y="1870075"/>
            <a:ext cx="76200" cy="4836795"/>
          </a:xfrm>
          <a:prstGeom prst="rect">
            <a:avLst/>
          </a:prstGeom>
          <a:solidFill>
            <a:srgbClr val="00FF9C"/>
          </a:solidFill>
        </p:spPr>
      </p:sp>
      <p:sp>
        <p:nvSpPr>
          <p:cNvPr id="14" name="Text 10"/>
          <p:cNvSpPr/>
          <p:nvPr/>
        </p:nvSpPr>
        <p:spPr>
          <a:xfrm>
            <a:off x="7048500" y="2155627"/>
            <a:ext cx="4286251" cy="255905"/>
          </a:xfrm>
          <a:prstGeom prst="rect">
            <a:avLst/>
          </a:prstGeom>
          <a:noFill/>
        </p:spPr>
        <p:txBody>
          <a:bodyPr wrap="square" lIns="0" tIns="0" rIns="0" bIns="0" rtlCol="0" anchor="t">
            <a:spAutoFit/>
          </a:bodyPr>
          <a:lstStyle/>
          <a:p>
            <a:pPr marL="0" indent="0" algn="l">
              <a:buNone/>
            </a:pPr>
            <a:r>
              <a:rPr lang="en-US" sz="1665" dirty="0">
                <a:solidFill>
                  <a:srgbClr val="00FF9C"/>
                </a:solidFill>
                <a:latin typeface="Poppins Bold" pitchFamily="34" charset="0"/>
                <a:ea typeface="Poppins Bold" pitchFamily="34" charset="-122"/>
                <a:cs typeface="Poppins Bold" pitchFamily="34" charset="-120"/>
              </a:rPr>
              <a:t>Solution Walkthrough</a:t>
            </a:r>
            <a:endParaRPr lang="en-US" sz="1665" dirty="0"/>
          </a:p>
        </p:txBody>
      </p:sp>
      <p:sp>
        <p:nvSpPr>
          <p:cNvPr id="15" name="Text 11"/>
          <p:cNvSpPr/>
          <p:nvPr/>
        </p:nvSpPr>
        <p:spPr>
          <a:xfrm>
            <a:off x="7048500" y="2691408"/>
            <a:ext cx="4286251" cy="499745"/>
          </a:xfrm>
          <a:prstGeom prst="rect">
            <a:avLst/>
          </a:prstGeom>
          <a:noFill/>
        </p:spPr>
        <p:txBody>
          <a:bodyPr wrap="square" lIns="0" tIns="0" rIns="0" bIns="0" rtlCol="0" anchor="t">
            <a:spAutoFit/>
          </a:bodyPr>
          <a:lstStyle/>
          <a:p>
            <a:pPr marL="0" indent="0" algn="l">
              <a:lnSpc>
                <a:spcPct val="128000"/>
              </a:lnSpc>
              <a:buNone/>
            </a:pPr>
            <a:r>
              <a:rPr lang="en-US" sz="1200" b="1" dirty="0">
                <a:solidFill>
                  <a:srgbClr val="E6EDF3"/>
                </a:solidFill>
                <a:latin typeface="Inter" pitchFamily="34" charset="0"/>
                <a:ea typeface="Inter" pitchFamily="34" charset="-122"/>
                <a:cs typeface="Inter" pitchFamily="34" charset="-120"/>
              </a:rPr>
              <a:t>Step 1:</a:t>
            </a:r>
            <a:r>
              <a:rPr lang="en-US" sz="1265" dirty="0">
                <a:solidFill>
                  <a:srgbClr val="E6EDF3"/>
                </a:solidFill>
                <a:latin typeface="Inter" pitchFamily="34" charset="0"/>
                <a:ea typeface="Inter" pitchFamily="34" charset="-122"/>
                <a:cs typeface="Inter" pitchFamily="34" charset="-120"/>
              </a:rPr>
              <a:t> Identify the pattern. These numbers are in the 32-122 range, typical for printable ASCII.</a:t>
            </a:r>
            <a:endParaRPr lang="en-US" sz="1265" dirty="0"/>
          </a:p>
        </p:txBody>
      </p:sp>
      <p:sp>
        <p:nvSpPr>
          <p:cNvPr id="16" name="Text 12"/>
          <p:cNvSpPr/>
          <p:nvPr/>
        </p:nvSpPr>
        <p:spPr>
          <a:xfrm>
            <a:off x="7048500" y="3430488"/>
            <a:ext cx="4286251" cy="499745"/>
          </a:xfrm>
          <a:prstGeom prst="rect">
            <a:avLst/>
          </a:prstGeom>
          <a:noFill/>
        </p:spPr>
        <p:txBody>
          <a:bodyPr wrap="square" lIns="0" tIns="0" rIns="0" bIns="0" rtlCol="0" anchor="t">
            <a:spAutoFit/>
          </a:bodyPr>
          <a:lstStyle/>
          <a:p>
            <a:pPr marL="0" indent="0" algn="l">
              <a:lnSpc>
                <a:spcPct val="128000"/>
              </a:lnSpc>
              <a:buNone/>
            </a:pPr>
            <a:r>
              <a:rPr lang="en-US" sz="1200" b="1" dirty="0">
                <a:solidFill>
                  <a:srgbClr val="E6EDF3"/>
                </a:solidFill>
                <a:latin typeface="Inter" pitchFamily="34" charset="0"/>
                <a:ea typeface="Inter" pitchFamily="34" charset="-122"/>
                <a:cs typeface="Inter" pitchFamily="34" charset="-120"/>
              </a:rPr>
              <a:t>Step 2:</a:t>
            </a:r>
            <a:r>
              <a:rPr lang="en-US" sz="1265" dirty="0">
                <a:solidFill>
                  <a:srgbClr val="E6EDF3"/>
                </a:solidFill>
                <a:latin typeface="Inter" pitchFamily="34" charset="0"/>
                <a:ea typeface="Inter" pitchFamily="34" charset="-122"/>
                <a:cs typeface="Inter" pitchFamily="34" charset="-120"/>
              </a:rPr>
              <a:t> Map the values:
</a:t>
            </a:r>
            <a:r>
              <a:rPr lang="en-US" sz="1265" dirty="0">
                <a:solidFill>
                  <a:srgbClr val="58A6FF"/>
                </a:solidFill>
                <a:latin typeface="JetBrains Mono" pitchFamily="34" charset="0"/>
                <a:ea typeface="JetBrains Mono" pitchFamily="34" charset="-122"/>
                <a:cs typeface="JetBrains Mono" pitchFamily="34" charset="-120"/>
              </a:rPr>
              <a:t>72=H, 101=e, 108=l, 108=l, 111=o, 32=[Space]...</a:t>
            </a:r>
            <a:endParaRPr lang="en-US" sz="1265" dirty="0"/>
          </a:p>
        </p:txBody>
      </p:sp>
      <p:sp>
        <p:nvSpPr>
          <p:cNvPr id="17" name="Text 13"/>
          <p:cNvSpPr/>
          <p:nvPr/>
        </p:nvSpPr>
        <p:spPr>
          <a:xfrm>
            <a:off x="7048500" y="4448621"/>
            <a:ext cx="4286251" cy="499745"/>
          </a:xfrm>
          <a:prstGeom prst="rect">
            <a:avLst/>
          </a:prstGeom>
          <a:noFill/>
        </p:spPr>
        <p:txBody>
          <a:bodyPr wrap="square" lIns="0" tIns="0" rIns="0" bIns="0" rtlCol="0" anchor="t">
            <a:spAutoFit/>
          </a:bodyPr>
          <a:lstStyle/>
          <a:p>
            <a:pPr marL="0" indent="0" algn="l">
              <a:lnSpc>
                <a:spcPct val="128000"/>
              </a:lnSpc>
              <a:buNone/>
            </a:pPr>
            <a:r>
              <a:rPr lang="en-US" sz="1200" b="1" dirty="0">
                <a:solidFill>
                  <a:srgbClr val="E6EDF3"/>
                </a:solidFill>
                <a:latin typeface="Inter" pitchFamily="34" charset="0"/>
                <a:ea typeface="Inter" pitchFamily="34" charset="-122"/>
                <a:cs typeface="Inter" pitchFamily="34" charset="-120"/>
              </a:rPr>
              <a:t>Step 3:</a:t>
            </a:r>
            <a:r>
              <a:rPr lang="en-US" sz="1265" dirty="0">
                <a:solidFill>
                  <a:srgbClr val="E6EDF3"/>
                </a:solidFill>
                <a:latin typeface="Inter" pitchFamily="34" charset="0"/>
                <a:ea typeface="Inter" pitchFamily="34" charset="-122"/>
                <a:cs typeface="Inter" pitchFamily="34" charset="-120"/>
              </a:rPr>
              <a:t> Combine the characters to reveal the hidden message.</a:t>
            </a:r>
            <a:endParaRPr lang="en-US" sz="1265" dirty="0"/>
          </a:p>
        </p:txBody>
      </p:sp>
      <p:sp>
        <p:nvSpPr>
          <p:cNvPr id="18" name="Shape 14"/>
          <p:cNvSpPr/>
          <p:nvPr/>
        </p:nvSpPr>
        <p:spPr>
          <a:xfrm>
            <a:off x="7048500" y="5282952"/>
            <a:ext cx="4286251" cy="581025"/>
          </a:xfrm>
          <a:prstGeom prst="rect">
            <a:avLst/>
          </a:prstGeom>
          <a:solidFill>
            <a:srgbClr val="00FF9C">
              <a:alpha val="10000"/>
            </a:srgbClr>
          </a:solidFill>
          <a:ln w="9144">
            <a:solidFill>
              <a:srgbClr val="00FF9C"/>
            </a:solidFill>
            <a:prstDash val="dash"/>
          </a:ln>
        </p:spPr>
      </p:sp>
      <p:sp>
        <p:nvSpPr>
          <p:cNvPr id="19" name="Text 15"/>
          <p:cNvSpPr/>
          <p:nvPr/>
        </p:nvSpPr>
        <p:spPr>
          <a:xfrm>
            <a:off x="7048500" y="5282952"/>
            <a:ext cx="4286251" cy="575310"/>
          </a:xfrm>
          <a:prstGeom prst="rect">
            <a:avLst/>
          </a:prstGeom>
          <a:noFill/>
        </p:spPr>
        <p:txBody>
          <a:bodyPr wrap="square" lIns="170010" tIns="170010" rIns="170010" bIns="170010" rtlCol="0" anchor="t">
            <a:spAutoFit/>
          </a:bodyPr>
          <a:lstStyle/>
          <a:p>
            <a:pPr marL="0" indent="0" algn="ctr">
              <a:buNone/>
            </a:pPr>
            <a:r>
              <a:rPr lang="en-US" sz="1535" dirty="0">
                <a:solidFill>
                  <a:srgbClr val="00FF9C"/>
                </a:solidFill>
                <a:latin typeface="JetBrains Mono" pitchFamily="34" charset="0"/>
                <a:ea typeface="JetBrains Mono" pitchFamily="34" charset="-122"/>
                <a:cs typeface="JetBrains Mono" pitchFamily="34" charset="-120"/>
              </a:rPr>
              <a:t>flag{hello_hacker}</a:t>
            </a:r>
            <a:endParaRPr lang="en-US" sz="1535" dirty="0"/>
          </a:p>
        </p:txBody>
      </p:sp>
      <p:grpSp>
        <p:nvGrpSpPr>
          <p:cNvPr id="22" name="Group 2"/>
          <p:cNvGrpSpPr/>
          <p:nvPr/>
        </p:nvGrpSpPr>
        <p:grpSpPr>
          <a:xfrm rot="0">
            <a:off x="294640" y="194310"/>
            <a:ext cx="789305" cy="299720"/>
            <a:chOff x="0" y="0"/>
            <a:chExt cx="341337" cy="102463"/>
          </a:xfrm>
        </p:grpSpPr>
        <p:sp>
          <p:nvSpPr>
            <p:cNvPr id="23"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24"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25" name="Group 5"/>
          <p:cNvGrpSpPr/>
          <p:nvPr/>
        </p:nvGrpSpPr>
        <p:grpSpPr>
          <a:xfrm rot="0">
            <a:off x="822325" y="209550"/>
            <a:ext cx="220980" cy="246380"/>
            <a:chOff x="0" y="0"/>
            <a:chExt cx="812800" cy="812800"/>
          </a:xfrm>
        </p:grpSpPr>
        <p:sp>
          <p:nvSpPr>
            <p:cNvPr id="2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7"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28"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9525"/>
            <a:ext cx="12192000" cy="6858000"/>
          </a:xfrm>
          <a:prstGeom prst="rect">
            <a:avLst/>
          </a:prstGeom>
        </p:spPr>
      </p:pic>
      <p:sp>
        <p:nvSpPr>
          <p:cNvPr id="3" name="Text 0"/>
          <p:cNvSpPr/>
          <p:nvPr/>
        </p:nvSpPr>
        <p:spPr>
          <a:xfrm>
            <a:off x="762000" y="571500"/>
            <a:ext cx="10668000" cy="1367790"/>
          </a:xfrm>
          <a:prstGeom prst="rect">
            <a:avLst/>
          </a:prstGeom>
          <a:noFill/>
        </p:spPr>
        <p:txBody>
          <a:bodyPr wrap="square" lIns="0" tIns="0" rIns="0" bIns="0" rtlCol="0" anchor="t">
            <a:noAutofit/>
          </a:bodyPr>
          <a:lstStyle/>
          <a:p>
            <a:pPr marL="0" indent="0" algn="r">
              <a:buNone/>
            </a:pPr>
            <a:r>
              <a:rPr lang="en-US" sz="8000" kern="0" spc="3" dirty="0">
                <a:solidFill>
                  <a:srgbClr val="58A6FF"/>
                </a:solidFill>
                <a:latin typeface="JetBrains Mono" pitchFamily="34" charset="0"/>
                <a:ea typeface="JetBrains Mono" pitchFamily="34" charset="-122"/>
                <a:cs typeface="JetBrains Mono" pitchFamily="34" charset="-120"/>
              </a:rPr>
              <a:t>PART 2</a:t>
            </a:r>
            <a:endParaRPr lang="en-US" sz="8000" dirty="0"/>
          </a:p>
        </p:txBody>
      </p:sp>
      <p:sp>
        <p:nvSpPr>
          <p:cNvPr id="4" name="Text 1"/>
          <p:cNvSpPr/>
          <p:nvPr/>
        </p:nvSpPr>
        <p:spPr>
          <a:xfrm>
            <a:off x="762000" y="1632585"/>
            <a:ext cx="3437890" cy="768985"/>
          </a:xfrm>
          <a:prstGeom prst="rect">
            <a:avLst/>
          </a:prstGeom>
          <a:noFill/>
        </p:spPr>
        <p:txBody>
          <a:bodyPr wrap="square" lIns="0" tIns="0" rIns="0" bIns="0" rtlCol="0" anchor="t">
            <a:spAutoFit/>
          </a:bodyPr>
          <a:lstStyle/>
          <a:p>
            <a:pPr marL="0" indent="0" algn="l">
              <a:buNone/>
            </a:pPr>
            <a:r>
              <a:rPr lang="en-US" sz="5000" b="1" kern="0" spc="2" dirty="0">
                <a:solidFill>
                  <a:srgbClr val="00FF9C"/>
                </a:solidFill>
                <a:latin typeface="Poppins Bold" pitchFamily="34" charset="0"/>
                <a:ea typeface="Poppins Bold" pitchFamily="34" charset="-122"/>
                <a:cs typeface="Poppins Bold" pitchFamily="34" charset="-120"/>
              </a:rPr>
              <a:t>ENCODING</a:t>
            </a:r>
            <a:endParaRPr lang="en-US" sz="5000" dirty="0"/>
          </a:p>
        </p:txBody>
      </p:sp>
      <p:sp>
        <p:nvSpPr>
          <p:cNvPr id="5" name="Text 2"/>
          <p:cNvSpPr/>
          <p:nvPr/>
        </p:nvSpPr>
        <p:spPr>
          <a:xfrm>
            <a:off x="762000" y="3085988"/>
            <a:ext cx="4667251" cy="1471930"/>
          </a:xfrm>
          <a:prstGeom prst="rect">
            <a:avLst/>
          </a:prstGeom>
          <a:noFill/>
        </p:spPr>
        <p:txBody>
          <a:bodyPr wrap="square" lIns="0" tIns="0" rIns="0" bIns="0" rtlCol="0" anchor="t">
            <a:spAutoFit/>
          </a:bodyPr>
          <a:lstStyle/>
          <a:p>
            <a:pPr marL="0" indent="0" algn="l">
              <a:lnSpc>
                <a:spcPct val="128000"/>
              </a:lnSpc>
              <a:buNone/>
            </a:pPr>
            <a:r>
              <a:rPr lang="en-US" sz="1865" dirty="0">
                <a:solidFill>
                  <a:srgbClr val="8B949E"/>
                </a:solidFill>
                <a:latin typeface="Inter" pitchFamily="34" charset="0"/>
                <a:ea typeface="Inter" pitchFamily="34" charset="-122"/>
                <a:cs typeface="Inter" pitchFamily="34" charset="-120"/>
              </a:rPr>
              <a:t>Encoding is </a:t>
            </a:r>
            <a:r>
              <a:rPr lang="en-US" sz="1735" b="1" dirty="0">
                <a:solidFill>
                  <a:srgbClr val="E6EDF3"/>
                </a:solidFill>
                <a:latin typeface="Inter" pitchFamily="34" charset="0"/>
                <a:ea typeface="Inter" pitchFamily="34" charset="-122"/>
                <a:cs typeface="Inter" pitchFamily="34" charset="-120"/>
              </a:rPr>
              <a:t>translation</a:t>
            </a:r>
            <a:r>
              <a:rPr lang="en-US" sz="1865" dirty="0">
                <a:solidFill>
                  <a:srgbClr val="8B949E"/>
                </a:solidFill>
                <a:latin typeface="Inter" pitchFamily="34" charset="0"/>
                <a:ea typeface="Inter" pitchFamily="34" charset="-122"/>
                <a:cs typeface="Inter" pitchFamily="34" charset="-120"/>
              </a:rPr>
              <a:t>, not protection. It is the process of converting data from one format to another so it can be consumed by different systems.</a:t>
            </a:r>
            <a:endParaRPr lang="en-US" sz="1865" dirty="0"/>
          </a:p>
        </p:txBody>
      </p:sp>
      <p:sp>
        <p:nvSpPr>
          <p:cNvPr id="6" name="Shape 3"/>
          <p:cNvSpPr/>
          <p:nvPr/>
        </p:nvSpPr>
        <p:spPr>
          <a:xfrm>
            <a:off x="762000" y="5051859"/>
            <a:ext cx="4667251" cy="1073944"/>
          </a:xfrm>
          <a:prstGeom prst="rect">
            <a:avLst/>
          </a:prstGeom>
          <a:solidFill>
            <a:srgbClr val="FF6B6B">
              <a:alpha val="10000"/>
            </a:srgbClr>
          </a:solidFill>
        </p:spPr>
      </p:sp>
      <p:sp>
        <p:nvSpPr>
          <p:cNvPr id="7" name="Shape 4"/>
          <p:cNvSpPr/>
          <p:nvPr/>
        </p:nvSpPr>
        <p:spPr>
          <a:xfrm>
            <a:off x="762000" y="5051859"/>
            <a:ext cx="38100" cy="1073944"/>
          </a:xfrm>
          <a:prstGeom prst="rect">
            <a:avLst/>
          </a:prstGeom>
          <a:solidFill>
            <a:srgbClr val="FF6B6B"/>
          </a:solidFill>
        </p:spPr>
      </p:sp>
      <p:pic>
        <p:nvPicPr>
          <p:cNvPr id="8" name="Image 1" descr="preencoded.png"/>
          <p:cNvPicPr>
            <a:picLocks noChangeAspect="1"/>
          </p:cNvPicPr>
          <p:nvPr/>
        </p:nvPicPr>
        <p:blipFill>
          <a:blip r:embed="rId2"/>
          <a:stretch>
            <a:fillRect/>
          </a:stretch>
        </p:blipFill>
        <p:spPr>
          <a:xfrm>
            <a:off x="952500" y="5261409"/>
            <a:ext cx="190500" cy="190500"/>
          </a:xfrm>
          <a:prstGeom prst="rect">
            <a:avLst/>
          </a:prstGeom>
        </p:spPr>
      </p:pic>
      <p:sp>
        <p:nvSpPr>
          <p:cNvPr id="9" name="Text 5"/>
          <p:cNvSpPr/>
          <p:nvPr/>
        </p:nvSpPr>
        <p:spPr>
          <a:xfrm>
            <a:off x="1143000" y="5242359"/>
            <a:ext cx="786765" cy="205740"/>
          </a:xfrm>
          <a:prstGeom prst="rect">
            <a:avLst/>
          </a:prstGeom>
          <a:noFill/>
        </p:spPr>
        <p:txBody>
          <a:bodyPr wrap="none" lIns="0" tIns="0" rIns="0" bIns="0" rtlCol="0" anchor="t">
            <a:spAutoFit/>
          </a:bodyPr>
          <a:lstStyle/>
          <a:p>
            <a:pPr marL="0" indent="0" algn="l">
              <a:buNone/>
            </a:pPr>
            <a:r>
              <a:rPr lang="en-US" sz="1335" b="1" dirty="0">
                <a:solidFill>
                  <a:srgbClr val="FF6B6B"/>
                </a:solidFill>
                <a:latin typeface="Inter" pitchFamily="34" charset="0"/>
                <a:ea typeface="Inter" pitchFamily="34" charset="-122"/>
                <a:cs typeface="Inter" pitchFamily="34" charset="-120"/>
              </a:rPr>
              <a:t>WARNING:</a:t>
            </a:r>
            <a:endParaRPr lang="en-US" sz="1335" dirty="0"/>
          </a:p>
        </p:txBody>
      </p:sp>
      <p:sp>
        <p:nvSpPr>
          <p:cNvPr id="10" name="Text 6"/>
          <p:cNvSpPr/>
          <p:nvPr/>
        </p:nvSpPr>
        <p:spPr>
          <a:xfrm>
            <a:off x="952500" y="5473340"/>
            <a:ext cx="4183856" cy="205740"/>
          </a:xfrm>
          <a:prstGeom prst="rect">
            <a:avLst/>
          </a:prstGeom>
          <a:noFill/>
        </p:spPr>
        <p:txBody>
          <a:bodyPr wrap="square" lIns="0" tIns="0" rIns="0" bIns="0" rtlCol="0" anchor="t">
            <a:spAutoFit/>
          </a:bodyPr>
          <a:lstStyle/>
          <a:p>
            <a:pPr marL="0" indent="0" algn="l">
              <a:buNone/>
            </a:pPr>
            <a:r>
              <a:rPr lang="en-US" sz="1335" b="1" dirty="0">
                <a:solidFill>
                  <a:srgbClr val="FF6B6B"/>
                </a:solidFill>
                <a:latin typeface="Inter" pitchFamily="34" charset="0"/>
                <a:ea typeface="Inter" pitchFamily="34" charset="-122"/>
                <a:cs typeface="Inter" pitchFamily="34" charset="-120"/>
              </a:rPr>
              <a:t>Encoding provides ZERO security. Never use it</a:t>
            </a:r>
            <a:endParaRPr lang="en-US" sz="1335" dirty="0"/>
          </a:p>
        </p:txBody>
      </p:sp>
      <p:sp>
        <p:nvSpPr>
          <p:cNvPr id="11" name="Text 7"/>
          <p:cNvSpPr/>
          <p:nvPr/>
        </p:nvSpPr>
        <p:spPr>
          <a:xfrm>
            <a:off x="952500" y="5704321"/>
            <a:ext cx="3409951" cy="205740"/>
          </a:xfrm>
          <a:prstGeom prst="rect">
            <a:avLst/>
          </a:prstGeom>
          <a:noFill/>
        </p:spPr>
        <p:txBody>
          <a:bodyPr wrap="square" lIns="0" tIns="0" rIns="0" bIns="0" rtlCol="0" anchor="t">
            <a:spAutoFit/>
          </a:bodyPr>
          <a:lstStyle/>
          <a:p>
            <a:pPr marL="0" indent="0" algn="l">
              <a:buNone/>
            </a:pPr>
            <a:r>
              <a:rPr lang="en-US" sz="1335" b="1" dirty="0">
                <a:solidFill>
                  <a:srgbClr val="FF6B6B"/>
                </a:solidFill>
                <a:latin typeface="Inter" pitchFamily="34" charset="0"/>
                <a:ea typeface="Inter" pitchFamily="34" charset="-122"/>
                <a:cs typeface="Inter" pitchFamily="34" charset="-120"/>
              </a:rPr>
              <a:t>to "hide" passwords or sensitive data.</a:t>
            </a:r>
            <a:endParaRPr lang="en-US" sz="1335" dirty="0"/>
          </a:p>
        </p:txBody>
      </p:sp>
      <p:sp>
        <p:nvSpPr>
          <p:cNvPr id="12" name="Shape 8"/>
          <p:cNvSpPr/>
          <p:nvPr/>
        </p:nvSpPr>
        <p:spPr>
          <a:xfrm>
            <a:off x="6000750" y="2838450"/>
            <a:ext cx="5429250" cy="3632835"/>
          </a:xfrm>
          <a:prstGeom prst="rect">
            <a:avLst/>
          </a:prstGeom>
          <a:solidFill>
            <a:srgbClr val="161B22"/>
          </a:solidFill>
        </p:spPr>
      </p:sp>
      <p:sp>
        <p:nvSpPr>
          <p:cNvPr id="13" name="Shape 9"/>
          <p:cNvSpPr/>
          <p:nvPr/>
        </p:nvSpPr>
        <p:spPr>
          <a:xfrm>
            <a:off x="6000751" y="2838339"/>
            <a:ext cx="5429251" cy="38100"/>
          </a:xfrm>
          <a:prstGeom prst="rect">
            <a:avLst/>
          </a:prstGeom>
          <a:solidFill>
            <a:srgbClr val="00FF9C"/>
          </a:solidFill>
        </p:spPr>
      </p:sp>
      <p:sp>
        <p:nvSpPr>
          <p:cNvPr id="14" name="Text 10"/>
          <p:cNvSpPr/>
          <p:nvPr/>
        </p:nvSpPr>
        <p:spPr>
          <a:xfrm>
            <a:off x="6381751" y="3397635"/>
            <a:ext cx="4667251" cy="184150"/>
          </a:xfrm>
          <a:prstGeom prst="rect">
            <a:avLst/>
          </a:prstGeom>
          <a:noFill/>
        </p:spPr>
        <p:txBody>
          <a:bodyPr wrap="square" lIns="0" tIns="0" rIns="0" bIns="0" rtlCol="0" anchor="t">
            <a:spAutoFit/>
          </a:bodyPr>
          <a:lstStyle/>
          <a:p>
            <a:pPr marL="0" indent="0" algn="l">
              <a:buNone/>
            </a:pPr>
            <a:r>
              <a:rPr lang="en-US" sz="1200" b="1" dirty="0">
                <a:solidFill>
                  <a:srgbClr val="00FF9C"/>
                </a:solidFill>
                <a:latin typeface="Poppins Bold" pitchFamily="34" charset="0"/>
                <a:ea typeface="Poppins Bold" pitchFamily="34" charset="-122"/>
                <a:cs typeface="Poppins Bold" pitchFamily="34" charset="-120"/>
              </a:rPr>
              <a:t>The Analogy</a:t>
            </a:r>
            <a:endParaRPr lang="en-US" sz="1200" dirty="0"/>
          </a:p>
        </p:txBody>
      </p:sp>
      <p:sp>
        <p:nvSpPr>
          <p:cNvPr id="15" name="Text 11"/>
          <p:cNvSpPr/>
          <p:nvPr/>
        </p:nvSpPr>
        <p:spPr>
          <a:xfrm>
            <a:off x="6381751" y="4070337"/>
            <a:ext cx="549910" cy="215265"/>
          </a:xfrm>
          <a:prstGeom prst="rect">
            <a:avLst/>
          </a:prstGeom>
          <a:noFill/>
        </p:spPr>
        <p:txBody>
          <a:bodyPr wrap="none" lIns="0" tIns="0" rIns="0" bIns="0" rtlCol="0" anchor="t">
            <a:spAutoFit/>
          </a:bodyPr>
          <a:lstStyle/>
          <a:p>
            <a:pPr marL="0" indent="0" algn="l">
              <a:buNone/>
            </a:pPr>
            <a:r>
              <a:rPr lang="en-US" sz="1400" dirty="0">
                <a:solidFill>
                  <a:srgbClr val="8B949E"/>
                </a:solidFill>
                <a:latin typeface="JetBrains Mono" pitchFamily="34" charset="0"/>
                <a:ea typeface="JetBrains Mono" pitchFamily="34" charset="-122"/>
                <a:cs typeface="JetBrains Mono" pitchFamily="34" charset="-120"/>
              </a:rPr>
              <a:t>English</a:t>
            </a:r>
            <a:endParaRPr lang="en-US" sz="1400" dirty="0"/>
          </a:p>
        </p:txBody>
      </p:sp>
      <p:sp>
        <p:nvSpPr>
          <p:cNvPr id="16" name="Text 12"/>
          <p:cNvSpPr/>
          <p:nvPr/>
        </p:nvSpPr>
        <p:spPr>
          <a:xfrm>
            <a:off x="7524751" y="4070337"/>
            <a:ext cx="497205" cy="205740"/>
          </a:xfrm>
          <a:prstGeom prst="rect">
            <a:avLst/>
          </a:prstGeom>
          <a:noFill/>
        </p:spPr>
        <p:txBody>
          <a:bodyPr wrap="none" lIns="0" tIns="0" rIns="0" bIns="0" rtlCol="0" anchor="t">
            <a:spAutoFit/>
          </a:bodyPr>
          <a:lstStyle/>
          <a:p>
            <a:pPr marL="0" indent="0" algn="l">
              <a:buNone/>
            </a:pPr>
            <a:r>
              <a:rPr lang="en-US" sz="1335" b="1" dirty="0">
                <a:solidFill>
                  <a:srgbClr val="E6EDF3"/>
                </a:solidFill>
                <a:latin typeface="JetBrains Mono" pitchFamily="34" charset="0"/>
                <a:ea typeface="JetBrains Mono" pitchFamily="34" charset="-122"/>
                <a:cs typeface="JetBrains Mono" pitchFamily="34" charset="-120"/>
              </a:rPr>
              <a:t>"Hello"</a:t>
            </a:r>
            <a:endParaRPr lang="en-US" sz="1335" dirty="0"/>
          </a:p>
        </p:txBody>
      </p:sp>
      <p:pic>
        <p:nvPicPr>
          <p:cNvPr id="17" name="Image 2" descr="preencoded.png"/>
          <p:cNvPicPr>
            <a:picLocks noChangeAspect="1"/>
          </p:cNvPicPr>
          <p:nvPr/>
        </p:nvPicPr>
        <p:blipFill>
          <a:blip r:embed="rId3"/>
          <a:stretch>
            <a:fillRect/>
          </a:stretch>
        </p:blipFill>
        <p:spPr>
          <a:xfrm>
            <a:off x="8515351" y="4078672"/>
            <a:ext cx="228600" cy="228600"/>
          </a:xfrm>
          <a:prstGeom prst="rect">
            <a:avLst/>
          </a:prstGeom>
        </p:spPr>
      </p:pic>
      <p:sp>
        <p:nvSpPr>
          <p:cNvPr id="18" name="Text 13"/>
          <p:cNvSpPr/>
          <p:nvPr/>
        </p:nvSpPr>
        <p:spPr>
          <a:xfrm>
            <a:off x="8934451" y="4070337"/>
            <a:ext cx="732790" cy="215265"/>
          </a:xfrm>
          <a:prstGeom prst="rect">
            <a:avLst/>
          </a:prstGeom>
          <a:noFill/>
        </p:spPr>
        <p:txBody>
          <a:bodyPr wrap="none" lIns="0" tIns="0" rIns="0" bIns="0" rtlCol="0" anchor="t">
            <a:spAutoFit/>
          </a:bodyPr>
          <a:lstStyle/>
          <a:p>
            <a:pPr marL="0" indent="0" algn="l">
              <a:buNone/>
            </a:pPr>
            <a:r>
              <a:rPr lang="en-US" sz="1400" dirty="0">
                <a:solidFill>
                  <a:srgbClr val="58A6FF"/>
                </a:solidFill>
                <a:latin typeface="JetBrains Mono" pitchFamily="34" charset="0"/>
                <a:ea typeface="JetBrains Mono" pitchFamily="34" charset="-122"/>
                <a:cs typeface="JetBrains Mono" pitchFamily="34" charset="-120"/>
              </a:rPr>
              <a:t>"Bonjour"</a:t>
            </a:r>
            <a:endParaRPr lang="en-US" sz="1400" dirty="0"/>
          </a:p>
        </p:txBody>
      </p:sp>
      <p:sp>
        <p:nvSpPr>
          <p:cNvPr id="19" name="Text 14"/>
          <p:cNvSpPr/>
          <p:nvPr/>
        </p:nvSpPr>
        <p:spPr>
          <a:xfrm>
            <a:off x="10153651" y="4108437"/>
            <a:ext cx="37973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JetBrains Mono" pitchFamily="34" charset="0"/>
                <a:ea typeface="JetBrains Mono" pitchFamily="34" charset="-122"/>
                <a:cs typeface="JetBrains Mono" pitchFamily="34" charset="-120"/>
              </a:rPr>
              <a:t>French</a:t>
            </a:r>
            <a:endParaRPr lang="en-US" sz="1000" dirty="0"/>
          </a:p>
        </p:txBody>
      </p:sp>
      <p:sp>
        <p:nvSpPr>
          <p:cNvPr id="20" name="Text 15"/>
          <p:cNvSpPr/>
          <p:nvPr/>
        </p:nvSpPr>
        <p:spPr>
          <a:xfrm>
            <a:off x="6381751" y="4658507"/>
            <a:ext cx="334645" cy="215265"/>
          </a:xfrm>
          <a:prstGeom prst="rect">
            <a:avLst/>
          </a:prstGeom>
          <a:noFill/>
        </p:spPr>
        <p:txBody>
          <a:bodyPr wrap="none" lIns="0" tIns="0" rIns="0" bIns="0" rtlCol="0" anchor="t">
            <a:spAutoFit/>
          </a:bodyPr>
          <a:lstStyle/>
          <a:p>
            <a:pPr marL="0" indent="0" algn="l">
              <a:buNone/>
            </a:pPr>
            <a:r>
              <a:rPr lang="en-US" sz="1400" dirty="0">
                <a:solidFill>
                  <a:srgbClr val="8B949E"/>
                </a:solidFill>
                <a:latin typeface="JetBrains Mono" pitchFamily="34" charset="0"/>
                <a:ea typeface="JetBrains Mono" pitchFamily="34" charset="-122"/>
                <a:cs typeface="JetBrains Mono" pitchFamily="34" charset="-120"/>
              </a:rPr>
              <a:t>Text</a:t>
            </a:r>
            <a:endParaRPr lang="en-US" sz="1400" dirty="0"/>
          </a:p>
        </p:txBody>
      </p:sp>
      <p:sp>
        <p:nvSpPr>
          <p:cNvPr id="21" name="Text 16"/>
          <p:cNvSpPr/>
          <p:nvPr/>
        </p:nvSpPr>
        <p:spPr>
          <a:xfrm>
            <a:off x="7524751" y="4658507"/>
            <a:ext cx="497205" cy="205740"/>
          </a:xfrm>
          <a:prstGeom prst="rect">
            <a:avLst/>
          </a:prstGeom>
          <a:noFill/>
        </p:spPr>
        <p:txBody>
          <a:bodyPr wrap="none" lIns="0" tIns="0" rIns="0" bIns="0" rtlCol="0" anchor="t">
            <a:spAutoFit/>
          </a:bodyPr>
          <a:lstStyle/>
          <a:p>
            <a:pPr marL="0" indent="0" algn="l">
              <a:buNone/>
            </a:pPr>
            <a:r>
              <a:rPr lang="en-US" sz="1335" b="1" dirty="0">
                <a:solidFill>
                  <a:srgbClr val="E6EDF3"/>
                </a:solidFill>
                <a:latin typeface="JetBrains Mono" pitchFamily="34" charset="0"/>
                <a:ea typeface="JetBrains Mono" pitchFamily="34" charset="-122"/>
                <a:cs typeface="JetBrains Mono" pitchFamily="34" charset="-120"/>
              </a:rPr>
              <a:t>"Hello"</a:t>
            </a:r>
            <a:endParaRPr lang="en-US" sz="1335" dirty="0"/>
          </a:p>
        </p:txBody>
      </p:sp>
      <p:pic>
        <p:nvPicPr>
          <p:cNvPr id="22" name="Image 3" descr="preencoded.png"/>
          <p:cNvPicPr>
            <a:picLocks noChangeAspect="1"/>
          </p:cNvPicPr>
          <p:nvPr/>
        </p:nvPicPr>
        <p:blipFill>
          <a:blip r:embed="rId4"/>
          <a:stretch>
            <a:fillRect/>
          </a:stretch>
        </p:blipFill>
        <p:spPr>
          <a:xfrm>
            <a:off x="8515351" y="4666841"/>
            <a:ext cx="228600" cy="228600"/>
          </a:xfrm>
          <a:prstGeom prst="rect">
            <a:avLst/>
          </a:prstGeom>
        </p:spPr>
      </p:pic>
      <p:sp>
        <p:nvSpPr>
          <p:cNvPr id="23" name="Text 17"/>
          <p:cNvSpPr/>
          <p:nvPr/>
        </p:nvSpPr>
        <p:spPr>
          <a:xfrm>
            <a:off x="8934451" y="4658507"/>
            <a:ext cx="904240" cy="215265"/>
          </a:xfrm>
          <a:prstGeom prst="rect">
            <a:avLst/>
          </a:prstGeom>
          <a:noFill/>
        </p:spPr>
        <p:txBody>
          <a:bodyPr wrap="none" lIns="0" tIns="0" rIns="0" bIns="0" rtlCol="0" anchor="t">
            <a:spAutoFit/>
          </a:bodyPr>
          <a:lstStyle/>
          <a:p>
            <a:pPr marL="0" indent="0" algn="l">
              <a:buNone/>
            </a:pPr>
            <a:r>
              <a:rPr lang="en-US" sz="1400" dirty="0">
                <a:solidFill>
                  <a:srgbClr val="58A6FF"/>
                </a:solidFill>
                <a:latin typeface="JetBrains Mono" pitchFamily="34" charset="0"/>
                <a:ea typeface="JetBrains Mono" pitchFamily="34" charset="-122"/>
                <a:cs typeface="JetBrains Mono" pitchFamily="34" charset="-120"/>
              </a:rPr>
              <a:t>"SGVsbG8="</a:t>
            </a:r>
            <a:endParaRPr lang="en-US" sz="1400" dirty="0"/>
          </a:p>
        </p:txBody>
      </p:sp>
      <p:sp>
        <p:nvSpPr>
          <p:cNvPr id="24" name="Text 18"/>
          <p:cNvSpPr/>
          <p:nvPr/>
        </p:nvSpPr>
        <p:spPr>
          <a:xfrm>
            <a:off x="10267951" y="4696607"/>
            <a:ext cx="39497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JetBrains Mono" pitchFamily="34" charset="0"/>
                <a:ea typeface="JetBrains Mono" pitchFamily="34" charset="-122"/>
                <a:cs typeface="JetBrains Mono" pitchFamily="34" charset="-120"/>
              </a:rPr>
              <a:t>Base64</a:t>
            </a:r>
            <a:endParaRPr lang="en-US" sz="1000" dirty="0"/>
          </a:p>
        </p:txBody>
      </p:sp>
      <p:sp>
        <p:nvSpPr>
          <p:cNvPr id="25" name="Text 19"/>
          <p:cNvSpPr/>
          <p:nvPr/>
        </p:nvSpPr>
        <p:spPr>
          <a:xfrm>
            <a:off x="6381751" y="5412172"/>
            <a:ext cx="4667251" cy="688975"/>
          </a:xfrm>
          <a:prstGeom prst="rect">
            <a:avLst/>
          </a:prstGeom>
          <a:noFill/>
        </p:spPr>
        <p:txBody>
          <a:bodyPr wrap="square" lIns="0" tIns="0" rIns="0" bIns="0" rtlCol="0" anchor="t">
            <a:spAutoFit/>
          </a:bodyPr>
          <a:lstStyle/>
          <a:p>
            <a:pPr marL="0" indent="0" algn="l">
              <a:lnSpc>
                <a:spcPct val="120000"/>
              </a:lnSpc>
              <a:buNone/>
            </a:pPr>
            <a:r>
              <a:rPr lang="en-US" sz="1265" dirty="0">
                <a:solidFill>
                  <a:srgbClr val="8B949E"/>
                </a:solidFill>
                <a:latin typeface="Inter" pitchFamily="34" charset="0"/>
                <a:ea typeface="Inter" pitchFamily="34" charset="-122"/>
                <a:cs typeface="Inter" pitchFamily="34" charset="-120"/>
              </a:rPr>
              <a:t>Just like anyone who knows French can read "Bonjour", anyone who knows the Base64 algorithm can read your data. </a:t>
            </a:r>
            <a:r>
              <a:rPr lang="en-US" sz="1200" b="1" dirty="0">
                <a:solidFill>
                  <a:srgbClr val="8B949E"/>
                </a:solidFill>
                <a:latin typeface="Inter" pitchFamily="34" charset="0"/>
                <a:ea typeface="Inter" pitchFamily="34" charset="-122"/>
                <a:cs typeface="Inter" pitchFamily="34" charset="-120"/>
              </a:rPr>
              <a:t>No key required.</a:t>
            </a:r>
            <a:endParaRPr lang="en-US" sz="1265" dirty="0"/>
          </a:p>
        </p:txBody>
      </p:sp>
      <p:grpSp>
        <p:nvGrpSpPr>
          <p:cNvPr id="26" name="Group 2"/>
          <p:cNvGrpSpPr/>
          <p:nvPr/>
        </p:nvGrpSpPr>
        <p:grpSpPr>
          <a:xfrm rot="0">
            <a:off x="294640" y="194310"/>
            <a:ext cx="789305" cy="299720"/>
            <a:chOff x="0" y="0"/>
            <a:chExt cx="341337" cy="102463"/>
          </a:xfrm>
        </p:grpSpPr>
        <p:sp>
          <p:nvSpPr>
            <p:cNvPr id="27"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28"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29" name="Group 5"/>
          <p:cNvGrpSpPr/>
          <p:nvPr/>
        </p:nvGrpSpPr>
        <p:grpSpPr>
          <a:xfrm rot="0">
            <a:off x="822325" y="209550"/>
            <a:ext cx="220980" cy="246380"/>
            <a:chOff x="0" y="0"/>
            <a:chExt cx="812800" cy="812800"/>
          </a:xfrm>
        </p:grpSpPr>
        <p:sp>
          <p:nvSpPr>
            <p:cNvPr id="30"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1"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32"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50748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5033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00FF9C"/>
                </a:solidFill>
                <a:latin typeface="Poppins Bold" pitchFamily="34" charset="0"/>
                <a:ea typeface="Poppins Bold" pitchFamily="34" charset="-122"/>
                <a:cs typeface="Poppins Bold" pitchFamily="34" charset="-120"/>
              </a:rPr>
              <a:t>WHY DOES BASE64 EXIST?</a:t>
            </a:r>
            <a:endParaRPr lang="en-US" sz="3265" dirty="0"/>
          </a:p>
        </p:txBody>
      </p:sp>
      <p:sp>
        <p:nvSpPr>
          <p:cNvPr id="4" name="Text 1"/>
          <p:cNvSpPr/>
          <p:nvPr/>
        </p:nvSpPr>
        <p:spPr>
          <a:xfrm>
            <a:off x="1333500" y="2060376"/>
            <a:ext cx="9525000" cy="328930"/>
          </a:xfrm>
          <a:prstGeom prst="rect">
            <a:avLst/>
          </a:prstGeom>
          <a:noFill/>
        </p:spPr>
        <p:txBody>
          <a:bodyPr wrap="square" lIns="0" tIns="0" rIns="0" bIns="0" rtlCol="0" anchor="t">
            <a:spAutoFit/>
          </a:bodyPr>
          <a:lstStyle/>
          <a:p>
            <a:pPr marL="0" indent="0" algn="ctr">
              <a:lnSpc>
                <a:spcPct val="128000"/>
              </a:lnSpc>
              <a:buNone/>
            </a:pPr>
            <a:r>
              <a:rPr lang="en-US" sz="1665" dirty="0">
                <a:solidFill>
                  <a:srgbClr val="E6EDF3"/>
                </a:solidFill>
                <a:latin typeface="Inter" pitchFamily="34" charset="0"/>
                <a:ea typeface="Inter" pitchFamily="34" charset="-122"/>
                <a:cs typeface="Inter" pitchFamily="34" charset="-120"/>
              </a:rPr>
              <a:t>Base64 was created to solve a fundamental problem: </a:t>
            </a:r>
            <a:r>
              <a:rPr lang="en-US" sz="1600" b="1" dirty="0">
                <a:solidFill>
                  <a:srgbClr val="E6EDF3"/>
                </a:solidFill>
                <a:latin typeface="Inter" pitchFamily="34" charset="0"/>
                <a:ea typeface="Inter" pitchFamily="34" charset="-122"/>
                <a:cs typeface="Inter" pitchFamily="34" charset="-120"/>
              </a:rPr>
              <a:t>sending binary data over text-only systems.</a:t>
            </a:r>
            <a:endParaRPr lang="en-US" sz="1665" dirty="0"/>
          </a:p>
        </p:txBody>
      </p:sp>
      <p:sp>
        <p:nvSpPr>
          <p:cNvPr id="5" name="Text 2"/>
          <p:cNvSpPr/>
          <p:nvPr/>
        </p:nvSpPr>
        <p:spPr>
          <a:xfrm>
            <a:off x="571500" y="3363367"/>
            <a:ext cx="2667000" cy="215265"/>
          </a:xfrm>
          <a:prstGeom prst="rect">
            <a:avLst/>
          </a:prstGeom>
          <a:noFill/>
        </p:spPr>
        <p:txBody>
          <a:bodyPr wrap="square" lIns="0" tIns="0" rIns="0" bIns="0" rtlCol="0" anchor="t">
            <a:spAutoFit/>
          </a:bodyPr>
          <a:lstStyle/>
          <a:p>
            <a:pPr marL="0" indent="0" algn="ctr">
              <a:buNone/>
            </a:pPr>
            <a:r>
              <a:rPr lang="en-US" sz="1400" dirty="0">
                <a:solidFill>
                  <a:srgbClr val="00FF9C"/>
                </a:solidFill>
                <a:latin typeface="JetBrains Mono" pitchFamily="34" charset="0"/>
                <a:ea typeface="JetBrains Mono" pitchFamily="34" charset="-122"/>
                <a:cs typeface="JetBrains Mono" pitchFamily="34" charset="-120"/>
              </a:rPr>
              <a:t>1970s</a:t>
            </a:r>
            <a:endParaRPr lang="en-US" sz="1400" dirty="0"/>
          </a:p>
        </p:txBody>
      </p:sp>
      <p:sp>
        <p:nvSpPr>
          <p:cNvPr id="6" name="Shape 3"/>
          <p:cNvSpPr/>
          <p:nvPr/>
        </p:nvSpPr>
        <p:spPr>
          <a:xfrm>
            <a:off x="1504951" y="3711029"/>
            <a:ext cx="800100" cy="800100"/>
          </a:xfrm>
          <a:prstGeom prst="rect">
            <a:avLst/>
          </a:prstGeom>
          <a:solidFill>
            <a:srgbClr val="161B22"/>
          </a:solidFill>
          <a:ln w="18288">
            <a:solidFill>
              <a:srgbClr val="58A6FF"/>
            </a:solidFill>
            <a:prstDash val="solid"/>
          </a:ln>
        </p:spPr>
      </p:sp>
      <p:pic>
        <p:nvPicPr>
          <p:cNvPr id="7" name="Image 1" descr="preencoded.png"/>
          <p:cNvPicPr>
            <a:picLocks noChangeAspect="1"/>
          </p:cNvPicPr>
          <p:nvPr/>
        </p:nvPicPr>
        <p:blipFill>
          <a:blip r:embed="rId2"/>
          <a:stretch>
            <a:fillRect/>
          </a:stretch>
        </p:blipFill>
        <p:spPr>
          <a:xfrm>
            <a:off x="1752600" y="3939629"/>
            <a:ext cx="304800" cy="304800"/>
          </a:xfrm>
          <a:prstGeom prst="rect">
            <a:avLst/>
          </a:prstGeom>
        </p:spPr>
      </p:pic>
      <p:sp>
        <p:nvSpPr>
          <p:cNvPr id="8" name="Text 4"/>
          <p:cNvSpPr/>
          <p:nvPr/>
        </p:nvSpPr>
        <p:spPr>
          <a:xfrm>
            <a:off x="571500" y="4663529"/>
            <a:ext cx="2667000" cy="655955"/>
          </a:xfrm>
          <a:prstGeom prst="rect">
            <a:avLst/>
          </a:prstGeom>
          <a:noFill/>
        </p:spPr>
        <p:txBody>
          <a:bodyPr wrap="square" lIns="0" tIns="0" rIns="0" bIns="0" rtlCol="0" anchor="t">
            <a:spAutoFit/>
          </a:bodyPr>
          <a:lstStyle/>
          <a:p>
            <a:pPr marL="0" indent="0" algn="ctr">
              <a:lnSpc>
                <a:spcPct val="112000"/>
              </a:lnSpc>
              <a:buNone/>
            </a:pPr>
            <a:r>
              <a:rPr lang="en-US" sz="1200" b="1" dirty="0">
                <a:solidFill>
                  <a:srgbClr val="E6EDF3"/>
                </a:solidFill>
                <a:latin typeface="Inter" pitchFamily="34" charset="0"/>
                <a:ea typeface="Inter" pitchFamily="34" charset="-122"/>
                <a:cs typeface="Inter" pitchFamily="34" charset="-120"/>
              </a:rPr>
              <a:t>Email Invented</a:t>
            </a:r>
            <a:r>
              <a:rPr lang="en-US" sz="1265" dirty="0">
                <a:solidFill>
                  <a:srgbClr val="8B949E"/>
                </a:solidFill>
                <a:latin typeface="Inter" pitchFamily="34" charset="0"/>
                <a:ea typeface="Inter" pitchFamily="34" charset="-122"/>
                <a:cs typeface="Inter" pitchFamily="34" charset="-120"/>
              </a:rPr>
              <a:t>
Designed for plain text (7-bit ASCII) only.</a:t>
            </a:r>
            <a:endParaRPr lang="en-US" sz="1200" dirty="0"/>
          </a:p>
        </p:txBody>
      </p:sp>
      <p:sp>
        <p:nvSpPr>
          <p:cNvPr id="9" name="Text 5"/>
          <p:cNvSpPr/>
          <p:nvPr/>
        </p:nvSpPr>
        <p:spPr>
          <a:xfrm>
            <a:off x="4762500" y="3363367"/>
            <a:ext cx="2667000" cy="215265"/>
          </a:xfrm>
          <a:prstGeom prst="rect">
            <a:avLst/>
          </a:prstGeom>
          <a:noFill/>
        </p:spPr>
        <p:txBody>
          <a:bodyPr wrap="square" lIns="0" tIns="0" rIns="0" bIns="0" rtlCol="0" anchor="t">
            <a:spAutoFit/>
          </a:bodyPr>
          <a:lstStyle/>
          <a:p>
            <a:pPr marL="0" indent="0" algn="ctr">
              <a:buNone/>
            </a:pPr>
            <a:r>
              <a:rPr lang="en-US" sz="1400" dirty="0">
                <a:solidFill>
                  <a:srgbClr val="00FF9C"/>
                </a:solidFill>
                <a:latin typeface="JetBrains Mono" pitchFamily="34" charset="0"/>
                <a:ea typeface="JetBrains Mono" pitchFamily="34" charset="-122"/>
                <a:cs typeface="JetBrains Mono" pitchFamily="34" charset="-120"/>
              </a:rPr>
              <a:t>The Problem</a:t>
            </a:r>
            <a:endParaRPr lang="en-US" sz="1400" dirty="0"/>
          </a:p>
        </p:txBody>
      </p:sp>
      <p:sp>
        <p:nvSpPr>
          <p:cNvPr id="10" name="Shape 6"/>
          <p:cNvSpPr/>
          <p:nvPr/>
        </p:nvSpPr>
        <p:spPr>
          <a:xfrm>
            <a:off x="5695951" y="3711029"/>
            <a:ext cx="800100" cy="800100"/>
          </a:xfrm>
          <a:prstGeom prst="rect">
            <a:avLst/>
          </a:prstGeom>
          <a:solidFill>
            <a:srgbClr val="161B22"/>
          </a:solidFill>
          <a:ln w="18288">
            <a:solidFill>
              <a:srgbClr val="FF6B6B"/>
            </a:solidFill>
            <a:prstDash val="solid"/>
          </a:ln>
        </p:spPr>
      </p:sp>
      <p:pic>
        <p:nvPicPr>
          <p:cNvPr id="11" name="Image 2" descr="preencoded.png"/>
          <p:cNvPicPr>
            <a:picLocks noChangeAspect="1"/>
          </p:cNvPicPr>
          <p:nvPr/>
        </p:nvPicPr>
        <p:blipFill>
          <a:blip r:embed="rId3"/>
          <a:stretch>
            <a:fillRect/>
          </a:stretch>
        </p:blipFill>
        <p:spPr>
          <a:xfrm>
            <a:off x="5943600" y="3939629"/>
            <a:ext cx="304800" cy="304800"/>
          </a:xfrm>
          <a:prstGeom prst="rect">
            <a:avLst/>
          </a:prstGeom>
        </p:spPr>
      </p:pic>
      <p:sp>
        <p:nvSpPr>
          <p:cNvPr id="12" name="Text 7"/>
          <p:cNvSpPr/>
          <p:nvPr/>
        </p:nvSpPr>
        <p:spPr>
          <a:xfrm>
            <a:off x="4762500" y="4663529"/>
            <a:ext cx="2667000" cy="655955"/>
          </a:xfrm>
          <a:prstGeom prst="rect">
            <a:avLst/>
          </a:prstGeom>
          <a:noFill/>
        </p:spPr>
        <p:txBody>
          <a:bodyPr wrap="square" lIns="0" tIns="0" rIns="0" bIns="0" rtlCol="0" anchor="t">
            <a:spAutoFit/>
          </a:bodyPr>
          <a:lstStyle/>
          <a:p>
            <a:pPr marL="0" indent="0" algn="ctr">
              <a:lnSpc>
                <a:spcPct val="112000"/>
              </a:lnSpc>
              <a:buNone/>
            </a:pPr>
            <a:r>
              <a:rPr lang="en-US" sz="1200" b="1" dirty="0">
                <a:solidFill>
                  <a:srgbClr val="E6EDF3"/>
                </a:solidFill>
                <a:latin typeface="Inter" pitchFamily="34" charset="0"/>
                <a:ea typeface="Inter" pitchFamily="34" charset="-122"/>
                <a:cs typeface="Inter" pitchFamily="34" charset="-120"/>
              </a:rPr>
              <a:t>Binary Breaks Systems</a:t>
            </a:r>
            <a:r>
              <a:rPr lang="en-US" sz="1265" dirty="0">
                <a:solidFill>
                  <a:srgbClr val="8B949E"/>
                </a:solidFill>
                <a:latin typeface="Inter" pitchFamily="34" charset="0"/>
                <a:ea typeface="Inter" pitchFamily="34" charset="-122"/>
                <a:cs typeface="Inter" pitchFamily="34" charset="-120"/>
              </a:rPr>
              <a:t>
Raw bytes contain control codes that crash old protocols.</a:t>
            </a:r>
            <a:endParaRPr lang="en-US" sz="1200" dirty="0"/>
          </a:p>
        </p:txBody>
      </p:sp>
      <p:sp>
        <p:nvSpPr>
          <p:cNvPr id="13" name="Text 8"/>
          <p:cNvSpPr/>
          <p:nvPr/>
        </p:nvSpPr>
        <p:spPr>
          <a:xfrm>
            <a:off x="8953500" y="3363367"/>
            <a:ext cx="2667000" cy="215265"/>
          </a:xfrm>
          <a:prstGeom prst="rect">
            <a:avLst/>
          </a:prstGeom>
          <a:noFill/>
        </p:spPr>
        <p:txBody>
          <a:bodyPr wrap="square" lIns="0" tIns="0" rIns="0" bIns="0" rtlCol="0" anchor="t">
            <a:spAutoFit/>
          </a:bodyPr>
          <a:lstStyle/>
          <a:p>
            <a:pPr marL="0" indent="0" algn="ctr">
              <a:buNone/>
            </a:pPr>
            <a:r>
              <a:rPr lang="en-US" sz="1400" dirty="0">
                <a:solidFill>
                  <a:srgbClr val="00FF9C"/>
                </a:solidFill>
                <a:latin typeface="JetBrains Mono" pitchFamily="34" charset="0"/>
                <a:ea typeface="JetBrains Mono" pitchFamily="34" charset="-122"/>
                <a:cs typeface="JetBrains Mono" pitchFamily="34" charset="-120"/>
              </a:rPr>
              <a:t>The Solution</a:t>
            </a:r>
            <a:endParaRPr lang="en-US" sz="1400" dirty="0"/>
          </a:p>
        </p:txBody>
      </p:sp>
      <p:sp>
        <p:nvSpPr>
          <p:cNvPr id="14" name="Shape 9"/>
          <p:cNvSpPr/>
          <p:nvPr/>
        </p:nvSpPr>
        <p:spPr>
          <a:xfrm>
            <a:off x="9886951" y="3711029"/>
            <a:ext cx="800100" cy="800100"/>
          </a:xfrm>
          <a:prstGeom prst="rect">
            <a:avLst/>
          </a:prstGeom>
          <a:solidFill>
            <a:srgbClr val="161B22"/>
          </a:solidFill>
          <a:ln w="18288">
            <a:solidFill>
              <a:srgbClr val="00FF9C"/>
            </a:solidFill>
            <a:prstDash val="solid"/>
          </a:ln>
        </p:spPr>
      </p:sp>
      <p:pic>
        <p:nvPicPr>
          <p:cNvPr id="15" name="Image 3" descr="preencoded.png"/>
          <p:cNvPicPr>
            <a:picLocks noChangeAspect="1"/>
          </p:cNvPicPr>
          <p:nvPr/>
        </p:nvPicPr>
        <p:blipFill>
          <a:blip r:embed="rId4"/>
          <a:stretch>
            <a:fillRect/>
          </a:stretch>
        </p:blipFill>
        <p:spPr>
          <a:xfrm>
            <a:off x="10134600" y="3939629"/>
            <a:ext cx="304800" cy="304800"/>
          </a:xfrm>
          <a:prstGeom prst="rect">
            <a:avLst/>
          </a:prstGeom>
        </p:spPr>
      </p:pic>
      <p:sp>
        <p:nvSpPr>
          <p:cNvPr id="16" name="Text 10"/>
          <p:cNvSpPr/>
          <p:nvPr/>
        </p:nvSpPr>
        <p:spPr>
          <a:xfrm>
            <a:off x="8953500" y="4663529"/>
            <a:ext cx="2667000" cy="655955"/>
          </a:xfrm>
          <a:prstGeom prst="rect">
            <a:avLst/>
          </a:prstGeom>
          <a:noFill/>
        </p:spPr>
        <p:txBody>
          <a:bodyPr wrap="square" lIns="0" tIns="0" rIns="0" bIns="0" rtlCol="0" anchor="t">
            <a:spAutoFit/>
          </a:bodyPr>
          <a:lstStyle/>
          <a:p>
            <a:pPr marL="0" indent="0" algn="ctr">
              <a:lnSpc>
                <a:spcPct val="112000"/>
              </a:lnSpc>
              <a:buNone/>
            </a:pPr>
            <a:r>
              <a:rPr lang="en-US" sz="1200" b="1" dirty="0">
                <a:solidFill>
                  <a:srgbClr val="E6EDF3"/>
                </a:solidFill>
                <a:latin typeface="Inter" pitchFamily="34" charset="0"/>
                <a:ea typeface="Inter" pitchFamily="34" charset="-122"/>
                <a:cs typeface="Inter" pitchFamily="34" charset="-120"/>
              </a:rPr>
              <a:t>Base64 Encoding</a:t>
            </a:r>
            <a:r>
              <a:rPr lang="en-US" sz="1265" dirty="0">
                <a:solidFill>
                  <a:srgbClr val="8B949E"/>
                </a:solidFill>
                <a:latin typeface="Inter" pitchFamily="34" charset="0"/>
                <a:ea typeface="Inter" pitchFamily="34" charset="-122"/>
                <a:cs typeface="Inter" pitchFamily="34" charset="-120"/>
              </a:rPr>
              <a:t>
Converts binary into 64 "safe" printable characters.</a:t>
            </a:r>
            <a:endParaRPr lang="en-US" sz="1200" dirty="0"/>
          </a:p>
        </p:txBody>
      </p:sp>
      <p:sp>
        <p:nvSpPr>
          <p:cNvPr id="17" name="Shape 11"/>
          <p:cNvSpPr/>
          <p:nvPr/>
        </p:nvSpPr>
        <p:spPr>
          <a:xfrm>
            <a:off x="2177653" y="6145597"/>
            <a:ext cx="2235993" cy="435769"/>
          </a:xfrm>
          <a:prstGeom prst="rect">
            <a:avLst/>
          </a:prstGeom>
          <a:solidFill>
            <a:srgbClr val="58A6FF">
              <a:alpha val="10000"/>
            </a:srgbClr>
          </a:solidFill>
          <a:ln w="9144">
            <a:solidFill>
              <a:srgbClr val="58A6FF"/>
            </a:solidFill>
            <a:prstDash val="solid"/>
          </a:ln>
        </p:spPr>
      </p:sp>
      <p:sp>
        <p:nvSpPr>
          <p:cNvPr id="18" name="Text 12"/>
          <p:cNvSpPr/>
          <p:nvPr/>
        </p:nvSpPr>
        <p:spPr>
          <a:xfrm>
            <a:off x="2177653" y="6145597"/>
            <a:ext cx="2235993" cy="420370"/>
          </a:xfrm>
          <a:prstGeom prst="rect">
            <a:avLst/>
          </a:prstGeom>
          <a:noFill/>
        </p:spPr>
        <p:txBody>
          <a:bodyPr wrap="square" lIns="283464" tIns="113453" rIns="283464" bIns="113453" rtlCol="0" anchor="t">
            <a:spAutoFit/>
          </a:bodyPr>
          <a:lstStyle/>
          <a:p>
            <a:pPr marL="0" indent="0" algn="l">
              <a:buNone/>
            </a:pPr>
            <a:r>
              <a:rPr lang="en-US" sz="1265" dirty="0">
                <a:solidFill>
                  <a:srgbClr val="58A6FF"/>
                </a:solidFill>
                <a:latin typeface="JetBrains Mono" pitchFamily="34" charset="0"/>
                <a:ea typeface="JetBrains Mono" pitchFamily="34" charset="-122"/>
                <a:cs typeface="JetBrains Mono" pitchFamily="34" charset="-120"/>
              </a:rPr>
              <a:t>Email Attachments</a:t>
            </a:r>
            <a:endParaRPr lang="en-US" sz="1265" dirty="0"/>
          </a:p>
        </p:txBody>
      </p:sp>
      <p:sp>
        <p:nvSpPr>
          <p:cNvPr id="19" name="Shape 13"/>
          <p:cNvSpPr/>
          <p:nvPr/>
        </p:nvSpPr>
        <p:spPr>
          <a:xfrm>
            <a:off x="4546997" y="6145597"/>
            <a:ext cx="1519237" cy="435769"/>
          </a:xfrm>
          <a:prstGeom prst="rect">
            <a:avLst/>
          </a:prstGeom>
          <a:solidFill>
            <a:srgbClr val="58A6FF">
              <a:alpha val="10000"/>
            </a:srgbClr>
          </a:solidFill>
          <a:ln w="9144">
            <a:solidFill>
              <a:srgbClr val="58A6FF"/>
            </a:solidFill>
            <a:prstDash val="solid"/>
          </a:ln>
        </p:spPr>
      </p:sp>
      <p:sp>
        <p:nvSpPr>
          <p:cNvPr id="20" name="Text 14"/>
          <p:cNvSpPr/>
          <p:nvPr/>
        </p:nvSpPr>
        <p:spPr>
          <a:xfrm>
            <a:off x="4546997" y="6145597"/>
            <a:ext cx="1375410" cy="420370"/>
          </a:xfrm>
          <a:prstGeom prst="rect">
            <a:avLst/>
          </a:prstGeom>
          <a:noFill/>
        </p:spPr>
        <p:txBody>
          <a:bodyPr wrap="none" lIns="283464" tIns="113453" rIns="283464" bIns="113453" rtlCol="0" anchor="t">
            <a:spAutoFit/>
          </a:bodyPr>
          <a:lstStyle/>
          <a:p>
            <a:pPr marL="0" indent="0" algn="l">
              <a:buNone/>
            </a:pPr>
            <a:r>
              <a:rPr lang="en-US" sz="1265" dirty="0">
                <a:solidFill>
                  <a:srgbClr val="58A6FF"/>
                </a:solidFill>
                <a:latin typeface="JetBrains Mono" pitchFamily="34" charset="0"/>
                <a:ea typeface="JetBrains Mono" pitchFamily="34" charset="-122"/>
                <a:cs typeface="JetBrains Mono" pitchFamily="34" charset="-120"/>
              </a:rPr>
              <a:t>JWT Tokens</a:t>
            </a:r>
            <a:endParaRPr lang="en-US" sz="1265" dirty="0"/>
          </a:p>
        </p:txBody>
      </p:sp>
      <p:sp>
        <p:nvSpPr>
          <p:cNvPr id="21" name="Shape 15"/>
          <p:cNvSpPr/>
          <p:nvPr/>
        </p:nvSpPr>
        <p:spPr>
          <a:xfrm>
            <a:off x="6199584" y="6145597"/>
            <a:ext cx="2235993" cy="435769"/>
          </a:xfrm>
          <a:prstGeom prst="rect">
            <a:avLst/>
          </a:prstGeom>
          <a:solidFill>
            <a:srgbClr val="58A6FF">
              <a:alpha val="10000"/>
            </a:srgbClr>
          </a:solidFill>
          <a:ln w="9144">
            <a:solidFill>
              <a:srgbClr val="58A6FF"/>
            </a:solidFill>
            <a:prstDash val="solid"/>
          </a:ln>
        </p:spPr>
      </p:sp>
      <p:sp>
        <p:nvSpPr>
          <p:cNvPr id="22" name="Text 16"/>
          <p:cNvSpPr/>
          <p:nvPr/>
        </p:nvSpPr>
        <p:spPr>
          <a:xfrm>
            <a:off x="6199584" y="6145597"/>
            <a:ext cx="2235993" cy="420370"/>
          </a:xfrm>
          <a:prstGeom prst="rect">
            <a:avLst/>
          </a:prstGeom>
          <a:noFill/>
        </p:spPr>
        <p:txBody>
          <a:bodyPr wrap="square" lIns="283464" tIns="113453" rIns="283464" bIns="113453" rtlCol="0" anchor="t">
            <a:spAutoFit/>
          </a:bodyPr>
          <a:lstStyle/>
          <a:p>
            <a:pPr marL="0" indent="0" algn="l">
              <a:buNone/>
            </a:pPr>
            <a:r>
              <a:rPr lang="en-US" sz="1265" dirty="0">
                <a:solidFill>
                  <a:srgbClr val="58A6FF"/>
                </a:solidFill>
                <a:latin typeface="JetBrains Mono" pitchFamily="34" charset="0"/>
                <a:ea typeface="JetBrains Mono" pitchFamily="34" charset="-122"/>
                <a:cs typeface="JetBrains Mono" pitchFamily="34" charset="-120"/>
              </a:rPr>
              <a:t>HTML Image Embeds</a:t>
            </a:r>
            <a:endParaRPr lang="en-US" sz="1265" dirty="0"/>
          </a:p>
        </p:txBody>
      </p:sp>
      <p:sp>
        <p:nvSpPr>
          <p:cNvPr id="23" name="Shape 17"/>
          <p:cNvSpPr/>
          <p:nvPr/>
        </p:nvSpPr>
        <p:spPr>
          <a:xfrm>
            <a:off x="8568928" y="6145597"/>
            <a:ext cx="1416844" cy="435769"/>
          </a:xfrm>
          <a:prstGeom prst="rect">
            <a:avLst/>
          </a:prstGeom>
          <a:solidFill>
            <a:srgbClr val="58A6FF">
              <a:alpha val="10000"/>
            </a:srgbClr>
          </a:solidFill>
          <a:ln w="9144">
            <a:solidFill>
              <a:srgbClr val="58A6FF"/>
            </a:solidFill>
            <a:prstDash val="solid"/>
          </a:ln>
        </p:spPr>
      </p:sp>
      <p:sp>
        <p:nvSpPr>
          <p:cNvPr id="24" name="Text 18"/>
          <p:cNvSpPr/>
          <p:nvPr/>
        </p:nvSpPr>
        <p:spPr>
          <a:xfrm>
            <a:off x="8568928" y="6145597"/>
            <a:ext cx="1216660" cy="420370"/>
          </a:xfrm>
          <a:prstGeom prst="rect">
            <a:avLst/>
          </a:prstGeom>
          <a:noFill/>
        </p:spPr>
        <p:txBody>
          <a:bodyPr wrap="none" lIns="283464" tIns="113453" rIns="283464" bIns="113453" rtlCol="0" anchor="t">
            <a:spAutoFit/>
          </a:bodyPr>
          <a:lstStyle/>
          <a:p>
            <a:pPr marL="0" indent="0" algn="l">
              <a:buNone/>
            </a:pPr>
            <a:r>
              <a:rPr lang="en-US" sz="1265" dirty="0">
                <a:solidFill>
                  <a:srgbClr val="58A6FF"/>
                </a:solidFill>
                <a:latin typeface="JetBrains Mono" pitchFamily="34" charset="0"/>
                <a:ea typeface="JetBrains Mono" pitchFamily="34" charset="-122"/>
                <a:cs typeface="JetBrains Mono" pitchFamily="34" charset="-120"/>
              </a:rPr>
              <a:t>CTF Flags</a:t>
            </a:r>
            <a:endParaRPr lang="en-US" sz="1265" dirty="0"/>
          </a:p>
        </p:txBody>
      </p:sp>
      <p:grpSp>
        <p:nvGrpSpPr>
          <p:cNvPr id="25" name="Group 2"/>
          <p:cNvGrpSpPr/>
          <p:nvPr/>
        </p:nvGrpSpPr>
        <p:grpSpPr>
          <a:xfrm rot="0">
            <a:off x="294640" y="194310"/>
            <a:ext cx="789305" cy="299720"/>
            <a:chOff x="0" y="0"/>
            <a:chExt cx="341337" cy="102463"/>
          </a:xfrm>
        </p:grpSpPr>
        <p:sp>
          <p:nvSpPr>
            <p:cNvPr id="26"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27"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28" name="Group 5"/>
          <p:cNvGrpSpPr/>
          <p:nvPr/>
        </p:nvGrpSpPr>
        <p:grpSpPr>
          <a:xfrm rot="0">
            <a:off x="822325" y="209550"/>
            <a:ext cx="220980" cy="246380"/>
            <a:chOff x="0" y="0"/>
            <a:chExt cx="812800" cy="812800"/>
          </a:xfrm>
        </p:grpSpPr>
        <p:sp>
          <p:nvSpPr>
            <p:cNvPr id="29"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0"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31"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7261027"/>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58A6FF"/>
                </a:solidFill>
                <a:latin typeface="Poppins Bold" pitchFamily="34" charset="0"/>
                <a:ea typeface="Poppins Bold" pitchFamily="34" charset="-122"/>
                <a:cs typeface="Poppins Bold" pitchFamily="34" charset="-120"/>
              </a:rPr>
              <a:t>BASE64 MECHANICS: STEP BY STEP</a:t>
            </a:r>
            <a:endParaRPr lang="en-US" sz="3265" dirty="0"/>
          </a:p>
        </p:txBody>
      </p:sp>
      <p:sp>
        <p:nvSpPr>
          <p:cNvPr id="4" name="Text 1"/>
          <p:cNvSpPr/>
          <p:nvPr/>
        </p:nvSpPr>
        <p:spPr>
          <a:xfrm>
            <a:off x="571500" y="2060376"/>
            <a:ext cx="11049000" cy="215265"/>
          </a:xfrm>
          <a:prstGeom prst="rect">
            <a:avLst/>
          </a:prstGeom>
          <a:noFill/>
        </p:spPr>
        <p:txBody>
          <a:bodyPr wrap="square" lIns="0" tIns="0" rIns="0" bIns="0" rtlCol="0" anchor="t">
            <a:spAutoFit/>
          </a:bodyPr>
          <a:lstStyle/>
          <a:p>
            <a:pPr marL="0" indent="0" algn="l">
              <a:buNone/>
            </a:pPr>
            <a:r>
              <a:rPr lang="en-US" sz="1400" dirty="0">
                <a:solidFill>
                  <a:srgbClr val="8B949E"/>
                </a:solidFill>
                <a:latin typeface="Inter" pitchFamily="34" charset="0"/>
                <a:ea typeface="Inter" pitchFamily="34" charset="-122"/>
                <a:cs typeface="Inter" pitchFamily="34" charset="-120"/>
              </a:rPr>
              <a:t>Example: Encoding the word </a:t>
            </a:r>
            <a:r>
              <a:rPr lang="en-US" sz="1335" b="1" dirty="0">
                <a:solidFill>
                  <a:srgbClr val="8B949E"/>
                </a:solidFill>
                <a:latin typeface="Inter" pitchFamily="34" charset="0"/>
                <a:ea typeface="Inter" pitchFamily="34" charset="-122"/>
                <a:cs typeface="Inter" pitchFamily="34" charset="-120"/>
              </a:rPr>
              <a:t>"Hi"</a:t>
            </a:r>
            <a:endParaRPr lang="en-US" sz="1400" dirty="0"/>
          </a:p>
        </p:txBody>
      </p:sp>
      <p:sp>
        <p:nvSpPr>
          <p:cNvPr id="5" name="Shape 2"/>
          <p:cNvSpPr/>
          <p:nvPr/>
        </p:nvSpPr>
        <p:spPr>
          <a:xfrm>
            <a:off x="571500" y="2481857"/>
            <a:ext cx="11049000" cy="542925"/>
          </a:xfrm>
          <a:prstGeom prst="rect">
            <a:avLst/>
          </a:prstGeom>
          <a:solidFill>
            <a:srgbClr val="161B22"/>
          </a:solidFill>
        </p:spPr>
      </p:sp>
      <p:sp>
        <p:nvSpPr>
          <p:cNvPr id="6" name="Shape 3"/>
          <p:cNvSpPr/>
          <p:nvPr/>
        </p:nvSpPr>
        <p:spPr>
          <a:xfrm>
            <a:off x="571500" y="2481857"/>
            <a:ext cx="38100" cy="542925"/>
          </a:xfrm>
          <a:prstGeom prst="rect">
            <a:avLst/>
          </a:prstGeom>
          <a:solidFill>
            <a:srgbClr val="00FF9C"/>
          </a:solidFill>
        </p:spPr>
      </p:sp>
      <p:sp>
        <p:nvSpPr>
          <p:cNvPr id="7" name="Shape 4"/>
          <p:cNvSpPr/>
          <p:nvPr/>
        </p:nvSpPr>
        <p:spPr>
          <a:xfrm>
            <a:off x="571500" y="2481857"/>
            <a:ext cx="2762251" cy="542925"/>
          </a:xfrm>
          <a:prstGeom prst="rect">
            <a:avLst/>
          </a:prstGeom>
          <a:solidFill>
            <a:srgbClr val="00FF9C">
              <a:alpha val="5000"/>
            </a:srgbClr>
          </a:solidFill>
        </p:spPr>
      </p:sp>
      <p:sp>
        <p:nvSpPr>
          <p:cNvPr id="8" name="Text 5"/>
          <p:cNvSpPr/>
          <p:nvPr/>
        </p:nvSpPr>
        <p:spPr>
          <a:xfrm>
            <a:off x="571500" y="2481857"/>
            <a:ext cx="2762251" cy="533400"/>
          </a:xfrm>
          <a:prstGeom prst="rect">
            <a:avLst/>
          </a:prstGeom>
          <a:noFill/>
        </p:spPr>
        <p:txBody>
          <a:bodyPr wrap="square" lIns="226737" tIns="170010" rIns="226737" bIns="170010" rtlCol="0" anchor="t">
            <a:spAutoFit/>
          </a:bodyPr>
          <a:lstStyle/>
          <a:p>
            <a:pPr marL="0" indent="0" algn="l">
              <a:buNone/>
            </a:pPr>
            <a:r>
              <a:rPr lang="en-US" sz="1265" dirty="0">
                <a:solidFill>
                  <a:srgbClr val="00FF9C"/>
                </a:solidFill>
                <a:latin typeface="Poppins Bold" pitchFamily="34" charset="0"/>
                <a:ea typeface="Poppins Bold" pitchFamily="34" charset="-122"/>
                <a:cs typeface="Poppins Bold" pitchFamily="34" charset="-120"/>
              </a:rPr>
              <a:t>1. ASCII BINARY</a:t>
            </a:r>
            <a:endParaRPr lang="en-US" sz="1265" dirty="0"/>
          </a:p>
        </p:txBody>
      </p:sp>
      <p:sp>
        <p:nvSpPr>
          <p:cNvPr id="9" name="Text 6"/>
          <p:cNvSpPr/>
          <p:nvPr/>
        </p:nvSpPr>
        <p:spPr>
          <a:xfrm>
            <a:off x="3524251" y="2627115"/>
            <a:ext cx="1943100" cy="215265"/>
          </a:xfrm>
          <a:prstGeom prst="rect">
            <a:avLst/>
          </a:prstGeom>
          <a:noFill/>
        </p:spPr>
        <p:txBody>
          <a:bodyPr wrap="square" lIns="0" tIns="0" rIns="0" bIns="0" rtlCol="0" anchor="t">
            <a:spAutoFit/>
          </a:bodyPr>
          <a:lstStyle/>
          <a:p>
            <a:pPr marL="0" indent="0" algn="l">
              <a:buNone/>
            </a:pPr>
            <a:r>
              <a:rPr lang="en-US" sz="1400" dirty="0">
                <a:solidFill>
                  <a:srgbClr val="8B949E"/>
                </a:solidFill>
                <a:latin typeface="JetBrains Mono" pitchFamily="34" charset="0"/>
                <a:ea typeface="JetBrains Mono" pitchFamily="34" charset="-122"/>
                <a:cs typeface="JetBrains Mono" pitchFamily="34" charset="-120"/>
              </a:rPr>
              <a:t>H = 72 = </a:t>
            </a:r>
            <a:r>
              <a:rPr lang="en-US" sz="1335" b="1" dirty="0">
                <a:solidFill>
                  <a:srgbClr val="E6EDF3"/>
                </a:solidFill>
                <a:latin typeface="JetBrains Mono" pitchFamily="34" charset="0"/>
                <a:ea typeface="JetBrains Mono" pitchFamily="34" charset="-122"/>
                <a:cs typeface="JetBrains Mono" pitchFamily="34" charset="-120"/>
              </a:rPr>
              <a:t>01001000</a:t>
            </a:r>
            <a:endParaRPr lang="en-US" sz="1400" dirty="0"/>
          </a:p>
        </p:txBody>
      </p:sp>
      <p:sp>
        <p:nvSpPr>
          <p:cNvPr id="10" name="Text 7"/>
          <p:cNvSpPr/>
          <p:nvPr/>
        </p:nvSpPr>
        <p:spPr>
          <a:xfrm>
            <a:off x="5657851" y="2627115"/>
            <a:ext cx="2057400" cy="215265"/>
          </a:xfrm>
          <a:prstGeom prst="rect">
            <a:avLst/>
          </a:prstGeom>
          <a:noFill/>
        </p:spPr>
        <p:txBody>
          <a:bodyPr wrap="square" lIns="0" tIns="0" rIns="0" bIns="0" rtlCol="0" anchor="t">
            <a:spAutoFit/>
          </a:bodyPr>
          <a:lstStyle/>
          <a:p>
            <a:pPr marL="0" indent="0" algn="l">
              <a:buNone/>
            </a:pPr>
            <a:r>
              <a:rPr lang="en-US" sz="1400" dirty="0">
                <a:solidFill>
                  <a:srgbClr val="8B949E"/>
                </a:solidFill>
                <a:latin typeface="JetBrains Mono" pitchFamily="34" charset="0"/>
                <a:ea typeface="JetBrains Mono" pitchFamily="34" charset="-122"/>
                <a:cs typeface="JetBrains Mono" pitchFamily="34" charset="-120"/>
              </a:rPr>
              <a:t>i = 105 = </a:t>
            </a:r>
            <a:r>
              <a:rPr lang="en-US" sz="1335" b="1" dirty="0">
                <a:solidFill>
                  <a:srgbClr val="E6EDF3"/>
                </a:solidFill>
                <a:latin typeface="JetBrains Mono" pitchFamily="34" charset="0"/>
                <a:ea typeface="JetBrains Mono" pitchFamily="34" charset="-122"/>
                <a:cs typeface="JetBrains Mono" pitchFamily="34" charset="-120"/>
              </a:rPr>
              <a:t>01101001</a:t>
            </a:r>
            <a:endParaRPr lang="en-US" sz="1400" dirty="0"/>
          </a:p>
        </p:txBody>
      </p:sp>
      <p:pic>
        <p:nvPicPr>
          <p:cNvPr id="11" name="Image 1" descr="preencoded.png"/>
          <p:cNvPicPr>
            <a:picLocks noChangeAspect="1"/>
          </p:cNvPicPr>
          <p:nvPr/>
        </p:nvPicPr>
        <p:blipFill>
          <a:blip r:embed="rId2"/>
          <a:stretch>
            <a:fillRect/>
          </a:stretch>
        </p:blipFill>
        <p:spPr>
          <a:xfrm>
            <a:off x="6012656" y="3186708"/>
            <a:ext cx="166688" cy="190500"/>
          </a:xfrm>
          <a:prstGeom prst="rect">
            <a:avLst/>
          </a:prstGeom>
        </p:spPr>
      </p:pic>
      <p:sp>
        <p:nvSpPr>
          <p:cNvPr id="12" name="Shape 8"/>
          <p:cNvSpPr/>
          <p:nvPr/>
        </p:nvSpPr>
        <p:spPr>
          <a:xfrm>
            <a:off x="571500" y="3446264"/>
            <a:ext cx="11049000" cy="542925"/>
          </a:xfrm>
          <a:prstGeom prst="rect">
            <a:avLst/>
          </a:prstGeom>
          <a:solidFill>
            <a:srgbClr val="161B22"/>
          </a:solidFill>
        </p:spPr>
      </p:sp>
      <p:sp>
        <p:nvSpPr>
          <p:cNvPr id="13" name="Shape 9"/>
          <p:cNvSpPr/>
          <p:nvPr/>
        </p:nvSpPr>
        <p:spPr>
          <a:xfrm>
            <a:off x="571500" y="3446264"/>
            <a:ext cx="38100" cy="542925"/>
          </a:xfrm>
          <a:prstGeom prst="rect">
            <a:avLst/>
          </a:prstGeom>
          <a:solidFill>
            <a:srgbClr val="00FF9C"/>
          </a:solidFill>
        </p:spPr>
      </p:sp>
      <p:sp>
        <p:nvSpPr>
          <p:cNvPr id="14" name="Shape 10"/>
          <p:cNvSpPr/>
          <p:nvPr/>
        </p:nvSpPr>
        <p:spPr>
          <a:xfrm>
            <a:off x="571500" y="3446264"/>
            <a:ext cx="2762251" cy="542925"/>
          </a:xfrm>
          <a:prstGeom prst="rect">
            <a:avLst/>
          </a:prstGeom>
          <a:solidFill>
            <a:srgbClr val="00FF9C">
              <a:alpha val="5000"/>
            </a:srgbClr>
          </a:solidFill>
        </p:spPr>
      </p:sp>
      <p:sp>
        <p:nvSpPr>
          <p:cNvPr id="15" name="Text 11"/>
          <p:cNvSpPr/>
          <p:nvPr/>
        </p:nvSpPr>
        <p:spPr>
          <a:xfrm>
            <a:off x="571500" y="3446264"/>
            <a:ext cx="2762251" cy="533400"/>
          </a:xfrm>
          <a:prstGeom prst="rect">
            <a:avLst/>
          </a:prstGeom>
          <a:noFill/>
        </p:spPr>
        <p:txBody>
          <a:bodyPr wrap="square" lIns="226737" tIns="170010" rIns="226737" bIns="170010" rtlCol="0" anchor="t">
            <a:spAutoFit/>
          </a:bodyPr>
          <a:lstStyle/>
          <a:p>
            <a:pPr marL="0" indent="0" algn="l">
              <a:buNone/>
            </a:pPr>
            <a:r>
              <a:rPr lang="en-US" sz="1265" dirty="0">
                <a:solidFill>
                  <a:srgbClr val="00FF9C"/>
                </a:solidFill>
                <a:latin typeface="Poppins Bold" pitchFamily="34" charset="0"/>
                <a:ea typeface="Poppins Bold" pitchFamily="34" charset="-122"/>
                <a:cs typeface="Poppins Bold" pitchFamily="34" charset="-120"/>
              </a:rPr>
              <a:t>2. CONCATENATE</a:t>
            </a:r>
            <a:endParaRPr lang="en-US" sz="1265" dirty="0"/>
          </a:p>
        </p:txBody>
      </p:sp>
      <p:sp>
        <p:nvSpPr>
          <p:cNvPr id="16" name="Text 12"/>
          <p:cNvSpPr/>
          <p:nvPr/>
        </p:nvSpPr>
        <p:spPr>
          <a:xfrm>
            <a:off x="3524251" y="3591520"/>
            <a:ext cx="1828800" cy="205740"/>
          </a:xfrm>
          <a:prstGeom prst="rect">
            <a:avLst/>
          </a:prstGeom>
          <a:noFill/>
        </p:spPr>
        <p:txBody>
          <a:bodyPr wrap="square" lIns="0" tIns="0" rIns="0" bIns="0" rtlCol="0" anchor="t">
            <a:spAutoFit/>
          </a:bodyPr>
          <a:lstStyle/>
          <a:p>
            <a:pPr marL="0" indent="0" algn="l">
              <a:buNone/>
            </a:pPr>
            <a:r>
              <a:rPr lang="en-US" sz="1335" b="1" dirty="0">
                <a:solidFill>
                  <a:srgbClr val="E6EDF3"/>
                </a:solidFill>
                <a:latin typeface="JetBrains Mono" pitchFamily="34" charset="0"/>
                <a:ea typeface="JetBrains Mono" pitchFamily="34" charset="-122"/>
                <a:cs typeface="JetBrains Mono" pitchFamily="34" charset="-120"/>
              </a:rPr>
              <a:t>0100100001101001</a:t>
            </a:r>
            <a:endParaRPr lang="en-US" sz="1335" dirty="0"/>
          </a:p>
        </p:txBody>
      </p:sp>
      <p:pic>
        <p:nvPicPr>
          <p:cNvPr id="17" name="Image 2" descr="preencoded.png"/>
          <p:cNvPicPr>
            <a:picLocks noChangeAspect="1"/>
          </p:cNvPicPr>
          <p:nvPr/>
        </p:nvPicPr>
        <p:blipFill>
          <a:blip r:embed="rId3"/>
          <a:stretch>
            <a:fillRect/>
          </a:stretch>
        </p:blipFill>
        <p:spPr>
          <a:xfrm>
            <a:off x="6012656" y="4151115"/>
            <a:ext cx="166688" cy="190500"/>
          </a:xfrm>
          <a:prstGeom prst="rect">
            <a:avLst/>
          </a:prstGeom>
        </p:spPr>
      </p:pic>
      <p:sp>
        <p:nvSpPr>
          <p:cNvPr id="18" name="Shape 13"/>
          <p:cNvSpPr/>
          <p:nvPr/>
        </p:nvSpPr>
        <p:spPr>
          <a:xfrm>
            <a:off x="571500" y="4410671"/>
            <a:ext cx="11049000" cy="542925"/>
          </a:xfrm>
          <a:prstGeom prst="rect">
            <a:avLst/>
          </a:prstGeom>
          <a:solidFill>
            <a:srgbClr val="161B22"/>
          </a:solidFill>
        </p:spPr>
      </p:sp>
      <p:sp>
        <p:nvSpPr>
          <p:cNvPr id="19" name="Shape 14"/>
          <p:cNvSpPr/>
          <p:nvPr/>
        </p:nvSpPr>
        <p:spPr>
          <a:xfrm>
            <a:off x="571500" y="4410671"/>
            <a:ext cx="38100" cy="542925"/>
          </a:xfrm>
          <a:prstGeom prst="rect">
            <a:avLst/>
          </a:prstGeom>
          <a:solidFill>
            <a:srgbClr val="00FF9C"/>
          </a:solidFill>
        </p:spPr>
      </p:sp>
      <p:sp>
        <p:nvSpPr>
          <p:cNvPr id="20" name="Shape 15"/>
          <p:cNvSpPr/>
          <p:nvPr/>
        </p:nvSpPr>
        <p:spPr>
          <a:xfrm>
            <a:off x="571500" y="4410671"/>
            <a:ext cx="2762251" cy="542925"/>
          </a:xfrm>
          <a:prstGeom prst="rect">
            <a:avLst/>
          </a:prstGeom>
          <a:solidFill>
            <a:srgbClr val="00FF9C">
              <a:alpha val="5000"/>
            </a:srgbClr>
          </a:solidFill>
        </p:spPr>
      </p:sp>
      <p:sp>
        <p:nvSpPr>
          <p:cNvPr id="21" name="Text 16"/>
          <p:cNvSpPr/>
          <p:nvPr/>
        </p:nvSpPr>
        <p:spPr>
          <a:xfrm>
            <a:off x="571500" y="4410671"/>
            <a:ext cx="2762251" cy="533400"/>
          </a:xfrm>
          <a:prstGeom prst="rect">
            <a:avLst/>
          </a:prstGeom>
          <a:noFill/>
        </p:spPr>
        <p:txBody>
          <a:bodyPr wrap="square" lIns="226737" tIns="170010" rIns="226737" bIns="170010" rtlCol="0" anchor="t">
            <a:spAutoFit/>
          </a:bodyPr>
          <a:lstStyle/>
          <a:p>
            <a:pPr marL="0" indent="0" algn="l">
              <a:buNone/>
            </a:pPr>
            <a:r>
              <a:rPr lang="en-US" sz="1265" dirty="0">
                <a:solidFill>
                  <a:srgbClr val="00FF9C"/>
                </a:solidFill>
                <a:latin typeface="Poppins Bold" pitchFamily="34" charset="0"/>
                <a:ea typeface="Poppins Bold" pitchFamily="34" charset="-122"/>
                <a:cs typeface="Poppins Bold" pitchFamily="34" charset="-120"/>
              </a:rPr>
              <a:t>3. PAD TO 6-BITS</a:t>
            </a:r>
            <a:endParaRPr lang="en-US" sz="1265" dirty="0"/>
          </a:p>
        </p:txBody>
      </p:sp>
      <p:sp>
        <p:nvSpPr>
          <p:cNvPr id="22" name="Text 17"/>
          <p:cNvSpPr/>
          <p:nvPr/>
        </p:nvSpPr>
        <p:spPr>
          <a:xfrm>
            <a:off x="3524251" y="4555927"/>
            <a:ext cx="2057400" cy="215265"/>
          </a:xfrm>
          <a:prstGeom prst="rect">
            <a:avLst/>
          </a:prstGeom>
          <a:noFill/>
        </p:spPr>
        <p:txBody>
          <a:bodyPr wrap="square" lIns="0" tIns="0" rIns="0" bIns="0" rtlCol="0" anchor="t">
            <a:spAutoFit/>
          </a:bodyPr>
          <a:lstStyle/>
          <a:p>
            <a:pPr marL="0" indent="0" algn="l">
              <a:buNone/>
            </a:pPr>
            <a:r>
              <a:rPr lang="en-US" sz="1400" dirty="0">
                <a:solidFill>
                  <a:srgbClr val="8B949E"/>
                </a:solidFill>
                <a:latin typeface="JetBrains Mono" pitchFamily="34" charset="0"/>
                <a:ea typeface="JetBrains Mono" pitchFamily="34" charset="-122"/>
                <a:cs typeface="JetBrains Mono" pitchFamily="34" charset="-120"/>
              </a:rPr>
              <a:t>0100100001101001</a:t>
            </a:r>
            <a:r>
              <a:rPr lang="en-US" sz="1400" dirty="0">
                <a:solidFill>
                  <a:srgbClr val="FF6B6B"/>
                </a:solidFill>
                <a:latin typeface="JetBrains Mono" pitchFamily="34" charset="0"/>
                <a:ea typeface="JetBrains Mono" pitchFamily="34" charset="-122"/>
                <a:cs typeface="JetBrains Mono" pitchFamily="34" charset="-120"/>
              </a:rPr>
              <a:t>00</a:t>
            </a:r>
            <a:endParaRPr lang="en-US" sz="1400" dirty="0"/>
          </a:p>
        </p:txBody>
      </p:sp>
      <p:sp>
        <p:nvSpPr>
          <p:cNvPr id="23" name="Text 18"/>
          <p:cNvSpPr/>
          <p:nvPr/>
        </p:nvSpPr>
        <p:spPr>
          <a:xfrm>
            <a:off x="5772151" y="4555927"/>
            <a:ext cx="3076575"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JetBrains Mono" pitchFamily="34" charset="0"/>
                <a:ea typeface="JetBrains Mono" pitchFamily="34" charset="-122"/>
                <a:cs typeface="JetBrains Mono" pitchFamily="34" charset="-120"/>
              </a:rPr>
              <a:t>(Added 2 zeros to reach multiple of 6)</a:t>
            </a:r>
            <a:endParaRPr lang="en-US" sz="1000" dirty="0"/>
          </a:p>
        </p:txBody>
      </p:sp>
      <p:pic>
        <p:nvPicPr>
          <p:cNvPr id="24" name="Image 3" descr="preencoded.png"/>
          <p:cNvPicPr>
            <a:picLocks noChangeAspect="1"/>
          </p:cNvPicPr>
          <p:nvPr/>
        </p:nvPicPr>
        <p:blipFill>
          <a:blip r:embed="rId4"/>
          <a:stretch>
            <a:fillRect/>
          </a:stretch>
        </p:blipFill>
        <p:spPr>
          <a:xfrm>
            <a:off x="6012656" y="5115520"/>
            <a:ext cx="166688" cy="190500"/>
          </a:xfrm>
          <a:prstGeom prst="rect">
            <a:avLst/>
          </a:prstGeom>
        </p:spPr>
      </p:pic>
      <p:sp>
        <p:nvSpPr>
          <p:cNvPr id="25" name="Shape 19"/>
          <p:cNvSpPr/>
          <p:nvPr/>
        </p:nvSpPr>
        <p:spPr>
          <a:xfrm>
            <a:off x="571500" y="5375076"/>
            <a:ext cx="11049000" cy="542925"/>
          </a:xfrm>
          <a:prstGeom prst="rect">
            <a:avLst/>
          </a:prstGeom>
          <a:solidFill>
            <a:srgbClr val="161B22"/>
          </a:solidFill>
        </p:spPr>
      </p:sp>
      <p:sp>
        <p:nvSpPr>
          <p:cNvPr id="26" name="Shape 20"/>
          <p:cNvSpPr/>
          <p:nvPr/>
        </p:nvSpPr>
        <p:spPr>
          <a:xfrm>
            <a:off x="571500" y="5375076"/>
            <a:ext cx="38100" cy="542925"/>
          </a:xfrm>
          <a:prstGeom prst="rect">
            <a:avLst/>
          </a:prstGeom>
          <a:solidFill>
            <a:srgbClr val="00FF9C"/>
          </a:solidFill>
        </p:spPr>
      </p:sp>
      <p:sp>
        <p:nvSpPr>
          <p:cNvPr id="27" name="Shape 21"/>
          <p:cNvSpPr/>
          <p:nvPr/>
        </p:nvSpPr>
        <p:spPr>
          <a:xfrm>
            <a:off x="571500" y="5375076"/>
            <a:ext cx="2762251" cy="542925"/>
          </a:xfrm>
          <a:prstGeom prst="rect">
            <a:avLst/>
          </a:prstGeom>
          <a:solidFill>
            <a:srgbClr val="00FF9C">
              <a:alpha val="5000"/>
            </a:srgbClr>
          </a:solidFill>
        </p:spPr>
      </p:sp>
      <p:sp>
        <p:nvSpPr>
          <p:cNvPr id="28" name="Text 22"/>
          <p:cNvSpPr/>
          <p:nvPr/>
        </p:nvSpPr>
        <p:spPr>
          <a:xfrm>
            <a:off x="571500" y="5375076"/>
            <a:ext cx="2762251" cy="533400"/>
          </a:xfrm>
          <a:prstGeom prst="rect">
            <a:avLst/>
          </a:prstGeom>
          <a:noFill/>
        </p:spPr>
        <p:txBody>
          <a:bodyPr wrap="square" lIns="226737" tIns="170010" rIns="226737" bIns="170010" rtlCol="0" anchor="t">
            <a:spAutoFit/>
          </a:bodyPr>
          <a:lstStyle/>
          <a:p>
            <a:pPr marL="0" indent="0" algn="l">
              <a:buNone/>
            </a:pPr>
            <a:r>
              <a:rPr lang="en-US" sz="1265" dirty="0">
                <a:solidFill>
                  <a:srgbClr val="00FF9C"/>
                </a:solidFill>
                <a:latin typeface="Poppins Bold" pitchFamily="34" charset="0"/>
                <a:ea typeface="Poppins Bold" pitchFamily="34" charset="-122"/>
                <a:cs typeface="Poppins Bold" pitchFamily="34" charset="-120"/>
              </a:rPr>
              <a:t>4. SPLIT &amp; MAP</a:t>
            </a:r>
            <a:endParaRPr lang="en-US" sz="1265" dirty="0"/>
          </a:p>
        </p:txBody>
      </p:sp>
      <p:sp>
        <p:nvSpPr>
          <p:cNvPr id="29" name="Text 23"/>
          <p:cNvSpPr/>
          <p:nvPr/>
        </p:nvSpPr>
        <p:spPr>
          <a:xfrm>
            <a:off x="3524251" y="5520333"/>
            <a:ext cx="1203960" cy="215265"/>
          </a:xfrm>
          <a:prstGeom prst="rect">
            <a:avLst/>
          </a:prstGeom>
          <a:noFill/>
        </p:spPr>
        <p:txBody>
          <a:bodyPr wrap="none" lIns="0" tIns="0" rIns="0" bIns="0" rtlCol="0" anchor="t">
            <a:spAutoFit/>
          </a:bodyPr>
          <a:lstStyle/>
          <a:p>
            <a:pPr marL="0" indent="0" algn="l">
              <a:buNone/>
            </a:pPr>
            <a:r>
              <a:rPr lang="en-US" sz="1400" dirty="0">
                <a:solidFill>
                  <a:srgbClr val="8B949E"/>
                </a:solidFill>
                <a:latin typeface="JetBrains Mono" pitchFamily="34" charset="0"/>
                <a:ea typeface="JetBrains Mono" pitchFamily="34" charset="-122"/>
                <a:cs typeface="JetBrains Mono" pitchFamily="34" charset="-120"/>
              </a:rPr>
              <a:t>010010 (18) = </a:t>
            </a:r>
            <a:r>
              <a:rPr lang="en-US" sz="1335" b="1" dirty="0">
                <a:solidFill>
                  <a:srgbClr val="E6EDF3"/>
                </a:solidFill>
                <a:latin typeface="JetBrains Mono" pitchFamily="34" charset="0"/>
                <a:ea typeface="JetBrains Mono" pitchFamily="34" charset="-122"/>
                <a:cs typeface="JetBrains Mono" pitchFamily="34" charset="-120"/>
              </a:rPr>
              <a:t>S</a:t>
            </a:r>
            <a:endParaRPr lang="en-US" sz="1400" dirty="0"/>
          </a:p>
        </p:txBody>
      </p:sp>
      <p:sp>
        <p:nvSpPr>
          <p:cNvPr id="30" name="Text 24"/>
          <p:cNvSpPr/>
          <p:nvPr/>
        </p:nvSpPr>
        <p:spPr>
          <a:xfrm>
            <a:off x="5429251" y="5520333"/>
            <a:ext cx="1139825" cy="215265"/>
          </a:xfrm>
          <a:prstGeom prst="rect">
            <a:avLst/>
          </a:prstGeom>
          <a:noFill/>
        </p:spPr>
        <p:txBody>
          <a:bodyPr wrap="none" lIns="0" tIns="0" rIns="0" bIns="0" rtlCol="0" anchor="t">
            <a:spAutoFit/>
          </a:bodyPr>
          <a:lstStyle/>
          <a:p>
            <a:pPr marL="0" indent="0" algn="l">
              <a:buNone/>
            </a:pPr>
            <a:r>
              <a:rPr lang="en-US" sz="1400" dirty="0">
                <a:solidFill>
                  <a:srgbClr val="8B949E"/>
                </a:solidFill>
                <a:latin typeface="JetBrains Mono" pitchFamily="34" charset="0"/>
                <a:ea typeface="JetBrains Mono" pitchFamily="34" charset="-122"/>
                <a:cs typeface="JetBrains Mono" pitchFamily="34" charset="-120"/>
              </a:rPr>
              <a:t>000110 (6) = </a:t>
            </a:r>
            <a:r>
              <a:rPr lang="en-US" sz="1335" b="1" dirty="0">
                <a:solidFill>
                  <a:srgbClr val="E6EDF3"/>
                </a:solidFill>
                <a:latin typeface="JetBrains Mono" pitchFamily="34" charset="0"/>
                <a:ea typeface="JetBrains Mono" pitchFamily="34" charset="-122"/>
                <a:cs typeface="JetBrains Mono" pitchFamily="34" charset="-120"/>
              </a:rPr>
              <a:t>G</a:t>
            </a:r>
            <a:endParaRPr lang="en-US" sz="1400" dirty="0"/>
          </a:p>
        </p:txBody>
      </p:sp>
      <p:sp>
        <p:nvSpPr>
          <p:cNvPr id="31" name="Text 25"/>
          <p:cNvSpPr/>
          <p:nvPr/>
        </p:nvSpPr>
        <p:spPr>
          <a:xfrm>
            <a:off x="7219951" y="5520333"/>
            <a:ext cx="1207770" cy="215265"/>
          </a:xfrm>
          <a:prstGeom prst="rect">
            <a:avLst/>
          </a:prstGeom>
          <a:noFill/>
        </p:spPr>
        <p:txBody>
          <a:bodyPr wrap="none" lIns="0" tIns="0" rIns="0" bIns="0" rtlCol="0" anchor="t">
            <a:spAutoFit/>
          </a:bodyPr>
          <a:lstStyle/>
          <a:p>
            <a:pPr marL="0" indent="0" algn="l">
              <a:buNone/>
            </a:pPr>
            <a:r>
              <a:rPr lang="en-US" sz="1400" dirty="0">
                <a:solidFill>
                  <a:srgbClr val="8B949E"/>
                </a:solidFill>
                <a:latin typeface="JetBrains Mono" pitchFamily="34" charset="0"/>
                <a:ea typeface="JetBrains Mono" pitchFamily="34" charset="-122"/>
                <a:cs typeface="JetBrains Mono" pitchFamily="34" charset="-120"/>
              </a:rPr>
              <a:t>100100 (36) = </a:t>
            </a:r>
            <a:r>
              <a:rPr lang="en-US" sz="1335" b="1" dirty="0">
                <a:solidFill>
                  <a:srgbClr val="E6EDF3"/>
                </a:solidFill>
                <a:latin typeface="JetBrains Mono" pitchFamily="34" charset="0"/>
                <a:ea typeface="JetBrains Mono" pitchFamily="34" charset="-122"/>
                <a:cs typeface="JetBrains Mono" pitchFamily="34" charset="-120"/>
              </a:rPr>
              <a:t>k</a:t>
            </a:r>
            <a:endParaRPr lang="en-US" sz="1400" dirty="0"/>
          </a:p>
        </p:txBody>
      </p:sp>
      <p:pic>
        <p:nvPicPr>
          <p:cNvPr id="32" name="Image 4" descr="preencoded.png"/>
          <p:cNvPicPr>
            <a:picLocks noChangeAspect="1"/>
          </p:cNvPicPr>
          <p:nvPr/>
        </p:nvPicPr>
        <p:blipFill>
          <a:blip r:embed="rId5"/>
          <a:stretch>
            <a:fillRect/>
          </a:stretch>
        </p:blipFill>
        <p:spPr>
          <a:xfrm>
            <a:off x="6012656" y="6079927"/>
            <a:ext cx="166688" cy="190500"/>
          </a:xfrm>
          <a:prstGeom prst="rect">
            <a:avLst/>
          </a:prstGeom>
        </p:spPr>
      </p:pic>
      <p:sp>
        <p:nvSpPr>
          <p:cNvPr id="33" name="Shape 26"/>
          <p:cNvSpPr/>
          <p:nvPr/>
        </p:nvSpPr>
        <p:spPr>
          <a:xfrm>
            <a:off x="571500" y="6339483"/>
            <a:ext cx="11049000" cy="588169"/>
          </a:xfrm>
          <a:prstGeom prst="rect">
            <a:avLst/>
          </a:prstGeom>
          <a:solidFill>
            <a:srgbClr val="161B22"/>
          </a:solidFill>
        </p:spPr>
      </p:sp>
      <p:sp>
        <p:nvSpPr>
          <p:cNvPr id="34" name="Shape 27"/>
          <p:cNvSpPr/>
          <p:nvPr/>
        </p:nvSpPr>
        <p:spPr>
          <a:xfrm>
            <a:off x="571500" y="6339483"/>
            <a:ext cx="38100" cy="588169"/>
          </a:xfrm>
          <a:prstGeom prst="rect">
            <a:avLst/>
          </a:prstGeom>
          <a:solidFill>
            <a:srgbClr val="58A6FF"/>
          </a:solidFill>
        </p:spPr>
      </p:sp>
      <p:sp>
        <p:nvSpPr>
          <p:cNvPr id="35" name="Shape 28"/>
          <p:cNvSpPr/>
          <p:nvPr/>
        </p:nvSpPr>
        <p:spPr>
          <a:xfrm>
            <a:off x="571500" y="6362105"/>
            <a:ext cx="2762251" cy="542925"/>
          </a:xfrm>
          <a:prstGeom prst="rect">
            <a:avLst/>
          </a:prstGeom>
          <a:solidFill>
            <a:srgbClr val="58A6FF">
              <a:alpha val="5000"/>
            </a:srgbClr>
          </a:solidFill>
        </p:spPr>
      </p:sp>
      <p:sp>
        <p:nvSpPr>
          <p:cNvPr id="36" name="Text 29"/>
          <p:cNvSpPr/>
          <p:nvPr/>
        </p:nvSpPr>
        <p:spPr>
          <a:xfrm>
            <a:off x="571500" y="6362105"/>
            <a:ext cx="2762251" cy="533400"/>
          </a:xfrm>
          <a:prstGeom prst="rect">
            <a:avLst/>
          </a:prstGeom>
          <a:noFill/>
        </p:spPr>
        <p:txBody>
          <a:bodyPr wrap="square" lIns="226737" tIns="170010" rIns="226737" bIns="170010" rtlCol="0" anchor="t">
            <a:spAutoFit/>
          </a:bodyPr>
          <a:lstStyle/>
          <a:p>
            <a:pPr marL="0" indent="0" algn="l">
              <a:buNone/>
            </a:pPr>
            <a:r>
              <a:rPr lang="en-US" sz="1265" dirty="0">
                <a:solidFill>
                  <a:srgbClr val="58A6FF"/>
                </a:solidFill>
                <a:latin typeface="Poppins Bold" pitchFamily="34" charset="0"/>
                <a:ea typeface="Poppins Bold" pitchFamily="34" charset="-122"/>
                <a:cs typeface="Poppins Bold" pitchFamily="34" charset="-120"/>
              </a:rPr>
              <a:t>5. FINAL RESULT</a:t>
            </a:r>
            <a:endParaRPr lang="en-US" sz="1265" dirty="0"/>
          </a:p>
        </p:txBody>
      </p:sp>
      <p:sp>
        <p:nvSpPr>
          <p:cNvPr id="37" name="Text 30"/>
          <p:cNvSpPr/>
          <p:nvPr/>
        </p:nvSpPr>
        <p:spPr>
          <a:xfrm>
            <a:off x="3524251" y="6482357"/>
            <a:ext cx="457835" cy="245745"/>
          </a:xfrm>
          <a:prstGeom prst="rect">
            <a:avLst/>
          </a:prstGeom>
          <a:noFill/>
        </p:spPr>
        <p:txBody>
          <a:bodyPr wrap="none" lIns="0" tIns="0" rIns="0" bIns="0" rtlCol="0" anchor="t">
            <a:spAutoFit/>
          </a:bodyPr>
          <a:lstStyle/>
          <a:p>
            <a:pPr marL="0" indent="0" algn="l">
              <a:buNone/>
            </a:pPr>
            <a:r>
              <a:rPr lang="en-US" sz="1600" b="1" dirty="0">
                <a:solidFill>
                  <a:srgbClr val="00FF9C"/>
                </a:solidFill>
                <a:latin typeface="JetBrains Mono" pitchFamily="34" charset="0"/>
                <a:ea typeface="JetBrains Mono" pitchFamily="34" charset="-122"/>
                <a:cs typeface="JetBrains Mono" pitchFamily="34" charset="-120"/>
              </a:rPr>
              <a:t>SGk=</a:t>
            </a:r>
            <a:endParaRPr lang="en-US" sz="1600" dirty="0"/>
          </a:p>
        </p:txBody>
      </p:sp>
      <p:sp>
        <p:nvSpPr>
          <p:cNvPr id="38" name="Text 31"/>
          <p:cNvSpPr/>
          <p:nvPr/>
        </p:nvSpPr>
        <p:spPr>
          <a:xfrm>
            <a:off x="4267200" y="6482357"/>
            <a:ext cx="3724275"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JetBrains Mono" pitchFamily="34" charset="0"/>
                <a:ea typeface="JetBrains Mono" pitchFamily="34" charset="-122"/>
                <a:cs typeface="JetBrains Mono" pitchFamily="34" charset="-120"/>
              </a:rPr>
              <a:t>(Added = padding to make length multiple of 4)</a:t>
            </a:r>
            <a:endParaRPr lang="en-US" sz="1000" dirty="0"/>
          </a:p>
        </p:txBody>
      </p:sp>
      <p:grpSp>
        <p:nvGrpSpPr>
          <p:cNvPr id="39" name="Group 2"/>
          <p:cNvGrpSpPr/>
          <p:nvPr/>
        </p:nvGrpSpPr>
        <p:grpSpPr>
          <a:xfrm rot="0">
            <a:off x="294640" y="194310"/>
            <a:ext cx="789305" cy="299720"/>
            <a:chOff x="0" y="0"/>
            <a:chExt cx="341337" cy="102463"/>
          </a:xfrm>
        </p:grpSpPr>
        <p:sp>
          <p:nvSpPr>
            <p:cNvPr id="40"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1"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2" name="Group 5"/>
          <p:cNvGrpSpPr/>
          <p:nvPr/>
        </p:nvGrpSpPr>
        <p:grpSpPr>
          <a:xfrm rot="0">
            <a:off x="822325" y="209550"/>
            <a:ext cx="220980" cy="246380"/>
            <a:chOff x="0" y="0"/>
            <a:chExt cx="812800" cy="812800"/>
          </a:xfrm>
        </p:grpSpPr>
        <p:sp>
          <p:nvSpPr>
            <p:cNvPr id="43"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4"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5"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58A6FF"/>
                </a:solidFill>
                <a:latin typeface="Poppins Bold" pitchFamily="34" charset="0"/>
                <a:ea typeface="Poppins Bold" pitchFamily="34" charset="-122"/>
                <a:cs typeface="Poppins Bold" pitchFamily="34" charset="-120"/>
              </a:rPr>
              <a:t>RECOGNIZING BASE64 IN THE WILD</a:t>
            </a:r>
            <a:endParaRPr lang="en-US" sz="3265" dirty="0"/>
          </a:p>
        </p:txBody>
      </p:sp>
      <p:sp>
        <p:nvSpPr>
          <p:cNvPr id="4" name="Shape 1"/>
          <p:cNvSpPr/>
          <p:nvPr/>
        </p:nvSpPr>
        <p:spPr>
          <a:xfrm>
            <a:off x="952500" y="2155627"/>
            <a:ext cx="5029200" cy="516731"/>
          </a:xfrm>
          <a:prstGeom prst="rect">
            <a:avLst/>
          </a:prstGeom>
          <a:solidFill>
            <a:srgbClr val="161B22"/>
          </a:solidFill>
        </p:spPr>
      </p:sp>
      <p:sp>
        <p:nvSpPr>
          <p:cNvPr id="5" name="Shape 2"/>
          <p:cNvSpPr/>
          <p:nvPr/>
        </p:nvSpPr>
        <p:spPr>
          <a:xfrm>
            <a:off x="952500" y="2155627"/>
            <a:ext cx="38100" cy="516731"/>
          </a:xfrm>
          <a:prstGeom prst="rect">
            <a:avLst/>
          </a:prstGeom>
          <a:solidFill>
            <a:srgbClr val="00FF9C"/>
          </a:solidFill>
        </p:spPr>
      </p:sp>
      <p:pic>
        <p:nvPicPr>
          <p:cNvPr id="6" name="Image 1" descr="preencoded.png"/>
          <p:cNvPicPr>
            <a:picLocks noChangeAspect="1"/>
          </p:cNvPicPr>
          <p:nvPr/>
        </p:nvPicPr>
        <p:blipFill>
          <a:blip r:embed="rId2"/>
          <a:stretch>
            <a:fillRect/>
          </a:stretch>
        </p:blipFill>
        <p:spPr>
          <a:xfrm>
            <a:off x="1143000" y="2318743"/>
            <a:ext cx="166688" cy="190500"/>
          </a:xfrm>
          <a:prstGeom prst="rect">
            <a:avLst/>
          </a:prstGeom>
        </p:spPr>
      </p:pic>
      <p:sp>
        <p:nvSpPr>
          <p:cNvPr id="7" name="Text 3"/>
          <p:cNvSpPr/>
          <p:nvPr/>
        </p:nvSpPr>
        <p:spPr>
          <a:xfrm>
            <a:off x="1452563" y="2298501"/>
            <a:ext cx="2933700" cy="215265"/>
          </a:xfrm>
          <a:prstGeom prst="rect">
            <a:avLst/>
          </a:prstGeom>
          <a:noFill/>
        </p:spPr>
        <p:txBody>
          <a:bodyPr wrap="square" lIns="0" tIns="0" rIns="0" bIns="0" rtlCol="0" anchor="t">
            <a:spAutoFit/>
          </a:bodyPr>
          <a:lstStyle/>
          <a:p>
            <a:pPr marL="0" indent="0" algn="l">
              <a:buNone/>
            </a:pPr>
            <a:r>
              <a:rPr lang="en-US" sz="1400" dirty="0">
                <a:solidFill>
                  <a:srgbClr val="E6EDF3"/>
                </a:solidFill>
                <a:latin typeface="Inter" pitchFamily="34" charset="0"/>
                <a:ea typeface="Inter" pitchFamily="34" charset="-122"/>
                <a:cs typeface="Inter" pitchFamily="34" charset="-120"/>
              </a:rPr>
              <a:t>Character Set: A-Z, a-z, 0-9, +, /</a:t>
            </a:r>
            <a:endParaRPr lang="en-US" sz="1400" dirty="0"/>
          </a:p>
        </p:txBody>
      </p:sp>
      <p:sp>
        <p:nvSpPr>
          <p:cNvPr id="8" name="Shape 4"/>
          <p:cNvSpPr/>
          <p:nvPr/>
        </p:nvSpPr>
        <p:spPr>
          <a:xfrm>
            <a:off x="952500" y="2815233"/>
            <a:ext cx="5029200" cy="516731"/>
          </a:xfrm>
          <a:prstGeom prst="rect">
            <a:avLst/>
          </a:prstGeom>
          <a:solidFill>
            <a:srgbClr val="161B22"/>
          </a:solidFill>
        </p:spPr>
      </p:sp>
      <p:sp>
        <p:nvSpPr>
          <p:cNvPr id="9" name="Shape 5"/>
          <p:cNvSpPr/>
          <p:nvPr/>
        </p:nvSpPr>
        <p:spPr>
          <a:xfrm>
            <a:off x="952500" y="2815233"/>
            <a:ext cx="38100" cy="516731"/>
          </a:xfrm>
          <a:prstGeom prst="rect">
            <a:avLst/>
          </a:prstGeom>
          <a:solidFill>
            <a:srgbClr val="00FF9C"/>
          </a:solidFill>
        </p:spPr>
      </p:sp>
      <p:pic>
        <p:nvPicPr>
          <p:cNvPr id="10" name="Image 2" descr="preencoded.png"/>
          <p:cNvPicPr>
            <a:picLocks noChangeAspect="1"/>
          </p:cNvPicPr>
          <p:nvPr/>
        </p:nvPicPr>
        <p:blipFill>
          <a:blip r:embed="rId3"/>
          <a:stretch>
            <a:fillRect/>
          </a:stretch>
        </p:blipFill>
        <p:spPr>
          <a:xfrm>
            <a:off x="1143000" y="2978348"/>
            <a:ext cx="166688" cy="190500"/>
          </a:xfrm>
          <a:prstGeom prst="rect">
            <a:avLst/>
          </a:prstGeom>
        </p:spPr>
      </p:pic>
      <p:sp>
        <p:nvSpPr>
          <p:cNvPr id="11" name="Text 6"/>
          <p:cNvSpPr/>
          <p:nvPr/>
        </p:nvSpPr>
        <p:spPr>
          <a:xfrm>
            <a:off x="1452563" y="2958108"/>
            <a:ext cx="2990851" cy="215265"/>
          </a:xfrm>
          <a:prstGeom prst="rect">
            <a:avLst/>
          </a:prstGeom>
          <a:noFill/>
        </p:spPr>
        <p:txBody>
          <a:bodyPr wrap="square" lIns="0" tIns="0" rIns="0" bIns="0" rtlCol="0" anchor="t">
            <a:spAutoFit/>
          </a:bodyPr>
          <a:lstStyle/>
          <a:p>
            <a:pPr marL="0" indent="0" algn="l">
              <a:buNone/>
            </a:pPr>
            <a:r>
              <a:rPr lang="en-US" sz="1400" dirty="0">
                <a:solidFill>
                  <a:srgbClr val="E6EDF3"/>
                </a:solidFill>
                <a:latin typeface="Inter" pitchFamily="34" charset="0"/>
                <a:ea typeface="Inter" pitchFamily="34" charset="-122"/>
                <a:cs typeface="Inter" pitchFamily="34" charset="-120"/>
              </a:rPr>
              <a:t>Padding: Often ends with = or ==</a:t>
            </a:r>
            <a:endParaRPr lang="en-US" sz="1400" dirty="0"/>
          </a:p>
        </p:txBody>
      </p:sp>
      <p:sp>
        <p:nvSpPr>
          <p:cNvPr id="12" name="Shape 7"/>
          <p:cNvSpPr/>
          <p:nvPr/>
        </p:nvSpPr>
        <p:spPr>
          <a:xfrm>
            <a:off x="952500" y="3474839"/>
            <a:ext cx="5029200" cy="516731"/>
          </a:xfrm>
          <a:prstGeom prst="rect">
            <a:avLst/>
          </a:prstGeom>
          <a:solidFill>
            <a:srgbClr val="161B22"/>
          </a:solidFill>
        </p:spPr>
      </p:sp>
      <p:sp>
        <p:nvSpPr>
          <p:cNvPr id="13" name="Shape 8"/>
          <p:cNvSpPr/>
          <p:nvPr/>
        </p:nvSpPr>
        <p:spPr>
          <a:xfrm>
            <a:off x="952500" y="3474839"/>
            <a:ext cx="38100" cy="516731"/>
          </a:xfrm>
          <a:prstGeom prst="rect">
            <a:avLst/>
          </a:prstGeom>
          <a:solidFill>
            <a:srgbClr val="00FF9C"/>
          </a:solidFill>
        </p:spPr>
      </p:sp>
      <p:pic>
        <p:nvPicPr>
          <p:cNvPr id="14" name="Image 3" descr="preencoded.png"/>
          <p:cNvPicPr>
            <a:picLocks noChangeAspect="1"/>
          </p:cNvPicPr>
          <p:nvPr/>
        </p:nvPicPr>
        <p:blipFill>
          <a:blip r:embed="rId4"/>
          <a:stretch>
            <a:fillRect/>
          </a:stretch>
        </p:blipFill>
        <p:spPr>
          <a:xfrm>
            <a:off x="1143000" y="3637955"/>
            <a:ext cx="238125" cy="190500"/>
          </a:xfrm>
          <a:prstGeom prst="rect">
            <a:avLst/>
          </a:prstGeom>
        </p:spPr>
      </p:pic>
      <p:sp>
        <p:nvSpPr>
          <p:cNvPr id="15" name="Text 9"/>
          <p:cNvSpPr/>
          <p:nvPr/>
        </p:nvSpPr>
        <p:spPr>
          <a:xfrm>
            <a:off x="1524000" y="3617715"/>
            <a:ext cx="2717007" cy="215265"/>
          </a:xfrm>
          <a:prstGeom prst="rect">
            <a:avLst/>
          </a:prstGeom>
          <a:noFill/>
        </p:spPr>
        <p:txBody>
          <a:bodyPr wrap="square" lIns="0" tIns="0" rIns="0" bIns="0" rtlCol="0" anchor="t">
            <a:spAutoFit/>
          </a:bodyPr>
          <a:lstStyle/>
          <a:p>
            <a:pPr marL="0" indent="0" algn="l">
              <a:buNone/>
            </a:pPr>
            <a:r>
              <a:rPr lang="en-US" sz="1400" dirty="0">
                <a:solidFill>
                  <a:srgbClr val="E6EDF3"/>
                </a:solidFill>
                <a:latin typeface="Inter" pitchFamily="34" charset="0"/>
                <a:ea typeface="Inter" pitchFamily="34" charset="-122"/>
                <a:cs typeface="Inter" pitchFamily="34" charset="-120"/>
              </a:rPr>
              <a:t>Length: Always a multiple of 4</a:t>
            </a:r>
            <a:endParaRPr lang="en-US" sz="1400" dirty="0"/>
          </a:p>
        </p:txBody>
      </p:sp>
      <p:sp>
        <p:nvSpPr>
          <p:cNvPr id="16" name="Shape 10"/>
          <p:cNvSpPr/>
          <p:nvPr/>
        </p:nvSpPr>
        <p:spPr>
          <a:xfrm>
            <a:off x="952500" y="4134445"/>
            <a:ext cx="5029200" cy="516731"/>
          </a:xfrm>
          <a:prstGeom prst="rect">
            <a:avLst/>
          </a:prstGeom>
          <a:solidFill>
            <a:srgbClr val="161B22"/>
          </a:solidFill>
        </p:spPr>
      </p:sp>
      <p:sp>
        <p:nvSpPr>
          <p:cNvPr id="17" name="Shape 11"/>
          <p:cNvSpPr/>
          <p:nvPr/>
        </p:nvSpPr>
        <p:spPr>
          <a:xfrm>
            <a:off x="952500" y="4134445"/>
            <a:ext cx="38100" cy="516731"/>
          </a:xfrm>
          <a:prstGeom prst="rect">
            <a:avLst/>
          </a:prstGeom>
          <a:solidFill>
            <a:srgbClr val="00FF9C"/>
          </a:solidFill>
        </p:spPr>
      </p:sp>
      <p:pic>
        <p:nvPicPr>
          <p:cNvPr id="18" name="Image 4" descr="preencoded.png"/>
          <p:cNvPicPr>
            <a:picLocks noChangeAspect="1"/>
          </p:cNvPicPr>
          <p:nvPr/>
        </p:nvPicPr>
        <p:blipFill>
          <a:blip r:embed="rId5"/>
          <a:stretch>
            <a:fillRect/>
          </a:stretch>
        </p:blipFill>
        <p:spPr>
          <a:xfrm>
            <a:off x="1143000" y="4297561"/>
            <a:ext cx="190500" cy="190500"/>
          </a:xfrm>
          <a:prstGeom prst="rect">
            <a:avLst/>
          </a:prstGeom>
        </p:spPr>
      </p:pic>
      <p:sp>
        <p:nvSpPr>
          <p:cNvPr id="19" name="Text 12"/>
          <p:cNvSpPr/>
          <p:nvPr/>
        </p:nvSpPr>
        <p:spPr>
          <a:xfrm>
            <a:off x="1476375" y="4277320"/>
            <a:ext cx="3109912" cy="215265"/>
          </a:xfrm>
          <a:prstGeom prst="rect">
            <a:avLst/>
          </a:prstGeom>
          <a:noFill/>
        </p:spPr>
        <p:txBody>
          <a:bodyPr wrap="square" lIns="0" tIns="0" rIns="0" bIns="0" rtlCol="0" anchor="t">
            <a:spAutoFit/>
          </a:bodyPr>
          <a:lstStyle/>
          <a:p>
            <a:pPr marL="0" indent="0" algn="l">
              <a:buNone/>
            </a:pPr>
            <a:r>
              <a:rPr lang="en-US" sz="1400" dirty="0">
                <a:solidFill>
                  <a:srgbClr val="E6EDF3"/>
                </a:solidFill>
                <a:latin typeface="Inter" pitchFamily="34" charset="0"/>
                <a:ea typeface="Inter" pitchFamily="34" charset="-122"/>
                <a:cs typeface="Inter" pitchFamily="34" charset="-120"/>
              </a:rPr>
              <a:t>No special symbols except + and /</a:t>
            </a:r>
            <a:endParaRPr lang="en-US" sz="1400" dirty="0"/>
          </a:p>
        </p:txBody>
      </p:sp>
      <p:sp>
        <p:nvSpPr>
          <p:cNvPr id="20" name="Shape 13"/>
          <p:cNvSpPr/>
          <p:nvPr/>
        </p:nvSpPr>
        <p:spPr>
          <a:xfrm>
            <a:off x="571500" y="4936927"/>
            <a:ext cx="5410200" cy="1203871"/>
          </a:xfrm>
          <a:prstGeom prst="rect">
            <a:avLst/>
          </a:prstGeom>
          <a:solidFill>
            <a:srgbClr val="E3B341">
              <a:alpha val="10000"/>
            </a:srgbClr>
          </a:solidFill>
        </p:spPr>
      </p:sp>
      <p:sp>
        <p:nvSpPr>
          <p:cNvPr id="21" name="Shape 14"/>
          <p:cNvSpPr/>
          <p:nvPr/>
        </p:nvSpPr>
        <p:spPr>
          <a:xfrm>
            <a:off x="571500" y="4936927"/>
            <a:ext cx="38100" cy="1203871"/>
          </a:xfrm>
          <a:prstGeom prst="rect">
            <a:avLst/>
          </a:prstGeom>
          <a:solidFill>
            <a:srgbClr val="E3B341"/>
          </a:solidFill>
        </p:spPr>
      </p:sp>
      <p:pic>
        <p:nvPicPr>
          <p:cNvPr id="22" name="Image 5" descr="preencoded.png"/>
          <p:cNvPicPr>
            <a:picLocks noChangeAspect="1"/>
          </p:cNvPicPr>
          <p:nvPr/>
        </p:nvPicPr>
        <p:blipFill>
          <a:blip r:embed="rId6"/>
          <a:stretch>
            <a:fillRect/>
          </a:stretch>
        </p:blipFill>
        <p:spPr>
          <a:xfrm>
            <a:off x="762000" y="5177433"/>
            <a:ext cx="128588" cy="171451"/>
          </a:xfrm>
          <a:prstGeom prst="rect">
            <a:avLst/>
          </a:prstGeom>
        </p:spPr>
      </p:pic>
      <p:sp>
        <p:nvSpPr>
          <p:cNvPr id="23" name="Text 15"/>
          <p:cNvSpPr/>
          <p:nvPr/>
        </p:nvSpPr>
        <p:spPr>
          <a:xfrm>
            <a:off x="938212" y="5160764"/>
            <a:ext cx="861060" cy="235585"/>
          </a:xfrm>
          <a:prstGeom prst="rect">
            <a:avLst/>
          </a:prstGeom>
          <a:noFill/>
        </p:spPr>
        <p:txBody>
          <a:bodyPr wrap="none" lIns="0" tIns="0" rIns="0" bIns="0" rtlCol="0" anchor="t">
            <a:spAutoFit/>
          </a:bodyPr>
          <a:lstStyle/>
          <a:p>
            <a:pPr marL="0" indent="0" algn="l">
              <a:lnSpc>
                <a:spcPct val="128000"/>
              </a:lnSpc>
              <a:buNone/>
            </a:pPr>
            <a:r>
              <a:rPr lang="en-US" sz="1200" b="1" dirty="0">
                <a:solidFill>
                  <a:srgbClr val="E3B341"/>
                </a:solidFill>
                <a:latin typeface="Inter" pitchFamily="34" charset="0"/>
                <a:ea typeface="Inter" pitchFamily="34" charset="-122"/>
                <a:cs typeface="Inter" pitchFamily="34" charset="-120"/>
              </a:rPr>
              <a:t>CTF PRO-TIP:</a:t>
            </a:r>
            <a:endParaRPr lang="en-US" sz="1200" dirty="0"/>
          </a:p>
        </p:txBody>
      </p:sp>
      <p:sp>
        <p:nvSpPr>
          <p:cNvPr id="24" name="Text 16"/>
          <p:cNvSpPr/>
          <p:nvPr/>
        </p:nvSpPr>
        <p:spPr>
          <a:xfrm>
            <a:off x="762000" y="5435055"/>
            <a:ext cx="3643630" cy="249555"/>
          </a:xfrm>
          <a:prstGeom prst="rect">
            <a:avLst/>
          </a:prstGeom>
          <a:noFill/>
        </p:spPr>
        <p:txBody>
          <a:bodyPr wrap="none" lIns="0" tIns="0" rIns="0" bIns="0" rtlCol="0" anchor="t">
            <a:spAutoFit/>
          </a:bodyPr>
          <a:lstStyle/>
          <a:p>
            <a:pPr marL="0" indent="0" algn="l">
              <a:lnSpc>
                <a:spcPct val="128000"/>
              </a:lnSpc>
              <a:buNone/>
            </a:pPr>
            <a:r>
              <a:rPr lang="en-US" sz="1265" dirty="0">
                <a:solidFill>
                  <a:srgbClr val="E3B341"/>
                </a:solidFill>
                <a:latin typeface="Inter" pitchFamily="34" charset="0"/>
                <a:ea typeface="Inter" pitchFamily="34" charset="-122"/>
                <a:cs typeface="Inter" pitchFamily="34" charset="-120"/>
              </a:rPr>
              <a:t>If you see a string that looks scrambled but ends in</a:t>
            </a:r>
            <a:endParaRPr lang="en-US" sz="1265" dirty="0"/>
          </a:p>
        </p:txBody>
      </p:sp>
      <p:sp>
        <p:nvSpPr>
          <p:cNvPr id="25" name="Text 17"/>
          <p:cNvSpPr/>
          <p:nvPr/>
        </p:nvSpPr>
        <p:spPr>
          <a:xfrm>
            <a:off x="4936331" y="5435055"/>
            <a:ext cx="87630" cy="235585"/>
          </a:xfrm>
          <a:prstGeom prst="rect">
            <a:avLst/>
          </a:prstGeom>
          <a:noFill/>
        </p:spPr>
        <p:txBody>
          <a:bodyPr wrap="none" lIns="0" tIns="0" rIns="0" bIns="0" rtlCol="0" anchor="t">
            <a:spAutoFit/>
          </a:bodyPr>
          <a:lstStyle/>
          <a:p>
            <a:pPr marL="0" indent="0" algn="l">
              <a:lnSpc>
                <a:spcPct val="128000"/>
              </a:lnSpc>
              <a:buNone/>
            </a:pPr>
            <a:r>
              <a:rPr lang="en-US" sz="1200" b="1" dirty="0">
                <a:solidFill>
                  <a:srgbClr val="FF6B6B"/>
                </a:solidFill>
                <a:latin typeface="Inter" pitchFamily="34" charset="0"/>
                <a:ea typeface="Inter" pitchFamily="34" charset="-122"/>
                <a:cs typeface="Inter" pitchFamily="34" charset="-120"/>
              </a:rPr>
              <a:t>=</a:t>
            </a:r>
            <a:endParaRPr lang="en-US" sz="1200" dirty="0"/>
          </a:p>
        </p:txBody>
      </p:sp>
      <p:sp>
        <p:nvSpPr>
          <p:cNvPr id="26" name="Text 18"/>
          <p:cNvSpPr/>
          <p:nvPr/>
        </p:nvSpPr>
        <p:spPr>
          <a:xfrm>
            <a:off x="5050631" y="5435055"/>
            <a:ext cx="151765" cy="249555"/>
          </a:xfrm>
          <a:prstGeom prst="rect">
            <a:avLst/>
          </a:prstGeom>
          <a:noFill/>
        </p:spPr>
        <p:txBody>
          <a:bodyPr wrap="none" lIns="0" tIns="0" rIns="0" bIns="0" rtlCol="0" anchor="t">
            <a:spAutoFit/>
          </a:bodyPr>
          <a:lstStyle/>
          <a:p>
            <a:pPr marL="0" indent="0" algn="l">
              <a:lnSpc>
                <a:spcPct val="128000"/>
              </a:lnSpc>
              <a:buNone/>
            </a:pPr>
            <a:r>
              <a:rPr lang="en-US" sz="1265" dirty="0">
                <a:solidFill>
                  <a:srgbClr val="E3B341"/>
                </a:solidFill>
                <a:latin typeface="Inter" pitchFamily="34" charset="0"/>
                <a:ea typeface="Inter" pitchFamily="34" charset="-122"/>
                <a:cs typeface="Inter" pitchFamily="34" charset="-120"/>
              </a:rPr>
              <a:t>or</a:t>
            </a:r>
            <a:endParaRPr lang="en-US" sz="1265" dirty="0"/>
          </a:p>
        </p:txBody>
      </p:sp>
      <p:sp>
        <p:nvSpPr>
          <p:cNvPr id="27" name="Text 19"/>
          <p:cNvSpPr/>
          <p:nvPr/>
        </p:nvSpPr>
        <p:spPr>
          <a:xfrm>
            <a:off x="5312569" y="5435055"/>
            <a:ext cx="175260" cy="235585"/>
          </a:xfrm>
          <a:prstGeom prst="rect">
            <a:avLst/>
          </a:prstGeom>
          <a:noFill/>
        </p:spPr>
        <p:txBody>
          <a:bodyPr wrap="none" lIns="0" tIns="0" rIns="0" bIns="0" rtlCol="0" anchor="t">
            <a:spAutoFit/>
          </a:bodyPr>
          <a:lstStyle/>
          <a:p>
            <a:pPr marL="0" indent="0" algn="l">
              <a:lnSpc>
                <a:spcPct val="128000"/>
              </a:lnSpc>
              <a:buNone/>
            </a:pPr>
            <a:r>
              <a:rPr lang="en-US" sz="1200" b="1" dirty="0">
                <a:solidFill>
                  <a:srgbClr val="FF6B6B"/>
                </a:solidFill>
                <a:latin typeface="Inter" pitchFamily="34" charset="0"/>
                <a:ea typeface="Inter" pitchFamily="34" charset="-122"/>
                <a:cs typeface="Inter" pitchFamily="34" charset="-120"/>
              </a:rPr>
              <a:t>==</a:t>
            </a:r>
            <a:endParaRPr lang="en-US" sz="1200" dirty="0"/>
          </a:p>
        </p:txBody>
      </p:sp>
      <p:sp>
        <p:nvSpPr>
          <p:cNvPr id="28" name="Text 20"/>
          <p:cNvSpPr/>
          <p:nvPr/>
        </p:nvSpPr>
        <p:spPr>
          <a:xfrm>
            <a:off x="5541169" y="5435055"/>
            <a:ext cx="169545" cy="249555"/>
          </a:xfrm>
          <a:prstGeom prst="rect">
            <a:avLst/>
          </a:prstGeom>
          <a:noFill/>
        </p:spPr>
        <p:txBody>
          <a:bodyPr wrap="none" lIns="0" tIns="0" rIns="0" bIns="0" rtlCol="0" anchor="t">
            <a:spAutoFit/>
          </a:bodyPr>
          <a:lstStyle/>
          <a:p>
            <a:pPr marL="0" indent="0" algn="l">
              <a:lnSpc>
                <a:spcPct val="128000"/>
              </a:lnSpc>
              <a:buNone/>
            </a:pPr>
            <a:r>
              <a:rPr lang="en-US" sz="1265" dirty="0">
                <a:solidFill>
                  <a:srgbClr val="E3B341"/>
                </a:solidFill>
                <a:latin typeface="Inter" pitchFamily="34" charset="0"/>
                <a:ea typeface="Inter" pitchFamily="34" charset="-122"/>
                <a:cs typeface="Inter" pitchFamily="34" charset="-120"/>
              </a:rPr>
              <a:t>, it</a:t>
            </a:r>
            <a:endParaRPr lang="en-US" sz="1265" dirty="0"/>
          </a:p>
        </p:txBody>
      </p:sp>
      <p:sp>
        <p:nvSpPr>
          <p:cNvPr id="29" name="Text 21"/>
          <p:cNvSpPr/>
          <p:nvPr/>
        </p:nvSpPr>
        <p:spPr>
          <a:xfrm>
            <a:off x="762000" y="5709344"/>
            <a:ext cx="3919220" cy="249555"/>
          </a:xfrm>
          <a:prstGeom prst="rect">
            <a:avLst/>
          </a:prstGeom>
          <a:noFill/>
        </p:spPr>
        <p:txBody>
          <a:bodyPr wrap="none" lIns="0" tIns="0" rIns="0" bIns="0" rtlCol="0" anchor="t">
            <a:spAutoFit/>
          </a:bodyPr>
          <a:lstStyle/>
          <a:p>
            <a:pPr marL="0" indent="0" algn="l">
              <a:lnSpc>
                <a:spcPct val="128000"/>
              </a:lnSpc>
              <a:buNone/>
            </a:pPr>
            <a:r>
              <a:rPr lang="en-US" sz="1265" dirty="0">
                <a:solidFill>
                  <a:srgbClr val="E3B341"/>
                </a:solidFill>
                <a:latin typeface="Inter" pitchFamily="34" charset="0"/>
                <a:ea typeface="Inter" pitchFamily="34" charset="-122"/>
                <a:cs typeface="Inter" pitchFamily="34" charset="-120"/>
              </a:rPr>
              <a:t>is almost certainly Base64. Try decoding it immediately!</a:t>
            </a:r>
            <a:endParaRPr lang="en-US" sz="1265" dirty="0"/>
          </a:p>
        </p:txBody>
      </p:sp>
      <p:sp>
        <p:nvSpPr>
          <p:cNvPr id="30" name="Shape 22"/>
          <p:cNvSpPr/>
          <p:nvPr/>
        </p:nvSpPr>
        <p:spPr>
          <a:xfrm>
            <a:off x="6362700" y="1965127"/>
            <a:ext cx="5257800" cy="4607124"/>
          </a:xfrm>
          <a:prstGeom prst="rect">
            <a:avLst/>
          </a:prstGeom>
          <a:solidFill>
            <a:srgbClr val="161B22"/>
          </a:solidFill>
          <a:ln w="9144">
            <a:solidFill>
              <a:srgbClr val="30363D"/>
            </a:solidFill>
            <a:prstDash val="solid"/>
          </a:ln>
        </p:spPr>
      </p:sp>
      <p:sp>
        <p:nvSpPr>
          <p:cNvPr id="31" name="Text 23"/>
          <p:cNvSpPr/>
          <p:nvPr/>
        </p:nvSpPr>
        <p:spPr>
          <a:xfrm>
            <a:off x="6619875" y="2431852"/>
            <a:ext cx="4762500" cy="245745"/>
          </a:xfrm>
          <a:prstGeom prst="rect">
            <a:avLst/>
          </a:prstGeom>
          <a:noFill/>
        </p:spPr>
        <p:txBody>
          <a:bodyPr wrap="square" lIns="0" tIns="0" rIns="0" bIns="0" rtlCol="0" anchor="t">
            <a:spAutoFit/>
          </a:bodyPr>
          <a:lstStyle/>
          <a:p>
            <a:pPr marL="0" indent="0" algn="l">
              <a:buNone/>
            </a:pPr>
            <a:r>
              <a:rPr lang="en-US" sz="1600" b="1" dirty="0">
                <a:solidFill>
                  <a:srgbClr val="58A6FF"/>
                </a:solidFill>
                <a:latin typeface="Poppins Bold" pitchFamily="34" charset="0"/>
                <a:ea typeface="Poppins Bold" pitchFamily="34" charset="-122"/>
                <a:cs typeface="Poppins Bold" pitchFamily="34" charset="-120"/>
              </a:rPr>
              <a:t>Common Patterns</a:t>
            </a:r>
            <a:endParaRPr lang="en-US" sz="1600" dirty="0"/>
          </a:p>
        </p:txBody>
      </p:sp>
      <p:sp>
        <p:nvSpPr>
          <p:cNvPr id="32" name="Shape 24"/>
          <p:cNvSpPr/>
          <p:nvPr/>
        </p:nvSpPr>
        <p:spPr>
          <a:xfrm>
            <a:off x="6619875" y="2967633"/>
            <a:ext cx="4762500" cy="531019"/>
          </a:xfrm>
          <a:prstGeom prst="rect">
            <a:avLst/>
          </a:prstGeom>
          <a:solidFill>
            <a:srgbClr val="0D1117"/>
          </a:solidFill>
          <a:ln w="9144">
            <a:solidFill>
              <a:srgbClr val="30363D"/>
            </a:solidFill>
            <a:prstDash val="solid"/>
          </a:ln>
        </p:spPr>
      </p:sp>
      <p:sp>
        <p:nvSpPr>
          <p:cNvPr id="33" name="Text 25"/>
          <p:cNvSpPr/>
          <p:nvPr/>
        </p:nvSpPr>
        <p:spPr>
          <a:xfrm>
            <a:off x="6619875" y="2967633"/>
            <a:ext cx="4762500" cy="533400"/>
          </a:xfrm>
          <a:prstGeom prst="rect">
            <a:avLst/>
          </a:prstGeom>
          <a:noFill/>
        </p:spPr>
        <p:txBody>
          <a:bodyPr wrap="square" lIns="170010" tIns="170010" rIns="170010" bIns="170010" rtlCol="0" anchor="t">
            <a:spAutoFit/>
          </a:bodyPr>
          <a:lstStyle/>
          <a:p>
            <a:pPr marL="0" indent="0" algn="l">
              <a:buNone/>
            </a:pPr>
            <a:r>
              <a:rPr lang="en-US" sz="1265" dirty="0">
                <a:solidFill>
                  <a:srgbClr val="00FF9C"/>
                </a:solidFill>
                <a:latin typeface="JetBrains Mono" pitchFamily="34" charset="0"/>
                <a:ea typeface="JetBrains Mono" pitchFamily="34" charset="-122"/>
                <a:cs typeface="JetBrains Mono" pitchFamily="34" charset="-120"/>
              </a:rPr>
              <a:t>SGVsbG8gV29ybGQ</a:t>
            </a:r>
            <a:r>
              <a:rPr lang="en-US" sz="1200" b="1" dirty="0">
                <a:solidFill>
                  <a:srgbClr val="FF6B6B"/>
                </a:solidFill>
                <a:latin typeface="JetBrains Mono" pitchFamily="34" charset="0"/>
                <a:ea typeface="JetBrains Mono" pitchFamily="34" charset="-122"/>
                <a:cs typeface="JetBrains Mono" pitchFamily="34" charset="-120"/>
              </a:rPr>
              <a:t>=</a:t>
            </a:r>
            <a:endParaRPr lang="en-US" sz="1265" dirty="0"/>
          </a:p>
        </p:txBody>
      </p:sp>
      <p:sp>
        <p:nvSpPr>
          <p:cNvPr id="34" name="Text 26"/>
          <p:cNvSpPr/>
          <p:nvPr/>
        </p:nvSpPr>
        <p:spPr>
          <a:xfrm>
            <a:off x="6619875" y="3670101"/>
            <a:ext cx="47625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(Single = padding)</a:t>
            </a:r>
            <a:endParaRPr lang="en-US" sz="1000" dirty="0"/>
          </a:p>
        </p:txBody>
      </p:sp>
      <p:sp>
        <p:nvSpPr>
          <p:cNvPr id="35" name="Shape 27"/>
          <p:cNvSpPr/>
          <p:nvPr/>
        </p:nvSpPr>
        <p:spPr>
          <a:xfrm>
            <a:off x="6619875" y="3927276"/>
            <a:ext cx="4762500" cy="531019"/>
          </a:xfrm>
          <a:prstGeom prst="rect">
            <a:avLst/>
          </a:prstGeom>
          <a:solidFill>
            <a:srgbClr val="0D1117"/>
          </a:solidFill>
          <a:ln w="9144">
            <a:solidFill>
              <a:srgbClr val="30363D"/>
            </a:solidFill>
            <a:prstDash val="solid"/>
          </a:ln>
        </p:spPr>
      </p:sp>
      <p:sp>
        <p:nvSpPr>
          <p:cNvPr id="36" name="Text 28"/>
          <p:cNvSpPr/>
          <p:nvPr/>
        </p:nvSpPr>
        <p:spPr>
          <a:xfrm>
            <a:off x="6619875" y="3927276"/>
            <a:ext cx="4762500" cy="533400"/>
          </a:xfrm>
          <a:prstGeom prst="rect">
            <a:avLst/>
          </a:prstGeom>
          <a:noFill/>
        </p:spPr>
        <p:txBody>
          <a:bodyPr wrap="square" lIns="170010" tIns="170010" rIns="170010" bIns="170010" rtlCol="0" anchor="t">
            <a:spAutoFit/>
          </a:bodyPr>
          <a:lstStyle/>
          <a:p>
            <a:pPr marL="0" indent="0" algn="l">
              <a:buNone/>
            </a:pPr>
            <a:r>
              <a:rPr lang="en-US" sz="1265" dirty="0">
                <a:solidFill>
                  <a:srgbClr val="00FF9C"/>
                </a:solidFill>
                <a:latin typeface="JetBrains Mono" pitchFamily="34" charset="0"/>
                <a:ea typeface="JetBrains Mono" pitchFamily="34" charset="-122"/>
                <a:cs typeface="JetBrains Mono" pitchFamily="34" charset="-120"/>
              </a:rPr>
              <a:t>Y3RmYm9vdGNhbXA</a:t>
            </a:r>
            <a:r>
              <a:rPr lang="en-US" sz="1200" b="1" dirty="0">
                <a:solidFill>
                  <a:srgbClr val="FF6B6B"/>
                </a:solidFill>
                <a:latin typeface="JetBrains Mono" pitchFamily="34" charset="0"/>
                <a:ea typeface="JetBrains Mono" pitchFamily="34" charset="-122"/>
                <a:cs typeface="JetBrains Mono" pitchFamily="34" charset="-120"/>
              </a:rPr>
              <a:t>==</a:t>
            </a:r>
            <a:endParaRPr lang="en-US" sz="1265" dirty="0"/>
          </a:p>
        </p:txBody>
      </p:sp>
      <p:sp>
        <p:nvSpPr>
          <p:cNvPr id="37" name="Text 29"/>
          <p:cNvSpPr/>
          <p:nvPr/>
        </p:nvSpPr>
        <p:spPr>
          <a:xfrm>
            <a:off x="6619875" y="4629745"/>
            <a:ext cx="47625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(Double == padding)</a:t>
            </a:r>
            <a:endParaRPr lang="en-US" sz="1000" dirty="0"/>
          </a:p>
        </p:txBody>
      </p:sp>
      <p:sp>
        <p:nvSpPr>
          <p:cNvPr id="38" name="Shape 30"/>
          <p:cNvSpPr/>
          <p:nvPr/>
        </p:nvSpPr>
        <p:spPr>
          <a:xfrm>
            <a:off x="6619875" y="4886920"/>
            <a:ext cx="4762500" cy="531019"/>
          </a:xfrm>
          <a:prstGeom prst="rect">
            <a:avLst/>
          </a:prstGeom>
          <a:solidFill>
            <a:srgbClr val="0D1117"/>
          </a:solidFill>
          <a:ln w="9144">
            <a:solidFill>
              <a:srgbClr val="30363D"/>
            </a:solidFill>
            <a:prstDash val="solid"/>
          </a:ln>
        </p:spPr>
      </p:sp>
      <p:sp>
        <p:nvSpPr>
          <p:cNvPr id="39" name="Text 31"/>
          <p:cNvSpPr/>
          <p:nvPr/>
        </p:nvSpPr>
        <p:spPr>
          <a:xfrm>
            <a:off x="6619875" y="4886920"/>
            <a:ext cx="4762500" cy="533400"/>
          </a:xfrm>
          <a:prstGeom prst="rect">
            <a:avLst/>
          </a:prstGeom>
          <a:noFill/>
        </p:spPr>
        <p:txBody>
          <a:bodyPr wrap="square" lIns="170010" tIns="170010" rIns="170010" bIns="170010" rtlCol="0" anchor="t">
            <a:spAutoFit/>
          </a:bodyPr>
          <a:lstStyle/>
          <a:p>
            <a:pPr marL="0" indent="0" algn="l">
              <a:buNone/>
            </a:pPr>
            <a:r>
              <a:rPr lang="en-US" sz="1265" dirty="0">
                <a:solidFill>
                  <a:srgbClr val="00FF9C"/>
                </a:solidFill>
                <a:latin typeface="JetBrains Mono" pitchFamily="34" charset="0"/>
                <a:ea typeface="JetBrains Mono" pitchFamily="34" charset="-122"/>
                <a:cs typeface="JetBrains Mono" pitchFamily="34" charset="-120"/>
              </a:rPr>
              <a:t>Q1RGe2Jhc2U2NF9pc19ldmVyeXdoZXJlIX0</a:t>
            </a:r>
            <a:endParaRPr lang="en-US" sz="1265" dirty="0"/>
          </a:p>
        </p:txBody>
      </p:sp>
      <p:sp>
        <p:nvSpPr>
          <p:cNvPr id="40" name="Text 32"/>
          <p:cNvSpPr/>
          <p:nvPr/>
        </p:nvSpPr>
        <p:spPr>
          <a:xfrm>
            <a:off x="6619875" y="5589389"/>
            <a:ext cx="47625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(No padding - length is already multiple of 4)</a:t>
            </a:r>
            <a:endParaRPr lang="en-US" sz="1000" dirty="0"/>
          </a:p>
        </p:txBody>
      </p:sp>
      <p:grpSp>
        <p:nvGrpSpPr>
          <p:cNvPr id="41" name="Group 2"/>
          <p:cNvGrpSpPr/>
          <p:nvPr/>
        </p:nvGrpSpPr>
        <p:grpSpPr>
          <a:xfrm rot="0">
            <a:off x="294640" y="194310"/>
            <a:ext cx="789305" cy="299720"/>
            <a:chOff x="0" y="0"/>
            <a:chExt cx="341337" cy="102463"/>
          </a:xfrm>
        </p:grpSpPr>
        <p:sp>
          <p:nvSpPr>
            <p:cNvPr id="42"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3"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4" name="Group 5"/>
          <p:cNvGrpSpPr/>
          <p:nvPr/>
        </p:nvGrpSpPr>
        <p:grpSpPr>
          <a:xfrm rot="0">
            <a:off x="822325" y="209550"/>
            <a:ext cx="220980" cy="246380"/>
            <a:chOff x="0" y="0"/>
            <a:chExt cx="812800" cy="812800"/>
          </a:xfrm>
        </p:grpSpPr>
        <p:sp>
          <p:nvSpPr>
            <p:cNvPr id="45"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6"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7"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8" name="AutoShape 13"/>
          <p:cNvSpPr/>
          <p:nvPr/>
        </p:nvSpPr>
        <p:spPr>
          <a:xfrm>
            <a:off x="411480" y="6553200"/>
            <a:ext cx="11366500" cy="16510"/>
          </a:xfrm>
          <a:prstGeom prst="line">
            <a:avLst/>
          </a:prstGeom>
          <a:ln w="19050" cap="flat">
            <a:solidFill>
              <a:schemeClr val="bg1"/>
            </a:solidFill>
            <a:prstDash val="solid"/>
            <a:headEnd type="none" w="sm" len="sm"/>
            <a:tailEnd type="none" w="sm" len="sm"/>
          </a:ln>
        </p:spPr>
      </p:sp>
      <p:sp>
        <p:nvSpPr>
          <p:cNvPr id="49" name="TextBox 21"/>
          <p:cNvSpPr txBox="1"/>
          <p:nvPr/>
        </p:nvSpPr>
        <p:spPr>
          <a:xfrm>
            <a:off x="4756785" y="649605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58A6FF"/>
                </a:solidFill>
                <a:latin typeface="Poppins Bold" pitchFamily="34" charset="0"/>
                <a:ea typeface="Poppins Bold" pitchFamily="34" charset="-122"/>
                <a:cs typeface="Poppins Bold" pitchFamily="34" charset="-120"/>
              </a:rPr>
              <a:t>BASE64'S COUSINS: BASE32 &amp; BASE58</a:t>
            </a:r>
            <a:endParaRPr lang="en-US" sz="3265" dirty="0"/>
          </a:p>
        </p:txBody>
      </p:sp>
      <p:sp>
        <p:nvSpPr>
          <p:cNvPr id="4" name="Shape 1"/>
          <p:cNvSpPr/>
          <p:nvPr/>
        </p:nvSpPr>
        <p:spPr>
          <a:xfrm>
            <a:off x="571500" y="1965127"/>
            <a:ext cx="5334000" cy="4607124"/>
          </a:xfrm>
          <a:prstGeom prst="rect">
            <a:avLst/>
          </a:prstGeom>
          <a:solidFill>
            <a:srgbClr val="161B22"/>
          </a:solidFill>
        </p:spPr>
      </p:sp>
      <p:sp>
        <p:nvSpPr>
          <p:cNvPr id="5" name="Shape 2"/>
          <p:cNvSpPr/>
          <p:nvPr/>
        </p:nvSpPr>
        <p:spPr>
          <a:xfrm>
            <a:off x="571500" y="1965127"/>
            <a:ext cx="5334000" cy="38100"/>
          </a:xfrm>
          <a:prstGeom prst="rect">
            <a:avLst/>
          </a:prstGeom>
          <a:solidFill>
            <a:srgbClr val="00FF9C"/>
          </a:solidFill>
        </p:spPr>
      </p:sp>
      <p:sp>
        <p:nvSpPr>
          <p:cNvPr id="6" name="Text 3"/>
          <p:cNvSpPr/>
          <p:nvPr/>
        </p:nvSpPr>
        <p:spPr>
          <a:xfrm>
            <a:off x="857251" y="2503847"/>
            <a:ext cx="4762500" cy="328930"/>
          </a:xfrm>
          <a:prstGeom prst="rect">
            <a:avLst/>
          </a:prstGeom>
          <a:noFill/>
        </p:spPr>
        <p:txBody>
          <a:bodyPr wrap="square" lIns="0" tIns="0" rIns="0" bIns="0" rtlCol="0" anchor="t">
            <a:spAutoFit/>
          </a:bodyPr>
          <a:lstStyle/>
          <a:p>
            <a:pPr marL="0" indent="0" algn="l">
              <a:buNone/>
            </a:pPr>
            <a:r>
              <a:rPr lang="en-US" sz="2135" b="1" dirty="0">
                <a:solidFill>
                  <a:srgbClr val="00FF9C"/>
                </a:solidFill>
                <a:latin typeface="Poppins Bold" pitchFamily="34" charset="0"/>
                <a:ea typeface="Poppins Bold" pitchFamily="34" charset="-122"/>
                <a:cs typeface="Poppins Bold" pitchFamily="34" charset="-120"/>
              </a:rPr>
              <a:t>Base32</a:t>
            </a:r>
            <a:endParaRPr lang="en-US" sz="2135" dirty="0"/>
          </a:p>
        </p:txBody>
      </p:sp>
      <p:sp>
        <p:nvSpPr>
          <p:cNvPr id="7" name="Shape 4"/>
          <p:cNvSpPr/>
          <p:nvPr/>
        </p:nvSpPr>
        <p:spPr>
          <a:xfrm>
            <a:off x="857251" y="3151547"/>
            <a:ext cx="4762500" cy="504825"/>
          </a:xfrm>
          <a:prstGeom prst="rect">
            <a:avLst/>
          </a:prstGeom>
          <a:solidFill>
            <a:srgbClr val="0D1117"/>
          </a:solidFill>
          <a:ln w="9144">
            <a:solidFill>
              <a:srgbClr val="30363D"/>
            </a:solidFill>
            <a:prstDash val="solid"/>
          </a:ln>
        </p:spPr>
      </p:sp>
      <p:sp>
        <p:nvSpPr>
          <p:cNvPr id="8" name="Text 5"/>
          <p:cNvSpPr/>
          <p:nvPr/>
        </p:nvSpPr>
        <p:spPr>
          <a:xfrm>
            <a:off x="857251" y="3151547"/>
            <a:ext cx="4762500" cy="513715"/>
          </a:xfrm>
          <a:prstGeom prst="rect">
            <a:avLst/>
          </a:prstGeom>
          <a:noFill/>
        </p:spPr>
        <p:txBody>
          <a:bodyPr wrap="square" lIns="170010" tIns="170010" rIns="170010" bIns="170010" rtlCol="0" anchor="t">
            <a:spAutoFit/>
          </a:bodyPr>
          <a:lstStyle/>
          <a:p>
            <a:pPr marL="0" indent="0" algn="l">
              <a:buNone/>
            </a:pPr>
            <a:r>
              <a:rPr lang="en-US" sz="1135" dirty="0">
                <a:solidFill>
                  <a:srgbClr val="8B949E"/>
                </a:solidFill>
                <a:latin typeface="JetBrains Mono" pitchFamily="34" charset="0"/>
                <a:ea typeface="JetBrains Mono" pitchFamily="34" charset="-122"/>
                <a:cs typeface="JetBrains Mono" pitchFamily="34" charset="-120"/>
              </a:rPr>
              <a:t>A-Z, 2-7</a:t>
            </a:r>
            <a:endParaRPr lang="en-US" sz="1135" dirty="0"/>
          </a:p>
        </p:txBody>
      </p:sp>
      <p:pic>
        <p:nvPicPr>
          <p:cNvPr id="9" name="Image 1" descr="preencoded.png"/>
          <p:cNvPicPr>
            <a:picLocks noChangeAspect="1"/>
          </p:cNvPicPr>
          <p:nvPr/>
        </p:nvPicPr>
        <p:blipFill>
          <a:blip r:embed="rId2"/>
          <a:stretch>
            <a:fillRect/>
          </a:stretch>
        </p:blipFill>
        <p:spPr>
          <a:xfrm>
            <a:off x="1238251" y="4055232"/>
            <a:ext cx="152400" cy="152400"/>
          </a:xfrm>
          <a:prstGeom prst="rect">
            <a:avLst/>
          </a:prstGeom>
        </p:spPr>
      </p:pic>
      <p:sp>
        <p:nvSpPr>
          <p:cNvPr id="10" name="Text 6"/>
          <p:cNvSpPr/>
          <p:nvPr/>
        </p:nvSpPr>
        <p:spPr>
          <a:xfrm>
            <a:off x="1504951" y="4027847"/>
            <a:ext cx="2345531" cy="194310"/>
          </a:xfrm>
          <a:prstGeom prst="rect">
            <a:avLst/>
          </a:prstGeom>
          <a:noFill/>
        </p:spPr>
        <p:txBody>
          <a:bodyPr wrap="square" lIns="0" tIns="0" rIns="0" bIns="0" rtlCol="0" anchor="t">
            <a:spAutoFit/>
          </a:bodyPr>
          <a:lstStyle/>
          <a:p>
            <a:pPr marL="0" indent="0" algn="l">
              <a:buNone/>
            </a:pPr>
            <a:r>
              <a:rPr lang="en-US" sz="1265" dirty="0">
                <a:solidFill>
                  <a:srgbClr val="E6EDF3"/>
                </a:solidFill>
                <a:latin typeface="Inter" pitchFamily="34" charset="0"/>
                <a:ea typeface="Inter" pitchFamily="34" charset="-122"/>
                <a:cs typeface="Inter" pitchFamily="34" charset="-120"/>
              </a:rPr>
              <a:t>Google Authenticator (TOTP)</a:t>
            </a:r>
            <a:endParaRPr lang="en-US" sz="1265" dirty="0"/>
          </a:p>
        </p:txBody>
      </p:sp>
      <p:pic>
        <p:nvPicPr>
          <p:cNvPr id="11" name="Image 2" descr="preencoded.png"/>
          <p:cNvPicPr>
            <a:picLocks noChangeAspect="1"/>
          </p:cNvPicPr>
          <p:nvPr/>
        </p:nvPicPr>
        <p:blipFill>
          <a:blip r:embed="rId3"/>
          <a:stretch>
            <a:fillRect/>
          </a:stretch>
        </p:blipFill>
        <p:spPr>
          <a:xfrm>
            <a:off x="1238251" y="4376700"/>
            <a:ext cx="171451" cy="152400"/>
          </a:xfrm>
          <a:prstGeom prst="rect">
            <a:avLst/>
          </a:prstGeom>
        </p:spPr>
      </p:pic>
      <p:sp>
        <p:nvSpPr>
          <p:cNvPr id="12" name="Text 7"/>
          <p:cNvSpPr/>
          <p:nvPr/>
        </p:nvSpPr>
        <p:spPr>
          <a:xfrm>
            <a:off x="1524000" y="4349316"/>
            <a:ext cx="2152651" cy="194310"/>
          </a:xfrm>
          <a:prstGeom prst="rect">
            <a:avLst/>
          </a:prstGeom>
          <a:noFill/>
        </p:spPr>
        <p:txBody>
          <a:bodyPr wrap="square" lIns="0" tIns="0" rIns="0" bIns="0" rtlCol="0" anchor="t">
            <a:spAutoFit/>
          </a:bodyPr>
          <a:lstStyle/>
          <a:p>
            <a:pPr marL="0" indent="0" algn="l">
              <a:buNone/>
            </a:pPr>
            <a:r>
              <a:rPr lang="en-US" sz="1265" dirty="0">
                <a:solidFill>
                  <a:srgbClr val="E6EDF3"/>
                </a:solidFill>
                <a:latin typeface="Inter" pitchFamily="34" charset="0"/>
                <a:ea typeface="Inter" pitchFamily="34" charset="-122"/>
                <a:cs typeface="Inter" pitchFamily="34" charset="-120"/>
              </a:rPr>
              <a:t>Case-insensitive protocols</a:t>
            </a:r>
            <a:endParaRPr lang="en-US" sz="1265" dirty="0"/>
          </a:p>
        </p:txBody>
      </p:sp>
      <p:pic>
        <p:nvPicPr>
          <p:cNvPr id="13" name="Image 3" descr="preencoded.png"/>
          <p:cNvPicPr>
            <a:picLocks noChangeAspect="1"/>
          </p:cNvPicPr>
          <p:nvPr/>
        </p:nvPicPr>
        <p:blipFill>
          <a:blip r:embed="rId4"/>
          <a:stretch>
            <a:fillRect/>
          </a:stretch>
        </p:blipFill>
        <p:spPr>
          <a:xfrm>
            <a:off x="1238251" y="4698169"/>
            <a:ext cx="152400" cy="152400"/>
          </a:xfrm>
          <a:prstGeom prst="rect">
            <a:avLst/>
          </a:prstGeom>
        </p:spPr>
      </p:pic>
      <p:sp>
        <p:nvSpPr>
          <p:cNvPr id="14" name="Text 8"/>
          <p:cNvSpPr/>
          <p:nvPr/>
        </p:nvSpPr>
        <p:spPr>
          <a:xfrm>
            <a:off x="1504951" y="4670785"/>
            <a:ext cx="2524125" cy="194310"/>
          </a:xfrm>
          <a:prstGeom prst="rect">
            <a:avLst/>
          </a:prstGeom>
          <a:noFill/>
        </p:spPr>
        <p:txBody>
          <a:bodyPr wrap="square" lIns="0" tIns="0" rIns="0" bIns="0" rtlCol="0" anchor="t">
            <a:spAutoFit/>
          </a:bodyPr>
          <a:lstStyle/>
          <a:p>
            <a:pPr marL="0" indent="0" algn="l">
              <a:buNone/>
            </a:pPr>
            <a:r>
              <a:rPr lang="en-US" sz="1265" dirty="0">
                <a:solidFill>
                  <a:srgbClr val="E6EDF3"/>
                </a:solidFill>
                <a:latin typeface="Inter" pitchFamily="34" charset="0"/>
                <a:ea typeface="Inter" pitchFamily="34" charset="-122"/>
                <a:cs typeface="Inter" pitchFamily="34" charset="-120"/>
              </a:rPr>
              <a:t>Seen in some CTF crypto tasks</a:t>
            </a:r>
            <a:endParaRPr lang="en-US" sz="1265" dirty="0"/>
          </a:p>
        </p:txBody>
      </p:sp>
      <p:sp>
        <p:nvSpPr>
          <p:cNvPr id="15" name="Text 9"/>
          <p:cNvSpPr/>
          <p:nvPr/>
        </p:nvSpPr>
        <p:spPr>
          <a:xfrm>
            <a:off x="857251" y="5278004"/>
            <a:ext cx="47625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Poppins Bold" pitchFamily="34" charset="0"/>
                <a:ea typeface="Poppins Bold" pitchFamily="34" charset="-122"/>
                <a:cs typeface="Poppins Bold" pitchFamily="34" charset="-120"/>
              </a:rPr>
              <a:t>EXAMPLE (TOTP SECRET)</a:t>
            </a:r>
            <a:endParaRPr lang="en-US" sz="1000" dirty="0"/>
          </a:p>
        </p:txBody>
      </p:sp>
      <p:sp>
        <p:nvSpPr>
          <p:cNvPr id="16" name="Text 10"/>
          <p:cNvSpPr/>
          <p:nvPr/>
        </p:nvSpPr>
        <p:spPr>
          <a:xfrm>
            <a:off x="857251" y="5575660"/>
            <a:ext cx="4762500" cy="194310"/>
          </a:xfrm>
          <a:prstGeom prst="rect">
            <a:avLst/>
          </a:prstGeom>
          <a:noFill/>
        </p:spPr>
        <p:txBody>
          <a:bodyPr wrap="square" lIns="0" tIns="0" rIns="0" bIns="0" rtlCol="0" anchor="t">
            <a:spAutoFit/>
          </a:bodyPr>
          <a:lstStyle/>
          <a:p>
            <a:pPr marL="0" indent="0" algn="l">
              <a:buNone/>
            </a:pPr>
            <a:r>
              <a:rPr lang="en-US" sz="1265" dirty="0">
                <a:solidFill>
                  <a:srgbClr val="00FF9C"/>
                </a:solidFill>
                <a:latin typeface="JetBrains Mono" pitchFamily="34" charset="0"/>
                <a:ea typeface="JetBrains Mono" pitchFamily="34" charset="-122"/>
                <a:cs typeface="JetBrains Mono" pitchFamily="34" charset="-120"/>
              </a:rPr>
              <a:t>JBSWY3DPEBLW64TMMQ======</a:t>
            </a:r>
            <a:endParaRPr lang="en-US" sz="1265" dirty="0"/>
          </a:p>
        </p:txBody>
      </p:sp>
      <p:sp>
        <p:nvSpPr>
          <p:cNvPr id="17" name="Shape 11"/>
          <p:cNvSpPr/>
          <p:nvPr/>
        </p:nvSpPr>
        <p:spPr>
          <a:xfrm>
            <a:off x="6286500" y="1965127"/>
            <a:ext cx="5334000" cy="4607124"/>
          </a:xfrm>
          <a:prstGeom prst="rect">
            <a:avLst/>
          </a:prstGeom>
          <a:solidFill>
            <a:srgbClr val="161B22"/>
          </a:solidFill>
        </p:spPr>
      </p:sp>
      <p:sp>
        <p:nvSpPr>
          <p:cNvPr id="18" name="Shape 12"/>
          <p:cNvSpPr/>
          <p:nvPr/>
        </p:nvSpPr>
        <p:spPr>
          <a:xfrm>
            <a:off x="6286500" y="1965127"/>
            <a:ext cx="5334000" cy="38100"/>
          </a:xfrm>
          <a:prstGeom prst="rect">
            <a:avLst/>
          </a:prstGeom>
          <a:solidFill>
            <a:srgbClr val="E3B341"/>
          </a:solidFill>
        </p:spPr>
      </p:sp>
      <p:sp>
        <p:nvSpPr>
          <p:cNvPr id="19" name="Text 13"/>
          <p:cNvSpPr/>
          <p:nvPr/>
        </p:nvSpPr>
        <p:spPr>
          <a:xfrm>
            <a:off x="6572251" y="2503847"/>
            <a:ext cx="4762500" cy="328930"/>
          </a:xfrm>
          <a:prstGeom prst="rect">
            <a:avLst/>
          </a:prstGeom>
          <a:noFill/>
        </p:spPr>
        <p:txBody>
          <a:bodyPr wrap="square" lIns="0" tIns="0" rIns="0" bIns="0" rtlCol="0" anchor="t">
            <a:spAutoFit/>
          </a:bodyPr>
          <a:lstStyle/>
          <a:p>
            <a:pPr marL="0" indent="0" algn="l">
              <a:buNone/>
            </a:pPr>
            <a:r>
              <a:rPr lang="en-US" sz="2135" b="1" dirty="0">
                <a:solidFill>
                  <a:srgbClr val="E3B341"/>
                </a:solidFill>
                <a:latin typeface="Poppins Bold" pitchFamily="34" charset="0"/>
                <a:ea typeface="Poppins Bold" pitchFamily="34" charset="-122"/>
                <a:cs typeface="Poppins Bold" pitchFamily="34" charset="-120"/>
              </a:rPr>
              <a:t>Base58</a:t>
            </a:r>
            <a:endParaRPr lang="en-US" sz="2135" dirty="0"/>
          </a:p>
        </p:txBody>
      </p:sp>
      <p:sp>
        <p:nvSpPr>
          <p:cNvPr id="20" name="Shape 14"/>
          <p:cNvSpPr/>
          <p:nvPr/>
        </p:nvSpPr>
        <p:spPr>
          <a:xfrm>
            <a:off x="6572251" y="3151547"/>
            <a:ext cx="4762500" cy="504825"/>
          </a:xfrm>
          <a:prstGeom prst="rect">
            <a:avLst/>
          </a:prstGeom>
          <a:solidFill>
            <a:srgbClr val="0D1117"/>
          </a:solidFill>
          <a:ln w="9144">
            <a:solidFill>
              <a:srgbClr val="30363D"/>
            </a:solidFill>
            <a:prstDash val="solid"/>
          </a:ln>
        </p:spPr>
      </p:sp>
      <p:sp>
        <p:nvSpPr>
          <p:cNvPr id="21" name="Text 15"/>
          <p:cNvSpPr/>
          <p:nvPr/>
        </p:nvSpPr>
        <p:spPr>
          <a:xfrm>
            <a:off x="6572251" y="3151547"/>
            <a:ext cx="4762500" cy="513715"/>
          </a:xfrm>
          <a:prstGeom prst="rect">
            <a:avLst/>
          </a:prstGeom>
          <a:noFill/>
        </p:spPr>
        <p:txBody>
          <a:bodyPr wrap="square" lIns="170010" tIns="170010" rIns="170010" bIns="170010" rtlCol="0" anchor="t">
            <a:spAutoFit/>
          </a:bodyPr>
          <a:lstStyle/>
          <a:p>
            <a:pPr marL="0" indent="0" algn="l">
              <a:buNone/>
            </a:pPr>
            <a:r>
              <a:rPr lang="en-US" sz="1135" dirty="0">
                <a:solidFill>
                  <a:srgbClr val="8B949E"/>
                </a:solidFill>
                <a:latin typeface="JetBrains Mono" pitchFamily="34" charset="0"/>
                <a:ea typeface="JetBrains Mono" pitchFamily="34" charset="-122"/>
                <a:cs typeface="JetBrains Mono" pitchFamily="34" charset="-120"/>
              </a:rPr>
              <a:t>A-Z, a-z, 0-9 (minus 0, O, I, l)</a:t>
            </a:r>
            <a:endParaRPr lang="en-US" sz="1135" dirty="0"/>
          </a:p>
        </p:txBody>
      </p:sp>
      <p:pic>
        <p:nvPicPr>
          <p:cNvPr id="22" name="Image 4" descr="preencoded.png"/>
          <p:cNvPicPr>
            <a:picLocks noChangeAspect="1"/>
          </p:cNvPicPr>
          <p:nvPr/>
        </p:nvPicPr>
        <p:blipFill>
          <a:blip r:embed="rId5"/>
          <a:stretch>
            <a:fillRect/>
          </a:stretch>
        </p:blipFill>
        <p:spPr>
          <a:xfrm>
            <a:off x="6953251" y="4055232"/>
            <a:ext cx="152400" cy="152400"/>
          </a:xfrm>
          <a:prstGeom prst="rect">
            <a:avLst/>
          </a:prstGeom>
        </p:spPr>
      </p:pic>
      <p:sp>
        <p:nvSpPr>
          <p:cNvPr id="23" name="Text 16"/>
          <p:cNvSpPr/>
          <p:nvPr/>
        </p:nvSpPr>
        <p:spPr>
          <a:xfrm>
            <a:off x="7219951" y="4027847"/>
            <a:ext cx="2000251" cy="194310"/>
          </a:xfrm>
          <a:prstGeom prst="rect">
            <a:avLst/>
          </a:prstGeom>
          <a:noFill/>
        </p:spPr>
        <p:txBody>
          <a:bodyPr wrap="square" lIns="0" tIns="0" rIns="0" bIns="0" rtlCol="0" anchor="t">
            <a:spAutoFit/>
          </a:bodyPr>
          <a:lstStyle/>
          <a:p>
            <a:pPr marL="0" indent="0" algn="l">
              <a:buNone/>
            </a:pPr>
            <a:r>
              <a:rPr lang="en-US" sz="1265" dirty="0">
                <a:solidFill>
                  <a:srgbClr val="E6EDF3"/>
                </a:solidFill>
                <a:latin typeface="Inter" pitchFamily="34" charset="0"/>
                <a:ea typeface="Inter" pitchFamily="34" charset="-122"/>
                <a:cs typeface="Inter" pitchFamily="34" charset="-120"/>
              </a:rPr>
              <a:t>Bitcoin Wallet Addresses</a:t>
            </a:r>
            <a:endParaRPr lang="en-US" sz="1265" dirty="0"/>
          </a:p>
        </p:txBody>
      </p:sp>
      <p:pic>
        <p:nvPicPr>
          <p:cNvPr id="24" name="Image 5" descr="preencoded.png"/>
          <p:cNvPicPr>
            <a:picLocks noChangeAspect="1"/>
          </p:cNvPicPr>
          <p:nvPr/>
        </p:nvPicPr>
        <p:blipFill>
          <a:blip r:embed="rId6"/>
          <a:stretch>
            <a:fillRect/>
          </a:stretch>
        </p:blipFill>
        <p:spPr>
          <a:xfrm>
            <a:off x="6953251" y="4376700"/>
            <a:ext cx="190500" cy="152400"/>
          </a:xfrm>
          <a:prstGeom prst="rect">
            <a:avLst/>
          </a:prstGeom>
        </p:spPr>
      </p:pic>
      <p:sp>
        <p:nvSpPr>
          <p:cNvPr id="25" name="Text 17"/>
          <p:cNvSpPr/>
          <p:nvPr/>
        </p:nvSpPr>
        <p:spPr>
          <a:xfrm>
            <a:off x="7258051" y="4349316"/>
            <a:ext cx="2505075" cy="194310"/>
          </a:xfrm>
          <a:prstGeom prst="rect">
            <a:avLst/>
          </a:prstGeom>
          <a:noFill/>
        </p:spPr>
        <p:txBody>
          <a:bodyPr wrap="square" lIns="0" tIns="0" rIns="0" bIns="0" rtlCol="0" anchor="t">
            <a:spAutoFit/>
          </a:bodyPr>
          <a:lstStyle/>
          <a:p>
            <a:pPr marL="0" indent="0" algn="l">
              <a:buNone/>
            </a:pPr>
            <a:r>
              <a:rPr lang="en-US" sz="1265" dirty="0">
                <a:solidFill>
                  <a:srgbClr val="E6EDF3"/>
                </a:solidFill>
                <a:latin typeface="Inter" pitchFamily="34" charset="0"/>
                <a:ea typeface="Inter" pitchFamily="34" charset="-122"/>
                <a:cs typeface="Inter" pitchFamily="34" charset="-120"/>
              </a:rPr>
              <a:t>Removes confusing characters</a:t>
            </a:r>
            <a:endParaRPr lang="en-US" sz="1265" dirty="0"/>
          </a:p>
        </p:txBody>
      </p:sp>
      <p:pic>
        <p:nvPicPr>
          <p:cNvPr id="26" name="Image 6" descr="preencoded.png"/>
          <p:cNvPicPr>
            <a:picLocks noChangeAspect="1"/>
          </p:cNvPicPr>
          <p:nvPr/>
        </p:nvPicPr>
        <p:blipFill>
          <a:blip r:embed="rId7"/>
          <a:stretch>
            <a:fillRect/>
          </a:stretch>
        </p:blipFill>
        <p:spPr>
          <a:xfrm>
            <a:off x="6953251" y="4698169"/>
            <a:ext cx="190500" cy="152400"/>
          </a:xfrm>
          <a:prstGeom prst="rect">
            <a:avLst/>
          </a:prstGeom>
        </p:spPr>
      </p:pic>
      <p:sp>
        <p:nvSpPr>
          <p:cNvPr id="27" name="Text 18"/>
          <p:cNvSpPr/>
          <p:nvPr/>
        </p:nvSpPr>
        <p:spPr>
          <a:xfrm>
            <a:off x="7258051" y="4670785"/>
            <a:ext cx="2297907" cy="194310"/>
          </a:xfrm>
          <a:prstGeom prst="rect">
            <a:avLst/>
          </a:prstGeom>
          <a:noFill/>
        </p:spPr>
        <p:txBody>
          <a:bodyPr wrap="square" lIns="0" tIns="0" rIns="0" bIns="0" rtlCol="0" anchor="t">
            <a:spAutoFit/>
          </a:bodyPr>
          <a:lstStyle/>
          <a:p>
            <a:pPr marL="0" indent="0" algn="l">
              <a:buNone/>
            </a:pPr>
            <a:r>
              <a:rPr lang="en-US" sz="1265" dirty="0">
                <a:solidFill>
                  <a:srgbClr val="E6EDF3"/>
                </a:solidFill>
                <a:latin typeface="Inter" pitchFamily="34" charset="0"/>
                <a:ea typeface="Inter" pitchFamily="34" charset="-122"/>
                <a:cs typeface="Inter" pitchFamily="34" charset="-120"/>
              </a:rPr>
              <a:t>Used for shorter, safer URLs</a:t>
            </a:r>
            <a:endParaRPr lang="en-US" sz="1265" dirty="0"/>
          </a:p>
        </p:txBody>
      </p:sp>
      <p:sp>
        <p:nvSpPr>
          <p:cNvPr id="28" name="Text 19"/>
          <p:cNvSpPr/>
          <p:nvPr/>
        </p:nvSpPr>
        <p:spPr>
          <a:xfrm>
            <a:off x="6572251" y="5278004"/>
            <a:ext cx="47625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Poppins Bold" pitchFamily="34" charset="0"/>
                <a:ea typeface="Poppins Bold" pitchFamily="34" charset="-122"/>
                <a:cs typeface="Poppins Bold" pitchFamily="34" charset="-120"/>
              </a:rPr>
              <a:t>EXAMPLE (BITCOIN ADDRESS)</a:t>
            </a:r>
            <a:endParaRPr lang="en-US" sz="1000" dirty="0"/>
          </a:p>
        </p:txBody>
      </p:sp>
      <p:sp>
        <p:nvSpPr>
          <p:cNvPr id="29" name="Text 20"/>
          <p:cNvSpPr/>
          <p:nvPr/>
        </p:nvSpPr>
        <p:spPr>
          <a:xfrm>
            <a:off x="6572251" y="5575660"/>
            <a:ext cx="4762500" cy="194310"/>
          </a:xfrm>
          <a:prstGeom prst="rect">
            <a:avLst/>
          </a:prstGeom>
          <a:noFill/>
        </p:spPr>
        <p:txBody>
          <a:bodyPr wrap="square" lIns="0" tIns="0" rIns="0" bIns="0" rtlCol="0" anchor="t">
            <a:spAutoFit/>
          </a:bodyPr>
          <a:lstStyle/>
          <a:p>
            <a:pPr marL="0" indent="0" algn="l">
              <a:buNone/>
            </a:pPr>
            <a:r>
              <a:rPr lang="en-US" sz="1265" dirty="0">
                <a:solidFill>
                  <a:srgbClr val="E3B341"/>
                </a:solidFill>
                <a:latin typeface="JetBrains Mono" pitchFamily="34" charset="0"/>
                <a:ea typeface="JetBrains Mono" pitchFamily="34" charset="-122"/>
                <a:cs typeface="JetBrains Mono" pitchFamily="34" charset="-120"/>
              </a:rPr>
              <a:t>1A1zP1eP5QGefi2DMPTfTL5SLmv7DivfNa</a:t>
            </a:r>
            <a:endParaRPr lang="en-US" sz="1265" dirty="0"/>
          </a:p>
        </p:txBody>
      </p:sp>
      <p:grpSp>
        <p:nvGrpSpPr>
          <p:cNvPr id="30" name="Group 2"/>
          <p:cNvGrpSpPr/>
          <p:nvPr/>
        </p:nvGrpSpPr>
        <p:grpSpPr>
          <a:xfrm rot="0">
            <a:off x="294640" y="194310"/>
            <a:ext cx="789305" cy="299720"/>
            <a:chOff x="0" y="0"/>
            <a:chExt cx="341337" cy="102463"/>
          </a:xfrm>
        </p:grpSpPr>
        <p:sp>
          <p:nvSpPr>
            <p:cNvPr id="31"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32"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33" name="Group 5"/>
          <p:cNvGrpSpPr/>
          <p:nvPr/>
        </p:nvGrpSpPr>
        <p:grpSpPr>
          <a:xfrm rot="0">
            <a:off x="822325" y="209550"/>
            <a:ext cx="220980" cy="246380"/>
            <a:chOff x="0" y="0"/>
            <a:chExt cx="812800" cy="812800"/>
          </a:xfrm>
        </p:grpSpPr>
        <p:sp>
          <p:nvSpPr>
            <p:cNvPr id="34"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5"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36"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56463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50748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58A6FF"/>
                </a:solidFill>
                <a:latin typeface="Poppins Bold" pitchFamily="34" charset="0"/>
                <a:ea typeface="Poppins Bold" pitchFamily="34" charset="-122"/>
                <a:cs typeface="Poppins Bold" pitchFamily="34" charset="-120"/>
              </a:rPr>
              <a:t>HEX ENCODING: THE SIMPLEST FORMAT</a:t>
            </a:r>
            <a:endParaRPr lang="en-US" sz="3265" dirty="0"/>
          </a:p>
        </p:txBody>
      </p:sp>
      <p:sp>
        <p:nvSpPr>
          <p:cNvPr id="4" name="Text 1"/>
          <p:cNvSpPr/>
          <p:nvPr/>
        </p:nvSpPr>
        <p:spPr>
          <a:xfrm>
            <a:off x="381000" y="2079427"/>
            <a:ext cx="11430000" cy="236220"/>
          </a:xfrm>
          <a:prstGeom prst="rect">
            <a:avLst/>
          </a:prstGeom>
          <a:noFill/>
        </p:spPr>
        <p:txBody>
          <a:bodyPr wrap="square" lIns="0" tIns="0" rIns="0" bIns="0" rtlCol="0" anchor="t">
            <a:spAutoFit/>
          </a:bodyPr>
          <a:lstStyle/>
          <a:p>
            <a:pPr marL="0" indent="0" algn="l">
              <a:buNone/>
            </a:pPr>
            <a:r>
              <a:rPr lang="en-US" sz="1535" dirty="0">
                <a:solidFill>
                  <a:srgbClr val="E6EDF3"/>
                </a:solidFill>
                <a:latin typeface="Inter" pitchFamily="34" charset="0"/>
                <a:ea typeface="Inter" pitchFamily="34" charset="-122"/>
                <a:cs typeface="Inter" pitchFamily="34" charset="-120"/>
              </a:rPr>
              <a:t>The Rule: Every byte becomes exactly </a:t>
            </a:r>
            <a:r>
              <a:rPr lang="en-US" sz="1465" b="1" dirty="0">
                <a:solidFill>
                  <a:srgbClr val="00FF9C"/>
                </a:solidFill>
                <a:latin typeface="Inter" pitchFamily="34" charset="0"/>
                <a:ea typeface="Inter" pitchFamily="34" charset="-122"/>
                <a:cs typeface="Inter" pitchFamily="34" charset="-120"/>
              </a:rPr>
              <a:t>two hex characters</a:t>
            </a:r>
            <a:r>
              <a:rPr lang="en-US" sz="1535" dirty="0">
                <a:solidFill>
                  <a:srgbClr val="E6EDF3"/>
                </a:solidFill>
                <a:latin typeface="Inter" pitchFamily="34" charset="0"/>
                <a:ea typeface="Inter" pitchFamily="34" charset="-122"/>
                <a:cs typeface="Inter" pitchFamily="34" charset="-120"/>
              </a:rPr>
              <a:t>.</a:t>
            </a:r>
            <a:endParaRPr lang="en-US" sz="1535" dirty="0"/>
          </a:p>
        </p:txBody>
      </p:sp>
      <p:sp>
        <p:nvSpPr>
          <p:cNvPr id="5" name="Shape 2"/>
          <p:cNvSpPr/>
          <p:nvPr/>
        </p:nvSpPr>
        <p:spPr>
          <a:xfrm>
            <a:off x="381000" y="2484239"/>
            <a:ext cx="11430000" cy="1321593"/>
          </a:xfrm>
          <a:prstGeom prst="rect">
            <a:avLst/>
          </a:prstGeom>
          <a:solidFill>
            <a:srgbClr val="161B22"/>
          </a:solidFill>
        </p:spPr>
      </p:sp>
      <p:sp>
        <p:nvSpPr>
          <p:cNvPr id="6" name="Shape 3"/>
          <p:cNvSpPr/>
          <p:nvPr/>
        </p:nvSpPr>
        <p:spPr>
          <a:xfrm>
            <a:off x="381000" y="2484239"/>
            <a:ext cx="38100" cy="1321593"/>
          </a:xfrm>
          <a:prstGeom prst="rect">
            <a:avLst/>
          </a:prstGeom>
          <a:solidFill>
            <a:srgbClr val="00FF9C"/>
          </a:solidFill>
        </p:spPr>
      </p:sp>
      <p:sp>
        <p:nvSpPr>
          <p:cNvPr id="7" name="Text 4"/>
          <p:cNvSpPr/>
          <p:nvPr/>
        </p:nvSpPr>
        <p:spPr>
          <a:xfrm>
            <a:off x="1110806" y="2636639"/>
            <a:ext cx="195580" cy="348615"/>
          </a:xfrm>
          <a:prstGeom prst="rect">
            <a:avLst/>
          </a:prstGeom>
          <a:noFill/>
        </p:spPr>
        <p:txBody>
          <a:bodyPr wrap="none" lIns="0" tIns="0" rIns="0" bIns="0" rtlCol="0" anchor="t">
            <a:spAutoFit/>
          </a:bodyPr>
          <a:lstStyle/>
          <a:p>
            <a:pPr marL="0" indent="0" algn="ctr">
              <a:buNone/>
            </a:pPr>
            <a:r>
              <a:rPr lang="en-US" sz="2265" dirty="0">
                <a:solidFill>
                  <a:srgbClr val="E6EDF3"/>
                </a:solidFill>
                <a:latin typeface="Poppins Bold" pitchFamily="34" charset="0"/>
                <a:ea typeface="Poppins Bold" pitchFamily="34" charset="-122"/>
                <a:cs typeface="Poppins Bold" pitchFamily="34" charset="-120"/>
              </a:rPr>
              <a:t>H</a:t>
            </a:r>
            <a:endParaRPr lang="en-US" sz="2265" dirty="0"/>
          </a:p>
        </p:txBody>
      </p:sp>
      <p:sp>
        <p:nvSpPr>
          <p:cNvPr id="8" name="Text 5"/>
          <p:cNvSpPr/>
          <p:nvPr/>
        </p:nvSpPr>
        <p:spPr>
          <a:xfrm>
            <a:off x="1033336" y="3150989"/>
            <a:ext cx="350520" cy="410210"/>
          </a:xfrm>
          <a:prstGeom prst="rect">
            <a:avLst/>
          </a:prstGeom>
          <a:noFill/>
        </p:spPr>
        <p:txBody>
          <a:bodyPr wrap="none" lIns="0" tIns="0" rIns="0" bIns="0" rtlCol="0" anchor="t">
            <a:spAutoFit/>
          </a:bodyPr>
          <a:lstStyle/>
          <a:p>
            <a:pPr marL="0" indent="0" algn="ctr">
              <a:buNone/>
            </a:pPr>
            <a:r>
              <a:rPr lang="en-US" sz="2665" b="1" dirty="0">
                <a:solidFill>
                  <a:srgbClr val="00FF9C"/>
                </a:solidFill>
                <a:latin typeface="JetBrains Mono" pitchFamily="34" charset="0"/>
                <a:ea typeface="JetBrains Mono" pitchFamily="34" charset="-122"/>
                <a:cs typeface="JetBrains Mono" pitchFamily="34" charset="-120"/>
              </a:rPr>
              <a:t>48</a:t>
            </a:r>
            <a:endParaRPr lang="en-US" sz="2665" dirty="0"/>
          </a:p>
        </p:txBody>
      </p:sp>
      <p:pic>
        <p:nvPicPr>
          <p:cNvPr id="9" name="Image 1" descr="preencoded.png"/>
          <p:cNvPicPr>
            <a:picLocks noChangeAspect="1"/>
          </p:cNvPicPr>
          <p:nvPr/>
        </p:nvPicPr>
        <p:blipFill>
          <a:blip r:embed="rId2"/>
          <a:stretch>
            <a:fillRect/>
          </a:stretch>
        </p:blipFill>
        <p:spPr>
          <a:xfrm>
            <a:off x="2330425" y="3028355"/>
            <a:ext cx="200025" cy="228600"/>
          </a:xfrm>
          <a:prstGeom prst="rect">
            <a:avLst/>
          </a:prstGeom>
        </p:spPr>
      </p:pic>
      <p:sp>
        <p:nvSpPr>
          <p:cNvPr id="10" name="Text 6"/>
          <p:cNvSpPr/>
          <p:nvPr/>
        </p:nvSpPr>
        <p:spPr>
          <a:xfrm>
            <a:off x="3577033" y="2636639"/>
            <a:ext cx="150495" cy="348615"/>
          </a:xfrm>
          <a:prstGeom prst="rect">
            <a:avLst/>
          </a:prstGeom>
          <a:noFill/>
        </p:spPr>
        <p:txBody>
          <a:bodyPr wrap="none" lIns="0" tIns="0" rIns="0" bIns="0" rtlCol="0" anchor="t">
            <a:spAutoFit/>
          </a:bodyPr>
          <a:lstStyle/>
          <a:p>
            <a:pPr marL="0" indent="0" algn="ctr">
              <a:buNone/>
            </a:pPr>
            <a:r>
              <a:rPr lang="en-US" sz="2265" dirty="0">
                <a:solidFill>
                  <a:srgbClr val="E6EDF3"/>
                </a:solidFill>
                <a:latin typeface="Poppins Bold" pitchFamily="34" charset="0"/>
                <a:ea typeface="Poppins Bold" pitchFamily="34" charset="-122"/>
                <a:cs typeface="Poppins Bold" pitchFamily="34" charset="-120"/>
              </a:rPr>
              <a:t>e</a:t>
            </a:r>
            <a:endParaRPr lang="en-US" sz="2265" dirty="0"/>
          </a:p>
        </p:txBody>
      </p:sp>
      <p:sp>
        <p:nvSpPr>
          <p:cNvPr id="11" name="Text 7"/>
          <p:cNvSpPr/>
          <p:nvPr/>
        </p:nvSpPr>
        <p:spPr>
          <a:xfrm>
            <a:off x="3477020" y="3150989"/>
            <a:ext cx="350520" cy="410210"/>
          </a:xfrm>
          <a:prstGeom prst="rect">
            <a:avLst/>
          </a:prstGeom>
          <a:noFill/>
        </p:spPr>
        <p:txBody>
          <a:bodyPr wrap="none" lIns="0" tIns="0" rIns="0" bIns="0" rtlCol="0" anchor="t">
            <a:spAutoFit/>
          </a:bodyPr>
          <a:lstStyle/>
          <a:p>
            <a:pPr marL="0" indent="0" algn="ctr">
              <a:buNone/>
            </a:pPr>
            <a:r>
              <a:rPr lang="en-US" sz="2665" b="1" dirty="0">
                <a:solidFill>
                  <a:srgbClr val="00FF9C"/>
                </a:solidFill>
                <a:latin typeface="JetBrains Mono" pitchFamily="34" charset="0"/>
                <a:ea typeface="JetBrains Mono" pitchFamily="34" charset="-122"/>
                <a:cs typeface="JetBrains Mono" pitchFamily="34" charset="-120"/>
              </a:rPr>
              <a:t>65</a:t>
            </a:r>
            <a:endParaRPr lang="en-US" sz="2665" dirty="0"/>
          </a:p>
        </p:txBody>
      </p:sp>
      <p:pic>
        <p:nvPicPr>
          <p:cNvPr id="12" name="Image 2" descr="preencoded.png"/>
          <p:cNvPicPr>
            <a:picLocks noChangeAspect="1"/>
          </p:cNvPicPr>
          <p:nvPr/>
        </p:nvPicPr>
        <p:blipFill>
          <a:blip r:embed="rId3"/>
          <a:stretch>
            <a:fillRect/>
          </a:stretch>
        </p:blipFill>
        <p:spPr>
          <a:xfrm>
            <a:off x="4774108" y="3028355"/>
            <a:ext cx="200025" cy="228600"/>
          </a:xfrm>
          <a:prstGeom prst="rect">
            <a:avLst/>
          </a:prstGeom>
        </p:spPr>
      </p:pic>
      <p:sp>
        <p:nvSpPr>
          <p:cNvPr id="13" name="Text 8"/>
          <p:cNvSpPr/>
          <p:nvPr/>
        </p:nvSpPr>
        <p:spPr>
          <a:xfrm>
            <a:off x="6059768" y="2636639"/>
            <a:ext cx="72390" cy="348615"/>
          </a:xfrm>
          <a:prstGeom prst="rect">
            <a:avLst/>
          </a:prstGeom>
          <a:noFill/>
        </p:spPr>
        <p:txBody>
          <a:bodyPr wrap="none" lIns="0" tIns="0" rIns="0" bIns="0" rtlCol="0" anchor="t">
            <a:spAutoFit/>
          </a:bodyPr>
          <a:lstStyle/>
          <a:p>
            <a:pPr marL="0" indent="0" algn="ctr">
              <a:buNone/>
            </a:pPr>
            <a:r>
              <a:rPr lang="en-US" sz="2265" dirty="0">
                <a:solidFill>
                  <a:srgbClr val="E6EDF3"/>
                </a:solidFill>
                <a:latin typeface="Poppins Bold" pitchFamily="34" charset="0"/>
                <a:ea typeface="Poppins Bold" pitchFamily="34" charset="-122"/>
                <a:cs typeface="Poppins Bold" pitchFamily="34" charset="-120"/>
              </a:rPr>
              <a:t>l</a:t>
            </a:r>
            <a:endParaRPr lang="en-US" sz="2265" dirty="0"/>
          </a:p>
        </p:txBody>
      </p:sp>
      <p:sp>
        <p:nvSpPr>
          <p:cNvPr id="14" name="Text 9"/>
          <p:cNvSpPr/>
          <p:nvPr/>
        </p:nvSpPr>
        <p:spPr>
          <a:xfrm>
            <a:off x="5910860" y="3150989"/>
            <a:ext cx="370205" cy="410210"/>
          </a:xfrm>
          <a:prstGeom prst="rect">
            <a:avLst/>
          </a:prstGeom>
          <a:noFill/>
        </p:spPr>
        <p:txBody>
          <a:bodyPr wrap="none" lIns="0" tIns="0" rIns="0" bIns="0" rtlCol="0" anchor="t">
            <a:spAutoFit/>
          </a:bodyPr>
          <a:lstStyle/>
          <a:p>
            <a:pPr marL="0" indent="0" algn="ctr">
              <a:buNone/>
            </a:pPr>
            <a:r>
              <a:rPr lang="en-US" sz="2665" b="1" dirty="0">
                <a:solidFill>
                  <a:srgbClr val="00FF9C"/>
                </a:solidFill>
                <a:latin typeface="JetBrains Mono" pitchFamily="34" charset="0"/>
                <a:ea typeface="JetBrains Mono" pitchFamily="34" charset="-122"/>
                <a:cs typeface="JetBrains Mono" pitchFamily="34" charset="-120"/>
              </a:rPr>
              <a:t>6C</a:t>
            </a:r>
            <a:endParaRPr lang="en-US" sz="2665" dirty="0"/>
          </a:p>
        </p:txBody>
      </p:sp>
      <p:pic>
        <p:nvPicPr>
          <p:cNvPr id="15" name="Image 3" descr="preencoded.png"/>
          <p:cNvPicPr>
            <a:picLocks noChangeAspect="1"/>
          </p:cNvPicPr>
          <p:nvPr/>
        </p:nvPicPr>
        <p:blipFill>
          <a:blip r:embed="rId2"/>
          <a:stretch>
            <a:fillRect/>
          </a:stretch>
        </p:blipFill>
        <p:spPr>
          <a:xfrm>
            <a:off x="7217792" y="3028355"/>
            <a:ext cx="200025" cy="228600"/>
          </a:xfrm>
          <a:prstGeom prst="rect">
            <a:avLst/>
          </a:prstGeom>
        </p:spPr>
      </p:pic>
      <p:sp>
        <p:nvSpPr>
          <p:cNvPr id="16" name="Text 10"/>
          <p:cNvSpPr/>
          <p:nvPr/>
        </p:nvSpPr>
        <p:spPr>
          <a:xfrm>
            <a:off x="8503452" y="2636639"/>
            <a:ext cx="72390" cy="348615"/>
          </a:xfrm>
          <a:prstGeom prst="rect">
            <a:avLst/>
          </a:prstGeom>
          <a:noFill/>
        </p:spPr>
        <p:txBody>
          <a:bodyPr wrap="none" lIns="0" tIns="0" rIns="0" bIns="0" rtlCol="0" anchor="t">
            <a:spAutoFit/>
          </a:bodyPr>
          <a:lstStyle/>
          <a:p>
            <a:pPr marL="0" indent="0" algn="ctr">
              <a:buNone/>
            </a:pPr>
            <a:r>
              <a:rPr lang="en-US" sz="2265" dirty="0">
                <a:solidFill>
                  <a:srgbClr val="E6EDF3"/>
                </a:solidFill>
                <a:latin typeface="Poppins Bold" pitchFamily="34" charset="0"/>
                <a:ea typeface="Poppins Bold" pitchFamily="34" charset="-122"/>
                <a:cs typeface="Poppins Bold" pitchFamily="34" charset="-120"/>
              </a:rPr>
              <a:t>l</a:t>
            </a:r>
            <a:endParaRPr lang="en-US" sz="2265" dirty="0"/>
          </a:p>
        </p:txBody>
      </p:sp>
      <p:sp>
        <p:nvSpPr>
          <p:cNvPr id="17" name="Text 11"/>
          <p:cNvSpPr/>
          <p:nvPr/>
        </p:nvSpPr>
        <p:spPr>
          <a:xfrm>
            <a:off x="8354544" y="3150989"/>
            <a:ext cx="370205" cy="410210"/>
          </a:xfrm>
          <a:prstGeom prst="rect">
            <a:avLst/>
          </a:prstGeom>
          <a:noFill/>
        </p:spPr>
        <p:txBody>
          <a:bodyPr wrap="none" lIns="0" tIns="0" rIns="0" bIns="0" rtlCol="0" anchor="t">
            <a:spAutoFit/>
          </a:bodyPr>
          <a:lstStyle/>
          <a:p>
            <a:pPr marL="0" indent="0" algn="ctr">
              <a:buNone/>
            </a:pPr>
            <a:r>
              <a:rPr lang="en-US" sz="2665" b="1" dirty="0">
                <a:solidFill>
                  <a:srgbClr val="00FF9C"/>
                </a:solidFill>
                <a:latin typeface="JetBrains Mono" pitchFamily="34" charset="0"/>
                <a:ea typeface="JetBrains Mono" pitchFamily="34" charset="-122"/>
                <a:cs typeface="JetBrains Mono" pitchFamily="34" charset="-120"/>
              </a:rPr>
              <a:t>6C</a:t>
            </a:r>
            <a:endParaRPr lang="en-US" sz="2665" dirty="0"/>
          </a:p>
        </p:txBody>
      </p:sp>
      <p:pic>
        <p:nvPicPr>
          <p:cNvPr id="18" name="Image 4" descr="preencoded.png"/>
          <p:cNvPicPr>
            <a:picLocks noChangeAspect="1"/>
          </p:cNvPicPr>
          <p:nvPr/>
        </p:nvPicPr>
        <p:blipFill>
          <a:blip r:embed="rId3"/>
          <a:stretch>
            <a:fillRect/>
          </a:stretch>
        </p:blipFill>
        <p:spPr>
          <a:xfrm>
            <a:off x="9661476" y="3028355"/>
            <a:ext cx="200025" cy="228600"/>
          </a:xfrm>
          <a:prstGeom prst="rect">
            <a:avLst/>
          </a:prstGeom>
        </p:spPr>
      </p:pic>
      <p:sp>
        <p:nvSpPr>
          <p:cNvPr id="19" name="Text 12"/>
          <p:cNvSpPr/>
          <p:nvPr/>
        </p:nvSpPr>
        <p:spPr>
          <a:xfrm>
            <a:off x="10903637" y="2636639"/>
            <a:ext cx="159385" cy="348615"/>
          </a:xfrm>
          <a:prstGeom prst="rect">
            <a:avLst/>
          </a:prstGeom>
          <a:noFill/>
        </p:spPr>
        <p:txBody>
          <a:bodyPr wrap="none" lIns="0" tIns="0" rIns="0" bIns="0" rtlCol="0" anchor="t">
            <a:spAutoFit/>
          </a:bodyPr>
          <a:lstStyle/>
          <a:p>
            <a:pPr marL="0" indent="0" algn="ctr">
              <a:buNone/>
            </a:pPr>
            <a:r>
              <a:rPr lang="en-US" sz="2265" dirty="0">
                <a:solidFill>
                  <a:srgbClr val="E6EDF3"/>
                </a:solidFill>
                <a:latin typeface="Poppins Bold" pitchFamily="34" charset="0"/>
                <a:ea typeface="Poppins Bold" pitchFamily="34" charset="-122"/>
                <a:cs typeface="Poppins Bold" pitchFamily="34" charset="-120"/>
              </a:rPr>
              <a:t>o</a:t>
            </a:r>
            <a:endParaRPr lang="en-US" sz="2265" dirty="0"/>
          </a:p>
        </p:txBody>
      </p:sp>
      <p:sp>
        <p:nvSpPr>
          <p:cNvPr id="20" name="Text 13"/>
          <p:cNvSpPr/>
          <p:nvPr/>
        </p:nvSpPr>
        <p:spPr>
          <a:xfrm>
            <a:off x="10813784" y="3150989"/>
            <a:ext cx="339090" cy="410210"/>
          </a:xfrm>
          <a:prstGeom prst="rect">
            <a:avLst/>
          </a:prstGeom>
          <a:noFill/>
        </p:spPr>
        <p:txBody>
          <a:bodyPr wrap="none" lIns="0" tIns="0" rIns="0" bIns="0" rtlCol="0" anchor="t">
            <a:spAutoFit/>
          </a:bodyPr>
          <a:lstStyle/>
          <a:p>
            <a:pPr marL="0" indent="0" algn="ctr">
              <a:buNone/>
            </a:pPr>
            <a:r>
              <a:rPr lang="en-US" sz="2665" b="1" dirty="0">
                <a:solidFill>
                  <a:srgbClr val="00FF9C"/>
                </a:solidFill>
                <a:latin typeface="JetBrains Mono" pitchFamily="34" charset="0"/>
                <a:ea typeface="JetBrains Mono" pitchFamily="34" charset="-122"/>
                <a:cs typeface="JetBrains Mono" pitchFamily="34" charset="-120"/>
              </a:rPr>
              <a:t>6F</a:t>
            </a:r>
            <a:endParaRPr lang="en-US" sz="2665" dirty="0"/>
          </a:p>
        </p:txBody>
      </p:sp>
      <p:sp>
        <p:nvSpPr>
          <p:cNvPr id="21" name="Shape 14"/>
          <p:cNvSpPr/>
          <p:nvPr/>
        </p:nvSpPr>
        <p:spPr>
          <a:xfrm>
            <a:off x="381000" y="3996333"/>
            <a:ext cx="5638800" cy="885825"/>
          </a:xfrm>
          <a:prstGeom prst="rect">
            <a:avLst/>
          </a:prstGeom>
          <a:solidFill>
            <a:srgbClr val="161B22"/>
          </a:solidFill>
          <a:ln w="9144">
            <a:solidFill>
              <a:srgbClr val="30363D"/>
            </a:solidFill>
            <a:prstDash val="solid"/>
          </a:ln>
        </p:spPr>
      </p:sp>
      <p:sp>
        <p:nvSpPr>
          <p:cNvPr id="22" name="Text 15"/>
          <p:cNvSpPr/>
          <p:nvPr/>
        </p:nvSpPr>
        <p:spPr>
          <a:xfrm>
            <a:off x="495300" y="4110633"/>
            <a:ext cx="5410200" cy="215265"/>
          </a:xfrm>
          <a:prstGeom prst="rect">
            <a:avLst/>
          </a:prstGeom>
          <a:noFill/>
        </p:spPr>
        <p:txBody>
          <a:bodyPr wrap="square" lIns="0" tIns="0" rIns="0" bIns="0" rtlCol="0" anchor="t">
            <a:spAutoFit/>
          </a:bodyPr>
          <a:lstStyle/>
          <a:p>
            <a:pPr marL="0" indent="0" algn="l">
              <a:buNone/>
            </a:pPr>
            <a:r>
              <a:rPr lang="en-US" sz="1400" dirty="0">
                <a:solidFill>
                  <a:srgbClr val="58A6FF"/>
                </a:solidFill>
                <a:latin typeface="Poppins Bold" pitchFamily="34" charset="0"/>
                <a:ea typeface="Poppins Bold" pitchFamily="34" charset="-122"/>
                <a:cs typeface="Poppins Bold" pitchFamily="34" charset="-120"/>
              </a:rPr>
              <a:t>Raw Hex String</a:t>
            </a:r>
            <a:endParaRPr lang="en-US" sz="1400" dirty="0"/>
          </a:p>
        </p:txBody>
      </p:sp>
      <p:sp>
        <p:nvSpPr>
          <p:cNvPr id="23" name="Text 16"/>
          <p:cNvSpPr/>
          <p:nvPr/>
        </p:nvSpPr>
        <p:spPr>
          <a:xfrm>
            <a:off x="495300" y="4472583"/>
            <a:ext cx="5410200" cy="236220"/>
          </a:xfrm>
          <a:prstGeom prst="rect">
            <a:avLst/>
          </a:prstGeom>
          <a:noFill/>
        </p:spPr>
        <p:txBody>
          <a:bodyPr wrap="square" lIns="0" tIns="0" rIns="0" bIns="0" rtlCol="0" anchor="t">
            <a:spAutoFit/>
          </a:bodyPr>
          <a:lstStyle/>
          <a:p>
            <a:pPr marL="0" indent="0" algn="l">
              <a:buNone/>
            </a:pPr>
            <a:r>
              <a:rPr lang="en-US" sz="1535" dirty="0">
                <a:solidFill>
                  <a:srgbClr val="E3B341"/>
                </a:solidFill>
                <a:latin typeface="JetBrains Mono" pitchFamily="34" charset="0"/>
                <a:ea typeface="JetBrains Mono" pitchFamily="34" charset="-122"/>
                <a:cs typeface="JetBrains Mono" pitchFamily="34" charset="-120"/>
              </a:rPr>
              <a:t>48656C6C6F</a:t>
            </a:r>
            <a:endParaRPr lang="en-US" sz="1535" dirty="0"/>
          </a:p>
        </p:txBody>
      </p:sp>
      <p:sp>
        <p:nvSpPr>
          <p:cNvPr id="24" name="Shape 17"/>
          <p:cNvSpPr/>
          <p:nvPr/>
        </p:nvSpPr>
        <p:spPr>
          <a:xfrm>
            <a:off x="6172200" y="3996333"/>
            <a:ext cx="5638800" cy="885825"/>
          </a:xfrm>
          <a:prstGeom prst="rect">
            <a:avLst/>
          </a:prstGeom>
          <a:solidFill>
            <a:srgbClr val="161B22"/>
          </a:solidFill>
          <a:ln w="9144">
            <a:solidFill>
              <a:srgbClr val="30363D"/>
            </a:solidFill>
            <a:prstDash val="solid"/>
          </a:ln>
        </p:spPr>
      </p:sp>
      <p:sp>
        <p:nvSpPr>
          <p:cNvPr id="25" name="Text 18"/>
          <p:cNvSpPr/>
          <p:nvPr/>
        </p:nvSpPr>
        <p:spPr>
          <a:xfrm>
            <a:off x="6286500" y="4110633"/>
            <a:ext cx="5410200" cy="215265"/>
          </a:xfrm>
          <a:prstGeom prst="rect">
            <a:avLst/>
          </a:prstGeom>
          <a:noFill/>
        </p:spPr>
        <p:txBody>
          <a:bodyPr wrap="square" lIns="0" tIns="0" rIns="0" bIns="0" rtlCol="0" anchor="t">
            <a:spAutoFit/>
          </a:bodyPr>
          <a:lstStyle/>
          <a:p>
            <a:pPr marL="0" indent="0" algn="l">
              <a:buNone/>
            </a:pPr>
            <a:r>
              <a:rPr lang="en-US" sz="1400" dirty="0">
                <a:solidFill>
                  <a:srgbClr val="58A6FF"/>
                </a:solidFill>
                <a:latin typeface="Poppins Bold" pitchFamily="34" charset="0"/>
                <a:ea typeface="Poppins Bold" pitchFamily="34" charset="-122"/>
                <a:cs typeface="Poppins Bold" pitchFamily="34" charset="-120"/>
              </a:rPr>
              <a:t>C-Style / Shellcode</a:t>
            </a:r>
            <a:endParaRPr lang="en-US" sz="1400" dirty="0"/>
          </a:p>
        </p:txBody>
      </p:sp>
      <p:sp>
        <p:nvSpPr>
          <p:cNvPr id="26" name="Text 19"/>
          <p:cNvSpPr/>
          <p:nvPr/>
        </p:nvSpPr>
        <p:spPr>
          <a:xfrm>
            <a:off x="6286500" y="4472583"/>
            <a:ext cx="5410200" cy="236220"/>
          </a:xfrm>
          <a:prstGeom prst="rect">
            <a:avLst/>
          </a:prstGeom>
          <a:noFill/>
        </p:spPr>
        <p:txBody>
          <a:bodyPr wrap="square" lIns="0" tIns="0" rIns="0" bIns="0" rtlCol="0" anchor="t">
            <a:spAutoFit/>
          </a:bodyPr>
          <a:lstStyle/>
          <a:p>
            <a:pPr marL="0" indent="0" algn="l">
              <a:buNone/>
            </a:pPr>
            <a:r>
              <a:rPr lang="en-US" sz="1535" dirty="0">
                <a:solidFill>
                  <a:srgbClr val="E3B341"/>
                </a:solidFill>
                <a:latin typeface="JetBrains Mono" pitchFamily="34" charset="0"/>
                <a:ea typeface="JetBrains Mono" pitchFamily="34" charset="-122"/>
                <a:cs typeface="JetBrains Mono" pitchFamily="34" charset="-120"/>
              </a:rPr>
              <a:t>\x48\x65\x6C\x6C\x6F</a:t>
            </a:r>
            <a:endParaRPr lang="en-US" sz="1535" dirty="0"/>
          </a:p>
        </p:txBody>
      </p:sp>
      <p:sp>
        <p:nvSpPr>
          <p:cNvPr id="27" name="Shape 20"/>
          <p:cNvSpPr/>
          <p:nvPr/>
        </p:nvSpPr>
        <p:spPr>
          <a:xfrm>
            <a:off x="381000" y="5015508"/>
            <a:ext cx="5638800" cy="885825"/>
          </a:xfrm>
          <a:prstGeom prst="rect">
            <a:avLst/>
          </a:prstGeom>
          <a:solidFill>
            <a:srgbClr val="161B22"/>
          </a:solidFill>
          <a:ln w="9144">
            <a:solidFill>
              <a:srgbClr val="30363D"/>
            </a:solidFill>
            <a:prstDash val="solid"/>
          </a:ln>
        </p:spPr>
      </p:sp>
      <p:sp>
        <p:nvSpPr>
          <p:cNvPr id="28" name="Text 21"/>
          <p:cNvSpPr/>
          <p:nvPr/>
        </p:nvSpPr>
        <p:spPr>
          <a:xfrm>
            <a:off x="495300" y="5129808"/>
            <a:ext cx="5410200" cy="215265"/>
          </a:xfrm>
          <a:prstGeom prst="rect">
            <a:avLst/>
          </a:prstGeom>
          <a:noFill/>
        </p:spPr>
        <p:txBody>
          <a:bodyPr wrap="square" lIns="0" tIns="0" rIns="0" bIns="0" rtlCol="0" anchor="t">
            <a:spAutoFit/>
          </a:bodyPr>
          <a:lstStyle/>
          <a:p>
            <a:pPr marL="0" indent="0" algn="l">
              <a:buNone/>
            </a:pPr>
            <a:r>
              <a:rPr lang="en-US" sz="1400" dirty="0">
                <a:solidFill>
                  <a:srgbClr val="58A6FF"/>
                </a:solidFill>
                <a:latin typeface="Poppins Bold" pitchFamily="34" charset="0"/>
                <a:ea typeface="Poppins Bold" pitchFamily="34" charset="-122"/>
                <a:cs typeface="Poppins Bold" pitchFamily="34" charset="-120"/>
              </a:rPr>
              <a:t>URL Encoding</a:t>
            </a:r>
            <a:endParaRPr lang="en-US" sz="1400" dirty="0"/>
          </a:p>
        </p:txBody>
      </p:sp>
      <p:sp>
        <p:nvSpPr>
          <p:cNvPr id="29" name="Text 22"/>
          <p:cNvSpPr/>
          <p:nvPr/>
        </p:nvSpPr>
        <p:spPr>
          <a:xfrm>
            <a:off x="495300" y="5491757"/>
            <a:ext cx="5410200" cy="236220"/>
          </a:xfrm>
          <a:prstGeom prst="rect">
            <a:avLst/>
          </a:prstGeom>
          <a:noFill/>
        </p:spPr>
        <p:txBody>
          <a:bodyPr wrap="square" lIns="0" tIns="0" rIns="0" bIns="0" rtlCol="0" anchor="t">
            <a:spAutoFit/>
          </a:bodyPr>
          <a:lstStyle/>
          <a:p>
            <a:pPr marL="0" indent="0" algn="l">
              <a:buNone/>
            </a:pPr>
            <a:r>
              <a:rPr lang="en-US" sz="1535" dirty="0">
                <a:solidFill>
                  <a:srgbClr val="E3B341"/>
                </a:solidFill>
                <a:latin typeface="JetBrains Mono" pitchFamily="34" charset="0"/>
                <a:ea typeface="JetBrains Mono" pitchFamily="34" charset="-122"/>
                <a:cs typeface="JetBrains Mono" pitchFamily="34" charset="-120"/>
              </a:rPr>
              <a:t>%48%65%6C%6C%6F</a:t>
            </a:r>
            <a:endParaRPr lang="en-US" sz="1535" dirty="0"/>
          </a:p>
        </p:txBody>
      </p:sp>
      <p:sp>
        <p:nvSpPr>
          <p:cNvPr id="30" name="Shape 23"/>
          <p:cNvSpPr/>
          <p:nvPr/>
        </p:nvSpPr>
        <p:spPr>
          <a:xfrm>
            <a:off x="6172200" y="5015508"/>
            <a:ext cx="5638800" cy="885825"/>
          </a:xfrm>
          <a:prstGeom prst="rect">
            <a:avLst/>
          </a:prstGeom>
          <a:solidFill>
            <a:srgbClr val="161B22"/>
          </a:solidFill>
          <a:ln w="9144">
            <a:solidFill>
              <a:srgbClr val="30363D"/>
            </a:solidFill>
            <a:prstDash val="solid"/>
          </a:ln>
        </p:spPr>
      </p:sp>
      <p:sp>
        <p:nvSpPr>
          <p:cNvPr id="31" name="Text 24"/>
          <p:cNvSpPr/>
          <p:nvPr/>
        </p:nvSpPr>
        <p:spPr>
          <a:xfrm>
            <a:off x="6286500" y="5129808"/>
            <a:ext cx="5410200" cy="215265"/>
          </a:xfrm>
          <a:prstGeom prst="rect">
            <a:avLst/>
          </a:prstGeom>
          <a:noFill/>
        </p:spPr>
        <p:txBody>
          <a:bodyPr wrap="square" lIns="0" tIns="0" rIns="0" bIns="0" rtlCol="0" anchor="t">
            <a:spAutoFit/>
          </a:bodyPr>
          <a:lstStyle/>
          <a:p>
            <a:pPr marL="0" indent="0" algn="l">
              <a:buNone/>
            </a:pPr>
            <a:r>
              <a:rPr lang="en-US" sz="1400" dirty="0">
                <a:solidFill>
                  <a:srgbClr val="58A6FF"/>
                </a:solidFill>
                <a:latin typeface="Poppins Bold" pitchFamily="34" charset="0"/>
                <a:ea typeface="Poppins Bold" pitchFamily="34" charset="-122"/>
                <a:cs typeface="Poppins Bold" pitchFamily="34" charset="-120"/>
              </a:rPr>
              <a:t>Space Separated</a:t>
            </a:r>
            <a:endParaRPr lang="en-US" sz="1400" dirty="0"/>
          </a:p>
        </p:txBody>
      </p:sp>
      <p:sp>
        <p:nvSpPr>
          <p:cNvPr id="32" name="Text 25"/>
          <p:cNvSpPr/>
          <p:nvPr/>
        </p:nvSpPr>
        <p:spPr>
          <a:xfrm>
            <a:off x="6286500" y="5491757"/>
            <a:ext cx="5410200" cy="236220"/>
          </a:xfrm>
          <a:prstGeom prst="rect">
            <a:avLst/>
          </a:prstGeom>
          <a:noFill/>
        </p:spPr>
        <p:txBody>
          <a:bodyPr wrap="square" lIns="0" tIns="0" rIns="0" bIns="0" rtlCol="0" anchor="t">
            <a:spAutoFit/>
          </a:bodyPr>
          <a:lstStyle/>
          <a:p>
            <a:pPr marL="0" indent="0" algn="l">
              <a:buNone/>
            </a:pPr>
            <a:r>
              <a:rPr lang="en-US" sz="1535" dirty="0">
                <a:solidFill>
                  <a:srgbClr val="E3B341"/>
                </a:solidFill>
                <a:latin typeface="JetBrains Mono" pitchFamily="34" charset="0"/>
                <a:ea typeface="JetBrains Mono" pitchFamily="34" charset="-122"/>
                <a:cs typeface="JetBrains Mono" pitchFamily="34" charset="-120"/>
              </a:rPr>
              <a:t>48 65 6C 6C 6F</a:t>
            </a:r>
            <a:endParaRPr lang="en-US" sz="1535" dirty="0"/>
          </a:p>
        </p:txBody>
      </p:sp>
      <p:pic>
        <p:nvPicPr>
          <p:cNvPr id="33" name="Image 5" descr="preencoded.png"/>
          <p:cNvPicPr>
            <a:picLocks noChangeAspect="1"/>
          </p:cNvPicPr>
          <p:nvPr/>
        </p:nvPicPr>
        <p:blipFill>
          <a:blip r:embed="rId4"/>
          <a:stretch>
            <a:fillRect/>
          </a:stretch>
        </p:blipFill>
        <p:spPr>
          <a:xfrm>
            <a:off x="381000" y="6046589"/>
            <a:ext cx="171451" cy="171451"/>
          </a:xfrm>
          <a:prstGeom prst="rect">
            <a:avLst/>
          </a:prstGeom>
        </p:spPr>
      </p:pic>
      <p:sp>
        <p:nvSpPr>
          <p:cNvPr id="34" name="Text 26"/>
          <p:cNvSpPr/>
          <p:nvPr/>
        </p:nvSpPr>
        <p:spPr>
          <a:xfrm>
            <a:off x="695325" y="6029920"/>
            <a:ext cx="1466215" cy="235585"/>
          </a:xfrm>
          <a:prstGeom prst="rect">
            <a:avLst/>
          </a:prstGeom>
          <a:noFill/>
        </p:spPr>
        <p:txBody>
          <a:bodyPr wrap="none" lIns="0" tIns="0" rIns="0" bIns="0" rtlCol="0" anchor="t">
            <a:spAutoFit/>
          </a:bodyPr>
          <a:lstStyle/>
          <a:p>
            <a:pPr marL="0" indent="0" algn="l">
              <a:lnSpc>
                <a:spcPct val="128000"/>
              </a:lnSpc>
              <a:buNone/>
            </a:pPr>
            <a:r>
              <a:rPr lang="en-US" sz="1200" b="1" dirty="0">
                <a:solidFill>
                  <a:srgbClr val="8B949E"/>
                </a:solidFill>
                <a:latin typeface="Inter" pitchFamily="34" charset="0"/>
                <a:ea typeface="Inter" pitchFamily="34" charset="-122"/>
                <a:cs typeface="Inter" pitchFamily="34" charset="-120"/>
              </a:rPr>
              <a:t>Recognition Checklist:</a:t>
            </a:r>
            <a:endParaRPr lang="en-US" sz="1200" dirty="0"/>
          </a:p>
        </p:txBody>
      </p:sp>
      <p:sp>
        <p:nvSpPr>
          <p:cNvPr id="35" name="Text 27"/>
          <p:cNvSpPr/>
          <p:nvPr/>
        </p:nvSpPr>
        <p:spPr>
          <a:xfrm>
            <a:off x="2500312" y="6029920"/>
            <a:ext cx="6634480" cy="249555"/>
          </a:xfrm>
          <a:prstGeom prst="rect">
            <a:avLst/>
          </a:prstGeom>
          <a:noFill/>
        </p:spPr>
        <p:txBody>
          <a:bodyPr wrap="none" lIns="0" tIns="0" rIns="0" bIns="0" rtlCol="0" anchor="t">
            <a:spAutoFit/>
          </a:bodyPr>
          <a:lstStyle/>
          <a:p>
            <a:pPr marL="0" indent="0" algn="l">
              <a:lnSpc>
                <a:spcPct val="128000"/>
              </a:lnSpc>
              <a:buNone/>
            </a:pPr>
            <a:r>
              <a:rPr lang="en-US" sz="1265" dirty="0">
                <a:solidFill>
                  <a:srgbClr val="8B949E"/>
                </a:solidFill>
                <a:latin typeface="Inter" pitchFamily="34" charset="0"/>
                <a:ea typeface="Inter" pitchFamily="34" charset="-122"/>
                <a:cs typeface="Inter" pitchFamily="34" charset="-120"/>
              </a:rPr>
              <a:t>Even length, only contains 0-9 and A-F. If you see these patterns, it's likely hex-encoded ASCII.</a:t>
            </a:r>
            <a:endParaRPr lang="en-US" sz="1265" dirty="0"/>
          </a:p>
        </p:txBody>
      </p:sp>
      <p:grpSp>
        <p:nvGrpSpPr>
          <p:cNvPr id="36" name="Group 2"/>
          <p:cNvGrpSpPr/>
          <p:nvPr/>
        </p:nvGrpSpPr>
        <p:grpSpPr>
          <a:xfrm rot="0">
            <a:off x="294640" y="194310"/>
            <a:ext cx="789305" cy="299720"/>
            <a:chOff x="0" y="0"/>
            <a:chExt cx="341337" cy="102463"/>
          </a:xfrm>
        </p:grpSpPr>
        <p:sp>
          <p:nvSpPr>
            <p:cNvPr id="37"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38"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39" name="Group 5"/>
          <p:cNvGrpSpPr/>
          <p:nvPr/>
        </p:nvGrpSpPr>
        <p:grpSpPr>
          <a:xfrm rot="0">
            <a:off x="822325" y="209550"/>
            <a:ext cx="220980" cy="246380"/>
            <a:chOff x="0" y="0"/>
            <a:chExt cx="812800" cy="812800"/>
          </a:xfrm>
        </p:grpSpPr>
        <p:sp>
          <p:nvSpPr>
            <p:cNvPr id="40"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1"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2"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3"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44"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58A6FF"/>
                </a:solidFill>
                <a:latin typeface="Poppins Bold" pitchFamily="34" charset="0"/>
                <a:ea typeface="Poppins Bold" pitchFamily="34" charset="-122"/>
                <a:cs typeface="Poppins Bold" pitchFamily="34" charset="-120"/>
              </a:rPr>
              <a:t>URL ENCODING: WHY SPACES BECOME %20</a:t>
            </a:r>
            <a:endParaRPr lang="en-US" sz="3265" dirty="0"/>
          </a:p>
        </p:txBody>
      </p:sp>
      <p:sp>
        <p:nvSpPr>
          <p:cNvPr id="4" name="Shape 1"/>
          <p:cNvSpPr/>
          <p:nvPr/>
        </p:nvSpPr>
        <p:spPr>
          <a:xfrm>
            <a:off x="571500" y="1869876"/>
            <a:ext cx="11049000" cy="1500188"/>
          </a:xfrm>
          <a:prstGeom prst="rect">
            <a:avLst/>
          </a:prstGeom>
          <a:solidFill>
            <a:srgbClr val="161B22"/>
          </a:solidFill>
          <a:ln w="9144">
            <a:solidFill>
              <a:srgbClr val="30363D"/>
            </a:solidFill>
            <a:prstDash val="solid"/>
          </a:ln>
        </p:spPr>
      </p:sp>
      <p:sp>
        <p:nvSpPr>
          <p:cNvPr id="5" name="Text 2"/>
          <p:cNvSpPr/>
          <p:nvPr/>
        </p:nvSpPr>
        <p:spPr>
          <a:xfrm>
            <a:off x="723900" y="2022276"/>
            <a:ext cx="107442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Poppins Bold" pitchFamily="34" charset="0"/>
                <a:ea typeface="Poppins Bold" pitchFamily="34" charset="-122"/>
                <a:cs typeface="Poppins Bold" pitchFamily="34" charset="-120"/>
              </a:rPr>
              <a:t>ORIGINAL URL</a:t>
            </a:r>
            <a:endParaRPr lang="en-US" sz="1000" dirty="0"/>
          </a:p>
        </p:txBody>
      </p:sp>
      <p:sp>
        <p:nvSpPr>
          <p:cNvPr id="6" name="Text 3"/>
          <p:cNvSpPr/>
          <p:nvPr/>
        </p:nvSpPr>
        <p:spPr>
          <a:xfrm>
            <a:off x="723900" y="2300883"/>
            <a:ext cx="10744200" cy="215265"/>
          </a:xfrm>
          <a:prstGeom prst="rect">
            <a:avLst/>
          </a:prstGeom>
          <a:noFill/>
        </p:spPr>
        <p:txBody>
          <a:bodyPr wrap="square" lIns="0" tIns="0" rIns="0" bIns="0" rtlCol="0" anchor="t">
            <a:spAutoFit/>
          </a:bodyPr>
          <a:lstStyle/>
          <a:p>
            <a:pPr marL="0" indent="0" algn="l">
              <a:buNone/>
            </a:pPr>
            <a:r>
              <a:rPr lang="en-US" sz="1400" dirty="0">
                <a:solidFill>
                  <a:srgbClr val="E6EDF3"/>
                </a:solidFill>
                <a:latin typeface="JetBrains Mono" pitchFamily="34" charset="0"/>
                <a:ea typeface="JetBrains Mono" pitchFamily="34" charset="-122"/>
                <a:cs typeface="JetBrains Mono" pitchFamily="34" charset="-120"/>
              </a:rPr>
              <a:t>https://site.com/search?q=hello world&amp;name=&lt;script&gt;</a:t>
            </a:r>
            <a:endParaRPr lang="en-US" sz="1400" dirty="0"/>
          </a:p>
        </p:txBody>
      </p:sp>
      <p:sp>
        <p:nvSpPr>
          <p:cNvPr id="7" name="Text 4"/>
          <p:cNvSpPr/>
          <p:nvPr/>
        </p:nvSpPr>
        <p:spPr>
          <a:xfrm>
            <a:off x="723900" y="2667595"/>
            <a:ext cx="107442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Poppins Bold" pitchFamily="34" charset="0"/>
                <a:ea typeface="Poppins Bold" pitchFamily="34" charset="-122"/>
                <a:cs typeface="Poppins Bold" pitchFamily="34" charset="-120"/>
              </a:rPr>
              <a:t>ENCODED URL</a:t>
            </a:r>
            <a:endParaRPr lang="en-US" sz="1000" dirty="0"/>
          </a:p>
        </p:txBody>
      </p:sp>
      <p:sp>
        <p:nvSpPr>
          <p:cNvPr id="8" name="Text 5"/>
          <p:cNvSpPr/>
          <p:nvPr/>
        </p:nvSpPr>
        <p:spPr>
          <a:xfrm>
            <a:off x="723900" y="2946201"/>
            <a:ext cx="10744200" cy="215265"/>
          </a:xfrm>
          <a:prstGeom prst="rect">
            <a:avLst/>
          </a:prstGeom>
          <a:noFill/>
        </p:spPr>
        <p:txBody>
          <a:bodyPr wrap="square" lIns="0" tIns="0" rIns="0" bIns="0" rtlCol="0" anchor="t">
            <a:spAutoFit/>
          </a:bodyPr>
          <a:lstStyle/>
          <a:p>
            <a:pPr marL="0" indent="0" algn="l">
              <a:buNone/>
            </a:pPr>
            <a:r>
              <a:rPr lang="en-US" sz="1400" dirty="0">
                <a:solidFill>
                  <a:srgbClr val="E6EDF3"/>
                </a:solidFill>
                <a:latin typeface="JetBrains Mono" pitchFamily="34" charset="0"/>
                <a:ea typeface="JetBrains Mono" pitchFamily="34" charset="-122"/>
                <a:cs typeface="JetBrains Mono" pitchFamily="34" charset="-120"/>
              </a:rPr>
              <a:t>https://site.com/search?q=hello</a:t>
            </a:r>
            <a:r>
              <a:rPr lang="en-US" sz="1400" dirty="0">
                <a:solidFill>
                  <a:srgbClr val="00FF9C"/>
                </a:solidFill>
                <a:latin typeface="JetBrains Mono" pitchFamily="34" charset="0"/>
                <a:ea typeface="JetBrains Mono" pitchFamily="34" charset="-122"/>
                <a:cs typeface="JetBrains Mono" pitchFamily="34" charset="-120"/>
              </a:rPr>
              <a:t>%20</a:t>
            </a:r>
            <a:r>
              <a:rPr lang="en-US" sz="1400" dirty="0">
                <a:solidFill>
                  <a:srgbClr val="E6EDF3"/>
                </a:solidFill>
                <a:latin typeface="JetBrains Mono" pitchFamily="34" charset="0"/>
                <a:ea typeface="JetBrains Mono" pitchFamily="34" charset="-122"/>
                <a:cs typeface="JetBrains Mono" pitchFamily="34" charset="-120"/>
              </a:rPr>
              <a:t>world&amp;name=</a:t>
            </a:r>
            <a:r>
              <a:rPr lang="en-US" sz="1400" dirty="0">
                <a:solidFill>
                  <a:srgbClr val="00FF9C"/>
                </a:solidFill>
                <a:latin typeface="JetBrains Mono" pitchFamily="34" charset="0"/>
                <a:ea typeface="JetBrains Mono" pitchFamily="34" charset="-122"/>
                <a:cs typeface="JetBrains Mono" pitchFamily="34" charset="-120"/>
              </a:rPr>
              <a:t>%3C</a:t>
            </a:r>
            <a:r>
              <a:rPr lang="en-US" sz="1400" dirty="0">
                <a:solidFill>
                  <a:srgbClr val="E6EDF3"/>
                </a:solidFill>
                <a:latin typeface="JetBrains Mono" pitchFamily="34" charset="0"/>
                <a:ea typeface="JetBrains Mono" pitchFamily="34" charset="-122"/>
                <a:cs typeface="JetBrains Mono" pitchFamily="34" charset="-120"/>
              </a:rPr>
              <a:t>script</a:t>
            </a:r>
            <a:r>
              <a:rPr lang="en-US" sz="1400" dirty="0">
                <a:solidFill>
                  <a:srgbClr val="00FF9C"/>
                </a:solidFill>
                <a:latin typeface="JetBrains Mono" pitchFamily="34" charset="0"/>
                <a:ea typeface="JetBrains Mono" pitchFamily="34" charset="-122"/>
                <a:cs typeface="JetBrains Mono" pitchFamily="34" charset="-120"/>
              </a:rPr>
              <a:t>%3E</a:t>
            </a:r>
            <a:endParaRPr lang="en-US" sz="1400" dirty="0"/>
          </a:p>
        </p:txBody>
      </p:sp>
      <p:sp>
        <p:nvSpPr>
          <p:cNvPr id="9" name="Shape 6"/>
          <p:cNvSpPr/>
          <p:nvPr/>
        </p:nvSpPr>
        <p:spPr>
          <a:xfrm>
            <a:off x="571500" y="3522464"/>
            <a:ext cx="5410200" cy="2750604"/>
          </a:xfrm>
          <a:prstGeom prst="rect">
            <a:avLst/>
          </a:prstGeom>
          <a:solidFill>
            <a:srgbClr val="161B22"/>
          </a:solidFill>
        </p:spPr>
      </p:sp>
      <p:sp>
        <p:nvSpPr>
          <p:cNvPr id="10" name="Shape 7"/>
          <p:cNvSpPr/>
          <p:nvPr/>
        </p:nvSpPr>
        <p:spPr>
          <a:xfrm>
            <a:off x="571500" y="3522464"/>
            <a:ext cx="5410200" cy="38100"/>
          </a:xfrm>
          <a:prstGeom prst="rect">
            <a:avLst/>
          </a:prstGeom>
          <a:solidFill>
            <a:srgbClr val="58A6FF"/>
          </a:solidFill>
        </p:spPr>
      </p:sp>
      <p:sp>
        <p:nvSpPr>
          <p:cNvPr id="11" name="Text 8"/>
          <p:cNvSpPr/>
          <p:nvPr/>
        </p:nvSpPr>
        <p:spPr>
          <a:xfrm>
            <a:off x="685800" y="3839431"/>
            <a:ext cx="5181600" cy="163830"/>
          </a:xfrm>
          <a:prstGeom prst="rect">
            <a:avLst/>
          </a:prstGeom>
          <a:noFill/>
        </p:spPr>
        <p:txBody>
          <a:bodyPr wrap="square" lIns="0" tIns="0" rIns="0" bIns="0" rtlCol="0" anchor="t">
            <a:spAutoFit/>
          </a:bodyPr>
          <a:lstStyle/>
          <a:p>
            <a:pPr marL="0" indent="0" algn="l">
              <a:buNone/>
            </a:pPr>
            <a:r>
              <a:rPr lang="en-US" sz="1065" b="1" dirty="0">
                <a:solidFill>
                  <a:srgbClr val="58A6FF"/>
                </a:solidFill>
                <a:latin typeface="Poppins Bold" pitchFamily="34" charset="0"/>
                <a:ea typeface="Poppins Bold" pitchFamily="34" charset="-122"/>
                <a:cs typeface="Poppins Bold" pitchFamily="34" charset="-120"/>
              </a:rPr>
              <a:t>Common Mappings</a:t>
            </a:r>
            <a:endParaRPr lang="en-US" sz="1065" dirty="0"/>
          </a:p>
        </p:txBody>
      </p:sp>
      <p:sp>
        <p:nvSpPr>
          <p:cNvPr id="12" name="Text 9"/>
          <p:cNvSpPr/>
          <p:nvPr/>
        </p:nvSpPr>
        <p:spPr>
          <a:xfrm>
            <a:off x="685800" y="4189395"/>
            <a:ext cx="496570" cy="364490"/>
          </a:xfrm>
          <a:prstGeom prst="rect">
            <a:avLst/>
          </a:prstGeom>
          <a:noFill/>
        </p:spPr>
        <p:txBody>
          <a:bodyPr wrap="none" lIns="90762" tIns="90762" rIns="90762" bIns="90762" rtlCol="0" anchor="ctr">
            <a:spAutoFit/>
          </a:bodyPr>
          <a:lstStyle/>
          <a:p>
            <a:pPr marL="0" indent="0" algn="l">
              <a:buNone/>
            </a:pPr>
            <a:r>
              <a:rPr lang="en-US" sz="1200" b="1" dirty="0">
                <a:solidFill>
                  <a:srgbClr val="8B949E"/>
                </a:solidFill>
                <a:latin typeface="JetBrains Mono" pitchFamily="34" charset="0"/>
                <a:ea typeface="JetBrains Mono" pitchFamily="34" charset="-122"/>
                <a:cs typeface="JetBrains Mono" pitchFamily="34" charset="-120"/>
              </a:rPr>
              <a:t>Char</a:t>
            </a:r>
            <a:endParaRPr lang="en-US" sz="1200" dirty="0"/>
          </a:p>
        </p:txBody>
      </p:sp>
      <p:sp>
        <p:nvSpPr>
          <p:cNvPr id="13" name="Text 10"/>
          <p:cNvSpPr/>
          <p:nvPr/>
        </p:nvSpPr>
        <p:spPr>
          <a:xfrm>
            <a:off x="1846957" y="4189395"/>
            <a:ext cx="753110" cy="364490"/>
          </a:xfrm>
          <a:prstGeom prst="rect">
            <a:avLst/>
          </a:prstGeom>
          <a:noFill/>
        </p:spPr>
        <p:txBody>
          <a:bodyPr wrap="none" lIns="90762" tIns="90762" rIns="90762" bIns="90762" rtlCol="0" anchor="ctr">
            <a:spAutoFit/>
          </a:bodyPr>
          <a:lstStyle/>
          <a:p>
            <a:pPr marL="0" indent="0" algn="l">
              <a:buNone/>
            </a:pPr>
            <a:r>
              <a:rPr lang="en-US" sz="1200" b="1" dirty="0">
                <a:solidFill>
                  <a:srgbClr val="8B949E"/>
                </a:solidFill>
                <a:latin typeface="JetBrains Mono" pitchFamily="34" charset="0"/>
                <a:ea typeface="JetBrains Mono" pitchFamily="34" charset="-122"/>
                <a:cs typeface="JetBrains Mono" pitchFamily="34" charset="-120"/>
              </a:rPr>
              <a:t>Encoded</a:t>
            </a:r>
            <a:endParaRPr lang="en-US" sz="1200" dirty="0"/>
          </a:p>
        </p:txBody>
      </p:sp>
      <p:sp>
        <p:nvSpPr>
          <p:cNvPr id="14" name="Text 11"/>
          <p:cNvSpPr/>
          <p:nvPr/>
        </p:nvSpPr>
        <p:spPr>
          <a:xfrm>
            <a:off x="3366045" y="4189395"/>
            <a:ext cx="496570" cy="364490"/>
          </a:xfrm>
          <a:prstGeom prst="rect">
            <a:avLst/>
          </a:prstGeom>
          <a:noFill/>
        </p:spPr>
        <p:txBody>
          <a:bodyPr wrap="none" lIns="90762" tIns="90762" rIns="90762" bIns="90762" rtlCol="0" anchor="ctr">
            <a:spAutoFit/>
          </a:bodyPr>
          <a:lstStyle/>
          <a:p>
            <a:pPr marL="0" indent="0" algn="l">
              <a:buNone/>
            </a:pPr>
            <a:r>
              <a:rPr lang="en-US" sz="1200" b="1" dirty="0">
                <a:solidFill>
                  <a:srgbClr val="8B949E"/>
                </a:solidFill>
                <a:latin typeface="JetBrains Mono" pitchFamily="34" charset="0"/>
                <a:ea typeface="JetBrains Mono" pitchFamily="34" charset="-122"/>
                <a:cs typeface="JetBrains Mono" pitchFamily="34" charset="-120"/>
              </a:rPr>
              <a:t>Char</a:t>
            </a:r>
            <a:endParaRPr lang="en-US" sz="1200" dirty="0"/>
          </a:p>
        </p:txBody>
      </p:sp>
      <p:sp>
        <p:nvSpPr>
          <p:cNvPr id="15" name="Text 12"/>
          <p:cNvSpPr/>
          <p:nvPr/>
        </p:nvSpPr>
        <p:spPr>
          <a:xfrm>
            <a:off x="4348237" y="4189395"/>
            <a:ext cx="753110" cy="364490"/>
          </a:xfrm>
          <a:prstGeom prst="rect">
            <a:avLst/>
          </a:prstGeom>
          <a:noFill/>
        </p:spPr>
        <p:txBody>
          <a:bodyPr wrap="none" lIns="90762" tIns="90762" rIns="90762" bIns="90762" rtlCol="0" anchor="ctr">
            <a:spAutoFit/>
          </a:bodyPr>
          <a:lstStyle/>
          <a:p>
            <a:pPr marL="0" indent="0" algn="l">
              <a:buNone/>
            </a:pPr>
            <a:r>
              <a:rPr lang="en-US" sz="1200" b="1" dirty="0">
                <a:solidFill>
                  <a:srgbClr val="8B949E"/>
                </a:solidFill>
                <a:latin typeface="JetBrains Mono" pitchFamily="34" charset="0"/>
                <a:ea typeface="JetBrains Mono" pitchFamily="34" charset="-122"/>
                <a:cs typeface="JetBrains Mono" pitchFamily="34" charset="-120"/>
              </a:rPr>
              <a:t>Encoded</a:t>
            </a:r>
            <a:endParaRPr lang="en-US" sz="1200" dirty="0"/>
          </a:p>
        </p:txBody>
      </p:sp>
      <p:sp>
        <p:nvSpPr>
          <p:cNvPr id="16" name="Text 13"/>
          <p:cNvSpPr/>
          <p:nvPr/>
        </p:nvSpPr>
        <p:spPr>
          <a:xfrm>
            <a:off x="685800" y="4570078"/>
            <a:ext cx="591820" cy="374650"/>
          </a:xfrm>
          <a:prstGeom prst="rect">
            <a:avLst/>
          </a:prstGeom>
          <a:noFill/>
        </p:spPr>
        <p:txBody>
          <a:bodyPr wrap="none" lIns="90762" tIns="90762" rIns="90762"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Space</a:t>
            </a:r>
            <a:endParaRPr lang="en-US" sz="1265" dirty="0"/>
          </a:p>
        </p:txBody>
      </p:sp>
      <p:sp>
        <p:nvSpPr>
          <p:cNvPr id="17" name="Text 14"/>
          <p:cNvSpPr/>
          <p:nvPr/>
        </p:nvSpPr>
        <p:spPr>
          <a:xfrm>
            <a:off x="1846957" y="4570078"/>
            <a:ext cx="469265" cy="374650"/>
          </a:xfrm>
          <a:prstGeom prst="rect">
            <a:avLst/>
          </a:prstGeom>
          <a:noFill/>
        </p:spPr>
        <p:txBody>
          <a:bodyPr wrap="none" lIns="90762" tIns="90762" rIns="90762" bIns="90762" rtlCol="0" anchor="ctr">
            <a:spAutoFit/>
          </a:bodyPr>
          <a:lstStyle/>
          <a:p>
            <a:pPr marL="0" indent="0" algn="l">
              <a:buNone/>
            </a:pPr>
            <a:r>
              <a:rPr lang="en-US" sz="1265" dirty="0">
                <a:solidFill>
                  <a:srgbClr val="00FF9C"/>
                </a:solidFill>
                <a:latin typeface="JetBrains Mono" pitchFamily="34" charset="0"/>
                <a:ea typeface="JetBrains Mono" pitchFamily="34" charset="-122"/>
                <a:cs typeface="JetBrains Mono" pitchFamily="34" charset="-120"/>
              </a:rPr>
              <a:t>%20</a:t>
            </a:r>
            <a:endParaRPr lang="en-US" sz="1265" dirty="0"/>
          </a:p>
        </p:txBody>
      </p:sp>
      <p:sp>
        <p:nvSpPr>
          <p:cNvPr id="18" name="Text 15"/>
          <p:cNvSpPr/>
          <p:nvPr/>
        </p:nvSpPr>
        <p:spPr>
          <a:xfrm>
            <a:off x="3366045" y="4570078"/>
            <a:ext cx="237490" cy="374650"/>
          </a:xfrm>
          <a:prstGeom prst="rect">
            <a:avLst/>
          </a:prstGeom>
          <a:noFill/>
        </p:spPr>
        <p:txBody>
          <a:bodyPr wrap="none" lIns="90762" tIns="90762" rIns="90762"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&lt;</a:t>
            </a:r>
            <a:endParaRPr lang="en-US" sz="1265" dirty="0"/>
          </a:p>
        </p:txBody>
      </p:sp>
      <p:sp>
        <p:nvSpPr>
          <p:cNvPr id="19" name="Text 16"/>
          <p:cNvSpPr/>
          <p:nvPr/>
        </p:nvSpPr>
        <p:spPr>
          <a:xfrm>
            <a:off x="4348237" y="4570078"/>
            <a:ext cx="478155" cy="374650"/>
          </a:xfrm>
          <a:prstGeom prst="rect">
            <a:avLst/>
          </a:prstGeom>
          <a:noFill/>
        </p:spPr>
        <p:txBody>
          <a:bodyPr wrap="none" lIns="90762" tIns="90762" rIns="90762" bIns="90762" rtlCol="0" anchor="ctr">
            <a:spAutoFit/>
          </a:bodyPr>
          <a:lstStyle/>
          <a:p>
            <a:pPr marL="0" indent="0" algn="l">
              <a:buNone/>
            </a:pPr>
            <a:r>
              <a:rPr lang="en-US" sz="1265" dirty="0">
                <a:solidFill>
                  <a:srgbClr val="00FF9C"/>
                </a:solidFill>
                <a:latin typeface="JetBrains Mono" pitchFamily="34" charset="0"/>
                <a:ea typeface="JetBrains Mono" pitchFamily="34" charset="-122"/>
                <a:cs typeface="JetBrains Mono" pitchFamily="34" charset="-120"/>
              </a:rPr>
              <a:t>%3C</a:t>
            </a:r>
            <a:endParaRPr lang="en-US" sz="1265" dirty="0"/>
          </a:p>
        </p:txBody>
      </p:sp>
      <p:sp>
        <p:nvSpPr>
          <p:cNvPr id="20" name="Text 17"/>
          <p:cNvSpPr/>
          <p:nvPr/>
        </p:nvSpPr>
        <p:spPr>
          <a:xfrm>
            <a:off x="685800" y="4958222"/>
            <a:ext cx="231775" cy="374650"/>
          </a:xfrm>
          <a:prstGeom prst="rect">
            <a:avLst/>
          </a:prstGeom>
          <a:noFill/>
        </p:spPr>
        <p:txBody>
          <a:bodyPr wrap="none" lIns="90762" tIns="90762" rIns="90762"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a:t>
            </a:r>
            <a:endParaRPr lang="en-US" sz="1265" dirty="0"/>
          </a:p>
        </p:txBody>
      </p:sp>
      <p:sp>
        <p:nvSpPr>
          <p:cNvPr id="21" name="Text 18"/>
          <p:cNvSpPr/>
          <p:nvPr/>
        </p:nvSpPr>
        <p:spPr>
          <a:xfrm>
            <a:off x="1846957" y="4958222"/>
            <a:ext cx="469265" cy="374650"/>
          </a:xfrm>
          <a:prstGeom prst="rect">
            <a:avLst/>
          </a:prstGeom>
          <a:noFill/>
        </p:spPr>
        <p:txBody>
          <a:bodyPr wrap="none" lIns="90762" tIns="90762" rIns="90762" bIns="90762" rtlCol="0" anchor="ctr">
            <a:spAutoFit/>
          </a:bodyPr>
          <a:lstStyle/>
          <a:p>
            <a:pPr marL="0" indent="0" algn="l">
              <a:buNone/>
            </a:pPr>
            <a:r>
              <a:rPr lang="en-US" sz="1265" dirty="0">
                <a:solidFill>
                  <a:srgbClr val="00FF9C"/>
                </a:solidFill>
                <a:latin typeface="JetBrains Mono" pitchFamily="34" charset="0"/>
                <a:ea typeface="JetBrains Mono" pitchFamily="34" charset="-122"/>
                <a:cs typeface="JetBrains Mono" pitchFamily="34" charset="-120"/>
              </a:rPr>
              <a:t>%22</a:t>
            </a:r>
            <a:endParaRPr lang="en-US" sz="1265" dirty="0"/>
          </a:p>
        </p:txBody>
      </p:sp>
      <p:sp>
        <p:nvSpPr>
          <p:cNvPr id="22" name="Text 19"/>
          <p:cNvSpPr/>
          <p:nvPr/>
        </p:nvSpPr>
        <p:spPr>
          <a:xfrm>
            <a:off x="3366045" y="4958222"/>
            <a:ext cx="237490" cy="374650"/>
          </a:xfrm>
          <a:prstGeom prst="rect">
            <a:avLst/>
          </a:prstGeom>
          <a:noFill/>
        </p:spPr>
        <p:txBody>
          <a:bodyPr wrap="none" lIns="90762" tIns="90762" rIns="90762"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&gt;</a:t>
            </a:r>
            <a:endParaRPr lang="en-US" sz="1265" dirty="0"/>
          </a:p>
        </p:txBody>
      </p:sp>
      <p:sp>
        <p:nvSpPr>
          <p:cNvPr id="23" name="Text 20"/>
          <p:cNvSpPr/>
          <p:nvPr/>
        </p:nvSpPr>
        <p:spPr>
          <a:xfrm>
            <a:off x="4348237" y="4958222"/>
            <a:ext cx="467360" cy="374650"/>
          </a:xfrm>
          <a:prstGeom prst="rect">
            <a:avLst/>
          </a:prstGeom>
          <a:noFill/>
        </p:spPr>
        <p:txBody>
          <a:bodyPr wrap="none" lIns="90762" tIns="90762" rIns="90762" bIns="90762" rtlCol="0" anchor="ctr">
            <a:spAutoFit/>
          </a:bodyPr>
          <a:lstStyle/>
          <a:p>
            <a:pPr marL="0" indent="0" algn="l">
              <a:buNone/>
            </a:pPr>
            <a:r>
              <a:rPr lang="en-US" sz="1265" dirty="0">
                <a:solidFill>
                  <a:srgbClr val="00FF9C"/>
                </a:solidFill>
                <a:latin typeface="JetBrains Mono" pitchFamily="34" charset="0"/>
                <a:ea typeface="JetBrains Mono" pitchFamily="34" charset="-122"/>
                <a:cs typeface="JetBrains Mono" pitchFamily="34" charset="-120"/>
              </a:rPr>
              <a:t>%3E</a:t>
            </a:r>
            <a:endParaRPr lang="en-US" sz="1265" dirty="0"/>
          </a:p>
        </p:txBody>
      </p:sp>
      <p:sp>
        <p:nvSpPr>
          <p:cNvPr id="24" name="Text 21"/>
          <p:cNvSpPr/>
          <p:nvPr/>
        </p:nvSpPr>
        <p:spPr>
          <a:xfrm>
            <a:off x="685800" y="5346366"/>
            <a:ext cx="292100" cy="374650"/>
          </a:xfrm>
          <a:prstGeom prst="rect">
            <a:avLst/>
          </a:prstGeom>
          <a:noFill/>
        </p:spPr>
        <p:txBody>
          <a:bodyPr wrap="none" lIns="90762" tIns="90762" rIns="90762"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a:t>
            </a:r>
            <a:endParaRPr lang="en-US" sz="1265" dirty="0"/>
          </a:p>
        </p:txBody>
      </p:sp>
      <p:sp>
        <p:nvSpPr>
          <p:cNvPr id="25" name="Text 22"/>
          <p:cNvSpPr/>
          <p:nvPr/>
        </p:nvSpPr>
        <p:spPr>
          <a:xfrm>
            <a:off x="1846957" y="5346366"/>
            <a:ext cx="469265" cy="374650"/>
          </a:xfrm>
          <a:prstGeom prst="rect">
            <a:avLst/>
          </a:prstGeom>
          <a:noFill/>
        </p:spPr>
        <p:txBody>
          <a:bodyPr wrap="none" lIns="90762" tIns="90762" rIns="90762" bIns="90762" rtlCol="0" anchor="ctr">
            <a:spAutoFit/>
          </a:bodyPr>
          <a:lstStyle/>
          <a:p>
            <a:pPr marL="0" indent="0" algn="l">
              <a:buNone/>
            </a:pPr>
            <a:r>
              <a:rPr lang="en-US" sz="1265" dirty="0">
                <a:solidFill>
                  <a:srgbClr val="00FF9C"/>
                </a:solidFill>
                <a:latin typeface="JetBrains Mono" pitchFamily="34" charset="0"/>
                <a:ea typeface="JetBrains Mono" pitchFamily="34" charset="-122"/>
                <a:cs typeface="JetBrains Mono" pitchFamily="34" charset="-120"/>
              </a:rPr>
              <a:t>%23</a:t>
            </a:r>
            <a:endParaRPr lang="en-US" sz="1265" dirty="0"/>
          </a:p>
        </p:txBody>
      </p:sp>
      <p:sp>
        <p:nvSpPr>
          <p:cNvPr id="26" name="Text 23"/>
          <p:cNvSpPr/>
          <p:nvPr/>
        </p:nvSpPr>
        <p:spPr>
          <a:xfrm>
            <a:off x="3366045" y="5346366"/>
            <a:ext cx="288290" cy="374650"/>
          </a:xfrm>
          <a:prstGeom prst="rect">
            <a:avLst/>
          </a:prstGeom>
          <a:noFill/>
        </p:spPr>
        <p:txBody>
          <a:bodyPr wrap="none" lIns="90762" tIns="90762" rIns="90762"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&amp;</a:t>
            </a:r>
            <a:endParaRPr lang="en-US" sz="1265" dirty="0"/>
          </a:p>
        </p:txBody>
      </p:sp>
      <p:sp>
        <p:nvSpPr>
          <p:cNvPr id="27" name="Text 24"/>
          <p:cNvSpPr/>
          <p:nvPr/>
        </p:nvSpPr>
        <p:spPr>
          <a:xfrm>
            <a:off x="4348237" y="5346366"/>
            <a:ext cx="469265" cy="374650"/>
          </a:xfrm>
          <a:prstGeom prst="rect">
            <a:avLst/>
          </a:prstGeom>
          <a:noFill/>
        </p:spPr>
        <p:txBody>
          <a:bodyPr wrap="none" lIns="90762" tIns="90762" rIns="90762" bIns="90762" rtlCol="0" anchor="ctr">
            <a:spAutoFit/>
          </a:bodyPr>
          <a:lstStyle/>
          <a:p>
            <a:pPr marL="0" indent="0" algn="l">
              <a:buNone/>
            </a:pPr>
            <a:r>
              <a:rPr lang="en-US" sz="1265" dirty="0">
                <a:solidFill>
                  <a:srgbClr val="00FF9C"/>
                </a:solidFill>
                <a:latin typeface="JetBrains Mono" pitchFamily="34" charset="0"/>
                <a:ea typeface="JetBrains Mono" pitchFamily="34" charset="-122"/>
                <a:cs typeface="JetBrains Mono" pitchFamily="34" charset="-120"/>
              </a:rPr>
              <a:t>%26</a:t>
            </a:r>
            <a:endParaRPr lang="en-US" sz="1265" dirty="0"/>
          </a:p>
        </p:txBody>
      </p:sp>
      <p:sp>
        <p:nvSpPr>
          <p:cNvPr id="28" name="Text 25"/>
          <p:cNvSpPr/>
          <p:nvPr/>
        </p:nvSpPr>
        <p:spPr>
          <a:xfrm>
            <a:off x="685800" y="5734510"/>
            <a:ext cx="302895" cy="374650"/>
          </a:xfrm>
          <a:prstGeom prst="rect">
            <a:avLst/>
          </a:prstGeom>
          <a:noFill/>
        </p:spPr>
        <p:txBody>
          <a:bodyPr wrap="none" lIns="90762" tIns="90762" rIns="90762"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a:t>
            </a:r>
            <a:endParaRPr lang="en-US" sz="1265" dirty="0"/>
          </a:p>
        </p:txBody>
      </p:sp>
      <p:sp>
        <p:nvSpPr>
          <p:cNvPr id="29" name="Text 26"/>
          <p:cNvSpPr/>
          <p:nvPr/>
        </p:nvSpPr>
        <p:spPr>
          <a:xfrm>
            <a:off x="1846957" y="5734510"/>
            <a:ext cx="469265" cy="374650"/>
          </a:xfrm>
          <a:prstGeom prst="rect">
            <a:avLst/>
          </a:prstGeom>
          <a:noFill/>
        </p:spPr>
        <p:txBody>
          <a:bodyPr wrap="none" lIns="90762" tIns="90762" rIns="90762" bIns="90762" rtlCol="0" anchor="ctr">
            <a:spAutoFit/>
          </a:bodyPr>
          <a:lstStyle/>
          <a:p>
            <a:pPr marL="0" indent="0" algn="l">
              <a:buNone/>
            </a:pPr>
            <a:r>
              <a:rPr lang="en-US" sz="1265" dirty="0">
                <a:solidFill>
                  <a:srgbClr val="00FF9C"/>
                </a:solidFill>
                <a:latin typeface="JetBrains Mono" pitchFamily="34" charset="0"/>
                <a:ea typeface="JetBrains Mono" pitchFamily="34" charset="-122"/>
                <a:cs typeface="JetBrains Mono" pitchFamily="34" charset="-120"/>
              </a:rPr>
              <a:t>%25</a:t>
            </a:r>
            <a:endParaRPr lang="en-US" sz="1265" dirty="0"/>
          </a:p>
        </p:txBody>
      </p:sp>
      <p:sp>
        <p:nvSpPr>
          <p:cNvPr id="30" name="Text 27"/>
          <p:cNvSpPr/>
          <p:nvPr/>
        </p:nvSpPr>
        <p:spPr>
          <a:xfrm>
            <a:off x="3366045" y="5734510"/>
            <a:ext cx="269875" cy="374650"/>
          </a:xfrm>
          <a:prstGeom prst="rect">
            <a:avLst/>
          </a:prstGeom>
          <a:noFill/>
        </p:spPr>
        <p:txBody>
          <a:bodyPr wrap="none" lIns="90762" tIns="90762" rIns="90762" bIns="90762" rtlCol="0" anchor="ctr">
            <a:spAutoFit/>
          </a:bodyPr>
          <a:lstStyle/>
          <a:p>
            <a:pPr marL="0" indent="0" algn="l">
              <a:buNone/>
            </a:pPr>
            <a:r>
              <a:rPr lang="en-US" sz="1265" dirty="0">
                <a:solidFill>
                  <a:srgbClr val="E6EDF3"/>
                </a:solidFill>
                <a:latin typeface="JetBrains Mono" pitchFamily="34" charset="0"/>
                <a:ea typeface="JetBrains Mono" pitchFamily="34" charset="-122"/>
                <a:cs typeface="JetBrains Mono" pitchFamily="34" charset="-120"/>
              </a:rPr>
              <a:t>+</a:t>
            </a:r>
            <a:endParaRPr lang="en-US" sz="1265" dirty="0"/>
          </a:p>
        </p:txBody>
      </p:sp>
      <p:sp>
        <p:nvSpPr>
          <p:cNvPr id="31" name="Text 28"/>
          <p:cNvSpPr/>
          <p:nvPr/>
        </p:nvSpPr>
        <p:spPr>
          <a:xfrm>
            <a:off x="4348237" y="5734510"/>
            <a:ext cx="481965" cy="374650"/>
          </a:xfrm>
          <a:prstGeom prst="rect">
            <a:avLst/>
          </a:prstGeom>
          <a:noFill/>
        </p:spPr>
        <p:txBody>
          <a:bodyPr wrap="none" lIns="90762" tIns="90762" rIns="90762" bIns="90762" rtlCol="0" anchor="ctr">
            <a:spAutoFit/>
          </a:bodyPr>
          <a:lstStyle/>
          <a:p>
            <a:pPr marL="0" indent="0" algn="l">
              <a:buNone/>
            </a:pPr>
            <a:r>
              <a:rPr lang="en-US" sz="1265" dirty="0">
                <a:solidFill>
                  <a:srgbClr val="00FF9C"/>
                </a:solidFill>
                <a:latin typeface="JetBrains Mono" pitchFamily="34" charset="0"/>
                <a:ea typeface="JetBrains Mono" pitchFamily="34" charset="-122"/>
                <a:cs typeface="JetBrains Mono" pitchFamily="34" charset="-120"/>
              </a:rPr>
              <a:t>%2B</a:t>
            </a:r>
            <a:endParaRPr lang="en-US" sz="1265" dirty="0"/>
          </a:p>
        </p:txBody>
      </p:sp>
      <p:sp>
        <p:nvSpPr>
          <p:cNvPr id="32" name="Shape 29"/>
          <p:cNvSpPr/>
          <p:nvPr/>
        </p:nvSpPr>
        <p:spPr>
          <a:xfrm>
            <a:off x="6210300" y="3522464"/>
            <a:ext cx="5410200" cy="2712504"/>
          </a:xfrm>
          <a:prstGeom prst="rect">
            <a:avLst/>
          </a:prstGeom>
          <a:solidFill>
            <a:srgbClr val="FF6B6B">
              <a:alpha val="5000"/>
            </a:srgbClr>
          </a:solidFill>
        </p:spPr>
      </p:sp>
      <p:sp>
        <p:nvSpPr>
          <p:cNvPr id="33" name="Shape 30"/>
          <p:cNvSpPr/>
          <p:nvPr/>
        </p:nvSpPr>
        <p:spPr>
          <a:xfrm>
            <a:off x="6210300" y="3522464"/>
            <a:ext cx="38100" cy="2712504"/>
          </a:xfrm>
          <a:prstGeom prst="rect">
            <a:avLst/>
          </a:prstGeom>
          <a:solidFill>
            <a:srgbClr val="FF6B6B"/>
          </a:solidFill>
        </p:spPr>
      </p:sp>
      <p:pic>
        <p:nvPicPr>
          <p:cNvPr id="34" name="Image 1" descr="preencoded.png"/>
          <p:cNvPicPr>
            <a:picLocks noChangeAspect="1"/>
          </p:cNvPicPr>
          <p:nvPr/>
        </p:nvPicPr>
        <p:blipFill>
          <a:blip r:embed="rId2"/>
          <a:stretch>
            <a:fillRect/>
          </a:stretch>
        </p:blipFill>
        <p:spPr>
          <a:xfrm>
            <a:off x="6324600" y="3855541"/>
            <a:ext cx="178593" cy="178296"/>
          </a:xfrm>
          <a:prstGeom prst="rect">
            <a:avLst/>
          </a:prstGeom>
        </p:spPr>
      </p:pic>
      <p:sp>
        <p:nvSpPr>
          <p:cNvPr id="35" name="Text 31"/>
          <p:cNvSpPr/>
          <p:nvPr/>
        </p:nvSpPr>
        <p:spPr>
          <a:xfrm>
            <a:off x="6503193" y="3822204"/>
            <a:ext cx="1056005" cy="184150"/>
          </a:xfrm>
          <a:prstGeom prst="rect">
            <a:avLst/>
          </a:prstGeom>
          <a:noFill/>
        </p:spPr>
        <p:txBody>
          <a:bodyPr wrap="none" lIns="0" tIns="0" rIns="0" bIns="0" rtlCol="0" anchor="t">
            <a:spAutoFit/>
          </a:bodyPr>
          <a:lstStyle/>
          <a:p>
            <a:pPr marL="0" indent="0" algn="l">
              <a:buNone/>
            </a:pPr>
            <a:r>
              <a:rPr lang="en-US" sz="1200" b="1" dirty="0">
                <a:solidFill>
                  <a:srgbClr val="FF6B6B"/>
                </a:solidFill>
                <a:latin typeface="Poppins Bold" pitchFamily="34" charset="0"/>
                <a:ea typeface="Poppins Bold" pitchFamily="34" charset="-122"/>
                <a:cs typeface="Poppins Bold" pitchFamily="34" charset="-120"/>
              </a:rPr>
              <a:t>Security Impact</a:t>
            </a:r>
            <a:endParaRPr lang="en-US" sz="1200" dirty="0"/>
          </a:p>
        </p:txBody>
      </p:sp>
      <p:sp>
        <p:nvSpPr>
          <p:cNvPr id="36" name="Text 32"/>
          <p:cNvSpPr/>
          <p:nvPr/>
        </p:nvSpPr>
        <p:spPr>
          <a:xfrm>
            <a:off x="6324600" y="4196060"/>
            <a:ext cx="5181600" cy="655955"/>
          </a:xfrm>
          <a:prstGeom prst="rect">
            <a:avLst/>
          </a:prstGeom>
          <a:noFill/>
        </p:spPr>
        <p:txBody>
          <a:bodyPr wrap="square" lIns="0" tIns="0" rIns="0" bIns="0" rtlCol="0" anchor="t">
            <a:spAutoFit/>
          </a:bodyPr>
          <a:lstStyle/>
          <a:p>
            <a:pPr marL="0" indent="0" algn="l">
              <a:lnSpc>
                <a:spcPct val="112000"/>
              </a:lnSpc>
              <a:buNone/>
            </a:pPr>
            <a:r>
              <a:rPr lang="en-US" sz="1265" dirty="0">
                <a:solidFill>
                  <a:srgbClr val="E6EDF3"/>
                </a:solidFill>
                <a:latin typeface="Inter" pitchFamily="34" charset="0"/>
                <a:ea typeface="Inter" pitchFamily="34" charset="-122"/>
                <a:cs typeface="Inter" pitchFamily="34" charset="-120"/>
              </a:rPr>
              <a:t>URL encoding is vital for identifying </a:t>
            </a:r>
            <a:r>
              <a:rPr lang="en-US" sz="1265" dirty="0">
                <a:solidFill>
                  <a:srgbClr val="FF6B6B"/>
                </a:solidFill>
                <a:latin typeface="Inter" pitchFamily="34" charset="0"/>
                <a:ea typeface="Inter" pitchFamily="34" charset="-122"/>
                <a:cs typeface="Inter" pitchFamily="34" charset="-120"/>
              </a:rPr>
              <a:t>XSS (Cross-Site Scripting)</a:t>
            </a:r>
            <a:r>
              <a:rPr lang="en-US" sz="1265" dirty="0">
                <a:solidFill>
                  <a:srgbClr val="E6EDF3"/>
                </a:solidFill>
                <a:latin typeface="Inter" pitchFamily="34" charset="0"/>
                <a:ea typeface="Inter" pitchFamily="34" charset="-122"/>
                <a:cs typeface="Inter" pitchFamily="34" charset="-120"/>
              </a:rPr>
              <a:t> and </a:t>
            </a:r>
            <a:r>
              <a:rPr lang="en-US" sz="1265" dirty="0">
                <a:solidFill>
                  <a:srgbClr val="FF6B6B"/>
                </a:solidFill>
                <a:latin typeface="Inter" pitchFamily="34" charset="0"/>
                <a:ea typeface="Inter" pitchFamily="34" charset="-122"/>
                <a:cs typeface="Inter" pitchFamily="34" charset="-120"/>
              </a:rPr>
              <a:t>Injection</a:t>
            </a:r>
            <a:r>
              <a:rPr lang="en-US" sz="1265" dirty="0">
                <a:solidFill>
                  <a:srgbClr val="E6EDF3"/>
                </a:solidFill>
                <a:latin typeface="Inter" pitchFamily="34" charset="0"/>
                <a:ea typeface="Inter" pitchFamily="34" charset="-122"/>
                <a:cs typeface="Inter" pitchFamily="34" charset="-120"/>
              </a:rPr>
              <a:t> attacks. Attackers often use encoded payloads to bypass simple text filters.</a:t>
            </a:r>
            <a:endParaRPr lang="en-US" sz="1265" dirty="0"/>
          </a:p>
        </p:txBody>
      </p:sp>
      <p:sp>
        <p:nvSpPr>
          <p:cNvPr id="37" name="Text 33"/>
          <p:cNvSpPr/>
          <p:nvPr/>
        </p:nvSpPr>
        <p:spPr>
          <a:xfrm>
            <a:off x="6324600" y="4992328"/>
            <a:ext cx="5181600" cy="174625"/>
          </a:xfrm>
          <a:prstGeom prst="rect">
            <a:avLst/>
          </a:prstGeom>
          <a:noFill/>
        </p:spPr>
        <p:txBody>
          <a:bodyPr wrap="square" lIns="0" tIns="0" rIns="0" bIns="0" rtlCol="0" anchor="t">
            <a:spAutoFit/>
          </a:bodyPr>
          <a:lstStyle/>
          <a:p>
            <a:pPr marL="0" indent="0" algn="l">
              <a:buNone/>
            </a:pPr>
            <a:r>
              <a:rPr lang="en-US" sz="1135" dirty="0">
                <a:solidFill>
                  <a:srgbClr val="8B949E"/>
                </a:solidFill>
                <a:latin typeface="JetBrains Mono" pitchFamily="34" charset="0"/>
                <a:ea typeface="JetBrains Mono" pitchFamily="34" charset="-122"/>
                <a:cs typeface="JetBrains Mono" pitchFamily="34" charset="-120"/>
              </a:rPr>
              <a:t>* Day 5: We will use this to bypass web application firewalls (WAFs).</a:t>
            </a:r>
            <a:endParaRPr lang="en-US" sz="1135" dirty="0"/>
          </a:p>
        </p:txBody>
      </p:sp>
      <p:grpSp>
        <p:nvGrpSpPr>
          <p:cNvPr id="38" name="Group 2"/>
          <p:cNvGrpSpPr/>
          <p:nvPr/>
        </p:nvGrpSpPr>
        <p:grpSpPr>
          <a:xfrm rot="0">
            <a:off x="294640" y="194310"/>
            <a:ext cx="789305" cy="299720"/>
            <a:chOff x="0" y="0"/>
            <a:chExt cx="341337" cy="102463"/>
          </a:xfrm>
        </p:grpSpPr>
        <p:sp>
          <p:nvSpPr>
            <p:cNvPr id="39"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0"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1" name="Group 5"/>
          <p:cNvGrpSpPr/>
          <p:nvPr/>
        </p:nvGrpSpPr>
        <p:grpSpPr>
          <a:xfrm rot="0">
            <a:off x="822325" y="209550"/>
            <a:ext cx="220980" cy="246380"/>
            <a:chOff x="0" y="0"/>
            <a:chExt cx="812800" cy="812800"/>
          </a:xfrm>
        </p:grpSpPr>
        <p:sp>
          <p:nvSpPr>
            <p:cNvPr id="42"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3"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4"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5"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46"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58A6FF"/>
                </a:solidFill>
                <a:latin typeface="Poppins Bold" pitchFamily="34" charset="0"/>
                <a:ea typeface="Poppins Bold" pitchFamily="34" charset="-122"/>
                <a:cs typeface="Poppins Bold" pitchFamily="34" charset="-120"/>
              </a:rPr>
              <a:t>CYBERCHEF: YOUR SWISS ARMY KNIFE</a:t>
            </a:r>
            <a:endParaRPr lang="en-US" sz="3265" dirty="0"/>
          </a:p>
        </p:txBody>
      </p:sp>
      <p:sp>
        <p:nvSpPr>
          <p:cNvPr id="4" name="Text 1"/>
          <p:cNvSpPr/>
          <p:nvPr/>
        </p:nvSpPr>
        <p:spPr>
          <a:xfrm>
            <a:off x="571500" y="2003227"/>
            <a:ext cx="11049000" cy="606425"/>
          </a:xfrm>
          <a:prstGeom prst="rect">
            <a:avLst/>
          </a:prstGeom>
          <a:noFill/>
        </p:spPr>
        <p:txBody>
          <a:bodyPr wrap="square" lIns="0" tIns="0" rIns="0" bIns="0" rtlCol="0" anchor="t">
            <a:spAutoFit/>
          </a:bodyPr>
          <a:lstStyle/>
          <a:p>
            <a:pPr marL="0" indent="0" algn="l">
              <a:lnSpc>
                <a:spcPct val="128000"/>
              </a:lnSpc>
              <a:buNone/>
            </a:pPr>
            <a:r>
              <a:rPr lang="en-US" sz="1535" dirty="0">
                <a:solidFill>
                  <a:srgbClr val="8B949E"/>
                </a:solidFill>
                <a:latin typeface="Inter" pitchFamily="34" charset="0"/>
                <a:ea typeface="Inter" pitchFamily="34" charset="-122"/>
                <a:cs typeface="Inter" pitchFamily="34" charset="-120"/>
              </a:rPr>
              <a:t>Developed by GCHQ, </a:t>
            </a:r>
            <a:r>
              <a:rPr lang="en-US" sz="1465" b="1" dirty="0">
                <a:solidFill>
                  <a:srgbClr val="8B949E"/>
                </a:solidFill>
                <a:latin typeface="Inter" pitchFamily="34" charset="0"/>
                <a:ea typeface="Inter" pitchFamily="34" charset="-122"/>
                <a:cs typeface="Inter" pitchFamily="34" charset="-120"/>
              </a:rPr>
              <a:t>CyberChef</a:t>
            </a:r>
            <a:r>
              <a:rPr lang="en-US" sz="1535" dirty="0">
                <a:solidFill>
                  <a:srgbClr val="8B949E"/>
                </a:solidFill>
                <a:latin typeface="Inter" pitchFamily="34" charset="0"/>
                <a:ea typeface="Inter" pitchFamily="34" charset="-122"/>
                <a:cs typeface="Inter" pitchFamily="34" charset="-120"/>
              </a:rPr>
              <a:t> is a web app for carrying out all manner of "cyber" operations within a browser. It allows you to chain complex data transformations into a simple "recipe".</a:t>
            </a:r>
            <a:endParaRPr lang="en-US" sz="1535" dirty="0"/>
          </a:p>
        </p:txBody>
      </p:sp>
      <p:sp>
        <p:nvSpPr>
          <p:cNvPr id="5" name="Shape 2"/>
          <p:cNvSpPr/>
          <p:nvPr/>
        </p:nvSpPr>
        <p:spPr>
          <a:xfrm>
            <a:off x="571500" y="2769021"/>
            <a:ext cx="3606775" cy="3398416"/>
          </a:xfrm>
          <a:prstGeom prst="rect">
            <a:avLst/>
          </a:prstGeom>
          <a:solidFill>
            <a:srgbClr val="161B22"/>
          </a:solidFill>
          <a:ln w="9144">
            <a:solidFill>
              <a:srgbClr val="30363D"/>
            </a:solidFill>
            <a:prstDash val="solid"/>
          </a:ln>
        </p:spPr>
      </p:sp>
      <p:sp>
        <p:nvSpPr>
          <p:cNvPr id="6" name="Shape 3"/>
          <p:cNvSpPr/>
          <p:nvPr/>
        </p:nvSpPr>
        <p:spPr>
          <a:xfrm>
            <a:off x="571500" y="2769021"/>
            <a:ext cx="3606775" cy="426244"/>
          </a:xfrm>
          <a:prstGeom prst="rect">
            <a:avLst/>
          </a:prstGeom>
          <a:solidFill>
            <a:srgbClr val="1F2937"/>
          </a:solidFill>
        </p:spPr>
      </p:sp>
      <p:sp>
        <p:nvSpPr>
          <p:cNvPr id="7" name="Shape 4"/>
          <p:cNvSpPr/>
          <p:nvPr/>
        </p:nvSpPr>
        <p:spPr>
          <a:xfrm>
            <a:off x="571500" y="3185740"/>
            <a:ext cx="3606775" cy="9525"/>
          </a:xfrm>
          <a:prstGeom prst="rect">
            <a:avLst/>
          </a:prstGeom>
          <a:solidFill>
            <a:srgbClr val="30363D"/>
          </a:solidFill>
        </p:spPr>
      </p:sp>
      <p:sp>
        <p:nvSpPr>
          <p:cNvPr id="8" name="Text 5"/>
          <p:cNvSpPr/>
          <p:nvPr/>
        </p:nvSpPr>
        <p:spPr>
          <a:xfrm>
            <a:off x="571500" y="2769021"/>
            <a:ext cx="3606775" cy="400685"/>
          </a:xfrm>
          <a:prstGeom prst="rect">
            <a:avLst/>
          </a:prstGeom>
          <a:noFill/>
        </p:spPr>
        <p:txBody>
          <a:bodyPr wrap="square" lIns="170010" tIns="113453" rIns="170010" bIns="113453" rtlCol="0" anchor="t">
            <a:spAutoFit/>
          </a:bodyPr>
          <a:lstStyle/>
          <a:p>
            <a:pPr marL="0" indent="0" algn="l">
              <a:buNone/>
            </a:pPr>
            <a:r>
              <a:rPr lang="en-US" sz="1135" dirty="0">
                <a:solidFill>
                  <a:srgbClr val="58A6FF"/>
                </a:solidFill>
                <a:latin typeface="Poppins Bold" pitchFamily="34" charset="0"/>
                <a:ea typeface="Poppins Bold" pitchFamily="34" charset="-122"/>
                <a:cs typeface="Poppins Bold" pitchFamily="34" charset="-120"/>
              </a:rPr>
              <a:t>OPERATIONS</a:t>
            </a:r>
            <a:endParaRPr lang="en-US" sz="1135" dirty="0"/>
          </a:p>
        </p:txBody>
      </p:sp>
      <p:sp>
        <p:nvSpPr>
          <p:cNvPr id="9" name="Shape 6"/>
          <p:cNvSpPr/>
          <p:nvPr/>
        </p:nvSpPr>
        <p:spPr>
          <a:xfrm>
            <a:off x="666751" y="3280991"/>
            <a:ext cx="3416275" cy="352425"/>
          </a:xfrm>
          <a:prstGeom prst="rect">
            <a:avLst/>
          </a:prstGeom>
          <a:solidFill>
            <a:srgbClr val="0D1117"/>
          </a:solidFill>
        </p:spPr>
      </p:sp>
      <p:sp>
        <p:nvSpPr>
          <p:cNvPr id="10" name="Shape 7"/>
          <p:cNvSpPr/>
          <p:nvPr/>
        </p:nvSpPr>
        <p:spPr>
          <a:xfrm>
            <a:off x="666751" y="3280991"/>
            <a:ext cx="28575" cy="352425"/>
          </a:xfrm>
          <a:prstGeom prst="rect">
            <a:avLst/>
          </a:prstGeom>
          <a:solidFill>
            <a:srgbClr val="00FF9C"/>
          </a:solidFill>
        </p:spPr>
      </p:sp>
      <p:sp>
        <p:nvSpPr>
          <p:cNvPr id="11" name="Text 8"/>
          <p:cNvSpPr/>
          <p:nvPr/>
        </p:nvSpPr>
        <p:spPr>
          <a:xfrm>
            <a:off x="666751" y="3280991"/>
            <a:ext cx="3416275" cy="354965"/>
          </a:xfrm>
          <a:prstGeom prst="rect">
            <a:avLst/>
          </a:prstGeom>
          <a:noFill/>
        </p:spPr>
        <p:txBody>
          <a:bodyPr wrap="square" lIns="90762" tIns="90762" rIns="90762" bIns="90762" rtlCol="0" anchor="t">
            <a:spAutoFit/>
          </a:bodyPr>
          <a:lstStyle/>
          <a:p>
            <a:pPr marL="0" indent="0" algn="l">
              <a:buNone/>
            </a:pPr>
            <a:r>
              <a:rPr lang="en-US" sz="1135" dirty="0">
                <a:solidFill>
                  <a:srgbClr val="8B949E"/>
                </a:solidFill>
                <a:latin typeface="JetBrains Mono" pitchFamily="34" charset="0"/>
                <a:ea typeface="JetBrains Mono" pitchFamily="34" charset="-122"/>
                <a:cs typeface="JetBrains Mono" pitchFamily="34" charset="-120"/>
              </a:rPr>
              <a:t>From Base64</a:t>
            </a:r>
            <a:endParaRPr lang="en-US" sz="1135" dirty="0"/>
          </a:p>
        </p:txBody>
      </p:sp>
      <p:sp>
        <p:nvSpPr>
          <p:cNvPr id="12" name="Shape 9"/>
          <p:cNvSpPr/>
          <p:nvPr/>
        </p:nvSpPr>
        <p:spPr>
          <a:xfrm>
            <a:off x="666751" y="3681040"/>
            <a:ext cx="3416275" cy="352425"/>
          </a:xfrm>
          <a:prstGeom prst="rect">
            <a:avLst/>
          </a:prstGeom>
          <a:solidFill>
            <a:srgbClr val="0D1117"/>
          </a:solidFill>
        </p:spPr>
      </p:sp>
      <p:sp>
        <p:nvSpPr>
          <p:cNvPr id="13" name="Shape 10"/>
          <p:cNvSpPr/>
          <p:nvPr/>
        </p:nvSpPr>
        <p:spPr>
          <a:xfrm>
            <a:off x="666751" y="3681040"/>
            <a:ext cx="28575" cy="352425"/>
          </a:xfrm>
          <a:prstGeom prst="rect">
            <a:avLst/>
          </a:prstGeom>
          <a:solidFill>
            <a:srgbClr val="00FF9C"/>
          </a:solidFill>
        </p:spPr>
      </p:sp>
      <p:sp>
        <p:nvSpPr>
          <p:cNvPr id="14" name="Text 11"/>
          <p:cNvSpPr/>
          <p:nvPr/>
        </p:nvSpPr>
        <p:spPr>
          <a:xfrm>
            <a:off x="666751" y="3681040"/>
            <a:ext cx="3416275" cy="354965"/>
          </a:xfrm>
          <a:prstGeom prst="rect">
            <a:avLst/>
          </a:prstGeom>
          <a:noFill/>
        </p:spPr>
        <p:txBody>
          <a:bodyPr wrap="square" lIns="90762" tIns="90762" rIns="90762" bIns="90762" rtlCol="0" anchor="t">
            <a:spAutoFit/>
          </a:bodyPr>
          <a:lstStyle/>
          <a:p>
            <a:pPr marL="0" indent="0" algn="l">
              <a:buNone/>
            </a:pPr>
            <a:r>
              <a:rPr lang="en-US" sz="1135" dirty="0">
                <a:solidFill>
                  <a:srgbClr val="8B949E"/>
                </a:solidFill>
                <a:latin typeface="JetBrains Mono" pitchFamily="34" charset="0"/>
                <a:ea typeface="JetBrains Mono" pitchFamily="34" charset="-122"/>
                <a:cs typeface="JetBrains Mono" pitchFamily="34" charset="-120"/>
              </a:rPr>
              <a:t>To Hex</a:t>
            </a:r>
            <a:endParaRPr lang="en-US" sz="1135" dirty="0"/>
          </a:p>
        </p:txBody>
      </p:sp>
      <p:sp>
        <p:nvSpPr>
          <p:cNvPr id="15" name="Shape 12"/>
          <p:cNvSpPr/>
          <p:nvPr/>
        </p:nvSpPr>
        <p:spPr>
          <a:xfrm>
            <a:off x="666751" y="4081091"/>
            <a:ext cx="3416275" cy="352425"/>
          </a:xfrm>
          <a:prstGeom prst="rect">
            <a:avLst/>
          </a:prstGeom>
          <a:solidFill>
            <a:srgbClr val="0D1117"/>
          </a:solidFill>
        </p:spPr>
      </p:sp>
      <p:sp>
        <p:nvSpPr>
          <p:cNvPr id="16" name="Shape 13"/>
          <p:cNvSpPr/>
          <p:nvPr/>
        </p:nvSpPr>
        <p:spPr>
          <a:xfrm>
            <a:off x="666751" y="4081091"/>
            <a:ext cx="28575" cy="352425"/>
          </a:xfrm>
          <a:prstGeom prst="rect">
            <a:avLst/>
          </a:prstGeom>
          <a:solidFill>
            <a:srgbClr val="00FF9C"/>
          </a:solidFill>
        </p:spPr>
      </p:sp>
      <p:sp>
        <p:nvSpPr>
          <p:cNvPr id="17" name="Text 14"/>
          <p:cNvSpPr/>
          <p:nvPr/>
        </p:nvSpPr>
        <p:spPr>
          <a:xfrm>
            <a:off x="666751" y="4081091"/>
            <a:ext cx="3416275" cy="354965"/>
          </a:xfrm>
          <a:prstGeom prst="rect">
            <a:avLst/>
          </a:prstGeom>
          <a:noFill/>
        </p:spPr>
        <p:txBody>
          <a:bodyPr wrap="square" lIns="90762" tIns="90762" rIns="90762" bIns="90762" rtlCol="0" anchor="t">
            <a:spAutoFit/>
          </a:bodyPr>
          <a:lstStyle/>
          <a:p>
            <a:pPr marL="0" indent="0" algn="l">
              <a:buNone/>
            </a:pPr>
            <a:r>
              <a:rPr lang="en-US" sz="1135" dirty="0">
                <a:solidFill>
                  <a:srgbClr val="8B949E"/>
                </a:solidFill>
                <a:latin typeface="JetBrains Mono" pitchFamily="34" charset="0"/>
                <a:ea typeface="JetBrains Mono" pitchFamily="34" charset="-122"/>
                <a:cs typeface="JetBrains Mono" pitchFamily="34" charset="-120"/>
              </a:rPr>
              <a:t>ROT13</a:t>
            </a:r>
            <a:endParaRPr lang="en-US" sz="1135" dirty="0"/>
          </a:p>
        </p:txBody>
      </p:sp>
      <p:sp>
        <p:nvSpPr>
          <p:cNvPr id="18" name="Shape 15"/>
          <p:cNvSpPr/>
          <p:nvPr/>
        </p:nvSpPr>
        <p:spPr>
          <a:xfrm>
            <a:off x="666751" y="4481140"/>
            <a:ext cx="3416275" cy="352425"/>
          </a:xfrm>
          <a:prstGeom prst="rect">
            <a:avLst/>
          </a:prstGeom>
          <a:solidFill>
            <a:srgbClr val="0D1117"/>
          </a:solidFill>
        </p:spPr>
      </p:sp>
      <p:sp>
        <p:nvSpPr>
          <p:cNvPr id="19" name="Shape 16"/>
          <p:cNvSpPr/>
          <p:nvPr/>
        </p:nvSpPr>
        <p:spPr>
          <a:xfrm>
            <a:off x="666751" y="4481140"/>
            <a:ext cx="28575" cy="352425"/>
          </a:xfrm>
          <a:prstGeom prst="rect">
            <a:avLst/>
          </a:prstGeom>
          <a:solidFill>
            <a:srgbClr val="00FF9C"/>
          </a:solidFill>
        </p:spPr>
      </p:sp>
      <p:sp>
        <p:nvSpPr>
          <p:cNvPr id="20" name="Text 17"/>
          <p:cNvSpPr/>
          <p:nvPr/>
        </p:nvSpPr>
        <p:spPr>
          <a:xfrm>
            <a:off x="666751" y="4481140"/>
            <a:ext cx="3416275" cy="354965"/>
          </a:xfrm>
          <a:prstGeom prst="rect">
            <a:avLst/>
          </a:prstGeom>
          <a:noFill/>
        </p:spPr>
        <p:txBody>
          <a:bodyPr wrap="square" lIns="90762" tIns="90762" rIns="90762" bIns="90762" rtlCol="0" anchor="t">
            <a:spAutoFit/>
          </a:bodyPr>
          <a:lstStyle/>
          <a:p>
            <a:pPr marL="0" indent="0" algn="l">
              <a:buNone/>
            </a:pPr>
            <a:r>
              <a:rPr lang="en-US" sz="1135" dirty="0">
                <a:solidFill>
                  <a:srgbClr val="8B949E"/>
                </a:solidFill>
                <a:latin typeface="JetBrains Mono" pitchFamily="34" charset="0"/>
                <a:ea typeface="JetBrains Mono" pitchFamily="34" charset="-122"/>
                <a:cs typeface="JetBrains Mono" pitchFamily="34" charset="-120"/>
              </a:rPr>
              <a:t>XOR</a:t>
            </a:r>
            <a:endParaRPr lang="en-US" sz="1135" dirty="0"/>
          </a:p>
        </p:txBody>
      </p:sp>
      <p:sp>
        <p:nvSpPr>
          <p:cNvPr id="21" name="Shape 18"/>
          <p:cNvSpPr/>
          <p:nvPr/>
        </p:nvSpPr>
        <p:spPr>
          <a:xfrm>
            <a:off x="666751" y="4881191"/>
            <a:ext cx="3416275" cy="352425"/>
          </a:xfrm>
          <a:prstGeom prst="rect">
            <a:avLst/>
          </a:prstGeom>
          <a:solidFill>
            <a:srgbClr val="0D1117"/>
          </a:solidFill>
        </p:spPr>
      </p:sp>
      <p:sp>
        <p:nvSpPr>
          <p:cNvPr id="22" name="Shape 19"/>
          <p:cNvSpPr/>
          <p:nvPr/>
        </p:nvSpPr>
        <p:spPr>
          <a:xfrm>
            <a:off x="666751" y="4881191"/>
            <a:ext cx="28575" cy="352425"/>
          </a:xfrm>
          <a:prstGeom prst="rect">
            <a:avLst/>
          </a:prstGeom>
          <a:solidFill>
            <a:srgbClr val="00FF9C"/>
          </a:solidFill>
        </p:spPr>
      </p:sp>
      <p:sp>
        <p:nvSpPr>
          <p:cNvPr id="23" name="Text 20"/>
          <p:cNvSpPr/>
          <p:nvPr/>
        </p:nvSpPr>
        <p:spPr>
          <a:xfrm>
            <a:off x="666751" y="4881191"/>
            <a:ext cx="3416275" cy="354965"/>
          </a:xfrm>
          <a:prstGeom prst="rect">
            <a:avLst/>
          </a:prstGeom>
          <a:noFill/>
        </p:spPr>
        <p:txBody>
          <a:bodyPr wrap="square" lIns="90762" tIns="90762" rIns="90762" bIns="90762" rtlCol="0" anchor="t">
            <a:spAutoFit/>
          </a:bodyPr>
          <a:lstStyle/>
          <a:p>
            <a:pPr marL="0" indent="0" algn="l">
              <a:buNone/>
            </a:pPr>
            <a:r>
              <a:rPr lang="en-US" sz="1135" dirty="0">
                <a:solidFill>
                  <a:srgbClr val="8B949E"/>
                </a:solidFill>
                <a:latin typeface="JetBrains Mono" pitchFamily="34" charset="0"/>
                <a:ea typeface="JetBrains Mono" pitchFamily="34" charset="-122"/>
                <a:cs typeface="JetBrains Mono" pitchFamily="34" charset="-120"/>
              </a:rPr>
              <a:t>AES Decrypt</a:t>
            </a:r>
            <a:endParaRPr lang="en-US" sz="1135" dirty="0"/>
          </a:p>
        </p:txBody>
      </p:sp>
      <p:sp>
        <p:nvSpPr>
          <p:cNvPr id="24" name="Shape 21"/>
          <p:cNvSpPr/>
          <p:nvPr/>
        </p:nvSpPr>
        <p:spPr>
          <a:xfrm>
            <a:off x="4292575" y="2769021"/>
            <a:ext cx="3606812" cy="3398416"/>
          </a:xfrm>
          <a:prstGeom prst="rect">
            <a:avLst/>
          </a:prstGeom>
          <a:solidFill>
            <a:srgbClr val="161B22"/>
          </a:solidFill>
          <a:ln w="9144">
            <a:solidFill>
              <a:srgbClr val="30363D"/>
            </a:solidFill>
            <a:prstDash val="solid"/>
          </a:ln>
        </p:spPr>
      </p:sp>
      <p:sp>
        <p:nvSpPr>
          <p:cNvPr id="25" name="Shape 22"/>
          <p:cNvSpPr/>
          <p:nvPr/>
        </p:nvSpPr>
        <p:spPr>
          <a:xfrm>
            <a:off x="4292575" y="2769021"/>
            <a:ext cx="3606812" cy="426244"/>
          </a:xfrm>
          <a:prstGeom prst="rect">
            <a:avLst/>
          </a:prstGeom>
          <a:solidFill>
            <a:srgbClr val="1F2937"/>
          </a:solidFill>
        </p:spPr>
      </p:sp>
      <p:sp>
        <p:nvSpPr>
          <p:cNvPr id="26" name="Shape 23"/>
          <p:cNvSpPr/>
          <p:nvPr/>
        </p:nvSpPr>
        <p:spPr>
          <a:xfrm>
            <a:off x="4292575" y="3185740"/>
            <a:ext cx="3606812" cy="9525"/>
          </a:xfrm>
          <a:prstGeom prst="rect">
            <a:avLst/>
          </a:prstGeom>
          <a:solidFill>
            <a:srgbClr val="30363D"/>
          </a:solidFill>
        </p:spPr>
      </p:sp>
      <p:sp>
        <p:nvSpPr>
          <p:cNvPr id="27" name="Text 24"/>
          <p:cNvSpPr/>
          <p:nvPr/>
        </p:nvSpPr>
        <p:spPr>
          <a:xfrm>
            <a:off x="4292575" y="2769021"/>
            <a:ext cx="3606812" cy="400685"/>
          </a:xfrm>
          <a:prstGeom prst="rect">
            <a:avLst/>
          </a:prstGeom>
          <a:noFill/>
        </p:spPr>
        <p:txBody>
          <a:bodyPr wrap="square" lIns="170010" tIns="113453" rIns="170010" bIns="113453" rtlCol="0" anchor="t">
            <a:spAutoFit/>
          </a:bodyPr>
          <a:lstStyle/>
          <a:p>
            <a:pPr marL="0" indent="0" algn="l">
              <a:buNone/>
            </a:pPr>
            <a:r>
              <a:rPr lang="en-US" sz="1135" dirty="0">
                <a:solidFill>
                  <a:srgbClr val="58A6FF"/>
                </a:solidFill>
                <a:latin typeface="Poppins Bold" pitchFamily="34" charset="0"/>
                <a:ea typeface="Poppins Bold" pitchFamily="34" charset="-122"/>
                <a:cs typeface="Poppins Bold" pitchFamily="34" charset="-120"/>
              </a:rPr>
              <a:t>RECIPE</a:t>
            </a:r>
            <a:endParaRPr lang="en-US" sz="1135" dirty="0"/>
          </a:p>
        </p:txBody>
      </p:sp>
      <p:sp>
        <p:nvSpPr>
          <p:cNvPr id="28" name="Shape 25"/>
          <p:cNvSpPr/>
          <p:nvPr/>
        </p:nvSpPr>
        <p:spPr>
          <a:xfrm>
            <a:off x="4387825" y="3280991"/>
            <a:ext cx="3416312" cy="371475"/>
          </a:xfrm>
          <a:prstGeom prst="rect">
            <a:avLst/>
          </a:prstGeom>
          <a:solidFill>
            <a:srgbClr val="00FF9C">
              <a:alpha val="10000"/>
            </a:srgbClr>
          </a:solidFill>
          <a:ln w="9144">
            <a:solidFill>
              <a:srgbClr val="00FF9C"/>
            </a:solidFill>
            <a:prstDash val="solid"/>
          </a:ln>
        </p:spPr>
      </p:sp>
      <p:sp>
        <p:nvSpPr>
          <p:cNvPr id="29" name="Text 26"/>
          <p:cNvSpPr/>
          <p:nvPr/>
        </p:nvSpPr>
        <p:spPr>
          <a:xfrm>
            <a:off x="4464025" y="3357191"/>
            <a:ext cx="820420" cy="174625"/>
          </a:xfrm>
          <a:prstGeom prst="rect">
            <a:avLst/>
          </a:prstGeom>
          <a:noFill/>
        </p:spPr>
        <p:txBody>
          <a:bodyPr wrap="none" lIns="0" tIns="0" rIns="0" bIns="0" rtlCol="0" anchor="t">
            <a:spAutoFit/>
          </a:bodyPr>
          <a:lstStyle/>
          <a:p>
            <a:pPr marL="0" indent="0" algn="l">
              <a:buNone/>
            </a:pPr>
            <a:r>
              <a:rPr lang="en-US" sz="1135" dirty="0">
                <a:solidFill>
                  <a:srgbClr val="00FF9C"/>
                </a:solidFill>
                <a:latin typeface="JetBrains Mono" pitchFamily="34" charset="0"/>
                <a:ea typeface="JetBrains Mono" pitchFamily="34" charset="-122"/>
                <a:cs typeface="JetBrains Mono" pitchFamily="34" charset="-120"/>
              </a:rPr>
              <a:t>From Base64</a:t>
            </a:r>
            <a:endParaRPr lang="en-US" sz="1135" dirty="0"/>
          </a:p>
        </p:txBody>
      </p:sp>
      <p:pic>
        <p:nvPicPr>
          <p:cNvPr id="30" name="Image 1" descr="preencoded.png"/>
          <p:cNvPicPr>
            <a:picLocks noChangeAspect="1"/>
          </p:cNvPicPr>
          <p:nvPr/>
        </p:nvPicPr>
        <p:blipFill>
          <a:blip r:embed="rId2">
            <a:alphaModFix amt="50000"/>
          </a:blip>
          <a:stretch>
            <a:fillRect/>
          </a:stretch>
        </p:blipFill>
        <p:spPr>
          <a:xfrm>
            <a:off x="7627925" y="3357191"/>
            <a:ext cx="100012" cy="200025"/>
          </a:xfrm>
          <a:prstGeom prst="rect">
            <a:avLst/>
          </a:prstGeom>
        </p:spPr>
      </p:pic>
      <p:sp>
        <p:nvSpPr>
          <p:cNvPr id="31" name="Shape 27"/>
          <p:cNvSpPr/>
          <p:nvPr/>
        </p:nvSpPr>
        <p:spPr>
          <a:xfrm>
            <a:off x="4387825" y="3709616"/>
            <a:ext cx="3416312" cy="371475"/>
          </a:xfrm>
          <a:prstGeom prst="rect">
            <a:avLst/>
          </a:prstGeom>
          <a:solidFill>
            <a:srgbClr val="00FF9C">
              <a:alpha val="10000"/>
            </a:srgbClr>
          </a:solidFill>
          <a:ln w="9144">
            <a:solidFill>
              <a:srgbClr val="00FF9C"/>
            </a:solidFill>
            <a:prstDash val="solid"/>
          </a:ln>
        </p:spPr>
      </p:sp>
      <p:sp>
        <p:nvSpPr>
          <p:cNvPr id="32" name="Text 28"/>
          <p:cNvSpPr/>
          <p:nvPr/>
        </p:nvSpPr>
        <p:spPr>
          <a:xfrm>
            <a:off x="4464025" y="3785816"/>
            <a:ext cx="409575" cy="174625"/>
          </a:xfrm>
          <a:prstGeom prst="rect">
            <a:avLst/>
          </a:prstGeom>
          <a:noFill/>
        </p:spPr>
        <p:txBody>
          <a:bodyPr wrap="none" lIns="0" tIns="0" rIns="0" bIns="0" rtlCol="0" anchor="t">
            <a:spAutoFit/>
          </a:bodyPr>
          <a:lstStyle/>
          <a:p>
            <a:pPr marL="0" indent="0" algn="l">
              <a:buNone/>
            </a:pPr>
            <a:r>
              <a:rPr lang="en-US" sz="1135" dirty="0">
                <a:solidFill>
                  <a:srgbClr val="00FF9C"/>
                </a:solidFill>
                <a:latin typeface="JetBrains Mono" pitchFamily="34" charset="0"/>
                <a:ea typeface="JetBrains Mono" pitchFamily="34" charset="-122"/>
                <a:cs typeface="JetBrains Mono" pitchFamily="34" charset="-120"/>
              </a:rPr>
              <a:t>ROT13</a:t>
            </a:r>
            <a:endParaRPr lang="en-US" sz="1135" dirty="0"/>
          </a:p>
        </p:txBody>
      </p:sp>
      <p:pic>
        <p:nvPicPr>
          <p:cNvPr id="33" name="Image 2" descr="preencoded.png"/>
          <p:cNvPicPr>
            <a:picLocks noChangeAspect="1"/>
          </p:cNvPicPr>
          <p:nvPr/>
        </p:nvPicPr>
        <p:blipFill>
          <a:blip r:embed="rId2">
            <a:alphaModFix amt="50000"/>
          </a:blip>
          <a:stretch>
            <a:fillRect/>
          </a:stretch>
        </p:blipFill>
        <p:spPr>
          <a:xfrm>
            <a:off x="7627925" y="3785816"/>
            <a:ext cx="100012" cy="200025"/>
          </a:xfrm>
          <a:prstGeom prst="rect">
            <a:avLst/>
          </a:prstGeom>
        </p:spPr>
      </p:pic>
      <p:sp>
        <p:nvSpPr>
          <p:cNvPr id="34" name="Shape 29"/>
          <p:cNvSpPr/>
          <p:nvPr/>
        </p:nvSpPr>
        <p:spPr>
          <a:xfrm>
            <a:off x="8013688" y="2769021"/>
            <a:ext cx="3606775" cy="3398416"/>
          </a:xfrm>
          <a:prstGeom prst="rect">
            <a:avLst/>
          </a:prstGeom>
          <a:solidFill>
            <a:srgbClr val="161B22"/>
          </a:solidFill>
          <a:ln w="9144">
            <a:solidFill>
              <a:srgbClr val="30363D"/>
            </a:solidFill>
            <a:prstDash val="solid"/>
          </a:ln>
        </p:spPr>
      </p:sp>
      <p:sp>
        <p:nvSpPr>
          <p:cNvPr id="35" name="Shape 30"/>
          <p:cNvSpPr/>
          <p:nvPr/>
        </p:nvSpPr>
        <p:spPr>
          <a:xfrm>
            <a:off x="8013688" y="2769021"/>
            <a:ext cx="3606775" cy="426244"/>
          </a:xfrm>
          <a:prstGeom prst="rect">
            <a:avLst/>
          </a:prstGeom>
          <a:solidFill>
            <a:srgbClr val="1F2937"/>
          </a:solidFill>
        </p:spPr>
      </p:sp>
      <p:sp>
        <p:nvSpPr>
          <p:cNvPr id="36" name="Shape 31"/>
          <p:cNvSpPr/>
          <p:nvPr/>
        </p:nvSpPr>
        <p:spPr>
          <a:xfrm>
            <a:off x="8013688" y="3185740"/>
            <a:ext cx="3606775" cy="9525"/>
          </a:xfrm>
          <a:prstGeom prst="rect">
            <a:avLst/>
          </a:prstGeom>
          <a:solidFill>
            <a:srgbClr val="30363D"/>
          </a:solidFill>
        </p:spPr>
      </p:sp>
      <p:sp>
        <p:nvSpPr>
          <p:cNvPr id="37" name="Text 32"/>
          <p:cNvSpPr/>
          <p:nvPr/>
        </p:nvSpPr>
        <p:spPr>
          <a:xfrm>
            <a:off x="8013688" y="2769021"/>
            <a:ext cx="3606775" cy="400685"/>
          </a:xfrm>
          <a:prstGeom prst="rect">
            <a:avLst/>
          </a:prstGeom>
          <a:noFill/>
        </p:spPr>
        <p:txBody>
          <a:bodyPr wrap="square" lIns="170010" tIns="113453" rIns="170010" bIns="113453" rtlCol="0" anchor="t">
            <a:spAutoFit/>
          </a:bodyPr>
          <a:lstStyle/>
          <a:p>
            <a:pPr marL="0" indent="0" algn="l">
              <a:buNone/>
            </a:pPr>
            <a:r>
              <a:rPr lang="en-US" sz="1135" dirty="0">
                <a:solidFill>
                  <a:srgbClr val="58A6FF"/>
                </a:solidFill>
                <a:latin typeface="Poppins Bold" pitchFamily="34" charset="0"/>
                <a:ea typeface="Poppins Bold" pitchFamily="34" charset="-122"/>
                <a:cs typeface="Poppins Bold" pitchFamily="34" charset="-120"/>
              </a:rPr>
              <a:t>OUTPUT</a:t>
            </a:r>
            <a:endParaRPr lang="en-US" sz="1135" dirty="0"/>
          </a:p>
        </p:txBody>
      </p:sp>
      <p:sp>
        <p:nvSpPr>
          <p:cNvPr id="38" name="Text 33"/>
          <p:cNvSpPr/>
          <p:nvPr/>
        </p:nvSpPr>
        <p:spPr>
          <a:xfrm>
            <a:off x="8108937" y="3280991"/>
            <a:ext cx="3416275" cy="174625"/>
          </a:xfrm>
          <a:prstGeom prst="rect">
            <a:avLst/>
          </a:prstGeom>
          <a:noFill/>
        </p:spPr>
        <p:txBody>
          <a:bodyPr wrap="square" lIns="0" tIns="0" rIns="0" bIns="0" rtlCol="0" anchor="t">
            <a:spAutoFit/>
          </a:bodyPr>
          <a:lstStyle/>
          <a:p>
            <a:pPr marL="0" indent="0" algn="l">
              <a:buNone/>
            </a:pPr>
            <a:r>
              <a:rPr lang="en-US" sz="1135" dirty="0">
                <a:solidFill>
                  <a:srgbClr val="E3B341"/>
                </a:solidFill>
                <a:latin typeface="JetBrains Mono" pitchFamily="34" charset="0"/>
                <a:ea typeface="JetBrains Mono" pitchFamily="34" charset="-122"/>
                <a:cs typeface="JetBrains Mono" pitchFamily="34" charset="-120"/>
              </a:rPr>
              <a:t>flag{cyberchef_master}</a:t>
            </a:r>
            <a:endParaRPr lang="en-US" sz="1135" dirty="0"/>
          </a:p>
        </p:txBody>
      </p:sp>
      <p:sp>
        <p:nvSpPr>
          <p:cNvPr id="39" name="Shape 34"/>
          <p:cNvSpPr/>
          <p:nvPr/>
        </p:nvSpPr>
        <p:spPr>
          <a:xfrm>
            <a:off x="571500" y="6262688"/>
            <a:ext cx="11049000" cy="481012"/>
          </a:xfrm>
          <a:prstGeom prst="rect">
            <a:avLst/>
          </a:prstGeom>
          <a:solidFill>
            <a:srgbClr val="58A6FF">
              <a:alpha val="10000"/>
            </a:srgbClr>
          </a:solidFill>
        </p:spPr>
      </p:sp>
      <p:sp>
        <p:nvSpPr>
          <p:cNvPr id="40" name="Shape 35"/>
          <p:cNvSpPr/>
          <p:nvPr/>
        </p:nvSpPr>
        <p:spPr>
          <a:xfrm>
            <a:off x="571500" y="6262688"/>
            <a:ext cx="38100" cy="481012"/>
          </a:xfrm>
          <a:prstGeom prst="rect">
            <a:avLst/>
          </a:prstGeom>
          <a:solidFill>
            <a:srgbClr val="58A6FF"/>
          </a:solidFill>
        </p:spPr>
      </p:sp>
      <p:pic>
        <p:nvPicPr>
          <p:cNvPr id="41" name="Image 3" descr="preencoded.png"/>
          <p:cNvPicPr>
            <a:picLocks noChangeAspect="1"/>
          </p:cNvPicPr>
          <p:nvPr/>
        </p:nvPicPr>
        <p:blipFill>
          <a:blip r:embed="rId3"/>
          <a:stretch>
            <a:fillRect/>
          </a:stretch>
        </p:blipFill>
        <p:spPr>
          <a:xfrm>
            <a:off x="857251" y="6407944"/>
            <a:ext cx="142875" cy="190500"/>
          </a:xfrm>
          <a:prstGeom prst="rect">
            <a:avLst/>
          </a:prstGeom>
        </p:spPr>
      </p:pic>
      <p:sp>
        <p:nvSpPr>
          <p:cNvPr id="42" name="Text 36"/>
          <p:cNvSpPr/>
          <p:nvPr/>
        </p:nvSpPr>
        <p:spPr>
          <a:xfrm>
            <a:off x="1143000" y="6376988"/>
            <a:ext cx="3314700" cy="215265"/>
          </a:xfrm>
          <a:prstGeom prst="rect">
            <a:avLst/>
          </a:prstGeom>
          <a:noFill/>
        </p:spPr>
        <p:txBody>
          <a:bodyPr wrap="square" lIns="0" tIns="0" rIns="0" bIns="0" rtlCol="0" anchor="t">
            <a:spAutoFit/>
          </a:bodyPr>
          <a:lstStyle/>
          <a:p>
            <a:pPr marL="0" indent="0" algn="l">
              <a:buNone/>
            </a:pPr>
            <a:r>
              <a:rPr lang="en-US" sz="1400" dirty="0">
                <a:solidFill>
                  <a:srgbClr val="58A6FF"/>
                </a:solidFill>
                <a:latin typeface="JetBrains Mono" pitchFamily="34" charset="0"/>
                <a:ea typeface="JetBrains Mono" pitchFamily="34" charset="-122"/>
                <a:cs typeface="JetBrains Mono" pitchFamily="34" charset="-120"/>
              </a:rPr>
              <a:t>URL: gchq.github.io/CyberChef</a:t>
            </a:r>
            <a:endParaRPr lang="en-US" sz="1400"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571500" y="687288"/>
            <a:ext cx="5229225" cy="502285"/>
          </a:xfrm>
          <a:prstGeom prst="rect">
            <a:avLst/>
          </a:prstGeom>
          <a:noFill/>
        </p:spPr>
        <p:txBody>
          <a:bodyPr wrap="square" lIns="0" tIns="0" rIns="0" bIns="0" rtlCol="0" anchor="t">
            <a:spAutoFit/>
          </a:bodyPr>
          <a:lstStyle/>
          <a:p>
            <a:pPr marL="0" indent="0" algn="l">
              <a:buNone/>
            </a:pPr>
            <a:r>
              <a:rPr lang="en-US" sz="3265" b="1" kern="0" spc="2" dirty="0">
                <a:solidFill>
                  <a:srgbClr val="58A6FF"/>
                </a:solidFill>
                <a:latin typeface="Poppins Bold" pitchFamily="34" charset="0"/>
                <a:ea typeface="Poppins Bold" pitchFamily="34" charset="-122"/>
                <a:cs typeface="Poppins Bold" pitchFamily="34" charset="-120"/>
              </a:rPr>
              <a:t>THE "MAGIC" BUTTON</a:t>
            </a:r>
            <a:endParaRPr lang="en-US" sz="3265" dirty="0"/>
          </a:p>
        </p:txBody>
      </p:sp>
      <p:sp>
        <p:nvSpPr>
          <p:cNvPr id="4" name="Shape 1"/>
          <p:cNvSpPr/>
          <p:nvPr/>
        </p:nvSpPr>
        <p:spPr>
          <a:xfrm>
            <a:off x="9567863" y="831353"/>
            <a:ext cx="2052637" cy="397669"/>
          </a:xfrm>
          <a:prstGeom prst="rect">
            <a:avLst/>
          </a:prstGeom>
          <a:solidFill>
            <a:srgbClr val="E3B341">
              <a:alpha val="20000"/>
            </a:srgbClr>
          </a:solidFill>
          <a:ln w="9144">
            <a:solidFill>
              <a:srgbClr val="E3B341"/>
            </a:solidFill>
            <a:prstDash val="solid"/>
          </a:ln>
        </p:spPr>
      </p:sp>
      <p:pic>
        <p:nvPicPr>
          <p:cNvPr id="5" name="Image 1" descr="preencoded.png"/>
          <p:cNvPicPr>
            <a:picLocks noChangeAspect="1"/>
          </p:cNvPicPr>
          <p:nvPr/>
        </p:nvPicPr>
        <p:blipFill>
          <a:blip r:embed="rId2"/>
          <a:stretch>
            <a:fillRect/>
          </a:stretch>
        </p:blipFill>
        <p:spPr>
          <a:xfrm>
            <a:off x="9739312" y="940892"/>
            <a:ext cx="192881" cy="171451"/>
          </a:xfrm>
          <a:prstGeom prst="rect">
            <a:avLst/>
          </a:prstGeom>
        </p:spPr>
      </p:pic>
      <p:sp>
        <p:nvSpPr>
          <p:cNvPr id="6" name="Text 2"/>
          <p:cNvSpPr/>
          <p:nvPr/>
        </p:nvSpPr>
        <p:spPr>
          <a:xfrm>
            <a:off x="9932193" y="917079"/>
            <a:ext cx="1263650" cy="194310"/>
          </a:xfrm>
          <a:prstGeom prst="rect">
            <a:avLst/>
          </a:prstGeom>
          <a:noFill/>
        </p:spPr>
        <p:txBody>
          <a:bodyPr wrap="none" lIns="0" tIns="0" rIns="0" bIns="0" rtlCol="0" anchor="t">
            <a:spAutoFit/>
          </a:bodyPr>
          <a:lstStyle/>
          <a:p>
            <a:pPr marL="0" indent="0" algn="l">
              <a:buNone/>
            </a:pPr>
            <a:r>
              <a:rPr lang="en-US" sz="1265" dirty="0">
                <a:solidFill>
                  <a:srgbClr val="E3B341"/>
                </a:solidFill>
                <a:latin typeface="JetBrains Mono" pitchFamily="34" charset="0"/>
                <a:ea typeface="JetBrains Mono" pitchFamily="34" charset="-122"/>
                <a:cs typeface="JetBrains Mono" pitchFamily="34" charset="-120"/>
              </a:rPr>
              <a:t>CTF SUPERPOWER</a:t>
            </a:r>
            <a:endParaRPr lang="en-US" sz="1265" dirty="0"/>
          </a:p>
        </p:txBody>
      </p:sp>
      <p:sp>
        <p:nvSpPr>
          <p:cNvPr id="7" name="Text 3"/>
          <p:cNvSpPr/>
          <p:nvPr/>
        </p:nvSpPr>
        <p:spPr>
          <a:xfrm>
            <a:off x="571500" y="2174676"/>
            <a:ext cx="4838700" cy="909320"/>
          </a:xfrm>
          <a:prstGeom prst="rect">
            <a:avLst/>
          </a:prstGeom>
          <a:noFill/>
        </p:spPr>
        <p:txBody>
          <a:bodyPr wrap="square" lIns="0" tIns="0" rIns="0" bIns="0" rtlCol="0" anchor="t">
            <a:spAutoFit/>
          </a:bodyPr>
          <a:lstStyle/>
          <a:p>
            <a:pPr marL="0" indent="0" algn="l">
              <a:lnSpc>
                <a:spcPct val="128000"/>
              </a:lnSpc>
              <a:buNone/>
            </a:pPr>
            <a:r>
              <a:rPr lang="en-US" sz="1535" dirty="0">
                <a:solidFill>
                  <a:srgbClr val="E6EDF3"/>
                </a:solidFill>
                <a:latin typeface="Inter" pitchFamily="34" charset="0"/>
                <a:ea typeface="Inter" pitchFamily="34" charset="-122"/>
                <a:cs typeface="Inter" pitchFamily="34" charset="-120"/>
              </a:rPr>
              <a:t>When you encounter unknown data in a CTF, CyberChef's </a:t>
            </a:r>
            <a:r>
              <a:rPr lang="en-US" sz="1465" b="1" dirty="0">
                <a:solidFill>
                  <a:srgbClr val="E6EDF3"/>
                </a:solidFill>
                <a:latin typeface="Inter" pitchFamily="34" charset="0"/>
                <a:ea typeface="Inter" pitchFamily="34" charset="-122"/>
                <a:cs typeface="Inter" pitchFamily="34" charset="-120"/>
              </a:rPr>
              <a:t>Magic</a:t>
            </a:r>
            <a:r>
              <a:rPr lang="en-US" sz="1535" dirty="0">
                <a:solidFill>
                  <a:srgbClr val="E6EDF3"/>
                </a:solidFill>
                <a:latin typeface="Inter" pitchFamily="34" charset="0"/>
                <a:ea typeface="Inter" pitchFamily="34" charset="-122"/>
                <a:cs typeface="Inter" pitchFamily="34" charset="-120"/>
              </a:rPr>
              <a:t> operation is your first move. It automates the "guess and check" process.</a:t>
            </a:r>
            <a:endParaRPr lang="en-US" sz="1535" dirty="0"/>
          </a:p>
        </p:txBody>
      </p:sp>
      <p:pic>
        <p:nvPicPr>
          <p:cNvPr id="8" name="Image 2" descr="preencoded.png"/>
          <p:cNvPicPr>
            <a:picLocks noChangeAspect="1"/>
          </p:cNvPicPr>
          <p:nvPr/>
        </p:nvPicPr>
        <p:blipFill>
          <a:blip r:embed="rId3"/>
          <a:stretch>
            <a:fillRect/>
          </a:stretch>
        </p:blipFill>
        <p:spPr>
          <a:xfrm>
            <a:off x="952500" y="3540063"/>
            <a:ext cx="214312" cy="171451"/>
          </a:xfrm>
          <a:prstGeom prst="rect">
            <a:avLst/>
          </a:prstGeom>
        </p:spPr>
      </p:pic>
      <p:sp>
        <p:nvSpPr>
          <p:cNvPr id="9" name="Text 4"/>
          <p:cNvSpPr/>
          <p:nvPr/>
        </p:nvSpPr>
        <p:spPr>
          <a:xfrm>
            <a:off x="1281112" y="3418619"/>
            <a:ext cx="1055370" cy="184150"/>
          </a:xfrm>
          <a:prstGeom prst="rect">
            <a:avLst/>
          </a:prstGeom>
          <a:noFill/>
        </p:spPr>
        <p:txBody>
          <a:bodyPr wrap="none" lIns="0" tIns="0" rIns="0" bIns="0" rtlCol="0" anchor="t">
            <a:spAutoFit/>
          </a:bodyPr>
          <a:lstStyle/>
          <a:p>
            <a:pPr marL="0" indent="0" algn="l">
              <a:buNone/>
            </a:pPr>
            <a:r>
              <a:rPr lang="en-US" sz="1200" b="1" dirty="0">
                <a:solidFill>
                  <a:srgbClr val="E6EDF3"/>
                </a:solidFill>
                <a:latin typeface="Inter" pitchFamily="34" charset="0"/>
                <a:ea typeface="Inter" pitchFamily="34" charset="-122"/>
                <a:cs typeface="Inter" pitchFamily="34" charset="-120"/>
              </a:rPr>
              <a:t>Auto-Detection:</a:t>
            </a:r>
            <a:endParaRPr lang="en-US" sz="1200" dirty="0"/>
          </a:p>
        </p:txBody>
      </p:sp>
      <p:sp>
        <p:nvSpPr>
          <p:cNvPr id="10" name="Text 5"/>
          <p:cNvSpPr/>
          <p:nvPr/>
        </p:nvSpPr>
        <p:spPr>
          <a:xfrm>
            <a:off x="2309031" y="3418619"/>
            <a:ext cx="3101169" cy="389255"/>
          </a:xfrm>
          <a:prstGeom prst="rect">
            <a:avLst/>
          </a:prstGeom>
          <a:noFill/>
        </p:spPr>
        <p:txBody>
          <a:bodyPr wrap="square" lIns="0" tIns="0" rIns="0" bIns="0" rtlCol="0" anchor="t">
            <a:spAutoFit/>
          </a:bodyPr>
          <a:lstStyle/>
          <a:p>
            <a:pPr marL="0" indent="0" algn="l">
              <a:buNone/>
            </a:pPr>
            <a:r>
              <a:rPr lang="en-US" sz="1265" dirty="0">
                <a:solidFill>
                  <a:srgbClr val="E6EDF3"/>
                </a:solidFill>
                <a:latin typeface="Inter" pitchFamily="34" charset="0"/>
                <a:ea typeface="Inter" pitchFamily="34" charset="-122"/>
                <a:cs typeface="Inter" pitchFamily="34" charset="-120"/>
              </a:rPr>
              <a:t>Tries hundreds of combinations to find likely plaintext.</a:t>
            </a:r>
            <a:endParaRPr lang="en-US" sz="1265" dirty="0"/>
          </a:p>
        </p:txBody>
      </p:sp>
      <p:pic>
        <p:nvPicPr>
          <p:cNvPr id="11" name="Image 3" descr="preencoded.png"/>
          <p:cNvPicPr>
            <a:picLocks noChangeAspect="1"/>
          </p:cNvPicPr>
          <p:nvPr/>
        </p:nvPicPr>
        <p:blipFill>
          <a:blip r:embed="rId4"/>
          <a:stretch>
            <a:fillRect/>
          </a:stretch>
        </p:blipFill>
        <p:spPr>
          <a:xfrm>
            <a:off x="952500" y="4097276"/>
            <a:ext cx="171451" cy="171451"/>
          </a:xfrm>
          <a:prstGeom prst="rect">
            <a:avLst/>
          </a:prstGeom>
        </p:spPr>
      </p:pic>
      <p:sp>
        <p:nvSpPr>
          <p:cNvPr id="12" name="Text 6"/>
          <p:cNvSpPr/>
          <p:nvPr/>
        </p:nvSpPr>
        <p:spPr>
          <a:xfrm>
            <a:off x="1238251" y="3975832"/>
            <a:ext cx="1231265" cy="184150"/>
          </a:xfrm>
          <a:prstGeom prst="rect">
            <a:avLst/>
          </a:prstGeom>
          <a:noFill/>
        </p:spPr>
        <p:txBody>
          <a:bodyPr wrap="none" lIns="0" tIns="0" rIns="0" bIns="0" rtlCol="0" anchor="t">
            <a:spAutoFit/>
          </a:bodyPr>
          <a:lstStyle/>
          <a:p>
            <a:pPr marL="0" indent="0" algn="l">
              <a:buNone/>
            </a:pPr>
            <a:r>
              <a:rPr lang="en-US" sz="1200" b="1" dirty="0">
                <a:solidFill>
                  <a:srgbClr val="E6EDF3"/>
                </a:solidFill>
                <a:latin typeface="Inter" pitchFamily="34" charset="0"/>
                <a:ea typeface="Inter" pitchFamily="34" charset="-122"/>
                <a:cs typeface="Inter" pitchFamily="34" charset="-120"/>
              </a:rPr>
              <a:t>Layered Decoding:</a:t>
            </a:r>
            <a:endParaRPr lang="en-US" sz="1200" dirty="0"/>
          </a:p>
        </p:txBody>
      </p:sp>
      <p:sp>
        <p:nvSpPr>
          <p:cNvPr id="13" name="Text 7"/>
          <p:cNvSpPr/>
          <p:nvPr/>
        </p:nvSpPr>
        <p:spPr>
          <a:xfrm>
            <a:off x="2237965" y="3975832"/>
            <a:ext cx="3172235" cy="389255"/>
          </a:xfrm>
          <a:prstGeom prst="rect">
            <a:avLst/>
          </a:prstGeom>
          <a:noFill/>
        </p:spPr>
        <p:txBody>
          <a:bodyPr wrap="square" lIns="0" tIns="0" rIns="0" bIns="0" rtlCol="0" anchor="t">
            <a:spAutoFit/>
          </a:bodyPr>
          <a:lstStyle/>
          <a:p>
            <a:pPr marL="0" indent="0" algn="l">
              <a:buNone/>
            </a:pPr>
            <a:r>
              <a:rPr lang="en-US" sz="1265" dirty="0">
                <a:solidFill>
                  <a:srgbClr val="E6EDF3"/>
                </a:solidFill>
                <a:latin typeface="Inter" pitchFamily="34" charset="0"/>
                <a:ea typeface="Inter" pitchFamily="34" charset="-122"/>
                <a:cs typeface="Inter" pitchFamily="34" charset="-120"/>
              </a:rPr>
              <a:t>Automatically reverses nested encodings (e.g., Hex inside Base64).</a:t>
            </a:r>
            <a:endParaRPr lang="en-US" sz="1265" dirty="0"/>
          </a:p>
        </p:txBody>
      </p:sp>
      <p:pic>
        <p:nvPicPr>
          <p:cNvPr id="14" name="Image 4" descr="preencoded.png"/>
          <p:cNvPicPr>
            <a:picLocks noChangeAspect="1"/>
          </p:cNvPicPr>
          <p:nvPr/>
        </p:nvPicPr>
        <p:blipFill>
          <a:blip r:embed="rId5"/>
          <a:stretch>
            <a:fillRect/>
          </a:stretch>
        </p:blipFill>
        <p:spPr>
          <a:xfrm>
            <a:off x="952500" y="4550904"/>
            <a:ext cx="128588" cy="171451"/>
          </a:xfrm>
          <a:prstGeom prst="rect">
            <a:avLst/>
          </a:prstGeom>
        </p:spPr>
      </p:pic>
      <p:sp>
        <p:nvSpPr>
          <p:cNvPr id="15" name="Text 8"/>
          <p:cNvSpPr/>
          <p:nvPr/>
        </p:nvSpPr>
        <p:spPr>
          <a:xfrm>
            <a:off x="1195388" y="4533044"/>
            <a:ext cx="664210" cy="184150"/>
          </a:xfrm>
          <a:prstGeom prst="rect">
            <a:avLst/>
          </a:prstGeom>
          <a:noFill/>
        </p:spPr>
        <p:txBody>
          <a:bodyPr wrap="none" lIns="0" tIns="0" rIns="0" bIns="0" rtlCol="0" anchor="t">
            <a:spAutoFit/>
          </a:bodyPr>
          <a:lstStyle/>
          <a:p>
            <a:pPr marL="0" indent="0" algn="l">
              <a:buNone/>
            </a:pPr>
            <a:r>
              <a:rPr lang="en-US" sz="1200" b="1" dirty="0">
                <a:solidFill>
                  <a:srgbClr val="E6EDF3"/>
                </a:solidFill>
                <a:latin typeface="Inter" pitchFamily="34" charset="0"/>
                <a:ea typeface="Inter" pitchFamily="34" charset="-122"/>
                <a:cs typeface="Inter" pitchFamily="34" charset="-120"/>
              </a:rPr>
              <a:t>Efficiency:</a:t>
            </a:r>
            <a:endParaRPr lang="en-US" sz="1200" dirty="0"/>
          </a:p>
        </p:txBody>
      </p:sp>
      <p:sp>
        <p:nvSpPr>
          <p:cNvPr id="16" name="Text 9"/>
          <p:cNvSpPr/>
          <p:nvPr/>
        </p:nvSpPr>
        <p:spPr>
          <a:xfrm>
            <a:off x="2155031" y="4533044"/>
            <a:ext cx="3202781" cy="194310"/>
          </a:xfrm>
          <a:prstGeom prst="rect">
            <a:avLst/>
          </a:prstGeom>
          <a:noFill/>
        </p:spPr>
        <p:txBody>
          <a:bodyPr wrap="square" lIns="0" tIns="0" rIns="0" bIns="0" rtlCol="0" anchor="t">
            <a:spAutoFit/>
          </a:bodyPr>
          <a:lstStyle/>
          <a:p>
            <a:pPr marL="0" indent="0" algn="l">
              <a:buNone/>
            </a:pPr>
            <a:r>
              <a:rPr lang="en-US" sz="1265" dirty="0">
                <a:solidFill>
                  <a:srgbClr val="E6EDF3"/>
                </a:solidFill>
                <a:latin typeface="Inter" pitchFamily="34" charset="0"/>
                <a:ea typeface="Inter" pitchFamily="34" charset="-122"/>
                <a:cs typeface="Inter" pitchFamily="34" charset="-120"/>
              </a:rPr>
              <a:t>Saves minutes of manual trial and error.</a:t>
            </a:r>
            <a:endParaRPr lang="en-US" sz="1265" dirty="0"/>
          </a:p>
        </p:txBody>
      </p:sp>
      <p:sp>
        <p:nvSpPr>
          <p:cNvPr id="17" name="Text 10"/>
          <p:cNvSpPr/>
          <p:nvPr/>
        </p:nvSpPr>
        <p:spPr>
          <a:xfrm>
            <a:off x="571500" y="5059300"/>
            <a:ext cx="4185285" cy="249555"/>
          </a:xfrm>
          <a:prstGeom prst="rect">
            <a:avLst/>
          </a:prstGeom>
          <a:noFill/>
        </p:spPr>
        <p:txBody>
          <a:bodyPr wrap="none" lIns="0" tIns="0" rIns="0" bIns="0" rtlCol="0" anchor="t">
            <a:spAutoFit/>
          </a:bodyPr>
          <a:lstStyle/>
          <a:p>
            <a:pPr marL="0" indent="0" algn="l">
              <a:lnSpc>
                <a:spcPct val="128000"/>
              </a:lnSpc>
              <a:buNone/>
            </a:pPr>
            <a:r>
              <a:rPr lang="en-US" sz="1265" i="1" dirty="0">
                <a:solidFill>
                  <a:srgbClr val="8B949E"/>
                </a:solidFill>
                <a:latin typeface="Inter" pitchFamily="34" charset="0"/>
                <a:ea typeface="Inter" pitchFamily="34" charset="-122"/>
                <a:cs typeface="Inter" pitchFamily="34" charset="-120"/>
              </a:rPr>
              <a:t>"Magic + manual verification = the fastest solving strategy."</a:t>
            </a:r>
            <a:endParaRPr lang="en-US" sz="1265" dirty="0"/>
          </a:p>
        </p:txBody>
      </p:sp>
      <p:sp>
        <p:nvSpPr>
          <p:cNvPr id="18" name="Shape 11"/>
          <p:cNvSpPr/>
          <p:nvPr/>
        </p:nvSpPr>
        <p:spPr>
          <a:xfrm>
            <a:off x="5791200" y="1965325"/>
            <a:ext cx="5829300" cy="4261485"/>
          </a:xfrm>
          <a:prstGeom prst="rect">
            <a:avLst/>
          </a:prstGeom>
          <a:solidFill>
            <a:srgbClr val="161B22"/>
          </a:solidFill>
          <a:ln w="9144">
            <a:solidFill>
              <a:srgbClr val="30363D"/>
            </a:solidFill>
            <a:prstDash val="solid"/>
          </a:ln>
        </p:spPr>
      </p:sp>
      <p:pic>
        <p:nvPicPr>
          <p:cNvPr id="19" name="Image 5" descr="preencoded.png"/>
          <p:cNvPicPr>
            <a:picLocks noChangeAspect="1"/>
          </p:cNvPicPr>
          <p:nvPr/>
        </p:nvPicPr>
        <p:blipFill>
          <a:blip r:embed="rId6"/>
          <a:stretch>
            <a:fillRect/>
          </a:stretch>
        </p:blipFill>
        <p:spPr>
          <a:xfrm>
            <a:off x="6096000" y="2309217"/>
            <a:ext cx="228600" cy="228600"/>
          </a:xfrm>
          <a:prstGeom prst="rect">
            <a:avLst/>
          </a:prstGeom>
        </p:spPr>
      </p:pic>
      <p:sp>
        <p:nvSpPr>
          <p:cNvPr id="20" name="Text 12"/>
          <p:cNvSpPr/>
          <p:nvPr/>
        </p:nvSpPr>
        <p:spPr>
          <a:xfrm>
            <a:off x="6467475" y="2250876"/>
            <a:ext cx="1807369" cy="255905"/>
          </a:xfrm>
          <a:prstGeom prst="rect">
            <a:avLst/>
          </a:prstGeom>
          <a:noFill/>
        </p:spPr>
        <p:txBody>
          <a:bodyPr wrap="square" lIns="0" tIns="0" rIns="0" bIns="0" rtlCol="0" anchor="t">
            <a:spAutoFit/>
          </a:bodyPr>
          <a:lstStyle/>
          <a:p>
            <a:pPr marL="0" indent="0" algn="l">
              <a:buNone/>
            </a:pPr>
            <a:r>
              <a:rPr lang="en-US" sz="1665" dirty="0">
                <a:solidFill>
                  <a:srgbClr val="E3B341"/>
                </a:solidFill>
                <a:latin typeface="Poppins Bold" pitchFamily="34" charset="0"/>
                <a:ea typeface="Poppins Bold" pitchFamily="34" charset="-122"/>
                <a:cs typeface="Poppins Bold" pitchFamily="34" charset="-120"/>
              </a:rPr>
              <a:t>Magic in Action</a:t>
            </a:r>
            <a:endParaRPr lang="en-US" sz="1665" dirty="0"/>
          </a:p>
        </p:txBody>
      </p:sp>
      <p:sp>
        <p:nvSpPr>
          <p:cNvPr id="21" name="Text 13"/>
          <p:cNvSpPr/>
          <p:nvPr/>
        </p:nvSpPr>
        <p:spPr>
          <a:xfrm>
            <a:off x="6096000" y="2786657"/>
            <a:ext cx="5238751"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INPUT (LAYERED DATA)</a:t>
            </a:r>
            <a:endParaRPr lang="en-US" sz="1000" dirty="0"/>
          </a:p>
        </p:txBody>
      </p:sp>
      <p:sp>
        <p:nvSpPr>
          <p:cNvPr id="22" name="Shape 14"/>
          <p:cNvSpPr/>
          <p:nvPr/>
        </p:nvSpPr>
        <p:spPr>
          <a:xfrm>
            <a:off x="6096000" y="3024783"/>
            <a:ext cx="5238751" cy="504825"/>
          </a:xfrm>
          <a:prstGeom prst="rect">
            <a:avLst/>
          </a:prstGeom>
          <a:solidFill>
            <a:srgbClr val="0D1117"/>
          </a:solidFill>
          <a:ln w="9144">
            <a:solidFill>
              <a:srgbClr val="30363D"/>
            </a:solidFill>
            <a:prstDash val="solid"/>
          </a:ln>
        </p:spPr>
      </p:sp>
      <p:sp>
        <p:nvSpPr>
          <p:cNvPr id="23" name="Text 15"/>
          <p:cNvSpPr/>
          <p:nvPr/>
        </p:nvSpPr>
        <p:spPr>
          <a:xfrm>
            <a:off x="6096000" y="3024783"/>
            <a:ext cx="5238751" cy="513715"/>
          </a:xfrm>
          <a:prstGeom prst="rect">
            <a:avLst/>
          </a:prstGeom>
          <a:noFill/>
        </p:spPr>
        <p:txBody>
          <a:bodyPr wrap="square" lIns="170010" tIns="170010" rIns="170010" bIns="170010" rtlCol="0" anchor="t">
            <a:spAutoFit/>
          </a:bodyPr>
          <a:lstStyle/>
          <a:p>
            <a:pPr marL="0" indent="0" algn="l">
              <a:buNone/>
            </a:pPr>
            <a:r>
              <a:rPr lang="en-US" sz="1135" dirty="0">
                <a:solidFill>
                  <a:srgbClr val="FF6B6B"/>
                </a:solidFill>
                <a:latin typeface="JetBrains Mono" pitchFamily="34" charset="0"/>
                <a:ea typeface="JetBrains Mono" pitchFamily="34" charset="-122"/>
                <a:cs typeface="JetBrains Mono" pitchFamily="34" charset="-120"/>
              </a:rPr>
              <a:t>Vm0wd2QyUXlVWGxWV0d4...</a:t>
            </a:r>
            <a:endParaRPr lang="en-US" sz="1135" dirty="0"/>
          </a:p>
        </p:txBody>
      </p:sp>
      <p:sp>
        <p:nvSpPr>
          <p:cNvPr id="24" name="Text 16"/>
          <p:cNvSpPr/>
          <p:nvPr/>
        </p:nvSpPr>
        <p:spPr>
          <a:xfrm>
            <a:off x="6096000" y="3701057"/>
            <a:ext cx="5238751"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MAGIC DETECTION PATH</a:t>
            </a:r>
            <a:endParaRPr lang="en-US" sz="1000" dirty="0"/>
          </a:p>
        </p:txBody>
      </p:sp>
      <p:sp>
        <p:nvSpPr>
          <p:cNvPr id="25" name="Text 17"/>
          <p:cNvSpPr/>
          <p:nvPr/>
        </p:nvSpPr>
        <p:spPr>
          <a:xfrm>
            <a:off x="6305551" y="4034433"/>
            <a:ext cx="50292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JetBrains Mono" pitchFamily="34" charset="0"/>
                <a:ea typeface="JetBrains Mono" pitchFamily="34" charset="-122"/>
                <a:cs typeface="JetBrains Mono" pitchFamily="34" charset="-120"/>
              </a:rPr>
              <a:t>1. Detected </a:t>
            </a:r>
            <a:r>
              <a:rPr lang="en-US" sz="935" b="1" dirty="0">
                <a:solidFill>
                  <a:srgbClr val="00FF9C"/>
                </a:solidFill>
                <a:latin typeface="JetBrains Mono" pitchFamily="34" charset="0"/>
                <a:ea typeface="JetBrains Mono" pitchFamily="34" charset="-122"/>
                <a:cs typeface="JetBrains Mono" pitchFamily="34" charset="-120"/>
              </a:rPr>
              <a:t>Base64</a:t>
            </a:r>
            <a:r>
              <a:rPr lang="en-US" sz="1000" dirty="0">
                <a:solidFill>
                  <a:srgbClr val="8B949E"/>
                </a:solidFill>
                <a:latin typeface="JetBrains Mono" pitchFamily="34" charset="0"/>
                <a:ea typeface="JetBrains Mono" pitchFamily="34" charset="-122"/>
                <a:cs typeface="JetBrains Mono" pitchFamily="34" charset="-120"/>
              </a:rPr>
              <a:t> → Decoding...</a:t>
            </a:r>
            <a:endParaRPr lang="en-US" sz="1000" dirty="0"/>
          </a:p>
        </p:txBody>
      </p:sp>
      <p:sp>
        <p:nvSpPr>
          <p:cNvPr id="26" name="Text 18"/>
          <p:cNvSpPr/>
          <p:nvPr/>
        </p:nvSpPr>
        <p:spPr>
          <a:xfrm>
            <a:off x="6305551" y="4291608"/>
            <a:ext cx="50292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JetBrains Mono" pitchFamily="34" charset="0"/>
                <a:ea typeface="JetBrains Mono" pitchFamily="34" charset="-122"/>
                <a:cs typeface="JetBrains Mono" pitchFamily="34" charset="-120"/>
              </a:rPr>
              <a:t>2. Detected </a:t>
            </a:r>
            <a:r>
              <a:rPr lang="en-US" sz="935" b="1" dirty="0">
                <a:solidFill>
                  <a:srgbClr val="00FF9C"/>
                </a:solidFill>
                <a:latin typeface="JetBrains Mono" pitchFamily="34" charset="0"/>
                <a:ea typeface="JetBrains Mono" pitchFamily="34" charset="-122"/>
                <a:cs typeface="JetBrains Mono" pitchFamily="34" charset="-120"/>
              </a:rPr>
              <a:t>Gzip</a:t>
            </a:r>
            <a:r>
              <a:rPr lang="en-US" sz="1000" dirty="0">
                <a:solidFill>
                  <a:srgbClr val="8B949E"/>
                </a:solidFill>
                <a:latin typeface="JetBrains Mono" pitchFamily="34" charset="0"/>
                <a:ea typeface="JetBrains Mono" pitchFamily="34" charset="-122"/>
                <a:cs typeface="JetBrains Mono" pitchFamily="34" charset="-120"/>
              </a:rPr>
              <a:t> → Decompressing...</a:t>
            </a:r>
            <a:endParaRPr lang="en-US" sz="1000" dirty="0"/>
          </a:p>
        </p:txBody>
      </p:sp>
      <p:sp>
        <p:nvSpPr>
          <p:cNvPr id="27" name="Text 19"/>
          <p:cNvSpPr/>
          <p:nvPr/>
        </p:nvSpPr>
        <p:spPr>
          <a:xfrm>
            <a:off x="6305551" y="4548783"/>
            <a:ext cx="50292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JetBrains Mono" pitchFamily="34" charset="0"/>
                <a:ea typeface="JetBrains Mono" pitchFamily="34" charset="-122"/>
                <a:cs typeface="JetBrains Mono" pitchFamily="34" charset="-120"/>
              </a:rPr>
              <a:t>3. Detected </a:t>
            </a:r>
            <a:r>
              <a:rPr lang="en-US" sz="935" b="1" dirty="0">
                <a:solidFill>
                  <a:srgbClr val="00FF9C"/>
                </a:solidFill>
                <a:latin typeface="JetBrains Mono" pitchFamily="34" charset="0"/>
                <a:ea typeface="JetBrains Mono" pitchFamily="34" charset="-122"/>
                <a:cs typeface="JetBrains Mono" pitchFamily="34" charset="-120"/>
              </a:rPr>
              <a:t>Hex</a:t>
            </a:r>
            <a:r>
              <a:rPr lang="en-US" sz="1000" dirty="0">
                <a:solidFill>
                  <a:srgbClr val="8B949E"/>
                </a:solidFill>
                <a:latin typeface="JetBrains Mono" pitchFamily="34" charset="0"/>
                <a:ea typeface="JetBrains Mono" pitchFamily="34" charset="-122"/>
                <a:cs typeface="JetBrains Mono" pitchFamily="34" charset="-120"/>
              </a:rPr>
              <a:t> → Converting...</a:t>
            </a:r>
            <a:endParaRPr lang="en-US" sz="1000" dirty="0"/>
          </a:p>
        </p:txBody>
      </p:sp>
      <p:sp>
        <p:nvSpPr>
          <p:cNvPr id="28" name="Text 20"/>
          <p:cNvSpPr/>
          <p:nvPr/>
        </p:nvSpPr>
        <p:spPr>
          <a:xfrm>
            <a:off x="6096000" y="4996457"/>
            <a:ext cx="5238751"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OUTPUT</a:t>
            </a:r>
            <a:endParaRPr lang="en-US" sz="1000" dirty="0"/>
          </a:p>
        </p:txBody>
      </p:sp>
      <p:sp>
        <p:nvSpPr>
          <p:cNvPr id="29" name="Shape 21"/>
          <p:cNvSpPr/>
          <p:nvPr/>
        </p:nvSpPr>
        <p:spPr>
          <a:xfrm>
            <a:off x="6096000" y="5234583"/>
            <a:ext cx="5238751" cy="504825"/>
          </a:xfrm>
          <a:prstGeom prst="rect">
            <a:avLst/>
          </a:prstGeom>
          <a:solidFill>
            <a:srgbClr val="0D1117"/>
          </a:solidFill>
          <a:ln w="9144">
            <a:solidFill>
              <a:srgbClr val="00FF9C"/>
            </a:solidFill>
            <a:prstDash val="solid"/>
          </a:ln>
        </p:spPr>
      </p:sp>
      <p:sp>
        <p:nvSpPr>
          <p:cNvPr id="30" name="Text 22"/>
          <p:cNvSpPr/>
          <p:nvPr/>
        </p:nvSpPr>
        <p:spPr>
          <a:xfrm>
            <a:off x="6096000" y="5234583"/>
            <a:ext cx="5238751" cy="513715"/>
          </a:xfrm>
          <a:prstGeom prst="rect">
            <a:avLst/>
          </a:prstGeom>
          <a:noFill/>
        </p:spPr>
        <p:txBody>
          <a:bodyPr wrap="square" lIns="170010" tIns="170010" rIns="170010" bIns="170010" rtlCol="0" anchor="t">
            <a:spAutoFit/>
          </a:bodyPr>
          <a:lstStyle/>
          <a:p>
            <a:pPr marL="0" indent="0" algn="l">
              <a:buNone/>
            </a:pPr>
            <a:r>
              <a:rPr lang="en-US" sz="1135" dirty="0">
                <a:solidFill>
                  <a:srgbClr val="00FF9C"/>
                </a:solidFill>
                <a:latin typeface="JetBrains Mono" pitchFamily="34" charset="0"/>
                <a:ea typeface="JetBrains Mono" pitchFamily="34" charset="-122"/>
                <a:cs typeface="JetBrains Mono" pitchFamily="34" charset="-120"/>
              </a:rPr>
              <a:t>flag{cyberchef_is_amazing}</a:t>
            </a:r>
            <a:endParaRPr lang="en-US" sz="113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984801"/>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58A6FF"/>
                </a:solidFill>
                <a:latin typeface="Poppins Bold" pitchFamily="34" charset="0"/>
                <a:ea typeface="Poppins Bold" pitchFamily="34" charset="-122"/>
                <a:cs typeface="Poppins Bold" pitchFamily="34" charset="-120"/>
              </a:rPr>
              <a:t>ENCODING IDENTIFICATION FLOWCHART</a:t>
            </a:r>
            <a:endParaRPr lang="en-US" sz="3265" dirty="0"/>
          </a:p>
        </p:txBody>
      </p:sp>
      <p:sp>
        <p:nvSpPr>
          <p:cNvPr id="4" name="Shape 1"/>
          <p:cNvSpPr/>
          <p:nvPr/>
        </p:nvSpPr>
        <p:spPr>
          <a:xfrm>
            <a:off x="1333500" y="1869876"/>
            <a:ext cx="4686300" cy="561975"/>
          </a:xfrm>
          <a:prstGeom prst="rect">
            <a:avLst/>
          </a:prstGeom>
          <a:solidFill>
            <a:srgbClr val="161B22"/>
          </a:solidFill>
          <a:ln w="9144">
            <a:solidFill>
              <a:srgbClr val="30363D"/>
            </a:solidFill>
            <a:prstDash val="solid"/>
          </a:ln>
        </p:spPr>
      </p:sp>
      <p:sp>
        <p:nvSpPr>
          <p:cNvPr id="5" name="Text 2"/>
          <p:cNvSpPr/>
          <p:nvPr/>
        </p:nvSpPr>
        <p:spPr>
          <a:xfrm>
            <a:off x="1333500" y="1869876"/>
            <a:ext cx="4686300" cy="533400"/>
          </a:xfrm>
          <a:prstGeom prst="rect">
            <a:avLst/>
          </a:prstGeom>
          <a:noFill/>
        </p:spPr>
        <p:txBody>
          <a:bodyPr wrap="square" lIns="226737" tIns="170010" rIns="226737" bIns="170010" rtlCol="0" anchor="t">
            <a:spAutoFit/>
          </a:bodyPr>
          <a:lstStyle/>
          <a:p>
            <a:pPr marL="0" indent="0" algn="ctr">
              <a:buNone/>
            </a:pPr>
            <a:r>
              <a:rPr lang="en-US" sz="1265" dirty="0">
                <a:solidFill>
                  <a:srgbClr val="E6EDF3"/>
                </a:solidFill>
                <a:latin typeface="Poppins Bold" pitchFamily="34" charset="0"/>
                <a:ea typeface="Poppins Bold" pitchFamily="34" charset="-122"/>
                <a:cs typeface="Poppins Bold" pitchFamily="34" charset="-120"/>
              </a:rPr>
              <a:t>Ends with </a:t>
            </a:r>
            <a:r>
              <a:rPr lang="en-US" sz="1265" dirty="0">
                <a:solidFill>
                  <a:srgbClr val="58A6FF"/>
                </a:solidFill>
                <a:latin typeface="JetBrains Mono" pitchFamily="34" charset="0"/>
                <a:ea typeface="JetBrains Mono" pitchFamily="34" charset="-122"/>
                <a:cs typeface="JetBrains Mono" pitchFamily="34" charset="-120"/>
              </a:rPr>
              <a:t>=</a:t>
            </a:r>
            <a:r>
              <a:rPr lang="en-US" sz="1265" dirty="0">
                <a:solidFill>
                  <a:srgbClr val="E6EDF3"/>
                </a:solidFill>
                <a:latin typeface="Poppins Bold" pitchFamily="34" charset="0"/>
                <a:ea typeface="Poppins Bold" pitchFamily="34" charset="-122"/>
                <a:cs typeface="Poppins Bold" pitchFamily="34" charset="-120"/>
              </a:rPr>
              <a:t> or </a:t>
            </a:r>
            <a:r>
              <a:rPr lang="en-US" sz="1265" dirty="0">
                <a:solidFill>
                  <a:srgbClr val="58A6FF"/>
                </a:solidFill>
                <a:latin typeface="JetBrains Mono" pitchFamily="34" charset="0"/>
                <a:ea typeface="JetBrains Mono" pitchFamily="34" charset="-122"/>
                <a:cs typeface="JetBrains Mono" pitchFamily="34" charset="-120"/>
              </a:rPr>
              <a:t>==</a:t>
            </a:r>
            <a:r>
              <a:rPr lang="en-US" sz="1265" dirty="0">
                <a:solidFill>
                  <a:srgbClr val="E6EDF3"/>
                </a:solidFill>
                <a:latin typeface="Poppins Bold" pitchFamily="34" charset="0"/>
                <a:ea typeface="Poppins Bold" pitchFamily="34" charset="-122"/>
                <a:cs typeface="Poppins Bold" pitchFamily="34" charset="-120"/>
              </a:rPr>
              <a:t>?</a:t>
            </a:r>
            <a:endParaRPr lang="en-US" sz="1265" dirty="0"/>
          </a:p>
        </p:txBody>
      </p:sp>
      <p:pic>
        <p:nvPicPr>
          <p:cNvPr id="6" name="Image 1" descr="preencoded.png"/>
          <p:cNvPicPr>
            <a:picLocks noChangeAspect="1"/>
          </p:cNvPicPr>
          <p:nvPr/>
        </p:nvPicPr>
        <p:blipFill>
          <a:blip r:embed="rId2"/>
          <a:stretch>
            <a:fillRect/>
          </a:stretch>
        </p:blipFill>
        <p:spPr>
          <a:xfrm>
            <a:off x="6376988" y="2031801"/>
            <a:ext cx="200025" cy="228600"/>
          </a:xfrm>
          <a:prstGeom prst="rect">
            <a:avLst/>
          </a:prstGeom>
        </p:spPr>
      </p:pic>
      <p:sp>
        <p:nvSpPr>
          <p:cNvPr id="7" name="Shape 3"/>
          <p:cNvSpPr/>
          <p:nvPr/>
        </p:nvSpPr>
        <p:spPr>
          <a:xfrm>
            <a:off x="6953251" y="1869876"/>
            <a:ext cx="3733800" cy="557212"/>
          </a:xfrm>
          <a:prstGeom prst="rect">
            <a:avLst/>
          </a:prstGeom>
          <a:solidFill>
            <a:srgbClr val="00FF9C">
              <a:alpha val="10000"/>
            </a:srgbClr>
          </a:solidFill>
          <a:ln w="9144">
            <a:solidFill>
              <a:srgbClr val="00FF9C"/>
            </a:solidFill>
            <a:prstDash val="solid"/>
          </a:ln>
        </p:spPr>
      </p:sp>
      <p:sp>
        <p:nvSpPr>
          <p:cNvPr id="8" name="Text 4"/>
          <p:cNvSpPr/>
          <p:nvPr/>
        </p:nvSpPr>
        <p:spPr>
          <a:xfrm>
            <a:off x="6953251" y="1869876"/>
            <a:ext cx="3733800" cy="544830"/>
          </a:xfrm>
          <a:prstGeom prst="rect">
            <a:avLst/>
          </a:prstGeom>
          <a:noFill/>
        </p:spPr>
        <p:txBody>
          <a:bodyPr wrap="square" lIns="226737" tIns="170010" rIns="226737" bIns="170010" rtlCol="0" anchor="t">
            <a:spAutoFit/>
          </a:bodyPr>
          <a:lstStyle/>
          <a:p>
            <a:pPr marL="0" indent="0" algn="ctr">
              <a:buNone/>
            </a:pPr>
            <a:r>
              <a:rPr lang="en-US" sz="1335" b="1" dirty="0">
                <a:solidFill>
                  <a:srgbClr val="00FF9C"/>
                </a:solidFill>
                <a:latin typeface="JetBrains Mono" pitchFamily="34" charset="0"/>
                <a:ea typeface="JetBrains Mono" pitchFamily="34" charset="-122"/>
                <a:cs typeface="JetBrains Mono" pitchFamily="34" charset="-120"/>
              </a:rPr>
              <a:t>Base64 / Base32</a:t>
            </a:r>
            <a:endParaRPr lang="en-US" sz="1335" dirty="0"/>
          </a:p>
        </p:txBody>
      </p:sp>
      <p:sp>
        <p:nvSpPr>
          <p:cNvPr id="9" name="Shape 5"/>
          <p:cNvSpPr/>
          <p:nvPr/>
        </p:nvSpPr>
        <p:spPr>
          <a:xfrm>
            <a:off x="1333500" y="2698552"/>
            <a:ext cx="4686300" cy="561975"/>
          </a:xfrm>
          <a:prstGeom prst="rect">
            <a:avLst/>
          </a:prstGeom>
          <a:solidFill>
            <a:srgbClr val="161B22"/>
          </a:solidFill>
          <a:ln w="9144">
            <a:solidFill>
              <a:srgbClr val="30363D"/>
            </a:solidFill>
            <a:prstDash val="solid"/>
          </a:ln>
        </p:spPr>
      </p:sp>
      <p:sp>
        <p:nvSpPr>
          <p:cNvPr id="10" name="Text 6"/>
          <p:cNvSpPr/>
          <p:nvPr/>
        </p:nvSpPr>
        <p:spPr>
          <a:xfrm>
            <a:off x="1333500" y="2698552"/>
            <a:ext cx="4686300" cy="533400"/>
          </a:xfrm>
          <a:prstGeom prst="rect">
            <a:avLst/>
          </a:prstGeom>
          <a:noFill/>
        </p:spPr>
        <p:txBody>
          <a:bodyPr wrap="square" lIns="226737" tIns="170010" rIns="226737" bIns="170010" rtlCol="0" anchor="t">
            <a:spAutoFit/>
          </a:bodyPr>
          <a:lstStyle/>
          <a:p>
            <a:pPr marL="0" indent="0" algn="ctr">
              <a:buNone/>
            </a:pPr>
            <a:r>
              <a:rPr lang="en-US" sz="1265" dirty="0">
                <a:solidFill>
                  <a:srgbClr val="E6EDF3"/>
                </a:solidFill>
                <a:latin typeface="Poppins Bold" pitchFamily="34" charset="0"/>
                <a:ea typeface="Poppins Bold" pitchFamily="34" charset="-122"/>
                <a:cs typeface="Poppins Bold" pitchFamily="34" charset="-120"/>
              </a:rPr>
              <a:t>Only </a:t>
            </a:r>
            <a:r>
              <a:rPr lang="en-US" sz="1265" dirty="0">
                <a:solidFill>
                  <a:srgbClr val="58A6FF"/>
                </a:solidFill>
                <a:latin typeface="JetBrains Mono" pitchFamily="34" charset="0"/>
                <a:ea typeface="JetBrains Mono" pitchFamily="34" charset="-122"/>
                <a:cs typeface="JetBrains Mono" pitchFamily="34" charset="-120"/>
              </a:rPr>
              <a:t>0-9</a:t>
            </a:r>
            <a:r>
              <a:rPr lang="en-US" sz="1265" dirty="0">
                <a:solidFill>
                  <a:srgbClr val="E6EDF3"/>
                </a:solidFill>
                <a:latin typeface="Poppins Bold" pitchFamily="34" charset="0"/>
                <a:ea typeface="Poppins Bold" pitchFamily="34" charset="-122"/>
                <a:cs typeface="Poppins Bold" pitchFamily="34" charset="-120"/>
              </a:rPr>
              <a:t> and </a:t>
            </a:r>
            <a:r>
              <a:rPr lang="en-US" sz="1265" dirty="0">
                <a:solidFill>
                  <a:srgbClr val="58A6FF"/>
                </a:solidFill>
                <a:latin typeface="JetBrains Mono" pitchFamily="34" charset="0"/>
                <a:ea typeface="JetBrains Mono" pitchFamily="34" charset="-122"/>
                <a:cs typeface="JetBrains Mono" pitchFamily="34" charset="-120"/>
              </a:rPr>
              <a:t>A-F</a:t>
            </a:r>
            <a:r>
              <a:rPr lang="en-US" sz="1265" dirty="0">
                <a:solidFill>
                  <a:srgbClr val="E6EDF3"/>
                </a:solidFill>
                <a:latin typeface="Poppins Bold" pitchFamily="34" charset="0"/>
                <a:ea typeface="Poppins Bold" pitchFamily="34" charset="-122"/>
                <a:cs typeface="Poppins Bold" pitchFamily="34" charset="-120"/>
              </a:rPr>
              <a:t>?</a:t>
            </a:r>
            <a:endParaRPr lang="en-US" sz="1265" dirty="0"/>
          </a:p>
        </p:txBody>
      </p:sp>
      <p:pic>
        <p:nvPicPr>
          <p:cNvPr id="11" name="Image 2" descr="preencoded.png"/>
          <p:cNvPicPr>
            <a:picLocks noChangeAspect="1"/>
          </p:cNvPicPr>
          <p:nvPr/>
        </p:nvPicPr>
        <p:blipFill>
          <a:blip r:embed="rId2"/>
          <a:stretch>
            <a:fillRect/>
          </a:stretch>
        </p:blipFill>
        <p:spPr>
          <a:xfrm>
            <a:off x="6376988" y="2860476"/>
            <a:ext cx="200025" cy="228600"/>
          </a:xfrm>
          <a:prstGeom prst="rect">
            <a:avLst/>
          </a:prstGeom>
        </p:spPr>
      </p:pic>
      <p:sp>
        <p:nvSpPr>
          <p:cNvPr id="12" name="Shape 7"/>
          <p:cNvSpPr/>
          <p:nvPr/>
        </p:nvSpPr>
        <p:spPr>
          <a:xfrm>
            <a:off x="6953251" y="2698552"/>
            <a:ext cx="3733800" cy="557212"/>
          </a:xfrm>
          <a:prstGeom prst="rect">
            <a:avLst/>
          </a:prstGeom>
          <a:solidFill>
            <a:srgbClr val="00FF9C">
              <a:alpha val="10000"/>
            </a:srgbClr>
          </a:solidFill>
          <a:ln w="9144">
            <a:solidFill>
              <a:srgbClr val="00FF9C"/>
            </a:solidFill>
            <a:prstDash val="solid"/>
          </a:ln>
        </p:spPr>
      </p:sp>
      <p:sp>
        <p:nvSpPr>
          <p:cNvPr id="13" name="Text 8"/>
          <p:cNvSpPr/>
          <p:nvPr/>
        </p:nvSpPr>
        <p:spPr>
          <a:xfrm>
            <a:off x="6953251" y="2698552"/>
            <a:ext cx="3733800" cy="544830"/>
          </a:xfrm>
          <a:prstGeom prst="rect">
            <a:avLst/>
          </a:prstGeom>
          <a:noFill/>
        </p:spPr>
        <p:txBody>
          <a:bodyPr wrap="square" lIns="226737" tIns="170010" rIns="226737" bIns="170010" rtlCol="0" anchor="t">
            <a:spAutoFit/>
          </a:bodyPr>
          <a:lstStyle/>
          <a:p>
            <a:pPr marL="0" indent="0" algn="ctr">
              <a:buNone/>
            </a:pPr>
            <a:r>
              <a:rPr lang="en-US" sz="1335" b="1" dirty="0">
                <a:solidFill>
                  <a:srgbClr val="00FF9C"/>
                </a:solidFill>
                <a:latin typeface="JetBrains Mono" pitchFamily="34" charset="0"/>
                <a:ea typeface="JetBrains Mono" pitchFamily="34" charset="-122"/>
                <a:cs typeface="JetBrains Mono" pitchFamily="34" charset="-120"/>
              </a:rPr>
              <a:t>Hex Encoding</a:t>
            </a:r>
            <a:endParaRPr lang="en-US" sz="1335" dirty="0"/>
          </a:p>
        </p:txBody>
      </p:sp>
      <p:sp>
        <p:nvSpPr>
          <p:cNvPr id="14" name="Shape 9"/>
          <p:cNvSpPr/>
          <p:nvPr/>
        </p:nvSpPr>
        <p:spPr>
          <a:xfrm>
            <a:off x="1333500" y="3527227"/>
            <a:ext cx="4686300" cy="561975"/>
          </a:xfrm>
          <a:prstGeom prst="rect">
            <a:avLst/>
          </a:prstGeom>
          <a:solidFill>
            <a:srgbClr val="161B22"/>
          </a:solidFill>
          <a:ln w="9144">
            <a:solidFill>
              <a:srgbClr val="30363D"/>
            </a:solidFill>
            <a:prstDash val="solid"/>
          </a:ln>
        </p:spPr>
      </p:sp>
      <p:sp>
        <p:nvSpPr>
          <p:cNvPr id="15" name="Text 10"/>
          <p:cNvSpPr/>
          <p:nvPr/>
        </p:nvSpPr>
        <p:spPr>
          <a:xfrm>
            <a:off x="1333500" y="3527227"/>
            <a:ext cx="4686300" cy="533400"/>
          </a:xfrm>
          <a:prstGeom prst="rect">
            <a:avLst/>
          </a:prstGeom>
          <a:noFill/>
        </p:spPr>
        <p:txBody>
          <a:bodyPr wrap="square" lIns="226737" tIns="170010" rIns="226737" bIns="170010" rtlCol="0" anchor="t">
            <a:spAutoFit/>
          </a:bodyPr>
          <a:lstStyle/>
          <a:p>
            <a:pPr marL="0" indent="0" algn="ctr">
              <a:buNone/>
            </a:pPr>
            <a:r>
              <a:rPr lang="en-US" sz="1265" dirty="0">
                <a:solidFill>
                  <a:srgbClr val="E6EDF3"/>
                </a:solidFill>
                <a:latin typeface="Poppins Bold" pitchFamily="34" charset="0"/>
                <a:ea typeface="Poppins Bold" pitchFamily="34" charset="-122"/>
                <a:cs typeface="Poppins Bold" pitchFamily="34" charset="-120"/>
              </a:rPr>
              <a:t>Contains </a:t>
            </a:r>
            <a:r>
              <a:rPr lang="en-US" sz="1265" dirty="0">
                <a:solidFill>
                  <a:srgbClr val="58A6FF"/>
                </a:solidFill>
                <a:latin typeface="JetBrains Mono" pitchFamily="34" charset="0"/>
                <a:ea typeface="JetBrains Mono" pitchFamily="34" charset="-122"/>
                <a:cs typeface="JetBrains Mono" pitchFamily="34" charset="-120"/>
              </a:rPr>
              <a:t>%XX</a:t>
            </a:r>
            <a:r>
              <a:rPr lang="en-US" sz="1265" dirty="0">
                <a:solidFill>
                  <a:srgbClr val="E6EDF3"/>
                </a:solidFill>
                <a:latin typeface="Poppins Bold" pitchFamily="34" charset="0"/>
                <a:ea typeface="Poppins Bold" pitchFamily="34" charset="-122"/>
                <a:cs typeface="Poppins Bold" pitchFamily="34" charset="-120"/>
              </a:rPr>
              <a:t> patterns?</a:t>
            </a:r>
            <a:endParaRPr lang="en-US" sz="1265" dirty="0"/>
          </a:p>
        </p:txBody>
      </p:sp>
      <p:pic>
        <p:nvPicPr>
          <p:cNvPr id="16" name="Image 3" descr="preencoded.png"/>
          <p:cNvPicPr>
            <a:picLocks noChangeAspect="1"/>
          </p:cNvPicPr>
          <p:nvPr/>
        </p:nvPicPr>
        <p:blipFill>
          <a:blip r:embed="rId2"/>
          <a:stretch>
            <a:fillRect/>
          </a:stretch>
        </p:blipFill>
        <p:spPr>
          <a:xfrm>
            <a:off x="6376988" y="3689152"/>
            <a:ext cx="200025" cy="228600"/>
          </a:xfrm>
          <a:prstGeom prst="rect">
            <a:avLst/>
          </a:prstGeom>
        </p:spPr>
      </p:pic>
      <p:sp>
        <p:nvSpPr>
          <p:cNvPr id="17" name="Shape 11"/>
          <p:cNvSpPr/>
          <p:nvPr/>
        </p:nvSpPr>
        <p:spPr>
          <a:xfrm>
            <a:off x="6953251" y="3527227"/>
            <a:ext cx="3733800" cy="557212"/>
          </a:xfrm>
          <a:prstGeom prst="rect">
            <a:avLst/>
          </a:prstGeom>
          <a:solidFill>
            <a:srgbClr val="00FF9C">
              <a:alpha val="10000"/>
            </a:srgbClr>
          </a:solidFill>
          <a:ln w="9144">
            <a:solidFill>
              <a:srgbClr val="00FF9C"/>
            </a:solidFill>
            <a:prstDash val="solid"/>
          </a:ln>
        </p:spPr>
      </p:sp>
      <p:sp>
        <p:nvSpPr>
          <p:cNvPr id="18" name="Text 12"/>
          <p:cNvSpPr/>
          <p:nvPr/>
        </p:nvSpPr>
        <p:spPr>
          <a:xfrm>
            <a:off x="6953251" y="3527227"/>
            <a:ext cx="3733800" cy="544830"/>
          </a:xfrm>
          <a:prstGeom prst="rect">
            <a:avLst/>
          </a:prstGeom>
          <a:noFill/>
        </p:spPr>
        <p:txBody>
          <a:bodyPr wrap="square" lIns="226737" tIns="170010" rIns="226737" bIns="170010" rtlCol="0" anchor="t">
            <a:spAutoFit/>
          </a:bodyPr>
          <a:lstStyle/>
          <a:p>
            <a:pPr marL="0" indent="0" algn="ctr">
              <a:buNone/>
            </a:pPr>
            <a:r>
              <a:rPr lang="en-US" sz="1335" b="1" dirty="0">
                <a:solidFill>
                  <a:srgbClr val="00FF9C"/>
                </a:solidFill>
                <a:latin typeface="JetBrains Mono" pitchFamily="34" charset="0"/>
                <a:ea typeface="JetBrains Mono" pitchFamily="34" charset="-122"/>
                <a:cs typeface="JetBrains Mono" pitchFamily="34" charset="-120"/>
              </a:rPr>
              <a:t>URL Encoding</a:t>
            </a:r>
            <a:endParaRPr lang="en-US" sz="1335" dirty="0"/>
          </a:p>
        </p:txBody>
      </p:sp>
      <p:sp>
        <p:nvSpPr>
          <p:cNvPr id="19" name="Shape 13"/>
          <p:cNvSpPr/>
          <p:nvPr/>
        </p:nvSpPr>
        <p:spPr>
          <a:xfrm>
            <a:off x="1333500" y="4355901"/>
            <a:ext cx="4686300" cy="561975"/>
          </a:xfrm>
          <a:prstGeom prst="rect">
            <a:avLst/>
          </a:prstGeom>
          <a:solidFill>
            <a:srgbClr val="161B22"/>
          </a:solidFill>
          <a:ln w="9144">
            <a:solidFill>
              <a:srgbClr val="30363D"/>
            </a:solidFill>
            <a:prstDash val="solid"/>
          </a:ln>
        </p:spPr>
      </p:sp>
      <p:sp>
        <p:nvSpPr>
          <p:cNvPr id="20" name="Text 14"/>
          <p:cNvSpPr/>
          <p:nvPr/>
        </p:nvSpPr>
        <p:spPr>
          <a:xfrm>
            <a:off x="1333500" y="4355901"/>
            <a:ext cx="4686300" cy="533400"/>
          </a:xfrm>
          <a:prstGeom prst="rect">
            <a:avLst/>
          </a:prstGeom>
          <a:noFill/>
        </p:spPr>
        <p:txBody>
          <a:bodyPr wrap="square" lIns="226737" tIns="170010" rIns="226737" bIns="170010" rtlCol="0" anchor="t">
            <a:spAutoFit/>
          </a:bodyPr>
          <a:lstStyle/>
          <a:p>
            <a:pPr marL="0" indent="0" algn="ctr">
              <a:buNone/>
            </a:pPr>
            <a:r>
              <a:rPr lang="en-US" sz="1265" dirty="0">
                <a:solidFill>
                  <a:srgbClr val="E6EDF3"/>
                </a:solidFill>
                <a:latin typeface="Poppins Bold" pitchFamily="34" charset="0"/>
                <a:ea typeface="Poppins Bold" pitchFamily="34" charset="-122"/>
                <a:cs typeface="Poppins Bold" pitchFamily="34" charset="-120"/>
              </a:rPr>
              <a:t>Only Uppercase + </a:t>
            </a:r>
            <a:r>
              <a:rPr lang="en-US" sz="1265" dirty="0">
                <a:solidFill>
                  <a:srgbClr val="58A6FF"/>
                </a:solidFill>
                <a:latin typeface="JetBrains Mono" pitchFamily="34" charset="0"/>
                <a:ea typeface="JetBrains Mono" pitchFamily="34" charset="-122"/>
                <a:cs typeface="JetBrains Mono" pitchFamily="34" charset="-120"/>
              </a:rPr>
              <a:t>2-7</a:t>
            </a:r>
            <a:r>
              <a:rPr lang="en-US" sz="1265" dirty="0">
                <a:solidFill>
                  <a:srgbClr val="E6EDF3"/>
                </a:solidFill>
                <a:latin typeface="Poppins Bold" pitchFamily="34" charset="0"/>
                <a:ea typeface="Poppins Bold" pitchFamily="34" charset="-122"/>
                <a:cs typeface="Poppins Bold" pitchFamily="34" charset="-120"/>
              </a:rPr>
              <a:t>?</a:t>
            </a:r>
            <a:endParaRPr lang="en-US" sz="1265" dirty="0"/>
          </a:p>
        </p:txBody>
      </p:sp>
      <p:pic>
        <p:nvPicPr>
          <p:cNvPr id="21" name="Image 4" descr="preencoded.png"/>
          <p:cNvPicPr>
            <a:picLocks noChangeAspect="1"/>
          </p:cNvPicPr>
          <p:nvPr/>
        </p:nvPicPr>
        <p:blipFill>
          <a:blip r:embed="rId2"/>
          <a:stretch>
            <a:fillRect/>
          </a:stretch>
        </p:blipFill>
        <p:spPr>
          <a:xfrm>
            <a:off x="6376988" y="4517827"/>
            <a:ext cx="200025" cy="228600"/>
          </a:xfrm>
          <a:prstGeom prst="rect">
            <a:avLst/>
          </a:prstGeom>
        </p:spPr>
      </p:pic>
      <p:sp>
        <p:nvSpPr>
          <p:cNvPr id="22" name="Shape 15"/>
          <p:cNvSpPr/>
          <p:nvPr/>
        </p:nvSpPr>
        <p:spPr>
          <a:xfrm>
            <a:off x="6953251" y="4355901"/>
            <a:ext cx="3733800" cy="557212"/>
          </a:xfrm>
          <a:prstGeom prst="rect">
            <a:avLst/>
          </a:prstGeom>
          <a:solidFill>
            <a:srgbClr val="00FF9C">
              <a:alpha val="10000"/>
            </a:srgbClr>
          </a:solidFill>
          <a:ln w="9144">
            <a:solidFill>
              <a:srgbClr val="00FF9C"/>
            </a:solidFill>
            <a:prstDash val="solid"/>
          </a:ln>
        </p:spPr>
      </p:sp>
      <p:sp>
        <p:nvSpPr>
          <p:cNvPr id="23" name="Text 16"/>
          <p:cNvSpPr/>
          <p:nvPr/>
        </p:nvSpPr>
        <p:spPr>
          <a:xfrm>
            <a:off x="6953251" y="4355901"/>
            <a:ext cx="3733800" cy="544830"/>
          </a:xfrm>
          <a:prstGeom prst="rect">
            <a:avLst/>
          </a:prstGeom>
          <a:noFill/>
        </p:spPr>
        <p:txBody>
          <a:bodyPr wrap="square" lIns="226737" tIns="170010" rIns="226737" bIns="170010" rtlCol="0" anchor="t">
            <a:spAutoFit/>
          </a:bodyPr>
          <a:lstStyle/>
          <a:p>
            <a:pPr marL="0" indent="0" algn="ctr">
              <a:buNone/>
            </a:pPr>
            <a:r>
              <a:rPr lang="en-US" sz="1335" b="1" dirty="0">
                <a:solidFill>
                  <a:srgbClr val="00FF9C"/>
                </a:solidFill>
                <a:latin typeface="JetBrains Mono" pitchFamily="34" charset="0"/>
                <a:ea typeface="JetBrains Mono" pitchFamily="34" charset="-122"/>
                <a:cs typeface="JetBrains Mono" pitchFamily="34" charset="-120"/>
              </a:rPr>
              <a:t>Base32</a:t>
            </a:r>
            <a:endParaRPr lang="en-US" sz="1335" dirty="0"/>
          </a:p>
        </p:txBody>
      </p:sp>
      <p:sp>
        <p:nvSpPr>
          <p:cNvPr id="24" name="Shape 17"/>
          <p:cNvSpPr/>
          <p:nvPr/>
        </p:nvSpPr>
        <p:spPr>
          <a:xfrm>
            <a:off x="1333500" y="5184576"/>
            <a:ext cx="4686300" cy="561975"/>
          </a:xfrm>
          <a:prstGeom prst="rect">
            <a:avLst/>
          </a:prstGeom>
          <a:solidFill>
            <a:srgbClr val="161B22"/>
          </a:solidFill>
          <a:ln w="9144">
            <a:solidFill>
              <a:srgbClr val="30363D"/>
            </a:solidFill>
            <a:prstDash val="solid"/>
          </a:ln>
        </p:spPr>
      </p:sp>
      <p:sp>
        <p:nvSpPr>
          <p:cNvPr id="25" name="Text 18"/>
          <p:cNvSpPr/>
          <p:nvPr/>
        </p:nvSpPr>
        <p:spPr>
          <a:xfrm>
            <a:off x="1333500" y="5184576"/>
            <a:ext cx="4686300" cy="533400"/>
          </a:xfrm>
          <a:prstGeom prst="rect">
            <a:avLst/>
          </a:prstGeom>
          <a:noFill/>
        </p:spPr>
        <p:txBody>
          <a:bodyPr wrap="square" lIns="226737" tIns="170010" rIns="226737" bIns="170010" rtlCol="0" anchor="t">
            <a:spAutoFit/>
          </a:bodyPr>
          <a:lstStyle/>
          <a:p>
            <a:pPr marL="0" indent="0" algn="ctr">
              <a:buNone/>
            </a:pPr>
            <a:r>
              <a:rPr lang="en-US" sz="1265" dirty="0">
                <a:solidFill>
                  <a:srgbClr val="E6EDF3"/>
                </a:solidFill>
                <a:latin typeface="Poppins Bold" pitchFamily="34" charset="0"/>
                <a:ea typeface="Poppins Bold" pitchFamily="34" charset="-122"/>
                <a:cs typeface="Poppins Bold" pitchFamily="34" charset="-120"/>
              </a:rPr>
              <a:t>Looks like a list of numbers?</a:t>
            </a:r>
            <a:endParaRPr lang="en-US" sz="1265" dirty="0"/>
          </a:p>
        </p:txBody>
      </p:sp>
      <p:pic>
        <p:nvPicPr>
          <p:cNvPr id="26" name="Image 5" descr="preencoded.png"/>
          <p:cNvPicPr>
            <a:picLocks noChangeAspect="1"/>
          </p:cNvPicPr>
          <p:nvPr/>
        </p:nvPicPr>
        <p:blipFill>
          <a:blip r:embed="rId2"/>
          <a:stretch>
            <a:fillRect/>
          </a:stretch>
        </p:blipFill>
        <p:spPr>
          <a:xfrm>
            <a:off x="6376988" y="5346501"/>
            <a:ext cx="200025" cy="228600"/>
          </a:xfrm>
          <a:prstGeom prst="rect">
            <a:avLst/>
          </a:prstGeom>
        </p:spPr>
      </p:pic>
      <p:sp>
        <p:nvSpPr>
          <p:cNvPr id="27" name="Shape 19"/>
          <p:cNvSpPr/>
          <p:nvPr/>
        </p:nvSpPr>
        <p:spPr>
          <a:xfrm>
            <a:off x="6953251" y="5184576"/>
            <a:ext cx="3733800" cy="557212"/>
          </a:xfrm>
          <a:prstGeom prst="rect">
            <a:avLst/>
          </a:prstGeom>
          <a:solidFill>
            <a:srgbClr val="00FF9C">
              <a:alpha val="10000"/>
            </a:srgbClr>
          </a:solidFill>
          <a:ln w="9144">
            <a:solidFill>
              <a:srgbClr val="00FF9C"/>
            </a:solidFill>
            <a:prstDash val="solid"/>
          </a:ln>
        </p:spPr>
      </p:sp>
      <p:sp>
        <p:nvSpPr>
          <p:cNvPr id="28" name="Text 20"/>
          <p:cNvSpPr/>
          <p:nvPr/>
        </p:nvSpPr>
        <p:spPr>
          <a:xfrm>
            <a:off x="6953251" y="5184576"/>
            <a:ext cx="3733800" cy="544830"/>
          </a:xfrm>
          <a:prstGeom prst="rect">
            <a:avLst/>
          </a:prstGeom>
          <a:noFill/>
        </p:spPr>
        <p:txBody>
          <a:bodyPr wrap="square" lIns="226737" tIns="170010" rIns="226737" bIns="170010" rtlCol="0" anchor="t">
            <a:spAutoFit/>
          </a:bodyPr>
          <a:lstStyle/>
          <a:p>
            <a:pPr marL="0" indent="0" algn="ctr">
              <a:buNone/>
            </a:pPr>
            <a:r>
              <a:rPr lang="en-US" sz="1335" b="1" dirty="0">
                <a:solidFill>
                  <a:srgbClr val="00FF9C"/>
                </a:solidFill>
                <a:latin typeface="JetBrains Mono" pitchFamily="34" charset="0"/>
                <a:ea typeface="JetBrains Mono" pitchFamily="34" charset="-122"/>
                <a:cs typeface="JetBrains Mono" pitchFamily="34" charset="-120"/>
              </a:rPr>
              <a:t>ASCII Decimal</a:t>
            </a:r>
            <a:endParaRPr lang="en-US" sz="1335" dirty="0"/>
          </a:p>
        </p:txBody>
      </p:sp>
      <p:sp>
        <p:nvSpPr>
          <p:cNvPr id="29" name="Shape 21"/>
          <p:cNvSpPr/>
          <p:nvPr/>
        </p:nvSpPr>
        <p:spPr>
          <a:xfrm>
            <a:off x="1133475" y="6013252"/>
            <a:ext cx="9925051" cy="685800"/>
          </a:xfrm>
          <a:prstGeom prst="rect">
            <a:avLst/>
          </a:prstGeom>
          <a:solidFill>
            <a:srgbClr val="E3B341">
              <a:alpha val="10000"/>
            </a:srgbClr>
          </a:solidFill>
          <a:ln w="9144">
            <a:solidFill>
              <a:srgbClr val="E3B341"/>
            </a:solidFill>
            <a:prstDash val="dash"/>
          </a:ln>
        </p:spPr>
      </p:sp>
      <p:pic>
        <p:nvPicPr>
          <p:cNvPr id="30" name="Image 6" descr="preencoded.png"/>
          <p:cNvPicPr>
            <a:picLocks noChangeAspect="1"/>
          </p:cNvPicPr>
          <p:nvPr/>
        </p:nvPicPr>
        <p:blipFill>
          <a:blip r:embed="rId3"/>
          <a:stretch>
            <a:fillRect/>
          </a:stretch>
        </p:blipFill>
        <p:spPr>
          <a:xfrm>
            <a:off x="2555081" y="6246615"/>
            <a:ext cx="190500" cy="190500"/>
          </a:xfrm>
          <a:prstGeom prst="rect">
            <a:avLst/>
          </a:prstGeom>
        </p:spPr>
      </p:pic>
      <p:sp>
        <p:nvSpPr>
          <p:cNvPr id="31" name="Text 22"/>
          <p:cNvSpPr/>
          <p:nvPr/>
        </p:nvSpPr>
        <p:spPr>
          <a:xfrm>
            <a:off x="2932748" y="6213276"/>
            <a:ext cx="1363980" cy="205740"/>
          </a:xfrm>
          <a:prstGeom prst="rect">
            <a:avLst/>
          </a:prstGeom>
          <a:noFill/>
        </p:spPr>
        <p:txBody>
          <a:bodyPr wrap="none" lIns="0" tIns="0" rIns="0" bIns="0" rtlCol="0" anchor="t">
            <a:spAutoFit/>
          </a:bodyPr>
          <a:lstStyle/>
          <a:p>
            <a:pPr marL="0" indent="0" algn="ctr">
              <a:buNone/>
            </a:pPr>
            <a:r>
              <a:rPr lang="en-US" sz="1335" b="1" dirty="0">
                <a:solidFill>
                  <a:srgbClr val="E3B341"/>
                </a:solidFill>
                <a:latin typeface="Poppins Bold" pitchFamily="34" charset="0"/>
                <a:ea typeface="Poppins Bold" pitchFamily="34" charset="-122"/>
                <a:cs typeface="Poppins Bold" pitchFamily="34" charset="-120"/>
              </a:rPr>
              <a:t>STILL UNKNOWN?</a:t>
            </a:r>
            <a:endParaRPr lang="en-US" sz="1335" dirty="0"/>
          </a:p>
        </p:txBody>
      </p:sp>
      <p:sp>
        <p:nvSpPr>
          <p:cNvPr id="32" name="Text 23"/>
          <p:cNvSpPr/>
          <p:nvPr/>
        </p:nvSpPr>
        <p:spPr>
          <a:xfrm>
            <a:off x="4659392" y="6213276"/>
            <a:ext cx="1251585" cy="215265"/>
          </a:xfrm>
          <a:prstGeom prst="rect">
            <a:avLst/>
          </a:prstGeom>
          <a:noFill/>
        </p:spPr>
        <p:txBody>
          <a:bodyPr wrap="none" lIns="0" tIns="0" rIns="0" bIns="0" rtlCol="0" anchor="t">
            <a:spAutoFit/>
          </a:bodyPr>
          <a:lstStyle/>
          <a:p>
            <a:pPr marL="0" indent="0" algn="ctr">
              <a:buNone/>
            </a:pPr>
            <a:r>
              <a:rPr lang="en-US" sz="1400" dirty="0">
                <a:solidFill>
                  <a:srgbClr val="E3B341"/>
                </a:solidFill>
                <a:latin typeface="Poppins Bold" pitchFamily="34" charset="0"/>
                <a:ea typeface="Poppins Bold" pitchFamily="34" charset="-122"/>
                <a:cs typeface="Poppins Bold" pitchFamily="34" charset="-120"/>
              </a:rPr>
              <a:t>Use CyberChef's</a:t>
            </a:r>
            <a:endParaRPr lang="en-US" sz="1400" dirty="0"/>
          </a:p>
        </p:txBody>
      </p:sp>
      <p:sp>
        <p:nvSpPr>
          <p:cNvPr id="33" name="Text 24"/>
          <p:cNvSpPr/>
          <p:nvPr/>
        </p:nvSpPr>
        <p:spPr>
          <a:xfrm>
            <a:off x="6210300" y="6213276"/>
            <a:ext cx="438150" cy="205740"/>
          </a:xfrm>
          <a:prstGeom prst="rect">
            <a:avLst/>
          </a:prstGeom>
          <a:noFill/>
        </p:spPr>
        <p:txBody>
          <a:bodyPr wrap="none" lIns="0" tIns="0" rIns="0" bIns="0" rtlCol="0" anchor="t">
            <a:spAutoFit/>
          </a:bodyPr>
          <a:lstStyle/>
          <a:p>
            <a:pPr marL="0" indent="0" algn="ctr">
              <a:buNone/>
            </a:pPr>
            <a:r>
              <a:rPr lang="en-US" sz="1335" b="1" dirty="0">
                <a:solidFill>
                  <a:srgbClr val="E3B341"/>
                </a:solidFill>
                <a:latin typeface="Poppins Bold" pitchFamily="34" charset="0"/>
                <a:ea typeface="Poppins Bold" pitchFamily="34" charset="-122"/>
                <a:cs typeface="Poppins Bold" pitchFamily="34" charset="-120"/>
              </a:rPr>
              <a:t>Magic</a:t>
            </a:r>
            <a:endParaRPr lang="en-US" sz="1335" dirty="0"/>
          </a:p>
        </p:txBody>
      </p:sp>
      <p:sp>
        <p:nvSpPr>
          <p:cNvPr id="34" name="Text 25"/>
          <p:cNvSpPr/>
          <p:nvPr/>
        </p:nvSpPr>
        <p:spPr>
          <a:xfrm>
            <a:off x="6731793" y="6213276"/>
            <a:ext cx="2905125" cy="215265"/>
          </a:xfrm>
          <a:prstGeom prst="rect">
            <a:avLst/>
          </a:prstGeom>
          <a:noFill/>
        </p:spPr>
        <p:txBody>
          <a:bodyPr wrap="square" lIns="0" tIns="0" rIns="0" bIns="0" rtlCol="0" anchor="t">
            <a:spAutoFit/>
          </a:bodyPr>
          <a:lstStyle/>
          <a:p>
            <a:pPr marL="0" indent="0" algn="ctr">
              <a:buNone/>
            </a:pPr>
            <a:r>
              <a:rPr lang="en-US" sz="1400" dirty="0">
                <a:solidFill>
                  <a:srgbClr val="E3B341"/>
                </a:solidFill>
                <a:latin typeface="Poppins Bold" pitchFamily="34" charset="0"/>
                <a:ea typeface="Poppins Bold" pitchFamily="34" charset="-122"/>
                <a:cs typeface="Poppins Bold" pitchFamily="34" charset="-120"/>
              </a:rPr>
              <a:t>operation for auto-detection.</a:t>
            </a:r>
            <a:endParaRPr lang="en-US" sz="1400"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E3B341"/>
                </a:solidFill>
                <a:latin typeface="Poppins Bold" pitchFamily="34" charset="0"/>
                <a:ea typeface="Poppins Bold" pitchFamily="34" charset="-122"/>
                <a:cs typeface="Poppins Bold" pitchFamily="34" charset="-120"/>
              </a:rPr>
              <a:t>ENCODING PRACTICE: DECODE THESE</a:t>
            </a:r>
            <a:endParaRPr lang="en-US" sz="3265" dirty="0"/>
          </a:p>
        </p:txBody>
      </p:sp>
      <p:sp>
        <p:nvSpPr>
          <p:cNvPr id="4" name="Shape 1"/>
          <p:cNvSpPr/>
          <p:nvPr/>
        </p:nvSpPr>
        <p:spPr>
          <a:xfrm>
            <a:off x="571500" y="1965127"/>
            <a:ext cx="5405437" cy="1928515"/>
          </a:xfrm>
          <a:prstGeom prst="rect">
            <a:avLst/>
          </a:prstGeom>
          <a:solidFill>
            <a:srgbClr val="161B22"/>
          </a:solidFill>
        </p:spPr>
      </p:sp>
      <p:sp>
        <p:nvSpPr>
          <p:cNvPr id="5" name="Shape 2"/>
          <p:cNvSpPr/>
          <p:nvPr/>
        </p:nvSpPr>
        <p:spPr>
          <a:xfrm>
            <a:off x="571500" y="1965127"/>
            <a:ext cx="5405437" cy="38100"/>
          </a:xfrm>
          <a:prstGeom prst="rect">
            <a:avLst/>
          </a:prstGeom>
          <a:solidFill>
            <a:srgbClr val="E3B341"/>
          </a:solidFill>
        </p:spPr>
      </p:sp>
      <p:pic>
        <p:nvPicPr>
          <p:cNvPr id="6" name="Image 1" descr="preencoded.png"/>
          <p:cNvPicPr>
            <a:picLocks noChangeAspect="1"/>
          </p:cNvPicPr>
          <p:nvPr/>
        </p:nvPicPr>
        <p:blipFill>
          <a:blip r:embed="rId2"/>
          <a:stretch>
            <a:fillRect/>
          </a:stretch>
        </p:blipFill>
        <p:spPr>
          <a:xfrm>
            <a:off x="809625" y="2230636"/>
            <a:ext cx="192881" cy="171451"/>
          </a:xfrm>
          <a:prstGeom prst="rect">
            <a:avLst/>
          </a:prstGeom>
        </p:spPr>
      </p:pic>
      <p:sp>
        <p:nvSpPr>
          <p:cNvPr id="7" name="Text 3"/>
          <p:cNvSpPr/>
          <p:nvPr/>
        </p:nvSpPr>
        <p:spPr>
          <a:xfrm>
            <a:off x="1097756" y="2203252"/>
            <a:ext cx="1047750" cy="194310"/>
          </a:xfrm>
          <a:prstGeom prst="rect">
            <a:avLst/>
          </a:prstGeom>
          <a:noFill/>
        </p:spPr>
        <p:txBody>
          <a:bodyPr wrap="none" lIns="0" tIns="0" rIns="0" bIns="0" rtlCol="0" anchor="t">
            <a:spAutoFit/>
          </a:bodyPr>
          <a:lstStyle/>
          <a:p>
            <a:pPr marL="0" indent="0" algn="l">
              <a:buNone/>
            </a:pPr>
            <a:r>
              <a:rPr lang="en-US" sz="1265" dirty="0">
                <a:solidFill>
                  <a:srgbClr val="E3B341"/>
                </a:solidFill>
                <a:latin typeface="JetBrains Mono" pitchFamily="34" charset="0"/>
                <a:ea typeface="JetBrains Mono" pitchFamily="34" charset="-122"/>
                <a:cs typeface="JetBrains Mono" pitchFamily="34" charset="-120"/>
              </a:rPr>
              <a:t>CHALLENGE 01</a:t>
            </a:r>
            <a:endParaRPr lang="en-US" sz="1265" dirty="0"/>
          </a:p>
        </p:txBody>
      </p:sp>
      <p:sp>
        <p:nvSpPr>
          <p:cNvPr id="8" name="Shape 4"/>
          <p:cNvSpPr/>
          <p:nvPr/>
        </p:nvSpPr>
        <p:spPr>
          <a:xfrm>
            <a:off x="809625" y="2572345"/>
            <a:ext cx="4929188" cy="557212"/>
          </a:xfrm>
          <a:prstGeom prst="rect">
            <a:avLst/>
          </a:prstGeom>
          <a:solidFill>
            <a:srgbClr val="0D1117"/>
          </a:solidFill>
          <a:ln w="9144">
            <a:solidFill>
              <a:srgbClr val="30363D"/>
            </a:solidFill>
            <a:prstDash val="solid"/>
          </a:ln>
        </p:spPr>
      </p:sp>
      <p:sp>
        <p:nvSpPr>
          <p:cNvPr id="9" name="Text 5"/>
          <p:cNvSpPr/>
          <p:nvPr/>
        </p:nvSpPr>
        <p:spPr>
          <a:xfrm>
            <a:off x="809625" y="2572345"/>
            <a:ext cx="4929188" cy="554355"/>
          </a:xfrm>
          <a:prstGeom prst="rect">
            <a:avLst/>
          </a:prstGeom>
          <a:noFill/>
        </p:spPr>
        <p:txBody>
          <a:bodyPr wrap="square" lIns="170010" tIns="170010" rIns="170010" bIns="170010" rtlCol="0" anchor="t">
            <a:spAutoFit/>
          </a:bodyPr>
          <a:lstStyle/>
          <a:p>
            <a:pPr marL="0" indent="0" algn="l">
              <a:buNone/>
            </a:pPr>
            <a:r>
              <a:rPr lang="en-US" sz="1400" dirty="0">
                <a:solidFill>
                  <a:srgbClr val="00FF9C"/>
                </a:solidFill>
                <a:latin typeface="JetBrains Mono" pitchFamily="34" charset="0"/>
                <a:ea typeface="JetBrains Mono" pitchFamily="34" charset="-122"/>
                <a:cs typeface="JetBrains Mono" pitchFamily="34" charset="-120"/>
              </a:rPr>
              <a:t>SGVsbG8gV29ybGQ=</a:t>
            </a:r>
            <a:endParaRPr lang="en-US" sz="1400" dirty="0"/>
          </a:p>
        </p:txBody>
      </p:sp>
      <p:sp>
        <p:nvSpPr>
          <p:cNvPr id="10" name="Text 6"/>
          <p:cNvSpPr/>
          <p:nvPr/>
        </p:nvSpPr>
        <p:spPr>
          <a:xfrm>
            <a:off x="809625" y="3253383"/>
            <a:ext cx="4929188" cy="174625"/>
          </a:xfrm>
          <a:prstGeom prst="rect">
            <a:avLst/>
          </a:prstGeom>
          <a:noFill/>
        </p:spPr>
        <p:txBody>
          <a:bodyPr wrap="square" lIns="0" tIns="0" rIns="0" bIns="0" rtlCol="0" anchor="t">
            <a:spAutoFit/>
          </a:bodyPr>
          <a:lstStyle/>
          <a:p>
            <a:pPr marL="0" indent="0" algn="l">
              <a:buNone/>
            </a:pPr>
            <a:r>
              <a:rPr lang="en-US" sz="1135" i="1" dirty="0">
                <a:solidFill>
                  <a:srgbClr val="8B949E"/>
                </a:solidFill>
                <a:latin typeface="Inter" pitchFamily="34" charset="0"/>
                <a:ea typeface="Inter" pitchFamily="34" charset="-122"/>
                <a:cs typeface="Inter" pitchFamily="34" charset="-120"/>
              </a:rPr>
              <a:t>Clue: Check the trailing character.</a:t>
            </a:r>
            <a:endParaRPr lang="en-US" sz="1135" dirty="0"/>
          </a:p>
        </p:txBody>
      </p:sp>
      <p:sp>
        <p:nvSpPr>
          <p:cNvPr id="11" name="Shape 7"/>
          <p:cNvSpPr/>
          <p:nvPr/>
        </p:nvSpPr>
        <p:spPr>
          <a:xfrm>
            <a:off x="6215063" y="1965127"/>
            <a:ext cx="5405437" cy="1928515"/>
          </a:xfrm>
          <a:prstGeom prst="rect">
            <a:avLst/>
          </a:prstGeom>
          <a:solidFill>
            <a:srgbClr val="161B22"/>
          </a:solidFill>
        </p:spPr>
      </p:sp>
      <p:sp>
        <p:nvSpPr>
          <p:cNvPr id="12" name="Shape 8"/>
          <p:cNvSpPr/>
          <p:nvPr/>
        </p:nvSpPr>
        <p:spPr>
          <a:xfrm>
            <a:off x="6215063" y="1965127"/>
            <a:ext cx="5405437" cy="38100"/>
          </a:xfrm>
          <a:prstGeom prst="rect">
            <a:avLst/>
          </a:prstGeom>
          <a:solidFill>
            <a:srgbClr val="E3B341"/>
          </a:solidFill>
        </p:spPr>
      </p:sp>
      <p:pic>
        <p:nvPicPr>
          <p:cNvPr id="13" name="Image 2" descr="preencoded.png"/>
          <p:cNvPicPr>
            <a:picLocks noChangeAspect="1"/>
          </p:cNvPicPr>
          <p:nvPr/>
        </p:nvPicPr>
        <p:blipFill>
          <a:blip r:embed="rId3"/>
          <a:stretch>
            <a:fillRect/>
          </a:stretch>
        </p:blipFill>
        <p:spPr>
          <a:xfrm>
            <a:off x="6453188" y="2230636"/>
            <a:ext cx="214312" cy="171451"/>
          </a:xfrm>
          <a:prstGeom prst="rect">
            <a:avLst/>
          </a:prstGeom>
        </p:spPr>
      </p:pic>
      <p:sp>
        <p:nvSpPr>
          <p:cNvPr id="14" name="Text 9"/>
          <p:cNvSpPr/>
          <p:nvPr/>
        </p:nvSpPr>
        <p:spPr>
          <a:xfrm>
            <a:off x="6762751" y="2203252"/>
            <a:ext cx="1047750" cy="194310"/>
          </a:xfrm>
          <a:prstGeom prst="rect">
            <a:avLst/>
          </a:prstGeom>
          <a:noFill/>
        </p:spPr>
        <p:txBody>
          <a:bodyPr wrap="none" lIns="0" tIns="0" rIns="0" bIns="0" rtlCol="0" anchor="t">
            <a:spAutoFit/>
          </a:bodyPr>
          <a:lstStyle/>
          <a:p>
            <a:pPr marL="0" indent="0" algn="l">
              <a:buNone/>
            </a:pPr>
            <a:r>
              <a:rPr lang="en-US" sz="1265" dirty="0">
                <a:solidFill>
                  <a:srgbClr val="E3B341"/>
                </a:solidFill>
                <a:latin typeface="JetBrains Mono" pitchFamily="34" charset="0"/>
                <a:ea typeface="JetBrains Mono" pitchFamily="34" charset="-122"/>
                <a:cs typeface="JetBrains Mono" pitchFamily="34" charset="-120"/>
              </a:rPr>
              <a:t>CHALLENGE 02</a:t>
            </a:r>
            <a:endParaRPr lang="en-US" sz="1265" dirty="0"/>
          </a:p>
        </p:txBody>
      </p:sp>
      <p:sp>
        <p:nvSpPr>
          <p:cNvPr id="15" name="Shape 10"/>
          <p:cNvSpPr/>
          <p:nvPr/>
        </p:nvSpPr>
        <p:spPr>
          <a:xfrm>
            <a:off x="6453188" y="2572345"/>
            <a:ext cx="4929188" cy="557212"/>
          </a:xfrm>
          <a:prstGeom prst="rect">
            <a:avLst/>
          </a:prstGeom>
          <a:solidFill>
            <a:srgbClr val="0D1117"/>
          </a:solidFill>
          <a:ln w="9144">
            <a:solidFill>
              <a:srgbClr val="30363D"/>
            </a:solidFill>
            <a:prstDash val="solid"/>
          </a:ln>
        </p:spPr>
      </p:sp>
      <p:sp>
        <p:nvSpPr>
          <p:cNvPr id="16" name="Text 11"/>
          <p:cNvSpPr/>
          <p:nvPr/>
        </p:nvSpPr>
        <p:spPr>
          <a:xfrm>
            <a:off x="6453188" y="2572345"/>
            <a:ext cx="4929188" cy="554355"/>
          </a:xfrm>
          <a:prstGeom prst="rect">
            <a:avLst/>
          </a:prstGeom>
          <a:noFill/>
        </p:spPr>
        <p:txBody>
          <a:bodyPr wrap="square" lIns="170010" tIns="170010" rIns="170010" bIns="170010" rtlCol="0" anchor="t">
            <a:spAutoFit/>
          </a:bodyPr>
          <a:lstStyle/>
          <a:p>
            <a:pPr marL="0" indent="0" algn="l">
              <a:buNone/>
            </a:pPr>
            <a:r>
              <a:rPr lang="en-US" sz="1400" dirty="0">
                <a:solidFill>
                  <a:srgbClr val="00FF9C"/>
                </a:solidFill>
                <a:latin typeface="JetBrains Mono" pitchFamily="34" charset="0"/>
                <a:ea typeface="JetBrains Mono" pitchFamily="34" charset="-122"/>
                <a:cs typeface="JetBrains Mono" pitchFamily="34" charset="-120"/>
              </a:rPr>
              <a:t>4354467B656E636F64696E677D</a:t>
            </a:r>
            <a:endParaRPr lang="en-US" sz="1400" dirty="0"/>
          </a:p>
        </p:txBody>
      </p:sp>
      <p:sp>
        <p:nvSpPr>
          <p:cNvPr id="17" name="Text 12"/>
          <p:cNvSpPr/>
          <p:nvPr/>
        </p:nvSpPr>
        <p:spPr>
          <a:xfrm>
            <a:off x="6453188" y="3253383"/>
            <a:ext cx="4929188" cy="174625"/>
          </a:xfrm>
          <a:prstGeom prst="rect">
            <a:avLst/>
          </a:prstGeom>
          <a:noFill/>
        </p:spPr>
        <p:txBody>
          <a:bodyPr wrap="square" lIns="0" tIns="0" rIns="0" bIns="0" rtlCol="0" anchor="t">
            <a:spAutoFit/>
          </a:bodyPr>
          <a:lstStyle/>
          <a:p>
            <a:pPr marL="0" indent="0" algn="l">
              <a:buNone/>
            </a:pPr>
            <a:r>
              <a:rPr lang="en-US" sz="1135" i="1" dirty="0">
                <a:solidFill>
                  <a:srgbClr val="8B949E"/>
                </a:solidFill>
                <a:latin typeface="Inter" pitchFamily="34" charset="0"/>
                <a:ea typeface="Inter" pitchFamily="34" charset="-122"/>
                <a:cs typeface="Inter" pitchFamily="34" charset="-120"/>
              </a:rPr>
              <a:t>Clue: Even length, only 0-9 and A-F.</a:t>
            </a:r>
            <a:endParaRPr lang="en-US" sz="1135" dirty="0"/>
          </a:p>
        </p:txBody>
      </p:sp>
      <p:sp>
        <p:nvSpPr>
          <p:cNvPr id="18" name="Shape 13"/>
          <p:cNvSpPr/>
          <p:nvPr/>
        </p:nvSpPr>
        <p:spPr>
          <a:xfrm>
            <a:off x="571500" y="4103192"/>
            <a:ext cx="5405437" cy="1957089"/>
          </a:xfrm>
          <a:prstGeom prst="rect">
            <a:avLst/>
          </a:prstGeom>
          <a:solidFill>
            <a:srgbClr val="161B22"/>
          </a:solidFill>
        </p:spPr>
      </p:sp>
      <p:sp>
        <p:nvSpPr>
          <p:cNvPr id="19" name="Shape 14"/>
          <p:cNvSpPr/>
          <p:nvPr/>
        </p:nvSpPr>
        <p:spPr>
          <a:xfrm>
            <a:off x="571500" y="4103192"/>
            <a:ext cx="5405437" cy="38100"/>
          </a:xfrm>
          <a:prstGeom prst="rect">
            <a:avLst/>
          </a:prstGeom>
          <a:solidFill>
            <a:srgbClr val="E3B341"/>
          </a:solidFill>
        </p:spPr>
      </p:sp>
      <p:pic>
        <p:nvPicPr>
          <p:cNvPr id="20" name="Image 3" descr="preencoded.png"/>
          <p:cNvPicPr>
            <a:picLocks noChangeAspect="1"/>
          </p:cNvPicPr>
          <p:nvPr/>
        </p:nvPicPr>
        <p:blipFill>
          <a:blip r:embed="rId4"/>
          <a:stretch>
            <a:fillRect/>
          </a:stretch>
        </p:blipFill>
        <p:spPr>
          <a:xfrm>
            <a:off x="809625" y="4368701"/>
            <a:ext cx="171451" cy="171451"/>
          </a:xfrm>
          <a:prstGeom prst="rect">
            <a:avLst/>
          </a:prstGeom>
        </p:spPr>
      </p:pic>
      <p:sp>
        <p:nvSpPr>
          <p:cNvPr id="21" name="Text 15"/>
          <p:cNvSpPr/>
          <p:nvPr/>
        </p:nvSpPr>
        <p:spPr>
          <a:xfrm>
            <a:off x="1076325" y="4341316"/>
            <a:ext cx="1047750" cy="194310"/>
          </a:xfrm>
          <a:prstGeom prst="rect">
            <a:avLst/>
          </a:prstGeom>
          <a:noFill/>
        </p:spPr>
        <p:txBody>
          <a:bodyPr wrap="none" lIns="0" tIns="0" rIns="0" bIns="0" rtlCol="0" anchor="t">
            <a:spAutoFit/>
          </a:bodyPr>
          <a:lstStyle/>
          <a:p>
            <a:pPr marL="0" indent="0" algn="l">
              <a:buNone/>
            </a:pPr>
            <a:r>
              <a:rPr lang="en-US" sz="1265" dirty="0">
                <a:solidFill>
                  <a:srgbClr val="E3B341"/>
                </a:solidFill>
                <a:latin typeface="JetBrains Mono" pitchFamily="34" charset="0"/>
                <a:ea typeface="JetBrains Mono" pitchFamily="34" charset="-122"/>
                <a:cs typeface="JetBrains Mono" pitchFamily="34" charset="-120"/>
              </a:rPr>
              <a:t>CHALLENGE 03</a:t>
            </a:r>
            <a:endParaRPr lang="en-US" sz="1265" dirty="0"/>
          </a:p>
        </p:txBody>
      </p:sp>
      <p:sp>
        <p:nvSpPr>
          <p:cNvPr id="22" name="Shape 16"/>
          <p:cNvSpPr/>
          <p:nvPr/>
        </p:nvSpPr>
        <p:spPr>
          <a:xfrm>
            <a:off x="809625" y="4710411"/>
            <a:ext cx="4929188" cy="557212"/>
          </a:xfrm>
          <a:prstGeom prst="rect">
            <a:avLst/>
          </a:prstGeom>
          <a:solidFill>
            <a:srgbClr val="0D1117"/>
          </a:solidFill>
          <a:ln w="9144">
            <a:solidFill>
              <a:srgbClr val="30363D"/>
            </a:solidFill>
            <a:prstDash val="solid"/>
          </a:ln>
        </p:spPr>
      </p:sp>
      <p:sp>
        <p:nvSpPr>
          <p:cNvPr id="23" name="Text 17"/>
          <p:cNvSpPr/>
          <p:nvPr/>
        </p:nvSpPr>
        <p:spPr>
          <a:xfrm>
            <a:off x="809625" y="4710411"/>
            <a:ext cx="4929188" cy="554355"/>
          </a:xfrm>
          <a:prstGeom prst="rect">
            <a:avLst/>
          </a:prstGeom>
          <a:noFill/>
        </p:spPr>
        <p:txBody>
          <a:bodyPr wrap="square" lIns="170010" tIns="170010" rIns="170010" bIns="170010" rtlCol="0" anchor="t">
            <a:spAutoFit/>
          </a:bodyPr>
          <a:lstStyle/>
          <a:p>
            <a:pPr marL="0" indent="0" algn="l">
              <a:buNone/>
            </a:pPr>
            <a:r>
              <a:rPr lang="en-US" sz="1400" dirty="0">
                <a:solidFill>
                  <a:srgbClr val="00FF9C"/>
                </a:solidFill>
                <a:latin typeface="JetBrains Mono" pitchFamily="34" charset="0"/>
                <a:ea typeface="JetBrains Mono" pitchFamily="34" charset="-122"/>
                <a:cs typeface="JetBrains Mono" pitchFamily="34" charset="-120"/>
              </a:rPr>
              <a:t>%43%54%46%7B%75%72%6C%7D</a:t>
            </a:r>
            <a:endParaRPr lang="en-US" sz="1400" dirty="0"/>
          </a:p>
        </p:txBody>
      </p:sp>
      <p:sp>
        <p:nvSpPr>
          <p:cNvPr id="24" name="Text 18"/>
          <p:cNvSpPr/>
          <p:nvPr/>
        </p:nvSpPr>
        <p:spPr>
          <a:xfrm>
            <a:off x="809625" y="5391448"/>
            <a:ext cx="4929188" cy="174625"/>
          </a:xfrm>
          <a:prstGeom prst="rect">
            <a:avLst/>
          </a:prstGeom>
          <a:noFill/>
        </p:spPr>
        <p:txBody>
          <a:bodyPr wrap="square" lIns="0" tIns="0" rIns="0" bIns="0" rtlCol="0" anchor="t">
            <a:spAutoFit/>
          </a:bodyPr>
          <a:lstStyle/>
          <a:p>
            <a:pPr marL="0" indent="0" algn="l">
              <a:buNone/>
            </a:pPr>
            <a:r>
              <a:rPr lang="en-US" sz="1135" i="1" dirty="0">
                <a:solidFill>
                  <a:srgbClr val="8B949E"/>
                </a:solidFill>
                <a:latin typeface="Inter" pitchFamily="34" charset="0"/>
                <a:ea typeface="Inter" pitchFamily="34" charset="-122"/>
                <a:cs typeface="Inter" pitchFamily="34" charset="-120"/>
              </a:rPr>
              <a:t>Clue: Look for the % symbols.</a:t>
            </a:r>
            <a:endParaRPr lang="en-US" sz="1135" dirty="0"/>
          </a:p>
        </p:txBody>
      </p:sp>
      <p:sp>
        <p:nvSpPr>
          <p:cNvPr id="25" name="Shape 19"/>
          <p:cNvSpPr/>
          <p:nvPr/>
        </p:nvSpPr>
        <p:spPr>
          <a:xfrm>
            <a:off x="6215063" y="4103192"/>
            <a:ext cx="5405437" cy="1957089"/>
          </a:xfrm>
          <a:prstGeom prst="rect">
            <a:avLst/>
          </a:prstGeom>
          <a:solidFill>
            <a:srgbClr val="161B22"/>
          </a:solidFill>
        </p:spPr>
      </p:sp>
      <p:sp>
        <p:nvSpPr>
          <p:cNvPr id="26" name="Shape 20"/>
          <p:cNvSpPr/>
          <p:nvPr/>
        </p:nvSpPr>
        <p:spPr>
          <a:xfrm>
            <a:off x="6215063" y="4103192"/>
            <a:ext cx="5405437" cy="38100"/>
          </a:xfrm>
          <a:prstGeom prst="rect">
            <a:avLst/>
          </a:prstGeom>
          <a:solidFill>
            <a:srgbClr val="E3B341"/>
          </a:solidFill>
        </p:spPr>
      </p:sp>
      <p:pic>
        <p:nvPicPr>
          <p:cNvPr id="27" name="Image 4" descr="preencoded.png"/>
          <p:cNvPicPr>
            <a:picLocks noChangeAspect="1"/>
          </p:cNvPicPr>
          <p:nvPr/>
        </p:nvPicPr>
        <p:blipFill>
          <a:blip r:embed="rId5"/>
          <a:stretch>
            <a:fillRect/>
          </a:stretch>
        </p:blipFill>
        <p:spPr>
          <a:xfrm>
            <a:off x="6453188" y="4387751"/>
            <a:ext cx="171451" cy="171451"/>
          </a:xfrm>
          <a:prstGeom prst="rect">
            <a:avLst/>
          </a:prstGeom>
        </p:spPr>
      </p:pic>
      <p:sp>
        <p:nvSpPr>
          <p:cNvPr id="28" name="Text 21"/>
          <p:cNvSpPr/>
          <p:nvPr/>
        </p:nvSpPr>
        <p:spPr>
          <a:xfrm>
            <a:off x="6719888" y="4360367"/>
            <a:ext cx="1047750" cy="194310"/>
          </a:xfrm>
          <a:prstGeom prst="rect">
            <a:avLst/>
          </a:prstGeom>
          <a:noFill/>
        </p:spPr>
        <p:txBody>
          <a:bodyPr wrap="none" lIns="0" tIns="0" rIns="0" bIns="0" rtlCol="0" anchor="t">
            <a:spAutoFit/>
          </a:bodyPr>
          <a:lstStyle/>
          <a:p>
            <a:pPr marL="0" indent="0" algn="l">
              <a:buNone/>
            </a:pPr>
            <a:r>
              <a:rPr lang="en-US" sz="1265" dirty="0">
                <a:solidFill>
                  <a:srgbClr val="E3B341"/>
                </a:solidFill>
                <a:latin typeface="JetBrains Mono" pitchFamily="34" charset="0"/>
                <a:ea typeface="JetBrains Mono" pitchFamily="34" charset="-122"/>
                <a:cs typeface="JetBrains Mono" pitchFamily="34" charset="-120"/>
              </a:rPr>
              <a:t>CHALLENGE 04</a:t>
            </a:r>
            <a:endParaRPr lang="en-US" sz="1265" dirty="0"/>
          </a:p>
        </p:txBody>
      </p:sp>
      <p:sp>
        <p:nvSpPr>
          <p:cNvPr id="29" name="Shape 22"/>
          <p:cNvSpPr/>
          <p:nvPr/>
        </p:nvSpPr>
        <p:spPr>
          <a:xfrm>
            <a:off x="6453188" y="4729460"/>
            <a:ext cx="4929188" cy="557212"/>
          </a:xfrm>
          <a:prstGeom prst="rect">
            <a:avLst/>
          </a:prstGeom>
          <a:solidFill>
            <a:srgbClr val="0D1117"/>
          </a:solidFill>
          <a:ln w="9144">
            <a:solidFill>
              <a:srgbClr val="30363D"/>
            </a:solidFill>
            <a:prstDash val="solid"/>
          </a:ln>
        </p:spPr>
      </p:sp>
      <p:sp>
        <p:nvSpPr>
          <p:cNvPr id="30" name="Text 23"/>
          <p:cNvSpPr/>
          <p:nvPr/>
        </p:nvSpPr>
        <p:spPr>
          <a:xfrm>
            <a:off x="6453188" y="4729460"/>
            <a:ext cx="4929188" cy="554355"/>
          </a:xfrm>
          <a:prstGeom prst="rect">
            <a:avLst/>
          </a:prstGeom>
          <a:noFill/>
        </p:spPr>
        <p:txBody>
          <a:bodyPr wrap="square" lIns="170010" tIns="170010" rIns="170010" bIns="170010" rtlCol="0" anchor="t">
            <a:spAutoFit/>
          </a:bodyPr>
          <a:lstStyle/>
          <a:p>
            <a:pPr marL="0" indent="0" algn="l">
              <a:buNone/>
            </a:pPr>
            <a:r>
              <a:rPr lang="en-US" sz="1400" dirty="0">
                <a:solidFill>
                  <a:srgbClr val="00FF9C"/>
                </a:solidFill>
                <a:latin typeface="JetBrains Mono" pitchFamily="34" charset="0"/>
                <a:ea typeface="JetBrains Mono" pitchFamily="34" charset="-122"/>
                <a:cs typeface="JetBrains Mono" pitchFamily="34" charset="-120"/>
              </a:rPr>
              <a:t>JBSWY3DPEBLW64TMMQ======</a:t>
            </a:r>
            <a:endParaRPr lang="en-US" sz="1400" dirty="0"/>
          </a:p>
        </p:txBody>
      </p:sp>
      <p:sp>
        <p:nvSpPr>
          <p:cNvPr id="31" name="Text 24"/>
          <p:cNvSpPr/>
          <p:nvPr/>
        </p:nvSpPr>
        <p:spPr>
          <a:xfrm>
            <a:off x="6453188" y="5420023"/>
            <a:ext cx="4929188" cy="174625"/>
          </a:xfrm>
          <a:prstGeom prst="rect">
            <a:avLst/>
          </a:prstGeom>
          <a:noFill/>
        </p:spPr>
        <p:txBody>
          <a:bodyPr wrap="square" lIns="0" tIns="0" rIns="0" bIns="0" rtlCol="0" anchor="t">
            <a:spAutoFit/>
          </a:bodyPr>
          <a:lstStyle/>
          <a:p>
            <a:pPr marL="0" indent="0" algn="l">
              <a:buNone/>
            </a:pPr>
            <a:r>
              <a:rPr lang="en-US" sz="1135" i="1" dirty="0">
                <a:solidFill>
                  <a:srgbClr val="8B949E"/>
                </a:solidFill>
                <a:latin typeface="Inter" pitchFamily="34" charset="0"/>
                <a:ea typeface="Inter" pitchFamily="34" charset="-122"/>
                <a:cs typeface="Inter" pitchFamily="34" charset="-120"/>
              </a:rPr>
              <a:t>Clue: All uppercase, 2-7, heavy padding.</a:t>
            </a:r>
            <a:endParaRPr lang="en-US" sz="1135" dirty="0"/>
          </a:p>
        </p:txBody>
      </p:sp>
      <p:pic>
        <p:nvPicPr>
          <p:cNvPr id="32" name="Image 5" descr="preencoded.png"/>
          <p:cNvPicPr>
            <a:picLocks noChangeAspect="1"/>
          </p:cNvPicPr>
          <p:nvPr/>
        </p:nvPicPr>
        <p:blipFill>
          <a:blip r:embed="rId6"/>
          <a:stretch>
            <a:fillRect/>
          </a:stretch>
        </p:blipFill>
        <p:spPr>
          <a:xfrm>
            <a:off x="571500" y="6274593"/>
            <a:ext cx="171451" cy="171451"/>
          </a:xfrm>
          <a:prstGeom prst="rect">
            <a:avLst/>
          </a:prstGeom>
        </p:spPr>
      </p:pic>
      <p:sp>
        <p:nvSpPr>
          <p:cNvPr id="33" name="Text 25"/>
          <p:cNvSpPr/>
          <p:nvPr/>
        </p:nvSpPr>
        <p:spPr>
          <a:xfrm>
            <a:off x="838200" y="6250781"/>
            <a:ext cx="5938837"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pitchFamily="34" charset="0"/>
                <a:ea typeface="JetBrains Mono" pitchFamily="34" charset="-122"/>
                <a:cs typeface="JetBrains Mono" pitchFamily="34" charset="-120"/>
              </a:rPr>
              <a:t>Try to identify the encoding type before using CyberChef.</a:t>
            </a:r>
            <a:endParaRPr lang="en-US" sz="126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53034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7319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00FF9C"/>
                </a:solidFill>
                <a:latin typeface="Poppins Bold" pitchFamily="34" charset="0"/>
                <a:ea typeface="Poppins Bold" pitchFamily="34" charset="-122"/>
                <a:cs typeface="Poppins Bold" pitchFamily="34" charset="-120"/>
              </a:rPr>
              <a:t>SOLUTIONS &amp; CYBERCHEF RECIPES</a:t>
            </a:r>
            <a:endParaRPr lang="en-US" sz="3265" dirty="0"/>
          </a:p>
        </p:txBody>
      </p:sp>
      <p:sp>
        <p:nvSpPr>
          <p:cNvPr id="4" name="Shape 1"/>
          <p:cNvSpPr/>
          <p:nvPr/>
        </p:nvSpPr>
        <p:spPr>
          <a:xfrm>
            <a:off x="571500" y="1869876"/>
            <a:ext cx="5429251" cy="2095203"/>
          </a:xfrm>
          <a:prstGeom prst="rect">
            <a:avLst/>
          </a:prstGeom>
          <a:solidFill>
            <a:srgbClr val="161B22"/>
          </a:solidFill>
        </p:spPr>
      </p:sp>
      <p:sp>
        <p:nvSpPr>
          <p:cNvPr id="5" name="Shape 2"/>
          <p:cNvSpPr/>
          <p:nvPr/>
        </p:nvSpPr>
        <p:spPr>
          <a:xfrm>
            <a:off x="571500" y="1869876"/>
            <a:ext cx="5429251" cy="38100"/>
          </a:xfrm>
          <a:prstGeom prst="rect">
            <a:avLst/>
          </a:prstGeom>
          <a:solidFill>
            <a:srgbClr val="00FF9C"/>
          </a:solidFill>
        </p:spPr>
      </p:sp>
      <p:sp>
        <p:nvSpPr>
          <p:cNvPr id="6" name="Text 3"/>
          <p:cNvSpPr/>
          <p:nvPr/>
        </p:nvSpPr>
        <p:spPr>
          <a:xfrm>
            <a:off x="762000" y="2060376"/>
            <a:ext cx="5048251" cy="174625"/>
          </a:xfrm>
          <a:prstGeom prst="rect">
            <a:avLst/>
          </a:prstGeom>
          <a:noFill/>
        </p:spPr>
        <p:txBody>
          <a:bodyPr wrap="square" lIns="0" tIns="0" rIns="0" bIns="0" rtlCol="0" anchor="t">
            <a:spAutoFit/>
          </a:bodyPr>
          <a:lstStyle/>
          <a:p>
            <a:pPr marL="0" indent="0" algn="l">
              <a:buNone/>
            </a:pPr>
            <a:r>
              <a:rPr lang="en-US" sz="1135" dirty="0">
                <a:solidFill>
                  <a:srgbClr val="58A6FF"/>
                </a:solidFill>
                <a:latin typeface="JetBrains Mono" pitchFamily="34" charset="0"/>
                <a:ea typeface="JetBrains Mono" pitchFamily="34" charset="-122"/>
                <a:cs typeface="JetBrains Mono" pitchFamily="34" charset="-120"/>
              </a:rPr>
              <a:t>A1: BASE64 DECODE</a:t>
            </a:r>
            <a:endParaRPr lang="en-US" sz="1135" dirty="0"/>
          </a:p>
        </p:txBody>
      </p:sp>
      <p:sp>
        <p:nvSpPr>
          <p:cNvPr id="7" name="Text 4"/>
          <p:cNvSpPr/>
          <p:nvPr/>
        </p:nvSpPr>
        <p:spPr>
          <a:xfrm>
            <a:off x="762000" y="2355652"/>
            <a:ext cx="5048251" cy="245745"/>
          </a:xfrm>
          <a:prstGeom prst="rect">
            <a:avLst/>
          </a:prstGeom>
          <a:noFill/>
        </p:spPr>
        <p:txBody>
          <a:bodyPr wrap="square" lIns="0" tIns="0" rIns="0" bIns="0" rtlCol="0" anchor="t">
            <a:spAutoFit/>
          </a:bodyPr>
          <a:lstStyle/>
          <a:p>
            <a:pPr marL="0" indent="0" algn="l">
              <a:buNone/>
            </a:pPr>
            <a:r>
              <a:rPr lang="en-US" sz="1600" b="1" dirty="0">
                <a:solidFill>
                  <a:srgbClr val="00FF9C"/>
                </a:solidFill>
                <a:latin typeface="JetBrains Mono" pitchFamily="34" charset="0"/>
                <a:ea typeface="JetBrains Mono" pitchFamily="34" charset="-122"/>
                <a:cs typeface="JetBrains Mono" pitchFamily="34" charset="-120"/>
              </a:rPr>
              <a:t>"Hello World"</a:t>
            </a:r>
            <a:endParaRPr lang="en-US" sz="1600" dirty="0"/>
          </a:p>
        </p:txBody>
      </p:sp>
      <p:sp>
        <p:nvSpPr>
          <p:cNvPr id="8" name="Shape 5"/>
          <p:cNvSpPr/>
          <p:nvPr/>
        </p:nvSpPr>
        <p:spPr>
          <a:xfrm>
            <a:off x="762000" y="2800945"/>
            <a:ext cx="5048251" cy="645319"/>
          </a:xfrm>
          <a:prstGeom prst="rect">
            <a:avLst/>
          </a:prstGeom>
          <a:solidFill>
            <a:srgbClr val="0D1117"/>
          </a:solidFill>
          <a:ln w="9144">
            <a:solidFill>
              <a:srgbClr val="30363D"/>
            </a:solidFill>
            <a:prstDash val="solid"/>
          </a:ln>
        </p:spPr>
      </p:sp>
      <p:sp>
        <p:nvSpPr>
          <p:cNvPr id="9" name="Text 6"/>
          <p:cNvSpPr/>
          <p:nvPr/>
        </p:nvSpPr>
        <p:spPr>
          <a:xfrm>
            <a:off x="876300" y="2915245"/>
            <a:ext cx="4819651" cy="122555"/>
          </a:xfrm>
          <a:prstGeom prst="rect">
            <a:avLst/>
          </a:prstGeom>
          <a:noFill/>
        </p:spPr>
        <p:txBody>
          <a:bodyPr wrap="square" lIns="0" tIns="0" rIns="0" bIns="0" rtlCol="0" anchor="t">
            <a:spAutoFit/>
          </a:bodyPr>
          <a:lstStyle/>
          <a:p>
            <a:pPr marL="0" indent="0" algn="l">
              <a:buNone/>
            </a:pPr>
            <a:r>
              <a:rPr lang="en-US" sz="800" dirty="0">
                <a:solidFill>
                  <a:srgbClr val="58A6FF"/>
                </a:solidFill>
                <a:latin typeface="JetBrains Mono" pitchFamily="34" charset="0"/>
                <a:ea typeface="JetBrains Mono" pitchFamily="34" charset="-122"/>
                <a:cs typeface="JetBrains Mono" pitchFamily="34" charset="-120"/>
              </a:rPr>
              <a:t>CYBERCHEF RECIPE</a:t>
            </a:r>
            <a:endParaRPr lang="en-US" sz="800" dirty="0"/>
          </a:p>
        </p:txBody>
      </p:sp>
      <p:sp>
        <p:nvSpPr>
          <p:cNvPr id="10" name="Text 7"/>
          <p:cNvSpPr/>
          <p:nvPr/>
        </p:nvSpPr>
        <p:spPr>
          <a:xfrm>
            <a:off x="876300" y="3112889"/>
            <a:ext cx="3619500" cy="174625"/>
          </a:xfrm>
          <a:prstGeom prst="rect">
            <a:avLst/>
          </a:prstGeom>
          <a:noFill/>
        </p:spPr>
        <p:txBody>
          <a:bodyPr wrap="square" lIns="0" tIns="0" rIns="0" bIns="0" rtlCol="0" anchor="t">
            <a:spAutoFit/>
          </a:bodyPr>
          <a:lstStyle/>
          <a:p>
            <a:pPr marL="0" indent="0" algn="l">
              <a:buNone/>
            </a:pPr>
            <a:r>
              <a:rPr lang="en-US" sz="1135" dirty="0">
                <a:solidFill>
                  <a:srgbClr val="8B949E"/>
                </a:solidFill>
                <a:latin typeface="JetBrains Mono" pitchFamily="34" charset="0"/>
                <a:ea typeface="JetBrains Mono" pitchFamily="34" charset="-122"/>
                <a:cs typeface="JetBrains Mono" pitchFamily="34" charset="-120"/>
              </a:rPr>
              <a:t>From_Base64('A-Za-z0-9+/=', true, false)</a:t>
            </a:r>
            <a:endParaRPr lang="en-US" sz="1135" dirty="0"/>
          </a:p>
        </p:txBody>
      </p:sp>
      <p:sp>
        <p:nvSpPr>
          <p:cNvPr id="11" name="Shape 8"/>
          <p:cNvSpPr/>
          <p:nvPr/>
        </p:nvSpPr>
        <p:spPr>
          <a:xfrm>
            <a:off x="6191251" y="1869876"/>
            <a:ext cx="5429251" cy="2095203"/>
          </a:xfrm>
          <a:prstGeom prst="rect">
            <a:avLst/>
          </a:prstGeom>
          <a:solidFill>
            <a:srgbClr val="161B22"/>
          </a:solidFill>
        </p:spPr>
      </p:sp>
      <p:sp>
        <p:nvSpPr>
          <p:cNvPr id="12" name="Shape 9"/>
          <p:cNvSpPr/>
          <p:nvPr/>
        </p:nvSpPr>
        <p:spPr>
          <a:xfrm>
            <a:off x="6191251" y="1869876"/>
            <a:ext cx="5429251" cy="38100"/>
          </a:xfrm>
          <a:prstGeom prst="rect">
            <a:avLst/>
          </a:prstGeom>
          <a:solidFill>
            <a:srgbClr val="00FF9C"/>
          </a:solidFill>
        </p:spPr>
      </p:sp>
      <p:sp>
        <p:nvSpPr>
          <p:cNvPr id="13" name="Text 10"/>
          <p:cNvSpPr/>
          <p:nvPr/>
        </p:nvSpPr>
        <p:spPr>
          <a:xfrm>
            <a:off x="6381751" y="2060376"/>
            <a:ext cx="5048251" cy="174625"/>
          </a:xfrm>
          <a:prstGeom prst="rect">
            <a:avLst/>
          </a:prstGeom>
          <a:noFill/>
        </p:spPr>
        <p:txBody>
          <a:bodyPr wrap="square" lIns="0" tIns="0" rIns="0" bIns="0" rtlCol="0" anchor="t">
            <a:spAutoFit/>
          </a:bodyPr>
          <a:lstStyle/>
          <a:p>
            <a:pPr marL="0" indent="0" algn="l">
              <a:buNone/>
            </a:pPr>
            <a:r>
              <a:rPr lang="en-US" sz="1135" dirty="0">
                <a:solidFill>
                  <a:srgbClr val="58A6FF"/>
                </a:solidFill>
                <a:latin typeface="JetBrains Mono" pitchFamily="34" charset="0"/>
                <a:ea typeface="JetBrains Mono" pitchFamily="34" charset="-122"/>
                <a:cs typeface="JetBrains Mono" pitchFamily="34" charset="-120"/>
              </a:rPr>
              <a:t>A2: HEX DECODE</a:t>
            </a:r>
            <a:endParaRPr lang="en-US" sz="1135" dirty="0"/>
          </a:p>
        </p:txBody>
      </p:sp>
      <p:sp>
        <p:nvSpPr>
          <p:cNvPr id="14" name="Text 11"/>
          <p:cNvSpPr/>
          <p:nvPr/>
        </p:nvSpPr>
        <p:spPr>
          <a:xfrm>
            <a:off x="6381751" y="2355652"/>
            <a:ext cx="5048251" cy="245745"/>
          </a:xfrm>
          <a:prstGeom prst="rect">
            <a:avLst/>
          </a:prstGeom>
          <a:noFill/>
        </p:spPr>
        <p:txBody>
          <a:bodyPr wrap="square" lIns="0" tIns="0" rIns="0" bIns="0" rtlCol="0" anchor="t">
            <a:spAutoFit/>
          </a:bodyPr>
          <a:lstStyle/>
          <a:p>
            <a:pPr marL="0" indent="0" algn="l">
              <a:buNone/>
            </a:pPr>
            <a:r>
              <a:rPr lang="en-US" sz="1600" b="1" dirty="0">
                <a:solidFill>
                  <a:srgbClr val="00FF9C"/>
                </a:solidFill>
                <a:latin typeface="JetBrains Mono" pitchFamily="34" charset="0"/>
                <a:ea typeface="JetBrains Mono" pitchFamily="34" charset="-122"/>
                <a:cs typeface="JetBrains Mono" pitchFamily="34" charset="-120"/>
              </a:rPr>
              <a:t>"CTF{encoding}"</a:t>
            </a:r>
            <a:endParaRPr lang="en-US" sz="1600" dirty="0"/>
          </a:p>
        </p:txBody>
      </p:sp>
      <p:sp>
        <p:nvSpPr>
          <p:cNvPr id="15" name="Shape 12"/>
          <p:cNvSpPr/>
          <p:nvPr/>
        </p:nvSpPr>
        <p:spPr>
          <a:xfrm>
            <a:off x="6381751" y="2800945"/>
            <a:ext cx="5048251" cy="645319"/>
          </a:xfrm>
          <a:prstGeom prst="rect">
            <a:avLst/>
          </a:prstGeom>
          <a:solidFill>
            <a:srgbClr val="0D1117"/>
          </a:solidFill>
          <a:ln w="9144">
            <a:solidFill>
              <a:srgbClr val="30363D"/>
            </a:solidFill>
            <a:prstDash val="solid"/>
          </a:ln>
        </p:spPr>
      </p:sp>
      <p:sp>
        <p:nvSpPr>
          <p:cNvPr id="16" name="Text 13"/>
          <p:cNvSpPr/>
          <p:nvPr/>
        </p:nvSpPr>
        <p:spPr>
          <a:xfrm>
            <a:off x="6496051" y="2915245"/>
            <a:ext cx="4819651" cy="122555"/>
          </a:xfrm>
          <a:prstGeom prst="rect">
            <a:avLst/>
          </a:prstGeom>
          <a:noFill/>
        </p:spPr>
        <p:txBody>
          <a:bodyPr wrap="square" lIns="0" tIns="0" rIns="0" bIns="0" rtlCol="0" anchor="t">
            <a:spAutoFit/>
          </a:bodyPr>
          <a:lstStyle/>
          <a:p>
            <a:pPr marL="0" indent="0" algn="l">
              <a:buNone/>
            </a:pPr>
            <a:r>
              <a:rPr lang="en-US" sz="800" dirty="0">
                <a:solidFill>
                  <a:srgbClr val="58A6FF"/>
                </a:solidFill>
                <a:latin typeface="JetBrains Mono" pitchFamily="34" charset="0"/>
                <a:ea typeface="JetBrains Mono" pitchFamily="34" charset="-122"/>
                <a:cs typeface="JetBrains Mono" pitchFamily="34" charset="-120"/>
              </a:rPr>
              <a:t>CYBERCHEF RECIPE</a:t>
            </a:r>
            <a:endParaRPr lang="en-US" sz="800" dirty="0"/>
          </a:p>
        </p:txBody>
      </p:sp>
      <p:sp>
        <p:nvSpPr>
          <p:cNvPr id="17" name="Text 14"/>
          <p:cNvSpPr/>
          <p:nvPr/>
        </p:nvSpPr>
        <p:spPr>
          <a:xfrm>
            <a:off x="6496051" y="3112889"/>
            <a:ext cx="1134745" cy="174625"/>
          </a:xfrm>
          <a:prstGeom prst="rect">
            <a:avLst/>
          </a:prstGeom>
          <a:noFill/>
        </p:spPr>
        <p:txBody>
          <a:bodyPr wrap="none" lIns="0" tIns="0" rIns="0" bIns="0" rtlCol="0" anchor="t">
            <a:spAutoFit/>
          </a:bodyPr>
          <a:lstStyle/>
          <a:p>
            <a:pPr marL="0" indent="0" algn="l">
              <a:buNone/>
            </a:pPr>
            <a:r>
              <a:rPr lang="en-US" sz="1135" dirty="0">
                <a:solidFill>
                  <a:srgbClr val="8B949E"/>
                </a:solidFill>
                <a:latin typeface="JetBrains Mono" pitchFamily="34" charset="0"/>
                <a:ea typeface="JetBrains Mono" pitchFamily="34" charset="-122"/>
                <a:cs typeface="JetBrains Mono" pitchFamily="34" charset="-120"/>
              </a:rPr>
              <a:t>From_Hex('Auto')</a:t>
            </a:r>
            <a:endParaRPr lang="en-US" sz="1135" dirty="0"/>
          </a:p>
        </p:txBody>
      </p:sp>
      <p:sp>
        <p:nvSpPr>
          <p:cNvPr id="18" name="Shape 15"/>
          <p:cNvSpPr/>
          <p:nvPr/>
        </p:nvSpPr>
        <p:spPr>
          <a:xfrm>
            <a:off x="571500" y="4127004"/>
            <a:ext cx="5429251" cy="2123777"/>
          </a:xfrm>
          <a:prstGeom prst="rect">
            <a:avLst/>
          </a:prstGeom>
          <a:solidFill>
            <a:srgbClr val="161B22"/>
          </a:solidFill>
        </p:spPr>
      </p:sp>
      <p:sp>
        <p:nvSpPr>
          <p:cNvPr id="19" name="Shape 16"/>
          <p:cNvSpPr/>
          <p:nvPr/>
        </p:nvSpPr>
        <p:spPr>
          <a:xfrm>
            <a:off x="571500" y="4127004"/>
            <a:ext cx="5429251" cy="38100"/>
          </a:xfrm>
          <a:prstGeom prst="rect">
            <a:avLst/>
          </a:prstGeom>
          <a:solidFill>
            <a:srgbClr val="00FF9C"/>
          </a:solidFill>
        </p:spPr>
      </p:sp>
      <p:sp>
        <p:nvSpPr>
          <p:cNvPr id="20" name="Text 17"/>
          <p:cNvSpPr/>
          <p:nvPr/>
        </p:nvSpPr>
        <p:spPr>
          <a:xfrm>
            <a:off x="762000" y="4317504"/>
            <a:ext cx="5048251" cy="174625"/>
          </a:xfrm>
          <a:prstGeom prst="rect">
            <a:avLst/>
          </a:prstGeom>
          <a:noFill/>
        </p:spPr>
        <p:txBody>
          <a:bodyPr wrap="square" lIns="0" tIns="0" rIns="0" bIns="0" rtlCol="0" anchor="t">
            <a:spAutoFit/>
          </a:bodyPr>
          <a:lstStyle/>
          <a:p>
            <a:pPr marL="0" indent="0" algn="l">
              <a:buNone/>
            </a:pPr>
            <a:r>
              <a:rPr lang="en-US" sz="1135" dirty="0">
                <a:solidFill>
                  <a:srgbClr val="58A6FF"/>
                </a:solidFill>
                <a:latin typeface="JetBrains Mono" pitchFamily="34" charset="0"/>
                <a:ea typeface="JetBrains Mono" pitchFamily="34" charset="-122"/>
                <a:cs typeface="JetBrains Mono" pitchFamily="34" charset="-120"/>
              </a:rPr>
              <a:t>A3: URL DECODE</a:t>
            </a:r>
            <a:endParaRPr lang="en-US" sz="1135" dirty="0"/>
          </a:p>
        </p:txBody>
      </p:sp>
      <p:sp>
        <p:nvSpPr>
          <p:cNvPr id="21" name="Text 18"/>
          <p:cNvSpPr/>
          <p:nvPr/>
        </p:nvSpPr>
        <p:spPr>
          <a:xfrm>
            <a:off x="762000" y="4612779"/>
            <a:ext cx="5048251" cy="245745"/>
          </a:xfrm>
          <a:prstGeom prst="rect">
            <a:avLst/>
          </a:prstGeom>
          <a:noFill/>
        </p:spPr>
        <p:txBody>
          <a:bodyPr wrap="square" lIns="0" tIns="0" rIns="0" bIns="0" rtlCol="0" anchor="t">
            <a:spAutoFit/>
          </a:bodyPr>
          <a:lstStyle/>
          <a:p>
            <a:pPr marL="0" indent="0" algn="l">
              <a:buNone/>
            </a:pPr>
            <a:r>
              <a:rPr lang="en-US" sz="1600" b="1" dirty="0">
                <a:solidFill>
                  <a:srgbClr val="00FF9C"/>
                </a:solidFill>
                <a:latin typeface="JetBrains Mono" pitchFamily="34" charset="0"/>
                <a:ea typeface="JetBrains Mono" pitchFamily="34" charset="-122"/>
                <a:cs typeface="JetBrains Mono" pitchFamily="34" charset="-120"/>
              </a:rPr>
              <a:t>"CTF{url}"</a:t>
            </a:r>
            <a:endParaRPr lang="en-US" sz="1600" dirty="0"/>
          </a:p>
        </p:txBody>
      </p:sp>
      <p:sp>
        <p:nvSpPr>
          <p:cNvPr id="22" name="Shape 19"/>
          <p:cNvSpPr/>
          <p:nvPr/>
        </p:nvSpPr>
        <p:spPr>
          <a:xfrm>
            <a:off x="762000" y="5058072"/>
            <a:ext cx="5048251" cy="645319"/>
          </a:xfrm>
          <a:prstGeom prst="rect">
            <a:avLst/>
          </a:prstGeom>
          <a:solidFill>
            <a:srgbClr val="0D1117"/>
          </a:solidFill>
          <a:ln w="9144">
            <a:solidFill>
              <a:srgbClr val="30363D"/>
            </a:solidFill>
            <a:prstDash val="solid"/>
          </a:ln>
        </p:spPr>
      </p:sp>
      <p:sp>
        <p:nvSpPr>
          <p:cNvPr id="23" name="Text 20"/>
          <p:cNvSpPr/>
          <p:nvPr/>
        </p:nvSpPr>
        <p:spPr>
          <a:xfrm>
            <a:off x="876300" y="5172372"/>
            <a:ext cx="4819651" cy="122555"/>
          </a:xfrm>
          <a:prstGeom prst="rect">
            <a:avLst/>
          </a:prstGeom>
          <a:noFill/>
        </p:spPr>
        <p:txBody>
          <a:bodyPr wrap="square" lIns="0" tIns="0" rIns="0" bIns="0" rtlCol="0" anchor="t">
            <a:spAutoFit/>
          </a:bodyPr>
          <a:lstStyle/>
          <a:p>
            <a:pPr marL="0" indent="0" algn="l">
              <a:buNone/>
            </a:pPr>
            <a:r>
              <a:rPr lang="en-US" sz="800" dirty="0">
                <a:solidFill>
                  <a:srgbClr val="58A6FF"/>
                </a:solidFill>
                <a:latin typeface="JetBrains Mono" pitchFamily="34" charset="0"/>
                <a:ea typeface="JetBrains Mono" pitchFamily="34" charset="-122"/>
                <a:cs typeface="JetBrains Mono" pitchFamily="34" charset="-120"/>
              </a:rPr>
              <a:t>CYBERCHEF RECIPE</a:t>
            </a:r>
            <a:endParaRPr lang="en-US" sz="800" dirty="0"/>
          </a:p>
        </p:txBody>
      </p:sp>
      <p:sp>
        <p:nvSpPr>
          <p:cNvPr id="24" name="Text 21"/>
          <p:cNvSpPr/>
          <p:nvPr/>
        </p:nvSpPr>
        <p:spPr>
          <a:xfrm>
            <a:off x="876300" y="5370016"/>
            <a:ext cx="932180" cy="174625"/>
          </a:xfrm>
          <a:prstGeom prst="rect">
            <a:avLst/>
          </a:prstGeom>
          <a:noFill/>
        </p:spPr>
        <p:txBody>
          <a:bodyPr wrap="none" lIns="0" tIns="0" rIns="0" bIns="0" rtlCol="0" anchor="t">
            <a:spAutoFit/>
          </a:bodyPr>
          <a:lstStyle/>
          <a:p>
            <a:pPr marL="0" indent="0" algn="l">
              <a:buNone/>
            </a:pPr>
            <a:r>
              <a:rPr lang="en-US" sz="1135" dirty="0">
                <a:solidFill>
                  <a:srgbClr val="8B949E"/>
                </a:solidFill>
                <a:latin typeface="JetBrains Mono" pitchFamily="34" charset="0"/>
                <a:ea typeface="JetBrains Mono" pitchFamily="34" charset="-122"/>
                <a:cs typeface="JetBrains Mono" pitchFamily="34" charset="-120"/>
              </a:rPr>
              <a:t>URL_Decode()</a:t>
            </a:r>
            <a:endParaRPr lang="en-US" sz="1135" dirty="0"/>
          </a:p>
        </p:txBody>
      </p:sp>
      <p:sp>
        <p:nvSpPr>
          <p:cNvPr id="25" name="Shape 22"/>
          <p:cNvSpPr/>
          <p:nvPr/>
        </p:nvSpPr>
        <p:spPr>
          <a:xfrm>
            <a:off x="6191251" y="4127004"/>
            <a:ext cx="5429251" cy="2123777"/>
          </a:xfrm>
          <a:prstGeom prst="rect">
            <a:avLst/>
          </a:prstGeom>
          <a:solidFill>
            <a:srgbClr val="161B22"/>
          </a:solidFill>
        </p:spPr>
      </p:sp>
      <p:sp>
        <p:nvSpPr>
          <p:cNvPr id="26" name="Shape 23"/>
          <p:cNvSpPr/>
          <p:nvPr/>
        </p:nvSpPr>
        <p:spPr>
          <a:xfrm>
            <a:off x="6191251" y="4127004"/>
            <a:ext cx="5429251" cy="38100"/>
          </a:xfrm>
          <a:prstGeom prst="rect">
            <a:avLst/>
          </a:prstGeom>
          <a:solidFill>
            <a:srgbClr val="00FF9C"/>
          </a:solidFill>
        </p:spPr>
      </p:sp>
      <p:sp>
        <p:nvSpPr>
          <p:cNvPr id="27" name="Text 24"/>
          <p:cNvSpPr/>
          <p:nvPr/>
        </p:nvSpPr>
        <p:spPr>
          <a:xfrm>
            <a:off x="6381751" y="4336553"/>
            <a:ext cx="5048251" cy="174625"/>
          </a:xfrm>
          <a:prstGeom prst="rect">
            <a:avLst/>
          </a:prstGeom>
          <a:noFill/>
        </p:spPr>
        <p:txBody>
          <a:bodyPr wrap="square" lIns="0" tIns="0" rIns="0" bIns="0" rtlCol="0" anchor="t">
            <a:spAutoFit/>
          </a:bodyPr>
          <a:lstStyle/>
          <a:p>
            <a:pPr marL="0" indent="0" algn="l">
              <a:buNone/>
            </a:pPr>
            <a:r>
              <a:rPr lang="en-US" sz="1135" dirty="0">
                <a:solidFill>
                  <a:srgbClr val="58A6FF"/>
                </a:solidFill>
                <a:latin typeface="JetBrains Mono" pitchFamily="34" charset="0"/>
                <a:ea typeface="JetBrains Mono" pitchFamily="34" charset="-122"/>
                <a:cs typeface="JetBrains Mono" pitchFamily="34" charset="-120"/>
              </a:rPr>
              <a:t>A4: BASE32 DECODE</a:t>
            </a:r>
            <a:endParaRPr lang="en-US" sz="1135" dirty="0"/>
          </a:p>
        </p:txBody>
      </p:sp>
      <p:sp>
        <p:nvSpPr>
          <p:cNvPr id="28" name="Text 25"/>
          <p:cNvSpPr/>
          <p:nvPr/>
        </p:nvSpPr>
        <p:spPr>
          <a:xfrm>
            <a:off x="6381751" y="4631829"/>
            <a:ext cx="5048251" cy="245745"/>
          </a:xfrm>
          <a:prstGeom prst="rect">
            <a:avLst/>
          </a:prstGeom>
          <a:noFill/>
        </p:spPr>
        <p:txBody>
          <a:bodyPr wrap="square" lIns="0" tIns="0" rIns="0" bIns="0" rtlCol="0" anchor="t">
            <a:spAutoFit/>
          </a:bodyPr>
          <a:lstStyle/>
          <a:p>
            <a:pPr marL="0" indent="0" algn="l">
              <a:buNone/>
            </a:pPr>
            <a:r>
              <a:rPr lang="en-US" sz="1600" b="1" dirty="0">
                <a:solidFill>
                  <a:srgbClr val="00FF9C"/>
                </a:solidFill>
                <a:latin typeface="JetBrains Mono" pitchFamily="34" charset="0"/>
                <a:ea typeface="JetBrains Mono" pitchFamily="34" charset="-122"/>
                <a:cs typeface="JetBrains Mono" pitchFamily="34" charset="-120"/>
              </a:rPr>
              <a:t>"Hello World!"</a:t>
            </a:r>
            <a:endParaRPr lang="en-US" sz="1600" dirty="0"/>
          </a:p>
        </p:txBody>
      </p:sp>
      <p:sp>
        <p:nvSpPr>
          <p:cNvPr id="29" name="Shape 26"/>
          <p:cNvSpPr/>
          <p:nvPr/>
        </p:nvSpPr>
        <p:spPr>
          <a:xfrm>
            <a:off x="6381751" y="5077123"/>
            <a:ext cx="5048251" cy="645319"/>
          </a:xfrm>
          <a:prstGeom prst="rect">
            <a:avLst/>
          </a:prstGeom>
          <a:solidFill>
            <a:srgbClr val="0D1117"/>
          </a:solidFill>
          <a:ln w="9144">
            <a:solidFill>
              <a:srgbClr val="30363D"/>
            </a:solidFill>
            <a:prstDash val="solid"/>
          </a:ln>
        </p:spPr>
      </p:sp>
      <p:sp>
        <p:nvSpPr>
          <p:cNvPr id="30" name="Text 27"/>
          <p:cNvSpPr/>
          <p:nvPr/>
        </p:nvSpPr>
        <p:spPr>
          <a:xfrm>
            <a:off x="6496051" y="5200948"/>
            <a:ext cx="4819651" cy="122555"/>
          </a:xfrm>
          <a:prstGeom prst="rect">
            <a:avLst/>
          </a:prstGeom>
          <a:noFill/>
        </p:spPr>
        <p:txBody>
          <a:bodyPr wrap="square" lIns="0" tIns="0" rIns="0" bIns="0" rtlCol="0" anchor="t">
            <a:spAutoFit/>
          </a:bodyPr>
          <a:lstStyle/>
          <a:p>
            <a:pPr marL="0" indent="0" algn="l">
              <a:buNone/>
            </a:pPr>
            <a:r>
              <a:rPr lang="en-US" sz="800" dirty="0">
                <a:solidFill>
                  <a:srgbClr val="58A6FF"/>
                </a:solidFill>
                <a:latin typeface="JetBrains Mono" pitchFamily="34" charset="0"/>
                <a:ea typeface="JetBrains Mono" pitchFamily="34" charset="-122"/>
                <a:cs typeface="JetBrains Mono" pitchFamily="34" charset="-120"/>
              </a:rPr>
              <a:t>CYBERCHEF RECIPE</a:t>
            </a:r>
            <a:endParaRPr lang="en-US" sz="800" dirty="0"/>
          </a:p>
        </p:txBody>
      </p:sp>
      <p:sp>
        <p:nvSpPr>
          <p:cNvPr id="31" name="Text 28"/>
          <p:cNvSpPr/>
          <p:nvPr/>
        </p:nvSpPr>
        <p:spPr>
          <a:xfrm>
            <a:off x="6496051" y="5398592"/>
            <a:ext cx="2533651" cy="174625"/>
          </a:xfrm>
          <a:prstGeom prst="rect">
            <a:avLst/>
          </a:prstGeom>
          <a:noFill/>
        </p:spPr>
        <p:txBody>
          <a:bodyPr wrap="square" lIns="0" tIns="0" rIns="0" bIns="0" rtlCol="0" anchor="t">
            <a:spAutoFit/>
          </a:bodyPr>
          <a:lstStyle/>
          <a:p>
            <a:pPr marL="0" indent="0" algn="l">
              <a:buNone/>
            </a:pPr>
            <a:r>
              <a:rPr lang="en-US" sz="1135" dirty="0">
                <a:solidFill>
                  <a:srgbClr val="8B949E"/>
                </a:solidFill>
                <a:latin typeface="JetBrains Mono" pitchFamily="34" charset="0"/>
                <a:ea typeface="JetBrains Mono" pitchFamily="34" charset="-122"/>
                <a:cs typeface="JetBrains Mono" pitchFamily="34" charset="-120"/>
              </a:rPr>
              <a:t>From_Base32('A-Z2-7=', true)</a:t>
            </a:r>
            <a:endParaRPr lang="en-US" sz="1135" dirty="0"/>
          </a:p>
        </p:txBody>
      </p:sp>
      <p:pic>
        <p:nvPicPr>
          <p:cNvPr id="32" name="Image 1" descr="preencoded.png"/>
          <p:cNvPicPr>
            <a:picLocks noChangeAspect="1"/>
          </p:cNvPicPr>
          <p:nvPr/>
        </p:nvPicPr>
        <p:blipFill>
          <a:blip r:embed="rId2"/>
          <a:stretch>
            <a:fillRect/>
          </a:stretch>
        </p:blipFill>
        <p:spPr>
          <a:xfrm>
            <a:off x="571500" y="6369844"/>
            <a:ext cx="171451" cy="171451"/>
          </a:xfrm>
          <a:prstGeom prst="rect">
            <a:avLst/>
          </a:prstGeom>
        </p:spPr>
      </p:pic>
      <p:sp>
        <p:nvSpPr>
          <p:cNvPr id="33" name="Text 29"/>
          <p:cNvSpPr/>
          <p:nvPr/>
        </p:nvSpPr>
        <p:spPr>
          <a:xfrm>
            <a:off x="838200" y="6346031"/>
            <a:ext cx="8191500"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pitchFamily="34" charset="0"/>
                <a:ea typeface="JetBrains Mono" pitchFamily="34" charset="-122"/>
                <a:cs typeface="JetBrains Mono" pitchFamily="34" charset="-120"/>
              </a:rPr>
              <a:t>Mastering these recipes will solve 80% of encoding challenges in beginner CTFs.</a:t>
            </a:r>
            <a:endParaRPr lang="en-US" sz="126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58749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53034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7037636"/>
          </a:xfrm>
          <a:prstGeom prst="rect">
            <a:avLst/>
          </a:prstGeom>
        </p:spPr>
      </p:pic>
      <p:sp>
        <p:nvSpPr>
          <p:cNvPr id="3" name="Text 0"/>
          <p:cNvSpPr/>
          <p:nvPr/>
        </p:nvSpPr>
        <p:spPr>
          <a:xfrm>
            <a:off x="571500" y="687288"/>
            <a:ext cx="11620500" cy="502285"/>
          </a:xfrm>
          <a:prstGeom prst="rect">
            <a:avLst/>
          </a:prstGeom>
          <a:noFill/>
        </p:spPr>
        <p:txBody>
          <a:bodyPr wrap="square" lIns="0" tIns="0" rIns="0" bIns="0" rtlCol="0" anchor="t">
            <a:spAutoFit/>
          </a:bodyPr>
          <a:lstStyle/>
          <a:p>
            <a:pPr marL="0" indent="0" algn="l">
              <a:buNone/>
            </a:pPr>
            <a:r>
              <a:rPr lang="en-US" sz="3265" b="1" kern="0" spc="2" dirty="0">
                <a:solidFill>
                  <a:srgbClr val="58A6FF"/>
                </a:solidFill>
                <a:latin typeface="Poppins Bold" pitchFamily="34" charset="0"/>
                <a:ea typeface="Poppins Bold" pitchFamily="34" charset="-122"/>
                <a:cs typeface="Poppins Bold" pitchFamily="34" charset="-120"/>
              </a:rPr>
              <a:t>ENCODING VS. ENCRYPTION VS. HASHING</a:t>
            </a:r>
            <a:endParaRPr lang="en-US" sz="3265" dirty="0"/>
          </a:p>
        </p:txBody>
      </p:sp>
      <p:sp>
        <p:nvSpPr>
          <p:cNvPr id="4" name="Shape 1"/>
          <p:cNvSpPr/>
          <p:nvPr/>
        </p:nvSpPr>
        <p:spPr>
          <a:xfrm>
            <a:off x="571500" y="2155627"/>
            <a:ext cx="11049000" cy="3246091"/>
          </a:xfrm>
          <a:prstGeom prst="rect">
            <a:avLst/>
          </a:prstGeom>
          <a:solidFill>
            <a:srgbClr val="161B22"/>
          </a:solidFill>
          <a:ln w="9144">
            <a:solidFill>
              <a:srgbClr val="30363D"/>
            </a:solidFill>
            <a:prstDash val="solid"/>
          </a:ln>
        </p:spPr>
      </p:sp>
      <p:sp>
        <p:nvSpPr>
          <p:cNvPr id="5" name="Shape 2"/>
          <p:cNvSpPr/>
          <p:nvPr/>
        </p:nvSpPr>
        <p:spPr>
          <a:xfrm>
            <a:off x="571500" y="2155627"/>
            <a:ext cx="2286000" cy="704851"/>
          </a:xfrm>
          <a:prstGeom prst="rect">
            <a:avLst/>
          </a:prstGeom>
          <a:solidFill>
            <a:srgbClr val="1F2937"/>
          </a:solidFill>
        </p:spPr>
      </p:sp>
      <p:sp>
        <p:nvSpPr>
          <p:cNvPr id="6" name="Shape 3"/>
          <p:cNvSpPr/>
          <p:nvPr/>
        </p:nvSpPr>
        <p:spPr>
          <a:xfrm>
            <a:off x="571500" y="2841427"/>
            <a:ext cx="2286000" cy="19051"/>
          </a:xfrm>
          <a:prstGeom prst="rect">
            <a:avLst/>
          </a:prstGeom>
          <a:solidFill>
            <a:srgbClr val="30363D"/>
          </a:solidFill>
        </p:spPr>
      </p:sp>
      <p:sp>
        <p:nvSpPr>
          <p:cNvPr id="7" name="Text 4"/>
          <p:cNvSpPr/>
          <p:nvPr/>
        </p:nvSpPr>
        <p:spPr>
          <a:xfrm>
            <a:off x="571500" y="2168645"/>
            <a:ext cx="2286000" cy="678815"/>
          </a:xfrm>
          <a:prstGeom prst="rect">
            <a:avLst/>
          </a:prstGeom>
          <a:noFill/>
        </p:spPr>
        <p:txBody>
          <a:bodyPr wrap="square" lIns="226737" tIns="226737" rIns="226737" bIns="226737" rtlCol="0" anchor="ctr">
            <a:spAutoFit/>
          </a:bodyPr>
          <a:lstStyle/>
          <a:p>
            <a:pPr marL="0" indent="0" algn="l">
              <a:buNone/>
            </a:pPr>
            <a:r>
              <a:rPr lang="en-US" sz="1465" b="1" dirty="0">
                <a:solidFill>
                  <a:srgbClr val="58A6FF"/>
                </a:solidFill>
                <a:latin typeface="Poppins Bold" pitchFamily="34" charset="0"/>
                <a:ea typeface="Poppins Bold" pitchFamily="34" charset="-122"/>
                <a:cs typeface="Poppins Bold" pitchFamily="34" charset="-120"/>
              </a:rPr>
              <a:t>Property</a:t>
            </a:r>
            <a:endParaRPr lang="en-US" sz="1465" dirty="0"/>
          </a:p>
        </p:txBody>
      </p:sp>
      <p:sp>
        <p:nvSpPr>
          <p:cNvPr id="8" name="Shape 5"/>
          <p:cNvSpPr/>
          <p:nvPr/>
        </p:nvSpPr>
        <p:spPr>
          <a:xfrm>
            <a:off x="2857500" y="2155627"/>
            <a:ext cx="2876177" cy="704851"/>
          </a:xfrm>
          <a:prstGeom prst="rect">
            <a:avLst/>
          </a:prstGeom>
          <a:solidFill>
            <a:srgbClr val="1F2937"/>
          </a:solidFill>
        </p:spPr>
      </p:sp>
      <p:sp>
        <p:nvSpPr>
          <p:cNvPr id="9" name="Shape 6"/>
          <p:cNvSpPr/>
          <p:nvPr/>
        </p:nvSpPr>
        <p:spPr>
          <a:xfrm>
            <a:off x="2857500" y="2841427"/>
            <a:ext cx="2876177" cy="19051"/>
          </a:xfrm>
          <a:prstGeom prst="rect">
            <a:avLst/>
          </a:prstGeom>
          <a:solidFill>
            <a:srgbClr val="30363D"/>
          </a:solidFill>
        </p:spPr>
      </p:sp>
      <p:sp>
        <p:nvSpPr>
          <p:cNvPr id="10" name="Text 7"/>
          <p:cNvSpPr/>
          <p:nvPr/>
        </p:nvSpPr>
        <p:spPr>
          <a:xfrm>
            <a:off x="2857500" y="2168645"/>
            <a:ext cx="2876177" cy="678815"/>
          </a:xfrm>
          <a:prstGeom prst="rect">
            <a:avLst/>
          </a:prstGeom>
          <a:noFill/>
        </p:spPr>
        <p:txBody>
          <a:bodyPr wrap="square" lIns="226737" tIns="226737" rIns="226737" bIns="226737" rtlCol="0" anchor="ctr">
            <a:spAutoFit/>
          </a:bodyPr>
          <a:lstStyle/>
          <a:p>
            <a:pPr marL="0" indent="0" algn="l">
              <a:buNone/>
            </a:pPr>
            <a:r>
              <a:rPr lang="en-US" sz="1465" b="1" dirty="0">
                <a:solidFill>
                  <a:srgbClr val="58A6FF"/>
                </a:solidFill>
                <a:latin typeface="Poppins Bold" pitchFamily="34" charset="0"/>
                <a:ea typeface="Poppins Bold" pitchFamily="34" charset="-122"/>
                <a:cs typeface="Poppins Bold" pitchFamily="34" charset="-120"/>
              </a:rPr>
              <a:t>Encoding</a:t>
            </a:r>
            <a:endParaRPr lang="en-US" sz="1465" dirty="0"/>
          </a:p>
        </p:txBody>
      </p:sp>
      <p:sp>
        <p:nvSpPr>
          <p:cNvPr id="11" name="Shape 8"/>
          <p:cNvSpPr/>
          <p:nvPr/>
        </p:nvSpPr>
        <p:spPr>
          <a:xfrm>
            <a:off x="5733677" y="2155627"/>
            <a:ext cx="3224511" cy="704851"/>
          </a:xfrm>
          <a:prstGeom prst="rect">
            <a:avLst/>
          </a:prstGeom>
          <a:solidFill>
            <a:srgbClr val="1F2937"/>
          </a:solidFill>
        </p:spPr>
      </p:sp>
      <p:sp>
        <p:nvSpPr>
          <p:cNvPr id="12" name="Shape 9"/>
          <p:cNvSpPr/>
          <p:nvPr/>
        </p:nvSpPr>
        <p:spPr>
          <a:xfrm>
            <a:off x="5733677" y="2841427"/>
            <a:ext cx="3224511" cy="19051"/>
          </a:xfrm>
          <a:prstGeom prst="rect">
            <a:avLst/>
          </a:prstGeom>
          <a:solidFill>
            <a:srgbClr val="30363D"/>
          </a:solidFill>
        </p:spPr>
      </p:sp>
      <p:sp>
        <p:nvSpPr>
          <p:cNvPr id="13" name="Text 10"/>
          <p:cNvSpPr/>
          <p:nvPr/>
        </p:nvSpPr>
        <p:spPr>
          <a:xfrm>
            <a:off x="5733677" y="2168645"/>
            <a:ext cx="3224511" cy="678815"/>
          </a:xfrm>
          <a:prstGeom prst="rect">
            <a:avLst/>
          </a:prstGeom>
          <a:noFill/>
        </p:spPr>
        <p:txBody>
          <a:bodyPr wrap="square" lIns="226737" tIns="226737" rIns="226737" bIns="226737" rtlCol="0" anchor="ctr">
            <a:spAutoFit/>
          </a:bodyPr>
          <a:lstStyle/>
          <a:p>
            <a:pPr marL="0" indent="0" algn="l">
              <a:buNone/>
            </a:pPr>
            <a:r>
              <a:rPr lang="en-US" sz="1465" b="1" dirty="0">
                <a:solidFill>
                  <a:srgbClr val="58A6FF"/>
                </a:solidFill>
                <a:latin typeface="Poppins Bold" pitchFamily="34" charset="0"/>
                <a:ea typeface="Poppins Bold" pitchFamily="34" charset="-122"/>
                <a:cs typeface="Poppins Bold" pitchFamily="34" charset="-120"/>
              </a:rPr>
              <a:t>Encryption</a:t>
            </a:r>
            <a:endParaRPr lang="en-US" sz="1465" dirty="0"/>
          </a:p>
        </p:txBody>
      </p:sp>
      <p:sp>
        <p:nvSpPr>
          <p:cNvPr id="14" name="Shape 11"/>
          <p:cNvSpPr/>
          <p:nvPr/>
        </p:nvSpPr>
        <p:spPr>
          <a:xfrm>
            <a:off x="8958188" y="2155627"/>
            <a:ext cx="2662312" cy="704851"/>
          </a:xfrm>
          <a:prstGeom prst="rect">
            <a:avLst/>
          </a:prstGeom>
          <a:solidFill>
            <a:srgbClr val="1F2937"/>
          </a:solidFill>
        </p:spPr>
      </p:sp>
      <p:sp>
        <p:nvSpPr>
          <p:cNvPr id="15" name="Shape 12"/>
          <p:cNvSpPr/>
          <p:nvPr/>
        </p:nvSpPr>
        <p:spPr>
          <a:xfrm>
            <a:off x="8958188" y="2841427"/>
            <a:ext cx="2662312" cy="19051"/>
          </a:xfrm>
          <a:prstGeom prst="rect">
            <a:avLst/>
          </a:prstGeom>
          <a:solidFill>
            <a:srgbClr val="30363D"/>
          </a:solidFill>
        </p:spPr>
      </p:sp>
      <p:sp>
        <p:nvSpPr>
          <p:cNvPr id="16" name="Text 13"/>
          <p:cNvSpPr/>
          <p:nvPr/>
        </p:nvSpPr>
        <p:spPr>
          <a:xfrm>
            <a:off x="8958188" y="2168645"/>
            <a:ext cx="2662312" cy="678815"/>
          </a:xfrm>
          <a:prstGeom prst="rect">
            <a:avLst/>
          </a:prstGeom>
          <a:noFill/>
        </p:spPr>
        <p:txBody>
          <a:bodyPr wrap="square" lIns="226737" tIns="226737" rIns="226737" bIns="226737" rtlCol="0" anchor="ctr">
            <a:spAutoFit/>
          </a:bodyPr>
          <a:lstStyle/>
          <a:p>
            <a:pPr marL="0" indent="0" algn="l">
              <a:buNone/>
            </a:pPr>
            <a:r>
              <a:rPr lang="en-US" sz="1465" b="1" dirty="0">
                <a:solidFill>
                  <a:srgbClr val="58A6FF"/>
                </a:solidFill>
                <a:latin typeface="Poppins Bold" pitchFamily="34" charset="0"/>
                <a:ea typeface="Poppins Bold" pitchFamily="34" charset="-122"/>
                <a:cs typeface="Poppins Bold" pitchFamily="34" charset="-120"/>
              </a:rPr>
              <a:t>Hashing</a:t>
            </a:r>
            <a:endParaRPr lang="en-US" sz="1465" dirty="0"/>
          </a:p>
        </p:txBody>
      </p:sp>
      <p:sp>
        <p:nvSpPr>
          <p:cNvPr id="17" name="Shape 14"/>
          <p:cNvSpPr/>
          <p:nvPr/>
        </p:nvSpPr>
        <p:spPr>
          <a:xfrm>
            <a:off x="571500" y="2850952"/>
            <a:ext cx="2286000" cy="625785"/>
          </a:xfrm>
          <a:prstGeom prst="rect">
            <a:avLst/>
          </a:prstGeom>
          <a:solidFill>
            <a:srgbClr val="58A6FF">
              <a:alpha val="5000"/>
            </a:srgbClr>
          </a:solidFill>
        </p:spPr>
      </p:sp>
      <p:sp>
        <p:nvSpPr>
          <p:cNvPr id="18" name="Shape 15"/>
          <p:cNvSpPr/>
          <p:nvPr/>
        </p:nvSpPr>
        <p:spPr>
          <a:xfrm>
            <a:off x="571500" y="3467212"/>
            <a:ext cx="2286000" cy="9525"/>
          </a:xfrm>
          <a:prstGeom prst="rect">
            <a:avLst/>
          </a:prstGeom>
          <a:solidFill>
            <a:srgbClr val="30363D"/>
          </a:solidFill>
        </p:spPr>
      </p:sp>
      <p:sp>
        <p:nvSpPr>
          <p:cNvPr id="19" name="Text 16"/>
          <p:cNvSpPr/>
          <p:nvPr/>
        </p:nvSpPr>
        <p:spPr>
          <a:xfrm>
            <a:off x="571500" y="2827930"/>
            <a:ext cx="2286000" cy="671830"/>
          </a:xfrm>
          <a:prstGeom prst="rect">
            <a:avLst/>
          </a:prstGeom>
          <a:noFill/>
        </p:spPr>
        <p:txBody>
          <a:bodyPr wrap="square" lIns="226737" tIns="226737" rIns="226737" bIns="226737" rtlCol="0" anchor="ctr">
            <a:spAutoFit/>
          </a:bodyPr>
          <a:lstStyle/>
          <a:p>
            <a:pPr marL="0" indent="0" algn="l">
              <a:lnSpc>
                <a:spcPct val="112000"/>
              </a:lnSpc>
              <a:buNone/>
            </a:pPr>
            <a:r>
              <a:rPr lang="en-US" sz="1265" dirty="0">
                <a:solidFill>
                  <a:srgbClr val="8B949E"/>
                </a:solidFill>
                <a:latin typeface="Poppins Bold" pitchFamily="34" charset="0"/>
                <a:ea typeface="Poppins Bold" pitchFamily="34" charset="-122"/>
                <a:cs typeface="Poppins Bold" pitchFamily="34" charset="-120"/>
              </a:rPr>
              <a:t>Reversible?</a:t>
            </a:r>
            <a:endParaRPr lang="en-US" sz="1265" dirty="0"/>
          </a:p>
        </p:txBody>
      </p:sp>
      <p:sp>
        <p:nvSpPr>
          <p:cNvPr id="20" name="Text 17"/>
          <p:cNvSpPr/>
          <p:nvPr/>
        </p:nvSpPr>
        <p:spPr>
          <a:xfrm>
            <a:off x="2857500" y="2833962"/>
            <a:ext cx="2876177" cy="659765"/>
          </a:xfrm>
          <a:prstGeom prst="rect">
            <a:avLst/>
          </a:prstGeom>
          <a:noFill/>
        </p:spPr>
        <p:txBody>
          <a:bodyPr wrap="square" lIns="226737" tIns="226737" rIns="226737" bIns="226737" rtlCol="0" anchor="ctr">
            <a:spAutoFit/>
          </a:bodyPr>
          <a:lstStyle/>
          <a:p>
            <a:pPr marL="0" indent="0" algn="l">
              <a:lnSpc>
                <a:spcPct val="112000"/>
              </a:lnSpc>
              <a:buNone/>
            </a:pPr>
            <a:r>
              <a:rPr lang="en-US" sz="1200" b="1" dirty="0">
                <a:solidFill>
                  <a:srgbClr val="00FF9C"/>
                </a:solidFill>
                <a:latin typeface="Inter" pitchFamily="34" charset="0"/>
                <a:ea typeface="Inter" pitchFamily="34" charset="-122"/>
                <a:cs typeface="Inter" pitchFamily="34" charset="-120"/>
              </a:rPr>
              <a:t>Yes</a:t>
            </a:r>
            <a:endParaRPr lang="en-US" sz="1200" dirty="0"/>
          </a:p>
        </p:txBody>
      </p:sp>
      <p:sp>
        <p:nvSpPr>
          <p:cNvPr id="21" name="Text 18"/>
          <p:cNvSpPr/>
          <p:nvPr/>
        </p:nvSpPr>
        <p:spPr>
          <a:xfrm>
            <a:off x="5733677" y="2833962"/>
            <a:ext cx="3224511" cy="659765"/>
          </a:xfrm>
          <a:prstGeom prst="rect">
            <a:avLst/>
          </a:prstGeom>
          <a:noFill/>
        </p:spPr>
        <p:txBody>
          <a:bodyPr wrap="square" lIns="226737" tIns="226737" rIns="226737" bIns="226737" rtlCol="0" anchor="ctr">
            <a:spAutoFit/>
          </a:bodyPr>
          <a:lstStyle/>
          <a:p>
            <a:pPr marL="0" indent="0" algn="l">
              <a:lnSpc>
                <a:spcPct val="112000"/>
              </a:lnSpc>
              <a:buNone/>
            </a:pPr>
            <a:r>
              <a:rPr lang="en-US" sz="1200" b="1" dirty="0">
                <a:solidFill>
                  <a:srgbClr val="00FF9C"/>
                </a:solidFill>
                <a:latin typeface="Inter" pitchFamily="34" charset="0"/>
                <a:ea typeface="Inter" pitchFamily="34" charset="-122"/>
                <a:cs typeface="Inter" pitchFamily="34" charset="-120"/>
              </a:rPr>
              <a:t>Yes (with key)</a:t>
            </a:r>
            <a:endParaRPr lang="en-US" sz="1200" dirty="0"/>
          </a:p>
        </p:txBody>
      </p:sp>
      <p:sp>
        <p:nvSpPr>
          <p:cNvPr id="22" name="Text 19"/>
          <p:cNvSpPr/>
          <p:nvPr/>
        </p:nvSpPr>
        <p:spPr>
          <a:xfrm>
            <a:off x="8958188" y="2833962"/>
            <a:ext cx="2662312" cy="659765"/>
          </a:xfrm>
          <a:prstGeom prst="rect">
            <a:avLst/>
          </a:prstGeom>
          <a:noFill/>
        </p:spPr>
        <p:txBody>
          <a:bodyPr wrap="square" lIns="226737" tIns="226737" rIns="226737" bIns="226737" rtlCol="0" anchor="ctr">
            <a:spAutoFit/>
          </a:bodyPr>
          <a:lstStyle/>
          <a:p>
            <a:pPr marL="0" indent="0" algn="l">
              <a:lnSpc>
                <a:spcPct val="112000"/>
              </a:lnSpc>
              <a:buNone/>
            </a:pPr>
            <a:r>
              <a:rPr lang="en-US" sz="1200" b="1" dirty="0">
                <a:solidFill>
                  <a:srgbClr val="FF6B6B"/>
                </a:solidFill>
                <a:latin typeface="Inter" pitchFamily="34" charset="0"/>
                <a:ea typeface="Inter" pitchFamily="34" charset="-122"/>
                <a:cs typeface="Inter" pitchFamily="34" charset="-120"/>
              </a:rPr>
              <a:t>No</a:t>
            </a:r>
            <a:endParaRPr lang="en-US" sz="1200" dirty="0"/>
          </a:p>
        </p:txBody>
      </p:sp>
      <p:sp>
        <p:nvSpPr>
          <p:cNvPr id="23" name="Shape 20"/>
          <p:cNvSpPr/>
          <p:nvPr/>
        </p:nvSpPr>
        <p:spPr>
          <a:xfrm>
            <a:off x="571500" y="3476736"/>
            <a:ext cx="2286000" cy="630548"/>
          </a:xfrm>
          <a:prstGeom prst="rect">
            <a:avLst/>
          </a:prstGeom>
          <a:solidFill>
            <a:srgbClr val="58A6FF">
              <a:alpha val="5000"/>
            </a:srgbClr>
          </a:solidFill>
        </p:spPr>
      </p:sp>
      <p:sp>
        <p:nvSpPr>
          <p:cNvPr id="24" name="Shape 21"/>
          <p:cNvSpPr/>
          <p:nvPr/>
        </p:nvSpPr>
        <p:spPr>
          <a:xfrm>
            <a:off x="571500" y="4097759"/>
            <a:ext cx="2286000" cy="9525"/>
          </a:xfrm>
          <a:prstGeom prst="rect">
            <a:avLst/>
          </a:prstGeom>
          <a:solidFill>
            <a:srgbClr val="30363D"/>
          </a:solidFill>
        </p:spPr>
      </p:sp>
      <p:sp>
        <p:nvSpPr>
          <p:cNvPr id="25" name="Text 22"/>
          <p:cNvSpPr/>
          <p:nvPr/>
        </p:nvSpPr>
        <p:spPr>
          <a:xfrm>
            <a:off x="571500" y="3456095"/>
            <a:ext cx="2286000" cy="671830"/>
          </a:xfrm>
          <a:prstGeom prst="rect">
            <a:avLst/>
          </a:prstGeom>
          <a:noFill/>
        </p:spPr>
        <p:txBody>
          <a:bodyPr wrap="square" lIns="226737" tIns="226737" rIns="226737" bIns="226737" rtlCol="0" anchor="ctr">
            <a:spAutoFit/>
          </a:bodyPr>
          <a:lstStyle/>
          <a:p>
            <a:pPr marL="0" indent="0" algn="l">
              <a:lnSpc>
                <a:spcPct val="112000"/>
              </a:lnSpc>
              <a:buNone/>
            </a:pPr>
            <a:r>
              <a:rPr lang="en-US" sz="1265" dirty="0">
                <a:solidFill>
                  <a:srgbClr val="8B949E"/>
                </a:solidFill>
                <a:latin typeface="Poppins Bold" pitchFamily="34" charset="0"/>
                <a:ea typeface="Poppins Bold" pitchFamily="34" charset="-122"/>
                <a:cs typeface="Poppins Bold" pitchFamily="34" charset="-120"/>
              </a:rPr>
              <a:t>Needs Key?</a:t>
            </a:r>
            <a:endParaRPr lang="en-US" sz="1265" dirty="0"/>
          </a:p>
        </p:txBody>
      </p:sp>
      <p:sp>
        <p:nvSpPr>
          <p:cNvPr id="26" name="Text 23"/>
          <p:cNvSpPr/>
          <p:nvPr/>
        </p:nvSpPr>
        <p:spPr>
          <a:xfrm>
            <a:off x="2857500" y="3456095"/>
            <a:ext cx="2876177" cy="671830"/>
          </a:xfrm>
          <a:prstGeom prst="rect">
            <a:avLst/>
          </a:prstGeom>
          <a:noFill/>
        </p:spPr>
        <p:txBody>
          <a:bodyPr wrap="square" lIns="226737" tIns="226737" rIns="226737" bIns="226737" rtlCol="0" anchor="ctr">
            <a:spAutoFit/>
          </a:bodyPr>
          <a:lstStyle/>
          <a:p>
            <a:pPr marL="0" indent="0" algn="l">
              <a:lnSpc>
                <a:spcPct val="112000"/>
              </a:lnSpc>
              <a:buNone/>
            </a:pPr>
            <a:r>
              <a:rPr lang="en-US" sz="1265" dirty="0">
                <a:solidFill>
                  <a:srgbClr val="E6EDF3"/>
                </a:solidFill>
                <a:latin typeface="Inter" pitchFamily="34" charset="0"/>
                <a:ea typeface="Inter" pitchFamily="34" charset="-122"/>
                <a:cs typeface="Inter" pitchFamily="34" charset="-120"/>
              </a:rPr>
              <a:t>No</a:t>
            </a:r>
            <a:endParaRPr lang="en-US" sz="1265" dirty="0"/>
          </a:p>
        </p:txBody>
      </p:sp>
      <p:sp>
        <p:nvSpPr>
          <p:cNvPr id="27" name="Text 24"/>
          <p:cNvSpPr/>
          <p:nvPr/>
        </p:nvSpPr>
        <p:spPr>
          <a:xfrm>
            <a:off x="5733677" y="3462127"/>
            <a:ext cx="3224511" cy="659765"/>
          </a:xfrm>
          <a:prstGeom prst="rect">
            <a:avLst/>
          </a:prstGeom>
          <a:noFill/>
        </p:spPr>
        <p:txBody>
          <a:bodyPr wrap="square" lIns="226737" tIns="226737" rIns="226737" bIns="226737" rtlCol="0" anchor="ctr">
            <a:spAutoFit/>
          </a:bodyPr>
          <a:lstStyle/>
          <a:p>
            <a:pPr marL="0" indent="0" algn="l">
              <a:lnSpc>
                <a:spcPct val="112000"/>
              </a:lnSpc>
              <a:buNone/>
            </a:pPr>
            <a:r>
              <a:rPr lang="en-US" sz="1200" b="1" dirty="0">
                <a:solidFill>
                  <a:srgbClr val="00FF9C"/>
                </a:solidFill>
                <a:latin typeface="Inter" pitchFamily="34" charset="0"/>
                <a:ea typeface="Inter" pitchFamily="34" charset="-122"/>
                <a:cs typeface="Inter" pitchFamily="34" charset="-120"/>
              </a:rPr>
              <a:t>Yes</a:t>
            </a:r>
            <a:endParaRPr lang="en-US" sz="1200" dirty="0"/>
          </a:p>
        </p:txBody>
      </p:sp>
      <p:sp>
        <p:nvSpPr>
          <p:cNvPr id="28" name="Text 25"/>
          <p:cNvSpPr/>
          <p:nvPr/>
        </p:nvSpPr>
        <p:spPr>
          <a:xfrm>
            <a:off x="8958188" y="3456095"/>
            <a:ext cx="2662312" cy="671830"/>
          </a:xfrm>
          <a:prstGeom prst="rect">
            <a:avLst/>
          </a:prstGeom>
          <a:noFill/>
        </p:spPr>
        <p:txBody>
          <a:bodyPr wrap="square" lIns="226737" tIns="226737" rIns="226737" bIns="226737" rtlCol="0" anchor="ctr">
            <a:spAutoFit/>
          </a:bodyPr>
          <a:lstStyle/>
          <a:p>
            <a:pPr marL="0" indent="0" algn="l">
              <a:lnSpc>
                <a:spcPct val="112000"/>
              </a:lnSpc>
              <a:buNone/>
            </a:pPr>
            <a:r>
              <a:rPr lang="en-US" sz="1265" dirty="0">
                <a:solidFill>
                  <a:srgbClr val="E6EDF3"/>
                </a:solidFill>
                <a:latin typeface="Inter" pitchFamily="34" charset="0"/>
                <a:ea typeface="Inter" pitchFamily="34" charset="-122"/>
                <a:cs typeface="Inter" pitchFamily="34" charset="-120"/>
              </a:rPr>
              <a:t>No</a:t>
            </a:r>
            <a:endParaRPr lang="en-US" sz="1265" dirty="0"/>
          </a:p>
        </p:txBody>
      </p:sp>
      <p:sp>
        <p:nvSpPr>
          <p:cNvPr id="29" name="Shape 26"/>
          <p:cNvSpPr/>
          <p:nvPr/>
        </p:nvSpPr>
        <p:spPr>
          <a:xfrm>
            <a:off x="571500" y="4107284"/>
            <a:ext cx="2286000" cy="630548"/>
          </a:xfrm>
          <a:prstGeom prst="rect">
            <a:avLst/>
          </a:prstGeom>
          <a:solidFill>
            <a:srgbClr val="58A6FF">
              <a:alpha val="5000"/>
            </a:srgbClr>
          </a:solidFill>
        </p:spPr>
      </p:sp>
      <p:sp>
        <p:nvSpPr>
          <p:cNvPr id="30" name="Shape 27"/>
          <p:cNvSpPr/>
          <p:nvPr/>
        </p:nvSpPr>
        <p:spPr>
          <a:xfrm>
            <a:off x="571500" y="4728307"/>
            <a:ext cx="2286000" cy="9525"/>
          </a:xfrm>
          <a:prstGeom prst="rect">
            <a:avLst/>
          </a:prstGeom>
          <a:solidFill>
            <a:srgbClr val="30363D"/>
          </a:solidFill>
        </p:spPr>
      </p:sp>
      <p:sp>
        <p:nvSpPr>
          <p:cNvPr id="31" name="Text 28"/>
          <p:cNvSpPr/>
          <p:nvPr/>
        </p:nvSpPr>
        <p:spPr>
          <a:xfrm>
            <a:off x="571500" y="4086643"/>
            <a:ext cx="2286000" cy="671830"/>
          </a:xfrm>
          <a:prstGeom prst="rect">
            <a:avLst/>
          </a:prstGeom>
          <a:noFill/>
        </p:spPr>
        <p:txBody>
          <a:bodyPr wrap="square" lIns="226737" tIns="226737" rIns="226737" bIns="226737" rtlCol="0" anchor="ctr">
            <a:spAutoFit/>
          </a:bodyPr>
          <a:lstStyle/>
          <a:p>
            <a:pPr marL="0" indent="0" algn="l">
              <a:lnSpc>
                <a:spcPct val="112000"/>
              </a:lnSpc>
              <a:buNone/>
            </a:pPr>
            <a:r>
              <a:rPr lang="en-US" sz="1265" dirty="0">
                <a:solidFill>
                  <a:srgbClr val="8B949E"/>
                </a:solidFill>
                <a:latin typeface="Poppins Bold" pitchFamily="34" charset="0"/>
                <a:ea typeface="Poppins Bold" pitchFamily="34" charset="-122"/>
                <a:cs typeface="Poppins Bold" pitchFamily="34" charset="-120"/>
              </a:rPr>
              <a:t>Purpose</a:t>
            </a:r>
            <a:endParaRPr lang="en-US" sz="1265" dirty="0"/>
          </a:p>
        </p:txBody>
      </p:sp>
      <p:sp>
        <p:nvSpPr>
          <p:cNvPr id="32" name="Text 29"/>
          <p:cNvSpPr/>
          <p:nvPr/>
        </p:nvSpPr>
        <p:spPr>
          <a:xfrm>
            <a:off x="2857500" y="4086643"/>
            <a:ext cx="2876177" cy="671830"/>
          </a:xfrm>
          <a:prstGeom prst="rect">
            <a:avLst/>
          </a:prstGeom>
          <a:noFill/>
        </p:spPr>
        <p:txBody>
          <a:bodyPr wrap="square" lIns="226737" tIns="226737" rIns="226737" bIns="226737" rtlCol="0" anchor="ctr">
            <a:spAutoFit/>
          </a:bodyPr>
          <a:lstStyle/>
          <a:p>
            <a:pPr marL="0" indent="0" algn="l">
              <a:lnSpc>
                <a:spcPct val="112000"/>
              </a:lnSpc>
              <a:buNone/>
            </a:pPr>
            <a:r>
              <a:rPr lang="en-US" sz="1265" dirty="0">
                <a:solidFill>
                  <a:srgbClr val="E6EDF3"/>
                </a:solidFill>
                <a:latin typeface="Inter" pitchFamily="34" charset="0"/>
                <a:ea typeface="Inter" pitchFamily="34" charset="-122"/>
                <a:cs typeface="Inter" pitchFamily="34" charset="-120"/>
              </a:rPr>
              <a:t>Data Format</a:t>
            </a:r>
            <a:endParaRPr lang="en-US" sz="1265" dirty="0"/>
          </a:p>
        </p:txBody>
      </p:sp>
      <p:sp>
        <p:nvSpPr>
          <p:cNvPr id="33" name="Text 30"/>
          <p:cNvSpPr/>
          <p:nvPr/>
        </p:nvSpPr>
        <p:spPr>
          <a:xfrm>
            <a:off x="5733677" y="4086643"/>
            <a:ext cx="3224511" cy="671830"/>
          </a:xfrm>
          <a:prstGeom prst="rect">
            <a:avLst/>
          </a:prstGeom>
          <a:noFill/>
        </p:spPr>
        <p:txBody>
          <a:bodyPr wrap="square" lIns="226737" tIns="226737" rIns="226737" bIns="226737" rtlCol="0" anchor="ctr">
            <a:spAutoFit/>
          </a:bodyPr>
          <a:lstStyle/>
          <a:p>
            <a:pPr marL="0" indent="0" algn="l">
              <a:lnSpc>
                <a:spcPct val="112000"/>
              </a:lnSpc>
              <a:buNone/>
            </a:pPr>
            <a:r>
              <a:rPr lang="en-US" sz="1265" dirty="0">
                <a:solidFill>
                  <a:srgbClr val="E6EDF3"/>
                </a:solidFill>
                <a:latin typeface="Inter" pitchFamily="34" charset="0"/>
                <a:ea typeface="Inter" pitchFamily="34" charset="-122"/>
                <a:cs typeface="Inter" pitchFamily="34" charset="-120"/>
              </a:rPr>
              <a:t>Secrecy</a:t>
            </a:r>
            <a:endParaRPr lang="en-US" sz="1265" dirty="0"/>
          </a:p>
        </p:txBody>
      </p:sp>
      <p:sp>
        <p:nvSpPr>
          <p:cNvPr id="34" name="Text 31"/>
          <p:cNvSpPr/>
          <p:nvPr/>
        </p:nvSpPr>
        <p:spPr>
          <a:xfrm>
            <a:off x="8958188" y="4086643"/>
            <a:ext cx="2662312" cy="671830"/>
          </a:xfrm>
          <a:prstGeom prst="rect">
            <a:avLst/>
          </a:prstGeom>
          <a:noFill/>
        </p:spPr>
        <p:txBody>
          <a:bodyPr wrap="square" lIns="226737" tIns="226737" rIns="226737" bIns="226737" rtlCol="0" anchor="ctr">
            <a:spAutoFit/>
          </a:bodyPr>
          <a:lstStyle/>
          <a:p>
            <a:pPr marL="0" indent="0" algn="l">
              <a:lnSpc>
                <a:spcPct val="112000"/>
              </a:lnSpc>
              <a:buNone/>
            </a:pPr>
            <a:r>
              <a:rPr lang="en-US" sz="1265" dirty="0">
                <a:solidFill>
                  <a:srgbClr val="E6EDF3"/>
                </a:solidFill>
                <a:latin typeface="Inter" pitchFamily="34" charset="0"/>
                <a:ea typeface="Inter" pitchFamily="34" charset="-122"/>
                <a:cs typeface="Inter" pitchFamily="34" charset="-120"/>
              </a:rPr>
              <a:t>Integrity</a:t>
            </a:r>
            <a:endParaRPr lang="en-US" sz="1265" dirty="0"/>
          </a:p>
        </p:txBody>
      </p:sp>
      <p:sp>
        <p:nvSpPr>
          <p:cNvPr id="35" name="Shape 32"/>
          <p:cNvSpPr/>
          <p:nvPr/>
        </p:nvSpPr>
        <p:spPr>
          <a:xfrm>
            <a:off x="571500" y="4737832"/>
            <a:ext cx="2286000" cy="630548"/>
          </a:xfrm>
          <a:prstGeom prst="rect">
            <a:avLst/>
          </a:prstGeom>
          <a:solidFill>
            <a:srgbClr val="58A6FF">
              <a:alpha val="5000"/>
            </a:srgbClr>
          </a:solidFill>
        </p:spPr>
      </p:sp>
      <p:sp>
        <p:nvSpPr>
          <p:cNvPr id="36" name="Shape 33"/>
          <p:cNvSpPr/>
          <p:nvPr/>
        </p:nvSpPr>
        <p:spPr>
          <a:xfrm>
            <a:off x="571500" y="5358855"/>
            <a:ext cx="2286000" cy="9525"/>
          </a:xfrm>
          <a:prstGeom prst="rect">
            <a:avLst/>
          </a:prstGeom>
          <a:solidFill>
            <a:srgbClr val="30363D"/>
          </a:solidFill>
        </p:spPr>
      </p:sp>
      <p:sp>
        <p:nvSpPr>
          <p:cNvPr id="37" name="Text 34"/>
          <p:cNvSpPr/>
          <p:nvPr/>
        </p:nvSpPr>
        <p:spPr>
          <a:xfrm>
            <a:off x="571500" y="4717191"/>
            <a:ext cx="2286000" cy="671830"/>
          </a:xfrm>
          <a:prstGeom prst="rect">
            <a:avLst/>
          </a:prstGeom>
          <a:noFill/>
        </p:spPr>
        <p:txBody>
          <a:bodyPr wrap="square" lIns="226737" tIns="226737" rIns="226737" bIns="226737" rtlCol="0" anchor="ctr">
            <a:spAutoFit/>
          </a:bodyPr>
          <a:lstStyle/>
          <a:p>
            <a:pPr marL="0" indent="0" algn="l">
              <a:lnSpc>
                <a:spcPct val="112000"/>
              </a:lnSpc>
              <a:buNone/>
            </a:pPr>
            <a:r>
              <a:rPr lang="en-US" sz="1265" dirty="0">
                <a:solidFill>
                  <a:srgbClr val="8B949E"/>
                </a:solidFill>
                <a:latin typeface="Poppins Bold" pitchFamily="34" charset="0"/>
                <a:ea typeface="Poppins Bold" pitchFamily="34" charset="-122"/>
                <a:cs typeface="Poppins Bold" pitchFamily="34" charset="-120"/>
              </a:rPr>
              <a:t>Example</a:t>
            </a:r>
            <a:endParaRPr lang="en-US" sz="1265" dirty="0"/>
          </a:p>
        </p:txBody>
      </p:sp>
      <p:sp>
        <p:nvSpPr>
          <p:cNvPr id="38" name="Text 35"/>
          <p:cNvSpPr/>
          <p:nvPr/>
        </p:nvSpPr>
        <p:spPr>
          <a:xfrm>
            <a:off x="2857500" y="4717191"/>
            <a:ext cx="2876177" cy="671830"/>
          </a:xfrm>
          <a:prstGeom prst="rect">
            <a:avLst/>
          </a:prstGeom>
          <a:noFill/>
        </p:spPr>
        <p:txBody>
          <a:bodyPr wrap="square" lIns="226737" tIns="226737" rIns="226737" bIns="226737" rtlCol="0" anchor="ctr">
            <a:spAutoFit/>
          </a:bodyPr>
          <a:lstStyle/>
          <a:p>
            <a:pPr marL="0" indent="0" algn="l">
              <a:lnSpc>
                <a:spcPct val="112000"/>
              </a:lnSpc>
              <a:buNone/>
            </a:pPr>
            <a:r>
              <a:rPr lang="en-US" sz="1265" dirty="0">
                <a:solidFill>
                  <a:srgbClr val="E6EDF3"/>
                </a:solidFill>
                <a:latin typeface="JetBrains Mono" pitchFamily="34" charset="0"/>
                <a:ea typeface="JetBrains Mono" pitchFamily="34" charset="-122"/>
                <a:cs typeface="JetBrains Mono" pitchFamily="34" charset="-120"/>
              </a:rPr>
              <a:t>Base64</a:t>
            </a:r>
            <a:endParaRPr lang="en-US" sz="1265" dirty="0"/>
          </a:p>
        </p:txBody>
      </p:sp>
      <p:sp>
        <p:nvSpPr>
          <p:cNvPr id="39" name="Text 36"/>
          <p:cNvSpPr/>
          <p:nvPr/>
        </p:nvSpPr>
        <p:spPr>
          <a:xfrm>
            <a:off x="5733677" y="4717191"/>
            <a:ext cx="3224511" cy="671830"/>
          </a:xfrm>
          <a:prstGeom prst="rect">
            <a:avLst/>
          </a:prstGeom>
          <a:noFill/>
        </p:spPr>
        <p:txBody>
          <a:bodyPr wrap="square" lIns="226737" tIns="226737" rIns="226737" bIns="226737" rtlCol="0" anchor="ctr">
            <a:spAutoFit/>
          </a:bodyPr>
          <a:lstStyle/>
          <a:p>
            <a:pPr marL="0" indent="0" algn="l">
              <a:lnSpc>
                <a:spcPct val="112000"/>
              </a:lnSpc>
              <a:buNone/>
            </a:pPr>
            <a:r>
              <a:rPr lang="en-US" sz="1265" dirty="0">
                <a:solidFill>
                  <a:srgbClr val="E6EDF3"/>
                </a:solidFill>
                <a:latin typeface="JetBrains Mono" pitchFamily="34" charset="0"/>
                <a:ea typeface="JetBrains Mono" pitchFamily="34" charset="-122"/>
                <a:cs typeface="JetBrains Mono" pitchFamily="34" charset="-120"/>
              </a:rPr>
              <a:t>AES</a:t>
            </a:r>
            <a:endParaRPr lang="en-US" sz="1265" dirty="0"/>
          </a:p>
        </p:txBody>
      </p:sp>
      <p:sp>
        <p:nvSpPr>
          <p:cNvPr id="40" name="Text 37"/>
          <p:cNvSpPr/>
          <p:nvPr/>
        </p:nvSpPr>
        <p:spPr>
          <a:xfrm>
            <a:off x="8958188" y="4717191"/>
            <a:ext cx="2662312" cy="671830"/>
          </a:xfrm>
          <a:prstGeom prst="rect">
            <a:avLst/>
          </a:prstGeom>
          <a:noFill/>
        </p:spPr>
        <p:txBody>
          <a:bodyPr wrap="square" lIns="226737" tIns="226737" rIns="226737" bIns="226737" rtlCol="0" anchor="ctr">
            <a:spAutoFit/>
          </a:bodyPr>
          <a:lstStyle/>
          <a:p>
            <a:pPr marL="0" indent="0" algn="l">
              <a:lnSpc>
                <a:spcPct val="112000"/>
              </a:lnSpc>
              <a:buNone/>
            </a:pPr>
            <a:r>
              <a:rPr lang="en-US" sz="1265" dirty="0">
                <a:solidFill>
                  <a:srgbClr val="E6EDF3"/>
                </a:solidFill>
                <a:latin typeface="JetBrains Mono" pitchFamily="34" charset="0"/>
                <a:ea typeface="JetBrains Mono" pitchFamily="34" charset="-122"/>
                <a:cs typeface="JetBrains Mono" pitchFamily="34" charset="-120"/>
              </a:rPr>
              <a:t>SHA-256</a:t>
            </a:r>
            <a:endParaRPr lang="en-US" sz="1265" dirty="0"/>
          </a:p>
        </p:txBody>
      </p:sp>
      <p:sp>
        <p:nvSpPr>
          <p:cNvPr id="41" name="Shape 38"/>
          <p:cNvSpPr/>
          <p:nvPr/>
        </p:nvSpPr>
        <p:spPr>
          <a:xfrm>
            <a:off x="571500" y="5754141"/>
            <a:ext cx="11049000" cy="1254919"/>
          </a:xfrm>
          <a:prstGeom prst="rect">
            <a:avLst/>
          </a:prstGeom>
          <a:solidFill>
            <a:srgbClr val="FF6B6B">
              <a:alpha val="10000"/>
            </a:srgbClr>
          </a:solidFill>
        </p:spPr>
      </p:sp>
      <p:sp>
        <p:nvSpPr>
          <p:cNvPr id="42" name="Shape 39"/>
          <p:cNvSpPr/>
          <p:nvPr/>
        </p:nvSpPr>
        <p:spPr>
          <a:xfrm>
            <a:off x="571500" y="5754141"/>
            <a:ext cx="38100" cy="1254919"/>
          </a:xfrm>
          <a:prstGeom prst="rect">
            <a:avLst/>
          </a:prstGeom>
          <a:solidFill>
            <a:srgbClr val="FF6B6B"/>
          </a:solidFill>
        </p:spPr>
      </p:sp>
      <p:pic>
        <p:nvPicPr>
          <p:cNvPr id="43" name="Image 1" descr="preencoded.png"/>
          <p:cNvPicPr>
            <a:picLocks noChangeAspect="1"/>
          </p:cNvPicPr>
          <p:nvPr/>
        </p:nvPicPr>
        <p:blipFill>
          <a:blip r:embed="rId2"/>
          <a:stretch>
            <a:fillRect/>
          </a:stretch>
        </p:blipFill>
        <p:spPr>
          <a:xfrm>
            <a:off x="4341651" y="6004173"/>
            <a:ext cx="276225" cy="266700"/>
          </a:xfrm>
          <a:prstGeom prst="rect">
            <a:avLst/>
          </a:prstGeom>
        </p:spPr>
      </p:pic>
      <p:sp>
        <p:nvSpPr>
          <p:cNvPr id="44" name="Text 40"/>
          <p:cNvSpPr/>
          <p:nvPr/>
        </p:nvSpPr>
        <p:spPr>
          <a:xfrm>
            <a:off x="4617876" y="5956548"/>
            <a:ext cx="3232472" cy="307340"/>
          </a:xfrm>
          <a:prstGeom prst="rect">
            <a:avLst/>
          </a:prstGeom>
          <a:noFill/>
        </p:spPr>
        <p:txBody>
          <a:bodyPr wrap="square" lIns="0" tIns="0" rIns="0" bIns="0" rtlCol="0" anchor="t">
            <a:spAutoFit/>
          </a:bodyPr>
          <a:lstStyle/>
          <a:p>
            <a:pPr marL="0" indent="0" algn="ctr">
              <a:buNone/>
            </a:pPr>
            <a:r>
              <a:rPr lang="en-US" sz="2000" kern="0" spc="1" dirty="0">
                <a:solidFill>
                  <a:srgbClr val="FF6B6B"/>
                </a:solidFill>
                <a:latin typeface="Poppins Bold" pitchFamily="34" charset="0"/>
                <a:ea typeface="Poppins Bold" pitchFamily="34" charset="-122"/>
                <a:cs typeface="Poppins Bold" pitchFamily="34" charset="-120"/>
              </a:rPr>
              <a:t>ENCODING ≠ SECURITY</a:t>
            </a:r>
            <a:endParaRPr lang="en-US" sz="2000" dirty="0"/>
          </a:p>
        </p:txBody>
      </p:sp>
      <p:sp>
        <p:nvSpPr>
          <p:cNvPr id="45" name="Text 41"/>
          <p:cNvSpPr/>
          <p:nvPr/>
        </p:nvSpPr>
        <p:spPr>
          <a:xfrm>
            <a:off x="762000" y="6439941"/>
            <a:ext cx="10668000" cy="194310"/>
          </a:xfrm>
          <a:prstGeom prst="rect">
            <a:avLst/>
          </a:prstGeom>
          <a:noFill/>
        </p:spPr>
        <p:txBody>
          <a:bodyPr wrap="square" lIns="0" tIns="0" rIns="0" bIns="0" rtlCol="0" anchor="t">
            <a:spAutoFit/>
          </a:bodyPr>
          <a:lstStyle/>
          <a:p>
            <a:pPr marL="0" indent="0" algn="ctr">
              <a:buNone/>
            </a:pPr>
            <a:r>
              <a:rPr lang="en-US" sz="1265" dirty="0">
                <a:solidFill>
                  <a:srgbClr val="E6EDF3"/>
                </a:solidFill>
                <a:latin typeface="Inter" pitchFamily="34" charset="0"/>
                <a:ea typeface="Inter" pitchFamily="34" charset="-122"/>
                <a:cs typeface="Inter" pitchFamily="34" charset="-120"/>
              </a:rPr>
              <a:t>Encoding is for compatibility and formatting. Never use it alone to protect sensitive data.</a:t>
            </a:r>
            <a:endParaRPr lang="en-US" sz="1265" dirty="0"/>
          </a:p>
        </p:txBody>
      </p:sp>
      <p:grpSp>
        <p:nvGrpSpPr>
          <p:cNvPr id="46" name="Group 2"/>
          <p:cNvGrpSpPr/>
          <p:nvPr/>
        </p:nvGrpSpPr>
        <p:grpSpPr>
          <a:xfrm rot="0">
            <a:off x="294640" y="194310"/>
            <a:ext cx="789305" cy="299720"/>
            <a:chOff x="0" y="0"/>
            <a:chExt cx="341337" cy="102463"/>
          </a:xfrm>
        </p:grpSpPr>
        <p:sp>
          <p:nvSpPr>
            <p:cNvPr id="47"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8"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9" name="Group 5"/>
          <p:cNvGrpSpPr/>
          <p:nvPr/>
        </p:nvGrpSpPr>
        <p:grpSpPr>
          <a:xfrm rot="0">
            <a:off x="822325" y="209550"/>
            <a:ext cx="220980" cy="246380"/>
            <a:chOff x="0" y="0"/>
            <a:chExt cx="812800" cy="812800"/>
          </a:xfrm>
        </p:grpSpPr>
        <p:sp>
          <p:nvSpPr>
            <p:cNvPr id="50"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1"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52"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0" y="571500"/>
            <a:ext cx="12192000" cy="584200"/>
          </a:xfrm>
          <a:prstGeom prst="rect">
            <a:avLst/>
          </a:prstGeom>
          <a:noFill/>
        </p:spPr>
        <p:txBody>
          <a:bodyPr wrap="square" lIns="0" tIns="0" rIns="0" bIns="0" rtlCol="0" anchor="t">
            <a:spAutoFit/>
          </a:bodyPr>
          <a:lstStyle/>
          <a:p>
            <a:pPr marL="0" indent="0" algn="ctr">
              <a:buNone/>
            </a:pPr>
            <a:r>
              <a:rPr lang="en-US" sz="3800" b="1" kern="0" spc="3" dirty="0">
                <a:solidFill>
                  <a:srgbClr val="58A6FF"/>
                </a:solidFill>
                <a:latin typeface="Poppins Bold" pitchFamily="34" charset="0"/>
                <a:ea typeface="Poppins Bold" pitchFamily="34" charset="-122"/>
                <a:cs typeface="Poppins Bold" pitchFamily="34" charset="-120"/>
              </a:rPr>
              <a:t>SECTION SUMMARY: ENCODING MASTERY</a:t>
            </a:r>
            <a:endParaRPr lang="en-US" sz="3800" dirty="0"/>
          </a:p>
        </p:txBody>
      </p:sp>
      <p:sp>
        <p:nvSpPr>
          <p:cNvPr id="4" name="Shape 1"/>
          <p:cNvSpPr/>
          <p:nvPr/>
        </p:nvSpPr>
        <p:spPr>
          <a:xfrm>
            <a:off x="762000" y="2643188"/>
            <a:ext cx="3429000" cy="2055428"/>
          </a:xfrm>
          <a:prstGeom prst="rect">
            <a:avLst/>
          </a:prstGeom>
          <a:solidFill>
            <a:srgbClr val="161B22"/>
          </a:solidFill>
        </p:spPr>
      </p:sp>
      <p:sp>
        <p:nvSpPr>
          <p:cNvPr id="5" name="Shape 2"/>
          <p:cNvSpPr/>
          <p:nvPr/>
        </p:nvSpPr>
        <p:spPr>
          <a:xfrm>
            <a:off x="762000" y="2643188"/>
            <a:ext cx="3429000" cy="38100"/>
          </a:xfrm>
          <a:prstGeom prst="rect">
            <a:avLst/>
          </a:prstGeom>
          <a:solidFill>
            <a:srgbClr val="00FF9C"/>
          </a:solidFill>
        </p:spPr>
      </p:sp>
      <p:pic>
        <p:nvPicPr>
          <p:cNvPr id="6" name="Image 1" descr="preencoded.png"/>
          <p:cNvPicPr>
            <a:picLocks noChangeAspect="1"/>
          </p:cNvPicPr>
          <p:nvPr/>
        </p:nvPicPr>
        <p:blipFill>
          <a:blip r:embed="rId2"/>
          <a:stretch>
            <a:fillRect/>
          </a:stretch>
        </p:blipFill>
        <p:spPr>
          <a:xfrm>
            <a:off x="2286000" y="2833688"/>
            <a:ext cx="381000" cy="381000"/>
          </a:xfrm>
          <a:prstGeom prst="rect">
            <a:avLst/>
          </a:prstGeom>
        </p:spPr>
      </p:pic>
      <p:sp>
        <p:nvSpPr>
          <p:cNvPr id="7" name="Text 3"/>
          <p:cNvSpPr/>
          <p:nvPr/>
        </p:nvSpPr>
        <p:spPr>
          <a:xfrm>
            <a:off x="952500" y="3328988"/>
            <a:ext cx="3048000" cy="236220"/>
          </a:xfrm>
          <a:prstGeom prst="rect">
            <a:avLst/>
          </a:prstGeom>
          <a:noFill/>
        </p:spPr>
        <p:txBody>
          <a:bodyPr wrap="square" lIns="0" tIns="0" rIns="0" bIns="0" rtlCol="0" anchor="t">
            <a:spAutoFit/>
          </a:bodyPr>
          <a:lstStyle/>
          <a:p>
            <a:pPr marL="0" indent="0" algn="ctr">
              <a:buNone/>
            </a:pPr>
            <a:r>
              <a:rPr lang="en-US" sz="1535" dirty="0">
                <a:solidFill>
                  <a:srgbClr val="E6EDF3"/>
                </a:solidFill>
                <a:latin typeface="Poppins Bold" pitchFamily="34" charset="0"/>
                <a:ea typeface="Poppins Bold" pitchFamily="34" charset="-122"/>
                <a:cs typeface="Poppins Bold" pitchFamily="34" charset="-120"/>
              </a:rPr>
              <a:t>Format ≠ Security</a:t>
            </a:r>
            <a:endParaRPr lang="en-US" sz="1535" dirty="0"/>
          </a:p>
        </p:txBody>
      </p:sp>
      <p:sp>
        <p:nvSpPr>
          <p:cNvPr id="8" name="Text 4"/>
          <p:cNvSpPr/>
          <p:nvPr/>
        </p:nvSpPr>
        <p:spPr>
          <a:xfrm>
            <a:off x="952500" y="3738563"/>
            <a:ext cx="3048000" cy="673100"/>
          </a:xfrm>
          <a:prstGeom prst="rect">
            <a:avLst/>
          </a:prstGeom>
          <a:noFill/>
        </p:spPr>
        <p:txBody>
          <a:bodyPr wrap="square" lIns="0" tIns="0" rIns="0" bIns="0" rtlCol="0" anchor="t">
            <a:spAutoFit/>
          </a:bodyPr>
          <a:lstStyle/>
          <a:p>
            <a:pPr marL="0" indent="0" algn="ctr">
              <a:lnSpc>
                <a:spcPct val="128000"/>
              </a:lnSpc>
              <a:buNone/>
            </a:pPr>
            <a:r>
              <a:rPr lang="en-US" sz="1135" dirty="0">
                <a:solidFill>
                  <a:srgbClr val="8B949E"/>
                </a:solidFill>
                <a:latin typeface="Inter" pitchFamily="34" charset="0"/>
                <a:ea typeface="Inter" pitchFamily="34" charset="-122"/>
                <a:cs typeface="Inter" pitchFamily="34" charset="-120"/>
              </a:rPr>
              <a:t>Encoding is for data compatibility and transmission. It provides zero secrecy or protection.</a:t>
            </a:r>
            <a:endParaRPr lang="en-US" sz="1135" dirty="0"/>
          </a:p>
        </p:txBody>
      </p:sp>
      <p:sp>
        <p:nvSpPr>
          <p:cNvPr id="9" name="Shape 5"/>
          <p:cNvSpPr/>
          <p:nvPr/>
        </p:nvSpPr>
        <p:spPr>
          <a:xfrm>
            <a:off x="4381500" y="2643188"/>
            <a:ext cx="3429000" cy="2055428"/>
          </a:xfrm>
          <a:prstGeom prst="rect">
            <a:avLst/>
          </a:prstGeom>
          <a:solidFill>
            <a:srgbClr val="161B22"/>
          </a:solidFill>
        </p:spPr>
      </p:sp>
      <p:sp>
        <p:nvSpPr>
          <p:cNvPr id="10" name="Shape 6"/>
          <p:cNvSpPr/>
          <p:nvPr/>
        </p:nvSpPr>
        <p:spPr>
          <a:xfrm>
            <a:off x="4381500" y="2643188"/>
            <a:ext cx="3429000" cy="38100"/>
          </a:xfrm>
          <a:prstGeom prst="rect">
            <a:avLst/>
          </a:prstGeom>
          <a:solidFill>
            <a:srgbClr val="00FF9C"/>
          </a:solidFill>
        </p:spPr>
      </p:sp>
      <p:pic>
        <p:nvPicPr>
          <p:cNvPr id="11" name="Image 2" descr="preencoded.png"/>
          <p:cNvPicPr>
            <a:picLocks noChangeAspect="1"/>
          </p:cNvPicPr>
          <p:nvPr/>
        </p:nvPicPr>
        <p:blipFill>
          <a:blip r:embed="rId3"/>
          <a:stretch>
            <a:fillRect/>
          </a:stretch>
        </p:blipFill>
        <p:spPr>
          <a:xfrm>
            <a:off x="5881688" y="2833688"/>
            <a:ext cx="428625" cy="381000"/>
          </a:xfrm>
          <a:prstGeom prst="rect">
            <a:avLst/>
          </a:prstGeom>
        </p:spPr>
      </p:pic>
      <p:sp>
        <p:nvSpPr>
          <p:cNvPr id="12" name="Text 7"/>
          <p:cNvSpPr/>
          <p:nvPr/>
        </p:nvSpPr>
        <p:spPr>
          <a:xfrm>
            <a:off x="4572000" y="3328988"/>
            <a:ext cx="3048000" cy="236220"/>
          </a:xfrm>
          <a:prstGeom prst="rect">
            <a:avLst/>
          </a:prstGeom>
          <a:noFill/>
        </p:spPr>
        <p:txBody>
          <a:bodyPr wrap="square" lIns="0" tIns="0" rIns="0" bIns="0" rtlCol="0" anchor="t">
            <a:spAutoFit/>
          </a:bodyPr>
          <a:lstStyle/>
          <a:p>
            <a:pPr marL="0" indent="0" algn="ctr">
              <a:buNone/>
            </a:pPr>
            <a:r>
              <a:rPr lang="en-US" sz="1535" dirty="0">
                <a:solidFill>
                  <a:srgbClr val="E6EDF3"/>
                </a:solidFill>
                <a:latin typeface="Poppins Bold" pitchFamily="34" charset="0"/>
                <a:ea typeface="Poppins Bold" pitchFamily="34" charset="-122"/>
                <a:cs typeface="Poppins Bold" pitchFamily="34" charset="-120"/>
              </a:rPr>
              <a:t>Pattern Recognition</a:t>
            </a:r>
            <a:endParaRPr lang="en-US" sz="1535" dirty="0"/>
          </a:p>
        </p:txBody>
      </p:sp>
      <p:sp>
        <p:nvSpPr>
          <p:cNvPr id="13" name="Text 8"/>
          <p:cNvSpPr/>
          <p:nvPr/>
        </p:nvSpPr>
        <p:spPr>
          <a:xfrm>
            <a:off x="4572000" y="3738563"/>
            <a:ext cx="3048000" cy="448310"/>
          </a:xfrm>
          <a:prstGeom prst="rect">
            <a:avLst/>
          </a:prstGeom>
          <a:noFill/>
        </p:spPr>
        <p:txBody>
          <a:bodyPr wrap="square" lIns="0" tIns="0" rIns="0" bIns="0" rtlCol="0" anchor="t">
            <a:spAutoFit/>
          </a:bodyPr>
          <a:lstStyle/>
          <a:p>
            <a:pPr marL="0" indent="0" algn="ctr">
              <a:lnSpc>
                <a:spcPct val="128000"/>
              </a:lnSpc>
              <a:buNone/>
            </a:pPr>
            <a:r>
              <a:rPr lang="en-US" sz="1135" dirty="0">
                <a:solidFill>
                  <a:srgbClr val="8B949E"/>
                </a:solidFill>
                <a:latin typeface="Inter" pitchFamily="34" charset="0"/>
                <a:ea typeface="Inter" pitchFamily="34" charset="-122"/>
                <a:cs typeface="Inter" pitchFamily="34" charset="-120"/>
              </a:rPr>
              <a:t>Mastering the visual clues of Base64, Hex, and URL encoding allows for instant identification.</a:t>
            </a:r>
            <a:endParaRPr lang="en-US" sz="1135" dirty="0"/>
          </a:p>
        </p:txBody>
      </p:sp>
      <p:sp>
        <p:nvSpPr>
          <p:cNvPr id="14" name="Shape 9"/>
          <p:cNvSpPr/>
          <p:nvPr/>
        </p:nvSpPr>
        <p:spPr>
          <a:xfrm>
            <a:off x="8001000" y="2643188"/>
            <a:ext cx="3429000" cy="2055428"/>
          </a:xfrm>
          <a:prstGeom prst="rect">
            <a:avLst/>
          </a:prstGeom>
          <a:solidFill>
            <a:srgbClr val="161B22"/>
          </a:solidFill>
        </p:spPr>
      </p:sp>
      <p:sp>
        <p:nvSpPr>
          <p:cNvPr id="15" name="Shape 10"/>
          <p:cNvSpPr/>
          <p:nvPr/>
        </p:nvSpPr>
        <p:spPr>
          <a:xfrm>
            <a:off x="8001000" y="2643188"/>
            <a:ext cx="3429000" cy="38100"/>
          </a:xfrm>
          <a:prstGeom prst="rect">
            <a:avLst/>
          </a:prstGeom>
          <a:solidFill>
            <a:srgbClr val="00FF9C"/>
          </a:solidFill>
        </p:spPr>
      </p:sp>
      <p:pic>
        <p:nvPicPr>
          <p:cNvPr id="16" name="Image 3" descr="preencoded.png"/>
          <p:cNvPicPr>
            <a:picLocks noChangeAspect="1"/>
          </p:cNvPicPr>
          <p:nvPr/>
        </p:nvPicPr>
        <p:blipFill>
          <a:blip r:embed="rId4"/>
          <a:stretch>
            <a:fillRect/>
          </a:stretch>
        </p:blipFill>
        <p:spPr>
          <a:xfrm>
            <a:off x="9548812" y="2833688"/>
            <a:ext cx="333375" cy="381000"/>
          </a:xfrm>
          <a:prstGeom prst="rect">
            <a:avLst/>
          </a:prstGeom>
        </p:spPr>
      </p:pic>
      <p:sp>
        <p:nvSpPr>
          <p:cNvPr id="17" name="Text 11"/>
          <p:cNvSpPr/>
          <p:nvPr/>
        </p:nvSpPr>
        <p:spPr>
          <a:xfrm>
            <a:off x="8191500" y="3328988"/>
            <a:ext cx="3048000" cy="236220"/>
          </a:xfrm>
          <a:prstGeom prst="rect">
            <a:avLst/>
          </a:prstGeom>
          <a:noFill/>
        </p:spPr>
        <p:txBody>
          <a:bodyPr wrap="square" lIns="0" tIns="0" rIns="0" bIns="0" rtlCol="0" anchor="t">
            <a:spAutoFit/>
          </a:bodyPr>
          <a:lstStyle/>
          <a:p>
            <a:pPr marL="0" indent="0" algn="ctr">
              <a:buNone/>
            </a:pPr>
            <a:r>
              <a:rPr lang="en-US" sz="1535" dirty="0">
                <a:solidFill>
                  <a:srgbClr val="E6EDF3"/>
                </a:solidFill>
                <a:latin typeface="Poppins Bold" pitchFamily="34" charset="0"/>
                <a:ea typeface="Poppins Bold" pitchFamily="34" charset="-122"/>
                <a:cs typeface="Poppins Bold" pitchFamily="34" charset="-120"/>
              </a:rPr>
              <a:t>Tool Proficiency</a:t>
            </a:r>
            <a:endParaRPr lang="en-US" sz="1535" dirty="0"/>
          </a:p>
        </p:txBody>
      </p:sp>
      <p:sp>
        <p:nvSpPr>
          <p:cNvPr id="18" name="Text 12"/>
          <p:cNvSpPr/>
          <p:nvPr/>
        </p:nvSpPr>
        <p:spPr>
          <a:xfrm>
            <a:off x="8191500" y="3738563"/>
            <a:ext cx="3048000" cy="448310"/>
          </a:xfrm>
          <a:prstGeom prst="rect">
            <a:avLst/>
          </a:prstGeom>
          <a:noFill/>
        </p:spPr>
        <p:txBody>
          <a:bodyPr wrap="square" lIns="0" tIns="0" rIns="0" bIns="0" rtlCol="0" anchor="t">
            <a:spAutoFit/>
          </a:bodyPr>
          <a:lstStyle/>
          <a:p>
            <a:pPr marL="0" indent="0" algn="ctr">
              <a:lnSpc>
                <a:spcPct val="128000"/>
              </a:lnSpc>
              <a:buNone/>
            </a:pPr>
            <a:r>
              <a:rPr lang="en-US" sz="1135" dirty="0">
                <a:solidFill>
                  <a:srgbClr val="8B949E"/>
                </a:solidFill>
                <a:latin typeface="Inter" pitchFamily="34" charset="0"/>
                <a:ea typeface="Inter" pitchFamily="34" charset="-122"/>
                <a:cs typeface="Inter" pitchFamily="34" charset="-120"/>
              </a:rPr>
              <a:t>CyberChef is your primary weapon. Use "Magic" for discovery and "Recipes" for execution.</a:t>
            </a:r>
            <a:endParaRPr lang="en-US" sz="1135" dirty="0"/>
          </a:p>
        </p:txBody>
      </p:sp>
      <p:sp>
        <p:nvSpPr>
          <p:cNvPr id="19" name="Shape 13"/>
          <p:cNvSpPr/>
          <p:nvPr/>
        </p:nvSpPr>
        <p:spPr>
          <a:xfrm>
            <a:off x="533400" y="5041516"/>
            <a:ext cx="11125200" cy="1071563"/>
          </a:xfrm>
          <a:prstGeom prst="rect">
            <a:avLst/>
          </a:prstGeom>
          <a:solidFill>
            <a:srgbClr val="58A6FF">
              <a:alpha val="10000"/>
            </a:srgbClr>
          </a:solidFill>
        </p:spPr>
      </p:sp>
      <p:sp>
        <p:nvSpPr>
          <p:cNvPr id="20" name="Shape 14"/>
          <p:cNvSpPr/>
          <p:nvPr/>
        </p:nvSpPr>
        <p:spPr>
          <a:xfrm>
            <a:off x="533400" y="5041516"/>
            <a:ext cx="76200" cy="1071563"/>
          </a:xfrm>
          <a:prstGeom prst="rect">
            <a:avLst/>
          </a:prstGeom>
          <a:solidFill>
            <a:srgbClr val="58A6FF"/>
          </a:solidFill>
        </p:spPr>
      </p:sp>
      <p:sp>
        <p:nvSpPr>
          <p:cNvPr id="21" name="Text 15"/>
          <p:cNvSpPr/>
          <p:nvPr/>
        </p:nvSpPr>
        <p:spPr>
          <a:xfrm>
            <a:off x="762000" y="5232016"/>
            <a:ext cx="3995737" cy="512445"/>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Poppins Bold" pitchFamily="34" charset="0"/>
                <a:ea typeface="Poppins Bold" pitchFamily="34" charset="-122"/>
                <a:cs typeface="Poppins Bold" pitchFamily="34" charset="-120"/>
              </a:rPr>
              <a:t>NEXT MODULE:</a:t>
            </a:r>
            <a:r>
              <a:rPr lang="en-US" sz="1665" dirty="0">
                <a:solidFill>
                  <a:srgbClr val="58A6FF"/>
                </a:solidFill>
                <a:latin typeface="Poppins Bold" pitchFamily="34" charset="0"/>
                <a:ea typeface="Poppins Bold" pitchFamily="34" charset="-122"/>
                <a:cs typeface="Poppins Bold" pitchFamily="34" charset="-120"/>
              </a:rPr>
              <a:t>
Classical Ciphers &amp; Cryptography</a:t>
            </a:r>
            <a:endParaRPr lang="en-US" sz="1665" dirty="0"/>
          </a:p>
        </p:txBody>
      </p:sp>
      <p:sp>
        <p:nvSpPr>
          <p:cNvPr id="22" name="Shape 16"/>
          <p:cNvSpPr/>
          <p:nvPr/>
        </p:nvSpPr>
        <p:spPr>
          <a:xfrm>
            <a:off x="9486900" y="5407037"/>
            <a:ext cx="1943100" cy="340519"/>
          </a:xfrm>
          <a:prstGeom prst="rect">
            <a:avLst/>
          </a:prstGeom>
          <a:solidFill>
            <a:srgbClr val="00FF9C"/>
          </a:solidFill>
        </p:spPr>
      </p:sp>
      <p:sp>
        <p:nvSpPr>
          <p:cNvPr id="23" name="Text 17"/>
          <p:cNvSpPr/>
          <p:nvPr/>
        </p:nvSpPr>
        <p:spPr>
          <a:xfrm>
            <a:off x="9486900" y="5407037"/>
            <a:ext cx="1943100" cy="320040"/>
          </a:xfrm>
          <a:prstGeom prst="rect">
            <a:avLst/>
          </a:prstGeom>
          <a:noFill/>
        </p:spPr>
        <p:txBody>
          <a:bodyPr wrap="square" lIns="181356" tIns="68072" rIns="181356" bIns="68072" rtlCol="0" anchor="t">
            <a:spAutoFit/>
          </a:bodyPr>
          <a:lstStyle/>
          <a:p>
            <a:pPr marL="0" indent="0" algn="l">
              <a:buNone/>
            </a:pPr>
            <a:r>
              <a:rPr lang="en-US" sz="1200" b="1" dirty="0">
                <a:solidFill>
                  <a:srgbClr val="0D1117"/>
                </a:solidFill>
                <a:latin typeface="JetBrains Mono" pitchFamily="34" charset="0"/>
                <a:ea typeface="JetBrains Mono" pitchFamily="34" charset="-122"/>
                <a:cs typeface="JetBrains Mono" pitchFamily="34" charset="-120"/>
              </a:rPr>
              <a:t>SECTION COMPLETE</a:t>
            </a:r>
            <a:endParaRPr lang="en-US" sz="1200"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37 | EWUCSC</a:t>
            </a:r>
            <a:endParaRPr lang="en-US" sz="1265" dirty="0"/>
          </a:p>
        </p:txBody>
      </p:sp>
      <p:sp>
        <p:nvSpPr>
          <p:cNvPr id="7" name="Shape 4"/>
          <p:cNvSpPr/>
          <p:nvPr/>
        </p:nvSpPr>
        <p:spPr>
          <a:xfrm>
            <a:off x="381000" y="952500"/>
            <a:ext cx="5819775" cy="5524500"/>
          </a:xfrm>
          <a:prstGeom prst="rect">
            <a:avLst/>
          </a:prstGeom>
          <a:solidFill>
            <a:srgbClr val="161B22"/>
          </a:solidFill>
          <a:ln w="9144">
            <a:solidFill>
              <a:srgbClr val="30363D"/>
            </a:solidFill>
            <a:prstDash val="solid"/>
          </a:ln>
        </p:spPr>
      </p:sp>
      <p:sp>
        <p:nvSpPr>
          <p:cNvPr id="8" name="Text 5"/>
          <p:cNvSpPr/>
          <p:nvPr/>
        </p:nvSpPr>
        <p:spPr>
          <a:xfrm>
            <a:off x="666751" y="1238251"/>
            <a:ext cx="5238751" cy="861695"/>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CTF Challenge: The Layered Message</a:t>
            </a:r>
            <a:endParaRPr lang="en-US" sz="2800" dirty="0"/>
          </a:p>
        </p:txBody>
      </p:sp>
      <p:sp>
        <p:nvSpPr>
          <p:cNvPr id="9" name="Text 6"/>
          <p:cNvSpPr/>
          <p:nvPr/>
        </p:nvSpPr>
        <p:spPr>
          <a:xfrm>
            <a:off x="666751" y="2628900"/>
            <a:ext cx="5238751" cy="389255"/>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Inter" pitchFamily="34" charset="0"/>
                <a:ea typeface="Inter" pitchFamily="34" charset="-122"/>
                <a:cs typeface="Inter" pitchFamily="34" charset="-120"/>
              </a:rPr>
              <a:t>An attacker left this message on the server. It seems to be encoded multiple times. Can you find the hidden flag?</a:t>
            </a:r>
            <a:endParaRPr lang="en-US" sz="1265" dirty="0"/>
          </a:p>
        </p:txBody>
      </p:sp>
      <p:sp>
        <p:nvSpPr>
          <p:cNvPr id="10" name="Shape 7"/>
          <p:cNvSpPr/>
          <p:nvPr/>
        </p:nvSpPr>
        <p:spPr>
          <a:xfrm>
            <a:off x="666751" y="3233737"/>
            <a:ext cx="5238751" cy="895351"/>
          </a:xfrm>
          <a:prstGeom prst="rect">
            <a:avLst/>
          </a:prstGeom>
          <a:solidFill>
            <a:srgbClr val="000000"/>
          </a:solidFill>
          <a:ln w="9144">
            <a:solidFill>
              <a:srgbClr val="00FF9C"/>
            </a:solidFill>
            <a:prstDash val="solid"/>
          </a:ln>
        </p:spPr>
      </p:sp>
      <p:sp>
        <p:nvSpPr>
          <p:cNvPr id="11" name="Text 8"/>
          <p:cNvSpPr/>
          <p:nvPr/>
        </p:nvSpPr>
        <p:spPr>
          <a:xfrm>
            <a:off x="857251" y="3424237"/>
            <a:ext cx="4857751" cy="174625"/>
          </a:xfrm>
          <a:prstGeom prst="rect">
            <a:avLst/>
          </a:prstGeom>
          <a:noFill/>
        </p:spPr>
        <p:txBody>
          <a:bodyPr wrap="square" lIns="0" tIns="0" rIns="0" bIns="0" rtlCol="0" anchor="t">
            <a:spAutoFit/>
          </a:bodyPr>
          <a:lstStyle/>
          <a:p>
            <a:pPr marL="0" indent="0" algn="l">
              <a:buNone/>
            </a:pPr>
            <a:r>
              <a:rPr lang="en-US" sz="1135" dirty="0">
                <a:solidFill>
                  <a:srgbClr val="8B949E"/>
                </a:solidFill>
                <a:latin typeface="JetBrains Mono Medium" pitchFamily="34" charset="0"/>
                <a:ea typeface="JetBrains Mono Medium" pitchFamily="34" charset="-122"/>
                <a:cs typeface="JetBrains Mono Medium" pitchFamily="34" charset="-120"/>
              </a:rPr>
              <a:t>$ cat secret_message.txt</a:t>
            </a:r>
            <a:endParaRPr lang="en-US" sz="1135" dirty="0"/>
          </a:p>
        </p:txBody>
      </p:sp>
      <p:sp>
        <p:nvSpPr>
          <p:cNvPr id="12" name="Text 9"/>
          <p:cNvSpPr/>
          <p:nvPr/>
        </p:nvSpPr>
        <p:spPr>
          <a:xfrm>
            <a:off x="857251" y="3719512"/>
            <a:ext cx="4857751" cy="174625"/>
          </a:xfrm>
          <a:prstGeom prst="rect">
            <a:avLst/>
          </a:prstGeom>
          <a:noFill/>
        </p:spPr>
        <p:txBody>
          <a:bodyPr wrap="square" lIns="0" tIns="0" rIns="0" bIns="0" rtlCol="0" anchor="t">
            <a:spAutoFit/>
          </a:bodyPr>
          <a:lstStyle/>
          <a:p>
            <a:pPr marL="0" indent="0" algn="l">
              <a:buNone/>
            </a:pPr>
            <a:r>
              <a:rPr lang="en-US" sz="1135" dirty="0">
                <a:solidFill>
                  <a:srgbClr val="00FF9C"/>
                </a:solidFill>
                <a:latin typeface="JetBrains Mono Medium" pitchFamily="34" charset="0"/>
                <a:ea typeface="JetBrains Mono Medium" pitchFamily="34" charset="-122"/>
                <a:cs typeface="JetBrains Mono Medium" pitchFamily="34" charset="-120"/>
              </a:rPr>
              <a:t>NTRoNTQwNTQ0NTQ1NTQ2</a:t>
            </a:r>
            <a:endParaRPr lang="en-US" sz="1135" dirty="0"/>
          </a:p>
        </p:txBody>
      </p:sp>
      <p:sp>
        <p:nvSpPr>
          <p:cNvPr id="13" name="Shape 10"/>
          <p:cNvSpPr/>
          <p:nvPr/>
        </p:nvSpPr>
        <p:spPr>
          <a:xfrm>
            <a:off x="666751" y="5519737"/>
            <a:ext cx="5238751" cy="671512"/>
          </a:xfrm>
          <a:prstGeom prst="rect">
            <a:avLst/>
          </a:prstGeom>
          <a:solidFill>
            <a:srgbClr val="E3B341">
              <a:alpha val="10000"/>
            </a:srgbClr>
          </a:solidFill>
          <a:ln w="9144">
            <a:solidFill>
              <a:srgbClr val="E3B341"/>
            </a:solidFill>
            <a:prstDash val="solid"/>
          </a:ln>
        </p:spPr>
      </p:sp>
      <p:pic>
        <p:nvPicPr>
          <p:cNvPr id="14" name="Image 1" descr="preencoded.png"/>
          <p:cNvPicPr>
            <a:picLocks noChangeAspect="1"/>
          </p:cNvPicPr>
          <p:nvPr/>
        </p:nvPicPr>
        <p:blipFill>
          <a:blip r:embed="rId2"/>
          <a:stretch>
            <a:fillRect/>
          </a:stretch>
        </p:blipFill>
        <p:spPr>
          <a:xfrm>
            <a:off x="809625" y="5695951"/>
            <a:ext cx="114300" cy="152400"/>
          </a:xfrm>
          <a:prstGeom prst="rect">
            <a:avLst/>
          </a:prstGeom>
        </p:spPr>
      </p:pic>
      <p:sp>
        <p:nvSpPr>
          <p:cNvPr id="15" name="Text 11"/>
          <p:cNvSpPr/>
          <p:nvPr/>
        </p:nvSpPr>
        <p:spPr>
          <a:xfrm>
            <a:off x="923925" y="5681663"/>
            <a:ext cx="4743451" cy="174625"/>
          </a:xfrm>
          <a:prstGeom prst="rect">
            <a:avLst/>
          </a:prstGeom>
          <a:noFill/>
        </p:spPr>
        <p:txBody>
          <a:bodyPr wrap="square" lIns="0" tIns="0" rIns="0" bIns="0" rtlCol="0" anchor="t">
            <a:spAutoFit/>
          </a:bodyPr>
          <a:lstStyle/>
          <a:p>
            <a:pPr marL="0" indent="0" algn="l">
              <a:buNone/>
            </a:pPr>
            <a:r>
              <a:rPr lang="en-US" sz="1135" i="1" dirty="0">
                <a:solidFill>
                  <a:srgbClr val="E3B341"/>
                </a:solidFill>
                <a:latin typeface="Inter" pitchFamily="34" charset="0"/>
                <a:ea typeface="Inter" pitchFamily="34" charset="-122"/>
                <a:cs typeface="Inter" pitchFamily="34" charset="-120"/>
              </a:rPr>
              <a:t>"Real CTF challenges often layer encodings. Always ask: what if I</a:t>
            </a:r>
            <a:endParaRPr lang="en-US" sz="1135" dirty="0"/>
          </a:p>
        </p:txBody>
      </p:sp>
      <p:sp>
        <p:nvSpPr>
          <p:cNvPr id="16" name="Text 12"/>
          <p:cNvSpPr/>
          <p:nvPr/>
        </p:nvSpPr>
        <p:spPr>
          <a:xfrm>
            <a:off x="809625" y="5865019"/>
            <a:ext cx="1226185" cy="174625"/>
          </a:xfrm>
          <a:prstGeom prst="rect">
            <a:avLst/>
          </a:prstGeom>
          <a:noFill/>
        </p:spPr>
        <p:txBody>
          <a:bodyPr wrap="none" lIns="0" tIns="0" rIns="0" bIns="0" rtlCol="0" anchor="t">
            <a:spAutoFit/>
          </a:bodyPr>
          <a:lstStyle/>
          <a:p>
            <a:pPr marL="0" indent="0" algn="l">
              <a:buNone/>
            </a:pPr>
            <a:r>
              <a:rPr lang="en-US" sz="1135" i="1" dirty="0">
                <a:solidFill>
                  <a:srgbClr val="E3B341"/>
                </a:solidFill>
                <a:latin typeface="Inter" pitchFamily="34" charset="0"/>
                <a:ea typeface="Inter" pitchFamily="34" charset="-122"/>
                <a:cs typeface="Inter" pitchFamily="34" charset="-120"/>
              </a:rPr>
              <a:t>decode this again?"</a:t>
            </a:r>
            <a:endParaRPr lang="en-US" sz="1135" dirty="0"/>
          </a:p>
        </p:txBody>
      </p:sp>
      <p:sp>
        <p:nvSpPr>
          <p:cNvPr id="17" name="Shape 13"/>
          <p:cNvSpPr/>
          <p:nvPr/>
        </p:nvSpPr>
        <p:spPr>
          <a:xfrm>
            <a:off x="6572251" y="952500"/>
            <a:ext cx="5238751" cy="1185863"/>
          </a:xfrm>
          <a:prstGeom prst="rect">
            <a:avLst/>
          </a:prstGeom>
          <a:solidFill>
            <a:srgbClr val="161B22"/>
          </a:solidFill>
        </p:spPr>
      </p:sp>
      <p:sp>
        <p:nvSpPr>
          <p:cNvPr id="18" name="Shape 14"/>
          <p:cNvSpPr/>
          <p:nvPr/>
        </p:nvSpPr>
        <p:spPr>
          <a:xfrm>
            <a:off x="6572251" y="952500"/>
            <a:ext cx="38100" cy="1185863"/>
          </a:xfrm>
          <a:prstGeom prst="rect">
            <a:avLst/>
          </a:prstGeom>
          <a:solidFill>
            <a:srgbClr val="58A6FF"/>
          </a:solidFill>
        </p:spPr>
      </p:sp>
      <p:pic>
        <p:nvPicPr>
          <p:cNvPr id="19" name="Image 2" descr="preencoded.png"/>
          <p:cNvPicPr>
            <a:picLocks noChangeAspect="1"/>
          </p:cNvPicPr>
          <p:nvPr/>
        </p:nvPicPr>
        <p:blipFill>
          <a:blip r:embed="rId3"/>
          <a:stretch>
            <a:fillRect/>
          </a:stretch>
        </p:blipFill>
        <p:spPr>
          <a:xfrm>
            <a:off x="6762751" y="1185863"/>
            <a:ext cx="171451" cy="171451"/>
          </a:xfrm>
          <a:prstGeom prst="rect">
            <a:avLst/>
          </a:prstGeom>
        </p:spPr>
      </p:pic>
      <p:sp>
        <p:nvSpPr>
          <p:cNvPr id="20" name="Text 15"/>
          <p:cNvSpPr/>
          <p:nvPr/>
        </p:nvSpPr>
        <p:spPr>
          <a:xfrm>
            <a:off x="7029451" y="1143000"/>
            <a:ext cx="1136650" cy="194310"/>
          </a:xfrm>
          <a:prstGeom prst="rect">
            <a:avLst/>
          </a:prstGeom>
          <a:noFill/>
        </p:spPr>
        <p:txBody>
          <a:bodyPr wrap="none" lIns="0" tIns="0" rIns="0" bIns="0" rtlCol="0" anchor="t">
            <a:spAutoFit/>
          </a:bodyPr>
          <a:lstStyle/>
          <a:p>
            <a:pPr marL="0" indent="0" algn="l">
              <a:buNone/>
            </a:pPr>
            <a:r>
              <a:rPr lang="en-US" sz="1265" dirty="0">
                <a:solidFill>
                  <a:srgbClr val="58A6FF"/>
                </a:solidFill>
                <a:latin typeface="Poppins SemiBold" pitchFamily="34" charset="0"/>
                <a:ea typeface="Poppins SemiBold" pitchFamily="34" charset="-122"/>
                <a:cs typeface="Poppins SemiBold" pitchFamily="34" charset="-120"/>
              </a:rPr>
              <a:t>LAYER 1: Base64</a:t>
            </a:r>
            <a:endParaRPr lang="en-US" sz="1265" dirty="0"/>
          </a:p>
        </p:txBody>
      </p:sp>
      <p:sp>
        <p:nvSpPr>
          <p:cNvPr id="21" name="Text 16"/>
          <p:cNvSpPr/>
          <p:nvPr/>
        </p:nvSpPr>
        <p:spPr>
          <a:xfrm>
            <a:off x="6762751" y="1495425"/>
            <a:ext cx="4857751" cy="389255"/>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Input:</a:t>
            </a:r>
            <a:r>
              <a:rPr lang="en-US" sz="1265" dirty="0">
                <a:solidFill>
                  <a:srgbClr val="E6EDF3"/>
                </a:solidFill>
                <a:latin typeface="JetBrains Mono Medium" pitchFamily="34" charset="0"/>
                <a:ea typeface="JetBrains Mono Medium" pitchFamily="34" charset="-122"/>
                <a:cs typeface="JetBrains Mono Medium" pitchFamily="34" charset="-120"/>
              </a:rPr>
              <a:t> NTRoNTQwNTQ0NTQ1NTQ2
</a:t>
            </a:r>
            <a:r>
              <a:rPr lang="en-US" sz="1265" dirty="0">
                <a:solidFill>
                  <a:srgbClr val="00FF9C"/>
                </a:solidFill>
                <a:latin typeface="JetBrains Mono Medium" pitchFamily="34" charset="0"/>
                <a:ea typeface="JetBrains Mono Medium" pitchFamily="34" charset="-122"/>
                <a:cs typeface="JetBrains Mono Medium" pitchFamily="34" charset="-120"/>
              </a:rPr>
              <a:t>Output:</a:t>
            </a:r>
            <a:r>
              <a:rPr lang="en-US" sz="1265" dirty="0">
                <a:solidFill>
                  <a:srgbClr val="E6EDF3"/>
                </a:solidFill>
                <a:latin typeface="JetBrains Mono Medium" pitchFamily="34" charset="0"/>
                <a:ea typeface="JetBrains Mono Medium" pitchFamily="34" charset="-122"/>
                <a:cs typeface="JetBrains Mono Medium" pitchFamily="34" charset="-120"/>
              </a:rPr>
              <a:t> 54h540544545546</a:t>
            </a:r>
            <a:endParaRPr lang="en-US" sz="1265" dirty="0"/>
          </a:p>
        </p:txBody>
      </p:sp>
      <p:sp>
        <p:nvSpPr>
          <p:cNvPr id="22" name="Shape 17"/>
          <p:cNvSpPr/>
          <p:nvPr/>
        </p:nvSpPr>
        <p:spPr>
          <a:xfrm>
            <a:off x="6572251" y="2328863"/>
            <a:ext cx="5238751" cy="1185863"/>
          </a:xfrm>
          <a:prstGeom prst="rect">
            <a:avLst/>
          </a:prstGeom>
          <a:solidFill>
            <a:srgbClr val="161B22"/>
          </a:solidFill>
        </p:spPr>
      </p:sp>
      <p:sp>
        <p:nvSpPr>
          <p:cNvPr id="23" name="Shape 18"/>
          <p:cNvSpPr/>
          <p:nvPr/>
        </p:nvSpPr>
        <p:spPr>
          <a:xfrm>
            <a:off x="6572251" y="2328863"/>
            <a:ext cx="38100" cy="1185863"/>
          </a:xfrm>
          <a:prstGeom prst="rect">
            <a:avLst/>
          </a:prstGeom>
          <a:solidFill>
            <a:srgbClr val="E3B341"/>
          </a:solidFill>
        </p:spPr>
      </p:sp>
      <p:pic>
        <p:nvPicPr>
          <p:cNvPr id="24" name="Image 3" descr="preencoded.png"/>
          <p:cNvPicPr>
            <a:picLocks noChangeAspect="1"/>
          </p:cNvPicPr>
          <p:nvPr/>
        </p:nvPicPr>
        <p:blipFill>
          <a:blip r:embed="rId4"/>
          <a:stretch>
            <a:fillRect/>
          </a:stretch>
        </p:blipFill>
        <p:spPr>
          <a:xfrm>
            <a:off x="6762751" y="2562225"/>
            <a:ext cx="150019" cy="171451"/>
          </a:xfrm>
          <a:prstGeom prst="rect">
            <a:avLst/>
          </a:prstGeom>
        </p:spPr>
      </p:pic>
      <p:sp>
        <p:nvSpPr>
          <p:cNvPr id="25" name="Text 19"/>
          <p:cNvSpPr/>
          <p:nvPr/>
        </p:nvSpPr>
        <p:spPr>
          <a:xfrm>
            <a:off x="7008019" y="2519363"/>
            <a:ext cx="908050" cy="194310"/>
          </a:xfrm>
          <a:prstGeom prst="rect">
            <a:avLst/>
          </a:prstGeom>
          <a:noFill/>
        </p:spPr>
        <p:txBody>
          <a:bodyPr wrap="none" lIns="0" tIns="0" rIns="0" bIns="0" rtlCol="0" anchor="t">
            <a:spAutoFit/>
          </a:bodyPr>
          <a:lstStyle/>
          <a:p>
            <a:pPr marL="0" indent="0" algn="l">
              <a:buNone/>
            </a:pPr>
            <a:r>
              <a:rPr lang="en-US" sz="1265" dirty="0">
                <a:solidFill>
                  <a:srgbClr val="E3B341"/>
                </a:solidFill>
                <a:latin typeface="Poppins SemiBold" pitchFamily="34" charset="0"/>
                <a:ea typeface="Poppins SemiBold" pitchFamily="34" charset="-122"/>
                <a:cs typeface="Poppins SemiBold" pitchFamily="34" charset="-120"/>
              </a:rPr>
              <a:t>LAYER 2: Hex</a:t>
            </a:r>
            <a:endParaRPr lang="en-US" sz="1265" dirty="0"/>
          </a:p>
        </p:txBody>
      </p:sp>
      <p:sp>
        <p:nvSpPr>
          <p:cNvPr id="26" name="Text 20"/>
          <p:cNvSpPr/>
          <p:nvPr/>
        </p:nvSpPr>
        <p:spPr>
          <a:xfrm>
            <a:off x="6762751" y="2871788"/>
            <a:ext cx="4857751" cy="389255"/>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Input:</a:t>
            </a:r>
            <a:r>
              <a:rPr lang="en-US" sz="1265" dirty="0">
                <a:solidFill>
                  <a:srgbClr val="E6EDF3"/>
                </a:solidFill>
                <a:latin typeface="JetBrains Mono Medium" pitchFamily="34" charset="0"/>
                <a:ea typeface="JetBrains Mono Medium" pitchFamily="34" charset="-122"/>
                <a:cs typeface="JetBrains Mono Medium" pitchFamily="34" charset="-120"/>
              </a:rPr>
              <a:t> 54686520666c6167
</a:t>
            </a:r>
            <a:r>
              <a:rPr lang="en-US" sz="1265" dirty="0">
                <a:solidFill>
                  <a:srgbClr val="00FF9C"/>
                </a:solidFill>
                <a:latin typeface="JetBrains Mono Medium" pitchFamily="34" charset="0"/>
                <a:ea typeface="JetBrains Mono Medium" pitchFamily="34" charset="-122"/>
                <a:cs typeface="JetBrains Mono Medium" pitchFamily="34" charset="-120"/>
              </a:rPr>
              <a:t>Output:</a:t>
            </a:r>
            <a:r>
              <a:rPr lang="en-US" sz="1265" dirty="0">
                <a:solidFill>
                  <a:srgbClr val="E6EDF3"/>
                </a:solidFill>
                <a:latin typeface="JetBrains Mono Medium" pitchFamily="34" charset="0"/>
                <a:ea typeface="JetBrains Mono Medium" pitchFamily="34" charset="-122"/>
                <a:cs typeface="JetBrains Mono Medium" pitchFamily="34" charset="-120"/>
              </a:rPr>
              <a:t> CTF{layered_encoding}</a:t>
            </a:r>
            <a:endParaRPr lang="en-US" sz="1265" dirty="0"/>
          </a:p>
        </p:txBody>
      </p:sp>
      <p:sp>
        <p:nvSpPr>
          <p:cNvPr id="27" name="Shape 21"/>
          <p:cNvSpPr/>
          <p:nvPr/>
        </p:nvSpPr>
        <p:spPr>
          <a:xfrm>
            <a:off x="6572251" y="3705225"/>
            <a:ext cx="5238751" cy="959644"/>
          </a:xfrm>
          <a:prstGeom prst="rect">
            <a:avLst/>
          </a:prstGeom>
          <a:solidFill>
            <a:srgbClr val="FF6B6B">
              <a:alpha val="5000"/>
            </a:srgbClr>
          </a:solidFill>
        </p:spPr>
      </p:sp>
      <p:sp>
        <p:nvSpPr>
          <p:cNvPr id="28" name="Shape 22"/>
          <p:cNvSpPr/>
          <p:nvPr/>
        </p:nvSpPr>
        <p:spPr>
          <a:xfrm>
            <a:off x="6572251" y="3705225"/>
            <a:ext cx="38100" cy="959644"/>
          </a:xfrm>
          <a:prstGeom prst="rect">
            <a:avLst/>
          </a:prstGeom>
          <a:solidFill>
            <a:srgbClr val="FF6B6B"/>
          </a:solidFill>
        </p:spPr>
      </p:sp>
      <p:pic>
        <p:nvPicPr>
          <p:cNvPr id="29" name="Image 4" descr="preencoded.png"/>
          <p:cNvPicPr>
            <a:picLocks noChangeAspect="1"/>
          </p:cNvPicPr>
          <p:nvPr/>
        </p:nvPicPr>
        <p:blipFill>
          <a:blip r:embed="rId5"/>
          <a:stretch>
            <a:fillRect/>
          </a:stretch>
        </p:blipFill>
        <p:spPr>
          <a:xfrm>
            <a:off x="6762751" y="3938588"/>
            <a:ext cx="171451" cy="171451"/>
          </a:xfrm>
          <a:prstGeom prst="rect">
            <a:avLst/>
          </a:prstGeom>
        </p:spPr>
      </p:pic>
      <p:sp>
        <p:nvSpPr>
          <p:cNvPr id="30" name="Text 23"/>
          <p:cNvSpPr/>
          <p:nvPr/>
        </p:nvSpPr>
        <p:spPr>
          <a:xfrm>
            <a:off x="7029451" y="3895725"/>
            <a:ext cx="821690" cy="194310"/>
          </a:xfrm>
          <a:prstGeom prst="rect">
            <a:avLst/>
          </a:prstGeom>
          <a:noFill/>
        </p:spPr>
        <p:txBody>
          <a:bodyPr wrap="none" lIns="0" tIns="0" rIns="0" bIns="0" rtlCol="0" anchor="t">
            <a:spAutoFit/>
          </a:bodyPr>
          <a:lstStyle/>
          <a:p>
            <a:pPr marL="0" indent="0" algn="l">
              <a:buNone/>
            </a:pPr>
            <a:r>
              <a:rPr lang="en-US" sz="1265" dirty="0">
                <a:solidFill>
                  <a:srgbClr val="FF6B6B"/>
                </a:solidFill>
                <a:latin typeface="Poppins SemiBold" pitchFamily="34" charset="0"/>
                <a:ea typeface="Poppins SemiBold" pitchFamily="34" charset="-122"/>
                <a:cs typeface="Poppins SemiBold" pitchFamily="34" charset="-120"/>
              </a:rPr>
              <a:t>FINAL FLAG</a:t>
            </a:r>
            <a:endParaRPr lang="en-US" sz="1265" dirty="0"/>
          </a:p>
        </p:txBody>
      </p:sp>
      <p:sp>
        <p:nvSpPr>
          <p:cNvPr id="31" name="Text 24"/>
          <p:cNvSpPr/>
          <p:nvPr/>
        </p:nvSpPr>
        <p:spPr>
          <a:xfrm>
            <a:off x="6762751" y="4248151"/>
            <a:ext cx="4857751" cy="184150"/>
          </a:xfrm>
          <a:prstGeom prst="rect">
            <a:avLst/>
          </a:prstGeom>
          <a:noFill/>
        </p:spPr>
        <p:txBody>
          <a:bodyPr wrap="square" lIns="0" tIns="0" rIns="0" bIns="0" rtlCol="0" anchor="t">
            <a:spAutoFit/>
          </a:bodyPr>
          <a:lstStyle/>
          <a:p>
            <a:pPr marL="0" indent="0" algn="l">
              <a:buNone/>
            </a:pPr>
            <a:r>
              <a:rPr lang="en-US" sz="1200" b="1" dirty="0">
                <a:solidFill>
                  <a:srgbClr val="FF6B6B"/>
                </a:solidFill>
                <a:latin typeface="JetBrains Mono Medium" pitchFamily="34" charset="0"/>
                <a:ea typeface="JetBrains Mono Medium" pitchFamily="34" charset="-122"/>
                <a:cs typeface="JetBrains Mono Medium" pitchFamily="34" charset="-120"/>
              </a:rPr>
              <a:t>flag{layered_encoding}</a:t>
            </a:r>
            <a:endParaRPr lang="en-US" sz="126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53034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7319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0" y="0"/>
            <a:ext cx="12192000" cy="737235"/>
          </a:xfrm>
          <a:prstGeom prst="rect">
            <a:avLst/>
          </a:prstGeom>
          <a:noFill/>
        </p:spPr>
        <p:txBody>
          <a:bodyPr wrap="square" lIns="0" tIns="0" rIns="0" bIns="0" rtlCol="0" anchor="t">
            <a:spAutoFit/>
          </a:bodyPr>
          <a:lstStyle/>
          <a:p>
            <a:pPr marL="0" indent="0" algn="ctr">
              <a:lnSpc>
                <a:spcPct val="96000"/>
              </a:lnSpc>
              <a:buNone/>
            </a:pPr>
            <a:r>
              <a:rPr lang="en-US" sz="1000" dirty="0">
                <a:solidFill>
                  <a:srgbClr val="00FF9C">
                    <a:alpha val="3000"/>
                  </a:srgbClr>
                </a:solidFill>
                <a:latin typeface="JetBrains Mono Medium" pitchFamily="34" charset="0"/>
                <a:ea typeface="JetBrains Mono Medium" pitchFamily="34" charset="-122"/>
                <a:cs typeface="JetBrains Mono Medium" pitchFamily="34" charset="-120"/>
              </a:rPr>
              <a:t>01001000 01100101 01101100 01101100 01101111 00100000 01010111 01101111 01110010 01101100 01100100 01001000 01100101 01101100 01101100 01101111 00100000 01010111 01101111 01110010 01101100 01100100 01001000 01100101 01101100 01101100 01101111 00100000 01010111 01101111 01110010 01101100 01100100 01001000 01100101 01101100 01101100 01101111 00100000 01010111 01101111 01110010 01101100 01100100 01001000 01100101 01101100 01101100 01101111 00100000 01010111 01101111 01110010 01101100 01100100 01001000 01100101 01101100 01101100 01101111 00100000 01010111 01101111 01110010 01101100 01100100 01001000 01100101 01101100 01101100 01101111 00100000 01010111 01101111 01110010 01101100 01100100 01001000 01100101 01101100 01101100 01101111 00100000 01010111 01101111 01110010 01101100 01100100</a:t>
            </a:r>
            <a:endParaRPr lang="en-US" sz="1000" dirty="0"/>
          </a:p>
        </p:txBody>
      </p:sp>
      <p:pic>
        <p:nvPicPr>
          <p:cNvPr id="4" name="Image 1" descr="preencoded.png"/>
          <p:cNvPicPr>
            <a:picLocks noChangeAspect="1"/>
          </p:cNvPicPr>
          <p:nvPr/>
        </p:nvPicPr>
        <p:blipFill>
          <a:blip r:embed="rId2"/>
          <a:stretch>
            <a:fillRect/>
          </a:stretch>
        </p:blipFill>
        <p:spPr>
          <a:xfrm>
            <a:off x="-476249" y="1481137"/>
            <a:ext cx="3810000" cy="3810000"/>
          </a:xfrm>
          <a:prstGeom prst="rect">
            <a:avLst/>
          </a:prstGeom>
        </p:spPr>
      </p:pic>
      <p:pic>
        <p:nvPicPr>
          <p:cNvPr id="5" name="Image 2" descr="preencoded.png"/>
          <p:cNvPicPr>
            <a:picLocks noChangeAspect="1"/>
          </p:cNvPicPr>
          <p:nvPr/>
        </p:nvPicPr>
        <p:blipFill>
          <a:blip r:embed="rId3"/>
          <a:stretch>
            <a:fillRect/>
          </a:stretch>
        </p:blipFill>
        <p:spPr>
          <a:xfrm>
            <a:off x="8382000" y="1481137"/>
            <a:ext cx="4286251" cy="3810000"/>
          </a:xfrm>
          <a:prstGeom prst="rect">
            <a:avLst/>
          </a:prstGeom>
        </p:spPr>
      </p:pic>
      <p:sp>
        <p:nvSpPr>
          <p:cNvPr id="6" name="Text 1"/>
          <p:cNvSpPr/>
          <p:nvPr/>
        </p:nvSpPr>
        <p:spPr>
          <a:xfrm>
            <a:off x="4402773" y="1638300"/>
            <a:ext cx="3386455" cy="1082675"/>
          </a:xfrm>
          <a:prstGeom prst="rect">
            <a:avLst/>
          </a:prstGeom>
          <a:noFill/>
        </p:spPr>
        <p:txBody>
          <a:bodyPr wrap="none" lIns="0" tIns="0" rIns="0" bIns="0" rtlCol="0" anchor="t">
            <a:spAutoFit/>
          </a:bodyPr>
          <a:lstStyle/>
          <a:p>
            <a:pPr marL="0" indent="0" algn="ctr">
              <a:lnSpc>
                <a:spcPct val="80000"/>
              </a:lnSpc>
              <a:buNone/>
            </a:pPr>
            <a:r>
              <a:rPr lang="en-US" sz="8800" kern="0" spc="8" dirty="0">
                <a:solidFill>
                  <a:srgbClr val="00FF9C"/>
                </a:solidFill>
                <a:latin typeface="Poppins ExtraBold" pitchFamily="34" charset="0"/>
                <a:ea typeface="Poppins ExtraBold" pitchFamily="34" charset="-122"/>
                <a:cs typeface="Poppins ExtraBold" pitchFamily="34" charset="-120"/>
              </a:rPr>
              <a:t>PART 3</a:t>
            </a:r>
            <a:endParaRPr lang="en-US" sz="8800" dirty="0"/>
          </a:p>
        </p:txBody>
      </p:sp>
      <p:sp>
        <p:nvSpPr>
          <p:cNvPr id="7" name="Text 2"/>
          <p:cNvSpPr/>
          <p:nvPr/>
        </p:nvSpPr>
        <p:spPr>
          <a:xfrm>
            <a:off x="0" y="2971800"/>
            <a:ext cx="12192000" cy="717550"/>
          </a:xfrm>
          <a:prstGeom prst="rect">
            <a:avLst/>
          </a:prstGeom>
          <a:noFill/>
        </p:spPr>
        <p:txBody>
          <a:bodyPr wrap="square" lIns="0" tIns="0" rIns="0" bIns="0" rtlCol="0" anchor="t">
            <a:spAutoFit/>
          </a:bodyPr>
          <a:lstStyle/>
          <a:p>
            <a:pPr marL="0" indent="0" algn="ctr">
              <a:buNone/>
            </a:pPr>
            <a:r>
              <a:rPr lang="en-US" sz="4665" dirty="0">
                <a:solidFill>
                  <a:srgbClr val="E6EDF3"/>
                </a:solidFill>
                <a:latin typeface="Poppins ExtraBold" pitchFamily="34" charset="0"/>
                <a:ea typeface="Poppins ExtraBold" pitchFamily="34" charset="-122"/>
                <a:cs typeface="Poppins ExtraBold" pitchFamily="34" charset="-120"/>
              </a:rPr>
              <a:t>Classical Ciphers + XOR</a:t>
            </a:r>
            <a:endParaRPr lang="en-US" sz="4665" dirty="0"/>
          </a:p>
        </p:txBody>
      </p:sp>
      <p:sp>
        <p:nvSpPr>
          <p:cNvPr id="8" name="Shape 3"/>
          <p:cNvSpPr/>
          <p:nvPr/>
        </p:nvSpPr>
        <p:spPr>
          <a:xfrm>
            <a:off x="4843463" y="4726781"/>
            <a:ext cx="2505075" cy="492919"/>
          </a:xfrm>
          <a:prstGeom prst="roundRect">
            <a:avLst/>
          </a:prstGeom>
          <a:solidFill>
            <a:srgbClr val="161B22"/>
          </a:solidFill>
        </p:spPr>
      </p:sp>
      <p:sp>
        <p:nvSpPr>
          <p:cNvPr id="9" name="Text 4"/>
          <p:cNvSpPr/>
          <p:nvPr/>
        </p:nvSpPr>
        <p:spPr>
          <a:xfrm>
            <a:off x="4843463" y="4726781"/>
            <a:ext cx="2505075" cy="481965"/>
          </a:xfrm>
          <a:prstGeom prst="rect">
            <a:avLst/>
          </a:prstGeom>
          <a:noFill/>
        </p:spPr>
        <p:txBody>
          <a:bodyPr wrap="square" lIns="340190" tIns="113453" rIns="340190" bIns="113453" rtlCol="0" anchor="t">
            <a:spAutoFit/>
          </a:bodyPr>
          <a:lstStyle/>
          <a:p>
            <a:pPr marL="0" indent="0" algn="ctr">
              <a:buNone/>
            </a:pPr>
            <a:r>
              <a:rPr lang="en-US" sz="1665" dirty="0">
                <a:solidFill>
                  <a:srgbClr val="8B949E"/>
                </a:solidFill>
                <a:latin typeface="JetBrains Mono Medium" pitchFamily="34" charset="0"/>
                <a:ea typeface="JetBrains Mono Medium" pitchFamily="34" charset="-122"/>
                <a:cs typeface="JetBrains Mono Medium" pitchFamily="34" charset="-120"/>
              </a:rPr>
              <a:t>Slides 38 – 50</a:t>
            </a:r>
            <a:endParaRPr lang="en-US" sz="166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39 | EWUCSC</a:t>
            </a:r>
            <a:endParaRPr lang="en-US" sz="1265" dirty="0"/>
          </a:p>
        </p:txBody>
      </p:sp>
      <p:sp>
        <p:nvSpPr>
          <p:cNvPr id="7" name="Text 4"/>
          <p:cNvSpPr/>
          <p:nvPr/>
        </p:nvSpPr>
        <p:spPr>
          <a:xfrm>
            <a:off x="381000" y="952500"/>
            <a:ext cx="5808501" cy="861695"/>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2000 Years Ago: The First CTF Challenge</a:t>
            </a:r>
            <a:endParaRPr lang="en-US" sz="2800" dirty="0"/>
          </a:p>
        </p:txBody>
      </p:sp>
      <p:sp>
        <p:nvSpPr>
          <p:cNvPr id="8" name="Shape 5"/>
          <p:cNvSpPr/>
          <p:nvPr/>
        </p:nvSpPr>
        <p:spPr>
          <a:xfrm>
            <a:off x="381000" y="2438400"/>
            <a:ext cx="5808501" cy="2784872"/>
          </a:xfrm>
          <a:prstGeom prst="rect">
            <a:avLst/>
          </a:prstGeom>
          <a:solidFill>
            <a:srgbClr val="161B22"/>
          </a:solidFill>
          <a:ln w="9144">
            <a:solidFill>
              <a:srgbClr val="30363D"/>
            </a:solidFill>
            <a:prstDash val="solid"/>
          </a:ln>
        </p:spPr>
      </p:sp>
      <p:pic>
        <p:nvPicPr>
          <p:cNvPr id="9" name="Image 1" descr="preencoded.png"/>
          <p:cNvPicPr>
            <a:picLocks noChangeAspect="1"/>
          </p:cNvPicPr>
          <p:nvPr/>
        </p:nvPicPr>
        <p:blipFill>
          <a:blip r:embed="rId2"/>
          <a:stretch>
            <a:fillRect/>
          </a:stretch>
        </p:blipFill>
        <p:spPr>
          <a:xfrm>
            <a:off x="5551289" y="2628900"/>
            <a:ext cx="428625" cy="609600"/>
          </a:xfrm>
          <a:prstGeom prst="rect">
            <a:avLst/>
          </a:prstGeom>
        </p:spPr>
      </p:pic>
      <p:sp>
        <p:nvSpPr>
          <p:cNvPr id="10" name="Text 6"/>
          <p:cNvSpPr/>
          <p:nvPr/>
        </p:nvSpPr>
        <p:spPr>
          <a:xfrm>
            <a:off x="666751" y="2724151"/>
            <a:ext cx="5237001" cy="74993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E6EDF3"/>
                </a:solidFill>
                <a:latin typeface="Inter" pitchFamily="34" charset="0"/>
                <a:ea typeface="Inter" pitchFamily="34" charset="-122"/>
                <a:cs typeface="Inter" pitchFamily="34" charset="-120"/>
              </a:rPr>
              <a:t>Julius Caesar needed to send military orders across the Roman Empire. Messengers could be captured. Enemies could read Latin. So Caesar invented a simple trick: </a:t>
            </a:r>
            <a:r>
              <a:rPr lang="en-US" sz="1200" b="1" dirty="0">
                <a:solidFill>
                  <a:srgbClr val="E6EDF3"/>
                </a:solidFill>
                <a:latin typeface="Inter" pitchFamily="34" charset="0"/>
                <a:ea typeface="Inter" pitchFamily="34" charset="-122"/>
                <a:cs typeface="Inter" pitchFamily="34" charset="-120"/>
              </a:rPr>
              <a:t>shift every letter forward by 3 positions</a:t>
            </a:r>
            <a:r>
              <a:rPr lang="en-US" sz="1265" dirty="0">
                <a:solidFill>
                  <a:srgbClr val="E6EDF3"/>
                </a:solidFill>
                <a:latin typeface="Inter" pitchFamily="34" charset="0"/>
                <a:ea typeface="Inter" pitchFamily="34" charset="-122"/>
                <a:cs typeface="Inter" pitchFamily="34" charset="-120"/>
              </a:rPr>
              <a:t>.</a:t>
            </a:r>
            <a:endParaRPr lang="en-US" sz="1265" dirty="0"/>
          </a:p>
        </p:txBody>
      </p:sp>
      <p:sp>
        <p:nvSpPr>
          <p:cNvPr id="11" name="Text 7"/>
          <p:cNvSpPr/>
          <p:nvPr/>
        </p:nvSpPr>
        <p:spPr>
          <a:xfrm>
            <a:off x="666751" y="4095601"/>
            <a:ext cx="5237001" cy="74993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E6EDF3"/>
                </a:solidFill>
                <a:latin typeface="Inter" pitchFamily="34" charset="0"/>
                <a:ea typeface="Inter" pitchFamily="34" charset="-122"/>
                <a:cs typeface="Inter" pitchFamily="34" charset="-120"/>
              </a:rPr>
              <a:t>A becomes D, B becomes E, C becomes F. His generals knew the shift number. Enemies just saw nonsense. This simple substitution was the birth of modern encryption.</a:t>
            </a:r>
            <a:endParaRPr lang="en-US" sz="1265" dirty="0"/>
          </a:p>
        </p:txBody>
      </p:sp>
      <p:sp>
        <p:nvSpPr>
          <p:cNvPr id="12" name="Shape 8"/>
          <p:cNvSpPr/>
          <p:nvPr/>
        </p:nvSpPr>
        <p:spPr>
          <a:xfrm>
            <a:off x="381000" y="5394721"/>
            <a:ext cx="5808501" cy="747712"/>
          </a:xfrm>
          <a:prstGeom prst="rect">
            <a:avLst/>
          </a:prstGeom>
          <a:solidFill>
            <a:srgbClr val="58A6FF">
              <a:alpha val="10000"/>
            </a:srgbClr>
          </a:solidFill>
        </p:spPr>
      </p:sp>
      <p:sp>
        <p:nvSpPr>
          <p:cNvPr id="13" name="Shape 9"/>
          <p:cNvSpPr/>
          <p:nvPr/>
        </p:nvSpPr>
        <p:spPr>
          <a:xfrm>
            <a:off x="381000" y="5394721"/>
            <a:ext cx="38100" cy="747712"/>
          </a:xfrm>
          <a:prstGeom prst="rect">
            <a:avLst/>
          </a:prstGeom>
          <a:solidFill>
            <a:srgbClr val="58A6FF"/>
          </a:solidFill>
        </p:spPr>
      </p:sp>
      <p:pic>
        <p:nvPicPr>
          <p:cNvPr id="14" name="Image 2" descr="preencoded.png"/>
          <p:cNvPicPr>
            <a:picLocks noChangeAspect="1"/>
          </p:cNvPicPr>
          <p:nvPr/>
        </p:nvPicPr>
        <p:blipFill>
          <a:blip r:embed="rId3"/>
          <a:stretch>
            <a:fillRect/>
          </a:stretch>
        </p:blipFill>
        <p:spPr>
          <a:xfrm>
            <a:off x="571500" y="5599509"/>
            <a:ext cx="152400" cy="152400"/>
          </a:xfrm>
          <a:prstGeom prst="rect">
            <a:avLst/>
          </a:prstGeom>
        </p:spPr>
      </p:pic>
      <p:sp>
        <p:nvSpPr>
          <p:cNvPr id="15" name="Text 10"/>
          <p:cNvSpPr/>
          <p:nvPr/>
        </p:nvSpPr>
        <p:spPr>
          <a:xfrm>
            <a:off x="723900" y="5585221"/>
            <a:ext cx="5055393" cy="174625"/>
          </a:xfrm>
          <a:prstGeom prst="rect">
            <a:avLst/>
          </a:prstGeom>
          <a:noFill/>
        </p:spPr>
        <p:txBody>
          <a:bodyPr wrap="square" lIns="0" tIns="0" rIns="0" bIns="0" rtlCol="0" anchor="t">
            <a:spAutoFit/>
          </a:bodyPr>
          <a:lstStyle/>
          <a:p>
            <a:pPr marL="0" indent="0" algn="l">
              <a:buNone/>
            </a:pPr>
            <a:r>
              <a:rPr lang="en-US" sz="1135" i="1" dirty="0">
                <a:solidFill>
                  <a:srgbClr val="8B949E"/>
                </a:solidFill>
                <a:latin typeface="Inter" pitchFamily="34" charset="0"/>
                <a:ea typeface="Inter" pitchFamily="34" charset="-122"/>
                <a:cs typeface="Inter" pitchFamily="34" charset="-120"/>
              </a:rPr>
              <a:t>Used from ~60 BC. Broken by Arab mathematician Al-Kindi in 800 AD</a:t>
            </a:r>
            <a:endParaRPr lang="en-US" sz="1135" dirty="0"/>
          </a:p>
        </p:txBody>
      </p:sp>
      <p:sp>
        <p:nvSpPr>
          <p:cNvPr id="16" name="Text 11"/>
          <p:cNvSpPr/>
          <p:nvPr/>
        </p:nvSpPr>
        <p:spPr>
          <a:xfrm>
            <a:off x="571500" y="5768579"/>
            <a:ext cx="4779169" cy="174625"/>
          </a:xfrm>
          <a:prstGeom prst="rect">
            <a:avLst/>
          </a:prstGeom>
          <a:noFill/>
        </p:spPr>
        <p:txBody>
          <a:bodyPr wrap="square" lIns="0" tIns="0" rIns="0" bIns="0" rtlCol="0" anchor="t">
            <a:spAutoFit/>
          </a:bodyPr>
          <a:lstStyle/>
          <a:p>
            <a:pPr marL="0" indent="0" algn="l">
              <a:buNone/>
            </a:pPr>
            <a:r>
              <a:rPr lang="en-US" sz="1135" i="1" dirty="0">
                <a:solidFill>
                  <a:srgbClr val="8B949E"/>
                </a:solidFill>
                <a:latin typeface="Inter" pitchFamily="34" charset="0"/>
                <a:ea typeface="Inter" pitchFamily="34" charset="-122"/>
                <a:cs typeface="Inter" pitchFamily="34" charset="-120"/>
              </a:rPr>
              <a:t>using frequency analysis — the world's first cryptographic exploit.</a:t>
            </a:r>
            <a:endParaRPr lang="en-US" sz="1135" dirty="0"/>
          </a:p>
        </p:txBody>
      </p:sp>
      <p:sp>
        <p:nvSpPr>
          <p:cNvPr id="17" name="Shape 12"/>
          <p:cNvSpPr/>
          <p:nvPr/>
        </p:nvSpPr>
        <p:spPr>
          <a:xfrm>
            <a:off x="6570501" y="952500"/>
            <a:ext cx="5240499" cy="5524500"/>
          </a:xfrm>
          <a:prstGeom prst="rect">
            <a:avLst/>
          </a:prstGeom>
          <a:solidFill>
            <a:srgbClr val="161B22"/>
          </a:solidFill>
          <a:ln w="9144">
            <a:solidFill>
              <a:srgbClr val="30363D"/>
            </a:solidFill>
            <a:prstDash val="solid"/>
          </a:ln>
        </p:spPr>
      </p:sp>
      <p:sp>
        <p:nvSpPr>
          <p:cNvPr id="18" name="Text 13"/>
          <p:cNvSpPr/>
          <p:nvPr/>
        </p:nvSpPr>
        <p:spPr>
          <a:xfrm>
            <a:off x="8539907" y="-285749"/>
            <a:ext cx="1096010" cy="163830"/>
          </a:xfrm>
          <a:prstGeom prst="rect">
            <a:avLst/>
          </a:prstGeom>
          <a:noFill/>
        </p:spPr>
        <p:txBody>
          <a:bodyPr wrap="none" lIns="0" tIns="0" rIns="0" bIns="0" rtlCol="0" anchor="t">
            <a:spAutoFit/>
          </a:bodyPr>
          <a:lstStyle/>
          <a:p>
            <a:pPr marL="0" indent="0" algn="l">
              <a:buNone/>
            </a:pPr>
            <a:r>
              <a:rPr lang="en-US" sz="1065" b="1" dirty="0">
                <a:solidFill>
                  <a:srgbClr val="E3B341"/>
                </a:solidFill>
                <a:latin typeface="Poppins SemiBold" pitchFamily="34" charset="0"/>
                <a:ea typeface="Poppins SemiBold" pitchFamily="34" charset="-122"/>
                <a:cs typeface="Poppins SemiBold" pitchFamily="34" charset="-120"/>
              </a:rPr>
              <a:t>SHIFT = 3 (A → D)</a:t>
            </a:r>
            <a:endParaRPr lang="en-US" sz="1065" dirty="0"/>
          </a:p>
        </p:txBody>
      </p:sp>
      <p:sp>
        <p:nvSpPr>
          <p:cNvPr id="19" name="Text 14"/>
          <p:cNvSpPr/>
          <p:nvPr/>
        </p:nvSpPr>
        <p:spPr>
          <a:xfrm>
            <a:off x="8319641" y="3381375"/>
            <a:ext cx="1752600" cy="255905"/>
          </a:xfrm>
          <a:prstGeom prst="rect">
            <a:avLst/>
          </a:prstGeom>
          <a:noFill/>
        </p:spPr>
        <p:txBody>
          <a:bodyPr wrap="square" lIns="0" tIns="0" rIns="0" bIns="0" rtlCol="0" anchor="t">
            <a:spAutoFit/>
          </a:bodyPr>
          <a:lstStyle/>
          <a:p>
            <a:pPr marL="0" indent="0" algn="l">
              <a:buNone/>
            </a:pPr>
            <a:r>
              <a:rPr lang="en-US" sz="1665" dirty="0">
                <a:solidFill>
                  <a:srgbClr val="58A6FF"/>
                </a:solidFill>
                <a:latin typeface="Inter" pitchFamily="34" charset="0"/>
                <a:ea typeface="Inter" pitchFamily="34" charset="-122"/>
                <a:cs typeface="Inter" pitchFamily="34" charset="-120"/>
              </a:rPr>
              <a:t>Outer: A B C D...</a:t>
            </a:r>
            <a:endParaRPr lang="en-US" sz="1665" dirty="0"/>
          </a:p>
        </p:txBody>
      </p:sp>
      <p:sp>
        <p:nvSpPr>
          <p:cNvPr id="20" name="Text 15"/>
          <p:cNvSpPr/>
          <p:nvPr/>
        </p:nvSpPr>
        <p:spPr>
          <a:xfrm>
            <a:off x="8352979" y="3667125"/>
            <a:ext cx="1368425" cy="255905"/>
          </a:xfrm>
          <a:prstGeom prst="rect">
            <a:avLst/>
          </a:prstGeom>
          <a:noFill/>
        </p:spPr>
        <p:txBody>
          <a:bodyPr wrap="none" lIns="0" tIns="0" rIns="0" bIns="0" rtlCol="0" anchor="t">
            <a:spAutoFit/>
          </a:bodyPr>
          <a:lstStyle/>
          <a:p>
            <a:pPr marL="0" indent="0" algn="l">
              <a:buNone/>
            </a:pPr>
            <a:r>
              <a:rPr lang="en-US" sz="1665" dirty="0">
                <a:solidFill>
                  <a:srgbClr val="00FF9C"/>
                </a:solidFill>
                <a:latin typeface="Inter" pitchFamily="34" charset="0"/>
                <a:ea typeface="Inter" pitchFamily="34" charset="-122"/>
                <a:cs typeface="Inter" pitchFamily="34" charset="-120"/>
              </a:rPr>
              <a:t>Inner: D E F G...</a:t>
            </a:r>
            <a:endParaRPr lang="en-US" sz="1665" dirty="0"/>
          </a:p>
        </p:txBody>
      </p:sp>
      <p:sp>
        <p:nvSpPr>
          <p:cNvPr id="21" name="Text 16"/>
          <p:cNvSpPr/>
          <p:nvPr/>
        </p:nvSpPr>
        <p:spPr>
          <a:xfrm>
            <a:off x="8993981" y="1728788"/>
            <a:ext cx="336550" cy="144145"/>
          </a:xfrm>
          <a:prstGeom prst="rect">
            <a:avLst/>
          </a:prstGeom>
          <a:noFill/>
        </p:spPr>
        <p:txBody>
          <a:bodyPr wrap="none" lIns="0" tIns="0" rIns="0" bIns="0" rtlCol="0" anchor="t">
            <a:spAutoFit/>
          </a:bodyPr>
          <a:lstStyle/>
          <a:p>
            <a:pPr marL="0" indent="0" algn="l">
              <a:buNone/>
            </a:pPr>
            <a:r>
              <a:rPr lang="en-US" sz="935" b="1" dirty="0">
                <a:solidFill>
                  <a:srgbClr val="E6EDF3"/>
                </a:solidFill>
                <a:latin typeface="JetBrains Mono Medium" pitchFamily="34" charset="0"/>
                <a:ea typeface="JetBrains Mono Medium" pitchFamily="34" charset="-122"/>
                <a:cs typeface="JetBrains Mono Medium" pitchFamily="34" charset="-120"/>
              </a:rPr>
              <a:t>A → D</a:t>
            </a:r>
            <a:endParaRPr lang="en-US" sz="935" dirty="0"/>
          </a:p>
        </p:txBody>
      </p:sp>
      <p:sp>
        <p:nvSpPr>
          <p:cNvPr id="22" name="Text 17"/>
          <p:cNvSpPr/>
          <p:nvPr/>
        </p:nvSpPr>
        <p:spPr>
          <a:xfrm>
            <a:off x="10582759" y="3429000"/>
            <a:ext cx="297180" cy="144145"/>
          </a:xfrm>
          <a:prstGeom prst="rect">
            <a:avLst/>
          </a:prstGeom>
          <a:noFill/>
        </p:spPr>
        <p:txBody>
          <a:bodyPr wrap="none" lIns="0" tIns="0" rIns="0" bIns="0" rtlCol="0" anchor="t">
            <a:spAutoFit/>
          </a:bodyPr>
          <a:lstStyle/>
          <a:p>
            <a:pPr marL="0" indent="0" algn="l">
              <a:buNone/>
            </a:pPr>
            <a:r>
              <a:rPr lang="en-US" sz="935" b="1" dirty="0">
                <a:solidFill>
                  <a:srgbClr val="E6EDF3"/>
                </a:solidFill>
                <a:latin typeface="JetBrains Mono Medium" pitchFamily="34" charset="0"/>
                <a:ea typeface="JetBrains Mono Medium" pitchFamily="34" charset="-122"/>
                <a:cs typeface="JetBrains Mono Medium" pitchFamily="34" charset="-120"/>
              </a:rPr>
              <a:t>G → J</a:t>
            </a:r>
            <a:endParaRPr lang="en-US" sz="935" dirty="0"/>
          </a:p>
        </p:txBody>
      </p:sp>
      <p:sp>
        <p:nvSpPr>
          <p:cNvPr id="23" name="Text 18"/>
          <p:cNvSpPr/>
          <p:nvPr/>
        </p:nvSpPr>
        <p:spPr>
          <a:xfrm>
            <a:off x="8993981" y="5129212"/>
            <a:ext cx="353060" cy="144145"/>
          </a:xfrm>
          <a:prstGeom prst="rect">
            <a:avLst/>
          </a:prstGeom>
          <a:noFill/>
        </p:spPr>
        <p:txBody>
          <a:bodyPr wrap="none" lIns="0" tIns="0" rIns="0" bIns="0" rtlCol="0" anchor="t">
            <a:spAutoFit/>
          </a:bodyPr>
          <a:lstStyle/>
          <a:p>
            <a:pPr marL="0" indent="0" algn="l">
              <a:buNone/>
            </a:pPr>
            <a:r>
              <a:rPr lang="en-US" sz="935" b="1" dirty="0">
                <a:solidFill>
                  <a:srgbClr val="E6EDF3"/>
                </a:solidFill>
                <a:latin typeface="JetBrains Mono Medium" pitchFamily="34" charset="0"/>
                <a:ea typeface="JetBrains Mono Medium" pitchFamily="34" charset="-122"/>
                <a:cs typeface="JetBrains Mono Medium" pitchFamily="34" charset="-120"/>
              </a:rPr>
              <a:t>M → P</a:t>
            </a:r>
            <a:endParaRPr lang="en-US" sz="935" dirty="0"/>
          </a:p>
        </p:txBody>
      </p:sp>
      <p:sp>
        <p:nvSpPr>
          <p:cNvPr id="24" name="Text 19"/>
          <p:cNvSpPr/>
          <p:nvPr/>
        </p:nvSpPr>
        <p:spPr>
          <a:xfrm>
            <a:off x="7405241" y="3429000"/>
            <a:ext cx="349885" cy="144145"/>
          </a:xfrm>
          <a:prstGeom prst="rect">
            <a:avLst/>
          </a:prstGeom>
          <a:noFill/>
        </p:spPr>
        <p:txBody>
          <a:bodyPr wrap="none" lIns="0" tIns="0" rIns="0" bIns="0" rtlCol="0" anchor="t">
            <a:spAutoFit/>
          </a:bodyPr>
          <a:lstStyle/>
          <a:p>
            <a:pPr marL="0" indent="0" algn="l">
              <a:buNone/>
            </a:pPr>
            <a:r>
              <a:rPr lang="en-US" sz="935" b="1" dirty="0">
                <a:solidFill>
                  <a:srgbClr val="E6EDF3"/>
                </a:solidFill>
                <a:latin typeface="JetBrains Mono Medium" pitchFamily="34" charset="0"/>
                <a:ea typeface="JetBrains Mono Medium" pitchFamily="34" charset="-122"/>
                <a:cs typeface="JetBrains Mono Medium" pitchFamily="34" charset="-120"/>
              </a:rPr>
              <a:t>T → W</a:t>
            </a:r>
            <a:endParaRPr lang="en-US" sz="935" dirty="0"/>
          </a:p>
        </p:txBody>
      </p:sp>
      <p:sp>
        <p:nvSpPr>
          <p:cNvPr id="25" name="Text 20"/>
          <p:cNvSpPr/>
          <p:nvPr/>
        </p:nvSpPr>
        <p:spPr>
          <a:xfrm>
            <a:off x="7612409" y="5614988"/>
            <a:ext cx="3167063" cy="174625"/>
          </a:xfrm>
          <a:prstGeom prst="rect">
            <a:avLst/>
          </a:prstGeom>
          <a:noFill/>
        </p:spPr>
        <p:txBody>
          <a:bodyPr wrap="square" lIns="0" tIns="0" rIns="0" bIns="0" rtlCol="0" anchor="t">
            <a:spAutoFit/>
          </a:bodyPr>
          <a:lstStyle/>
          <a:p>
            <a:pPr marL="0" indent="0" algn="l">
              <a:buNone/>
            </a:pPr>
            <a:r>
              <a:rPr lang="en-US" sz="1135" dirty="0">
                <a:solidFill>
                  <a:srgbClr val="8B949E"/>
                </a:solidFill>
                <a:latin typeface="JetBrains Mono Medium" pitchFamily="34" charset="0"/>
                <a:ea typeface="JetBrains Mono Medium" pitchFamily="34" charset="-122"/>
                <a:cs typeface="JetBrains Mono Medium" pitchFamily="34" charset="-120"/>
              </a:rPr>
              <a:t>The Caesar Wheel: Two-ring rotation</a:t>
            </a:r>
            <a:endParaRPr lang="en-US" sz="113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7160419"/>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40 | EWUCSC</a:t>
            </a:r>
            <a:endParaRPr lang="en-US" sz="1265" dirty="0"/>
          </a:p>
        </p:txBody>
      </p:sp>
      <p:sp>
        <p:nvSpPr>
          <p:cNvPr id="7" name="Text 4"/>
          <p:cNvSpPr/>
          <p:nvPr/>
        </p:nvSpPr>
        <p:spPr>
          <a:xfrm>
            <a:off x="381000" y="952500"/>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Caesar Cipher: The Math</a:t>
            </a:r>
            <a:endParaRPr lang="en-US" sz="2800" dirty="0"/>
          </a:p>
        </p:txBody>
      </p:sp>
      <p:sp>
        <p:nvSpPr>
          <p:cNvPr id="8" name="Shape 5"/>
          <p:cNvSpPr/>
          <p:nvPr/>
        </p:nvSpPr>
        <p:spPr>
          <a:xfrm>
            <a:off x="381000" y="1838325"/>
            <a:ext cx="11430000" cy="1443037"/>
          </a:xfrm>
          <a:prstGeom prst="rect">
            <a:avLst/>
          </a:prstGeom>
          <a:solidFill>
            <a:srgbClr val="161B22"/>
          </a:solidFill>
          <a:ln w="9144">
            <a:solidFill>
              <a:srgbClr val="30363D"/>
            </a:solidFill>
            <a:prstDash val="solid"/>
          </a:ln>
        </p:spPr>
      </p:sp>
      <p:sp>
        <p:nvSpPr>
          <p:cNvPr id="9" name="Shape 6"/>
          <p:cNvSpPr/>
          <p:nvPr/>
        </p:nvSpPr>
        <p:spPr>
          <a:xfrm>
            <a:off x="666751" y="2124075"/>
            <a:ext cx="4467225" cy="852488"/>
          </a:xfrm>
          <a:prstGeom prst="rect">
            <a:avLst/>
          </a:prstGeom>
          <a:solidFill>
            <a:srgbClr val="0D1117"/>
          </a:solidFill>
          <a:ln w="9144">
            <a:solidFill>
              <a:srgbClr val="58A6FF"/>
            </a:solidFill>
            <a:prstDash val="solid"/>
          </a:ln>
        </p:spPr>
      </p:sp>
      <p:sp>
        <p:nvSpPr>
          <p:cNvPr id="10" name="Text 7"/>
          <p:cNvSpPr/>
          <p:nvPr/>
        </p:nvSpPr>
        <p:spPr>
          <a:xfrm>
            <a:off x="666751" y="2124075"/>
            <a:ext cx="4467225" cy="843280"/>
          </a:xfrm>
          <a:prstGeom prst="rect">
            <a:avLst/>
          </a:prstGeom>
          <a:noFill/>
        </p:spPr>
        <p:txBody>
          <a:bodyPr wrap="square" lIns="453644" tIns="226737" rIns="453644" bIns="226737" rtlCol="0" anchor="t">
            <a:spAutoFit/>
          </a:bodyPr>
          <a:lstStyle/>
          <a:p>
            <a:pPr marL="0" indent="0" algn="l">
              <a:buNone/>
            </a:pPr>
            <a:r>
              <a:rPr lang="en-US" sz="2535" dirty="0">
                <a:solidFill>
                  <a:srgbClr val="58A6FF"/>
                </a:solidFill>
                <a:latin typeface="JetBrains Mono Medium" pitchFamily="34" charset="0"/>
                <a:ea typeface="JetBrains Mono Medium" pitchFamily="34" charset="-122"/>
                <a:cs typeface="JetBrains Mono Medium" pitchFamily="34" charset="-120"/>
              </a:rPr>
              <a:t>C = (P + K) mod 26</a:t>
            </a:r>
            <a:endParaRPr lang="en-US" sz="2535" dirty="0"/>
          </a:p>
        </p:txBody>
      </p:sp>
      <p:sp>
        <p:nvSpPr>
          <p:cNvPr id="11" name="Text 8"/>
          <p:cNvSpPr/>
          <p:nvPr/>
        </p:nvSpPr>
        <p:spPr>
          <a:xfrm>
            <a:off x="5495925" y="2129359"/>
            <a:ext cx="2809875" cy="249555"/>
          </a:xfrm>
          <a:prstGeom prst="rect">
            <a:avLst/>
          </a:prstGeom>
          <a:noFill/>
        </p:spPr>
        <p:txBody>
          <a:bodyPr wrap="none" lIns="0" tIns="0" rIns="0" bIns="0" rtlCol="0" anchor="t">
            <a:spAutoFit/>
          </a:bodyPr>
          <a:lstStyle/>
          <a:p>
            <a:pPr marL="0" indent="0" algn="l">
              <a:lnSpc>
                <a:spcPct val="128000"/>
              </a:lnSpc>
              <a:buNone/>
            </a:pPr>
            <a:r>
              <a:rPr lang="en-US" sz="1265" dirty="0">
                <a:solidFill>
                  <a:srgbClr val="58A6FF"/>
                </a:solidFill>
                <a:latin typeface="JetBrains Mono Medium" pitchFamily="34" charset="0"/>
                <a:ea typeface="JetBrains Mono Medium" pitchFamily="34" charset="-122"/>
                <a:cs typeface="JetBrains Mono Medium" pitchFamily="34" charset="-120"/>
              </a:rPr>
              <a:t>P</a:t>
            </a:r>
            <a:r>
              <a:rPr lang="en-US" sz="1265" dirty="0">
                <a:solidFill>
                  <a:srgbClr val="8B949E"/>
                </a:solidFill>
                <a:latin typeface="JetBrains Mono Medium" pitchFamily="34" charset="0"/>
                <a:ea typeface="JetBrains Mono Medium" pitchFamily="34" charset="-122"/>
                <a:cs typeface="JetBrains Mono Medium" pitchFamily="34" charset="-120"/>
              </a:rPr>
              <a:t> = Plaintext letter position (A=0, B=1...)</a:t>
            </a:r>
            <a:endParaRPr lang="en-US" sz="1265" dirty="0"/>
          </a:p>
        </p:txBody>
      </p:sp>
      <p:sp>
        <p:nvSpPr>
          <p:cNvPr id="12" name="Text 9"/>
          <p:cNvSpPr/>
          <p:nvPr/>
        </p:nvSpPr>
        <p:spPr>
          <a:xfrm>
            <a:off x="5495925" y="2403648"/>
            <a:ext cx="1621790" cy="249555"/>
          </a:xfrm>
          <a:prstGeom prst="rect">
            <a:avLst/>
          </a:prstGeom>
          <a:noFill/>
        </p:spPr>
        <p:txBody>
          <a:bodyPr wrap="none" lIns="0" tIns="0" rIns="0" bIns="0" rtlCol="0" anchor="t">
            <a:spAutoFit/>
          </a:bodyPr>
          <a:lstStyle/>
          <a:p>
            <a:pPr marL="0" indent="0" algn="l">
              <a:lnSpc>
                <a:spcPct val="128000"/>
              </a:lnSpc>
              <a:buNone/>
            </a:pPr>
            <a:r>
              <a:rPr lang="en-US" sz="1265" dirty="0">
                <a:solidFill>
                  <a:srgbClr val="58A6FF"/>
                </a:solidFill>
                <a:latin typeface="JetBrains Mono Medium" pitchFamily="34" charset="0"/>
                <a:ea typeface="JetBrains Mono Medium" pitchFamily="34" charset="-122"/>
                <a:cs typeface="JetBrains Mono Medium" pitchFamily="34" charset="-120"/>
              </a:rPr>
              <a:t>K</a:t>
            </a:r>
            <a:r>
              <a:rPr lang="en-US" sz="1265" dirty="0">
                <a:solidFill>
                  <a:srgbClr val="8B949E"/>
                </a:solidFill>
                <a:latin typeface="JetBrains Mono Medium" pitchFamily="34" charset="0"/>
                <a:ea typeface="JetBrains Mono Medium" pitchFamily="34" charset="-122"/>
                <a:cs typeface="JetBrains Mono Medium" pitchFamily="34" charset="-120"/>
              </a:rPr>
              <a:t> = Key (Shift amount)</a:t>
            </a:r>
            <a:endParaRPr lang="en-US" sz="1265" dirty="0"/>
          </a:p>
        </p:txBody>
      </p:sp>
      <p:sp>
        <p:nvSpPr>
          <p:cNvPr id="13" name="Text 10"/>
          <p:cNvSpPr/>
          <p:nvPr/>
        </p:nvSpPr>
        <p:spPr>
          <a:xfrm>
            <a:off x="5495925" y="2677939"/>
            <a:ext cx="2056765" cy="249555"/>
          </a:xfrm>
          <a:prstGeom prst="rect">
            <a:avLst/>
          </a:prstGeom>
          <a:noFill/>
        </p:spPr>
        <p:txBody>
          <a:bodyPr wrap="none" lIns="0" tIns="0" rIns="0" bIns="0" rtlCol="0" anchor="t">
            <a:spAutoFit/>
          </a:bodyPr>
          <a:lstStyle/>
          <a:p>
            <a:pPr marL="0" indent="0" algn="l">
              <a:lnSpc>
                <a:spcPct val="128000"/>
              </a:lnSpc>
              <a:buNone/>
            </a:pPr>
            <a:r>
              <a:rPr lang="en-US" sz="1265" dirty="0">
                <a:solidFill>
                  <a:srgbClr val="58A6FF"/>
                </a:solidFill>
                <a:latin typeface="JetBrains Mono Medium" pitchFamily="34" charset="0"/>
                <a:ea typeface="JetBrains Mono Medium" pitchFamily="34" charset="-122"/>
                <a:cs typeface="JetBrains Mono Medium" pitchFamily="34" charset="-120"/>
              </a:rPr>
              <a:t>C</a:t>
            </a:r>
            <a:r>
              <a:rPr lang="en-US" sz="1265" dirty="0">
                <a:solidFill>
                  <a:srgbClr val="8B949E"/>
                </a:solidFill>
                <a:latin typeface="JetBrains Mono Medium" pitchFamily="34" charset="0"/>
                <a:ea typeface="JetBrains Mono Medium" pitchFamily="34" charset="-122"/>
                <a:cs typeface="JetBrains Mono Medium" pitchFamily="34" charset="-120"/>
              </a:rPr>
              <a:t> = Ciphertext letter position</a:t>
            </a:r>
            <a:endParaRPr lang="en-US" sz="1265" dirty="0"/>
          </a:p>
        </p:txBody>
      </p:sp>
      <p:sp>
        <p:nvSpPr>
          <p:cNvPr id="14" name="Text 11"/>
          <p:cNvSpPr/>
          <p:nvPr/>
        </p:nvSpPr>
        <p:spPr>
          <a:xfrm>
            <a:off x="381000" y="3529012"/>
            <a:ext cx="11430000" cy="174625"/>
          </a:xfrm>
          <a:prstGeom prst="rect">
            <a:avLst/>
          </a:prstGeom>
          <a:noFill/>
        </p:spPr>
        <p:txBody>
          <a:bodyPr wrap="square" lIns="0" tIns="0" rIns="0" bIns="0" rtlCol="0" anchor="t">
            <a:spAutoFit/>
          </a:bodyPr>
          <a:lstStyle/>
          <a:p>
            <a:pPr marL="0" indent="0" algn="l">
              <a:buNone/>
            </a:pPr>
            <a:r>
              <a:rPr lang="en-US" sz="1135" dirty="0">
                <a:solidFill>
                  <a:srgbClr val="8B949E"/>
                </a:solidFill>
                <a:latin typeface="JetBrains Mono Medium" pitchFamily="34" charset="0"/>
                <a:ea typeface="JetBrains Mono Medium" pitchFamily="34" charset="-122"/>
                <a:cs typeface="JetBrains Mono Medium" pitchFamily="34" charset="-120"/>
              </a:rPr>
              <a:t>Alphabet Shift Table (K=3)</a:t>
            </a:r>
            <a:endParaRPr lang="en-US" sz="1135" dirty="0"/>
          </a:p>
        </p:txBody>
      </p:sp>
      <p:sp>
        <p:nvSpPr>
          <p:cNvPr id="15" name="Shape 12"/>
          <p:cNvSpPr/>
          <p:nvPr/>
        </p:nvSpPr>
        <p:spPr>
          <a:xfrm>
            <a:off x="385763" y="3829051"/>
            <a:ext cx="1244389" cy="376237"/>
          </a:xfrm>
          <a:prstGeom prst="rect">
            <a:avLst/>
          </a:prstGeom>
          <a:solidFill>
            <a:srgbClr val="161B22"/>
          </a:solidFill>
          <a:ln w="9144">
            <a:solidFill>
              <a:srgbClr val="30363D"/>
            </a:solidFill>
            <a:prstDash val="solid"/>
          </a:ln>
        </p:spPr>
      </p:sp>
      <p:sp>
        <p:nvSpPr>
          <p:cNvPr id="16" name="Text 13"/>
          <p:cNvSpPr/>
          <p:nvPr/>
        </p:nvSpPr>
        <p:spPr>
          <a:xfrm>
            <a:off x="821267" y="3832067"/>
            <a:ext cx="373380" cy="370205"/>
          </a:xfrm>
          <a:prstGeom prst="rect">
            <a:avLst/>
          </a:prstGeom>
          <a:noFill/>
        </p:spPr>
        <p:txBody>
          <a:bodyPr wrap="none" lIns="56726" tIns="113453" rIns="56726" bIns="113453" rtlCol="0" anchor="ctr">
            <a:spAutoFit/>
          </a:bodyPr>
          <a:lstStyle/>
          <a:p>
            <a:pPr marL="0" indent="0" algn="ctr">
              <a:buNone/>
            </a:pPr>
            <a:r>
              <a:rPr lang="en-US" sz="935" b="1" dirty="0">
                <a:solidFill>
                  <a:srgbClr val="8B949E"/>
                </a:solidFill>
                <a:latin typeface="JetBrains Mono Medium" pitchFamily="34" charset="0"/>
                <a:ea typeface="JetBrains Mono Medium" pitchFamily="34" charset="-122"/>
                <a:cs typeface="JetBrains Mono Medium" pitchFamily="34" charset="-120"/>
              </a:rPr>
              <a:t>Plain</a:t>
            </a:r>
            <a:endParaRPr lang="en-US" sz="935" dirty="0"/>
          </a:p>
        </p:txBody>
      </p:sp>
      <p:sp>
        <p:nvSpPr>
          <p:cNvPr id="17" name="Text 14"/>
          <p:cNvSpPr/>
          <p:nvPr/>
        </p:nvSpPr>
        <p:spPr>
          <a:xfrm>
            <a:off x="1731545" y="3827304"/>
            <a:ext cx="188595"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A</a:t>
            </a:r>
            <a:endParaRPr lang="en-US" sz="1000" dirty="0"/>
          </a:p>
        </p:txBody>
      </p:sp>
      <p:sp>
        <p:nvSpPr>
          <p:cNvPr id="18" name="Text 15"/>
          <p:cNvSpPr/>
          <p:nvPr/>
        </p:nvSpPr>
        <p:spPr>
          <a:xfrm>
            <a:off x="2122925" y="3827304"/>
            <a:ext cx="188595"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B</a:t>
            </a:r>
            <a:endParaRPr lang="en-US" sz="1000" dirty="0"/>
          </a:p>
        </p:txBody>
      </p:sp>
      <p:sp>
        <p:nvSpPr>
          <p:cNvPr id="19" name="Text 16"/>
          <p:cNvSpPr/>
          <p:nvPr/>
        </p:nvSpPr>
        <p:spPr>
          <a:xfrm>
            <a:off x="2515894" y="3827304"/>
            <a:ext cx="185420"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C</a:t>
            </a:r>
            <a:endParaRPr lang="en-US" sz="1000" dirty="0"/>
          </a:p>
        </p:txBody>
      </p:sp>
      <p:sp>
        <p:nvSpPr>
          <p:cNvPr id="20" name="Text 17"/>
          <p:cNvSpPr/>
          <p:nvPr/>
        </p:nvSpPr>
        <p:spPr>
          <a:xfrm>
            <a:off x="2901559" y="3827304"/>
            <a:ext cx="196850"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D</a:t>
            </a:r>
            <a:endParaRPr lang="en-US" sz="1000" dirty="0"/>
          </a:p>
        </p:txBody>
      </p:sp>
      <p:sp>
        <p:nvSpPr>
          <p:cNvPr id="21" name="Text 18"/>
          <p:cNvSpPr/>
          <p:nvPr/>
        </p:nvSpPr>
        <p:spPr>
          <a:xfrm>
            <a:off x="3302783" y="3827304"/>
            <a:ext cx="177165"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E</a:t>
            </a:r>
            <a:endParaRPr lang="en-US" sz="1000" dirty="0"/>
          </a:p>
        </p:txBody>
      </p:sp>
      <p:sp>
        <p:nvSpPr>
          <p:cNvPr id="22" name="Text 19"/>
          <p:cNvSpPr/>
          <p:nvPr/>
        </p:nvSpPr>
        <p:spPr>
          <a:xfrm>
            <a:off x="3695752" y="3827304"/>
            <a:ext cx="173990"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F</a:t>
            </a:r>
            <a:endParaRPr lang="en-US" sz="1000" dirty="0"/>
          </a:p>
        </p:txBody>
      </p:sp>
      <p:sp>
        <p:nvSpPr>
          <p:cNvPr id="23" name="Text 20"/>
          <p:cNvSpPr/>
          <p:nvPr/>
        </p:nvSpPr>
        <p:spPr>
          <a:xfrm>
            <a:off x="4076019" y="3827304"/>
            <a:ext cx="196215"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G</a:t>
            </a:r>
            <a:endParaRPr lang="en-US" sz="1000" dirty="0"/>
          </a:p>
        </p:txBody>
      </p:sp>
      <p:sp>
        <p:nvSpPr>
          <p:cNvPr id="24" name="Text 21"/>
          <p:cNvSpPr/>
          <p:nvPr/>
        </p:nvSpPr>
        <p:spPr>
          <a:xfrm>
            <a:off x="4465813" y="3827304"/>
            <a:ext cx="199390"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H</a:t>
            </a:r>
            <a:endParaRPr lang="en-US" sz="1000" dirty="0"/>
          </a:p>
        </p:txBody>
      </p:sp>
      <p:sp>
        <p:nvSpPr>
          <p:cNvPr id="25" name="Text 22"/>
          <p:cNvSpPr/>
          <p:nvPr/>
        </p:nvSpPr>
        <p:spPr>
          <a:xfrm>
            <a:off x="4879736" y="3827304"/>
            <a:ext cx="154305"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I</a:t>
            </a:r>
            <a:endParaRPr lang="en-US" sz="1000" dirty="0"/>
          </a:p>
        </p:txBody>
      </p:sp>
      <p:sp>
        <p:nvSpPr>
          <p:cNvPr id="26" name="Text 23"/>
          <p:cNvSpPr/>
          <p:nvPr/>
        </p:nvSpPr>
        <p:spPr>
          <a:xfrm>
            <a:off x="5274609" y="3827304"/>
            <a:ext cx="147320"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J</a:t>
            </a:r>
            <a:endParaRPr lang="en-US" sz="1000" dirty="0"/>
          </a:p>
        </p:txBody>
      </p:sp>
      <p:sp>
        <p:nvSpPr>
          <p:cNvPr id="27" name="Text 24"/>
          <p:cNvSpPr/>
          <p:nvPr/>
        </p:nvSpPr>
        <p:spPr>
          <a:xfrm>
            <a:off x="5646622" y="3827304"/>
            <a:ext cx="186055"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K</a:t>
            </a:r>
            <a:endParaRPr lang="en-US" sz="1000" dirty="0"/>
          </a:p>
        </p:txBody>
      </p:sp>
      <p:sp>
        <p:nvSpPr>
          <p:cNvPr id="28" name="Text 25"/>
          <p:cNvSpPr/>
          <p:nvPr/>
        </p:nvSpPr>
        <p:spPr>
          <a:xfrm>
            <a:off x="6043401" y="3827304"/>
            <a:ext cx="175260"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L</a:t>
            </a:r>
            <a:endParaRPr lang="en-US" sz="1000" dirty="0"/>
          </a:p>
        </p:txBody>
      </p:sp>
      <p:sp>
        <p:nvSpPr>
          <p:cNvPr id="29" name="Text 26"/>
          <p:cNvSpPr/>
          <p:nvPr/>
        </p:nvSpPr>
        <p:spPr>
          <a:xfrm>
            <a:off x="6412874" y="3827304"/>
            <a:ext cx="219075"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M</a:t>
            </a:r>
            <a:endParaRPr lang="en-US" sz="1000" dirty="0"/>
          </a:p>
        </p:txBody>
      </p:sp>
      <p:sp>
        <p:nvSpPr>
          <p:cNvPr id="30" name="Text 27"/>
          <p:cNvSpPr/>
          <p:nvPr/>
        </p:nvSpPr>
        <p:spPr>
          <a:xfrm>
            <a:off x="6812510" y="3827304"/>
            <a:ext cx="202565"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N</a:t>
            </a:r>
            <a:endParaRPr lang="en-US" sz="1000" dirty="0"/>
          </a:p>
        </p:txBody>
      </p:sp>
      <p:sp>
        <p:nvSpPr>
          <p:cNvPr id="31" name="Text 28"/>
          <p:cNvSpPr/>
          <p:nvPr/>
        </p:nvSpPr>
        <p:spPr>
          <a:xfrm>
            <a:off x="7203573" y="3827304"/>
            <a:ext cx="203200"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O</a:t>
            </a:r>
            <a:endParaRPr lang="en-US" sz="1000" dirty="0"/>
          </a:p>
        </p:txBody>
      </p:sp>
      <p:sp>
        <p:nvSpPr>
          <p:cNvPr id="32" name="Text 29"/>
          <p:cNvSpPr/>
          <p:nvPr/>
        </p:nvSpPr>
        <p:spPr>
          <a:xfrm>
            <a:off x="7604796" y="3827304"/>
            <a:ext cx="183515"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P</a:t>
            </a:r>
            <a:endParaRPr lang="en-US" sz="1000" dirty="0"/>
          </a:p>
        </p:txBody>
      </p:sp>
      <p:sp>
        <p:nvSpPr>
          <p:cNvPr id="33" name="Text 30"/>
          <p:cNvSpPr/>
          <p:nvPr/>
        </p:nvSpPr>
        <p:spPr>
          <a:xfrm>
            <a:off x="7986335" y="3827304"/>
            <a:ext cx="203200"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Q</a:t>
            </a:r>
            <a:endParaRPr lang="en-US" sz="1000" dirty="0"/>
          </a:p>
        </p:txBody>
      </p:sp>
      <p:sp>
        <p:nvSpPr>
          <p:cNvPr id="34" name="Text 31"/>
          <p:cNvSpPr/>
          <p:nvPr/>
        </p:nvSpPr>
        <p:spPr>
          <a:xfrm>
            <a:off x="8386287" y="3827304"/>
            <a:ext cx="186055"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R</a:t>
            </a:r>
            <a:endParaRPr lang="en-US" sz="1000" dirty="0"/>
          </a:p>
        </p:txBody>
      </p:sp>
      <p:sp>
        <p:nvSpPr>
          <p:cNvPr id="35" name="Text 32"/>
          <p:cNvSpPr/>
          <p:nvPr/>
        </p:nvSpPr>
        <p:spPr>
          <a:xfrm>
            <a:off x="8782431" y="3827304"/>
            <a:ext cx="176530"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S</a:t>
            </a:r>
            <a:endParaRPr lang="en-US" sz="1000" dirty="0"/>
          </a:p>
        </p:txBody>
      </p:sp>
      <p:sp>
        <p:nvSpPr>
          <p:cNvPr id="36" name="Text 33"/>
          <p:cNvSpPr/>
          <p:nvPr/>
        </p:nvSpPr>
        <p:spPr>
          <a:xfrm>
            <a:off x="9173177" y="3827304"/>
            <a:ext cx="177800"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T</a:t>
            </a:r>
            <a:endParaRPr lang="en-US" sz="1000" dirty="0"/>
          </a:p>
        </p:txBody>
      </p:sp>
      <p:sp>
        <p:nvSpPr>
          <p:cNvPr id="37" name="Text 34"/>
          <p:cNvSpPr/>
          <p:nvPr/>
        </p:nvSpPr>
        <p:spPr>
          <a:xfrm>
            <a:off x="9554397" y="3827304"/>
            <a:ext cx="198120"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U</a:t>
            </a:r>
            <a:endParaRPr lang="en-US" sz="1000" dirty="0"/>
          </a:p>
        </p:txBody>
      </p:sp>
      <p:sp>
        <p:nvSpPr>
          <p:cNvPr id="38" name="Text 35"/>
          <p:cNvSpPr/>
          <p:nvPr/>
        </p:nvSpPr>
        <p:spPr>
          <a:xfrm>
            <a:off x="9952764" y="3827304"/>
            <a:ext cx="184150"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V</a:t>
            </a:r>
            <a:endParaRPr lang="en-US" sz="1000" dirty="0"/>
          </a:p>
        </p:txBody>
      </p:sp>
      <p:sp>
        <p:nvSpPr>
          <p:cNvPr id="39" name="Text 36"/>
          <p:cNvSpPr/>
          <p:nvPr/>
        </p:nvSpPr>
        <p:spPr>
          <a:xfrm>
            <a:off x="10325411" y="3827304"/>
            <a:ext cx="221615"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W</a:t>
            </a:r>
            <a:endParaRPr lang="en-US" sz="1000" dirty="0"/>
          </a:p>
        </p:txBody>
      </p:sp>
      <p:sp>
        <p:nvSpPr>
          <p:cNvPr id="40" name="Text 37"/>
          <p:cNvSpPr/>
          <p:nvPr/>
        </p:nvSpPr>
        <p:spPr>
          <a:xfrm>
            <a:off x="10735525" y="3827304"/>
            <a:ext cx="184150"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X</a:t>
            </a:r>
            <a:endParaRPr lang="en-US" sz="1000" dirty="0"/>
          </a:p>
        </p:txBody>
      </p:sp>
      <p:sp>
        <p:nvSpPr>
          <p:cNvPr id="41" name="Text 38"/>
          <p:cNvSpPr/>
          <p:nvPr/>
        </p:nvSpPr>
        <p:spPr>
          <a:xfrm>
            <a:off x="11128492" y="3827304"/>
            <a:ext cx="180975"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Y</a:t>
            </a:r>
            <a:endParaRPr lang="en-US" sz="1000" dirty="0"/>
          </a:p>
        </p:txBody>
      </p:sp>
      <p:sp>
        <p:nvSpPr>
          <p:cNvPr id="42" name="Text 39"/>
          <p:cNvSpPr/>
          <p:nvPr/>
        </p:nvSpPr>
        <p:spPr>
          <a:xfrm>
            <a:off x="11520919" y="3827304"/>
            <a:ext cx="179070" cy="379730"/>
          </a:xfrm>
          <a:prstGeom prst="rect">
            <a:avLst/>
          </a:prstGeom>
          <a:noFill/>
        </p:spPr>
        <p:txBody>
          <a:bodyPr wrap="none" lIns="56726" tIns="113453" rIns="56726" bIns="113453"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Z</a:t>
            </a:r>
            <a:endParaRPr lang="en-US" sz="1000" dirty="0"/>
          </a:p>
        </p:txBody>
      </p:sp>
      <p:sp>
        <p:nvSpPr>
          <p:cNvPr id="43" name="Shape 40"/>
          <p:cNvSpPr/>
          <p:nvPr/>
        </p:nvSpPr>
        <p:spPr>
          <a:xfrm>
            <a:off x="385763" y="4205288"/>
            <a:ext cx="11420475" cy="376237"/>
          </a:xfrm>
          <a:prstGeom prst="rect">
            <a:avLst/>
          </a:prstGeom>
          <a:solidFill>
            <a:srgbClr val="00FF9C">
              <a:alpha val="5000"/>
            </a:srgbClr>
          </a:solidFill>
        </p:spPr>
      </p:sp>
      <p:sp>
        <p:nvSpPr>
          <p:cNvPr id="44" name="Shape 41"/>
          <p:cNvSpPr/>
          <p:nvPr/>
        </p:nvSpPr>
        <p:spPr>
          <a:xfrm>
            <a:off x="385763" y="4205288"/>
            <a:ext cx="1244389" cy="376237"/>
          </a:xfrm>
          <a:prstGeom prst="rect">
            <a:avLst/>
          </a:prstGeom>
          <a:solidFill>
            <a:srgbClr val="161B22"/>
          </a:solidFill>
          <a:ln w="9144">
            <a:solidFill>
              <a:srgbClr val="30363D"/>
            </a:solidFill>
            <a:prstDash val="solid"/>
          </a:ln>
        </p:spPr>
      </p:sp>
      <p:sp>
        <p:nvSpPr>
          <p:cNvPr id="45" name="Text 42"/>
          <p:cNvSpPr/>
          <p:nvPr/>
        </p:nvSpPr>
        <p:spPr>
          <a:xfrm>
            <a:off x="778405" y="4208304"/>
            <a:ext cx="459105" cy="370205"/>
          </a:xfrm>
          <a:prstGeom prst="rect">
            <a:avLst/>
          </a:prstGeom>
          <a:noFill/>
        </p:spPr>
        <p:txBody>
          <a:bodyPr wrap="none" lIns="56726" tIns="113453" rIns="56726" bIns="113453" rtlCol="0" anchor="ctr">
            <a:spAutoFit/>
          </a:bodyPr>
          <a:lstStyle/>
          <a:p>
            <a:pPr marL="0" indent="0" algn="ctr">
              <a:buNone/>
            </a:pPr>
            <a:r>
              <a:rPr lang="en-US" sz="935" b="1" dirty="0">
                <a:solidFill>
                  <a:srgbClr val="8B949E"/>
                </a:solidFill>
                <a:latin typeface="JetBrains Mono Medium" pitchFamily="34" charset="0"/>
                <a:ea typeface="JetBrains Mono Medium" pitchFamily="34" charset="-122"/>
                <a:cs typeface="JetBrains Mono Medium" pitchFamily="34" charset="-120"/>
              </a:rPr>
              <a:t>Cipher</a:t>
            </a:r>
            <a:endParaRPr lang="en-US" sz="935" dirty="0"/>
          </a:p>
        </p:txBody>
      </p:sp>
      <p:sp>
        <p:nvSpPr>
          <p:cNvPr id="46" name="Text 43"/>
          <p:cNvSpPr/>
          <p:nvPr/>
        </p:nvSpPr>
        <p:spPr>
          <a:xfrm>
            <a:off x="1716672" y="4208304"/>
            <a:ext cx="192405"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D</a:t>
            </a:r>
            <a:endParaRPr lang="en-US" sz="935" dirty="0"/>
          </a:p>
        </p:txBody>
      </p:sp>
      <p:sp>
        <p:nvSpPr>
          <p:cNvPr id="47" name="Text 44"/>
          <p:cNvSpPr/>
          <p:nvPr/>
        </p:nvSpPr>
        <p:spPr>
          <a:xfrm>
            <a:off x="2117745" y="4208304"/>
            <a:ext cx="173990"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E</a:t>
            </a:r>
            <a:endParaRPr lang="en-US" sz="935" dirty="0"/>
          </a:p>
        </p:txBody>
      </p:sp>
      <p:sp>
        <p:nvSpPr>
          <p:cNvPr id="48" name="Text 45"/>
          <p:cNvSpPr/>
          <p:nvPr/>
        </p:nvSpPr>
        <p:spPr>
          <a:xfrm>
            <a:off x="2511197" y="4208304"/>
            <a:ext cx="170815"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F</a:t>
            </a:r>
            <a:endParaRPr lang="en-US" sz="935" dirty="0"/>
          </a:p>
        </p:txBody>
      </p:sp>
      <p:sp>
        <p:nvSpPr>
          <p:cNvPr id="49" name="Text 46"/>
          <p:cNvSpPr/>
          <p:nvPr/>
        </p:nvSpPr>
        <p:spPr>
          <a:xfrm>
            <a:off x="2892583" y="4208304"/>
            <a:ext cx="191770"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G</a:t>
            </a:r>
            <a:endParaRPr lang="en-US" sz="935" dirty="0"/>
          </a:p>
        </p:txBody>
      </p:sp>
      <p:sp>
        <p:nvSpPr>
          <p:cNvPr id="50" name="Text 47"/>
          <p:cNvSpPr/>
          <p:nvPr/>
        </p:nvSpPr>
        <p:spPr>
          <a:xfrm>
            <a:off x="3283178" y="4208304"/>
            <a:ext cx="194310"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H</a:t>
            </a:r>
            <a:endParaRPr lang="en-US" sz="935" dirty="0"/>
          </a:p>
        </p:txBody>
      </p:sp>
      <p:sp>
        <p:nvSpPr>
          <p:cNvPr id="51" name="Text 48"/>
          <p:cNvSpPr/>
          <p:nvPr/>
        </p:nvSpPr>
        <p:spPr>
          <a:xfrm>
            <a:off x="3695997" y="4208304"/>
            <a:ext cx="152400"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I</a:t>
            </a:r>
            <a:endParaRPr lang="en-US" sz="935" dirty="0"/>
          </a:p>
        </p:txBody>
      </p:sp>
      <p:sp>
        <p:nvSpPr>
          <p:cNvPr id="52" name="Text 49"/>
          <p:cNvSpPr/>
          <p:nvPr/>
        </p:nvSpPr>
        <p:spPr>
          <a:xfrm>
            <a:off x="4091036" y="4208304"/>
            <a:ext cx="146050"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J</a:t>
            </a:r>
            <a:endParaRPr lang="en-US" sz="935" dirty="0"/>
          </a:p>
        </p:txBody>
      </p:sp>
      <p:sp>
        <p:nvSpPr>
          <p:cNvPr id="53" name="Text 50"/>
          <p:cNvSpPr/>
          <p:nvPr/>
        </p:nvSpPr>
        <p:spPr>
          <a:xfrm>
            <a:off x="4464804" y="4208304"/>
            <a:ext cx="182245"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K</a:t>
            </a:r>
            <a:endParaRPr lang="en-US" sz="935" dirty="0"/>
          </a:p>
        </p:txBody>
      </p:sp>
      <p:sp>
        <p:nvSpPr>
          <p:cNvPr id="54" name="Text 51"/>
          <p:cNvSpPr/>
          <p:nvPr/>
        </p:nvSpPr>
        <p:spPr>
          <a:xfrm>
            <a:off x="4861748" y="4208304"/>
            <a:ext cx="172085"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L</a:t>
            </a:r>
            <a:endParaRPr lang="en-US" sz="935" dirty="0"/>
          </a:p>
        </p:txBody>
      </p:sp>
      <p:sp>
        <p:nvSpPr>
          <p:cNvPr id="55" name="Text 52"/>
          <p:cNvSpPr/>
          <p:nvPr/>
        </p:nvSpPr>
        <p:spPr>
          <a:xfrm>
            <a:off x="5232975" y="4208304"/>
            <a:ext cx="213360"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M</a:t>
            </a:r>
            <a:endParaRPr lang="en-US" sz="935" dirty="0"/>
          </a:p>
        </p:txBody>
      </p:sp>
      <p:sp>
        <p:nvSpPr>
          <p:cNvPr id="56" name="Text 53"/>
          <p:cNvSpPr/>
          <p:nvPr/>
        </p:nvSpPr>
        <p:spPr>
          <a:xfrm>
            <a:off x="5632460" y="4208304"/>
            <a:ext cx="198120"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N</a:t>
            </a:r>
            <a:endParaRPr lang="en-US" sz="935" dirty="0"/>
          </a:p>
        </p:txBody>
      </p:sp>
      <p:sp>
        <p:nvSpPr>
          <p:cNvPr id="57" name="Text 54"/>
          <p:cNvSpPr/>
          <p:nvPr/>
        </p:nvSpPr>
        <p:spPr>
          <a:xfrm>
            <a:off x="6024324" y="4208304"/>
            <a:ext cx="198120"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O</a:t>
            </a:r>
            <a:endParaRPr lang="en-US" sz="935" dirty="0"/>
          </a:p>
        </p:txBody>
      </p:sp>
      <p:sp>
        <p:nvSpPr>
          <p:cNvPr id="58" name="Text 55"/>
          <p:cNvSpPr/>
          <p:nvPr/>
        </p:nvSpPr>
        <p:spPr>
          <a:xfrm>
            <a:off x="6425078" y="4208304"/>
            <a:ext cx="180340"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P</a:t>
            </a:r>
            <a:endParaRPr lang="en-US" sz="935" dirty="0"/>
          </a:p>
        </p:txBody>
      </p:sp>
      <p:sp>
        <p:nvSpPr>
          <p:cNvPr id="59" name="Text 56"/>
          <p:cNvSpPr/>
          <p:nvPr/>
        </p:nvSpPr>
        <p:spPr>
          <a:xfrm>
            <a:off x="6808053" y="4208304"/>
            <a:ext cx="198120"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Q</a:t>
            </a:r>
            <a:endParaRPr lang="en-US" sz="935" dirty="0"/>
          </a:p>
        </p:txBody>
      </p:sp>
      <p:sp>
        <p:nvSpPr>
          <p:cNvPr id="60" name="Text 57"/>
          <p:cNvSpPr/>
          <p:nvPr/>
        </p:nvSpPr>
        <p:spPr>
          <a:xfrm>
            <a:off x="7207855" y="4208304"/>
            <a:ext cx="182245"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R</a:t>
            </a:r>
            <a:endParaRPr lang="en-US" sz="935" dirty="0"/>
          </a:p>
        </p:txBody>
      </p:sp>
      <p:sp>
        <p:nvSpPr>
          <p:cNvPr id="61" name="Text 58"/>
          <p:cNvSpPr/>
          <p:nvPr/>
        </p:nvSpPr>
        <p:spPr>
          <a:xfrm>
            <a:off x="7604164" y="4208304"/>
            <a:ext cx="173355"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S</a:t>
            </a:r>
            <a:endParaRPr lang="en-US" sz="935" dirty="0"/>
          </a:p>
        </p:txBody>
      </p:sp>
      <p:sp>
        <p:nvSpPr>
          <p:cNvPr id="62" name="Text 59"/>
          <p:cNvSpPr/>
          <p:nvPr/>
        </p:nvSpPr>
        <p:spPr>
          <a:xfrm>
            <a:off x="7995394" y="4208304"/>
            <a:ext cx="174625"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T</a:t>
            </a:r>
            <a:endParaRPr lang="en-US" sz="935" dirty="0"/>
          </a:p>
        </p:txBody>
      </p:sp>
      <p:sp>
        <p:nvSpPr>
          <p:cNvPr id="63" name="Text 60"/>
          <p:cNvSpPr/>
          <p:nvPr/>
        </p:nvSpPr>
        <p:spPr>
          <a:xfrm>
            <a:off x="8377733" y="4208304"/>
            <a:ext cx="193675"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U</a:t>
            </a:r>
            <a:endParaRPr lang="en-US" sz="935" dirty="0"/>
          </a:p>
        </p:txBody>
      </p:sp>
      <p:sp>
        <p:nvSpPr>
          <p:cNvPr id="64" name="Text 61"/>
          <p:cNvSpPr/>
          <p:nvPr/>
        </p:nvSpPr>
        <p:spPr>
          <a:xfrm>
            <a:off x="8776265" y="4208304"/>
            <a:ext cx="180340"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V</a:t>
            </a:r>
            <a:endParaRPr lang="en-US" sz="935" dirty="0"/>
          </a:p>
        </p:txBody>
      </p:sp>
      <p:sp>
        <p:nvSpPr>
          <p:cNvPr id="65" name="Text 62"/>
          <p:cNvSpPr/>
          <p:nvPr/>
        </p:nvSpPr>
        <p:spPr>
          <a:xfrm>
            <a:off x="9150350" y="4208304"/>
            <a:ext cx="215900"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W</a:t>
            </a:r>
            <a:endParaRPr lang="en-US" sz="935" dirty="0"/>
          </a:p>
        </p:txBody>
      </p:sp>
      <p:sp>
        <p:nvSpPr>
          <p:cNvPr id="66" name="Text 63"/>
          <p:cNvSpPr/>
          <p:nvPr/>
        </p:nvSpPr>
        <p:spPr>
          <a:xfrm>
            <a:off x="9559677" y="4208304"/>
            <a:ext cx="180975"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X</a:t>
            </a:r>
            <a:endParaRPr lang="en-US" sz="935" dirty="0"/>
          </a:p>
        </p:txBody>
      </p:sp>
      <p:sp>
        <p:nvSpPr>
          <p:cNvPr id="67" name="Text 64"/>
          <p:cNvSpPr/>
          <p:nvPr/>
        </p:nvSpPr>
        <p:spPr>
          <a:xfrm>
            <a:off x="9953447" y="4208304"/>
            <a:ext cx="177165"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Y</a:t>
            </a:r>
            <a:endParaRPr lang="en-US" sz="935" dirty="0"/>
          </a:p>
        </p:txBody>
      </p:sp>
      <p:sp>
        <p:nvSpPr>
          <p:cNvPr id="68" name="Text 65"/>
          <p:cNvSpPr/>
          <p:nvPr/>
        </p:nvSpPr>
        <p:spPr>
          <a:xfrm>
            <a:off x="10345946" y="4208304"/>
            <a:ext cx="175895"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Z</a:t>
            </a:r>
            <a:endParaRPr lang="en-US" sz="935" dirty="0"/>
          </a:p>
        </p:txBody>
      </p:sp>
      <p:sp>
        <p:nvSpPr>
          <p:cNvPr id="69" name="Text 66"/>
          <p:cNvSpPr/>
          <p:nvPr/>
        </p:nvSpPr>
        <p:spPr>
          <a:xfrm>
            <a:off x="10733365" y="4208304"/>
            <a:ext cx="184785"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A</a:t>
            </a:r>
            <a:endParaRPr lang="en-US" sz="935" dirty="0"/>
          </a:p>
        </p:txBody>
      </p:sp>
      <p:sp>
        <p:nvSpPr>
          <p:cNvPr id="70" name="Text 67"/>
          <p:cNvSpPr/>
          <p:nvPr/>
        </p:nvSpPr>
        <p:spPr>
          <a:xfrm>
            <a:off x="11125230" y="4208304"/>
            <a:ext cx="184785"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B</a:t>
            </a:r>
            <a:endParaRPr lang="en-US" sz="935" dirty="0"/>
          </a:p>
        </p:txBody>
      </p:sp>
      <p:sp>
        <p:nvSpPr>
          <p:cNvPr id="71" name="Text 68"/>
          <p:cNvSpPr/>
          <p:nvPr/>
        </p:nvSpPr>
        <p:spPr>
          <a:xfrm>
            <a:off x="11519091" y="4208304"/>
            <a:ext cx="181610" cy="370205"/>
          </a:xfrm>
          <a:prstGeom prst="rect">
            <a:avLst/>
          </a:prstGeom>
          <a:noFill/>
        </p:spPr>
        <p:txBody>
          <a:bodyPr wrap="none" lIns="56726" tIns="113453" rIns="56726" bIns="113453" rtlCol="0" anchor="ctr">
            <a:spAutoFit/>
          </a:bodyPr>
          <a:lstStyle/>
          <a:p>
            <a:pPr marL="0" indent="0" algn="ctr">
              <a:buNone/>
            </a:pPr>
            <a:r>
              <a:rPr lang="en-US" sz="935" b="1" dirty="0">
                <a:solidFill>
                  <a:srgbClr val="00FF9C"/>
                </a:solidFill>
                <a:latin typeface="JetBrains Mono Medium" pitchFamily="34" charset="0"/>
                <a:ea typeface="JetBrains Mono Medium" pitchFamily="34" charset="-122"/>
                <a:cs typeface="JetBrains Mono Medium" pitchFamily="34" charset="-120"/>
              </a:rPr>
              <a:t>C</a:t>
            </a:r>
            <a:endParaRPr lang="en-US" sz="935" dirty="0"/>
          </a:p>
        </p:txBody>
      </p:sp>
      <p:sp>
        <p:nvSpPr>
          <p:cNvPr id="72" name="Shape 69"/>
          <p:cNvSpPr/>
          <p:nvPr/>
        </p:nvSpPr>
        <p:spPr>
          <a:xfrm>
            <a:off x="381000" y="4872037"/>
            <a:ext cx="5572125" cy="1945481"/>
          </a:xfrm>
          <a:prstGeom prst="rect">
            <a:avLst/>
          </a:prstGeom>
          <a:solidFill>
            <a:srgbClr val="161B22"/>
          </a:solidFill>
          <a:ln w="9144">
            <a:solidFill>
              <a:srgbClr val="30363D"/>
            </a:solidFill>
            <a:prstDash val="solid"/>
          </a:ln>
        </p:spPr>
      </p:sp>
      <p:pic>
        <p:nvPicPr>
          <p:cNvPr id="73" name="Image 1" descr="preencoded.png"/>
          <p:cNvPicPr>
            <a:picLocks noChangeAspect="1"/>
          </p:cNvPicPr>
          <p:nvPr/>
        </p:nvPicPr>
        <p:blipFill>
          <a:blip r:embed="rId2"/>
          <a:stretch>
            <a:fillRect/>
          </a:stretch>
        </p:blipFill>
        <p:spPr>
          <a:xfrm>
            <a:off x="619125" y="5157788"/>
            <a:ext cx="142875" cy="190500"/>
          </a:xfrm>
          <a:prstGeom prst="rect">
            <a:avLst/>
          </a:prstGeom>
        </p:spPr>
      </p:pic>
      <p:sp>
        <p:nvSpPr>
          <p:cNvPr id="74" name="Text 70"/>
          <p:cNvSpPr/>
          <p:nvPr/>
        </p:nvSpPr>
        <p:spPr>
          <a:xfrm>
            <a:off x="857251" y="5110163"/>
            <a:ext cx="1313815" cy="215265"/>
          </a:xfrm>
          <a:prstGeom prst="rect">
            <a:avLst/>
          </a:prstGeom>
          <a:noFill/>
        </p:spPr>
        <p:txBody>
          <a:bodyPr wrap="none" lIns="0" tIns="0" rIns="0" bIns="0" rtlCol="0" anchor="t">
            <a:spAutoFit/>
          </a:bodyPr>
          <a:lstStyle/>
          <a:p>
            <a:pPr marL="0" indent="0" algn="l">
              <a:buNone/>
            </a:pPr>
            <a:r>
              <a:rPr lang="en-US" sz="1400" dirty="0">
                <a:solidFill>
                  <a:srgbClr val="58A6FF"/>
                </a:solidFill>
                <a:latin typeface="Poppins SemiBold" pitchFamily="34" charset="0"/>
                <a:ea typeface="Poppins SemiBold" pitchFamily="34" charset="-122"/>
                <a:cs typeface="Poppins SemiBold" pitchFamily="34" charset="-120"/>
              </a:rPr>
              <a:t>Worked Example</a:t>
            </a:r>
            <a:endParaRPr lang="en-US" sz="1400" dirty="0"/>
          </a:p>
        </p:txBody>
      </p:sp>
      <p:sp>
        <p:nvSpPr>
          <p:cNvPr id="75" name="Text 71"/>
          <p:cNvSpPr/>
          <p:nvPr/>
        </p:nvSpPr>
        <p:spPr>
          <a:xfrm>
            <a:off x="619125" y="5538788"/>
            <a:ext cx="5095875" cy="861695"/>
          </a:xfrm>
          <a:prstGeom prst="rect">
            <a:avLst/>
          </a:prstGeom>
          <a:noFill/>
        </p:spPr>
        <p:txBody>
          <a:bodyPr wrap="square" lIns="0" tIns="0" rIns="0" bIns="0" rtlCol="0" anchor="t">
            <a:spAutoFit/>
          </a:bodyPr>
          <a:lstStyle/>
          <a:p>
            <a:pPr marL="0" indent="0" algn="l">
              <a:buNone/>
            </a:pPr>
            <a:r>
              <a:rPr lang="en-US" sz="1665" dirty="0">
                <a:solidFill>
                  <a:srgbClr val="E6EDF3"/>
                </a:solidFill>
                <a:latin typeface="JetBrains Mono Medium" pitchFamily="34" charset="0"/>
                <a:ea typeface="JetBrains Mono Medium" pitchFamily="34" charset="-122"/>
                <a:cs typeface="JetBrains Mono Medium" pitchFamily="34" charset="-120"/>
              </a:rPr>
              <a:t>"HELLO" with K=3
</a:t>
            </a:r>
            <a:r>
              <a:rPr lang="en-US" sz="1265" dirty="0">
                <a:solidFill>
                  <a:srgbClr val="8B949E"/>
                </a:solidFill>
                <a:latin typeface="JetBrains Mono Medium" pitchFamily="34" charset="0"/>
                <a:ea typeface="JetBrains Mono Medium" pitchFamily="34" charset="-122"/>
                <a:cs typeface="JetBrains Mono Medium" pitchFamily="34" charset="-120"/>
              </a:rPr>
              <a:t>H(7)+3 = J(10) ...</a:t>
            </a:r>
            <a:r>
              <a:rPr lang="en-US" sz="1665" dirty="0">
                <a:solidFill>
                  <a:srgbClr val="E6EDF3"/>
                </a:solidFill>
                <a:latin typeface="JetBrains Mono Medium" pitchFamily="34" charset="0"/>
                <a:ea typeface="JetBrains Mono Medium" pitchFamily="34" charset="-122"/>
                <a:cs typeface="JetBrains Mono Medium" pitchFamily="34" charset="-120"/>
              </a:rPr>
              <a:t>
</a:t>
            </a:r>
            <a:r>
              <a:rPr lang="en-US" sz="2265" kern="0" spc="4" dirty="0">
                <a:solidFill>
                  <a:srgbClr val="00FF9C"/>
                </a:solidFill>
                <a:latin typeface="JetBrains Mono Medium" pitchFamily="34" charset="0"/>
                <a:ea typeface="JetBrains Mono Medium" pitchFamily="34" charset="-122"/>
                <a:cs typeface="JetBrains Mono Medium" pitchFamily="34" charset="-120"/>
              </a:rPr>
              <a:t>→ KHOOR</a:t>
            </a:r>
            <a:endParaRPr lang="en-US" sz="1665" dirty="0"/>
          </a:p>
        </p:txBody>
      </p:sp>
      <p:sp>
        <p:nvSpPr>
          <p:cNvPr id="76" name="Shape 72"/>
          <p:cNvSpPr/>
          <p:nvPr/>
        </p:nvSpPr>
        <p:spPr>
          <a:xfrm>
            <a:off x="6238875" y="4872037"/>
            <a:ext cx="5572125" cy="1926431"/>
          </a:xfrm>
          <a:prstGeom prst="rect">
            <a:avLst/>
          </a:prstGeom>
          <a:solidFill>
            <a:srgbClr val="E3B341">
              <a:alpha val="10000"/>
            </a:srgbClr>
          </a:solidFill>
          <a:ln w="9144">
            <a:solidFill>
              <a:srgbClr val="E3B341"/>
            </a:solidFill>
            <a:prstDash val="solid"/>
          </a:ln>
        </p:spPr>
      </p:sp>
      <p:pic>
        <p:nvPicPr>
          <p:cNvPr id="77" name="Image 2" descr="preencoded.png"/>
          <p:cNvPicPr>
            <a:picLocks noChangeAspect="1"/>
          </p:cNvPicPr>
          <p:nvPr/>
        </p:nvPicPr>
        <p:blipFill>
          <a:blip r:embed="rId3"/>
          <a:stretch>
            <a:fillRect/>
          </a:stretch>
        </p:blipFill>
        <p:spPr>
          <a:xfrm>
            <a:off x="6429375" y="5720953"/>
            <a:ext cx="171451" cy="228600"/>
          </a:xfrm>
          <a:prstGeom prst="rect">
            <a:avLst/>
          </a:prstGeom>
        </p:spPr>
      </p:pic>
      <p:sp>
        <p:nvSpPr>
          <p:cNvPr id="78" name="Text 73"/>
          <p:cNvSpPr/>
          <p:nvPr/>
        </p:nvSpPr>
        <p:spPr>
          <a:xfrm>
            <a:off x="6743700" y="5651897"/>
            <a:ext cx="4876800" cy="349885"/>
          </a:xfrm>
          <a:prstGeom prst="rect">
            <a:avLst/>
          </a:prstGeom>
          <a:noFill/>
        </p:spPr>
        <p:txBody>
          <a:bodyPr wrap="square" lIns="0" tIns="0" rIns="0" bIns="0" rtlCol="0" anchor="t">
            <a:spAutoFit/>
          </a:bodyPr>
          <a:lstStyle/>
          <a:p>
            <a:pPr marL="0" indent="0" algn="l">
              <a:buNone/>
            </a:pPr>
            <a:r>
              <a:rPr lang="en-US" sz="1065" b="1" dirty="0">
                <a:solidFill>
                  <a:srgbClr val="E3B341"/>
                </a:solidFill>
                <a:latin typeface="Inter" pitchFamily="34" charset="0"/>
                <a:ea typeface="Inter" pitchFamily="34" charset="-122"/>
                <a:cs typeface="Inter" pitchFamily="34" charset="-120"/>
              </a:rPr>
              <a:t>CTF Tip:</a:t>
            </a:r>
            <a:r>
              <a:rPr lang="en-US" sz="1135" dirty="0">
                <a:solidFill>
                  <a:srgbClr val="E3B341"/>
                </a:solidFill>
                <a:latin typeface="Inter" pitchFamily="34" charset="0"/>
                <a:ea typeface="Inter" pitchFamily="34" charset="-122"/>
                <a:cs typeface="Inter" pitchFamily="34" charset="-120"/>
              </a:rPr>
              <a:t> "ROT13 is just Caesar with K=13. It's so popular in CTFs that it has its own name. Applying it twice returns the original text!"</a:t>
            </a:r>
            <a:endParaRPr lang="en-US" sz="1135" dirty="0"/>
          </a:p>
        </p:txBody>
      </p:sp>
      <p:grpSp>
        <p:nvGrpSpPr>
          <p:cNvPr id="86" name="Group 2"/>
          <p:cNvGrpSpPr/>
          <p:nvPr/>
        </p:nvGrpSpPr>
        <p:grpSpPr>
          <a:xfrm rot="0">
            <a:off x="294640" y="194310"/>
            <a:ext cx="789305" cy="299720"/>
            <a:chOff x="0" y="0"/>
            <a:chExt cx="341337" cy="102463"/>
          </a:xfrm>
        </p:grpSpPr>
        <p:sp>
          <p:nvSpPr>
            <p:cNvPr id="87"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88"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89" name="Group 5"/>
          <p:cNvGrpSpPr/>
          <p:nvPr/>
        </p:nvGrpSpPr>
        <p:grpSpPr>
          <a:xfrm rot="0">
            <a:off x="822325" y="209550"/>
            <a:ext cx="220980" cy="246380"/>
            <a:chOff x="0" y="0"/>
            <a:chExt cx="812800" cy="812800"/>
          </a:xfrm>
        </p:grpSpPr>
        <p:sp>
          <p:nvSpPr>
            <p:cNvPr id="90"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91"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92"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100" name="AutoShape 13"/>
          <p:cNvSpPr/>
          <p:nvPr/>
        </p:nvSpPr>
        <p:spPr>
          <a:xfrm>
            <a:off x="411480" y="6838950"/>
            <a:ext cx="11366500" cy="16510"/>
          </a:xfrm>
          <a:prstGeom prst="line">
            <a:avLst/>
          </a:prstGeom>
          <a:ln w="19050" cap="flat">
            <a:solidFill>
              <a:schemeClr val="bg1"/>
            </a:solidFill>
            <a:prstDash val="solid"/>
            <a:headEnd type="none" w="sm" len="sm"/>
            <a:tailEnd type="none" w="sm" len="sm"/>
          </a:ln>
        </p:spPr>
      </p:sp>
      <p:sp>
        <p:nvSpPr>
          <p:cNvPr id="101" name="TextBox 21"/>
          <p:cNvSpPr txBox="1"/>
          <p:nvPr/>
        </p:nvSpPr>
        <p:spPr>
          <a:xfrm>
            <a:off x="4756785" y="678180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7536656"/>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41 | EWUCSC</a:t>
            </a:r>
            <a:endParaRPr lang="en-US" sz="1265" dirty="0"/>
          </a:p>
        </p:txBody>
      </p:sp>
      <p:sp>
        <p:nvSpPr>
          <p:cNvPr id="7" name="Text 4"/>
          <p:cNvSpPr/>
          <p:nvPr/>
        </p:nvSpPr>
        <p:spPr>
          <a:xfrm>
            <a:off x="381000" y="952500"/>
            <a:ext cx="602672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How to Break It: Frequency Analysis</a:t>
            </a:r>
            <a:endParaRPr lang="en-US" sz="2800" dirty="0"/>
          </a:p>
        </p:txBody>
      </p:sp>
      <p:sp>
        <p:nvSpPr>
          <p:cNvPr id="8" name="Text 5"/>
          <p:cNvSpPr/>
          <p:nvPr/>
        </p:nvSpPr>
        <p:spPr>
          <a:xfrm>
            <a:off x="381000" y="2438400"/>
            <a:ext cx="6026720" cy="389255"/>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Inter" pitchFamily="34" charset="0"/>
                <a:ea typeface="Inter" pitchFamily="34" charset="-122"/>
                <a:cs typeface="Inter" pitchFamily="34" charset="-120"/>
              </a:rPr>
              <a:t>In English, letters don't appear equally. 'E' is the most common (12.7%), followed by 'T' and 'A'. Caesar shifts the entire distribution, but the </a:t>
            </a:r>
            <a:r>
              <a:rPr lang="en-US" sz="1200" b="1" dirty="0">
                <a:solidFill>
                  <a:srgbClr val="8B949E"/>
                </a:solidFill>
                <a:latin typeface="Inter" pitchFamily="34" charset="0"/>
                <a:ea typeface="Inter" pitchFamily="34" charset="-122"/>
                <a:cs typeface="Inter" pitchFamily="34" charset="-120"/>
              </a:rPr>
              <a:t>shape</a:t>
            </a:r>
            <a:r>
              <a:rPr lang="en-US" sz="1265" dirty="0">
                <a:solidFill>
                  <a:srgbClr val="8B949E"/>
                </a:solidFill>
                <a:latin typeface="Inter" pitchFamily="34" charset="0"/>
                <a:ea typeface="Inter" pitchFamily="34" charset="-122"/>
                <a:cs typeface="Inter" pitchFamily="34" charset="-120"/>
              </a:rPr>
              <a:t> stays the same.</a:t>
            </a:r>
            <a:endParaRPr lang="en-US" sz="1265" dirty="0"/>
          </a:p>
        </p:txBody>
      </p:sp>
      <p:sp>
        <p:nvSpPr>
          <p:cNvPr id="9" name="Shape 6"/>
          <p:cNvSpPr/>
          <p:nvPr/>
        </p:nvSpPr>
        <p:spPr>
          <a:xfrm>
            <a:off x="381000" y="3345656"/>
            <a:ext cx="6026720" cy="3810000"/>
          </a:xfrm>
          <a:prstGeom prst="rect">
            <a:avLst/>
          </a:prstGeom>
          <a:solidFill>
            <a:srgbClr val="161B22"/>
          </a:solidFill>
          <a:ln w="9144">
            <a:solidFill>
              <a:srgbClr val="30363D"/>
            </a:solidFill>
            <a:prstDash val="solid"/>
          </a:ln>
        </p:spPr>
      </p:sp>
      <p:pic>
        <p:nvPicPr>
          <p:cNvPr id="10" name="Image 1" descr="preencoded.png"/>
          <p:cNvPicPr>
            <a:picLocks noChangeAspect="1"/>
          </p:cNvPicPr>
          <p:nvPr/>
        </p:nvPicPr>
        <p:blipFill>
          <a:blip r:embed="rId2"/>
          <a:stretch>
            <a:fillRect/>
          </a:stretch>
        </p:blipFill>
        <p:spPr>
          <a:xfrm>
            <a:off x="571500" y="3536156"/>
            <a:ext cx="5624512" cy="3409951"/>
          </a:xfrm>
          <a:prstGeom prst="rect">
            <a:avLst/>
          </a:prstGeom>
        </p:spPr>
      </p:pic>
      <p:sp>
        <p:nvSpPr>
          <p:cNvPr id="11" name="Shape 7"/>
          <p:cNvSpPr/>
          <p:nvPr/>
        </p:nvSpPr>
        <p:spPr>
          <a:xfrm>
            <a:off x="6788720" y="952500"/>
            <a:ext cx="5022280" cy="5062537"/>
          </a:xfrm>
          <a:prstGeom prst="rect">
            <a:avLst/>
          </a:prstGeom>
          <a:solidFill>
            <a:srgbClr val="000000"/>
          </a:solidFill>
          <a:ln w="9144">
            <a:solidFill>
              <a:srgbClr val="30363D"/>
            </a:solidFill>
            <a:prstDash val="solid"/>
          </a:ln>
        </p:spPr>
      </p:sp>
      <p:sp>
        <p:nvSpPr>
          <p:cNvPr id="12" name="Text 8"/>
          <p:cNvSpPr/>
          <p:nvPr/>
        </p:nvSpPr>
        <p:spPr>
          <a:xfrm>
            <a:off x="6979220" y="1143000"/>
            <a:ext cx="4641280" cy="174625"/>
          </a:xfrm>
          <a:prstGeom prst="rect">
            <a:avLst/>
          </a:prstGeom>
          <a:noFill/>
        </p:spPr>
        <p:txBody>
          <a:bodyPr wrap="square" lIns="0" tIns="0" rIns="0" bIns="0" rtlCol="0" anchor="t">
            <a:spAutoFit/>
          </a:bodyPr>
          <a:lstStyle/>
          <a:p>
            <a:pPr marL="0" indent="0" algn="l">
              <a:buNone/>
            </a:pPr>
            <a:r>
              <a:rPr lang="en-US" sz="1135" dirty="0">
                <a:solidFill>
                  <a:srgbClr val="8B949E"/>
                </a:solidFill>
                <a:latin typeface="JetBrains Mono Medium" pitchFamily="34" charset="0"/>
                <a:ea typeface="JetBrains Mono Medium" pitchFamily="34" charset="-122"/>
                <a:cs typeface="JetBrains Mono Medium" pitchFamily="34" charset="-120"/>
              </a:rPr>
              <a:t># Brute Forcing "KHOOR ZRUOG"</a:t>
            </a:r>
            <a:endParaRPr lang="en-US" sz="1135" dirty="0"/>
          </a:p>
        </p:txBody>
      </p:sp>
      <p:sp>
        <p:nvSpPr>
          <p:cNvPr id="13" name="Text 9"/>
          <p:cNvSpPr/>
          <p:nvPr/>
        </p:nvSpPr>
        <p:spPr>
          <a:xfrm>
            <a:off x="6979220" y="1485900"/>
            <a:ext cx="4641280"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Shift 01: LIPPS ASVPH</a:t>
            </a:r>
            <a:endParaRPr lang="en-US" sz="1135" dirty="0"/>
          </a:p>
        </p:txBody>
      </p:sp>
      <p:sp>
        <p:nvSpPr>
          <p:cNvPr id="14" name="Text 10"/>
          <p:cNvSpPr/>
          <p:nvPr/>
        </p:nvSpPr>
        <p:spPr>
          <a:xfrm>
            <a:off x="6979220" y="1733551"/>
            <a:ext cx="4641280"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Shift 02: MJQQT BTWQI</a:t>
            </a:r>
            <a:endParaRPr lang="en-US" sz="1135" dirty="0"/>
          </a:p>
        </p:txBody>
      </p:sp>
      <p:sp>
        <p:nvSpPr>
          <p:cNvPr id="15" name="Shape 11"/>
          <p:cNvSpPr/>
          <p:nvPr/>
        </p:nvSpPr>
        <p:spPr>
          <a:xfrm>
            <a:off x="6979220" y="1981200"/>
            <a:ext cx="4641280" cy="238125"/>
          </a:xfrm>
          <a:prstGeom prst="rect">
            <a:avLst/>
          </a:prstGeom>
          <a:solidFill>
            <a:srgbClr val="00FF9C">
              <a:alpha val="10000"/>
            </a:srgbClr>
          </a:solidFill>
        </p:spPr>
      </p:sp>
      <p:sp>
        <p:nvSpPr>
          <p:cNvPr id="16" name="Text 12"/>
          <p:cNvSpPr/>
          <p:nvPr/>
        </p:nvSpPr>
        <p:spPr>
          <a:xfrm>
            <a:off x="6979220" y="1981200"/>
            <a:ext cx="4641280" cy="219075"/>
          </a:xfrm>
          <a:prstGeom prst="rect">
            <a:avLst/>
          </a:prstGeom>
          <a:noFill/>
        </p:spPr>
        <p:txBody>
          <a:bodyPr wrap="square" lIns="56726" tIns="22690" rIns="56726" bIns="22690" rtlCol="0" anchor="t">
            <a:spAutoFit/>
          </a:bodyPr>
          <a:lstStyle/>
          <a:p>
            <a:pPr marL="0" indent="0" algn="l">
              <a:buNone/>
            </a:pPr>
            <a:r>
              <a:rPr lang="en-US" sz="1135" dirty="0">
                <a:solidFill>
                  <a:srgbClr val="00FF9C"/>
                </a:solidFill>
                <a:latin typeface="JetBrains Mono Medium" pitchFamily="34" charset="0"/>
                <a:ea typeface="JetBrains Mono Medium" pitchFamily="34" charset="-122"/>
                <a:cs typeface="JetBrains Mono Medium" pitchFamily="34" charset="-120"/>
              </a:rPr>
              <a:t>Shift 03: HELLO WORLD</a:t>
            </a:r>
            <a:endParaRPr lang="en-US" sz="1135" dirty="0"/>
          </a:p>
        </p:txBody>
      </p:sp>
      <p:sp>
        <p:nvSpPr>
          <p:cNvPr id="17" name="Text 13"/>
          <p:cNvSpPr/>
          <p:nvPr/>
        </p:nvSpPr>
        <p:spPr>
          <a:xfrm>
            <a:off x="6979220" y="2266951"/>
            <a:ext cx="4641280"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Shift 04: IFMMP XPSME</a:t>
            </a:r>
            <a:endParaRPr lang="en-US" sz="1135" dirty="0"/>
          </a:p>
        </p:txBody>
      </p:sp>
      <p:sp>
        <p:nvSpPr>
          <p:cNvPr id="18" name="Text 14"/>
          <p:cNvSpPr/>
          <p:nvPr/>
        </p:nvSpPr>
        <p:spPr>
          <a:xfrm>
            <a:off x="6979220" y="2514600"/>
            <a:ext cx="4641280"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Shift 05: JGNNQ YQTNF</a:t>
            </a:r>
            <a:endParaRPr lang="en-US" sz="1135" dirty="0"/>
          </a:p>
        </p:txBody>
      </p:sp>
      <p:sp>
        <p:nvSpPr>
          <p:cNvPr id="19" name="Text 15"/>
          <p:cNvSpPr/>
          <p:nvPr/>
        </p:nvSpPr>
        <p:spPr>
          <a:xfrm>
            <a:off x="6979220" y="2762251"/>
            <a:ext cx="4641280"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Shift 06: KHOOR ZRUOG</a:t>
            </a:r>
            <a:endParaRPr lang="en-US" sz="1135" dirty="0"/>
          </a:p>
        </p:txBody>
      </p:sp>
      <p:sp>
        <p:nvSpPr>
          <p:cNvPr id="20" name="Text 16"/>
          <p:cNvSpPr/>
          <p:nvPr/>
        </p:nvSpPr>
        <p:spPr>
          <a:xfrm>
            <a:off x="6979220" y="3057525"/>
            <a:ext cx="4641280" cy="174625"/>
          </a:xfrm>
          <a:prstGeom prst="rect">
            <a:avLst/>
          </a:prstGeom>
          <a:noFill/>
        </p:spPr>
        <p:txBody>
          <a:bodyPr wrap="square" lIns="0" tIns="0" rIns="0" bIns="0" rtlCol="0" anchor="t">
            <a:spAutoFit/>
          </a:bodyPr>
          <a:lstStyle/>
          <a:p>
            <a:pPr marL="0" indent="0" algn="l">
              <a:buNone/>
            </a:pPr>
            <a:r>
              <a:rPr lang="en-US" sz="1135" dirty="0">
                <a:solidFill>
                  <a:srgbClr val="8B949E"/>
                </a:solidFill>
                <a:latin typeface="JetBrains Mono Medium" pitchFamily="34" charset="0"/>
                <a:ea typeface="JetBrains Mono Medium" pitchFamily="34" charset="-122"/>
                <a:cs typeface="JetBrains Mono Medium" pitchFamily="34" charset="-120"/>
              </a:rPr>
              <a:t>... 19 more attempts</a:t>
            </a:r>
            <a:endParaRPr lang="en-US" sz="1135" dirty="0"/>
          </a:p>
        </p:txBody>
      </p:sp>
      <p:sp>
        <p:nvSpPr>
          <p:cNvPr id="21" name="Shape 17"/>
          <p:cNvSpPr/>
          <p:nvPr/>
        </p:nvSpPr>
        <p:spPr>
          <a:xfrm>
            <a:off x="6788720" y="6205537"/>
            <a:ext cx="5022280" cy="950119"/>
          </a:xfrm>
          <a:prstGeom prst="rect">
            <a:avLst/>
          </a:prstGeom>
          <a:solidFill>
            <a:srgbClr val="E3B341">
              <a:alpha val="10000"/>
            </a:srgbClr>
          </a:solidFill>
          <a:ln w="9144">
            <a:solidFill>
              <a:srgbClr val="E3B341"/>
            </a:solidFill>
            <a:prstDash val="solid"/>
          </a:ln>
        </p:spPr>
      </p:sp>
      <p:pic>
        <p:nvPicPr>
          <p:cNvPr id="22" name="Image 2" descr="preencoded.png"/>
          <p:cNvPicPr>
            <a:picLocks noChangeAspect="1"/>
          </p:cNvPicPr>
          <p:nvPr/>
        </p:nvPicPr>
        <p:blipFill>
          <a:blip r:embed="rId3"/>
          <a:stretch>
            <a:fillRect/>
          </a:stretch>
        </p:blipFill>
        <p:spPr>
          <a:xfrm>
            <a:off x="6979220" y="6575821"/>
            <a:ext cx="228600" cy="228600"/>
          </a:xfrm>
          <a:prstGeom prst="rect">
            <a:avLst/>
          </a:prstGeom>
        </p:spPr>
      </p:pic>
      <p:sp>
        <p:nvSpPr>
          <p:cNvPr id="23" name="Text 18"/>
          <p:cNvSpPr/>
          <p:nvPr/>
        </p:nvSpPr>
        <p:spPr>
          <a:xfrm>
            <a:off x="7350696" y="6415088"/>
            <a:ext cx="4269804" cy="525145"/>
          </a:xfrm>
          <a:prstGeom prst="rect">
            <a:avLst/>
          </a:prstGeom>
          <a:noFill/>
        </p:spPr>
        <p:txBody>
          <a:bodyPr wrap="square" lIns="0" tIns="0" rIns="0" bIns="0" rtlCol="0" anchor="t">
            <a:spAutoFit/>
          </a:bodyPr>
          <a:lstStyle/>
          <a:p>
            <a:pPr marL="0" indent="0" algn="l">
              <a:buNone/>
            </a:pPr>
            <a:r>
              <a:rPr lang="en-US" sz="1065" b="1" dirty="0">
                <a:solidFill>
                  <a:srgbClr val="E3B341"/>
                </a:solidFill>
                <a:latin typeface="Inter" pitchFamily="34" charset="0"/>
                <a:ea typeface="Inter" pitchFamily="34" charset="-122"/>
                <a:cs typeface="Inter" pitchFamily="34" charset="-120"/>
              </a:rPr>
              <a:t>CTF Tool: CyberChef</a:t>
            </a:r>
            <a:r>
              <a:rPr lang="en-US" sz="1135" dirty="0">
                <a:solidFill>
                  <a:srgbClr val="E3B341"/>
                </a:solidFill>
                <a:latin typeface="Inter" pitchFamily="34" charset="0"/>
                <a:ea typeface="Inter" pitchFamily="34" charset="-122"/>
                <a:cs typeface="Inter" pitchFamily="34" charset="-120"/>
              </a:rPr>
              <a:t>
The "ROT Brute Force" operation tries all 25 keys and highlights the most likely English result.</a:t>
            </a:r>
            <a:endParaRPr lang="en-US" sz="113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719328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713613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5" name="Text 2"/>
          <p:cNvSpPr/>
          <p:nvPr/>
        </p:nvSpPr>
        <p:spPr>
          <a:xfrm>
            <a:off x="381000" y="172640"/>
            <a:ext cx="2559844" cy="194310"/>
          </a:xfrm>
          <a:prstGeom prst="rect">
            <a:avLst/>
          </a:prstGeom>
          <a:noFill/>
        </p:spPr>
        <p:txBody>
          <a:bodyPr wrap="square" lIns="0" tIns="0" rIns="0" bIns="0" rtlCol="0" anchor="t">
            <a:spAutoFit/>
          </a:bodyPr>
          <a:lstStyle/>
          <a:p>
            <a:pPr marL="0" indent="0" algn="l">
              <a:buNone/>
            </a:pPr>
            <a:endParaRPr lang="en-US" sz="1265" dirty="0"/>
          </a:p>
        </p:txBody>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42 | EWUCSC</a:t>
            </a:r>
            <a:endParaRPr lang="en-US" sz="1265" dirty="0"/>
          </a:p>
        </p:txBody>
      </p:sp>
      <p:sp>
        <p:nvSpPr>
          <p:cNvPr id="7" name="Shape 4"/>
          <p:cNvSpPr/>
          <p:nvPr/>
        </p:nvSpPr>
        <p:spPr>
          <a:xfrm>
            <a:off x="190500" y="762000"/>
            <a:ext cx="4224561" cy="3644131"/>
          </a:xfrm>
          <a:prstGeom prst="rect">
            <a:avLst/>
          </a:prstGeom>
          <a:solidFill>
            <a:srgbClr val="161B22"/>
          </a:solidFill>
          <a:ln w="9144">
            <a:solidFill>
              <a:srgbClr val="30363D"/>
            </a:solidFill>
            <a:prstDash val="solid"/>
          </a:ln>
        </p:spPr>
      </p:sp>
      <p:sp>
        <p:nvSpPr>
          <p:cNvPr id="8" name="Text 5"/>
          <p:cNvSpPr/>
          <p:nvPr/>
        </p:nvSpPr>
        <p:spPr>
          <a:xfrm>
            <a:off x="361951" y="933451"/>
            <a:ext cx="3874740" cy="1654175"/>
          </a:xfrm>
          <a:prstGeom prst="rect">
            <a:avLst/>
          </a:prstGeom>
          <a:noFill/>
        </p:spPr>
        <p:txBody>
          <a:bodyPr wrap="square" lIns="0" tIns="0" rIns="0" bIns="0" rtlCol="0" anchor="t">
            <a:spAutoFit/>
          </a:bodyPr>
          <a:lstStyle/>
          <a:p>
            <a:pPr marL="0" indent="0" algn="l">
              <a:lnSpc>
                <a:spcPct val="128000"/>
              </a:lnSpc>
              <a:buNone/>
            </a:pPr>
            <a:r>
              <a:rPr lang="en-US" sz="2800" b="1" dirty="0">
                <a:solidFill>
                  <a:srgbClr val="00FF9C"/>
                </a:solidFill>
                <a:latin typeface="Poppins SemiBold" pitchFamily="34" charset="0"/>
                <a:ea typeface="Poppins SemiBold" pitchFamily="34" charset="-122"/>
                <a:cs typeface="Poppins SemiBold" pitchFamily="34" charset="-120"/>
              </a:rPr>
              <a:t>Vigenère Cipher: Caesar's Stronger Cousin</a:t>
            </a:r>
            <a:endParaRPr lang="en-US" sz="2800" dirty="0"/>
          </a:p>
        </p:txBody>
      </p:sp>
      <p:sp>
        <p:nvSpPr>
          <p:cNvPr id="9" name="Text 6"/>
          <p:cNvSpPr/>
          <p:nvPr/>
        </p:nvSpPr>
        <p:spPr>
          <a:xfrm>
            <a:off x="361951" y="2996543"/>
            <a:ext cx="3874740" cy="897255"/>
          </a:xfrm>
          <a:prstGeom prst="rect">
            <a:avLst/>
          </a:prstGeom>
          <a:noFill/>
        </p:spPr>
        <p:txBody>
          <a:bodyPr wrap="square" lIns="0" tIns="0" rIns="0" bIns="0" rtlCol="0" anchor="t">
            <a:spAutoFit/>
          </a:bodyPr>
          <a:lstStyle/>
          <a:p>
            <a:pPr marL="0" indent="0" algn="l">
              <a:lnSpc>
                <a:spcPct val="128000"/>
              </a:lnSpc>
              <a:buNone/>
            </a:pPr>
            <a:r>
              <a:rPr lang="en-US" sz="1135" dirty="0">
                <a:solidFill>
                  <a:srgbClr val="E6EDF3"/>
                </a:solidFill>
                <a:latin typeface="Inter" pitchFamily="34" charset="0"/>
                <a:ea typeface="Inter" pitchFamily="34" charset="-122"/>
                <a:cs typeface="Inter" pitchFamily="34" charset="-120"/>
              </a:rPr>
              <a:t>Caesar was broken too easily. In 1553, Giovan Battista Bellaso invented a stronger version: instead of one shift number, use a </a:t>
            </a:r>
            <a:r>
              <a:rPr lang="en-US" sz="1065" b="1" dirty="0">
                <a:solidFill>
                  <a:srgbClr val="E6EDF3"/>
                </a:solidFill>
                <a:latin typeface="Inter" pitchFamily="34" charset="0"/>
                <a:ea typeface="Inter" pitchFamily="34" charset="-122"/>
                <a:cs typeface="Inter" pitchFamily="34" charset="-120"/>
              </a:rPr>
              <a:t>KEYWORD</a:t>
            </a:r>
            <a:r>
              <a:rPr lang="en-US" sz="1135" dirty="0">
                <a:solidFill>
                  <a:srgbClr val="E6EDF3"/>
                </a:solidFill>
                <a:latin typeface="Inter" pitchFamily="34" charset="0"/>
                <a:ea typeface="Inter" pitchFamily="34" charset="-122"/>
                <a:cs typeface="Inter" pitchFamily="34" charset="-120"/>
              </a:rPr>
              <a:t>. Each letter of the keyword gives a different shift, making it a </a:t>
            </a:r>
            <a:r>
              <a:rPr lang="en-US" sz="1135" i="1" dirty="0">
                <a:solidFill>
                  <a:srgbClr val="E6EDF3"/>
                </a:solidFill>
                <a:latin typeface="Inter" pitchFamily="34" charset="0"/>
                <a:ea typeface="Inter" pitchFamily="34" charset="-122"/>
                <a:cs typeface="Inter" pitchFamily="34" charset="-120"/>
              </a:rPr>
              <a:t>polyalphabetic</a:t>
            </a:r>
            <a:r>
              <a:rPr lang="en-US" sz="1135" dirty="0">
                <a:solidFill>
                  <a:srgbClr val="E6EDF3"/>
                </a:solidFill>
                <a:latin typeface="Inter" pitchFamily="34" charset="0"/>
                <a:ea typeface="Inter" pitchFamily="34" charset="-122"/>
                <a:cs typeface="Inter" pitchFamily="34" charset="-120"/>
              </a:rPr>
              <a:t> substitution cipher.</a:t>
            </a:r>
            <a:endParaRPr lang="en-US" sz="1135" dirty="0"/>
          </a:p>
        </p:txBody>
      </p:sp>
      <p:sp>
        <p:nvSpPr>
          <p:cNvPr id="10" name="Shape 7"/>
          <p:cNvSpPr/>
          <p:nvPr/>
        </p:nvSpPr>
        <p:spPr>
          <a:xfrm>
            <a:off x="4598640" y="762000"/>
            <a:ext cx="4636293" cy="3907631"/>
          </a:xfrm>
          <a:prstGeom prst="rect">
            <a:avLst/>
          </a:prstGeom>
          <a:solidFill>
            <a:srgbClr val="161B22"/>
          </a:solidFill>
          <a:ln w="9144">
            <a:solidFill>
              <a:srgbClr val="30363D"/>
            </a:solidFill>
            <a:prstDash val="solid"/>
          </a:ln>
        </p:spPr>
      </p:sp>
      <p:pic>
        <p:nvPicPr>
          <p:cNvPr id="11" name="Image 1" descr="preencoded.png"/>
          <p:cNvPicPr>
            <a:picLocks noChangeAspect="1"/>
          </p:cNvPicPr>
          <p:nvPr/>
        </p:nvPicPr>
        <p:blipFill>
          <a:blip r:embed="rId2"/>
          <a:stretch>
            <a:fillRect/>
          </a:stretch>
        </p:blipFill>
        <p:spPr>
          <a:xfrm>
            <a:off x="4782183" y="985837"/>
            <a:ext cx="171451" cy="228600"/>
          </a:xfrm>
          <a:prstGeom prst="rect">
            <a:avLst/>
          </a:prstGeom>
        </p:spPr>
      </p:pic>
      <p:sp>
        <p:nvSpPr>
          <p:cNvPr id="12" name="Text 8"/>
          <p:cNvSpPr/>
          <p:nvPr/>
        </p:nvSpPr>
        <p:spPr>
          <a:xfrm>
            <a:off x="4953632" y="945356"/>
            <a:ext cx="3495675" cy="245745"/>
          </a:xfrm>
          <a:prstGeom prst="rect">
            <a:avLst/>
          </a:prstGeom>
          <a:noFill/>
        </p:spPr>
        <p:txBody>
          <a:bodyPr wrap="square" lIns="0" tIns="0" rIns="0" bIns="0" rtlCol="0" anchor="t">
            <a:spAutoFit/>
          </a:bodyPr>
          <a:lstStyle/>
          <a:p>
            <a:pPr marL="0" indent="0" algn="l">
              <a:buNone/>
            </a:pPr>
            <a:r>
              <a:rPr lang="en-US" sz="1600" b="1" dirty="0">
                <a:solidFill>
                  <a:srgbClr val="E3B341"/>
                </a:solidFill>
                <a:latin typeface="Poppins SemiBold" pitchFamily="34" charset="0"/>
                <a:ea typeface="Poppins SemiBold" pitchFamily="34" charset="-122"/>
                <a:cs typeface="Poppins SemiBold" pitchFamily="34" charset="-120"/>
              </a:rPr>
              <a:t>Worked Example: HELLO + KEY</a:t>
            </a:r>
            <a:endParaRPr lang="en-US" sz="1600" dirty="0"/>
          </a:p>
        </p:txBody>
      </p:sp>
      <p:sp>
        <p:nvSpPr>
          <p:cNvPr id="13" name="Text 9"/>
          <p:cNvSpPr/>
          <p:nvPr/>
        </p:nvSpPr>
        <p:spPr>
          <a:xfrm>
            <a:off x="5069679" y="1397635"/>
            <a:ext cx="915670" cy="462280"/>
          </a:xfrm>
          <a:prstGeom prst="rect">
            <a:avLst/>
          </a:prstGeom>
          <a:noFill/>
        </p:spPr>
        <p:txBody>
          <a:bodyPr wrap="none" lIns="113453" tIns="113453" rIns="113453" bIns="113453" rtlCol="0" anchor="ctr">
            <a:spAutoFit/>
          </a:bodyPr>
          <a:lstStyle/>
          <a:p>
            <a:pPr marL="0" indent="0" algn="ctr">
              <a:buNone/>
            </a:pPr>
            <a:r>
              <a:rPr lang="en-US" sz="1535" dirty="0">
                <a:solidFill>
                  <a:srgbClr val="8B949E"/>
                </a:solidFill>
                <a:latin typeface="JetBrains Mono Medium" pitchFamily="34" charset="0"/>
                <a:ea typeface="JetBrains Mono Medium" pitchFamily="34" charset="-122"/>
                <a:cs typeface="JetBrains Mono Medium" pitchFamily="34" charset="-120"/>
              </a:rPr>
              <a:t>Position</a:t>
            </a:r>
            <a:endParaRPr lang="en-US" sz="1535" dirty="0"/>
          </a:p>
        </p:txBody>
      </p:sp>
      <p:sp>
        <p:nvSpPr>
          <p:cNvPr id="14" name="Text 10"/>
          <p:cNvSpPr/>
          <p:nvPr/>
        </p:nvSpPr>
        <p:spPr>
          <a:xfrm>
            <a:off x="6412942" y="1397635"/>
            <a:ext cx="327025" cy="462280"/>
          </a:xfrm>
          <a:prstGeom prst="rect">
            <a:avLst/>
          </a:prstGeom>
          <a:noFill/>
        </p:spPr>
        <p:txBody>
          <a:bodyPr wrap="none" lIns="113453" tIns="113453" rIns="113453" bIns="113453" rtlCol="0" anchor="ctr">
            <a:spAutoFit/>
          </a:bodyPr>
          <a:lstStyle/>
          <a:p>
            <a:pPr marL="0" indent="0" algn="ctr">
              <a:buNone/>
            </a:pPr>
            <a:r>
              <a:rPr lang="en-US" sz="1535" dirty="0">
                <a:solidFill>
                  <a:srgbClr val="8B949E"/>
                </a:solidFill>
                <a:latin typeface="JetBrains Mono Medium" pitchFamily="34" charset="0"/>
                <a:ea typeface="JetBrains Mono Medium" pitchFamily="34" charset="-122"/>
                <a:cs typeface="JetBrains Mono Medium" pitchFamily="34" charset="-120"/>
              </a:rPr>
              <a:t>1</a:t>
            </a:r>
            <a:endParaRPr lang="en-US" sz="1535" dirty="0"/>
          </a:p>
        </p:txBody>
      </p:sp>
      <p:sp>
        <p:nvSpPr>
          <p:cNvPr id="15" name="Text 11"/>
          <p:cNvSpPr/>
          <p:nvPr/>
        </p:nvSpPr>
        <p:spPr>
          <a:xfrm>
            <a:off x="6957058" y="1397635"/>
            <a:ext cx="327025" cy="462280"/>
          </a:xfrm>
          <a:prstGeom prst="rect">
            <a:avLst/>
          </a:prstGeom>
          <a:noFill/>
        </p:spPr>
        <p:txBody>
          <a:bodyPr wrap="none" lIns="113453" tIns="113453" rIns="113453" bIns="113453" rtlCol="0" anchor="ctr">
            <a:spAutoFit/>
          </a:bodyPr>
          <a:lstStyle/>
          <a:p>
            <a:pPr marL="0" indent="0" algn="ctr">
              <a:buNone/>
            </a:pPr>
            <a:r>
              <a:rPr lang="en-US" sz="1535" dirty="0">
                <a:solidFill>
                  <a:srgbClr val="8B949E"/>
                </a:solidFill>
                <a:latin typeface="JetBrains Mono Medium" pitchFamily="34" charset="0"/>
                <a:ea typeface="JetBrains Mono Medium" pitchFamily="34" charset="-122"/>
                <a:cs typeface="JetBrains Mono Medium" pitchFamily="34" charset="-120"/>
              </a:rPr>
              <a:t>2</a:t>
            </a:r>
            <a:endParaRPr lang="en-US" sz="1535" dirty="0"/>
          </a:p>
        </p:txBody>
      </p:sp>
      <p:sp>
        <p:nvSpPr>
          <p:cNvPr id="16" name="Text 12"/>
          <p:cNvSpPr/>
          <p:nvPr/>
        </p:nvSpPr>
        <p:spPr>
          <a:xfrm>
            <a:off x="7501173" y="1397635"/>
            <a:ext cx="327025" cy="462280"/>
          </a:xfrm>
          <a:prstGeom prst="rect">
            <a:avLst/>
          </a:prstGeom>
          <a:noFill/>
        </p:spPr>
        <p:txBody>
          <a:bodyPr wrap="none" lIns="113453" tIns="113453" rIns="113453" bIns="113453" rtlCol="0" anchor="ctr">
            <a:spAutoFit/>
          </a:bodyPr>
          <a:lstStyle/>
          <a:p>
            <a:pPr marL="0" indent="0" algn="ctr">
              <a:buNone/>
            </a:pPr>
            <a:r>
              <a:rPr lang="en-US" sz="1535" dirty="0">
                <a:solidFill>
                  <a:srgbClr val="8B949E"/>
                </a:solidFill>
                <a:latin typeface="JetBrains Mono Medium" pitchFamily="34" charset="0"/>
                <a:ea typeface="JetBrains Mono Medium" pitchFamily="34" charset="-122"/>
                <a:cs typeface="JetBrains Mono Medium" pitchFamily="34" charset="-120"/>
              </a:rPr>
              <a:t>3</a:t>
            </a:r>
            <a:endParaRPr lang="en-US" sz="1535" dirty="0"/>
          </a:p>
        </p:txBody>
      </p:sp>
      <p:sp>
        <p:nvSpPr>
          <p:cNvPr id="17" name="Text 13"/>
          <p:cNvSpPr/>
          <p:nvPr/>
        </p:nvSpPr>
        <p:spPr>
          <a:xfrm>
            <a:off x="8108391" y="1397635"/>
            <a:ext cx="327025" cy="462280"/>
          </a:xfrm>
          <a:prstGeom prst="rect">
            <a:avLst/>
          </a:prstGeom>
          <a:noFill/>
        </p:spPr>
        <p:txBody>
          <a:bodyPr wrap="none" lIns="113453" tIns="113453" rIns="113453" bIns="113453" rtlCol="0" anchor="ctr">
            <a:spAutoFit/>
          </a:bodyPr>
          <a:lstStyle/>
          <a:p>
            <a:pPr marL="0" indent="0" algn="ctr">
              <a:buNone/>
            </a:pPr>
            <a:r>
              <a:rPr lang="en-US" sz="1535" dirty="0">
                <a:solidFill>
                  <a:srgbClr val="8B949E"/>
                </a:solidFill>
                <a:latin typeface="JetBrains Mono Medium" pitchFamily="34" charset="0"/>
                <a:ea typeface="JetBrains Mono Medium" pitchFamily="34" charset="-122"/>
                <a:cs typeface="JetBrains Mono Medium" pitchFamily="34" charset="-120"/>
              </a:rPr>
              <a:t>4</a:t>
            </a:r>
            <a:endParaRPr lang="en-US" sz="1535" dirty="0"/>
          </a:p>
        </p:txBody>
      </p:sp>
      <p:sp>
        <p:nvSpPr>
          <p:cNvPr id="18" name="Text 14"/>
          <p:cNvSpPr/>
          <p:nvPr/>
        </p:nvSpPr>
        <p:spPr>
          <a:xfrm>
            <a:off x="8652824" y="1397635"/>
            <a:ext cx="326390" cy="462280"/>
          </a:xfrm>
          <a:prstGeom prst="rect">
            <a:avLst/>
          </a:prstGeom>
          <a:noFill/>
        </p:spPr>
        <p:txBody>
          <a:bodyPr wrap="none" lIns="113453" tIns="113453" rIns="113453" bIns="113453" rtlCol="0" anchor="ctr">
            <a:spAutoFit/>
          </a:bodyPr>
          <a:lstStyle/>
          <a:p>
            <a:pPr marL="0" indent="0" algn="ctr">
              <a:buNone/>
            </a:pPr>
            <a:r>
              <a:rPr lang="en-US" sz="1535" dirty="0">
                <a:solidFill>
                  <a:srgbClr val="8B949E"/>
                </a:solidFill>
                <a:latin typeface="JetBrains Mono Medium" pitchFamily="34" charset="0"/>
                <a:ea typeface="JetBrains Mono Medium" pitchFamily="34" charset="-122"/>
                <a:cs typeface="JetBrains Mono Medium" pitchFamily="34" charset="-120"/>
              </a:rPr>
              <a:t>5</a:t>
            </a:r>
            <a:endParaRPr lang="en-US" sz="1535" dirty="0"/>
          </a:p>
        </p:txBody>
      </p:sp>
      <p:sp>
        <p:nvSpPr>
          <p:cNvPr id="19" name="Text 15"/>
          <p:cNvSpPr/>
          <p:nvPr/>
        </p:nvSpPr>
        <p:spPr>
          <a:xfrm>
            <a:off x="5012529" y="1867694"/>
            <a:ext cx="1029970" cy="508000"/>
          </a:xfrm>
          <a:prstGeom prst="rect">
            <a:avLst/>
          </a:prstGeom>
          <a:noFill/>
        </p:spPr>
        <p:txBody>
          <a:bodyPr wrap="none" lIns="136144" tIns="136144" rIns="136144" bIns="136144" rtlCol="0" anchor="ctr">
            <a:spAutoFit/>
          </a:bodyPr>
          <a:lstStyle/>
          <a:p>
            <a:pPr marL="0" indent="0" algn="ctr">
              <a:buNone/>
            </a:pPr>
            <a:r>
              <a:rPr lang="en-US" sz="1535" dirty="0">
                <a:solidFill>
                  <a:srgbClr val="8B949E"/>
                </a:solidFill>
                <a:latin typeface="JetBrains Mono Medium" pitchFamily="34" charset="0"/>
                <a:ea typeface="JetBrains Mono Medium" pitchFamily="34" charset="-122"/>
                <a:cs typeface="JetBrains Mono Medium" pitchFamily="34" charset="-120"/>
              </a:rPr>
              <a:t>Plaintext</a:t>
            </a:r>
            <a:endParaRPr lang="en-US" sz="1535" dirty="0"/>
          </a:p>
        </p:txBody>
      </p:sp>
      <p:sp>
        <p:nvSpPr>
          <p:cNvPr id="20" name="Text 16"/>
          <p:cNvSpPr/>
          <p:nvPr/>
        </p:nvSpPr>
        <p:spPr>
          <a:xfrm>
            <a:off x="6374207" y="1867694"/>
            <a:ext cx="404495" cy="508000"/>
          </a:xfrm>
          <a:prstGeom prst="rect">
            <a:avLst/>
          </a:prstGeom>
          <a:noFill/>
        </p:spPr>
        <p:txBody>
          <a:bodyPr wrap="none" lIns="136144" tIns="136144" rIns="136144" bIns="136144" rtlCol="0" anchor="ctr">
            <a:spAutoFit/>
          </a:bodyPr>
          <a:lstStyle/>
          <a:p>
            <a:pPr marL="0" indent="0" algn="ctr">
              <a:buNone/>
            </a:pPr>
            <a:r>
              <a:rPr lang="en-US" sz="1535" dirty="0">
                <a:solidFill>
                  <a:srgbClr val="E6EDF3"/>
                </a:solidFill>
                <a:latin typeface="JetBrains Mono Medium" pitchFamily="34" charset="0"/>
                <a:ea typeface="JetBrains Mono Medium" pitchFamily="34" charset="-122"/>
                <a:cs typeface="JetBrains Mono Medium" pitchFamily="34" charset="-120"/>
              </a:rPr>
              <a:t>H</a:t>
            </a:r>
            <a:endParaRPr lang="en-US" sz="1535" dirty="0"/>
          </a:p>
        </p:txBody>
      </p:sp>
      <p:sp>
        <p:nvSpPr>
          <p:cNvPr id="21" name="Text 17"/>
          <p:cNvSpPr/>
          <p:nvPr/>
        </p:nvSpPr>
        <p:spPr>
          <a:xfrm>
            <a:off x="6935468" y="1867694"/>
            <a:ext cx="370205" cy="508000"/>
          </a:xfrm>
          <a:prstGeom prst="rect">
            <a:avLst/>
          </a:prstGeom>
          <a:noFill/>
        </p:spPr>
        <p:txBody>
          <a:bodyPr wrap="none" lIns="136144" tIns="136144" rIns="136144" bIns="136144" rtlCol="0" anchor="ctr">
            <a:spAutoFit/>
          </a:bodyPr>
          <a:lstStyle/>
          <a:p>
            <a:pPr marL="0" indent="0" algn="ctr">
              <a:buNone/>
            </a:pPr>
            <a:r>
              <a:rPr lang="en-US" sz="1535" dirty="0">
                <a:solidFill>
                  <a:srgbClr val="E6EDF3"/>
                </a:solidFill>
                <a:latin typeface="JetBrains Mono Medium" pitchFamily="34" charset="0"/>
                <a:ea typeface="JetBrains Mono Medium" pitchFamily="34" charset="-122"/>
                <a:cs typeface="JetBrains Mono Medium" pitchFamily="34" charset="-120"/>
              </a:rPr>
              <a:t>E</a:t>
            </a:r>
            <a:endParaRPr lang="en-US" sz="1535" dirty="0"/>
          </a:p>
        </p:txBody>
      </p:sp>
      <p:sp>
        <p:nvSpPr>
          <p:cNvPr id="22" name="Text 18"/>
          <p:cNvSpPr/>
          <p:nvPr/>
        </p:nvSpPr>
        <p:spPr>
          <a:xfrm>
            <a:off x="7480853" y="1867694"/>
            <a:ext cx="367665" cy="508000"/>
          </a:xfrm>
          <a:prstGeom prst="rect">
            <a:avLst/>
          </a:prstGeom>
          <a:noFill/>
        </p:spPr>
        <p:txBody>
          <a:bodyPr wrap="none" lIns="136144" tIns="136144" rIns="136144" bIns="136144" rtlCol="0" anchor="ctr">
            <a:spAutoFit/>
          </a:bodyPr>
          <a:lstStyle/>
          <a:p>
            <a:pPr marL="0" indent="0" algn="ctr">
              <a:buNone/>
            </a:pPr>
            <a:r>
              <a:rPr lang="en-US" sz="1535" dirty="0">
                <a:solidFill>
                  <a:srgbClr val="E6EDF3"/>
                </a:solidFill>
                <a:latin typeface="JetBrains Mono Medium" pitchFamily="34" charset="0"/>
                <a:ea typeface="JetBrains Mono Medium" pitchFamily="34" charset="-122"/>
                <a:cs typeface="JetBrains Mono Medium" pitchFamily="34" charset="-120"/>
              </a:rPr>
              <a:t>L</a:t>
            </a:r>
            <a:endParaRPr lang="en-US" sz="1535" dirty="0"/>
          </a:p>
        </p:txBody>
      </p:sp>
      <p:sp>
        <p:nvSpPr>
          <p:cNvPr id="23" name="Text 19"/>
          <p:cNvSpPr/>
          <p:nvPr/>
        </p:nvSpPr>
        <p:spPr>
          <a:xfrm>
            <a:off x="8088071" y="1867694"/>
            <a:ext cx="367665" cy="508000"/>
          </a:xfrm>
          <a:prstGeom prst="rect">
            <a:avLst/>
          </a:prstGeom>
          <a:noFill/>
        </p:spPr>
        <p:txBody>
          <a:bodyPr wrap="none" lIns="136144" tIns="136144" rIns="136144" bIns="136144" rtlCol="0" anchor="ctr">
            <a:spAutoFit/>
          </a:bodyPr>
          <a:lstStyle/>
          <a:p>
            <a:pPr marL="0" indent="0" algn="ctr">
              <a:buNone/>
            </a:pPr>
            <a:r>
              <a:rPr lang="en-US" sz="1535" dirty="0">
                <a:solidFill>
                  <a:srgbClr val="E6EDF3"/>
                </a:solidFill>
                <a:latin typeface="JetBrains Mono Medium" pitchFamily="34" charset="0"/>
                <a:ea typeface="JetBrains Mono Medium" pitchFamily="34" charset="-122"/>
                <a:cs typeface="JetBrains Mono Medium" pitchFamily="34" charset="-120"/>
              </a:rPr>
              <a:t>L</a:t>
            </a:r>
            <a:endParaRPr lang="en-US" sz="1535" dirty="0"/>
          </a:p>
        </p:txBody>
      </p:sp>
      <p:sp>
        <p:nvSpPr>
          <p:cNvPr id="24" name="Text 20"/>
          <p:cNvSpPr/>
          <p:nvPr/>
        </p:nvSpPr>
        <p:spPr>
          <a:xfrm>
            <a:off x="8610597" y="1867694"/>
            <a:ext cx="410845" cy="508000"/>
          </a:xfrm>
          <a:prstGeom prst="rect">
            <a:avLst/>
          </a:prstGeom>
          <a:noFill/>
        </p:spPr>
        <p:txBody>
          <a:bodyPr wrap="none" lIns="136144" tIns="136144" rIns="136144" bIns="136144" rtlCol="0" anchor="ctr">
            <a:spAutoFit/>
          </a:bodyPr>
          <a:lstStyle/>
          <a:p>
            <a:pPr marL="0" indent="0" algn="ctr">
              <a:buNone/>
            </a:pPr>
            <a:r>
              <a:rPr lang="en-US" sz="1535" dirty="0">
                <a:solidFill>
                  <a:srgbClr val="E6EDF3"/>
                </a:solidFill>
                <a:latin typeface="JetBrains Mono Medium" pitchFamily="34" charset="0"/>
                <a:ea typeface="JetBrains Mono Medium" pitchFamily="34" charset="-122"/>
                <a:cs typeface="JetBrains Mono Medium" pitchFamily="34" charset="-120"/>
              </a:rPr>
              <a:t>O</a:t>
            </a:r>
            <a:endParaRPr lang="en-US" sz="1535" dirty="0"/>
          </a:p>
        </p:txBody>
      </p:sp>
      <p:sp>
        <p:nvSpPr>
          <p:cNvPr id="25" name="Text 21"/>
          <p:cNvSpPr/>
          <p:nvPr/>
        </p:nvSpPr>
        <p:spPr>
          <a:xfrm>
            <a:off x="4728684" y="2520157"/>
            <a:ext cx="1597660" cy="508000"/>
          </a:xfrm>
          <a:prstGeom prst="rect">
            <a:avLst/>
          </a:prstGeom>
          <a:noFill/>
        </p:spPr>
        <p:txBody>
          <a:bodyPr wrap="none" lIns="136144" tIns="136144" rIns="136144" bIns="136144" rtlCol="0" anchor="ctr">
            <a:spAutoFit/>
          </a:bodyPr>
          <a:lstStyle/>
          <a:p>
            <a:pPr marL="0" indent="0" algn="ctr">
              <a:buNone/>
            </a:pPr>
            <a:r>
              <a:rPr lang="en-US" sz="1535" dirty="0">
                <a:solidFill>
                  <a:srgbClr val="8B949E"/>
                </a:solidFill>
                <a:latin typeface="JetBrains Mono Medium" pitchFamily="34" charset="0"/>
                <a:ea typeface="JetBrains Mono Medium" pitchFamily="34" charset="-122"/>
                <a:cs typeface="JetBrains Mono Medium" pitchFamily="34" charset="-120"/>
              </a:rPr>
              <a:t>Key (Repeated)</a:t>
            </a:r>
            <a:endParaRPr lang="en-US" sz="1535" dirty="0"/>
          </a:p>
        </p:txBody>
      </p:sp>
      <p:sp>
        <p:nvSpPr>
          <p:cNvPr id="26" name="Text 22"/>
          <p:cNvSpPr/>
          <p:nvPr/>
        </p:nvSpPr>
        <p:spPr>
          <a:xfrm>
            <a:off x="6384050" y="2520157"/>
            <a:ext cx="384810" cy="508000"/>
          </a:xfrm>
          <a:prstGeom prst="rect">
            <a:avLst/>
          </a:prstGeom>
          <a:noFill/>
        </p:spPr>
        <p:txBody>
          <a:bodyPr wrap="none" lIns="136144" tIns="136144" rIns="136144" bIns="136144" rtlCol="0" anchor="ctr">
            <a:spAutoFit/>
          </a:bodyPr>
          <a:lstStyle/>
          <a:p>
            <a:pPr marL="0" indent="0" algn="ctr">
              <a:buNone/>
            </a:pPr>
            <a:r>
              <a:rPr lang="en-US" sz="1535" dirty="0">
                <a:solidFill>
                  <a:srgbClr val="58A6FF"/>
                </a:solidFill>
                <a:latin typeface="JetBrains Mono Medium" pitchFamily="34" charset="0"/>
                <a:ea typeface="JetBrains Mono Medium" pitchFamily="34" charset="-122"/>
                <a:cs typeface="JetBrains Mono Medium" pitchFamily="34" charset="-120"/>
              </a:rPr>
              <a:t>K</a:t>
            </a:r>
            <a:endParaRPr lang="en-US" sz="1535" dirty="0"/>
          </a:p>
        </p:txBody>
      </p:sp>
      <p:sp>
        <p:nvSpPr>
          <p:cNvPr id="27" name="Text 23"/>
          <p:cNvSpPr/>
          <p:nvPr/>
        </p:nvSpPr>
        <p:spPr>
          <a:xfrm>
            <a:off x="6935468" y="2520157"/>
            <a:ext cx="370205" cy="508000"/>
          </a:xfrm>
          <a:prstGeom prst="rect">
            <a:avLst/>
          </a:prstGeom>
          <a:noFill/>
        </p:spPr>
        <p:txBody>
          <a:bodyPr wrap="none" lIns="136144" tIns="136144" rIns="136144" bIns="136144" rtlCol="0" anchor="ctr">
            <a:spAutoFit/>
          </a:bodyPr>
          <a:lstStyle/>
          <a:p>
            <a:pPr marL="0" indent="0" algn="ctr">
              <a:buNone/>
            </a:pPr>
            <a:r>
              <a:rPr lang="en-US" sz="1535" dirty="0">
                <a:solidFill>
                  <a:srgbClr val="58A6FF"/>
                </a:solidFill>
                <a:latin typeface="JetBrains Mono Medium" pitchFamily="34" charset="0"/>
                <a:ea typeface="JetBrains Mono Medium" pitchFamily="34" charset="-122"/>
                <a:cs typeface="JetBrains Mono Medium" pitchFamily="34" charset="-120"/>
              </a:rPr>
              <a:t>E</a:t>
            </a:r>
            <a:endParaRPr lang="en-US" sz="1535" dirty="0"/>
          </a:p>
        </p:txBody>
      </p:sp>
      <p:sp>
        <p:nvSpPr>
          <p:cNvPr id="28" name="Text 24"/>
          <p:cNvSpPr/>
          <p:nvPr/>
        </p:nvSpPr>
        <p:spPr>
          <a:xfrm>
            <a:off x="7476725" y="2520157"/>
            <a:ext cx="375920" cy="508000"/>
          </a:xfrm>
          <a:prstGeom prst="rect">
            <a:avLst/>
          </a:prstGeom>
          <a:noFill/>
        </p:spPr>
        <p:txBody>
          <a:bodyPr wrap="none" lIns="136144" tIns="136144" rIns="136144" bIns="136144" rtlCol="0" anchor="ctr">
            <a:spAutoFit/>
          </a:bodyPr>
          <a:lstStyle/>
          <a:p>
            <a:pPr marL="0" indent="0" algn="ctr">
              <a:buNone/>
            </a:pPr>
            <a:r>
              <a:rPr lang="en-US" sz="1535" dirty="0">
                <a:solidFill>
                  <a:srgbClr val="58A6FF"/>
                </a:solidFill>
                <a:latin typeface="JetBrains Mono Medium" pitchFamily="34" charset="0"/>
                <a:ea typeface="JetBrains Mono Medium" pitchFamily="34" charset="-122"/>
                <a:cs typeface="JetBrains Mono Medium" pitchFamily="34" charset="-120"/>
              </a:rPr>
              <a:t>Y</a:t>
            </a:r>
            <a:endParaRPr lang="en-US" sz="1535" dirty="0"/>
          </a:p>
        </p:txBody>
      </p:sp>
      <p:sp>
        <p:nvSpPr>
          <p:cNvPr id="29" name="Text 25"/>
          <p:cNvSpPr/>
          <p:nvPr/>
        </p:nvSpPr>
        <p:spPr>
          <a:xfrm>
            <a:off x="8079499" y="2520157"/>
            <a:ext cx="384810" cy="508000"/>
          </a:xfrm>
          <a:prstGeom prst="rect">
            <a:avLst/>
          </a:prstGeom>
          <a:noFill/>
        </p:spPr>
        <p:txBody>
          <a:bodyPr wrap="none" lIns="136144" tIns="136144" rIns="136144" bIns="136144" rtlCol="0" anchor="ctr">
            <a:spAutoFit/>
          </a:bodyPr>
          <a:lstStyle/>
          <a:p>
            <a:pPr marL="0" indent="0" algn="ctr">
              <a:buNone/>
            </a:pPr>
            <a:r>
              <a:rPr lang="en-US" sz="1535" dirty="0">
                <a:solidFill>
                  <a:srgbClr val="58A6FF"/>
                </a:solidFill>
                <a:latin typeface="JetBrains Mono Medium" pitchFamily="34" charset="0"/>
                <a:ea typeface="JetBrains Mono Medium" pitchFamily="34" charset="-122"/>
                <a:cs typeface="JetBrains Mono Medium" pitchFamily="34" charset="-120"/>
              </a:rPr>
              <a:t>K</a:t>
            </a:r>
            <a:endParaRPr lang="en-US" sz="1535" dirty="0"/>
          </a:p>
        </p:txBody>
      </p:sp>
      <p:sp>
        <p:nvSpPr>
          <p:cNvPr id="30" name="Text 26"/>
          <p:cNvSpPr/>
          <p:nvPr/>
        </p:nvSpPr>
        <p:spPr>
          <a:xfrm>
            <a:off x="8630917" y="2520157"/>
            <a:ext cx="370205" cy="508000"/>
          </a:xfrm>
          <a:prstGeom prst="rect">
            <a:avLst/>
          </a:prstGeom>
          <a:noFill/>
        </p:spPr>
        <p:txBody>
          <a:bodyPr wrap="none" lIns="136144" tIns="136144" rIns="136144" bIns="136144" rtlCol="0" anchor="ctr">
            <a:spAutoFit/>
          </a:bodyPr>
          <a:lstStyle/>
          <a:p>
            <a:pPr marL="0" indent="0" algn="ctr">
              <a:buNone/>
            </a:pPr>
            <a:r>
              <a:rPr lang="en-US" sz="1535" dirty="0">
                <a:solidFill>
                  <a:srgbClr val="58A6FF"/>
                </a:solidFill>
                <a:latin typeface="JetBrains Mono Medium" pitchFamily="34" charset="0"/>
                <a:ea typeface="JetBrains Mono Medium" pitchFamily="34" charset="-122"/>
                <a:cs typeface="JetBrains Mono Medium" pitchFamily="34" charset="-120"/>
              </a:rPr>
              <a:t>E</a:t>
            </a:r>
            <a:endParaRPr lang="en-US" sz="1535" dirty="0"/>
          </a:p>
        </p:txBody>
      </p:sp>
      <p:sp>
        <p:nvSpPr>
          <p:cNvPr id="31" name="Text 27"/>
          <p:cNvSpPr/>
          <p:nvPr/>
        </p:nvSpPr>
        <p:spPr>
          <a:xfrm>
            <a:off x="4932201" y="3310731"/>
            <a:ext cx="1190625" cy="508000"/>
          </a:xfrm>
          <a:prstGeom prst="rect">
            <a:avLst/>
          </a:prstGeom>
          <a:noFill/>
        </p:spPr>
        <p:txBody>
          <a:bodyPr wrap="none" lIns="136144" tIns="136144" rIns="136144" bIns="136144" rtlCol="0" anchor="ctr">
            <a:spAutoFit/>
          </a:bodyPr>
          <a:lstStyle/>
          <a:p>
            <a:pPr marL="0" indent="0" algn="ctr">
              <a:buNone/>
            </a:pPr>
            <a:r>
              <a:rPr lang="en-US" sz="1535" dirty="0">
                <a:solidFill>
                  <a:srgbClr val="8B949E"/>
                </a:solidFill>
                <a:latin typeface="JetBrains Mono Medium" pitchFamily="34" charset="0"/>
                <a:ea typeface="JetBrains Mono Medium" pitchFamily="34" charset="-122"/>
                <a:cs typeface="JetBrains Mono Medium" pitchFamily="34" charset="-120"/>
              </a:rPr>
              <a:t>Shift Value</a:t>
            </a:r>
            <a:endParaRPr lang="en-US" sz="1535" dirty="0"/>
          </a:p>
        </p:txBody>
      </p:sp>
      <p:sp>
        <p:nvSpPr>
          <p:cNvPr id="32" name="Text 28"/>
          <p:cNvSpPr/>
          <p:nvPr/>
        </p:nvSpPr>
        <p:spPr>
          <a:xfrm>
            <a:off x="6285307" y="3310731"/>
            <a:ext cx="582295" cy="508000"/>
          </a:xfrm>
          <a:prstGeom prst="rect">
            <a:avLst/>
          </a:prstGeom>
          <a:noFill/>
        </p:spPr>
        <p:txBody>
          <a:bodyPr wrap="none" lIns="136144" tIns="136144" rIns="136144" bIns="136144" rtlCol="0" anchor="ctr">
            <a:spAutoFit/>
          </a:bodyPr>
          <a:lstStyle/>
          <a:p>
            <a:pPr marL="0" indent="0" algn="ctr">
              <a:buNone/>
            </a:pPr>
            <a:r>
              <a:rPr lang="en-US" sz="1535" dirty="0">
                <a:solidFill>
                  <a:srgbClr val="E3B341"/>
                </a:solidFill>
                <a:latin typeface="JetBrains Mono Medium" pitchFamily="34" charset="0"/>
                <a:ea typeface="JetBrains Mono Medium" pitchFamily="34" charset="-122"/>
                <a:cs typeface="JetBrains Mono Medium" pitchFamily="34" charset="-120"/>
              </a:rPr>
              <a:t>+10</a:t>
            </a:r>
            <a:endParaRPr lang="en-US" sz="1535" dirty="0"/>
          </a:p>
        </p:txBody>
      </p:sp>
      <p:sp>
        <p:nvSpPr>
          <p:cNvPr id="33" name="Text 29"/>
          <p:cNvSpPr/>
          <p:nvPr/>
        </p:nvSpPr>
        <p:spPr>
          <a:xfrm>
            <a:off x="6879905" y="3310731"/>
            <a:ext cx="481330" cy="508000"/>
          </a:xfrm>
          <a:prstGeom prst="rect">
            <a:avLst/>
          </a:prstGeom>
          <a:noFill/>
        </p:spPr>
        <p:txBody>
          <a:bodyPr wrap="none" lIns="136144" tIns="136144" rIns="136144" bIns="136144" rtlCol="0" anchor="ctr">
            <a:spAutoFit/>
          </a:bodyPr>
          <a:lstStyle/>
          <a:p>
            <a:pPr marL="0" indent="0" algn="ctr">
              <a:buNone/>
            </a:pPr>
            <a:r>
              <a:rPr lang="en-US" sz="1535" dirty="0">
                <a:solidFill>
                  <a:srgbClr val="E3B341"/>
                </a:solidFill>
                <a:latin typeface="JetBrains Mono Medium" pitchFamily="34" charset="0"/>
                <a:ea typeface="JetBrains Mono Medium" pitchFamily="34" charset="-122"/>
                <a:cs typeface="JetBrains Mono Medium" pitchFamily="34" charset="-120"/>
              </a:rPr>
              <a:t>+4</a:t>
            </a:r>
            <a:endParaRPr lang="en-US" sz="1535" dirty="0"/>
          </a:p>
        </p:txBody>
      </p:sp>
      <p:sp>
        <p:nvSpPr>
          <p:cNvPr id="34" name="Text 30"/>
          <p:cNvSpPr/>
          <p:nvPr/>
        </p:nvSpPr>
        <p:spPr>
          <a:xfrm>
            <a:off x="7373538" y="3310731"/>
            <a:ext cx="582295" cy="508000"/>
          </a:xfrm>
          <a:prstGeom prst="rect">
            <a:avLst/>
          </a:prstGeom>
          <a:noFill/>
        </p:spPr>
        <p:txBody>
          <a:bodyPr wrap="none" lIns="136144" tIns="136144" rIns="136144" bIns="136144" rtlCol="0" anchor="ctr">
            <a:spAutoFit/>
          </a:bodyPr>
          <a:lstStyle/>
          <a:p>
            <a:pPr marL="0" indent="0" algn="ctr">
              <a:buNone/>
            </a:pPr>
            <a:r>
              <a:rPr lang="en-US" sz="1535" dirty="0">
                <a:solidFill>
                  <a:srgbClr val="E3B341"/>
                </a:solidFill>
                <a:latin typeface="JetBrains Mono Medium" pitchFamily="34" charset="0"/>
                <a:ea typeface="JetBrains Mono Medium" pitchFamily="34" charset="-122"/>
                <a:cs typeface="JetBrains Mono Medium" pitchFamily="34" charset="-120"/>
              </a:rPr>
              <a:t>+24</a:t>
            </a:r>
            <a:endParaRPr lang="en-US" sz="1535" dirty="0"/>
          </a:p>
        </p:txBody>
      </p:sp>
      <p:sp>
        <p:nvSpPr>
          <p:cNvPr id="35" name="Text 31"/>
          <p:cNvSpPr/>
          <p:nvPr/>
        </p:nvSpPr>
        <p:spPr>
          <a:xfrm>
            <a:off x="7980756" y="3310731"/>
            <a:ext cx="582295" cy="508000"/>
          </a:xfrm>
          <a:prstGeom prst="rect">
            <a:avLst/>
          </a:prstGeom>
          <a:noFill/>
        </p:spPr>
        <p:txBody>
          <a:bodyPr wrap="none" lIns="136144" tIns="136144" rIns="136144" bIns="136144" rtlCol="0" anchor="ctr">
            <a:spAutoFit/>
          </a:bodyPr>
          <a:lstStyle/>
          <a:p>
            <a:pPr marL="0" indent="0" algn="ctr">
              <a:buNone/>
            </a:pPr>
            <a:r>
              <a:rPr lang="en-US" sz="1535" dirty="0">
                <a:solidFill>
                  <a:srgbClr val="E3B341"/>
                </a:solidFill>
                <a:latin typeface="JetBrains Mono Medium" pitchFamily="34" charset="0"/>
                <a:ea typeface="JetBrains Mono Medium" pitchFamily="34" charset="-122"/>
                <a:cs typeface="JetBrains Mono Medium" pitchFamily="34" charset="-120"/>
              </a:rPr>
              <a:t>+10</a:t>
            </a:r>
            <a:endParaRPr lang="en-US" sz="1535" dirty="0"/>
          </a:p>
        </p:txBody>
      </p:sp>
      <p:sp>
        <p:nvSpPr>
          <p:cNvPr id="36" name="Text 32"/>
          <p:cNvSpPr/>
          <p:nvPr/>
        </p:nvSpPr>
        <p:spPr>
          <a:xfrm>
            <a:off x="8575354" y="3310731"/>
            <a:ext cx="481330" cy="508000"/>
          </a:xfrm>
          <a:prstGeom prst="rect">
            <a:avLst/>
          </a:prstGeom>
          <a:noFill/>
        </p:spPr>
        <p:txBody>
          <a:bodyPr wrap="none" lIns="136144" tIns="136144" rIns="136144" bIns="136144" rtlCol="0" anchor="ctr">
            <a:spAutoFit/>
          </a:bodyPr>
          <a:lstStyle/>
          <a:p>
            <a:pPr marL="0" indent="0" algn="ctr">
              <a:buNone/>
            </a:pPr>
            <a:r>
              <a:rPr lang="en-US" sz="1535" dirty="0">
                <a:solidFill>
                  <a:srgbClr val="E3B341"/>
                </a:solidFill>
                <a:latin typeface="JetBrains Mono Medium" pitchFamily="34" charset="0"/>
                <a:ea typeface="JetBrains Mono Medium" pitchFamily="34" charset="-122"/>
                <a:cs typeface="JetBrains Mono Medium" pitchFamily="34" charset="-120"/>
              </a:rPr>
              <a:t>+4</a:t>
            </a:r>
            <a:endParaRPr lang="en-US" sz="1535" dirty="0"/>
          </a:p>
        </p:txBody>
      </p:sp>
      <p:sp>
        <p:nvSpPr>
          <p:cNvPr id="37" name="Shape 33"/>
          <p:cNvSpPr/>
          <p:nvPr/>
        </p:nvSpPr>
        <p:spPr>
          <a:xfrm>
            <a:off x="4782183" y="3960019"/>
            <a:ext cx="4274344" cy="514351"/>
          </a:xfrm>
          <a:prstGeom prst="rect">
            <a:avLst/>
          </a:prstGeom>
          <a:solidFill>
            <a:srgbClr val="00FF9C">
              <a:alpha val="5000"/>
            </a:srgbClr>
          </a:solidFill>
        </p:spPr>
      </p:sp>
      <p:sp>
        <p:nvSpPr>
          <p:cNvPr id="38" name="Text 34"/>
          <p:cNvSpPr/>
          <p:nvPr/>
        </p:nvSpPr>
        <p:spPr>
          <a:xfrm>
            <a:off x="4942996" y="3963194"/>
            <a:ext cx="1169035" cy="508000"/>
          </a:xfrm>
          <a:prstGeom prst="rect">
            <a:avLst/>
          </a:prstGeom>
          <a:noFill/>
        </p:spPr>
        <p:txBody>
          <a:bodyPr wrap="none" lIns="136144" tIns="136144" rIns="136144" bIns="136144" rtlCol="0" anchor="ctr">
            <a:spAutoFit/>
          </a:bodyPr>
          <a:lstStyle/>
          <a:p>
            <a:pPr marL="0" indent="0" algn="ctr">
              <a:buNone/>
            </a:pPr>
            <a:r>
              <a:rPr lang="en-US" sz="1535" dirty="0">
                <a:solidFill>
                  <a:srgbClr val="8B949E"/>
                </a:solidFill>
                <a:latin typeface="JetBrains Mono Medium" pitchFamily="34" charset="0"/>
                <a:ea typeface="JetBrains Mono Medium" pitchFamily="34" charset="-122"/>
                <a:cs typeface="JetBrains Mono Medium" pitchFamily="34" charset="-120"/>
              </a:rPr>
              <a:t>Ciphertext</a:t>
            </a:r>
            <a:endParaRPr lang="en-US" sz="1535" dirty="0"/>
          </a:p>
        </p:txBody>
      </p:sp>
      <p:sp>
        <p:nvSpPr>
          <p:cNvPr id="39" name="Text 35"/>
          <p:cNvSpPr/>
          <p:nvPr/>
        </p:nvSpPr>
        <p:spPr>
          <a:xfrm>
            <a:off x="6386272" y="3968591"/>
            <a:ext cx="380365" cy="497205"/>
          </a:xfrm>
          <a:prstGeom prst="rect">
            <a:avLst/>
          </a:prstGeom>
          <a:noFill/>
        </p:spPr>
        <p:txBody>
          <a:bodyPr wrap="none" lIns="136144" tIns="136144" rIns="136144" bIns="136144" rtlCol="0" anchor="ctr">
            <a:spAutoFit/>
          </a:bodyPr>
          <a:lstStyle/>
          <a:p>
            <a:pPr marL="0" indent="0" algn="ctr">
              <a:buNone/>
            </a:pPr>
            <a:r>
              <a:rPr lang="en-US" sz="1465" b="1" dirty="0">
                <a:solidFill>
                  <a:srgbClr val="00FF9C"/>
                </a:solidFill>
                <a:latin typeface="JetBrains Mono Medium" pitchFamily="34" charset="0"/>
                <a:ea typeface="JetBrains Mono Medium" pitchFamily="34" charset="-122"/>
                <a:cs typeface="JetBrains Mono Medium" pitchFamily="34" charset="-120"/>
              </a:rPr>
              <a:t>R</a:t>
            </a:r>
            <a:endParaRPr lang="en-US" sz="1465" dirty="0"/>
          </a:p>
        </p:txBody>
      </p:sp>
      <p:sp>
        <p:nvSpPr>
          <p:cNvPr id="40" name="Text 36"/>
          <p:cNvSpPr/>
          <p:nvPr/>
        </p:nvSpPr>
        <p:spPr>
          <a:xfrm>
            <a:off x="6953883" y="3968591"/>
            <a:ext cx="333375" cy="497205"/>
          </a:xfrm>
          <a:prstGeom prst="rect">
            <a:avLst/>
          </a:prstGeom>
          <a:noFill/>
        </p:spPr>
        <p:txBody>
          <a:bodyPr wrap="none" lIns="136144" tIns="136144" rIns="136144" bIns="136144" rtlCol="0" anchor="ctr">
            <a:spAutoFit/>
          </a:bodyPr>
          <a:lstStyle/>
          <a:p>
            <a:pPr marL="0" indent="0" algn="ctr">
              <a:buNone/>
            </a:pPr>
            <a:r>
              <a:rPr lang="en-US" sz="1465" b="1" dirty="0">
                <a:solidFill>
                  <a:srgbClr val="00FF9C"/>
                </a:solidFill>
                <a:latin typeface="JetBrains Mono Medium" pitchFamily="34" charset="0"/>
                <a:ea typeface="JetBrains Mono Medium" pitchFamily="34" charset="-122"/>
                <a:cs typeface="JetBrains Mono Medium" pitchFamily="34" charset="-120"/>
              </a:rPr>
              <a:t>I</a:t>
            </a:r>
            <a:endParaRPr lang="en-US" sz="1465" dirty="0"/>
          </a:p>
        </p:txBody>
      </p:sp>
      <p:sp>
        <p:nvSpPr>
          <p:cNvPr id="41" name="Text 37"/>
          <p:cNvSpPr/>
          <p:nvPr/>
        </p:nvSpPr>
        <p:spPr>
          <a:xfrm>
            <a:off x="7503078" y="3968591"/>
            <a:ext cx="323215" cy="497205"/>
          </a:xfrm>
          <a:prstGeom prst="rect">
            <a:avLst/>
          </a:prstGeom>
          <a:noFill/>
        </p:spPr>
        <p:txBody>
          <a:bodyPr wrap="none" lIns="136144" tIns="136144" rIns="136144" bIns="136144" rtlCol="0" anchor="ctr">
            <a:spAutoFit/>
          </a:bodyPr>
          <a:lstStyle/>
          <a:p>
            <a:pPr marL="0" indent="0" algn="ctr">
              <a:buNone/>
            </a:pPr>
            <a:r>
              <a:rPr lang="en-US" sz="1465" b="1" dirty="0">
                <a:solidFill>
                  <a:srgbClr val="00FF9C"/>
                </a:solidFill>
                <a:latin typeface="JetBrains Mono Medium" pitchFamily="34" charset="0"/>
                <a:ea typeface="JetBrains Mono Medium" pitchFamily="34" charset="-122"/>
                <a:cs typeface="JetBrains Mono Medium" pitchFamily="34" charset="-120"/>
              </a:rPr>
              <a:t>J</a:t>
            </a:r>
            <a:endParaRPr lang="en-US" sz="1465" dirty="0"/>
          </a:p>
        </p:txBody>
      </p:sp>
      <p:sp>
        <p:nvSpPr>
          <p:cNvPr id="42" name="Text 38"/>
          <p:cNvSpPr/>
          <p:nvPr/>
        </p:nvSpPr>
        <p:spPr>
          <a:xfrm>
            <a:off x="8083309" y="3968591"/>
            <a:ext cx="377190" cy="497205"/>
          </a:xfrm>
          <a:prstGeom prst="rect">
            <a:avLst/>
          </a:prstGeom>
          <a:noFill/>
        </p:spPr>
        <p:txBody>
          <a:bodyPr wrap="none" lIns="136144" tIns="136144" rIns="136144" bIns="136144" rtlCol="0" anchor="ctr">
            <a:spAutoFit/>
          </a:bodyPr>
          <a:lstStyle/>
          <a:p>
            <a:pPr marL="0" indent="0" algn="ctr">
              <a:buNone/>
            </a:pPr>
            <a:r>
              <a:rPr lang="en-US" sz="1465" b="1" dirty="0">
                <a:solidFill>
                  <a:srgbClr val="00FF9C"/>
                </a:solidFill>
                <a:latin typeface="JetBrains Mono Medium" pitchFamily="34" charset="0"/>
                <a:ea typeface="JetBrains Mono Medium" pitchFamily="34" charset="-122"/>
                <a:cs typeface="JetBrains Mono Medium" pitchFamily="34" charset="-120"/>
              </a:rPr>
              <a:t>V</a:t>
            </a:r>
            <a:endParaRPr lang="en-US" sz="1465" dirty="0"/>
          </a:p>
        </p:txBody>
      </p:sp>
      <p:sp>
        <p:nvSpPr>
          <p:cNvPr id="43" name="Text 39"/>
          <p:cNvSpPr/>
          <p:nvPr/>
        </p:nvSpPr>
        <p:spPr>
          <a:xfrm>
            <a:off x="8633457" y="3968591"/>
            <a:ext cx="365125" cy="497205"/>
          </a:xfrm>
          <a:prstGeom prst="rect">
            <a:avLst/>
          </a:prstGeom>
          <a:noFill/>
        </p:spPr>
        <p:txBody>
          <a:bodyPr wrap="none" lIns="136144" tIns="136144" rIns="136144" bIns="136144" rtlCol="0" anchor="ctr">
            <a:spAutoFit/>
          </a:bodyPr>
          <a:lstStyle/>
          <a:p>
            <a:pPr marL="0" indent="0" algn="ctr">
              <a:buNone/>
            </a:pPr>
            <a:r>
              <a:rPr lang="en-US" sz="1465" b="1" dirty="0">
                <a:solidFill>
                  <a:srgbClr val="00FF9C"/>
                </a:solidFill>
                <a:latin typeface="JetBrains Mono Medium" pitchFamily="34" charset="0"/>
                <a:ea typeface="JetBrains Mono Medium" pitchFamily="34" charset="-122"/>
                <a:cs typeface="JetBrains Mono Medium" pitchFamily="34" charset="-120"/>
              </a:rPr>
              <a:t>S</a:t>
            </a:r>
            <a:endParaRPr lang="en-US" sz="1465" dirty="0"/>
          </a:p>
        </p:txBody>
      </p:sp>
      <p:sp>
        <p:nvSpPr>
          <p:cNvPr id="44" name="Shape 40"/>
          <p:cNvSpPr/>
          <p:nvPr/>
        </p:nvSpPr>
        <p:spPr>
          <a:xfrm>
            <a:off x="9418476" y="762000"/>
            <a:ext cx="2583024" cy="1549189"/>
          </a:xfrm>
          <a:prstGeom prst="rect">
            <a:avLst/>
          </a:prstGeom>
          <a:solidFill>
            <a:srgbClr val="58A6FF">
              <a:alpha val="10000"/>
            </a:srgbClr>
          </a:solidFill>
          <a:ln w="9144">
            <a:solidFill>
              <a:srgbClr val="58A6FF"/>
            </a:solidFill>
            <a:prstDash val="solid"/>
          </a:ln>
        </p:spPr>
      </p:sp>
      <p:sp>
        <p:nvSpPr>
          <p:cNvPr id="45" name="Text 41"/>
          <p:cNvSpPr/>
          <p:nvPr/>
        </p:nvSpPr>
        <p:spPr>
          <a:xfrm>
            <a:off x="9602056" y="933451"/>
            <a:ext cx="144780" cy="307340"/>
          </a:xfrm>
          <a:prstGeom prst="rect">
            <a:avLst/>
          </a:prstGeom>
          <a:noFill/>
        </p:spPr>
        <p:txBody>
          <a:bodyPr wrap="none" lIns="0" tIns="0" rIns="0" bIns="0" rtlCol="0" anchor="t">
            <a:spAutoFit/>
          </a:bodyPr>
          <a:lstStyle/>
          <a:p>
            <a:pPr marL="0" indent="0" algn="l">
              <a:buNone/>
            </a:pPr>
            <a:r>
              <a:rPr lang="en-US" sz="2000" dirty="0">
                <a:solidFill>
                  <a:srgbClr val="58A6FF"/>
                </a:solidFill>
                <a:latin typeface="JetBrains Mono Medium" pitchFamily="34" charset="0"/>
                <a:ea typeface="JetBrains Mono Medium" pitchFamily="34" charset="-122"/>
                <a:cs typeface="JetBrains Mono Medium" pitchFamily="34" charset="-120"/>
              </a:rPr>
              <a:t>C</a:t>
            </a:r>
            <a:endParaRPr lang="en-US" sz="2000" dirty="0"/>
          </a:p>
        </p:txBody>
      </p:sp>
      <p:sp>
        <p:nvSpPr>
          <p:cNvPr id="46" name="Text 42"/>
          <p:cNvSpPr/>
          <p:nvPr/>
        </p:nvSpPr>
        <p:spPr>
          <a:xfrm>
            <a:off x="9761600" y="1034393"/>
            <a:ext cx="34290" cy="166370"/>
          </a:xfrm>
          <a:prstGeom prst="rect">
            <a:avLst/>
          </a:prstGeom>
          <a:noFill/>
        </p:spPr>
        <p:txBody>
          <a:bodyPr wrap="none" lIns="0" tIns="0" rIns="0" bIns="0" rtlCol="0" anchor="t">
            <a:spAutoFit/>
          </a:bodyPr>
          <a:lstStyle/>
          <a:p>
            <a:pPr marL="0" indent="0" algn="l">
              <a:buNone/>
            </a:pPr>
            <a:r>
              <a:rPr lang="en-US" sz="1665" baseline="-40000" dirty="0">
                <a:solidFill>
                  <a:srgbClr val="58A6FF"/>
                </a:solidFill>
                <a:latin typeface="JetBrains Mono Medium" pitchFamily="34" charset="0"/>
                <a:ea typeface="JetBrains Mono Medium" pitchFamily="34" charset="-122"/>
                <a:cs typeface="JetBrains Mono Medium" pitchFamily="34" charset="-120"/>
              </a:rPr>
              <a:t>i</a:t>
            </a:r>
            <a:endParaRPr lang="en-US" sz="1665" dirty="0"/>
          </a:p>
        </p:txBody>
      </p:sp>
      <p:sp>
        <p:nvSpPr>
          <p:cNvPr id="47" name="Text 43"/>
          <p:cNvSpPr/>
          <p:nvPr/>
        </p:nvSpPr>
        <p:spPr>
          <a:xfrm>
            <a:off x="9894949" y="933451"/>
            <a:ext cx="455930" cy="307340"/>
          </a:xfrm>
          <a:prstGeom prst="rect">
            <a:avLst/>
          </a:prstGeom>
          <a:noFill/>
        </p:spPr>
        <p:txBody>
          <a:bodyPr wrap="none" lIns="0" tIns="0" rIns="0" bIns="0" rtlCol="0" anchor="t">
            <a:spAutoFit/>
          </a:bodyPr>
          <a:lstStyle/>
          <a:p>
            <a:pPr marL="0" indent="0" algn="l">
              <a:buNone/>
            </a:pPr>
            <a:r>
              <a:rPr lang="en-US" sz="2000" dirty="0">
                <a:solidFill>
                  <a:srgbClr val="58A6FF"/>
                </a:solidFill>
                <a:latin typeface="JetBrains Mono Medium" pitchFamily="34" charset="0"/>
                <a:ea typeface="JetBrains Mono Medium" pitchFamily="34" charset="-122"/>
                <a:cs typeface="JetBrains Mono Medium" pitchFamily="34" charset="-120"/>
              </a:rPr>
              <a:t>= (P</a:t>
            </a:r>
            <a:endParaRPr lang="en-US" sz="2000" dirty="0"/>
          </a:p>
        </p:txBody>
      </p:sp>
      <p:sp>
        <p:nvSpPr>
          <p:cNvPr id="48" name="Text 44"/>
          <p:cNvSpPr/>
          <p:nvPr/>
        </p:nvSpPr>
        <p:spPr>
          <a:xfrm>
            <a:off x="10692668" y="1034393"/>
            <a:ext cx="34290" cy="166370"/>
          </a:xfrm>
          <a:prstGeom prst="rect">
            <a:avLst/>
          </a:prstGeom>
          <a:noFill/>
        </p:spPr>
        <p:txBody>
          <a:bodyPr wrap="none" lIns="0" tIns="0" rIns="0" bIns="0" rtlCol="0" anchor="t">
            <a:spAutoFit/>
          </a:bodyPr>
          <a:lstStyle/>
          <a:p>
            <a:pPr marL="0" indent="0" algn="l">
              <a:buNone/>
            </a:pPr>
            <a:r>
              <a:rPr lang="en-US" sz="1665" baseline="-40000" dirty="0">
                <a:solidFill>
                  <a:srgbClr val="58A6FF"/>
                </a:solidFill>
                <a:latin typeface="JetBrains Mono Medium" pitchFamily="34" charset="0"/>
                <a:ea typeface="JetBrains Mono Medium" pitchFamily="34" charset="-122"/>
                <a:cs typeface="JetBrains Mono Medium" pitchFamily="34" charset="-120"/>
              </a:rPr>
              <a:t>i</a:t>
            </a:r>
            <a:endParaRPr lang="en-US" sz="1665" dirty="0"/>
          </a:p>
        </p:txBody>
      </p:sp>
      <p:sp>
        <p:nvSpPr>
          <p:cNvPr id="49" name="Text 45"/>
          <p:cNvSpPr/>
          <p:nvPr/>
        </p:nvSpPr>
        <p:spPr>
          <a:xfrm>
            <a:off x="10826019" y="933451"/>
            <a:ext cx="356235" cy="307340"/>
          </a:xfrm>
          <a:prstGeom prst="rect">
            <a:avLst/>
          </a:prstGeom>
          <a:noFill/>
        </p:spPr>
        <p:txBody>
          <a:bodyPr wrap="none" lIns="0" tIns="0" rIns="0" bIns="0" rtlCol="0" anchor="t">
            <a:spAutoFit/>
          </a:bodyPr>
          <a:lstStyle/>
          <a:p>
            <a:pPr marL="0" indent="0" algn="l">
              <a:buNone/>
            </a:pPr>
            <a:r>
              <a:rPr lang="en-US" sz="2000" dirty="0">
                <a:solidFill>
                  <a:srgbClr val="58A6FF"/>
                </a:solidFill>
                <a:latin typeface="JetBrains Mono Medium" pitchFamily="34" charset="0"/>
                <a:ea typeface="JetBrains Mono Medium" pitchFamily="34" charset="-122"/>
                <a:cs typeface="JetBrains Mono Medium" pitchFamily="34" charset="-120"/>
              </a:rPr>
              <a:t>+ K</a:t>
            </a:r>
            <a:endParaRPr lang="en-US" sz="2000" dirty="0"/>
          </a:p>
        </p:txBody>
      </p:sp>
      <p:sp>
        <p:nvSpPr>
          <p:cNvPr id="50" name="Text 46"/>
          <p:cNvSpPr/>
          <p:nvPr/>
        </p:nvSpPr>
        <p:spPr>
          <a:xfrm>
            <a:off x="11464193" y="1034393"/>
            <a:ext cx="34290" cy="166370"/>
          </a:xfrm>
          <a:prstGeom prst="rect">
            <a:avLst/>
          </a:prstGeom>
          <a:noFill/>
        </p:spPr>
        <p:txBody>
          <a:bodyPr wrap="none" lIns="0" tIns="0" rIns="0" bIns="0" rtlCol="0" anchor="t">
            <a:spAutoFit/>
          </a:bodyPr>
          <a:lstStyle/>
          <a:p>
            <a:pPr marL="0" indent="0" algn="l">
              <a:buNone/>
            </a:pPr>
            <a:r>
              <a:rPr lang="en-US" sz="1665" baseline="-40000" dirty="0">
                <a:solidFill>
                  <a:srgbClr val="58A6FF"/>
                </a:solidFill>
                <a:latin typeface="JetBrains Mono Medium" pitchFamily="34" charset="0"/>
                <a:ea typeface="JetBrains Mono Medium" pitchFamily="34" charset="-122"/>
                <a:cs typeface="JetBrains Mono Medium" pitchFamily="34" charset="-120"/>
              </a:rPr>
              <a:t>i</a:t>
            </a:r>
            <a:endParaRPr lang="en-US" sz="1665" dirty="0"/>
          </a:p>
        </p:txBody>
      </p:sp>
      <p:sp>
        <p:nvSpPr>
          <p:cNvPr id="51" name="Text 47"/>
          <p:cNvSpPr/>
          <p:nvPr/>
        </p:nvSpPr>
        <p:spPr>
          <a:xfrm>
            <a:off x="11597543" y="933451"/>
            <a:ext cx="100965" cy="307340"/>
          </a:xfrm>
          <a:prstGeom prst="rect">
            <a:avLst/>
          </a:prstGeom>
          <a:noFill/>
        </p:spPr>
        <p:txBody>
          <a:bodyPr wrap="none" lIns="0" tIns="0" rIns="0" bIns="0" rtlCol="0" anchor="t">
            <a:spAutoFit/>
          </a:bodyPr>
          <a:lstStyle/>
          <a:p>
            <a:pPr marL="0" indent="0" algn="l">
              <a:buNone/>
            </a:pPr>
            <a:r>
              <a:rPr lang="en-US" sz="2000" dirty="0">
                <a:solidFill>
                  <a:srgbClr val="58A6FF"/>
                </a:solidFill>
                <a:latin typeface="JetBrains Mono Medium" pitchFamily="34" charset="0"/>
                <a:ea typeface="JetBrains Mono Medium" pitchFamily="34" charset="-122"/>
                <a:cs typeface="JetBrains Mono Medium" pitchFamily="34" charset="-120"/>
              </a:rPr>
              <a:t>)</a:t>
            </a:r>
            <a:endParaRPr lang="en-US" sz="2000" dirty="0"/>
          </a:p>
        </p:txBody>
      </p:sp>
      <p:sp>
        <p:nvSpPr>
          <p:cNvPr id="52" name="Text 48"/>
          <p:cNvSpPr/>
          <p:nvPr/>
        </p:nvSpPr>
        <p:spPr>
          <a:xfrm>
            <a:off x="9602056" y="1327287"/>
            <a:ext cx="832485" cy="307340"/>
          </a:xfrm>
          <a:prstGeom prst="rect">
            <a:avLst/>
          </a:prstGeom>
          <a:noFill/>
        </p:spPr>
        <p:txBody>
          <a:bodyPr wrap="none" lIns="0" tIns="0" rIns="0" bIns="0" rtlCol="0" anchor="t">
            <a:spAutoFit/>
          </a:bodyPr>
          <a:lstStyle/>
          <a:p>
            <a:pPr marL="0" indent="0" algn="l">
              <a:buNone/>
            </a:pPr>
            <a:r>
              <a:rPr lang="en-US" sz="2000" dirty="0">
                <a:solidFill>
                  <a:srgbClr val="58A6FF"/>
                </a:solidFill>
                <a:latin typeface="JetBrains Mono Medium" pitchFamily="34" charset="0"/>
                <a:ea typeface="JetBrains Mono Medium" pitchFamily="34" charset="-122"/>
                <a:cs typeface="JetBrains Mono Medium" pitchFamily="34" charset="-120"/>
              </a:rPr>
              <a:t>mod 26</a:t>
            </a:r>
            <a:endParaRPr lang="en-US" sz="2000" dirty="0"/>
          </a:p>
        </p:txBody>
      </p:sp>
      <p:sp>
        <p:nvSpPr>
          <p:cNvPr id="53" name="Text 49"/>
          <p:cNvSpPr/>
          <p:nvPr/>
        </p:nvSpPr>
        <p:spPr>
          <a:xfrm>
            <a:off x="9663998" y="1774961"/>
            <a:ext cx="470535" cy="153670"/>
          </a:xfrm>
          <a:prstGeom prst="rect">
            <a:avLst/>
          </a:prstGeom>
          <a:noFill/>
        </p:spPr>
        <p:txBody>
          <a:bodyPr wrap="none" lIns="0" tIns="0" rIns="0" bIns="0" rtlCol="0" anchor="t">
            <a:spAutoFit/>
          </a:bodyPr>
          <a:lstStyle/>
          <a:p>
            <a:pPr marL="0" indent="0" algn="ctr">
              <a:buNone/>
            </a:pPr>
            <a:r>
              <a:rPr lang="en-US" sz="1000" dirty="0">
                <a:solidFill>
                  <a:srgbClr val="8B949E"/>
                </a:solidFill>
                <a:latin typeface="Inter" pitchFamily="34" charset="0"/>
                <a:ea typeface="Inter" pitchFamily="34" charset="-122"/>
                <a:cs typeface="Inter" pitchFamily="34" charset="-120"/>
              </a:rPr>
              <a:t>Where K</a:t>
            </a:r>
            <a:endParaRPr lang="en-US" sz="1000" dirty="0"/>
          </a:p>
        </p:txBody>
      </p:sp>
      <p:sp>
        <p:nvSpPr>
          <p:cNvPr id="54" name="Text 50"/>
          <p:cNvSpPr/>
          <p:nvPr/>
        </p:nvSpPr>
        <p:spPr>
          <a:xfrm>
            <a:off x="10175570" y="1825415"/>
            <a:ext cx="16510" cy="79375"/>
          </a:xfrm>
          <a:prstGeom prst="rect">
            <a:avLst/>
          </a:prstGeom>
          <a:noFill/>
        </p:spPr>
        <p:txBody>
          <a:bodyPr wrap="none" lIns="0" tIns="0" rIns="0" bIns="0" rtlCol="0" anchor="t">
            <a:spAutoFit/>
          </a:bodyPr>
          <a:lstStyle/>
          <a:p>
            <a:pPr marL="0" indent="0" algn="ctr">
              <a:buNone/>
            </a:pPr>
            <a:r>
              <a:rPr lang="en-US" sz="800" baseline="-40000" dirty="0">
                <a:solidFill>
                  <a:srgbClr val="8B949E"/>
                </a:solidFill>
                <a:latin typeface="Inter" pitchFamily="34" charset="0"/>
                <a:ea typeface="Inter" pitchFamily="34" charset="-122"/>
                <a:cs typeface="Inter" pitchFamily="34" charset="-120"/>
              </a:rPr>
              <a:t>i</a:t>
            </a:r>
            <a:endParaRPr lang="en-US" sz="800" dirty="0"/>
          </a:p>
        </p:txBody>
      </p:sp>
      <p:sp>
        <p:nvSpPr>
          <p:cNvPr id="55" name="Text 51"/>
          <p:cNvSpPr/>
          <p:nvPr/>
        </p:nvSpPr>
        <p:spPr>
          <a:xfrm>
            <a:off x="10300823" y="1774961"/>
            <a:ext cx="1399540" cy="153670"/>
          </a:xfrm>
          <a:prstGeom prst="rect">
            <a:avLst/>
          </a:prstGeom>
          <a:noFill/>
        </p:spPr>
        <p:txBody>
          <a:bodyPr wrap="none" lIns="0" tIns="0" rIns="0" bIns="0" rtlCol="0" anchor="t">
            <a:spAutoFit/>
          </a:bodyPr>
          <a:lstStyle/>
          <a:p>
            <a:pPr marL="0" indent="0" algn="ctr">
              <a:buNone/>
            </a:pPr>
            <a:r>
              <a:rPr lang="en-US" sz="1000" dirty="0">
                <a:solidFill>
                  <a:srgbClr val="8B949E"/>
                </a:solidFill>
                <a:latin typeface="Inter" pitchFamily="34" charset="0"/>
                <a:ea typeface="Inter" pitchFamily="34" charset="-122"/>
                <a:cs typeface="Inter" pitchFamily="34" charset="-120"/>
              </a:rPr>
              <a:t>is the shift value of the i-</a:t>
            </a:r>
            <a:endParaRPr lang="en-US" sz="1000" dirty="0"/>
          </a:p>
        </p:txBody>
      </p:sp>
      <p:sp>
        <p:nvSpPr>
          <p:cNvPr id="56" name="Text 52"/>
          <p:cNvSpPr/>
          <p:nvPr/>
        </p:nvSpPr>
        <p:spPr>
          <a:xfrm>
            <a:off x="9645663" y="1958764"/>
            <a:ext cx="2140744" cy="153670"/>
          </a:xfrm>
          <a:prstGeom prst="rect">
            <a:avLst/>
          </a:prstGeom>
          <a:noFill/>
        </p:spPr>
        <p:txBody>
          <a:bodyPr wrap="square" lIns="0" tIns="0" rIns="0" bIns="0" rtlCol="0" anchor="t">
            <a:spAutoFit/>
          </a:bodyPr>
          <a:lstStyle/>
          <a:p>
            <a:pPr marL="0" indent="0" algn="ctr">
              <a:buNone/>
            </a:pPr>
            <a:r>
              <a:rPr lang="en-US" sz="1000" dirty="0">
                <a:solidFill>
                  <a:srgbClr val="8B949E"/>
                </a:solidFill>
                <a:latin typeface="Inter" pitchFamily="34" charset="0"/>
                <a:ea typeface="Inter" pitchFamily="34" charset="-122"/>
                <a:cs typeface="Inter" pitchFamily="34" charset="-120"/>
              </a:rPr>
              <a:t>th letter of the repeating keyword.</a:t>
            </a:r>
            <a:endParaRPr lang="en-US" sz="1000" dirty="0"/>
          </a:p>
        </p:txBody>
      </p:sp>
      <p:sp>
        <p:nvSpPr>
          <p:cNvPr id="57" name="Text 53"/>
          <p:cNvSpPr/>
          <p:nvPr/>
        </p:nvSpPr>
        <p:spPr>
          <a:xfrm>
            <a:off x="2590800" y="4955381"/>
            <a:ext cx="629920" cy="122555"/>
          </a:xfrm>
          <a:prstGeom prst="rect">
            <a:avLst/>
          </a:prstGeom>
          <a:noFill/>
        </p:spPr>
        <p:txBody>
          <a:bodyPr wrap="none" lIns="0" tIns="0" rIns="0" bIns="0" rtlCol="0" anchor="t">
            <a:spAutoFit/>
          </a:bodyPr>
          <a:lstStyle/>
          <a:p>
            <a:pPr marL="0" indent="0" algn="l">
              <a:buNone/>
            </a:pPr>
            <a:r>
              <a:rPr lang="en-US" sz="800" dirty="0">
                <a:solidFill>
                  <a:srgbClr val="8B949E"/>
                </a:solidFill>
                <a:latin typeface="JetBrains Mono Medium" pitchFamily="34" charset="0"/>
                <a:ea typeface="JetBrains Mono Medium" pitchFamily="34" charset="-122"/>
                <a:cs typeface="JetBrains Mono Medium" pitchFamily="34" charset="-120"/>
              </a:rPr>
              <a:t>A B C D E F G...</a:t>
            </a:r>
            <a:endParaRPr lang="en-US" sz="800" dirty="0"/>
          </a:p>
        </p:txBody>
      </p:sp>
      <p:sp>
        <p:nvSpPr>
          <p:cNvPr id="58" name="Text 54"/>
          <p:cNvSpPr/>
          <p:nvPr/>
        </p:nvSpPr>
        <p:spPr>
          <a:xfrm>
            <a:off x="3771900" y="4955381"/>
            <a:ext cx="637540" cy="122555"/>
          </a:xfrm>
          <a:prstGeom prst="rect">
            <a:avLst/>
          </a:prstGeom>
          <a:noFill/>
        </p:spPr>
        <p:txBody>
          <a:bodyPr wrap="none" lIns="0" tIns="0" rIns="0" bIns="0" rtlCol="0" anchor="t">
            <a:spAutoFit/>
          </a:bodyPr>
          <a:lstStyle/>
          <a:p>
            <a:pPr marL="0" indent="0" algn="l">
              <a:buNone/>
            </a:pPr>
            <a:r>
              <a:rPr lang="en-US" sz="800" dirty="0">
                <a:solidFill>
                  <a:srgbClr val="8B949E"/>
                </a:solidFill>
                <a:latin typeface="JetBrains Mono Medium" pitchFamily="34" charset="0"/>
                <a:ea typeface="JetBrains Mono Medium" pitchFamily="34" charset="-122"/>
                <a:cs typeface="JetBrains Mono Medium" pitchFamily="34" charset="-120"/>
              </a:rPr>
              <a:t>B C D E F G H...</a:t>
            </a:r>
            <a:endParaRPr lang="en-US" sz="800" dirty="0"/>
          </a:p>
        </p:txBody>
      </p:sp>
      <p:sp>
        <p:nvSpPr>
          <p:cNvPr id="59" name="Text 55"/>
          <p:cNvSpPr/>
          <p:nvPr/>
        </p:nvSpPr>
        <p:spPr>
          <a:xfrm>
            <a:off x="4953000" y="4955381"/>
            <a:ext cx="610235" cy="122555"/>
          </a:xfrm>
          <a:prstGeom prst="rect">
            <a:avLst/>
          </a:prstGeom>
          <a:noFill/>
        </p:spPr>
        <p:txBody>
          <a:bodyPr wrap="none" lIns="0" tIns="0" rIns="0" bIns="0" rtlCol="0" anchor="t">
            <a:spAutoFit/>
          </a:bodyPr>
          <a:lstStyle/>
          <a:p>
            <a:pPr marL="0" indent="0" algn="l">
              <a:buNone/>
            </a:pPr>
            <a:r>
              <a:rPr lang="en-US" sz="800" dirty="0">
                <a:solidFill>
                  <a:srgbClr val="8B949E"/>
                </a:solidFill>
                <a:latin typeface="JetBrains Mono Medium" pitchFamily="34" charset="0"/>
                <a:ea typeface="JetBrains Mono Medium" pitchFamily="34" charset="-122"/>
                <a:cs typeface="JetBrains Mono Medium" pitchFamily="34" charset="-120"/>
              </a:rPr>
              <a:t>C D E F G H I...</a:t>
            </a:r>
            <a:endParaRPr lang="en-US" sz="800" dirty="0"/>
          </a:p>
        </p:txBody>
      </p:sp>
      <p:sp>
        <p:nvSpPr>
          <p:cNvPr id="60" name="Text 56"/>
          <p:cNvSpPr/>
          <p:nvPr/>
        </p:nvSpPr>
        <p:spPr>
          <a:xfrm>
            <a:off x="6134100" y="4955381"/>
            <a:ext cx="579755" cy="122555"/>
          </a:xfrm>
          <a:prstGeom prst="rect">
            <a:avLst/>
          </a:prstGeom>
          <a:noFill/>
        </p:spPr>
        <p:txBody>
          <a:bodyPr wrap="none" lIns="0" tIns="0" rIns="0" bIns="0" rtlCol="0" anchor="t">
            <a:spAutoFit/>
          </a:bodyPr>
          <a:lstStyle/>
          <a:p>
            <a:pPr marL="0" indent="0" algn="l">
              <a:buNone/>
            </a:pPr>
            <a:r>
              <a:rPr lang="en-US" sz="800" dirty="0">
                <a:solidFill>
                  <a:srgbClr val="8B949E"/>
                </a:solidFill>
                <a:latin typeface="JetBrains Mono Medium" pitchFamily="34" charset="0"/>
                <a:ea typeface="JetBrains Mono Medium" pitchFamily="34" charset="-122"/>
                <a:cs typeface="JetBrains Mono Medium" pitchFamily="34" charset="-120"/>
              </a:rPr>
              <a:t>D E F G H I J...</a:t>
            </a:r>
            <a:endParaRPr lang="en-US" sz="800" dirty="0"/>
          </a:p>
        </p:txBody>
      </p:sp>
      <p:sp>
        <p:nvSpPr>
          <p:cNvPr id="61" name="Text 57"/>
          <p:cNvSpPr/>
          <p:nvPr/>
        </p:nvSpPr>
        <p:spPr>
          <a:xfrm>
            <a:off x="7315200" y="4955381"/>
            <a:ext cx="570865" cy="122555"/>
          </a:xfrm>
          <a:prstGeom prst="rect">
            <a:avLst/>
          </a:prstGeom>
          <a:noFill/>
        </p:spPr>
        <p:txBody>
          <a:bodyPr wrap="none" lIns="0" tIns="0" rIns="0" bIns="0" rtlCol="0" anchor="t">
            <a:spAutoFit/>
          </a:bodyPr>
          <a:lstStyle/>
          <a:p>
            <a:pPr marL="0" indent="0" algn="l">
              <a:buNone/>
            </a:pPr>
            <a:r>
              <a:rPr lang="en-US" sz="800" dirty="0">
                <a:solidFill>
                  <a:srgbClr val="8B949E"/>
                </a:solidFill>
                <a:latin typeface="JetBrains Mono Medium" pitchFamily="34" charset="0"/>
                <a:ea typeface="JetBrains Mono Medium" pitchFamily="34" charset="-122"/>
                <a:cs typeface="JetBrains Mono Medium" pitchFamily="34" charset="-120"/>
              </a:rPr>
              <a:t>E F G H I J K...</a:t>
            </a:r>
            <a:endParaRPr lang="en-US" sz="800" dirty="0"/>
          </a:p>
        </p:txBody>
      </p:sp>
      <p:sp>
        <p:nvSpPr>
          <p:cNvPr id="62" name="Text 58"/>
          <p:cNvSpPr/>
          <p:nvPr/>
        </p:nvSpPr>
        <p:spPr>
          <a:xfrm>
            <a:off x="8496300" y="4955381"/>
            <a:ext cx="680720" cy="122555"/>
          </a:xfrm>
          <a:prstGeom prst="rect">
            <a:avLst/>
          </a:prstGeom>
          <a:noFill/>
        </p:spPr>
        <p:txBody>
          <a:bodyPr wrap="none" lIns="0" tIns="0" rIns="0" bIns="0" rtlCol="0" anchor="t">
            <a:spAutoFit/>
          </a:bodyPr>
          <a:lstStyle/>
          <a:p>
            <a:pPr marL="0" indent="0" algn="l">
              <a:buNone/>
            </a:pPr>
            <a:r>
              <a:rPr lang="en-US" sz="800" dirty="0">
                <a:solidFill>
                  <a:srgbClr val="58A6FF"/>
                </a:solidFill>
                <a:latin typeface="JetBrains Mono Medium" pitchFamily="34" charset="0"/>
                <a:ea typeface="JetBrains Mono Medium" pitchFamily="34" charset="-122"/>
                <a:cs typeface="JetBrains Mono Medium" pitchFamily="34" charset="-120"/>
              </a:rPr>
              <a:t>[ Tabula Recta ]</a:t>
            </a:r>
            <a:endParaRPr lang="en-US" sz="800" dirty="0"/>
          </a:p>
        </p:txBody>
      </p:sp>
      <p:grpSp>
        <p:nvGrpSpPr>
          <p:cNvPr id="63" name="Group 2"/>
          <p:cNvGrpSpPr/>
          <p:nvPr/>
        </p:nvGrpSpPr>
        <p:grpSpPr>
          <a:xfrm rot="0">
            <a:off x="294640" y="194310"/>
            <a:ext cx="789305" cy="299720"/>
            <a:chOff x="0" y="0"/>
            <a:chExt cx="341337" cy="102463"/>
          </a:xfrm>
        </p:grpSpPr>
        <p:sp>
          <p:nvSpPr>
            <p:cNvPr id="6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6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66" name="Group 5"/>
          <p:cNvGrpSpPr/>
          <p:nvPr/>
        </p:nvGrpSpPr>
        <p:grpSpPr>
          <a:xfrm rot="0">
            <a:off x="822325" y="209550"/>
            <a:ext cx="220980" cy="246380"/>
            <a:chOff x="0" y="0"/>
            <a:chExt cx="812800" cy="812800"/>
          </a:xfrm>
        </p:grpSpPr>
        <p:sp>
          <p:nvSpPr>
            <p:cNvPr id="6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6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6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70"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71"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7177385"/>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43 | EWUCSC</a:t>
            </a:r>
            <a:endParaRPr lang="en-US" sz="1265" dirty="0"/>
          </a:p>
        </p:txBody>
      </p:sp>
      <p:sp>
        <p:nvSpPr>
          <p:cNvPr id="7" name="Text 4"/>
          <p:cNvSpPr/>
          <p:nvPr/>
        </p:nvSpPr>
        <p:spPr>
          <a:xfrm>
            <a:off x="381000" y="952500"/>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Breaking Vigenère: The Unbreakable?</a:t>
            </a:r>
            <a:endParaRPr lang="en-US" sz="2800" dirty="0"/>
          </a:p>
        </p:txBody>
      </p:sp>
      <p:sp>
        <p:nvSpPr>
          <p:cNvPr id="8" name="Text 5"/>
          <p:cNvSpPr/>
          <p:nvPr/>
        </p:nvSpPr>
        <p:spPr>
          <a:xfrm>
            <a:off x="381000" y="1552575"/>
            <a:ext cx="11430000" cy="240665"/>
          </a:xfrm>
          <a:prstGeom prst="rect">
            <a:avLst/>
          </a:prstGeom>
          <a:noFill/>
        </p:spPr>
        <p:txBody>
          <a:bodyPr wrap="square" lIns="0" tIns="0" rIns="0" bIns="0" rtlCol="0" anchor="t">
            <a:spAutoFit/>
          </a:bodyPr>
          <a:lstStyle/>
          <a:p>
            <a:pPr marL="0" indent="0" algn="l">
              <a:lnSpc>
                <a:spcPct val="112000"/>
              </a:lnSpc>
              <a:buNone/>
            </a:pPr>
            <a:r>
              <a:rPr lang="en-US" sz="1400" dirty="0">
                <a:solidFill>
                  <a:srgbClr val="8B949E"/>
                </a:solidFill>
                <a:latin typeface="Inter" pitchFamily="34" charset="0"/>
                <a:ea typeface="Inter" pitchFamily="34" charset="-122"/>
                <a:cs typeface="Inter" pitchFamily="34" charset="-120"/>
              </a:rPr>
              <a:t>Vigenère was called </a:t>
            </a:r>
            <a:r>
              <a:rPr lang="en-US" sz="1400" dirty="0">
                <a:solidFill>
                  <a:srgbClr val="00FF9C"/>
                </a:solidFill>
                <a:latin typeface="Inter" pitchFamily="34" charset="0"/>
                <a:ea typeface="Inter" pitchFamily="34" charset="-122"/>
                <a:cs typeface="Inter" pitchFamily="34" charset="-120"/>
              </a:rPr>
              <a:t>"le chiffre indéchiffrable"</a:t>
            </a:r>
            <a:r>
              <a:rPr lang="en-US" sz="1400" dirty="0">
                <a:solidFill>
                  <a:srgbClr val="8B949E"/>
                </a:solidFill>
                <a:latin typeface="Inter" pitchFamily="34" charset="0"/>
                <a:ea typeface="Inter" pitchFamily="34" charset="-122"/>
                <a:cs typeface="Inter" pitchFamily="34" charset="-120"/>
              </a:rPr>
              <a:t> for 300 years. It was finally broken in 1863 by Friedrich Kasiski using mathematical pattern analysis.</a:t>
            </a:r>
            <a:endParaRPr lang="en-US" sz="1400" dirty="0"/>
          </a:p>
        </p:txBody>
      </p:sp>
      <p:sp>
        <p:nvSpPr>
          <p:cNvPr id="9" name="Shape 6"/>
          <p:cNvSpPr/>
          <p:nvPr/>
        </p:nvSpPr>
        <p:spPr>
          <a:xfrm>
            <a:off x="381000" y="2371725"/>
            <a:ext cx="5572125" cy="3324523"/>
          </a:xfrm>
          <a:prstGeom prst="rect">
            <a:avLst/>
          </a:prstGeom>
          <a:solidFill>
            <a:srgbClr val="161B22"/>
          </a:solidFill>
          <a:ln w="9144">
            <a:solidFill>
              <a:srgbClr val="30363D"/>
            </a:solidFill>
            <a:prstDash val="solid"/>
          </a:ln>
        </p:spPr>
      </p:sp>
      <p:sp>
        <p:nvSpPr>
          <p:cNvPr id="10" name="Text 7"/>
          <p:cNvSpPr/>
          <p:nvPr/>
        </p:nvSpPr>
        <p:spPr>
          <a:xfrm>
            <a:off x="733425" y="2609851"/>
            <a:ext cx="2507456" cy="255905"/>
          </a:xfrm>
          <a:prstGeom prst="rect">
            <a:avLst/>
          </a:prstGeom>
          <a:noFill/>
        </p:spPr>
        <p:txBody>
          <a:bodyPr wrap="square" lIns="0" tIns="0" rIns="0" bIns="0" rtlCol="0" anchor="t">
            <a:spAutoFit/>
          </a:bodyPr>
          <a:lstStyle/>
          <a:p>
            <a:pPr marL="0" indent="0" algn="l">
              <a:buNone/>
            </a:pPr>
            <a:r>
              <a:rPr lang="en-US" sz="1665" dirty="0">
                <a:solidFill>
                  <a:srgbClr val="58A6FF"/>
                </a:solidFill>
                <a:latin typeface="Poppins SemiBold" pitchFamily="34" charset="0"/>
                <a:ea typeface="Poppins SemiBold" pitchFamily="34" charset="-122"/>
                <a:cs typeface="Poppins SemiBold" pitchFamily="34" charset="-120"/>
              </a:rPr>
              <a:t>Method 1: Kasiski Test</a:t>
            </a:r>
            <a:endParaRPr lang="en-US" sz="1665" dirty="0"/>
          </a:p>
        </p:txBody>
      </p:sp>
      <p:sp>
        <p:nvSpPr>
          <p:cNvPr id="11" name="Text 8"/>
          <p:cNvSpPr/>
          <p:nvPr/>
        </p:nvSpPr>
        <p:spPr>
          <a:xfrm>
            <a:off x="619125" y="3098007"/>
            <a:ext cx="5095875" cy="49974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E6EDF3"/>
                </a:solidFill>
                <a:latin typeface="Inter" pitchFamily="34" charset="0"/>
                <a:ea typeface="Inter" pitchFamily="34" charset="-122"/>
                <a:cs typeface="Inter" pitchFamily="34" charset="-120"/>
              </a:rPr>
              <a:t>Find repeated sequences (trigrams) in the ciphertext. The distance between these repeats is likely a multiple of the key length.</a:t>
            </a:r>
            <a:endParaRPr lang="en-US" sz="1265" dirty="0"/>
          </a:p>
        </p:txBody>
      </p:sp>
      <p:sp>
        <p:nvSpPr>
          <p:cNvPr id="12" name="Shape 9"/>
          <p:cNvSpPr/>
          <p:nvPr/>
        </p:nvSpPr>
        <p:spPr>
          <a:xfrm>
            <a:off x="619125" y="4063752"/>
            <a:ext cx="5095875" cy="1036253"/>
          </a:xfrm>
          <a:prstGeom prst="rect">
            <a:avLst/>
          </a:prstGeom>
          <a:solidFill>
            <a:srgbClr val="0D1117"/>
          </a:solidFill>
          <a:ln w="9144">
            <a:solidFill>
              <a:srgbClr val="E3B341"/>
            </a:solidFill>
            <a:prstDash val="dash"/>
          </a:ln>
        </p:spPr>
      </p:sp>
      <p:sp>
        <p:nvSpPr>
          <p:cNvPr id="13" name="Text 10"/>
          <p:cNvSpPr/>
          <p:nvPr/>
        </p:nvSpPr>
        <p:spPr>
          <a:xfrm>
            <a:off x="619125" y="4063752"/>
            <a:ext cx="5095875" cy="1012190"/>
          </a:xfrm>
          <a:prstGeom prst="rect">
            <a:avLst/>
          </a:prstGeom>
          <a:noFill/>
        </p:spPr>
        <p:txBody>
          <a:bodyPr wrap="square" lIns="170010" tIns="170010" rIns="170010" bIns="170010" rtlCol="0" anchor="t">
            <a:spAutoFit/>
          </a:bodyPr>
          <a:lstStyle/>
          <a:p>
            <a:pPr marL="0" indent="0" algn="l">
              <a:lnSpc>
                <a:spcPct val="128000"/>
              </a:lnSpc>
              <a:buNone/>
            </a:pPr>
            <a:r>
              <a:rPr lang="en-US" sz="1135" dirty="0">
                <a:solidFill>
                  <a:srgbClr val="E3B341"/>
                </a:solidFill>
                <a:latin typeface="JetBrains Mono Medium" pitchFamily="34" charset="0"/>
                <a:ea typeface="JetBrains Mono Medium" pitchFamily="34" charset="-122"/>
                <a:cs typeface="JetBrains Mono Medium" pitchFamily="34" charset="-120"/>
              </a:rPr>
              <a:t>"ABC...XYZ...ABC"
Distance: 12 chars
Key length could be: 2, 3, 4, 6, or 12</a:t>
            </a:r>
            <a:endParaRPr lang="en-US" sz="1135" dirty="0"/>
          </a:p>
        </p:txBody>
      </p:sp>
      <p:sp>
        <p:nvSpPr>
          <p:cNvPr id="14" name="Text 11"/>
          <p:cNvSpPr/>
          <p:nvPr/>
        </p:nvSpPr>
        <p:spPr>
          <a:xfrm>
            <a:off x="619125" y="5176205"/>
            <a:ext cx="3411220" cy="224155"/>
          </a:xfrm>
          <a:prstGeom prst="rect">
            <a:avLst/>
          </a:prstGeom>
          <a:noFill/>
        </p:spPr>
        <p:txBody>
          <a:bodyPr wrap="none" lIns="0" tIns="0" rIns="0" bIns="0" rtlCol="0" anchor="t">
            <a:spAutoFit/>
          </a:bodyPr>
          <a:lstStyle/>
          <a:p>
            <a:pPr marL="0" indent="0" algn="l">
              <a:lnSpc>
                <a:spcPct val="128000"/>
              </a:lnSpc>
              <a:buNone/>
            </a:pPr>
            <a:r>
              <a:rPr lang="en-US" sz="1135" dirty="0">
                <a:solidFill>
                  <a:srgbClr val="8B949E"/>
                </a:solidFill>
                <a:latin typeface="Inter" pitchFamily="34" charset="0"/>
                <a:ea typeface="Inter" pitchFamily="34" charset="-122"/>
                <a:cs typeface="Inter" pitchFamily="34" charset="-120"/>
              </a:rPr>
              <a:t>GCD of multiple distances reveals the true key length.</a:t>
            </a:r>
            <a:endParaRPr lang="en-US" sz="1135" dirty="0"/>
          </a:p>
        </p:txBody>
      </p:sp>
      <p:sp>
        <p:nvSpPr>
          <p:cNvPr id="15" name="Shape 12"/>
          <p:cNvSpPr/>
          <p:nvPr/>
        </p:nvSpPr>
        <p:spPr>
          <a:xfrm>
            <a:off x="6238875" y="2371725"/>
            <a:ext cx="5572125" cy="3286423"/>
          </a:xfrm>
          <a:prstGeom prst="rect">
            <a:avLst/>
          </a:prstGeom>
          <a:solidFill>
            <a:srgbClr val="161B22"/>
          </a:solidFill>
          <a:ln w="9144">
            <a:solidFill>
              <a:srgbClr val="30363D"/>
            </a:solidFill>
            <a:prstDash val="solid"/>
          </a:ln>
        </p:spPr>
      </p:sp>
      <p:pic>
        <p:nvPicPr>
          <p:cNvPr id="16" name="Image 1" descr="preencoded.png"/>
          <p:cNvPicPr>
            <a:picLocks noChangeAspect="1"/>
          </p:cNvPicPr>
          <p:nvPr/>
        </p:nvPicPr>
        <p:blipFill>
          <a:blip r:embed="rId2"/>
          <a:stretch>
            <a:fillRect/>
          </a:stretch>
        </p:blipFill>
        <p:spPr>
          <a:xfrm>
            <a:off x="6477000" y="2668191"/>
            <a:ext cx="171451" cy="228600"/>
          </a:xfrm>
          <a:prstGeom prst="rect">
            <a:avLst/>
          </a:prstGeom>
        </p:spPr>
      </p:pic>
      <p:sp>
        <p:nvSpPr>
          <p:cNvPr id="17" name="Text 13"/>
          <p:cNvSpPr/>
          <p:nvPr/>
        </p:nvSpPr>
        <p:spPr>
          <a:xfrm>
            <a:off x="6762751" y="2609851"/>
            <a:ext cx="3621881" cy="255905"/>
          </a:xfrm>
          <a:prstGeom prst="rect">
            <a:avLst/>
          </a:prstGeom>
          <a:noFill/>
        </p:spPr>
        <p:txBody>
          <a:bodyPr wrap="square" lIns="0" tIns="0" rIns="0" bIns="0" rtlCol="0" anchor="t">
            <a:spAutoFit/>
          </a:bodyPr>
          <a:lstStyle/>
          <a:p>
            <a:pPr marL="0" indent="0" algn="l">
              <a:buNone/>
            </a:pPr>
            <a:r>
              <a:rPr lang="en-US" sz="1665" dirty="0">
                <a:solidFill>
                  <a:srgbClr val="58A6FF"/>
                </a:solidFill>
                <a:latin typeface="Poppins SemiBold" pitchFamily="34" charset="0"/>
                <a:ea typeface="Poppins SemiBold" pitchFamily="34" charset="-122"/>
                <a:cs typeface="Poppins SemiBold" pitchFamily="34" charset="-120"/>
              </a:rPr>
              <a:t>Method 2: Index of Coincidence</a:t>
            </a:r>
            <a:endParaRPr lang="en-US" sz="1665" dirty="0"/>
          </a:p>
        </p:txBody>
      </p:sp>
      <p:sp>
        <p:nvSpPr>
          <p:cNvPr id="18" name="Text 14"/>
          <p:cNvSpPr/>
          <p:nvPr/>
        </p:nvSpPr>
        <p:spPr>
          <a:xfrm>
            <a:off x="6477000" y="3098007"/>
            <a:ext cx="5095875" cy="49974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E6EDF3"/>
                </a:solidFill>
                <a:latin typeface="Inter" pitchFamily="34" charset="0"/>
                <a:ea typeface="Inter" pitchFamily="34" charset="-122"/>
                <a:cs typeface="Inter" pitchFamily="34" charset="-120"/>
              </a:rPr>
              <a:t>A statistical measure of how "English-like" a text is. It measures the probability that two random letters are the same.</a:t>
            </a:r>
            <a:endParaRPr lang="en-US" sz="1265" dirty="0"/>
          </a:p>
        </p:txBody>
      </p:sp>
      <p:sp>
        <p:nvSpPr>
          <p:cNvPr id="19" name="Text 15"/>
          <p:cNvSpPr/>
          <p:nvPr/>
        </p:nvSpPr>
        <p:spPr>
          <a:xfrm>
            <a:off x="6667500" y="3741837"/>
            <a:ext cx="1879600" cy="249555"/>
          </a:xfrm>
          <a:prstGeom prst="rect">
            <a:avLst/>
          </a:prstGeom>
          <a:noFill/>
        </p:spPr>
        <p:txBody>
          <a:bodyPr wrap="none" lIns="0" tIns="0" rIns="0" bIns="0" rtlCol="0" anchor="t">
            <a:spAutoFit/>
          </a:bodyPr>
          <a:lstStyle/>
          <a:p>
            <a:pPr marL="127000" indent="-127000" algn="l">
              <a:lnSpc>
                <a:spcPct val="128000"/>
              </a:lnSpc>
              <a:buSzPct val="100000"/>
              <a:buChar char="•"/>
            </a:pPr>
            <a:r>
              <a:rPr lang="en-US" sz="1265" dirty="0">
                <a:solidFill>
                  <a:srgbClr val="E6EDF3"/>
                </a:solidFill>
                <a:latin typeface="Inter" pitchFamily="34" charset="0"/>
                <a:ea typeface="Inter" pitchFamily="34" charset="-122"/>
                <a:cs typeface="Inter" pitchFamily="34" charset="-120"/>
              </a:rPr>
              <a:t>English Plaintext: </a:t>
            </a:r>
            <a:r>
              <a:rPr lang="en-US" sz="1265" dirty="0">
                <a:solidFill>
                  <a:srgbClr val="00FF9C"/>
                </a:solidFill>
                <a:latin typeface="Inter" pitchFamily="34" charset="0"/>
                <a:ea typeface="Inter" pitchFamily="34" charset="-122"/>
                <a:cs typeface="Inter" pitchFamily="34" charset="-120"/>
              </a:rPr>
              <a:t>~0.0667</a:t>
            </a:r>
            <a:endParaRPr lang="en-US" sz="1265" dirty="0"/>
          </a:p>
        </p:txBody>
      </p:sp>
      <p:sp>
        <p:nvSpPr>
          <p:cNvPr id="20" name="Text 16"/>
          <p:cNvSpPr/>
          <p:nvPr/>
        </p:nvSpPr>
        <p:spPr>
          <a:xfrm>
            <a:off x="6667500" y="4016127"/>
            <a:ext cx="1645285" cy="249555"/>
          </a:xfrm>
          <a:prstGeom prst="rect">
            <a:avLst/>
          </a:prstGeom>
          <a:noFill/>
        </p:spPr>
        <p:txBody>
          <a:bodyPr wrap="none" lIns="0" tIns="0" rIns="0" bIns="0" rtlCol="0" anchor="t">
            <a:spAutoFit/>
          </a:bodyPr>
          <a:lstStyle/>
          <a:p>
            <a:pPr marL="127000" indent="-127000" algn="l">
              <a:lnSpc>
                <a:spcPct val="128000"/>
              </a:lnSpc>
              <a:buSzPct val="100000"/>
              <a:buChar char="•"/>
            </a:pPr>
            <a:r>
              <a:rPr lang="en-US" sz="1265" dirty="0">
                <a:solidFill>
                  <a:srgbClr val="E6EDF3"/>
                </a:solidFill>
                <a:latin typeface="Inter" pitchFamily="34" charset="0"/>
                <a:ea typeface="Inter" pitchFamily="34" charset="-122"/>
                <a:cs typeface="Inter" pitchFamily="34" charset="-120"/>
              </a:rPr>
              <a:t>Random Text: </a:t>
            </a:r>
            <a:r>
              <a:rPr lang="en-US" sz="1265" dirty="0">
                <a:solidFill>
                  <a:srgbClr val="00FF9C"/>
                </a:solidFill>
                <a:latin typeface="Inter" pitchFamily="34" charset="0"/>
                <a:ea typeface="Inter" pitchFamily="34" charset="-122"/>
                <a:cs typeface="Inter" pitchFamily="34" charset="-120"/>
              </a:rPr>
              <a:t>~0.0385</a:t>
            </a:r>
            <a:endParaRPr lang="en-US" sz="1265" dirty="0"/>
          </a:p>
        </p:txBody>
      </p:sp>
      <p:sp>
        <p:nvSpPr>
          <p:cNvPr id="21" name="Text 17"/>
          <p:cNvSpPr/>
          <p:nvPr/>
        </p:nvSpPr>
        <p:spPr>
          <a:xfrm>
            <a:off x="6477000" y="4385667"/>
            <a:ext cx="4339590" cy="224155"/>
          </a:xfrm>
          <a:prstGeom prst="rect">
            <a:avLst/>
          </a:prstGeom>
          <a:noFill/>
        </p:spPr>
        <p:txBody>
          <a:bodyPr wrap="none" lIns="0" tIns="0" rIns="0" bIns="0" rtlCol="0" anchor="t">
            <a:spAutoFit/>
          </a:bodyPr>
          <a:lstStyle/>
          <a:p>
            <a:pPr marL="0" indent="0" algn="l">
              <a:lnSpc>
                <a:spcPct val="128000"/>
              </a:lnSpc>
              <a:buNone/>
            </a:pPr>
            <a:r>
              <a:rPr lang="en-US" sz="1135" dirty="0">
                <a:solidFill>
                  <a:srgbClr val="8B949E"/>
                </a:solidFill>
                <a:latin typeface="Inter" pitchFamily="34" charset="0"/>
                <a:ea typeface="Inter" pitchFamily="34" charset="-122"/>
                <a:cs typeface="Inter" pitchFamily="34" charset="-120"/>
              </a:rPr>
              <a:t>Used to confirm the key length by testing each Caesar shift position.</a:t>
            </a:r>
            <a:endParaRPr lang="en-US" sz="1135" dirty="0"/>
          </a:p>
        </p:txBody>
      </p:sp>
      <p:sp>
        <p:nvSpPr>
          <p:cNvPr id="22" name="Shape 18"/>
          <p:cNvSpPr/>
          <p:nvPr/>
        </p:nvSpPr>
        <p:spPr>
          <a:xfrm>
            <a:off x="381000" y="5943897"/>
            <a:ext cx="11430000" cy="814388"/>
          </a:xfrm>
          <a:prstGeom prst="rect">
            <a:avLst/>
          </a:prstGeom>
          <a:solidFill>
            <a:srgbClr val="FF6B6B">
              <a:alpha val="10000"/>
            </a:srgbClr>
          </a:solidFill>
          <a:ln w="9144">
            <a:solidFill>
              <a:srgbClr val="FF6B6B"/>
            </a:solidFill>
            <a:prstDash val="solid"/>
          </a:ln>
        </p:spPr>
      </p:sp>
      <p:pic>
        <p:nvPicPr>
          <p:cNvPr id="23" name="Image 2" descr="preencoded.png"/>
          <p:cNvPicPr>
            <a:picLocks noChangeAspect="1"/>
          </p:cNvPicPr>
          <p:nvPr/>
        </p:nvPicPr>
        <p:blipFill>
          <a:blip r:embed="rId3"/>
          <a:stretch>
            <a:fillRect/>
          </a:stretch>
        </p:blipFill>
        <p:spPr>
          <a:xfrm>
            <a:off x="571500" y="6189167"/>
            <a:ext cx="342900" cy="304800"/>
          </a:xfrm>
          <a:prstGeom prst="rect">
            <a:avLst/>
          </a:prstGeom>
        </p:spPr>
      </p:pic>
      <p:sp>
        <p:nvSpPr>
          <p:cNvPr id="24" name="Text 19"/>
          <p:cNvSpPr/>
          <p:nvPr/>
        </p:nvSpPr>
        <p:spPr>
          <a:xfrm>
            <a:off x="1104900" y="6134397"/>
            <a:ext cx="10515600" cy="368935"/>
          </a:xfrm>
          <a:prstGeom prst="rect">
            <a:avLst/>
          </a:prstGeom>
          <a:noFill/>
        </p:spPr>
        <p:txBody>
          <a:bodyPr wrap="square" lIns="0" tIns="0" rIns="0" bIns="0" rtlCol="0" anchor="t">
            <a:spAutoFit/>
          </a:bodyPr>
          <a:lstStyle/>
          <a:p>
            <a:pPr marL="0" indent="0" algn="l">
              <a:buNone/>
            </a:pPr>
            <a:r>
              <a:rPr lang="en-US" sz="1200" dirty="0">
                <a:solidFill>
                  <a:srgbClr val="E6EDF3"/>
                </a:solidFill>
                <a:latin typeface="Inter" pitchFamily="34" charset="0"/>
                <a:ea typeface="Inter" pitchFamily="34" charset="-122"/>
                <a:cs typeface="Inter" pitchFamily="34" charset="-120"/>
              </a:rPr>
              <a:t>CTF REALITY CHECK: </a:t>
            </a:r>
            <a:r>
              <a:rPr lang="en-US" sz="1200" dirty="0">
                <a:solidFill>
                  <a:srgbClr val="FF6B6B"/>
                </a:solidFill>
                <a:latin typeface="Inter" pitchFamily="34" charset="0"/>
                <a:ea typeface="Inter" pitchFamily="34" charset="-122"/>
                <a:cs typeface="Inter" pitchFamily="34" charset="-120"/>
              </a:rPr>
              <a:t>In CTFs, the key is usually given or hinted.</a:t>
            </a:r>
            <a:r>
              <a:rPr lang="en-US" sz="1200" dirty="0">
                <a:solidFill>
                  <a:srgbClr val="E6EDF3"/>
                </a:solidFill>
                <a:latin typeface="Inter" pitchFamily="34" charset="0"/>
                <a:ea typeface="Inter" pitchFamily="34" charset="-122"/>
                <a:cs typeface="Inter" pitchFamily="34" charset="-120"/>
              </a:rPr>
              <a:t> Focus on understanding the encryption/decryption mechanics first before attempting advanced cryptanalysis.</a:t>
            </a:r>
            <a:endParaRPr lang="en-US" sz="1200"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81609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75894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44 | EWUCSC</a:t>
            </a:r>
            <a:endParaRPr lang="en-US" sz="1265" dirty="0"/>
          </a:p>
        </p:txBody>
      </p:sp>
      <p:sp>
        <p:nvSpPr>
          <p:cNvPr id="7" name="Text 4"/>
          <p:cNvSpPr/>
          <p:nvPr/>
        </p:nvSpPr>
        <p:spPr>
          <a:xfrm>
            <a:off x="381000" y="952500"/>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ROT13 and ROT47: Quick CTF Wins</a:t>
            </a:r>
            <a:endParaRPr lang="en-US" sz="2800" dirty="0"/>
          </a:p>
        </p:txBody>
      </p:sp>
      <p:sp>
        <p:nvSpPr>
          <p:cNvPr id="8" name="Shape 5"/>
          <p:cNvSpPr/>
          <p:nvPr/>
        </p:nvSpPr>
        <p:spPr>
          <a:xfrm>
            <a:off x="381000" y="1838325"/>
            <a:ext cx="5572125" cy="3810000"/>
          </a:xfrm>
          <a:prstGeom prst="rect">
            <a:avLst/>
          </a:prstGeom>
          <a:solidFill>
            <a:srgbClr val="161B22"/>
          </a:solidFill>
          <a:ln w="9144">
            <a:solidFill>
              <a:srgbClr val="30363D"/>
            </a:solidFill>
            <a:prstDash val="solid"/>
          </a:ln>
        </p:spPr>
      </p:sp>
      <p:pic>
        <p:nvPicPr>
          <p:cNvPr id="9" name="Image 1" descr="preencoded.png"/>
          <p:cNvPicPr>
            <a:picLocks noChangeAspect="1"/>
          </p:cNvPicPr>
          <p:nvPr/>
        </p:nvPicPr>
        <p:blipFill>
          <a:blip r:embed="rId2"/>
          <a:stretch>
            <a:fillRect/>
          </a:stretch>
        </p:blipFill>
        <p:spPr>
          <a:xfrm>
            <a:off x="666751" y="2190751"/>
            <a:ext cx="266700" cy="266700"/>
          </a:xfrm>
          <a:prstGeom prst="rect">
            <a:avLst/>
          </a:prstGeom>
        </p:spPr>
      </p:pic>
      <p:sp>
        <p:nvSpPr>
          <p:cNvPr id="10" name="Text 6"/>
          <p:cNvSpPr/>
          <p:nvPr/>
        </p:nvSpPr>
        <p:spPr>
          <a:xfrm>
            <a:off x="1076325" y="2124075"/>
            <a:ext cx="718185" cy="307340"/>
          </a:xfrm>
          <a:prstGeom prst="rect">
            <a:avLst/>
          </a:prstGeom>
          <a:noFill/>
        </p:spPr>
        <p:txBody>
          <a:bodyPr wrap="none" lIns="0" tIns="0" rIns="0" bIns="0" rtlCol="0" anchor="t">
            <a:spAutoFit/>
          </a:bodyPr>
          <a:lstStyle/>
          <a:p>
            <a:pPr marL="0" indent="0" algn="l">
              <a:buNone/>
            </a:pPr>
            <a:r>
              <a:rPr lang="en-US" sz="2000" dirty="0">
                <a:solidFill>
                  <a:srgbClr val="58A6FF"/>
                </a:solidFill>
                <a:latin typeface="Poppins SemiBold" pitchFamily="34" charset="0"/>
                <a:ea typeface="Poppins SemiBold" pitchFamily="34" charset="-122"/>
                <a:cs typeface="Poppins SemiBold" pitchFamily="34" charset="-120"/>
              </a:rPr>
              <a:t>ROT13</a:t>
            </a:r>
            <a:endParaRPr lang="en-US" sz="2000" dirty="0"/>
          </a:p>
        </p:txBody>
      </p:sp>
      <p:sp>
        <p:nvSpPr>
          <p:cNvPr id="11" name="Text 7"/>
          <p:cNvSpPr/>
          <p:nvPr/>
        </p:nvSpPr>
        <p:spPr>
          <a:xfrm>
            <a:off x="666751" y="2714625"/>
            <a:ext cx="2073275" cy="280670"/>
          </a:xfrm>
          <a:prstGeom prst="rect">
            <a:avLst/>
          </a:prstGeom>
          <a:noFill/>
        </p:spPr>
        <p:txBody>
          <a:bodyPr wrap="none" lIns="0" tIns="0" rIns="0" bIns="0" rtlCol="0" anchor="t">
            <a:spAutoFit/>
          </a:bodyPr>
          <a:lstStyle/>
          <a:p>
            <a:pPr marL="0" indent="0" algn="l">
              <a:lnSpc>
                <a:spcPct val="144000"/>
              </a:lnSpc>
              <a:buNone/>
            </a:pPr>
            <a:r>
              <a:rPr lang="en-US" sz="1265" dirty="0">
                <a:solidFill>
                  <a:srgbClr val="E6EDF3"/>
                </a:solidFill>
                <a:latin typeface="Inter" pitchFamily="34" charset="0"/>
                <a:ea typeface="Inter" pitchFamily="34" charset="-122"/>
                <a:cs typeface="Inter" pitchFamily="34" charset="-120"/>
              </a:rPr>
              <a:t>Caesar cipher with shift K=13</a:t>
            </a:r>
            <a:endParaRPr lang="en-US" sz="1265" dirty="0"/>
          </a:p>
        </p:txBody>
      </p:sp>
      <p:sp>
        <p:nvSpPr>
          <p:cNvPr id="12" name="Text 8"/>
          <p:cNvSpPr/>
          <p:nvPr/>
        </p:nvSpPr>
        <p:spPr>
          <a:xfrm>
            <a:off x="666751" y="3118471"/>
            <a:ext cx="2658745" cy="280670"/>
          </a:xfrm>
          <a:prstGeom prst="rect">
            <a:avLst/>
          </a:prstGeom>
          <a:noFill/>
        </p:spPr>
        <p:txBody>
          <a:bodyPr wrap="none" lIns="0" tIns="0" rIns="0" bIns="0" rtlCol="0" anchor="t">
            <a:spAutoFit/>
          </a:bodyPr>
          <a:lstStyle/>
          <a:p>
            <a:pPr marL="0" indent="0" algn="l">
              <a:lnSpc>
                <a:spcPct val="144000"/>
              </a:lnSpc>
              <a:buNone/>
            </a:pPr>
            <a:r>
              <a:rPr lang="en-US" sz="1265" dirty="0">
                <a:solidFill>
                  <a:srgbClr val="E6EDF3"/>
                </a:solidFill>
                <a:latin typeface="Inter" pitchFamily="34" charset="0"/>
                <a:ea typeface="Inter" pitchFamily="34" charset="-122"/>
                <a:cs typeface="Inter" pitchFamily="34" charset="-120"/>
              </a:rPr>
              <a:t>Symmetric: apply twice to get original</a:t>
            </a:r>
            <a:endParaRPr lang="en-US" sz="1265" dirty="0"/>
          </a:p>
        </p:txBody>
      </p:sp>
      <p:sp>
        <p:nvSpPr>
          <p:cNvPr id="13" name="Text 9"/>
          <p:cNvSpPr/>
          <p:nvPr/>
        </p:nvSpPr>
        <p:spPr>
          <a:xfrm>
            <a:off x="666751" y="3522315"/>
            <a:ext cx="2654300" cy="280670"/>
          </a:xfrm>
          <a:prstGeom prst="rect">
            <a:avLst/>
          </a:prstGeom>
          <a:noFill/>
        </p:spPr>
        <p:txBody>
          <a:bodyPr wrap="none" lIns="0" tIns="0" rIns="0" bIns="0" rtlCol="0" anchor="t">
            <a:spAutoFit/>
          </a:bodyPr>
          <a:lstStyle/>
          <a:p>
            <a:pPr marL="0" indent="0" algn="l">
              <a:lnSpc>
                <a:spcPct val="144000"/>
              </a:lnSpc>
              <a:buNone/>
            </a:pPr>
            <a:r>
              <a:rPr lang="en-US" sz="1265" dirty="0">
                <a:solidFill>
                  <a:srgbClr val="E6EDF3"/>
                </a:solidFill>
                <a:latin typeface="Inter" pitchFamily="34" charset="0"/>
                <a:ea typeface="Inter" pitchFamily="34" charset="-122"/>
                <a:cs typeface="Inter" pitchFamily="34" charset="-120"/>
              </a:rPr>
              <a:t>Letters only (A-Z, a-z), preserves case</a:t>
            </a:r>
            <a:endParaRPr lang="en-US" sz="1265" dirty="0"/>
          </a:p>
        </p:txBody>
      </p:sp>
      <p:sp>
        <p:nvSpPr>
          <p:cNvPr id="14" name="Text 10"/>
          <p:cNvSpPr/>
          <p:nvPr/>
        </p:nvSpPr>
        <p:spPr>
          <a:xfrm>
            <a:off x="666751" y="3926160"/>
            <a:ext cx="2786380" cy="280670"/>
          </a:xfrm>
          <a:prstGeom prst="rect">
            <a:avLst/>
          </a:prstGeom>
          <a:noFill/>
        </p:spPr>
        <p:txBody>
          <a:bodyPr wrap="none" lIns="0" tIns="0" rIns="0" bIns="0" rtlCol="0" anchor="t">
            <a:spAutoFit/>
          </a:bodyPr>
          <a:lstStyle/>
          <a:p>
            <a:pPr marL="0" indent="0" algn="l">
              <a:lnSpc>
                <a:spcPct val="144000"/>
              </a:lnSpc>
              <a:buNone/>
            </a:pPr>
            <a:r>
              <a:rPr lang="en-US" sz="1265" dirty="0">
                <a:solidFill>
                  <a:srgbClr val="E6EDF3"/>
                </a:solidFill>
                <a:latin typeface="Inter" pitchFamily="34" charset="0"/>
                <a:ea typeface="Inter" pitchFamily="34" charset="-122"/>
                <a:cs typeface="Inter" pitchFamily="34" charset="-120"/>
              </a:rPr>
              <a:t>Used for spoilers and basic obfuscation</a:t>
            </a:r>
            <a:endParaRPr lang="en-US" sz="1265" dirty="0"/>
          </a:p>
        </p:txBody>
      </p:sp>
      <p:sp>
        <p:nvSpPr>
          <p:cNvPr id="15" name="Shape 11"/>
          <p:cNvSpPr/>
          <p:nvPr/>
        </p:nvSpPr>
        <p:spPr>
          <a:xfrm>
            <a:off x="666751" y="4425256"/>
            <a:ext cx="5000625" cy="561975"/>
          </a:xfrm>
          <a:prstGeom prst="rect">
            <a:avLst/>
          </a:prstGeom>
          <a:solidFill>
            <a:srgbClr val="0D1117"/>
          </a:solidFill>
          <a:ln w="9144">
            <a:solidFill>
              <a:srgbClr val="30363D"/>
            </a:solidFill>
            <a:prstDash val="solid"/>
          </a:ln>
        </p:spPr>
      </p:sp>
      <p:sp>
        <p:nvSpPr>
          <p:cNvPr id="16" name="Text 12"/>
          <p:cNvSpPr/>
          <p:nvPr/>
        </p:nvSpPr>
        <p:spPr>
          <a:xfrm>
            <a:off x="666751" y="4425256"/>
            <a:ext cx="5000625" cy="519430"/>
          </a:xfrm>
          <a:prstGeom prst="rect">
            <a:avLst/>
          </a:prstGeom>
          <a:noFill/>
        </p:spPr>
        <p:txBody>
          <a:bodyPr wrap="square" lIns="170010" tIns="170010" rIns="170010" bIns="0" rtlCol="0" anchor="t">
            <a:spAutoFit/>
          </a:bodyPr>
          <a:lstStyle/>
          <a:p>
            <a:pPr marL="0" indent="0" algn="l">
              <a:buNone/>
            </a:pPr>
            <a:r>
              <a:rPr lang="en-US" sz="1135" dirty="0">
                <a:solidFill>
                  <a:srgbClr val="8B949E"/>
                </a:solidFill>
                <a:latin typeface="JetBrains Mono Medium" pitchFamily="34" charset="0"/>
                <a:ea typeface="JetBrains Mono Medium" pitchFamily="34" charset="-122"/>
                <a:cs typeface="JetBrains Mono Medium" pitchFamily="34" charset="-120"/>
              </a:rPr>
              <a:t>Input:</a:t>
            </a:r>
            <a:r>
              <a:rPr lang="en-US" sz="1135" dirty="0">
                <a:solidFill>
                  <a:srgbClr val="E6EDF3"/>
                </a:solidFill>
                <a:latin typeface="JetBrains Mono Medium" pitchFamily="34" charset="0"/>
                <a:ea typeface="JetBrains Mono Medium" pitchFamily="34" charset="-122"/>
                <a:cs typeface="JetBrains Mono Medium" pitchFamily="34" charset="-120"/>
              </a:rPr>
              <a:t> Hello
</a:t>
            </a:r>
            <a:r>
              <a:rPr lang="en-US" sz="1135" dirty="0">
                <a:solidFill>
                  <a:srgbClr val="58A6FF"/>
                </a:solidFill>
                <a:latin typeface="JetBrains Mono Medium" pitchFamily="34" charset="0"/>
                <a:ea typeface="JetBrains Mono Medium" pitchFamily="34" charset="-122"/>
                <a:cs typeface="JetBrains Mono Medium" pitchFamily="34" charset="-120"/>
              </a:rPr>
              <a:t>Output:</a:t>
            </a:r>
            <a:r>
              <a:rPr lang="en-US" sz="1135" dirty="0">
                <a:solidFill>
                  <a:srgbClr val="E6EDF3"/>
                </a:solidFill>
                <a:latin typeface="JetBrains Mono Medium" pitchFamily="34" charset="0"/>
                <a:ea typeface="JetBrains Mono Medium" pitchFamily="34" charset="-122"/>
                <a:cs typeface="JetBrains Mono Medium" pitchFamily="34" charset="-120"/>
              </a:rPr>
              <a:t> Uryyb</a:t>
            </a:r>
            <a:endParaRPr lang="en-US" sz="1135" dirty="0"/>
          </a:p>
        </p:txBody>
      </p:sp>
      <p:sp>
        <p:nvSpPr>
          <p:cNvPr id="17" name="Shape 13"/>
          <p:cNvSpPr/>
          <p:nvPr/>
        </p:nvSpPr>
        <p:spPr>
          <a:xfrm>
            <a:off x="6238875" y="1838325"/>
            <a:ext cx="5572125" cy="3810000"/>
          </a:xfrm>
          <a:prstGeom prst="rect">
            <a:avLst/>
          </a:prstGeom>
          <a:solidFill>
            <a:srgbClr val="161B22"/>
          </a:solidFill>
          <a:ln w="9144">
            <a:solidFill>
              <a:srgbClr val="30363D"/>
            </a:solidFill>
            <a:prstDash val="solid"/>
          </a:ln>
        </p:spPr>
      </p:sp>
      <p:pic>
        <p:nvPicPr>
          <p:cNvPr id="18" name="Image 2" descr="preencoded.png"/>
          <p:cNvPicPr>
            <a:picLocks noChangeAspect="1"/>
          </p:cNvPicPr>
          <p:nvPr/>
        </p:nvPicPr>
        <p:blipFill>
          <a:blip r:embed="rId3"/>
          <a:stretch>
            <a:fillRect/>
          </a:stretch>
        </p:blipFill>
        <p:spPr>
          <a:xfrm>
            <a:off x="6524625" y="2190751"/>
            <a:ext cx="266700" cy="266700"/>
          </a:xfrm>
          <a:prstGeom prst="rect">
            <a:avLst/>
          </a:prstGeom>
        </p:spPr>
      </p:pic>
      <p:sp>
        <p:nvSpPr>
          <p:cNvPr id="19" name="Text 14"/>
          <p:cNvSpPr/>
          <p:nvPr/>
        </p:nvSpPr>
        <p:spPr>
          <a:xfrm>
            <a:off x="6934200" y="2124075"/>
            <a:ext cx="718185" cy="307340"/>
          </a:xfrm>
          <a:prstGeom prst="rect">
            <a:avLst/>
          </a:prstGeom>
          <a:noFill/>
        </p:spPr>
        <p:txBody>
          <a:bodyPr wrap="none" lIns="0" tIns="0" rIns="0" bIns="0" rtlCol="0" anchor="t">
            <a:spAutoFit/>
          </a:bodyPr>
          <a:lstStyle/>
          <a:p>
            <a:pPr marL="0" indent="0" algn="l">
              <a:buNone/>
            </a:pPr>
            <a:r>
              <a:rPr lang="en-US" sz="2000" dirty="0">
                <a:solidFill>
                  <a:srgbClr val="FF6B6B"/>
                </a:solidFill>
                <a:latin typeface="Poppins SemiBold" pitchFamily="34" charset="0"/>
                <a:ea typeface="Poppins SemiBold" pitchFamily="34" charset="-122"/>
                <a:cs typeface="Poppins SemiBold" pitchFamily="34" charset="-120"/>
              </a:rPr>
              <a:t>ROT47</a:t>
            </a:r>
            <a:endParaRPr lang="en-US" sz="2000" dirty="0"/>
          </a:p>
        </p:txBody>
      </p:sp>
      <p:sp>
        <p:nvSpPr>
          <p:cNvPr id="20" name="Text 15"/>
          <p:cNvSpPr/>
          <p:nvPr/>
        </p:nvSpPr>
        <p:spPr>
          <a:xfrm>
            <a:off x="6524625" y="2714625"/>
            <a:ext cx="2643505" cy="280670"/>
          </a:xfrm>
          <a:prstGeom prst="rect">
            <a:avLst/>
          </a:prstGeom>
          <a:noFill/>
        </p:spPr>
        <p:txBody>
          <a:bodyPr wrap="none" lIns="0" tIns="0" rIns="0" bIns="0" rtlCol="0" anchor="t">
            <a:spAutoFit/>
          </a:bodyPr>
          <a:lstStyle/>
          <a:p>
            <a:pPr marL="0" indent="0" algn="l">
              <a:lnSpc>
                <a:spcPct val="144000"/>
              </a:lnSpc>
              <a:buNone/>
            </a:pPr>
            <a:r>
              <a:rPr lang="en-US" sz="1265" dirty="0">
                <a:solidFill>
                  <a:srgbClr val="E6EDF3"/>
                </a:solidFill>
                <a:latin typeface="Inter" pitchFamily="34" charset="0"/>
                <a:ea typeface="Inter" pitchFamily="34" charset="-122"/>
                <a:cs typeface="Inter" pitchFamily="34" charset="-120"/>
              </a:rPr>
              <a:t>Rotates ALL printable ASCII (33–126)</a:t>
            </a:r>
            <a:endParaRPr lang="en-US" sz="1265" dirty="0"/>
          </a:p>
        </p:txBody>
      </p:sp>
      <p:sp>
        <p:nvSpPr>
          <p:cNvPr id="21" name="Text 16"/>
          <p:cNvSpPr/>
          <p:nvPr/>
        </p:nvSpPr>
        <p:spPr>
          <a:xfrm>
            <a:off x="6524625" y="3118471"/>
            <a:ext cx="1499870" cy="280670"/>
          </a:xfrm>
          <a:prstGeom prst="rect">
            <a:avLst/>
          </a:prstGeom>
          <a:noFill/>
        </p:spPr>
        <p:txBody>
          <a:bodyPr wrap="none" lIns="0" tIns="0" rIns="0" bIns="0" rtlCol="0" anchor="t">
            <a:spAutoFit/>
          </a:bodyPr>
          <a:lstStyle/>
          <a:p>
            <a:pPr marL="0" indent="0" algn="l">
              <a:lnSpc>
                <a:spcPct val="144000"/>
              </a:lnSpc>
              <a:buNone/>
            </a:pPr>
            <a:r>
              <a:rPr lang="en-US" sz="1265" dirty="0">
                <a:solidFill>
                  <a:srgbClr val="E6EDF3"/>
                </a:solidFill>
                <a:latin typeface="Inter" pitchFamily="34" charset="0"/>
                <a:ea typeface="Inter" pitchFamily="34" charset="-122"/>
                <a:cs typeface="Inter" pitchFamily="34" charset="-120"/>
              </a:rPr>
              <a:t>47 character rotation</a:t>
            </a:r>
            <a:endParaRPr lang="en-US" sz="1265" dirty="0"/>
          </a:p>
        </p:txBody>
      </p:sp>
      <p:sp>
        <p:nvSpPr>
          <p:cNvPr id="22" name="Text 17"/>
          <p:cNvSpPr/>
          <p:nvPr/>
        </p:nvSpPr>
        <p:spPr>
          <a:xfrm>
            <a:off x="6524625" y="3522315"/>
            <a:ext cx="2764155" cy="280670"/>
          </a:xfrm>
          <a:prstGeom prst="rect">
            <a:avLst/>
          </a:prstGeom>
          <a:noFill/>
        </p:spPr>
        <p:txBody>
          <a:bodyPr wrap="none" lIns="0" tIns="0" rIns="0" bIns="0" rtlCol="0" anchor="t">
            <a:spAutoFit/>
          </a:bodyPr>
          <a:lstStyle/>
          <a:p>
            <a:pPr marL="0" indent="0" algn="l">
              <a:lnSpc>
                <a:spcPct val="144000"/>
              </a:lnSpc>
              <a:buNone/>
            </a:pPr>
            <a:r>
              <a:rPr lang="en-US" sz="1265" dirty="0">
                <a:solidFill>
                  <a:srgbClr val="E6EDF3"/>
                </a:solidFill>
                <a:latin typeface="Inter" pitchFamily="34" charset="0"/>
                <a:ea typeface="Inter" pitchFamily="34" charset="-122"/>
                <a:cs typeface="Inter" pitchFamily="34" charset="-120"/>
              </a:rPr>
              <a:t>Includes numbers, symbols, and letters</a:t>
            </a:r>
            <a:endParaRPr lang="en-US" sz="1265" dirty="0"/>
          </a:p>
        </p:txBody>
      </p:sp>
      <p:sp>
        <p:nvSpPr>
          <p:cNvPr id="23" name="Text 18"/>
          <p:cNvSpPr/>
          <p:nvPr/>
        </p:nvSpPr>
        <p:spPr>
          <a:xfrm>
            <a:off x="6524625" y="3926160"/>
            <a:ext cx="2567305" cy="280670"/>
          </a:xfrm>
          <a:prstGeom prst="rect">
            <a:avLst/>
          </a:prstGeom>
          <a:noFill/>
        </p:spPr>
        <p:txBody>
          <a:bodyPr wrap="none" lIns="0" tIns="0" rIns="0" bIns="0" rtlCol="0" anchor="t">
            <a:spAutoFit/>
          </a:bodyPr>
          <a:lstStyle/>
          <a:p>
            <a:pPr marL="0" indent="0" algn="l">
              <a:lnSpc>
                <a:spcPct val="144000"/>
              </a:lnSpc>
              <a:buNone/>
            </a:pPr>
            <a:r>
              <a:rPr lang="en-US" sz="1265" dirty="0">
                <a:solidFill>
                  <a:srgbClr val="E6EDF3"/>
                </a:solidFill>
                <a:latin typeface="Inter" pitchFamily="34" charset="0"/>
                <a:ea typeface="Inter" pitchFamily="34" charset="-122"/>
                <a:cs typeface="Inter" pitchFamily="34" charset="-120"/>
              </a:rPr>
              <a:t>Much more "scrambled" appearance</a:t>
            </a:r>
            <a:endParaRPr lang="en-US" sz="1265" dirty="0"/>
          </a:p>
        </p:txBody>
      </p:sp>
      <p:sp>
        <p:nvSpPr>
          <p:cNvPr id="24" name="Shape 19"/>
          <p:cNvSpPr/>
          <p:nvPr/>
        </p:nvSpPr>
        <p:spPr>
          <a:xfrm>
            <a:off x="6524625" y="4425256"/>
            <a:ext cx="5000625" cy="561975"/>
          </a:xfrm>
          <a:prstGeom prst="rect">
            <a:avLst/>
          </a:prstGeom>
          <a:solidFill>
            <a:srgbClr val="0D1117"/>
          </a:solidFill>
          <a:ln w="9144">
            <a:solidFill>
              <a:srgbClr val="30363D"/>
            </a:solidFill>
            <a:prstDash val="solid"/>
          </a:ln>
        </p:spPr>
      </p:sp>
      <p:sp>
        <p:nvSpPr>
          <p:cNvPr id="25" name="Text 20"/>
          <p:cNvSpPr/>
          <p:nvPr/>
        </p:nvSpPr>
        <p:spPr>
          <a:xfrm>
            <a:off x="6524625" y="4425256"/>
            <a:ext cx="5000625" cy="519430"/>
          </a:xfrm>
          <a:prstGeom prst="rect">
            <a:avLst/>
          </a:prstGeom>
          <a:noFill/>
        </p:spPr>
        <p:txBody>
          <a:bodyPr wrap="square" lIns="170010" tIns="170010" rIns="170010" bIns="0" rtlCol="0" anchor="t">
            <a:spAutoFit/>
          </a:bodyPr>
          <a:lstStyle/>
          <a:p>
            <a:pPr marL="0" indent="0" algn="l">
              <a:buNone/>
            </a:pPr>
            <a:r>
              <a:rPr lang="en-US" sz="1135" dirty="0">
                <a:solidFill>
                  <a:srgbClr val="8B949E"/>
                </a:solidFill>
                <a:latin typeface="JetBrains Mono Medium" pitchFamily="34" charset="0"/>
                <a:ea typeface="JetBrains Mono Medium" pitchFamily="34" charset="-122"/>
                <a:cs typeface="JetBrains Mono Medium" pitchFamily="34" charset="-120"/>
              </a:rPr>
              <a:t>Input:</a:t>
            </a:r>
            <a:r>
              <a:rPr lang="en-US" sz="1135" dirty="0">
                <a:solidFill>
                  <a:srgbClr val="E6EDF3"/>
                </a:solidFill>
                <a:latin typeface="JetBrains Mono Medium" pitchFamily="34" charset="0"/>
                <a:ea typeface="JetBrains Mono Medium" pitchFamily="34" charset="-122"/>
                <a:cs typeface="JetBrains Mono Medium" pitchFamily="34" charset="-120"/>
              </a:rPr>
              <a:t> Hello, World!
</a:t>
            </a:r>
            <a:r>
              <a:rPr lang="en-US" sz="1135" dirty="0">
                <a:solidFill>
                  <a:srgbClr val="FF6B6B"/>
                </a:solidFill>
                <a:latin typeface="JetBrains Mono Medium" pitchFamily="34" charset="0"/>
                <a:ea typeface="JetBrains Mono Medium" pitchFamily="34" charset="-122"/>
                <a:cs typeface="JetBrains Mono Medium" pitchFamily="34" charset="-120"/>
              </a:rPr>
              <a:t>Output:</a:t>
            </a:r>
            <a:r>
              <a:rPr lang="en-US" sz="1135" dirty="0">
                <a:solidFill>
                  <a:srgbClr val="E6EDF3"/>
                </a:solidFill>
                <a:latin typeface="JetBrains Mono Medium" pitchFamily="34" charset="0"/>
                <a:ea typeface="JetBrains Mono Medium" pitchFamily="34" charset="-122"/>
                <a:cs typeface="JetBrains Mono Medium" pitchFamily="34" charset="-120"/>
              </a:rPr>
              <a:t> w6==@[ (@C=5P</a:t>
            </a:r>
            <a:endParaRPr lang="en-US" sz="1135" dirty="0"/>
          </a:p>
        </p:txBody>
      </p:sp>
      <p:sp>
        <p:nvSpPr>
          <p:cNvPr id="26" name="Shape 21"/>
          <p:cNvSpPr/>
          <p:nvPr/>
        </p:nvSpPr>
        <p:spPr>
          <a:xfrm>
            <a:off x="381000" y="5934075"/>
            <a:ext cx="11430000" cy="495300"/>
          </a:xfrm>
          <a:prstGeom prst="rect">
            <a:avLst/>
          </a:prstGeom>
          <a:solidFill>
            <a:srgbClr val="E3B341">
              <a:alpha val="10000"/>
            </a:srgbClr>
          </a:solidFill>
          <a:ln w="9144">
            <a:solidFill>
              <a:srgbClr val="E3B341"/>
            </a:solidFill>
            <a:prstDash val="solid"/>
          </a:ln>
        </p:spPr>
      </p:sp>
      <p:pic>
        <p:nvPicPr>
          <p:cNvPr id="27" name="Image 3" descr="preencoded.png"/>
          <p:cNvPicPr>
            <a:picLocks noChangeAspect="1"/>
          </p:cNvPicPr>
          <p:nvPr/>
        </p:nvPicPr>
        <p:blipFill>
          <a:blip r:embed="rId4"/>
          <a:stretch>
            <a:fillRect/>
          </a:stretch>
        </p:blipFill>
        <p:spPr>
          <a:xfrm>
            <a:off x="571500" y="6172200"/>
            <a:ext cx="142875" cy="190500"/>
          </a:xfrm>
          <a:prstGeom prst="rect">
            <a:avLst/>
          </a:prstGeom>
        </p:spPr>
      </p:pic>
      <p:sp>
        <p:nvSpPr>
          <p:cNvPr id="28" name="Text 22"/>
          <p:cNvSpPr/>
          <p:nvPr/>
        </p:nvSpPr>
        <p:spPr>
          <a:xfrm>
            <a:off x="857251" y="6124575"/>
            <a:ext cx="9117807" cy="215265"/>
          </a:xfrm>
          <a:prstGeom prst="rect">
            <a:avLst/>
          </a:prstGeom>
          <a:noFill/>
        </p:spPr>
        <p:txBody>
          <a:bodyPr wrap="square" lIns="0" tIns="0" rIns="0" bIns="0" rtlCol="0" anchor="t">
            <a:spAutoFit/>
          </a:bodyPr>
          <a:lstStyle/>
          <a:p>
            <a:pPr marL="0" indent="0" algn="l">
              <a:buNone/>
            </a:pPr>
            <a:r>
              <a:rPr lang="en-US" sz="1335" b="1" dirty="0">
                <a:solidFill>
                  <a:srgbClr val="E3B341"/>
                </a:solidFill>
                <a:latin typeface="Poppins SemiBold" pitchFamily="34" charset="0"/>
                <a:ea typeface="Poppins SemiBold" pitchFamily="34" charset="-122"/>
                <a:cs typeface="Poppins SemiBold" pitchFamily="34" charset="-120"/>
              </a:rPr>
              <a:t>CTF TIP:</a:t>
            </a:r>
            <a:r>
              <a:rPr lang="en-US" sz="1400" dirty="0">
                <a:solidFill>
                  <a:srgbClr val="E3B341"/>
                </a:solidFill>
                <a:latin typeface="Poppins SemiBold" pitchFamily="34" charset="0"/>
                <a:ea typeface="Poppins SemiBold" pitchFamily="34" charset="-122"/>
                <a:cs typeface="Poppins SemiBold" pitchFamily="34" charset="-120"/>
              </a:rPr>
              <a:t> If you see a string where letters AND symbols appear shifted — try </a:t>
            </a:r>
            <a:r>
              <a:rPr lang="en-US" sz="1400" dirty="0">
                <a:solidFill>
                  <a:srgbClr val="00FF9C"/>
                </a:solidFill>
                <a:latin typeface="JetBrains Mono Medium" pitchFamily="34" charset="0"/>
                <a:ea typeface="JetBrains Mono Medium" pitchFamily="34" charset="-122"/>
                <a:cs typeface="JetBrains Mono Medium" pitchFamily="34" charset="-120"/>
              </a:rPr>
              <a:t>ROT47</a:t>
            </a:r>
            <a:r>
              <a:rPr lang="en-US" sz="1400" dirty="0">
                <a:solidFill>
                  <a:srgbClr val="E3B341"/>
                </a:solidFill>
                <a:latin typeface="Poppins SemiBold" pitchFamily="34" charset="0"/>
                <a:ea typeface="Poppins SemiBold" pitchFamily="34" charset="-122"/>
                <a:cs typeface="Poppins SemiBold" pitchFamily="34" charset="-120"/>
              </a:rPr>
              <a:t> immediately.</a:t>
            </a:r>
            <a:endParaRPr lang="en-US" sz="133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47319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1604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45 | EWUCSC</a:t>
            </a:r>
            <a:endParaRPr lang="en-US" sz="1265" dirty="0"/>
          </a:p>
        </p:txBody>
      </p:sp>
      <p:sp>
        <p:nvSpPr>
          <p:cNvPr id="7" name="Text 4"/>
          <p:cNvSpPr/>
          <p:nvPr/>
        </p:nvSpPr>
        <p:spPr>
          <a:xfrm>
            <a:off x="381000" y="952500"/>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Substitution Cipher: Randomized Alphabet</a:t>
            </a:r>
            <a:endParaRPr lang="en-US" sz="2800" dirty="0"/>
          </a:p>
        </p:txBody>
      </p:sp>
      <p:sp>
        <p:nvSpPr>
          <p:cNvPr id="8" name="Text 5"/>
          <p:cNvSpPr/>
          <p:nvPr/>
        </p:nvSpPr>
        <p:spPr>
          <a:xfrm>
            <a:off x="381000" y="1838325"/>
            <a:ext cx="6686551" cy="74993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E6EDF3"/>
                </a:solidFill>
                <a:latin typeface="Inter" pitchFamily="34" charset="0"/>
                <a:ea typeface="Inter" pitchFamily="34" charset="-122"/>
                <a:cs typeface="Inter" pitchFamily="34" charset="-120"/>
              </a:rPr>
              <a:t>Instead of a fixed shift like Caesar, a </a:t>
            </a:r>
            <a:r>
              <a:rPr lang="en-US" sz="1200" b="1" dirty="0">
                <a:solidFill>
                  <a:srgbClr val="E6EDF3"/>
                </a:solidFill>
                <a:latin typeface="Inter" pitchFamily="34" charset="0"/>
                <a:ea typeface="Inter" pitchFamily="34" charset="-122"/>
                <a:cs typeface="Inter" pitchFamily="34" charset="-120"/>
              </a:rPr>
              <a:t>Substitution Cipher</a:t>
            </a:r>
            <a:r>
              <a:rPr lang="en-US" sz="1265" dirty="0">
                <a:solidFill>
                  <a:srgbClr val="E6EDF3"/>
                </a:solidFill>
                <a:latin typeface="Inter" pitchFamily="34" charset="0"/>
                <a:ea typeface="Inter" pitchFamily="34" charset="-122"/>
                <a:cs typeface="Inter" pitchFamily="34" charset="-120"/>
              </a:rPr>
              <a:t> maps each letter of the alphabet to a completely random different letter. This removes the "shift" pattern but preserves the frequency of individual letters.</a:t>
            </a:r>
            <a:endParaRPr lang="en-US" sz="1265" dirty="0"/>
          </a:p>
        </p:txBody>
      </p:sp>
      <p:sp>
        <p:nvSpPr>
          <p:cNvPr id="9" name="Shape 6"/>
          <p:cNvSpPr/>
          <p:nvPr/>
        </p:nvSpPr>
        <p:spPr>
          <a:xfrm>
            <a:off x="7353300" y="1838325"/>
            <a:ext cx="4457700" cy="1053293"/>
          </a:xfrm>
          <a:prstGeom prst="rect">
            <a:avLst/>
          </a:prstGeom>
          <a:solidFill>
            <a:srgbClr val="FF6B6B">
              <a:alpha val="10000"/>
            </a:srgbClr>
          </a:solidFill>
          <a:ln w="9144">
            <a:solidFill>
              <a:srgbClr val="FF6B6B"/>
            </a:solidFill>
            <a:prstDash val="solid"/>
          </a:ln>
        </p:spPr>
      </p:sp>
      <p:sp>
        <p:nvSpPr>
          <p:cNvPr id="10" name="Text 7"/>
          <p:cNvSpPr/>
          <p:nvPr/>
        </p:nvSpPr>
        <p:spPr>
          <a:xfrm>
            <a:off x="7543800" y="2028825"/>
            <a:ext cx="4076700" cy="174625"/>
          </a:xfrm>
          <a:prstGeom prst="rect">
            <a:avLst/>
          </a:prstGeom>
          <a:noFill/>
        </p:spPr>
        <p:txBody>
          <a:bodyPr wrap="square" lIns="0" tIns="0" rIns="0" bIns="0" rtlCol="0" anchor="t">
            <a:spAutoFit/>
          </a:bodyPr>
          <a:lstStyle/>
          <a:p>
            <a:pPr marL="0" indent="0" algn="l">
              <a:buNone/>
            </a:pPr>
            <a:r>
              <a:rPr lang="en-US" sz="1135" dirty="0">
                <a:solidFill>
                  <a:srgbClr val="FF6B6B"/>
                </a:solidFill>
                <a:latin typeface="Poppins SemiBold" pitchFamily="34" charset="0"/>
                <a:ea typeface="Poppins SemiBold" pitchFamily="34" charset="-122"/>
                <a:cs typeface="Poppins SemiBold" pitchFamily="34" charset="-120"/>
              </a:rPr>
              <a:t>BRUTE FORCE IMPOSSIBLE</a:t>
            </a:r>
            <a:endParaRPr lang="en-US" sz="1135" dirty="0"/>
          </a:p>
        </p:txBody>
      </p:sp>
      <p:sp>
        <p:nvSpPr>
          <p:cNvPr id="11" name="Text 8"/>
          <p:cNvSpPr/>
          <p:nvPr/>
        </p:nvSpPr>
        <p:spPr>
          <a:xfrm>
            <a:off x="7543800" y="2386793"/>
            <a:ext cx="1892647" cy="236220"/>
          </a:xfrm>
          <a:prstGeom prst="rect">
            <a:avLst/>
          </a:prstGeom>
          <a:noFill/>
        </p:spPr>
        <p:txBody>
          <a:bodyPr wrap="square" lIns="0" tIns="0" rIns="0" bIns="0" rtlCol="0" anchor="t">
            <a:spAutoFit/>
          </a:bodyPr>
          <a:lstStyle/>
          <a:p>
            <a:pPr marL="0" indent="0" algn="l">
              <a:buNone/>
            </a:pPr>
            <a:r>
              <a:rPr lang="en-US" sz="1535" dirty="0">
                <a:solidFill>
                  <a:srgbClr val="E6EDF3"/>
                </a:solidFill>
                <a:latin typeface="JetBrains Mono Medium" pitchFamily="34" charset="0"/>
                <a:ea typeface="JetBrains Mono Medium" pitchFamily="34" charset="-122"/>
                <a:cs typeface="JetBrains Mono Medium" pitchFamily="34" charset="-120"/>
              </a:rPr>
              <a:t>26! ≈ 4.03 × 10</a:t>
            </a:r>
            <a:endParaRPr lang="en-US" sz="1535" dirty="0"/>
          </a:p>
        </p:txBody>
      </p:sp>
      <p:sp>
        <p:nvSpPr>
          <p:cNvPr id="12" name="Text 9"/>
          <p:cNvSpPr/>
          <p:nvPr/>
        </p:nvSpPr>
        <p:spPr>
          <a:xfrm>
            <a:off x="9436447" y="2350293"/>
            <a:ext cx="107950" cy="126365"/>
          </a:xfrm>
          <a:prstGeom prst="rect">
            <a:avLst/>
          </a:prstGeom>
          <a:noFill/>
        </p:spPr>
        <p:txBody>
          <a:bodyPr wrap="none" lIns="0" tIns="0" rIns="0" bIns="0" rtlCol="0" anchor="t">
            <a:spAutoFit/>
          </a:bodyPr>
          <a:lstStyle/>
          <a:p>
            <a:pPr marL="0" indent="0" algn="l">
              <a:buNone/>
            </a:pPr>
            <a:r>
              <a:rPr lang="en-US" sz="1265" baseline="30000" dirty="0">
                <a:solidFill>
                  <a:srgbClr val="E6EDF3"/>
                </a:solidFill>
                <a:latin typeface="JetBrains Mono Medium" pitchFamily="34" charset="0"/>
                <a:ea typeface="JetBrains Mono Medium" pitchFamily="34" charset="-122"/>
                <a:cs typeface="JetBrains Mono Medium" pitchFamily="34" charset="-120"/>
              </a:rPr>
              <a:t>26</a:t>
            </a:r>
            <a:endParaRPr lang="en-US" sz="1265" dirty="0"/>
          </a:p>
        </p:txBody>
      </p:sp>
      <p:sp>
        <p:nvSpPr>
          <p:cNvPr id="13" name="Text 10"/>
          <p:cNvSpPr/>
          <p:nvPr/>
        </p:nvSpPr>
        <p:spPr>
          <a:xfrm>
            <a:off x="7543800" y="2710644"/>
            <a:ext cx="40767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That's more combinations than stars in the observable universe.</a:t>
            </a:r>
            <a:endParaRPr lang="en-US" sz="1000" dirty="0"/>
          </a:p>
        </p:txBody>
      </p:sp>
      <p:sp>
        <p:nvSpPr>
          <p:cNvPr id="14" name="Shape 11"/>
          <p:cNvSpPr/>
          <p:nvPr/>
        </p:nvSpPr>
        <p:spPr>
          <a:xfrm>
            <a:off x="381000" y="3158319"/>
            <a:ext cx="11430000" cy="1052512"/>
          </a:xfrm>
          <a:prstGeom prst="rect">
            <a:avLst/>
          </a:prstGeom>
          <a:solidFill>
            <a:srgbClr val="161B22"/>
          </a:solidFill>
          <a:ln w="9144">
            <a:solidFill>
              <a:srgbClr val="30363D"/>
            </a:solidFill>
            <a:prstDash val="solid"/>
          </a:ln>
        </p:spPr>
      </p:sp>
      <p:sp>
        <p:nvSpPr>
          <p:cNvPr id="15" name="Text 12"/>
          <p:cNvSpPr/>
          <p:nvPr/>
        </p:nvSpPr>
        <p:spPr>
          <a:xfrm>
            <a:off x="571500" y="3348819"/>
            <a:ext cx="110490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JetBrains Mono Medium" pitchFamily="34" charset="0"/>
                <a:ea typeface="JetBrains Mono Medium" pitchFamily="34" charset="-122"/>
                <a:cs typeface="JetBrains Mono Medium" pitchFamily="34" charset="-120"/>
              </a:rPr>
              <a:t>Example Substitution Key</a:t>
            </a:r>
            <a:endParaRPr lang="en-US" sz="1000" dirty="0"/>
          </a:p>
        </p:txBody>
      </p:sp>
      <p:sp>
        <p:nvSpPr>
          <p:cNvPr id="16" name="Shape 13"/>
          <p:cNvSpPr/>
          <p:nvPr/>
        </p:nvSpPr>
        <p:spPr>
          <a:xfrm>
            <a:off x="576263" y="3625044"/>
            <a:ext cx="1202867" cy="280988"/>
          </a:xfrm>
          <a:prstGeom prst="rect">
            <a:avLst/>
          </a:prstGeom>
          <a:solidFill>
            <a:srgbClr val="0D1117"/>
          </a:solidFill>
          <a:ln w="9144">
            <a:solidFill>
              <a:srgbClr val="30363D"/>
            </a:solidFill>
            <a:prstDash val="solid"/>
          </a:ln>
        </p:spPr>
      </p:sp>
      <p:sp>
        <p:nvSpPr>
          <p:cNvPr id="17" name="Text 14"/>
          <p:cNvSpPr/>
          <p:nvPr/>
        </p:nvSpPr>
        <p:spPr>
          <a:xfrm>
            <a:off x="991006" y="3636951"/>
            <a:ext cx="373380" cy="257175"/>
          </a:xfrm>
          <a:prstGeom prst="rect">
            <a:avLst/>
          </a:prstGeom>
          <a:noFill/>
        </p:spPr>
        <p:txBody>
          <a:bodyPr wrap="none" lIns="56726" tIns="113453" rIns="56726" bIns="0" rtlCol="0" anchor="ctr">
            <a:spAutoFit/>
          </a:bodyPr>
          <a:lstStyle/>
          <a:p>
            <a:pPr marL="0" indent="0" algn="ctr">
              <a:buNone/>
            </a:pPr>
            <a:r>
              <a:rPr lang="en-US" sz="935" b="1" dirty="0">
                <a:solidFill>
                  <a:srgbClr val="8B949E"/>
                </a:solidFill>
                <a:latin typeface="JetBrains Mono Medium" pitchFamily="34" charset="0"/>
                <a:ea typeface="JetBrains Mono Medium" pitchFamily="34" charset="-122"/>
                <a:cs typeface="JetBrains Mono Medium" pitchFamily="34" charset="-120"/>
              </a:rPr>
              <a:t>Plain</a:t>
            </a:r>
            <a:endParaRPr lang="en-US" sz="935" dirty="0"/>
          </a:p>
        </p:txBody>
      </p:sp>
      <p:sp>
        <p:nvSpPr>
          <p:cNvPr id="18" name="Text 15"/>
          <p:cNvSpPr/>
          <p:nvPr/>
        </p:nvSpPr>
        <p:spPr>
          <a:xfrm>
            <a:off x="1873991" y="3632188"/>
            <a:ext cx="188595"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A</a:t>
            </a:r>
            <a:endParaRPr lang="en-US" sz="1000" dirty="0"/>
          </a:p>
        </p:txBody>
      </p:sp>
      <p:sp>
        <p:nvSpPr>
          <p:cNvPr id="19" name="Text 16"/>
          <p:cNvSpPr/>
          <p:nvPr/>
        </p:nvSpPr>
        <p:spPr>
          <a:xfrm>
            <a:off x="2252313" y="3632188"/>
            <a:ext cx="188595"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B</a:t>
            </a:r>
            <a:endParaRPr lang="en-US" sz="1000" dirty="0"/>
          </a:p>
        </p:txBody>
      </p:sp>
      <p:sp>
        <p:nvSpPr>
          <p:cNvPr id="20" name="Text 17"/>
          <p:cNvSpPr/>
          <p:nvPr/>
        </p:nvSpPr>
        <p:spPr>
          <a:xfrm>
            <a:off x="2632221" y="3632188"/>
            <a:ext cx="185420"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C</a:t>
            </a:r>
            <a:endParaRPr lang="en-US" sz="1000" dirty="0"/>
          </a:p>
        </p:txBody>
      </p:sp>
      <p:sp>
        <p:nvSpPr>
          <p:cNvPr id="21" name="Text 18"/>
          <p:cNvSpPr/>
          <p:nvPr/>
        </p:nvSpPr>
        <p:spPr>
          <a:xfrm>
            <a:off x="3004828" y="3632188"/>
            <a:ext cx="196850"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D</a:t>
            </a:r>
            <a:endParaRPr lang="en-US" sz="1000" dirty="0"/>
          </a:p>
        </p:txBody>
      </p:sp>
      <p:sp>
        <p:nvSpPr>
          <p:cNvPr id="22" name="Text 19"/>
          <p:cNvSpPr/>
          <p:nvPr/>
        </p:nvSpPr>
        <p:spPr>
          <a:xfrm>
            <a:off x="3392992" y="3632188"/>
            <a:ext cx="177165"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E</a:t>
            </a:r>
            <a:endParaRPr lang="en-US" sz="1000" dirty="0"/>
          </a:p>
        </p:txBody>
      </p:sp>
      <p:sp>
        <p:nvSpPr>
          <p:cNvPr id="23" name="Text 20"/>
          <p:cNvSpPr/>
          <p:nvPr/>
        </p:nvSpPr>
        <p:spPr>
          <a:xfrm>
            <a:off x="3772900" y="3632188"/>
            <a:ext cx="173990"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F</a:t>
            </a:r>
            <a:endParaRPr lang="en-US" sz="1000" dirty="0"/>
          </a:p>
        </p:txBody>
      </p:sp>
      <p:sp>
        <p:nvSpPr>
          <p:cNvPr id="24" name="Text 21"/>
          <p:cNvSpPr/>
          <p:nvPr/>
        </p:nvSpPr>
        <p:spPr>
          <a:xfrm>
            <a:off x="4140108" y="3632188"/>
            <a:ext cx="196215"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G</a:t>
            </a:r>
            <a:endParaRPr lang="en-US" sz="1000" dirty="0"/>
          </a:p>
        </p:txBody>
      </p:sp>
      <p:sp>
        <p:nvSpPr>
          <p:cNvPr id="25" name="Text 22"/>
          <p:cNvSpPr/>
          <p:nvPr/>
        </p:nvSpPr>
        <p:spPr>
          <a:xfrm>
            <a:off x="4516842" y="3632188"/>
            <a:ext cx="199390"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H</a:t>
            </a:r>
            <a:endParaRPr lang="en-US" sz="1000" dirty="0"/>
          </a:p>
        </p:txBody>
      </p:sp>
      <p:sp>
        <p:nvSpPr>
          <p:cNvPr id="26" name="Text 23"/>
          <p:cNvSpPr/>
          <p:nvPr/>
        </p:nvSpPr>
        <p:spPr>
          <a:xfrm>
            <a:off x="4917706" y="3632188"/>
            <a:ext cx="154305"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I</a:t>
            </a:r>
            <a:endParaRPr lang="en-US" sz="1000" dirty="0"/>
          </a:p>
        </p:txBody>
      </p:sp>
      <p:sp>
        <p:nvSpPr>
          <p:cNvPr id="27" name="Text 24"/>
          <p:cNvSpPr/>
          <p:nvPr/>
        </p:nvSpPr>
        <p:spPr>
          <a:xfrm>
            <a:off x="5299519" y="3632188"/>
            <a:ext cx="147320"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J</a:t>
            </a:r>
            <a:endParaRPr lang="en-US" sz="1000" dirty="0"/>
          </a:p>
        </p:txBody>
      </p:sp>
      <p:sp>
        <p:nvSpPr>
          <p:cNvPr id="28" name="Text 25"/>
          <p:cNvSpPr/>
          <p:nvPr/>
        </p:nvSpPr>
        <p:spPr>
          <a:xfrm>
            <a:off x="5658473" y="3632188"/>
            <a:ext cx="186055"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K</a:t>
            </a:r>
            <a:endParaRPr lang="en-US" sz="1000" dirty="0"/>
          </a:p>
        </p:txBody>
      </p:sp>
      <p:sp>
        <p:nvSpPr>
          <p:cNvPr id="29" name="Text 26"/>
          <p:cNvSpPr/>
          <p:nvPr/>
        </p:nvSpPr>
        <p:spPr>
          <a:xfrm>
            <a:off x="6042191" y="3632188"/>
            <a:ext cx="175260"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L</a:t>
            </a:r>
            <a:endParaRPr lang="en-US" sz="1000" dirty="0"/>
          </a:p>
        </p:txBody>
      </p:sp>
      <p:sp>
        <p:nvSpPr>
          <p:cNvPr id="30" name="Text 27"/>
          <p:cNvSpPr/>
          <p:nvPr/>
        </p:nvSpPr>
        <p:spPr>
          <a:xfrm>
            <a:off x="6398604" y="3632188"/>
            <a:ext cx="219075"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M</a:t>
            </a:r>
            <a:endParaRPr lang="en-US" sz="1000" dirty="0"/>
          </a:p>
        </p:txBody>
      </p:sp>
      <p:sp>
        <p:nvSpPr>
          <p:cNvPr id="31" name="Text 28"/>
          <p:cNvSpPr/>
          <p:nvPr/>
        </p:nvSpPr>
        <p:spPr>
          <a:xfrm>
            <a:off x="6785181" y="3632188"/>
            <a:ext cx="202565"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N</a:t>
            </a:r>
            <a:endParaRPr lang="en-US" sz="1000" dirty="0"/>
          </a:p>
        </p:txBody>
      </p:sp>
      <p:sp>
        <p:nvSpPr>
          <p:cNvPr id="32" name="Text 29"/>
          <p:cNvSpPr/>
          <p:nvPr/>
        </p:nvSpPr>
        <p:spPr>
          <a:xfrm>
            <a:off x="7163185" y="3632188"/>
            <a:ext cx="203200"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O</a:t>
            </a:r>
            <a:endParaRPr lang="en-US" sz="1000" dirty="0"/>
          </a:p>
        </p:txBody>
      </p:sp>
      <p:sp>
        <p:nvSpPr>
          <p:cNvPr id="33" name="Text 30"/>
          <p:cNvSpPr/>
          <p:nvPr/>
        </p:nvSpPr>
        <p:spPr>
          <a:xfrm>
            <a:off x="7551349" y="3632188"/>
            <a:ext cx="183515"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P</a:t>
            </a:r>
            <a:endParaRPr lang="en-US" sz="1000" dirty="0"/>
          </a:p>
        </p:txBody>
      </p:sp>
      <p:sp>
        <p:nvSpPr>
          <p:cNvPr id="34" name="Text 31"/>
          <p:cNvSpPr/>
          <p:nvPr/>
        </p:nvSpPr>
        <p:spPr>
          <a:xfrm>
            <a:off x="7919827" y="3632188"/>
            <a:ext cx="203200"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Q</a:t>
            </a:r>
            <a:endParaRPr lang="en-US" sz="1000" dirty="0"/>
          </a:p>
        </p:txBody>
      </p:sp>
      <p:sp>
        <p:nvSpPr>
          <p:cNvPr id="35" name="Text 32"/>
          <p:cNvSpPr/>
          <p:nvPr/>
        </p:nvSpPr>
        <p:spPr>
          <a:xfrm>
            <a:off x="8306720" y="3632188"/>
            <a:ext cx="186055"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R</a:t>
            </a:r>
            <a:endParaRPr lang="en-US" sz="1000" dirty="0"/>
          </a:p>
        </p:txBody>
      </p:sp>
      <p:sp>
        <p:nvSpPr>
          <p:cNvPr id="36" name="Text 33"/>
          <p:cNvSpPr/>
          <p:nvPr/>
        </p:nvSpPr>
        <p:spPr>
          <a:xfrm>
            <a:off x="8689804" y="3632188"/>
            <a:ext cx="176530"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S</a:t>
            </a:r>
            <a:endParaRPr lang="en-US" sz="1000" dirty="0"/>
          </a:p>
        </p:txBody>
      </p:sp>
      <p:sp>
        <p:nvSpPr>
          <p:cNvPr id="37" name="Text 34"/>
          <p:cNvSpPr/>
          <p:nvPr/>
        </p:nvSpPr>
        <p:spPr>
          <a:xfrm>
            <a:off x="9067490" y="3632188"/>
            <a:ext cx="177800"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T</a:t>
            </a:r>
            <a:endParaRPr lang="en-US" sz="1000" dirty="0"/>
          </a:p>
        </p:txBody>
      </p:sp>
      <p:sp>
        <p:nvSpPr>
          <p:cNvPr id="38" name="Text 35"/>
          <p:cNvSpPr/>
          <p:nvPr/>
        </p:nvSpPr>
        <p:spPr>
          <a:xfrm>
            <a:off x="9435651" y="3632188"/>
            <a:ext cx="198120"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U</a:t>
            </a:r>
            <a:endParaRPr lang="en-US" sz="1000" dirty="0"/>
          </a:p>
        </p:txBody>
      </p:sp>
      <p:sp>
        <p:nvSpPr>
          <p:cNvPr id="39" name="Text 36"/>
          <p:cNvSpPr/>
          <p:nvPr/>
        </p:nvSpPr>
        <p:spPr>
          <a:xfrm>
            <a:off x="9820958" y="3632188"/>
            <a:ext cx="184150"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V</a:t>
            </a:r>
            <a:endParaRPr lang="en-US" sz="1000" dirty="0"/>
          </a:p>
        </p:txBody>
      </p:sp>
      <p:sp>
        <p:nvSpPr>
          <p:cNvPr id="40" name="Text 37"/>
          <p:cNvSpPr/>
          <p:nvPr/>
        </p:nvSpPr>
        <p:spPr>
          <a:xfrm>
            <a:off x="10180546" y="3632188"/>
            <a:ext cx="221615"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W</a:t>
            </a:r>
            <a:endParaRPr lang="en-US" sz="1000" dirty="0"/>
          </a:p>
        </p:txBody>
      </p:sp>
      <p:sp>
        <p:nvSpPr>
          <p:cNvPr id="41" name="Text 38"/>
          <p:cNvSpPr/>
          <p:nvPr/>
        </p:nvSpPr>
        <p:spPr>
          <a:xfrm>
            <a:off x="10577599" y="3632188"/>
            <a:ext cx="184150"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X</a:t>
            </a:r>
            <a:endParaRPr lang="en-US" sz="1000" dirty="0"/>
          </a:p>
        </p:txBody>
      </p:sp>
      <p:sp>
        <p:nvSpPr>
          <p:cNvPr id="42" name="Text 39"/>
          <p:cNvSpPr/>
          <p:nvPr/>
        </p:nvSpPr>
        <p:spPr>
          <a:xfrm>
            <a:off x="10957508" y="3632188"/>
            <a:ext cx="180975"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Y</a:t>
            </a:r>
            <a:endParaRPr lang="en-US" sz="1000" dirty="0"/>
          </a:p>
        </p:txBody>
      </p:sp>
      <p:sp>
        <p:nvSpPr>
          <p:cNvPr id="43" name="Text 40"/>
          <p:cNvSpPr/>
          <p:nvPr/>
        </p:nvSpPr>
        <p:spPr>
          <a:xfrm>
            <a:off x="11336912" y="3632188"/>
            <a:ext cx="179070" cy="266700"/>
          </a:xfrm>
          <a:prstGeom prst="rect">
            <a:avLst/>
          </a:prstGeom>
          <a:noFill/>
        </p:spPr>
        <p:txBody>
          <a:bodyPr wrap="none" lIns="56726" tIns="113453" rIns="56726" bIns="0" rtlCol="0" anchor="ctr">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Z</a:t>
            </a:r>
            <a:endParaRPr lang="en-US" sz="1000" dirty="0"/>
          </a:p>
        </p:txBody>
      </p:sp>
      <p:sp>
        <p:nvSpPr>
          <p:cNvPr id="44" name="Shape 41"/>
          <p:cNvSpPr/>
          <p:nvPr/>
        </p:nvSpPr>
        <p:spPr>
          <a:xfrm>
            <a:off x="576263" y="3906032"/>
            <a:ext cx="1202867" cy="280988"/>
          </a:xfrm>
          <a:prstGeom prst="rect">
            <a:avLst/>
          </a:prstGeom>
          <a:solidFill>
            <a:srgbClr val="0D1117"/>
          </a:solidFill>
          <a:ln w="9144">
            <a:solidFill>
              <a:srgbClr val="30363D"/>
            </a:solidFill>
            <a:prstDash val="solid"/>
          </a:ln>
        </p:spPr>
      </p:sp>
      <p:sp>
        <p:nvSpPr>
          <p:cNvPr id="45" name="Text 42"/>
          <p:cNvSpPr/>
          <p:nvPr/>
        </p:nvSpPr>
        <p:spPr>
          <a:xfrm>
            <a:off x="948143" y="3917939"/>
            <a:ext cx="459105" cy="257175"/>
          </a:xfrm>
          <a:prstGeom prst="rect">
            <a:avLst/>
          </a:prstGeom>
          <a:noFill/>
        </p:spPr>
        <p:txBody>
          <a:bodyPr wrap="none" lIns="56726" tIns="113453" rIns="56726" bIns="0" rtlCol="0" anchor="ctr">
            <a:spAutoFit/>
          </a:bodyPr>
          <a:lstStyle/>
          <a:p>
            <a:pPr marL="0" indent="0" algn="ctr">
              <a:buNone/>
            </a:pPr>
            <a:r>
              <a:rPr lang="en-US" sz="935" b="1" dirty="0">
                <a:solidFill>
                  <a:srgbClr val="8B949E"/>
                </a:solidFill>
                <a:latin typeface="JetBrains Mono Medium" pitchFamily="34" charset="0"/>
                <a:ea typeface="JetBrains Mono Medium" pitchFamily="34" charset="-122"/>
                <a:cs typeface="JetBrains Mono Medium" pitchFamily="34" charset="-120"/>
              </a:rPr>
              <a:t>Cipher</a:t>
            </a:r>
            <a:endParaRPr lang="en-US" sz="935" dirty="0"/>
          </a:p>
        </p:txBody>
      </p:sp>
      <p:sp>
        <p:nvSpPr>
          <p:cNvPr id="46" name="Text 43"/>
          <p:cNvSpPr/>
          <p:nvPr/>
        </p:nvSpPr>
        <p:spPr>
          <a:xfrm>
            <a:off x="1856597" y="3917939"/>
            <a:ext cx="198120"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Q</a:t>
            </a:r>
            <a:endParaRPr lang="en-US" sz="935" dirty="0"/>
          </a:p>
        </p:txBody>
      </p:sp>
      <p:sp>
        <p:nvSpPr>
          <p:cNvPr id="47" name="Text 44"/>
          <p:cNvSpPr/>
          <p:nvPr/>
        </p:nvSpPr>
        <p:spPr>
          <a:xfrm>
            <a:off x="2226513" y="3917939"/>
            <a:ext cx="215900"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W</a:t>
            </a:r>
            <a:endParaRPr lang="en-US" sz="935" dirty="0"/>
          </a:p>
        </p:txBody>
      </p:sp>
      <p:sp>
        <p:nvSpPr>
          <p:cNvPr id="48" name="Text 45"/>
          <p:cNvSpPr/>
          <p:nvPr/>
        </p:nvSpPr>
        <p:spPr>
          <a:xfrm>
            <a:off x="2626272" y="3917939"/>
            <a:ext cx="173990"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E</a:t>
            </a:r>
            <a:endParaRPr lang="en-US" sz="935" dirty="0"/>
          </a:p>
        </p:txBody>
      </p:sp>
      <p:sp>
        <p:nvSpPr>
          <p:cNvPr id="49" name="Text 46"/>
          <p:cNvSpPr/>
          <p:nvPr/>
        </p:nvSpPr>
        <p:spPr>
          <a:xfrm>
            <a:off x="3000949" y="3917939"/>
            <a:ext cx="182245"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R</a:t>
            </a:r>
            <a:endParaRPr lang="en-US" sz="935" dirty="0"/>
          </a:p>
        </p:txBody>
      </p:sp>
      <p:sp>
        <p:nvSpPr>
          <p:cNvPr id="50" name="Text 47"/>
          <p:cNvSpPr/>
          <p:nvPr/>
        </p:nvSpPr>
        <p:spPr>
          <a:xfrm>
            <a:off x="3383565" y="3917939"/>
            <a:ext cx="174625"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T</a:t>
            </a:r>
            <a:endParaRPr lang="en-US" sz="935" dirty="0"/>
          </a:p>
        </p:txBody>
      </p:sp>
      <p:sp>
        <p:nvSpPr>
          <p:cNvPr id="51" name="Text 48"/>
          <p:cNvSpPr/>
          <p:nvPr/>
        </p:nvSpPr>
        <p:spPr>
          <a:xfrm>
            <a:off x="3761099" y="3917939"/>
            <a:ext cx="177165"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Y</a:t>
            </a:r>
            <a:endParaRPr lang="en-US" sz="935" dirty="0"/>
          </a:p>
        </p:txBody>
      </p:sp>
      <p:sp>
        <p:nvSpPr>
          <p:cNvPr id="52" name="Text 49"/>
          <p:cNvSpPr/>
          <p:nvPr/>
        </p:nvSpPr>
        <p:spPr>
          <a:xfrm>
            <a:off x="4131649" y="3917939"/>
            <a:ext cx="193675"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U</a:t>
            </a:r>
            <a:endParaRPr lang="en-US" sz="935" dirty="0"/>
          </a:p>
        </p:txBody>
      </p:sp>
      <p:sp>
        <p:nvSpPr>
          <p:cNvPr id="53" name="Text 50"/>
          <p:cNvSpPr/>
          <p:nvPr/>
        </p:nvSpPr>
        <p:spPr>
          <a:xfrm>
            <a:off x="4531091" y="3917939"/>
            <a:ext cx="152400"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I</a:t>
            </a:r>
            <a:endParaRPr lang="en-US" sz="935" dirty="0"/>
          </a:p>
        </p:txBody>
      </p:sp>
      <p:sp>
        <p:nvSpPr>
          <p:cNvPr id="54" name="Text 51"/>
          <p:cNvSpPr/>
          <p:nvPr/>
        </p:nvSpPr>
        <p:spPr>
          <a:xfrm>
            <a:off x="4887036" y="3917939"/>
            <a:ext cx="198120"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O</a:t>
            </a:r>
            <a:endParaRPr lang="en-US" sz="935" dirty="0"/>
          </a:p>
        </p:txBody>
      </p:sp>
      <p:sp>
        <p:nvSpPr>
          <p:cNvPr id="55" name="Text 52"/>
          <p:cNvSpPr/>
          <p:nvPr/>
        </p:nvSpPr>
        <p:spPr>
          <a:xfrm>
            <a:off x="5274731" y="3917939"/>
            <a:ext cx="180340"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P</a:t>
            </a:r>
            <a:endParaRPr lang="en-US" sz="935" dirty="0"/>
          </a:p>
        </p:txBody>
      </p:sp>
      <p:sp>
        <p:nvSpPr>
          <p:cNvPr id="56" name="Text 53"/>
          <p:cNvSpPr/>
          <p:nvPr/>
        </p:nvSpPr>
        <p:spPr>
          <a:xfrm>
            <a:off x="5651313" y="3917939"/>
            <a:ext cx="184785"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A</a:t>
            </a:r>
            <a:endParaRPr lang="en-US" sz="935" dirty="0"/>
          </a:p>
        </p:txBody>
      </p:sp>
      <p:sp>
        <p:nvSpPr>
          <p:cNvPr id="57" name="Text 54"/>
          <p:cNvSpPr/>
          <p:nvPr/>
        </p:nvSpPr>
        <p:spPr>
          <a:xfrm>
            <a:off x="6035833" y="3917939"/>
            <a:ext cx="173355"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S</a:t>
            </a:r>
            <a:endParaRPr lang="en-US" sz="935" dirty="0"/>
          </a:p>
        </p:txBody>
      </p:sp>
      <p:sp>
        <p:nvSpPr>
          <p:cNvPr id="58" name="Text 55"/>
          <p:cNvSpPr/>
          <p:nvPr/>
        </p:nvSpPr>
        <p:spPr>
          <a:xfrm>
            <a:off x="6405112" y="3917939"/>
            <a:ext cx="192405"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D</a:t>
            </a:r>
            <a:endParaRPr lang="en-US" sz="935" dirty="0"/>
          </a:p>
        </p:txBody>
      </p:sp>
      <p:sp>
        <p:nvSpPr>
          <p:cNvPr id="59" name="Text 56"/>
          <p:cNvSpPr/>
          <p:nvPr/>
        </p:nvSpPr>
        <p:spPr>
          <a:xfrm>
            <a:off x="6794713" y="3917939"/>
            <a:ext cx="170815"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F</a:t>
            </a:r>
            <a:endParaRPr lang="en-US" sz="935" dirty="0"/>
          </a:p>
        </p:txBody>
      </p:sp>
      <p:sp>
        <p:nvSpPr>
          <p:cNvPr id="60" name="Text 57"/>
          <p:cNvSpPr/>
          <p:nvPr/>
        </p:nvSpPr>
        <p:spPr>
          <a:xfrm>
            <a:off x="7163039" y="3917939"/>
            <a:ext cx="191770"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G</a:t>
            </a:r>
            <a:endParaRPr lang="en-US" sz="935" dirty="0"/>
          </a:p>
        </p:txBody>
      </p:sp>
      <p:sp>
        <p:nvSpPr>
          <p:cNvPr id="61" name="Text 58"/>
          <p:cNvSpPr/>
          <p:nvPr/>
        </p:nvSpPr>
        <p:spPr>
          <a:xfrm>
            <a:off x="7540574" y="3917939"/>
            <a:ext cx="194310"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H</a:t>
            </a:r>
            <a:endParaRPr lang="en-US" sz="935" dirty="0"/>
          </a:p>
        </p:txBody>
      </p:sp>
      <p:sp>
        <p:nvSpPr>
          <p:cNvPr id="62" name="Text 59"/>
          <p:cNvSpPr/>
          <p:nvPr/>
        </p:nvSpPr>
        <p:spPr>
          <a:xfrm>
            <a:off x="7943510" y="3917939"/>
            <a:ext cx="146050"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J</a:t>
            </a:r>
            <a:endParaRPr lang="en-US" sz="935" dirty="0"/>
          </a:p>
        </p:txBody>
      </p:sp>
      <p:sp>
        <p:nvSpPr>
          <p:cNvPr id="63" name="Text 60"/>
          <p:cNvSpPr/>
          <p:nvPr/>
        </p:nvSpPr>
        <p:spPr>
          <a:xfrm>
            <a:off x="8304216" y="3917939"/>
            <a:ext cx="182245"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K</a:t>
            </a:r>
            <a:endParaRPr lang="en-US" sz="935" dirty="0"/>
          </a:p>
        </p:txBody>
      </p:sp>
      <p:sp>
        <p:nvSpPr>
          <p:cNvPr id="64" name="Text 61"/>
          <p:cNvSpPr/>
          <p:nvPr/>
        </p:nvSpPr>
        <p:spPr>
          <a:xfrm>
            <a:off x="8688102" y="3917939"/>
            <a:ext cx="172085"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L</a:t>
            </a:r>
            <a:endParaRPr lang="en-US" sz="935" dirty="0"/>
          </a:p>
        </p:txBody>
      </p:sp>
      <p:sp>
        <p:nvSpPr>
          <p:cNvPr id="65" name="Text 62"/>
          <p:cNvSpPr/>
          <p:nvPr/>
        </p:nvSpPr>
        <p:spPr>
          <a:xfrm>
            <a:off x="9065000" y="3917939"/>
            <a:ext cx="175895"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Z</a:t>
            </a:r>
            <a:endParaRPr lang="en-US" sz="935" dirty="0"/>
          </a:p>
        </p:txBody>
      </p:sp>
      <p:sp>
        <p:nvSpPr>
          <p:cNvPr id="66" name="Text 63"/>
          <p:cNvSpPr/>
          <p:nvPr/>
        </p:nvSpPr>
        <p:spPr>
          <a:xfrm>
            <a:off x="9441266" y="3917939"/>
            <a:ext cx="180975"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X</a:t>
            </a:r>
            <a:endParaRPr lang="en-US" sz="935" dirty="0"/>
          </a:p>
        </p:txBody>
      </p:sp>
      <p:sp>
        <p:nvSpPr>
          <p:cNvPr id="67" name="Text 64"/>
          <p:cNvSpPr/>
          <p:nvPr/>
        </p:nvSpPr>
        <p:spPr>
          <a:xfrm>
            <a:off x="9819754" y="3917939"/>
            <a:ext cx="181610"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C</a:t>
            </a:r>
            <a:endParaRPr lang="en-US" sz="935" dirty="0"/>
          </a:p>
        </p:txBody>
      </p:sp>
      <p:sp>
        <p:nvSpPr>
          <p:cNvPr id="68" name="Text 65"/>
          <p:cNvSpPr/>
          <p:nvPr/>
        </p:nvSpPr>
        <p:spPr>
          <a:xfrm>
            <a:off x="10199193" y="3917939"/>
            <a:ext cx="180340"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V</a:t>
            </a:r>
            <a:endParaRPr lang="en-US" sz="935" dirty="0"/>
          </a:p>
        </p:txBody>
      </p:sp>
      <p:sp>
        <p:nvSpPr>
          <p:cNvPr id="69" name="Text 66"/>
          <p:cNvSpPr/>
          <p:nvPr/>
        </p:nvSpPr>
        <p:spPr>
          <a:xfrm>
            <a:off x="10575775" y="3917939"/>
            <a:ext cx="184785"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B</a:t>
            </a:r>
            <a:endParaRPr lang="en-US" sz="935" dirty="0"/>
          </a:p>
        </p:txBody>
      </p:sp>
      <p:sp>
        <p:nvSpPr>
          <p:cNvPr id="70" name="Text 67"/>
          <p:cNvSpPr/>
          <p:nvPr/>
        </p:nvSpPr>
        <p:spPr>
          <a:xfrm>
            <a:off x="10947912" y="3917939"/>
            <a:ext cx="198120"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N</a:t>
            </a:r>
            <a:endParaRPr lang="en-US" sz="935" dirty="0"/>
          </a:p>
        </p:txBody>
      </p:sp>
      <p:sp>
        <p:nvSpPr>
          <p:cNvPr id="71" name="Text 68"/>
          <p:cNvSpPr/>
          <p:nvPr/>
        </p:nvSpPr>
        <p:spPr>
          <a:xfrm>
            <a:off x="11319376" y="3917939"/>
            <a:ext cx="213360" cy="257175"/>
          </a:xfrm>
          <a:prstGeom prst="rect">
            <a:avLst/>
          </a:prstGeom>
          <a:noFill/>
        </p:spPr>
        <p:txBody>
          <a:bodyPr wrap="none" lIns="56726" tIns="113453" rIns="56726" bIns="0" rtlCol="0" anchor="ctr">
            <a:spAutoFit/>
          </a:bodyPr>
          <a:lstStyle/>
          <a:p>
            <a:pPr marL="0" indent="0" algn="ctr">
              <a:buNone/>
            </a:pPr>
            <a:r>
              <a:rPr lang="en-US" sz="935" b="1" dirty="0">
                <a:solidFill>
                  <a:srgbClr val="58A6FF"/>
                </a:solidFill>
                <a:latin typeface="JetBrains Mono Medium" pitchFamily="34" charset="0"/>
                <a:ea typeface="JetBrains Mono Medium" pitchFamily="34" charset="-122"/>
                <a:cs typeface="JetBrains Mono Medium" pitchFamily="34" charset="-120"/>
              </a:rPr>
              <a:t>M</a:t>
            </a:r>
            <a:endParaRPr lang="en-US" sz="935" dirty="0"/>
          </a:p>
        </p:txBody>
      </p:sp>
      <p:sp>
        <p:nvSpPr>
          <p:cNvPr id="72" name="Shape 69"/>
          <p:cNvSpPr/>
          <p:nvPr/>
        </p:nvSpPr>
        <p:spPr>
          <a:xfrm>
            <a:off x="381000" y="4477532"/>
            <a:ext cx="5572125" cy="1293019"/>
          </a:xfrm>
          <a:prstGeom prst="rect">
            <a:avLst/>
          </a:prstGeom>
          <a:solidFill>
            <a:srgbClr val="161B22"/>
          </a:solidFill>
          <a:ln w="9144">
            <a:solidFill>
              <a:srgbClr val="30363D"/>
            </a:solidFill>
            <a:prstDash val="solid"/>
          </a:ln>
        </p:spPr>
      </p:sp>
      <p:sp>
        <p:nvSpPr>
          <p:cNvPr id="73" name="Text 70"/>
          <p:cNvSpPr/>
          <p:nvPr/>
        </p:nvSpPr>
        <p:spPr>
          <a:xfrm>
            <a:off x="571500" y="4668032"/>
            <a:ext cx="5191125" cy="174625"/>
          </a:xfrm>
          <a:prstGeom prst="rect">
            <a:avLst/>
          </a:prstGeom>
          <a:noFill/>
        </p:spPr>
        <p:txBody>
          <a:bodyPr wrap="square" lIns="0" tIns="0" rIns="0" bIns="0" rtlCol="0" anchor="t">
            <a:spAutoFit/>
          </a:bodyPr>
          <a:lstStyle/>
          <a:p>
            <a:pPr marL="0" indent="0" algn="l">
              <a:buNone/>
            </a:pPr>
            <a:r>
              <a:rPr lang="en-US" sz="1135" dirty="0">
                <a:solidFill>
                  <a:srgbClr val="58A6FF"/>
                </a:solidFill>
                <a:latin typeface="Poppins SemiBold" pitchFamily="34" charset="0"/>
                <a:ea typeface="Poppins SemiBold" pitchFamily="34" charset="-122"/>
                <a:cs typeface="Poppins SemiBold" pitchFamily="34" charset="-120"/>
              </a:rPr>
              <a:t>Worked Example</a:t>
            </a:r>
            <a:endParaRPr lang="en-US" sz="1135" dirty="0"/>
          </a:p>
        </p:txBody>
      </p:sp>
      <p:sp>
        <p:nvSpPr>
          <p:cNvPr id="74" name="Text 71"/>
          <p:cNvSpPr/>
          <p:nvPr/>
        </p:nvSpPr>
        <p:spPr>
          <a:xfrm>
            <a:off x="571500" y="4989500"/>
            <a:ext cx="5191125" cy="430530"/>
          </a:xfrm>
          <a:prstGeom prst="rect">
            <a:avLst/>
          </a:prstGeom>
          <a:noFill/>
        </p:spPr>
        <p:txBody>
          <a:bodyPr wrap="square" lIns="0" tIns="0" rIns="0" bIns="0" rtlCol="0" anchor="t">
            <a:spAutoFit/>
          </a:bodyPr>
          <a:lstStyle/>
          <a:p>
            <a:pPr marL="0" indent="0" algn="l">
              <a:buNone/>
            </a:pPr>
            <a:r>
              <a:rPr lang="en-US" sz="1400" dirty="0">
                <a:solidFill>
                  <a:srgbClr val="E6EDF3"/>
                </a:solidFill>
                <a:latin typeface="JetBrains Mono Medium" pitchFamily="34" charset="0"/>
                <a:ea typeface="JetBrains Mono Medium" pitchFamily="34" charset="-122"/>
                <a:cs typeface="JetBrains Mono Medium" pitchFamily="34" charset="-120"/>
              </a:rPr>
              <a:t>Plaintext: HELLO
Ciphertext: </a:t>
            </a:r>
            <a:r>
              <a:rPr lang="en-US" sz="1400" dirty="0">
                <a:solidFill>
                  <a:srgbClr val="00FF9C"/>
                </a:solidFill>
                <a:latin typeface="JetBrains Mono Medium" pitchFamily="34" charset="0"/>
                <a:ea typeface="JetBrains Mono Medium" pitchFamily="34" charset="-122"/>
                <a:cs typeface="JetBrains Mono Medium" pitchFamily="34" charset="-120"/>
              </a:rPr>
              <a:t>ITSSG</a:t>
            </a:r>
            <a:endParaRPr lang="en-US" sz="1400" dirty="0"/>
          </a:p>
        </p:txBody>
      </p:sp>
      <p:sp>
        <p:nvSpPr>
          <p:cNvPr id="75" name="Text 72"/>
          <p:cNvSpPr/>
          <p:nvPr/>
        </p:nvSpPr>
        <p:spPr>
          <a:xfrm>
            <a:off x="571500" y="5589575"/>
            <a:ext cx="5191125"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H→I, E→T, L→S, O→G (using the table above)</a:t>
            </a:r>
            <a:endParaRPr lang="en-US" sz="1000" dirty="0"/>
          </a:p>
        </p:txBody>
      </p:sp>
      <p:sp>
        <p:nvSpPr>
          <p:cNvPr id="76" name="Shape 73"/>
          <p:cNvSpPr/>
          <p:nvPr/>
        </p:nvSpPr>
        <p:spPr>
          <a:xfrm>
            <a:off x="6238875" y="4477532"/>
            <a:ext cx="5572125" cy="1273969"/>
          </a:xfrm>
          <a:prstGeom prst="rect">
            <a:avLst/>
          </a:prstGeom>
          <a:solidFill>
            <a:srgbClr val="E3B341">
              <a:alpha val="10000"/>
            </a:srgbClr>
          </a:solidFill>
          <a:ln w="9144">
            <a:solidFill>
              <a:srgbClr val="E3B341"/>
            </a:solidFill>
            <a:prstDash val="solid"/>
          </a:ln>
        </p:spPr>
      </p:sp>
      <p:pic>
        <p:nvPicPr>
          <p:cNvPr id="77" name="Image 1" descr="preencoded.png"/>
          <p:cNvPicPr>
            <a:picLocks noChangeAspect="1"/>
          </p:cNvPicPr>
          <p:nvPr/>
        </p:nvPicPr>
        <p:blipFill>
          <a:blip r:embed="rId2"/>
          <a:stretch>
            <a:fillRect/>
          </a:stretch>
        </p:blipFill>
        <p:spPr>
          <a:xfrm>
            <a:off x="6429375" y="4701369"/>
            <a:ext cx="152400" cy="152400"/>
          </a:xfrm>
          <a:prstGeom prst="rect">
            <a:avLst/>
          </a:prstGeom>
        </p:spPr>
      </p:pic>
      <p:sp>
        <p:nvSpPr>
          <p:cNvPr id="78" name="Text 74"/>
          <p:cNvSpPr/>
          <p:nvPr/>
        </p:nvSpPr>
        <p:spPr>
          <a:xfrm>
            <a:off x="6581775" y="4675175"/>
            <a:ext cx="724535" cy="174625"/>
          </a:xfrm>
          <a:prstGeom prst="rect">
            <a:avLst/>
          </a:prstGeom>
          <a:noFill/>
        </p:spPr>
        <p:txBody>
          <a:bodyPr wrap="none" lIns="0" tIns="0" rIns="0" bIns="0" rtlCol="0" anchor="t">
            <a:spAutoFit/>
          </a:bodyPr>
          <a:lstStyle/>
          <a:p>
            <a:pPr marL="0" indent="0" algn="l">
              <a:buNone/>
            </a:pPr>
            <a:r>
              <a:rPr lang="en-US" sz="1135" dirty="0">
                <a:solidFill>
                  <a:srgbClr val="E3B341"/>
                </a:solidFill>
                <a:latin typeface="Poppins SemiBold" pitchFamily="34" charset="0"/>
                <a:ea typeface="Poppins SemiBold" pitchFamily="34" charset="-122"/>
                <a:cs typeface="Poppins SemiBold" pitchFamily="34" charset="-120"/>
              </a:rPr>
              <a:t>CTF Variant</a:t>
            </a:r>
            <a:endParaRPr lang="en-US" sz="1135" dirty="0"/>
          </a:p>
        </p:txBody>
      </p:sp>
      <p:sp>
        <p:nvSpPr>
          <p:cNvPr id="79" name="Text 75"/>
          <p:cNvSpPr/>
          <p:nvPr/>
        </p:nvSpPr>
        <p:spPr>
          <a:xfrm>
            <a:off x="6429375" y="4989500"/>
            <a:ext cx="5191125" cy="525145"/>
          </a:xfrm>
          <a:prstGeom prst="rect">
            <a:avLst/>
          </a:prstGeom>
          <a:noFill/>
        </p:spPr>
        <p:txBody>
          <a:bodyPr wrap="square" lIns="0" tIns="0" rIns="0" bIns="0" rtlCol="0" anchor="t">
            <a:spAutoFit/>
          </a:bodyPr>
          <a:lstStyle/>
          <a:p>
            <a:pPr marL="0" indent="0" algn="l">
              <a:buNone/>
            </a:pPr>
            <a:r>
              <a:rPr lang="en-US" sz="1065" b="1" dirty="0">
                <a:solidFill>
                  <a:srgbClr val="E3B341"/>
                </a:solidFill>
                <a:latin typeface="Inter" pitchFamily="34" charset="0"/>
                <a:ea typeface="Inter" pitchFamily="34" charset="-122"/>
                <a:cs typeface="Inter" pitchFamily="34" charset="-120"/>
              </a:rPr>
              <a:t>Cryptogram Puzzles:</a:t>
            </a:r>
            <a:r>
              <a:rPr lang="en-US" sz="1135" dirty="0">
                <a:solidFill>
                  <a:srgbClr val="E3B341"/>
                </a:solidFill>
                <a:latin typeface="Inter" pitchFamily="34" charset="0"/>
                <a:ea typeface="Inter" pitchFamily="34" charset="-122"/>
                <a:cs typeface="Inter" pitchFamily="34" charset="-120"/>
              </a:rPr>
              <a:t> Very common in beginner CTFs. Since the key space is too large for brute force, you must use </a:t>
            </a:r>
            <a:r>
              <a:rPr lang="en-US" sz="1065" b="1" dirty="0">
                <a:solidFill>
                  <a:srgbClr val="E3B341"/>
                </a:solidFill>
                <a:latin typeface="Inter" pitchFamily="34" charset="0"/>
                <a:ea typeface="Inter" pitchFamily="34" charset="-122"/>
                <a:cs typeface="Inter" pitchFamily="34" charset="-120"/>
              </a:rPr>
              <a:t>Frequency Analysis</a:t>
            </a:r>
            <a:r>
              <a:rPr lang="en-US" sz="1135" dirty="0">
                <a:solidFill>
                  <a:srgbClr val="E3B341"/>
                </a:solidFill>
                <a:latin typeface="Inter" pitchFamily="34" charset="0"/>
                <a:ea typeface="Inter" pitchFamily="34" charset="-122"/>
                <a:cs typeface="Inter" pitchFamily="34" charset="-120"/>
              </a:rPr>
              <a:t> on longer texts to map the most common cipher letters to 'E', 'T', and 'A'.</a:t>
            </a:r>
            <a:endParaRPr lang="en-US" sz="1065" dirty="0"/>
          </a:p>
        </p:txBody>
      </p:sp>
      <p:grpSp>
        <p:nvGrpSpPr>
          <p:cNvPr id="80" name="Group 2"/>
          <p:cNvGrpSpPr/>
          <p:nvPr/>
        </p:nvGrpSpPr>
        <p:grpSpPr>
          <a:xfrm rot="0">
            <a:off x="294640" y="194310"/>
            <a:ext cx="789305" cy="299720"/>
            <a:chOff x="0" y="0"/>
            <a:chExt cx="341337" cy="102463"/>
          </a:xfrm>
        </p:grpSpPr>
        <p:sp>
          <p:nvSpPr>
            <p:cNvPr id="81"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82"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83" name="Group 5"/>
          <p:cNvGrpSpPr/>
          <p:nvPr/>
        </p:nvGrpSpPr>
        <p:grpSpPr>
          <a:xfrm rot="0">
            <a:off x="822325" y="209550"/>
            <a:ext cx="220980" cy="246380"/>
            <a:chOff x="0" y="0"/>
            <a:chExt cx="812800" cy="812800"/>
          </a:xfrm>
        </p:grpSpPr>
        <p:sp>
          <p:nvSpPr>
            <p:cNvPr id="84"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85"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86"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87"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88"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46 | EWUCSC</a:t>
            </a:r>
            <a:endParaRPr lang="en-US" sz="1265" dirty="0"/>
          </a:p>
        </p:txBody>
      </p:sp>
      <p:sp>
        <p:nvSpPr>
          <p:cNvPr id="7" name="Text 4"/>
          <p:cNvSpPr/>
          <p:nvPr/>
        </p:nvSpPr>
        <p:spPr>
          <a:xfrm>
            <a:off x="381000" y="952500"/>
            <a:ext cx="6026720" cy="861695"/>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XOR: The Most Important Operation in Crypto</a:t>
            </a:r>
            <a:endParaRPr lang="en-US" sz="2800" dirty="0"/>
          </a:p>
        </p:txBody>
      </p:sp>
      <p:sp>
        <p:nvSpPr>
          <p:cNvPr id="8" name="Text 5"/>
          <p:cNvSpPr/>
          <p:nvPr/>
        </p:nvSpPr>
        <p:spPr>
          <a:xfrm>
            <a:off x="381000" y="2390775"/>
            <a:ext cx="6026720" cy="826770"/>
          </a:xfrm>
          <a:prstGeom prst="rect">
            <a:avLst/>
          </a:prstGeom>
          <a:noFill/>
        </p:spPr>
        <p:txBody>
          <a:bodyPr wrap="square" lIns="0" tIns="0" rIns="0" bIns="0" rtlCol="0" anchor="t">
            <a:spAutoFit/>
          </a:bodyPr>
          <a:lstStyle/>
          <a:p>
            <a:pPr marL="0" indent="0" algn="l">
              <a:lnSpc>
                <a:spcPct val="128000"/>
              </a:lnSpc>
              <a:buNone/>
            </a:pPr>
            <a:r>
              <a:rPr lang="en-US" sz="1400" dirty="0">
                <a:solidFill>
                  <a:srgbClr val="E6EDF3"/>
                </a:solidFill>
                <a:latin typeface="Inter" pitchFamily="34" charset="0"/>
                <a:ea typeface="Inter" pitchFamily="34" charset="-122"/>
                <a:cs typeface="Inter" pitchFamily="34" charset="-120"/>
              </a:rPr>
              <a:t>XOR (Exclusive OR) is a binary operation that seems simple but powers almost everything in modern cryptography. If you understand one thing from today — </a:t>
            </a:r>
            <a:r>
              <a:rPr lang="en-US" sz="1335" b="1" dirty="0">
                <a:solidFill>
                  <a:srgbClr val="E6EDF3"/>
                </a:solidFill>
                <a:latin typeface="Inter" pitchFamily="34" charset="0"/>
                <a:ea typeface="Inter" pitchFamily="34" charset="-122"/>
                <a:cs typeface="Inter" pitchFamily="34" charset="-120"/>
              </a:rPr>
              <a:t>make it XOR.</a:t>
            </a:r>
            <a:endParaRPr lang="en-US" sz="1400" dirty="0"/>
          </a:p>
        </p:txBody>
      </p:sp>
      <p:sp>
        <p:nvSpPr>
          <p:cNvPr id="9" name="Shape 6"/>
          <p:cNvSpPr/>
          <p:nvPr/>
        </p:nvSpPr>
        <p:spPr>
          <a:xfrm>
            <a:off x="381000" y="3543300"/>
            <a:ext cx="6026720" cy="1609725"/>
          </a:xfrm>
          <a:prstGeom prst="rect">
            <a:avLst/>
          </a:prstGeom>
          <a:solidFill>
            <a:srgbClr val="161B22"/>
          </a:solidFill>
          <a:ln w="9144">
            <a:solidFill>
              <a:srgbClr val="30363D"/>
            </a:solidFill>
            <a:prstDash val="solid"/>
          </a:ln>
        </p:spPr>
      </p:sp>
      <p:sp>
        <p:nvSpPr>
          <p:cNvPr id="10" name="Text 7"/>
          <p:cNvSpPr/>
          <p:nvPr/>
        </p:nvSpPr>
        <p:spPr>
          <a:xfrm>
            <a:off x="619125" y="3733800"/>
            <a:ext cx="5550471" cy="184150"/>
          </a:xfrm>
          <a:prstGeom prst="rect">
            <a:avLst/>
          </a:prstGeom>
          <a:noFill/>
        </p:spPr>
        <p:txBody>
          <a:bodyPr wrap="square" lIns="0" tIns="0" rIns="0" bIns="0" rtlCol="0" anchor="t">
            <a:spAutoFit/>
          </a:bodyPr>
          <a:lstStyle/>
          <a:p>
            <a:pPr marL="0" indent="0" algn="l">
              <a:buNone/>
            </a:pPr>
            <a:r>
              <a:rPr lang="en-US" sz="1200" b="1" dirty="0">
                <a:solidFill>
                  <a:srgbClr val="58A6FF"/>
                </a:solidFill>
                <a:latin typeface="Inter" pitchFamily="34" charset="0"/>
                <a:ea typeface="Inter" pitchFamily="34" charset="-122"/>
                <a:cs typeface="Inter" pitchFamily="34" charset="-120"/>
              </a:rPr>
              <a:t>Stream Ciphers: The core engine of data scrambling.</a:t>
            </a:r>
            <a:endParaRPr lang="en-US" sz="1200" dirty="0"/>
          </a:p>
        </p:txBody>
      </p:sp>
      <p:sp>
        <p:nvSpPr>
          <p:cNvPr id="11" name="Text 8"/>
          <p:cNvSpPr/>
          <p:nvPr/>
        </p:nvSpPr>
        <p:spPr>
          <a:xfrm>
            <a:off x="619125" y="4083844"/>
            <a:ext cx="5550471" cy="184150"/>
          </a:xfrm>
          <a:prstGeom prst="rect">
            <a:avLst/>
          </a:prstGeom>
          <a:noFill/>
        </p:spPr>
        <p:txBody>
          <a:bodyPr wrap="square" lIns="0" tIns="0" rIns="0" bIns="0" rtlCol="0" anchor="t">
            <a:spAutoFit/>
          </a:bodyPr>
          <a:lstStyle/>
          <a:p>
            <a:pPr marL="0" indent="0" algn="l">
              <a:buNone/>
            </a:pPr>
            <a:r>
              <a:rPr lang="en-US" sz="1200" b="1" dirty="0">
                <a:solidFill>
                  <a:srgbClr val="58A6FF"/>
                </a:solidFill>
                <a:latin typeface="Inter" pitchFamily="34" charset="0"/>
                <a:ea typeface="Inter" pitchFamily="34" charset="-122"/>
                <a:cs typeface="Inter" pitchFamily="34" charset="-120"/>
              </a:rPr>
              <a:t>One-Time Pads: The only mathematically unbreakable cipher.</a:t>
            </a:r>
            <a:endParaRPr lang="en-US" sz="1200" dirty="0"/>
          </a:p>
        </p:txBody>
      </p:sp>
      <p:sp>
        <p:nvSpPr>
          <p:cNvPr id="12" name="Text 9"/>
          <p:cNvSpPr/>
          <p:nvPr/>
        </p:nvSpPr>
        <p:spPr>
          <a:xfrm>
            <a:off x="619125" y="4433888"/>
            <a:ext cx="5550471" cy="184150"/>
          </a:xfrm>
          <a:prstGeom prst="rect">
            <a:avLst/>
          </a:prstGeom>
          <a:noFill/>
        </p:spPr>
        <p:txBody>
          <a:bodyPr wrap="square" lIns="0" tIns="0" rIns="0" bIns="0" rtlCol="0" anchor="t">
            <a:spAutoFit/>
          </a:bodyPr>
          <a:lstStyle/>
          <a:p>
            <a:pPr marL="0" indent="0" algn="l">
              <a:buNone/>
            </a:pPr>
            <a:r>
              <a:rPr lang="en-US" sz="1200" b="1" dirty="0">
                <a:solidFill>
                  <a:srgbClr val="58A6FF"/>
                </a:solidFill>
                <a:latin typeface="Inter" pitchFamily="34" charset="0"/>
                <a:ea typeface="Inter" pitchFamily="34" charset="-122"/>
                <a:cs typeface="Inter" pitchFamily="34" charset="-120"/>
              </a:rPr>
              <a:t>Ransomware: Why your files become unreadable instantly.</a:t>
            </a:r>
            <a:endParaRPr lang="en-US" sz="1200" dirty="0"/>
          </a:p>
        </p:txBody>
      </p:sp>
      <p:sp>
        <p:nvSpPr>
          <p:cNvPr id="13" name="Text 10"/>
          <p:cNvSpPr/>
          <p:nvPr/>
        </p:nvSpPr>
        <p:spPr>
          <a:xfrm>
            <a:off x="619125" y="4783931"/>
            <a:ext cx="5550471" cy="184150"/>
          </a:xfrm>
          <a:prstGeom prst="rect">
            <a:avLst/>
          </a:prstGeom>
          <a:noFill/>
        </p:spPr>
        <p:txBody>
          <a:bodyPr wrap="square" lIns="0" tIns="0" rIns="0" bIns="0" rtlCol="0" anchor="t">
            <a:spAutoFit/>
          </a:bodyPr>
          <a:lstStyle/>
          <a:p>
            <a:pPr marL="0" indent="0" algn="l">
              <a:buNone/>
            </a:pPr>
            <a:r>
              <a:rPr lang="en-US" sz="1200" b="1" dirty="0">
                <a:solidFill>
                  <a:srgbClr val="58A6FF"/>
                </a:solidFill>
                <a:latin typeface="Inter" pitchFamily="34" charset="0"/>
                <a:ea typeface="Inter" pitchFamily="34" charset="-122"/>
                <a:cs typeface="Inter" pitchFamily="34" charset="-120"/>
              </a:rPr>
              <a:t>AES: A critical step in the world's most used cipher.</a:t>
            </a:r>
            <a:endParaRPr lang="en-US" sz="1200" dirty="0"/>
          </a:p>
        </p:txBody>
      </p:sp>
      <p:sp>
        <p:nvSpPr>
          <p:cNvPr id="14" name="Shape 11"/>
          <p:cNvSpPr/>
          <p:nvPr/>
        </p:nvSpPr>
        <p:spPr>
          <a:xfrm>
            <a:off x="6788720" y="952500"/>
            <a:ext cx="5022280" cy="3157537"/>
          </a:xfrm>
          <a:prstGeom prst="rect">
            <a:avLst/>
          </a:prstGeom>
          <a:solidFill>
            <a:srgbClr val="161B22"/>
          </a:solidFill>
          <a:ln w="9144">
            <a:solidFill>
              <a:srgbClr val="30363D"/>
            </a:solidFill>
            <a:prstDash val="solid"/>
          </a:ln>
        </p:spPr>
      </p:sp>
      <p:sp>
        <p:nvSpPr>
          <p:cNvPr id="15" name="Text 12"/>
          <p:cNvSpPr/>
          <p:nvPr/>
        </p:nvSpPr>
        <p:spPr>
          <a:xfrm>
            <a:off x="7074471" y="1238251"/>
            <a:ext cx="4450780" cy="174625"/>
          </a:xfrm>
          <a:prstGeom prst="rect">
            <a:avLst/>
          </a:prstGeom>
          <a:noFill/>
        </p:spPr>
        <p:txBody>
          <a:bodyPr wrap="square" lIns="0" tIns="0" rIns="0" bIns="0" rtlCol="0" anchor="t">
            <a:spAutoFit/>
          </a:bodyPr>
          <a:lstStyle/>
          <a:p>
            <a:pPr marL="0" indent="0" algn="l">
              <a:buNone/>
            </a:pPr>
            <a:r>
              <a:rPr lang="en-US" sz="1135" dirty="0">
                <a:solidFill>
                  <a:srgbClr val="58A6FF"/>
                </a:solidFill>
                <a:latin typeface="Poppins SemiBold" pitchFamily="34" charset="0"/>
                <a:ea typeface="Poppins SemiBold" pitchFamily="34" charset="-122"/>
                <a:cs typeface="Poppins SemiBold" pitchFamily="34" charset="-120"/>
              </a:rPr>
              <a:t>XOR Truth Table</a:t>
            </a:r>
            <a:endParaRPr lang="en-US" sz="1135" dirty="0"/>
          </a:p>
        </p:txBody>
      </p:sp>
      <p:sp>
        <p:nvSpPr>
          <p:cNvPr id="16" name="Text 13"/>
          <p:cNvSpPr/>
          <p:nvPr/>
        </p:nvSpPr>
        <p:spPr>
          <a:xfrm>
            <a:off x="7289932" y="1626791"/>
            <a:ext cx="126365" cy="425450"/>
          </a:xfrm>
          <a:prstGeom prst="rect">
            <a:avLst/>
          </a:prstGeom>
          <a:noFill/>
        </p:spPr>
        <p:txBody>
          <a:bodyPr wrap="none" lIns="0" tIns="170010" rIns="0" bIns="0" rtlCol="0" anchor="ctr">
            <a:spAutoFit/>
          </a:bodyPr>
          <a:lstStyle/>
          <a:p>
            <a:pPr marL="0" indent="0" algn="ctr">
              <a:buNone/>
            </a:pPr>
            <a:r>
              <a:rPr lang="en-US" sz="1665" dirty="0">
                <a:solidFill>
                  <a:srgbClr val="8B949E"/>
                </a:solidFill>
                <a:latin typeface="JetBrains Mono Medium" pitchFamily="34" charset="0"/>
                <a:ea typeface="JetBrains Mono Medium" pitchFamily="34" charset="-122"/>
                <a:cs typeface="JetBrains Mono Medium" pitchFamily="34" charset="-120"/>
              </a:rPr>
              <a:t>A</a:t>
            </a:r>
            <a:endParaRPr lang="en-US" sz="1665" dirty="0"/>
          </a:p>
        </p:txBody>
      </p:sp>
      <p:sp>
        <p:nvSpPr>
          <p:cNvPr id="17" name="Text 14"/>
          <p:cNvSpPr/>
          <p:nvPr/>
        </p:nvSpPr>
        <p:spPr>
          <a:xfrm>
            <a:off x="7847218" y="1626791"/>
            <a:ext cx="126365" cy="425450"/>
          </a:xfrm>
          <a:prstGeom prst="rect">
            <a:avLst/>
          </a:prstGeom>
          <a:noFill/>
        </p:spPr>
        <p:txBody>
          <a:bodyPr wrap="none" lIns="0" tIns="170010" rIns="0" bIns="0" rtlCol="0" anchor="ctr">
            <a:spAutoFit/>
          </a:bodyPr>
          <a:lstStyle/>
          <a:p>
            <a:pPr marL="0" indent="0" algn="ctr">
              <a:buNone/>
            </a:pPr>
            <a:r>
              <a:rPr lang="en-US" sz="1665" dirty="0">
                <a:solidFill>
                  <a:srgbClr val="8B949E"/>
                </a:solidFill>
                <a:latin typeface="JetBrains Mono Medium" pitchFamily="34" charset="0"/>
                <a:ea typeface="JetBrains Mono Medium" pitchFamily="34" charset="-122"/>
                <a:cs typeface="JetBrains Mono Medium" pitchFamily="34" charset="-120"/>
              </a:rPr>
              <a:t>B</a:t>
            </a:r>
            <a:endParaRPr lang="en-US" sz="1665" dirty="0"/>
          </a:p>
        </p:txBody>
      </p:sp>
      <p:sp>
        <p:nvSpPr>
          <p:cNvPr id="18" name="Text 15"/>
          <p:cNvSpPr/>
          <p:nvPr/>
        </p:nvSpPr>
        <p:spPr>
          <a:xfrm>
            <a:off x="8189044" y="1626791"/>
            <a:ext cx="3336205" cy="425450"/>
          </a:xfrm>
          <a:prstGeom prst="rect">
            <a:avLst/>
          </a:prstGeom>
          <a:noFill/>
        </p:spPr>
        <p:txBody>
          <a:bodyPr wrap="square" lIns="0" tIns="170010" rIns="0" bIns="0" rtlCol="0" anchor="ctr">
            <a:spAutoFit/>
          </a:bodyPr>
          <a:lstStyle/>
          <a:p>
            <a:pPr marL="0" indent="0" algn="ctr">
              <a:buNone/>
            </a:pPr>
            <a:r>
              <a:rPr lang="en-US" sz="1665" dirty="0">
                <a:solidFill>
                  <a:srgbClr val="8B949E"/>
                </a:solidFill>
                <a:latin typeface="JetBrains Mono Medium" pitchFamily="34" charset="0"/>
                <a:ea typeface="JetBrains Mono Medium" pitchFamily="34" charset="-122"/>
                <a:cs typeface="JetBrains Mono Medium" pitchFamily="34" charset="-120"/>
              </a:rPr>
              <a:t>A ⊕ B</a:t>
            </a:r>
            <a:endParaRPr lang="en-US" sz="1665" dirty="0"/>
          </a:p>
        </p:txBody>
      </p:sp>
      <p:sp>
        <p:nvSpPr>
          <p:cNvPr id="19" name="Text 16"/>
          <p:cNvSpPr/>
          <p:nvPr/>
        </p:nvSpPr>
        <p:spPr>
          <a:xfrm>
            <a:off x="7298504" y="2083991"/>
            <a:ext cx="109220" cy="482600"/>
          </a:xfrm>
          <a:prstGeom prst="rect">
            <a:avLst/>
          </a:prstGeom>
          <a:noFill/>
        </p:spPr>
        <p:txBody>
          <a:bodyPr wrap="none" lIns="0" tIns="226737" rIns="0" bIns="0" rtlCol="0" anchor="ctr">
            <a:spAutoFit/>
          </a:bodyPr>
          <a:lstStyle/>
          <a:p>
            <a:pPr marL="0" indent="0" algn="ctr">
              <a:buNone/>
            </a:pPr>
            <a:r>
              <a:rPr lang="en-US" sz="1665" dirty="0">
                <a:solidFill>
                  <a:srgbClr val="E6EDF3"/>
                </a:solidFill>
                <a:latin typeface="JetBrains Mono Medium" pitchFamily="34" charset="0"/>
                <a:ea typeface="JetBrains Mono Medium" pitchFamily="34" charset="-122"/>
                <a:cs typeface="JetBrains Mono Medium" pitchFamily="34" charset="-120"/>
              </a:rPr>
              <a:t>0</a:t>
            </a:r>
            <a:endParaRPr lang="en-US" sz="1665" dirty="0"/>
          </a:p>
        </p:txBody>
      </p:sp>
      <p:sp>
        <p:nvSpPr>
          <p:cNvPr id="20" name="Text 17"/>
          <p:cNvSpPr/>
          <p:nvPr/>
        </p:nvSpPr>
        <p:spPr>
          <a:xfrm>
            <a:off x="7855791" y="2083991"/>
            <a:ext cx="109220" cy="482600"/>
          </a:xfrm>
          <a:prstGeom prst="rect">
            <a:avLst/>
          </a:prstGeom>
          <a:noFill/>
        </p:spPr>
        <p:txBody>
          <a:bodyPr wrap="none" lIns="0" tIns="226737" rIns="0" bIns="0" rtlCol="0" anchor="ctr">
            <a:spAutoFit/>
          </a:bodyPr>
          <a:lstStyle/>
          <a:p>
            <a:pPr marL="0" indent="0" algn="ctr">
              <a:buNone/>
            </a:pPr>
            <a:r>
              <a:rPr lang="en-US" sz="1665" dirty="0">
                <a:solidFill>
                  <a:srgbClr val="E6EDF3"/>
                </a:solidFill>
                <a:latin typeface="JetBrains Mono Medium" pitchFamily="34" charset="0"/>
                <a:ea typeface="JetBrains Mono Medium" pitchFamily="34" charset="-122"/>
                <a:cs typeface="JetBrains Mono Medium" pitchFamily="34" charset="-120"/>
              </a:rPr>
              <a:t>0</a:t>
            </a:r>
            <a:endParaRPr lang="en-US" sz="1665" dirty="0"/>
          </a:p>
        </p:txBody>
      </p:sp>
      <p:sp>
        <p:nvSpPr>
          <p:cNvPr id="21" name="Text 18"/>
          <p:cNvSpPr/>
          <p:nvPr/>
        </p:nvSpPr>
        <p:spPr>
          <a:xfrm>
            <a:off x="9561554" y="2271712"/>
            <a:ext cx="105410" cy="245745"/>
          </a:xfrm>
          <a:prstGeom prst="rect">
            <a:avLst/>
          </a:prstGeom>
          <a:noFill/>
        </p:spPr>
        <p:txBody>
          <a:bodyPr wrap="none" lIns="0" tIns="0" rIns="0" bIns="0" rtlCol="0" anchor="t">
            <a:spAutoFit/>
          </a:bodyPr>
          <a:lstStyle/>
          <a:p>
            <a:pPr marL="0" indent="0" algn="ctr">
              <a:buNone/>
            </a:pPr>
            <a:r>
              <a:rPr lang="en-US" sz="1600" b="1" dirty="0">
                <a:solidFill>
                  <a:srgbClr val="00FF9C"/>
                </a:solidFill>
                <a:latin typeface="JetBrains Mono Medium" pitchFamily="34" charset="0"/>
                <a:ea typeface="JetBrains Mono Medium" pitchFamily="34" charset="-122"/>
                <a:cs typeface="JetBrains Mono Medium" pitchFamily="34" charset="-120"/>
              </a:rPr>
              <a:t>0</a:t>
            </a:r>
            <a:endParaRPr lang="en-US" sz="1600" dirty="0"/>
          </a:p>
        </p:txBody>
      </p:sp>
      <p:sp>
        <p:nvSpPr>
          <p:cNvPr id="22" name="Text 19"/>
          <p:cNvSpPr/>
          <p:nvPr/>
        </p:nvSpPr>
        <p:spPr>
          <a:xfrm>
            <a:off x="9805712" y="2369344"/>
            <a:ext cx="379095" cy="144145"/>
          </a:xfrm>
          <a:prstGeom prst="rect">
            <a:avLst/>
          </a:prstGeom>
          <a:noFill/>
        </p:spPr>
        <p:txBody>
          <a:bodyPr wrap="none" lIns="0" tIns="0" rIns="0" bIns="0" rtlCol="0" anchor="t">
            <a:spAutoFit/>
          </a:bodyPr>
          <a:lstStyle/>
          <a:p>
            <a:pPr marL="0" indent="0" algn="ctr">
              <a:buNone/>
            </a:pPr>
            <a:r>
              <a:rPr lang="en-US" sz="935" b="1" dirty="0">
                <a:solidFill>
                  <a:srgbClr val="8B949E"/>
                </a:solidFill>
                <a:latin typeface="JetBrains Mono Medium" pitchFamily="34" charset="0"/>
                <a:ea typeface="JetBrains Mono Medium" pitchFamily="34" charset="-122"/>
                <a:cs typeface="JetBrains Mono Medium" pitchFamily="34" charset="-120"/>
              </a:rPr>
              <a:t>(same)</a:t>
            </a:r>
            <a:endParaRPr lang="en-US" sz="935" dirty="0"/>
          </a:p>
        </p:txBody>
      </p:sp>
      <p:sp>
        <p:nvSpPr>
          <p:cNvPr id="23" name="Text 20"/>
          <p:cNvSpPr/>
          <p:nvPr/>
        </p:nvSpPr>
        <p:spPr>
          <a:xfrm>
            <a:off x="7298504" y="2588815"/>
            <a:ext cx="109220" cy="482600"/>
          </a:xfrm>
          <a:prstGeom prst="rect">
            <a:avLst/>
          </a:prstGeom>
          <a:noFill/>
        </p:spPr>
        <p:txBody>
          <a:bodyPr wrap="none" lIns="0" tIns="226737" rIns="0" bIns="0" rtlCol="0" anchor="ctr">
            <a:spAutoFit/>
          </a:bodyPr>
          <a:lstStyle/>
          <a:p>
            <a:pPr marL="0" indent="0" algn="ctr">
              <a:buNone/>
            </a:pPr>
            <a:r>
              <a:rPr lang="en-US" sz="1665" dirty="0">
                <a:solidFill>
                  <a:srgbClr val="E6EDF3"/>
                </a:solidFill>
                <a:latin typeface="JetBrains Mono Medium" pitchFamily="34" charset="0"/>
                <a:ea typeface="JetBrains Mono Medium" pitchFamily="34" charset="-122"/>
                <a:cs typeface="JetBrains Mono Medium" pitchFamily="34" charset="-120"/>
              </a:rPr>
              <a:t>0</a:t>
            </a:r>
            <a:endParaRPr lang="en-US" sz="1665" dirty="0"/>
          </a:p>
        </p:txBody>
      </p:sp>
      <p:sp>
        <p:nvSpPr>
          <p:cNvPr id="24" name="Text 21"/>
          <p:cNvSpPr/>
          <p:nvPr/>
        </p:nvSpPr>
        <p:spPr>
          <a:xfrm>
            <a:off x="7855791" y="2588815"/>
            <a:ext cx="109220" cy="482600"/>
          </a:xfrm>
          <a:prstGeom prst="rect">
            <a:avLst/>
          </a:prstGeom>
          <a:noFill/>
        </p:spPr>
        <p:txBody>
          <a:bodyPr wrap="none" lIns="0" tIns="226737" rIns="0" bIns="0" rtlCol="0" anchor="ctr">
            <a:spAutoFit/>
          </a:bodyPr>
          <a:lstStyle/>
          <a:p>
            <a:pPr marL="0" indent="0" algn="ctr">
              <a:buNone/>
            </a:pPr>
            <a:r>
              <a:rPr lang="en-US" sz="1665" dirty="0">
                <a:solidFill>
                  <a:srgbClr val="E6EDF3"/>
                </a:solidFill>
                <a:latin typeface="JetBrains Mono Medium" pitchFamily="34" charset="0"/>
                <a:ea typeface="JetBrains Mono Medium" pitchFamily="34" charset="-122"/>
                <a:cs typeface="JetBrains Mono Medium" pitchFamily="34" charset="-120"/>
              </a:rPr>
              <a:t>1</a:t>
            </a:r>
            <a:endParaRPr lang="en-US" sz="1665" dirty="0"/>
          </a:p>
        </p:txBody>
      </p:sp>
      <p:sp>
        <p:nvSpPr>
          <p:cNvPr id="25" name="Text 22"/>
          <p:cNvSpPr/>
          <p:nvPr/>
        </p:nvSpPr>
        <p:spPr>
          <a:xfrm>
            <a:off x="9561554" y="2774156"/>
            <a:ext cx="105410" cy="245745"/>
          </a:xfrm>
          <a:prstGeom prst="rect">
            <a:avLst/>
          </a:prstGeom>
          <a:noFill/>
        </p:spPr>
        <p:txBody>
          <a:bodyPr wrap="none" lIns="0" tIns="0" rIns="0" bIns="0" rtlCol="0" anchor="t">
            <a:spAutoFit/>
          </a:bodyPr>
          <a:lstStyle/>
          <a:p>
            <a:pPr marL="0" indent="0" algn="ctr">
              <a:buNone/>
            </a:pPr>
            <a:r>
              <a:rPr lang="en-US" sz="1600" b="1" dirty="0">
                <a:solidFill>
                  <a:srgbClr val="00FF9C"/>
                </a:solidFill>
                <a:latin typeface="JetBrains Mono Medium" pitchFamily="34" charset="0"/>
                <a:ea typeface="JetBrains Mono Medium" pitchFamily="34" charset="-122"/>
                <a:cs typeface="JetBrains Mono Medium" pitchFamily="34" charset="-120"/>
              </a:rPr>
              <a:t>1</a:t>
            </a:r>
            <a:endParaRPr lang="en-US" sz="1600" dirty="0"/>
          </a:p>
        </p:txBody>
      </p:sp>
      <p:sp>
        <p:nvSpPr>
          <p:cNvPr id="26" name="Text 23"/>
          <p:cNvSpPr/>
          <p:nvPr/>
        </p:nvSpPr>
        <p:spPr>
          <a:xfrm>
            <a:off x="9857782" y="2871788"/>
            <a:ext cx="274955" cy="144145"/>
          </a:xfrm>
          <a:prstGeom prst="rect">
            <a:avLst/>
          </a:prstGeom>
          <a:noFill/>
        </p:spPr>
        <p:txBody>
          <a:bodyPr wrap="none" lIns="0" tIns="0" rIns="0" bIns="0" rtlCol="0" anchor="t">
            <a:spAutoFit/>
          </a:bodyPr>
          <a:lstStyle/>
          <a:p>
            <a:pPr marL="0" indent="0" algn="ctr">
              <a:buNone/>
            </a:pPr>
            <a:r>
              <a:rPr lang="en-US" sz="935" b="1" dirty="0">
                <a:solidFill>
                  <a:srgbClr val="8B949E"/>
                </a:solidFill>
                <a:latin typeface="JetBrains Mono Medium" pitchFamily="34" charset="0"/>
                <a:ea typeface="JetBrains Mono Medium" pitchFamily="34" charset="-122"/>
                <a:cs typeface="JetBrains Mono Medium" pitchFamily="34" charset="-120"/>
              </a:rPr>
              <a:t>(diff)</a:t>
            </a:r>
            <a:endParaRPr lang="en-US" sz="935" dirty="0"/>
          </a:p>
        </p:txBody>
      </p:sp>
      <p:sp>
        <p:nvSpPr>
          <p:cNvPr id="27" name="Text 24"/>
          <p:cNvSpPr/>
          <p:nvPr/>
        </p:nvSpPr>
        <p:spPr>
          <a:xfrm>
            <a:off x="7298504" y="3091259"/>
            <a:ext cx="109220" cy="482600"/>
          </a:xfrm>
          <a:prstGeom prst="rect">
            <a:avLst/>
          </a:prstGeom>
          <a:noFill/>
        </p:spPr>
        <p:txBody>
          <a:bodyPr wrap="none" lIns="0" tIns="226737" rIns="0" bIns="0" rtlCol="0" anchor="ctr">
            <a:spAutoFit/>
          </a:bodyPr>
          <a:lstStyle/>
          <a:p>
            <a:pPr marL="0" indent="0" algn="ctr">
              <a:buNone/>
            </a:pPr>
            <a:r>
              <a:rPr lang="en-US" sz="1665" dirty="0">
                <a:solidFill>
                  <a:srgbClr val="E6EDF3"/>
                </a:solidFill>
                <a:latin typeface="JetBrains Mono Medium" pitchFamily="34" charset="0"/>
                <a:ea typeface="JetBrains Mono Medium" pitchFamily="34" charset="-122"/>
                <a:cs typeface="JetBrains Mono Medium" pitchFamily="34" charset="-120"/>
              </a:rPr>
              <a:t>1</a:t>
            </a:r>
            <a:endParaRPr lang="en-US" sz="1665" dirty="0"/>
          </a:p>
        </p:txBody>
      </p:sp>
      <p:sp>
        <p:nvSpPr>
          <p:cNvPr id="28" name="Text 25"/>
          <p:cNvSpPr/>
          <p:nvPr/>
        </p:nvSpPr>
        <p:spPr>
          <a:xfrm>
            <a:off x="7855791" y="3091259"/>
            <a:ext cx="109220" cy="482600"/>
          </a:xfrm>
          <a:prstGeom prst="rect">
            <a:avLst/>
          </a:prstGeom>
          <a:noFill/>
        </p:spPr>
        <p:txBody>
          <a:bodyPr wrap="none" lIns="0" tIns="226737" rIns="0" bIns="0" rtlCol="0" anchor="ctr">
            <a:spAutoFit/>
          </a:bodyPr>
          <a:lstStyle/>
          <a:p>
            <a:pPr marL="0" indent="0" algn="ctr">
              <a:buNone/>
            </a:pPr>
            <a:r>
              <a:rPr lang="en-US" sz="1665" dirty="0">
                <a:solidFill>
                  <a:srgbClr val="E6EDF3"/>
                </a:solidFill>
                <a:latin typeface="JetBrains Mono Medium" pitchFamily="34" charset="0"/>
                <a:ea typeface="JetBrains Mono Medium" pitchFamily="34" charset="-122"/>
                <a:cs typeface="JetBrains Mono Medium" pitchFamily="34" charset="-120"/>
              </a:rPr>
              <a:t>0</a:t>
            </a:r>
            <a:endParaRPr lang="en-US" sz="1665" dirty="0"/>
          </a:p>
        </p:txBody>
      </p:sp>
      <p:sp>
        <p:nvSpPr>
          <p:cNvPr id="29" name="Text 26"/>
          <p:cNvSpPr/>
          <p:nvPr/>
        </p:nvSpPr>
        <p:spPr>
          <a:xfrm>
            <a:off x="9561554" y="3276600"/>
            <a:ext cx="105410" cy="245745"/>
          </a:xfrm>
          <a:prstGeom prst="rect">
            <a:avLst/>
          </a:prstGeom>
          <a:noFill/>
        </p:spPr>
        <p:txBody>
          <a:bodyPr wrap="none" lIns="0" tIns="0" rIns="0" bIns="0" rtlCol="0" anchor="t">
            <a:spAutoFit/>
          </a:bodyPr>
          <a:lstStyle/>
          <a:p>
            <a:pPr marL="0" indent="0" algn="ctr">
              <a:buNone/>
            </a:pPr>
            <a:r>
              <a:rPr lang="en-US" sz="1600" b="1" dirty="0">
                <a:solidFill>
                  <a:srgbClr val="00FF9C"/>
                </a:solidFill>
                <a:latin typeface="JetBrains Mono Medium" pitchFamily="34" charset="0"/>
                <a:ea typeface="JetBrains Mono Medium" pitchFamily="34" charset="-122"/>
                <a:cs typeface="JetBrains Mono Medium" pitchFamily="34" charset="-120"/>
              </a:rPr>
              <a:t>1</a:t>
            </a:r>
            <a:endParaRPr lang="en-US" sz="1600" dirty="0"/>
          </a:p>
        </p:txBody>
      </p:sp>
      <p:sp>
        <p:nvSpPr>
          <p:cNvPr id="30" name="Text 27"/>
          <p:cNvSpPr/>
          <p:nvPr/>
        </p:nvSpPr>
        <p:spPr>
          <a:xfrm>
            <a:off x="9857782" y="3374231"/>
            <a:ext cx="274955" cy="144145"/>
          </a:xfrm>
          <a:prstGeom prst="rect">
            <a:avLst/>
          </a:prstGeom>
          <a:noFill/>
        </p:spPr>
        <p:txBody>
          <a:bodyPr wrap="none" lIns="0" tIns="0" rIns="0" bIns="0" rtlCol="0" anchor="t">
            <a:spAutoFit/>
          </a:bodyPr>
          <a:lstStyle/>
          <a:p>
            <a:pPr marL="0" indent="0" algn="ctr">
              <a:buNone/>
            </a:pPr>
            <a:r>
              <a:rPr lang="en-US" sz="935" b="1" dirty="0">
                <a:solidFill>
                  <a:srgbClr val="8B949E"/>
                </a:solidFill>
                <a:latin typeface="JetBrains Mono Medium" pitchFamily="34" charset="0"/>
                <a:ea typeface="JetBrains Mono Medium" pitchFamily="34" charset="-122"/>
                <a:cs typeface="JetBrains Mono Medium" pitchFamily="34" charset="-120"/>
              </a:rPr>
              <a:t>(diff)</a:t>
            </a:r>
            <a:endParaRPr lang="en-US" sz="935" dirty="0"/>
          </a:p>
        </p:txBody>
      </p:sp>
      <p:sp>
        <p:nvSpPr>
          <p:cNvPr id="31" name="Text 28"/>
          <p:cNvSpPr/>
          <p:nvPr/>
        </p:nvSpPr>
        <p:spPr>
          <a:xfrm>
            <a:off x="7298504" y="3593703"/>
            <a:ext cx="109220" cy="482600"/>
          </a:xfrm>
          <a:prstGeom prst="rect">
            <a:avLst/>
          </a:prstGeom>
          <a:noFill/>
        </p:spPr>
        <p:txBody>
          <a:bodyPr wrap="none" lIns="0" tIns="226737" rIns="0" bIns="0" rtlCol="0" anchor="ctr">
            <a:spAutoFit/>
          </a:bodyPr>
          <a:lstStyle/>
          <a:p>
            <a:pPr marL="0" indent="0" algn="ctr">
              <a:buNone/>
            </a:pPr>
            <a:r>
              <a:rPr lang="en-US" sz="1665" dirty="0">
                <a:solidFill>
                  <a:srgbClr val="E6EDF3"/>
                </a:solidFill>
                <a:latin typeface="JetBrains Mono Medium" pitchFamily="34" charset="0"/>
                <a:ea typeface="JetBrains Mono Medium" pitchFamily="34" charset="-122"/>
                <a:cs typeface="JetBrains Mono Medium" pitchFamily="34" charset="-120"/>
              </a:rPr>
              <a:t>1</a:t>
            </a:r>
            <a:endParaRPr lang="en-US" sz="1665" dirty="0"/>
          </a:p>
        </p:txBody>
      </p:sp>
      <p:sp>
        <p:nvSpPr>
          <p:cNvPr id="32" name="Text 29"/>
          <p:cNvSpPr/>
          <p:nvPr/>
        </p:nvSpPr>
        <p:spPr>
          <a:xfrm>
            <a:off x="7855791" y="3593703"/>
            <a:ext cx="109220" cy="482600"/>
          </a:xfrm>
          <a:prstGeom prst="rect">
            <a:avLst/>
          </a:prstGeom>
          <a:noFill/>
        </p:spPr>
        <p:txBody>
          <a:bodyPr wrap="none" lIns="0" tIns="226737" rIns="0" bIns="0" rtlCol="0" anchor="ctr">
            <a:spAutoFit/>
          </a:bodyPr>
          <a:lstStyle/>
          <a:p>
            <a:pPr marL="0" indent="0" algn="ctr">
              <a:buNone/>
            </a:pPr>
            <a:r>
              <a:rPr lang="en-US" sz="1665" dirty="0">
                <a:solidFill>
                  <a:srgbClr val="E6EDF3"/>
                </a:solidFill>
                <a:latin typeface="JetBrains Mono Medium" pitchFamily="34" charset="0"/>
                <a:ea typeface="JetBrains Mono Medium" pitchFamily="34" charset="-122"/>
                <a:cs typeface="JetBrains Mono Medium" pitchFamily="34" charset="-120"/>
              </a:rPr>
              <a:t>1</a:t>
            </a:r>
            <a:endParaRPr lang="en-US" sz="1665" dirty="0"/>
          </a:p>
        </p:txBody>
      </p:sp>
      <p:sp>
        <p:nvSpPr>
          <p:cNvPr id="33" name="Text 30"/>
          <p:cNvSpPr/>
          <p:nvPr/>
        </p:nvSpPr>
        <p:spPr>
          <a:xfrm>
            <a:off x="9561554" y="3779044"/>
            <a:ext cx="105410" cy="245745"/>
          </a:xfrm>
          <a:prstGeom prst="rect">
            <a:avLst/>
          </a:prstGeom>
          <a:noFill/>
        </p:spPr>
        <p:txBody>
          <a:bodyPr wrap="none" lIns="0" tIns="0" rIns="0" bIns="0" rtlCol="0" anchor="t">
            <a:spAutoFit/>
          </a:bodyPr>
          <a:lstStyle/>
          <a:p>
            <a:pPr marL="0" indent="0" algn="ctr">
              <a:buNone/>
            </a:pPr>
            <a:r>
              <a:rPr lang="en-US" sz="1600" b="1" dirty="0">
                <a:solidFill>
                  <a:srgbClr val="00FF9C"/>
                </a:solidFill>
                <a:latin typeface="JetBrains Mono Medium" pitchFamily="34" charset="0"/>
                <a:ea typeface="JetBrains Mono Medium" pitchFamily="34" charset="-122"/>
                <a:cs typeface="JetBrains Mono Medium" pitchFamily="34" charset="-120"/>
              </a:rPr>
              <a:t>0</a:t>
            </a:r>
            <a:endParaRPr lang="en-US" sz="1600" dirty="0"/>
          </a:p>
        </p:txBody>
      </p:sp>
      <p:sp>
        <p:nvSpPr>
          <p:cNvPr id="34" name="Text 31"/>
          <p:cNvSpPr/>
          <p:nvPr/>
        </p:nvSpPr>
        <p:spPr>
          <a:xfrm>
            <a:off x="9805712" y="3876675"/>
            <a:ext cx="379095" cy="144145"/>
          </a:xfrm>
          <a:prstGeom prst="rect">
            <a:avLst/>
          </a:prstGeom>
          <a:noFill/>
        </p:spPr>
        <p:txBody>
          <a:bodyPr wrap="none" lIns="0" tIns="0" rIns="0" bIns="0" rtlCol="0" anchor="t">
            <a:spAutoFit/>
          </a:bodyPr>
          <a:lstStyle/>
          <a:p>
            <a:pPr marL="0" indent="0" algn="ctr">
              <a:buNone/>
            </a:pPr>
            <a:r>
              <a:rPr lang="en-US" sz="935" b="1" dirty="0">
                <a:solidFill>
                  <a:srgbClr val="8B949E"/>
                </a:solidFill>
                <a:latin typeface="JetBrains Mono Medium" pitchFamily="34" charset="0"/>
                <a:ea typeface="JetBrains Mono Medium" pitchFamily="34" charset="-122"/>
                <a:cs typeface="JetBrains Mono Medium" pitchFamily="34" charset="-120"/>
              </a:rPr>
              <a:t>(same)</a:t>
            </a:r>
            <a:endParaRPr lang="en-US" sz="935" dirty="0"/>
          </a:p>
        </p:txBody>
      </p:sp>
      <p:sp>
        <p:nvSpPr>
          <p:cNvPr id="35" name="Shape 32"/>
          <p:cNvSpPr/>
          <p:nvPr/>
        </p:nvSpPr>
        <p:spPr>
          <a:xfrm>
            <a:off x="6788720" y="4376737"/>
            <a:ext cx="5022280" cy="1200151"/>
          </a:xfrm>
          <a:prstGeom prst="rect">
            <a:avLst/>
          </a:prstGeom>
          <a:solidFill>
            <a:srgbClr val="E3B341">
              <a:alpha val="10000"/>
            </a:srgbClr>
          </a:solidFill>
          <a:ln w="9144">
            <a:solidFill>
              <a:srgbClr val="E3B341"/>
            </a:solidFill>
            <a:prstDash val="solid"/>
          </a:ln>
        </p:spPr>
      </p:sp>
      <p:pic>
        <p:nvPicPr>
          <p:cNvPr id="36" name="Image 1" descr="preencoded.png"/>
          <p:cNvPicPr>
            <a:picLocks noChangeAspect="1"/>
          </p:cNvPicPr>
          <p:nvPr/>
        </p:nvPicPr>
        <p:blipFill>
          <a:blip r:embed="rId2"/>
          <a:stretch>
            <a:fillRect/>
          </a:stretch>
        </p:blipFill>
        <p:spPr>
          <a:xfrm>
            <a:off x="7026845" y="4857751"/>
            <a:ext cx="342900" cy="457200"/>
          </a:xfrm>
          <a:prstGeom prst="rect">
            <a:avLst/>
          </a:prstGeom>
        </p:spPr>
      </p:pic>
      <p:sp>
        <p:nvSpPr>
          <p:cNvPr id="37" name="Text 33"/>
          <p:cNvSpPr/>
          <p:nvPr/>
        </p:nvSpPr>
        <p:spPr>
          <a:xfrm>
            <a:off x="7560245" y="4614863"/>
            <a:ext cx="2226469" cy="709295"/>
          </a:xfrm>
          <a:prstGeom prst="rect">
            <a:avLst/>
          </a:prstGeom>
          <a:noFill/>
        </p:spPr>
        <p:txBody>
          <a:bodyPr wrap="square" lIns="0" tIns="0" rIns="0" bIns="0" rtlCol="0" anchor="t">
            <a:spAutoFit/>
          </a:bodyPr>
          <a:lstStyle/>
          <a:p>
            <a:pPr marL="0" indent="0" algn="l">
              <a:buNone/>
            </a:pPr>
            <a:r>
              <a:rPr lang="en-US" sz="1535" dirty="0">
                <a:solidFill>
                  <a:srgbClr val="E3B341"/>
                </a:solidFill>
                <a:latin typeface="Poppins SemiBold" pitchFamily="34" charset="0"/>
                <a:ea typeface="Poppins SemiBold" pitchFamily="34" charset="-122"/>
                <a:cs typeface="Poppins SemiBold" pitchFamily="34" charset="-120"/>
              </a:rPr>
              <a:t>Memory Trick:
"Are these different?"
</a:t>
            </a:r>
            <a:r>
              <a:rPr lang="en-US" sz="1535" dirty="0">
                <a:solidFill>
                  <a:srgbClr val="00FF9C"/>
                </a:solidFill>
                <a:latin typeface="Poppins SemiBold" pitchFamily="34" charset="0"/>
                <a:ea typeface="Poppins SemiBold" pitchFamily="34" charset="-122"/>
                <a:cs typeface="Poppins SemiBold" pitchFamily="34" charset="-120"/>
              </a:rPr>
              <a:t>YES = 1</a:t>
            </a:r>
            <a:r>
              <a:rPr lang="en-US" sz="1535" dirty="0">
                <a:solidFill>
                  <a:srgbClr val="E3B341"/>
                </a:solidFill>
                <a:latin typeface="Poppins SemiBold" pitchFamily="34" charset="0"/>
                <a:ea typeface="Poppins SemiBold" pitchFamily="34" charset="-122"/>
                <a:cs typeface="Poppins SemiBold" pitchFamily="34" charset="-120"/>
              </a:rPr>
              <a:t> | </a:t>
            </a:r>
            <a:r>
              <a:rPr lang="en-US" sz="1535" dirty="0">
                <a:solidFill>
                  <a:srgbClr val="FF6B6B"/>
                </a:solidFill>
                <a:latin typeface="Poppins SemiBold" pitchFamily="34" charset="0"/>
                <a:ea typeface="Poppins SemiBold" pitchFamily="34" charset="-122"/>
                <a:cs typeface="Poppins SemiBold" pitchFamily="34" charset="-120"/>
              </a:rPr>
              <a:t>NO = 0</a:t>
            </a:r>
            <a:endParaRPr lang="en-US" sz="153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47 | EWUCSC</a:t>
            </a:r>
            <a:endParaRPr lang="en-US" sz="1265" dirty="0"/>
          </a:p>
        </p:txBody>
      </p:sp>
      <p:sp>
        <p:nvSpPr>
          <p:cNvPr id="7" name="Text 4"/>
          <p:cNvSpPr/>
          <p:nvPr/>
        </p:nvSpPr>
        <p:spPr>
          <a:xfrm>
            <a:off x="381000" y="952500"/>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Three XOR Properties for CTFs</a:t>
            </a:r>
            <a:endParaRPr lang="en-US" sz="2800" dirty="0"/>
          </a:p>
        </p:txBody>
      </p:sp>
      <p:sp>
        <p:nvSpPr>
          <p:cNvPr id="8" name="Shape 5"/>
          <p:cNvSpPr/>
          <p:nvPr/>
        </p:nvSpPr>
        <p:spPr>
          <a:xfrm>
            <a:off x="381000" y="1838325"/>
            <a:ext cx="3682975" cy="3619500"/>
          </a:xfrm>
          <a:prstGeom prst="rect">
            <a:avLst/>
          </a:prstGeom>
          <a:solidFill>
            <a:srgbClr val="161B22"/>
          </a:solidFill>
          <a:ln w="9144">
            <a:solidFill>
              <a:srgbClr val="30363D"/>
            </a:solidFill>
            <a:prstDash val="solid"/>
          </a:ln>
        </p:spPr>
      </p:sp>
      <p:pic>
        <p:nvPicPr>
          <p:cNvPr id="9" name="Image 1" descr="preencoded.png"/>
          <p:cNvPicPr>
            <a:picLocks noChangeAspect="1"/>
          </p:cNvPicPr>
          <p:nvPr/>
        </p:nvPicPr>
        <p:blipFill>
          <a:blip r:embed="rId2"/>
          <a:stretch>
            <a:fillRect/>
          </a:stretch>
        </p:blipFill>
        <p:spPr>
          <a:xfrm>
            <a:off x="619125" y="2176463"/>
            <a:ext cx="209551" cy="209551"/>
          </a:xfrm>
          <a:prstGeom prst="rect">
            <a:avLst/>
          </a:prstGeom>
        </p:spPr>
      </p:pic>
      <p:sp>
        <p:nvSpPr>
          <p:cNvPr id="10" name="Text 6"/>
          <p:cNvSpPr/>
          <p:nvPr/>
        </p:nvSpPr>
        <p:spPr>
          <a:xfrm>
            <a:off x="942975" y="2124075"/>
            <a:ext cx="1007110" cy="236220"/>
          </a:xfrm>
          <a:prstGeom prst="rect">
            <a:avLst/>
          </a:prstGeom>
          <a:noFill/>
        </p:spPr>
        <p:txBody>
          <a:bodyPr wrap="none" lIns="0" tIns="0" rIns="0" bIns="0" rtlCol="0" anchor="t">
            <a:spAutoFit/>
          </a:bodyPr>
          <a:lstStyle/>
          <a:p>
            <a:pPr marL="0" indent="0" algn="l">
              <a:buNone/>
            </a:pPr>
            <a:r>
              <a:rPr lang="en-US" sz="1535" dirty="0">
                <a:solidFill>
                  <a:srgbClr val="58A6FF"/>
                </a:solidFill>
                <a:latin typeface="Poppins SemiBold" pitchFamily="34" charset="0"/>
                <a:ea typeface="Poppins SemiBold" pitchFamily="34" charset="-122"/>
                <a:cs typeface="Poppins SemiBold" pitchFamily="34" charset="-120"/>
              </a:rPr>
              <a:t>Self-inverse</a:t>
            </a:r>
            <a:endParaRPr lang="en-US" sz="1535" dirty="0"/>
          </a:p>
        </p:txBody>
      </p:sp>
      <p:sp>
        <p:nvSpPr>
          <p:cNvPr id="11" name="Shape 7"/>
          <p:cNvSpPr/>
          <p:nvPr/>
        </p:nvSpPr>
        <p:spPr>
          <a:xfrm>
            <a:off x="619125" y="2628900"/>
            <a:ext cx="3206725" cy="771525"/>
          </a:xfrm>
          <a:prstGeom prst="rect">
            <a:avLst/>
          </a:prstGeom>
          <a:solidFill>
            <a:srgbClr val="0D1117"/>
          </a:solidFill>
          <a:ln w="9144">
            <a:solidFill>
              <a:srgbClr val="30363D"/>
            </a:solidFill>
            <a:prstDash val="solid"/>
          </a:ln>
        </p:spPr>
      </p:sp>
      <p:sp>
        <p:nvSpPr>
          <p:cNvPr id="12" name="Text 8"/>
          <p:cNvSpPr/>
          <p:nvPr/>
        </p:nvSpPr>
        <p:spPr>
          <a:xfrm>
            <a:off x="619125" y="2628900"/>
            <a:ext cx="3206725" cy="720725"/>
          </a:xfrm>
          <a:prstGeom prst="rect">
            <a:avLst/>
          </a:prstGeom>
          <a:noFill/>
        </p:spPr>
        <p:txBody>
          <a:bodyPr wrap="square" lIns="170010" tIns="170010" rIns="170010" bIns="0" rtlCol="0" anchor="t">
            <a:spAutoFit/>
          </a:bodyPr>
          <a:lstStyle/>
          <a:p>
            <a:pPr marL="0" indent="0" algn="l">
              <a:lnSpc>
                <a:spcPct val="128000"/>
              </a:lnSpc>
              <a:buNone/>
            </a:pPr>
            <a:r>
              <a:rPr lang="en-US" sz="1400" dirty="0">
                <a:solidFill>
                  <a:srgbClr val="E6EDF3"/>
                </a:solidFill>
                <a:latin typeface="JetBrains Mono Medium" pitchFamily="34" charset="0"/>
                <a:ea typeface="JetBrains Mono Medium" pitchFamily="34" charset="-122"/>
                <a:cs typeface="JetBrains Mono Medium" pitchFamily="34" charset="-120"/>
              </a:rPr>
              <a:t>A ⊕ A = </a:t>
            </a:r>
            <a:r>
              <a:rPr lang="en-US" sz="1400" dirty="0">
                <a:solidFill>
                  <a:srgbClr val="00FF9C"/>
                </a:solidFill>
                <a:latin typeface="JetBrains Mono Medium" pitchFamily="34" charset="0"/>
                <a:ea typeface="JetBrains Mono Medium" pitchFamily="34" charset="-122"/>
                <a:cs typeface="JetBrains Mono Medium" pitchFamily="34" charset="-120"/>
              </a:rPr>
              <a:t>0</a:t>
            </a:r>
            <a:r>
              <a:rPr lang="en-US" sz="1400" dirty="0">
                <a:solidFill>
                  <a:srgbClr val="E6EDF3"/>
                </a:solidFill>
                <a:latin typeface="JetBrains Mono Medium" pitchFamily="34" charset="0"/>
                <a:ea typeface="JetBrains Mono Medium" pitchFamily="34" charset="-122"/>
                <a:cs typeface="JetBrains Mono Medium" pitchFamily="34" charset="-120"/>
              </a:rPr>
              <a:t>
A ⊕ 0 = </a:t>
            </a:r>
            <a:r>
              <a:rPr lang="en-US" sz="1400" dirty="0">
                <a:solidFill>
                  <a:srgbClr val="00FF9C"/>
                </a:solidFill>
                <a:latin typeface="JetBrains Mono Medium" pitchFamily="34" charset="0"/>
                <a:ea typeface="JetBrains Mono Medium" pitchFamily="34" charset="-122"/>
                <a:cs typeface="JetBrains Mono Medium" pitchFamily="34" charset="-120"/>
              </a:rPr>
              <a:t>A</a:t>
            </a:r>
            <a:endParaRPr lang="en-US" sz="1400" dirty="0"/>
          </a:p>
        </p:txBody>
      </p:sp>
      <p:sp>
        <p:nvSpPr>
          <p:cNvPr id="13" name="Text 9"/>
          <p:cNvSpPr/>
          <p:nvPr/>
        </p:nvSpPr>
        <p:spPr>
          <a:xfrm>
            <a:off x="619125" y="3524251"/>
            <a:ext cx="3206725" cy="630555"/>
          </a:xfrm>
          <a:prstGeom prst="rect">
            <a:avLst/>
          </a:prstGeom>
          <a:noFill/>
        </p:spPr>
        <p:txBody>
          <a:bodyPr wrap="square" lIns="0" tIns="0" rIns="0" bIns="0" rtlCol="0" anchor="t">
            <a:spAutoFit/>
          </a:bodyPr>
          <a:lstStyle/>
          <a:p>
            <a:pPr marL="0" indent="0" algn="l">
              <a:lnSpc>
                <a:spcPct val="120000"/>
              </a:lnSpc>
              <a:buNone/>
            </a:pPr>
            <a:r>
              <a:rPr lang="en-US" sz="1135" dirty="0">
                <a:solidFill>
                  <a:srgbClr val="8B949E"/>
                </a:solidFill>
                <a:latin typeface="Inter" pitchFamily="34" charset="0"/>
                <a:ea typeface="Inter" pitchFamily="34" charset="-122"/>
                <a:cs typeface="Inter" pitchFamily="34" charset="-120"/>
              </a:rPr>
              <a:t>Anything XOR'd with itself results in zero. Anything XOR'd with zero remains unchanged. This is the foundation of XOR logic.</a:t>
            </a:r>
            <a:endParaRPr lang="en-US" sz="1135" dirty="0"/>
          </a:p>
        </p:txBody>
      </p:sp>
      <p:sp>
        <p:nvSpPr>
          <p:cNvPr id="14" name="Shape 10"/>
          <p:cNvSpPr/>
          <p:nvPr/>
        </p:nvSpPr>
        <p:spPr>
          <a:xfrm>
            <a:off x="4254475" y="1838325"/>
            <a:ext cx="3683012" cy="3619500"/>
          </a:xfrm>
          <a:prstGeom prst="rect">
            <a:avLst/>
          </a:prstGeom>
          <a:solidFill>
            <a:srgbClr val="161B22"/>
          </a:solidFill>
          <a:ln w="9144">
            <a:solidFill>
              <a:srgbClr val="30363D"/>
            </a:solidFill>
            <a:prstDash val="solid"/>
          </a:ln>
        </p:spPr>
      </p:sp>
      <p:pic>
        <p:nvPicPr>
          <p:cNvPr id="15" name="Image 2" descr="preencoded.png"/>
          <p:cNvPicPr>
            <a:picLocks noChangeAspect="1"/>
          </p:cNvPicPr>
          <p:nvPr/>
        </p:nvPicPr>
        <p:blipFill>
          <a:blip r:embed="rId3"/>
          <a:stretch>
            <a:fillRect/>
          </a:stretch>
        </p:blipFill>
        <p:spPr>
          <a:xfrm>
            <a:off x="4492600" y="2176463"/>
            <a:ext cx="261937" cy="209551"/>
          </a:xfrm>
          <a:prstGeom prst="rect">
            <a:avLst/>
          </a:prstGeom>
        </p:spPr>
      </p:pic>
      <p:sp>
        <p:nvSpPr>
          <p:cNvPr id="16" name="Text 11"/>
          <p:cNvSpPr/>
          <p:nvPr/>
        </p:nvSpPr>
        <p:spPr>
          <a:xfrm>
            <a:off x="4868837" y="2124075"/>
            <a:ext cx="883285" cy="236220"/>
          </a:xfrm>
          <a:prstGeom prst="rect">
            <a:avLst/>
          </a:prstGeom>
          <a:noFill/>
        </p:spPr>
        <p:txBody>
          <a:bodyPr wrap="none" lIns="0" tIns="0" rIns="0" bIns="0" rtlCol="0" anchor="t">
            <a:spAutoFit/>
          </a:bodyPr>
          <a:lstStyle/>
          <a:p>
            <a:pPr marL="0" indent="0" algn="l">
              <a:buNone/>
            </a:pPr>
            <a:r>
              <a:rPr lang="en-US" sz="1535" dirty="0">
                <a:solidFill>
                  <a:srgbClr val="58A6FF"/>
                </a:solidFill>
                <a:latin typeface="Poppins SemiBold" pitchFamily="34" charset="0"/>
                <a:ea typeface="Poppins SemiBold" pitchFamily="34" charset="-122"/>
                <a:cs typeface="Poppins SemiBold" pitchFamily="34" charset="-120"/>
              </a:rPr>
              <a:t>Reversible</a:t>
            </a:r>
            <a:endParaRPr lang="en-US" sz="1535" dirty="0"/>
          </a:p>
        </p:txBody>
      </p:sp>
      <p:sp>
        <p:nvSpPr>
          <p:cNvPr id="17" name="Shape 12"/>
          <p:cNvSpPr/>
          <p:nvPr/>
        </p:nvSpPr>
        <p:spPr>
          <a:xfrm>
            <a:off x="4492600" y="2628900"/>
            <a:ext cx="3206763" cy="771525"/>
          </a:xfrm>
          <a:prstGeom prst="rect">
            <a:avLst/>
          </a:prstGeom>
          <a:solidFill>
            <a:srgbClr val="0D1117"/>
          </a:solidFill>
          <a:ln w="9144">
            <a:solidFill>
              <a:srgbClr val="30363D"/>
            </a:solidFill>
            <a:prstDash val="solid"/>
          </a:ln>
        </p:spPr>
      </p:sp>
      <p:sp>
        <p:nvSpPr>
          <p:cNvPr id="18" name="Text 13"/>
          <p:cNvSpPr/>
          <p:nvPr/>
        </p:nvSpPr>
        <p:spPr>
          <a:xfrm>
            <a:off x="4492600" y="2628900"/>
            <a:ext cx="3206763" cy="720725"/>
          </a:xfrm>
          <a:prstGeom prst="rect">
            <a:avLst/>
          </a:prstGeom>
          <a:noFill/>
        </p:spPr>
        <p:txBody>
          <a:bodyPr wrap="square" lIns="170010" tIns="170010" rIns="170010" bIns="0" rtlCol="0" anchor="t">
            <a:spAutoFit/>
          </a:bodyPr>
          <a:lstStyle/>
          <a:p>
            <a:pPr marL="0" indent="0" algn="l">
              <a:lnSpc>
                <a:spcPct val="128000"/>
              </a:lnSpc>
              <a:buNone/>
            </a:pPr>
            <a:r>
              <a:rPr lang="en-US" sz="1400" dirty="0">
                <a:solidFill>
                  <a:srgbClr val="E6EDF3"/>
                </a:solidFill>
                <a:latin typeface="JetBrains Mono Medium" pitchFamily="34" charset="0"/>
                <a:ea typeface="JetBrains Mono Medium" pitchFamily="34" charset="-122"/>
                <a:cs typeface="JetBrains Mono Medium" pitchFamily="34" charset="-120"/>
              </a:rPr>
              <a:t>If A ⊕ B = C,
then </a:t>
            </a:r>
            <a:r>
              <a:rPr lang="en-US" sz="1400" dirty="0">
                <a:solidFill>
                  <a:srgbClr val="FF6B6B"/>
                </a:solidFill>
                <a:latin typeface="JetBrains Mono Medium" pitchFamily="34" charset="0"/>
                <a:ea typeface="JetBrains Mono Medium" pitchFamily="34" charset="-122"/>
                <a:cs typeface="JetBrains Mono Medium" pitchFamily="34" charset="-120"/>
              </a:rPr>
              <a:t>C ⊕ B = A</a:t>
            </a:r>
            <a:endParaRPr lang="en-US" sz="1400" dirty="0"/>
          </a:p>
        </p:txBody>
      </p:sp>
      <p:sp>
        <p:nvSpPr>
          <p:cNvPr id="19" name="Text 14"/>
          <p:cNvSpPr/>
          <p:nvPr/>
        </p:nvSpPr>
        <p:spPr>
          <a:xfrm>
            <a:off x="4492600" y="3524251"/>
            <a:ext cx="3206763" cy="840740"/>
          </a:xfrm>
          <a:prstGeom prst="rect">
            <a:avLst/>
          </a:prstGeom>
          <a:noFill/>
        </p:spPr>
        <p:txBody>
          <a:bodyPr wrap="square" lIns="0" tIns="0" rIns="0" bIns="0" rtlCol="0" anchor="t">
            <a:spAutoFit/>
          </a:bodyPr>
          <a:lstStyle/>
          <a:p>
            <a:pPr marL="0" indent="0" algn="l">
              <a:lnSpc>
                <a:spcPct val="120000"/>
              </a:lnSpc>
              <a:buNone/>
            </a:pPr>
            <a:r>
              <a:rPr lang="en-US" sz="1135" dirty="0">
                <a:solidFill>
                  <a:srgbClr val="8B949E"/>
                </a:solidFill>
                <a:latin typeface="Inter" pitchFamily="34" charset="0"/>
                <a:ea typeface="Inter" pitchFamily="34" charset="-122"/>
                <a:cs typeface="Inter" pitchFamily="34" charset="-120"/>
              </a:rPr>
              <a:t>This is why XOR works as encryption. If you XOR plaintext with a key to get ciphertext, XORing the ciphertext with the same key gives you the plaintext back.</a:t>
            </a:r>
            <a:endParaRPr lang="en-US" sz="1135" dirty="0"/>
          </a:p>
        </p:txBody>
      </p:sp>
      <p:sp>
        <p:nvSpPr>
          <p:cNvPr id="20" name="Shape 15"/>
          <p:cNvSpPr/>
          <p:nvPr/>
        </p:nvSpPr>
        <p:spPr>
          <a:xfrm>
            <a:off x="8127988" y="1838325"/>
            <a:ext cx="3682975" cy="3619500"/>
          </a:xfrm>
          <a:prstGeom prst="rect">
            <a:avLst/>
          </a:prstGeom>
          <a:solidFill>
            <a:srgbClr val="161B22"/>
          </a:solidFill>
          <a:ln w="9144">
            <a:solidFill>
              <a:srgbClr val="30363D"/>
            </a:solidFill>
            <a:prstDash val="solid"/>
          </a:ln>
        </p:spPr>
      </p:sp>
      <p:pic>
        <p:nvPicPr>
          <p:cNvPr id="21" name="Image 3" descr="preencoded.png"/>
          <p:cNvPicPr>
            <a:picLocks noChangeAspect="1"/>
          </p:cNvPicPr>
          <p:nvPr/>
        </p:nvPicPr>
        <p:blipFill>
          <a:blip r:embed="rId4"/>
          <a:stretch>
            <a:fillRect/>
          </a:stretch>
        </p:blipFill>
        <p:spPr>
          <a:xfrm>
            <a:off x="8366112" y="2176463"/>
            <a:ext cx="209551" cy="209551"/>
          </a:xfrm>
          <a:prstGeom prst="rect">
            <a:avLst/>
          </a:prstGeom>
        </p:spPr>
      </p:pic>
      <p:sp>
        <p:nvSpPr>
          <p:cNvPr id="22" name="Text 16"/>
          <p:cNvSpPr/>
          <p:nvPr/>
        </p:nvSpPr>
        <p:spPr>
          <a:xfrm>
            <a:off x="8689963" y="2124075"/>
            <a:ext cx="1153795" cy="236220"/>
          </a:xfrm>
          <a:prstGeom prst="rect">
            <a:avLst/>
          </a:prstGeom>
          <a:noFill/>
        </p:spPr>
        <p:txBody>
          <a:bodyPr wrap="none" lIns="0" tIns="0" rIns="0" bIns="0" rtlCol="0" anchor="t">
            <a:spAutoFit/>
          </a:bodyPr>
          <a:lstStyle/>
          <a:p>
            <a:pPr marL="0" indent="0" algn="l">
              <a:buNone/>
            </a:pPr>
            <a:r>
              <a:rPr lang="en-US" sz="1535" dirty="0">
                <a:solidFill>
                  <a:srgbClr val="58A6FF"/>
                </a:solidFill>
                <a:latin typeface="Poppins SemiBold" pitchFamily="34" charset="0"/>
                <a:ea typeface="Poppins SemiBold" pitchFamily="34" charset="-122"/>
                <a:cs typeface="Poppins SemiBold" pitchFamily="34" charset="-120"/>
              </a:rPr>
              <a:t>Commutative</a:t>
            </a:r>
            <a:endParaRPr lang="en-US" sz="1535" dirty="0"/>
          </a:p>
        </p:txBody>
      </p:sp>
      <p:sp>
        <p:nvSpPr>
          <p:cNvPr id="23" name="Shape 17"/>
          <p:cNvSpPr/>
          <p:nvPr/>
        </p:nvSpPr>
        <p:spPr>
          <a:xfrm>
            <a:off x="8366112" y="2628900"/>
            <a:ext cx="3206725" cy="1076325"/>
          </a:xfrm>
          <a:prstGeom prst="rect">
            <a:avLst/>
          </a:prstGeom>
          <a:solidFill>
            <a:srgbClr val="0D1117"/>
          </a:solidFill>
          <a:ln w="9144">
            <a:solidFill>
              <a:srgbClr val="30363D"/>
            </a:solidFill>
            <a:prstDash val="solid"/>
          </a:ln>
        </p:spPr>
      </p:sp>
      <p:sp>
        <p:nvSpPr>
          <p:cNvPr id="24" name="Text 18"/>
          <p:cNvSpPr/>
          <p:nvPr/>
        </p:nvSpPr>
        <p:spPr>
          <a:xfrm>
            <a:off x="8366112" y="2628900"/>
            <a:ext cx="3206725" cy="996315"/>
          </a:xfrm>
          <a:prstGeom prst="rect">
            <a:avLst/>
          </a:prstGeom>
          <a:noFill/>
        </p:spPr>
        <p:txBody>
          <a:bodyPr wrap="square" lIns="170010" tIns="170010" rIns="170010" bIns="0" rtlCol="0" anchor="t">
            <a:spAutoFit/>
          </a:bodyPr>
          <a:lstStyle/>
          <a:p>
            <a:pPr marL="0" indent="0" algn="l">
              <a:lnSpc>
                <a:spcPct val="128000"/>
              </a:lnSpc>
              <a:buNone/>
            </a:pPr>
            <a:r>
              <a:rPr lang="en-US" sz="1400" dirty="0">
                <a:solidFill>
                  <a:srgbClr val="E6EDF3"/>
                </a:solidFill>
                <a:latin typeface="JetBrains Mono Medium" pitchFamily="34" charset="0"/>
                <a:ea typeface="JetBrains Mono Medium" pitchFamily="34" charset="-122"/>
                <a:cs typeface="JetBrains Mono Medium" pitchFamily="34" charset="-120"/>
              </a:rPr>
              <a:t>A ⊕ B = B ⊕ A
(A ⊕ B) ⊕ C =
A ⊕ (B ⊕ C)</a:t>
            </a:r>
            <a:endParaRPr lang="en-US" sz="1400" dirty="0"/>
          </a:p>
        </p:txBody>
      </p:sp>
      <p:sp>
        <p:nvSpPr>
          <p:cNvPr id="25" name="Text 19"/>
          <p:cNvSpPr/>
          <p:nvPr/>
        </p:nvSpPr>
        <p:spPr>
          <a:xfrm>
            <a:off x="8366112" y="3829051"/>
            <a:ext cx="3206725" cy="630555"/>
          </a:xfrm>
          <a:prstGeom prst="rect">
            <a:avLst/>
          </a:prstGeom>
          <a:noFill/>
        </p:spPr>
        <p:txBody>
          <a:bodyPr wrap="square" lIns="0" tIns="0" rIns="0" bIns="0" rtlCol="0" anchor="t">
            <a:spAutoFit/>
          </a:bodyPr>
          <a:lstStyle/>
          <a:p>
            <a:pPr marL="0" indent="0" algn="l">
              <a:lnSpc>
                <a:spcPct val="120000"/>
              </a:lnSpc>
              <a:buNone/>
            </a:pPr>
            <a:r>
              <a:rPr lang="en-US" sz="1135" dirty="0">
                <a:solidFill>
                  <a:srgbClr val="8B949E"/>
                </a:solidFill>
                <a:latin typeface="Inter" pitchFamily="34" charset="0"/>
                <a:ea typeface="Inter" pitchFamily="34" charset="-122"/>
                <a:cs typeface="Inter" pitchFamily="34" charset="-120"/>
              </a:rPr>
              <a:t>The order of operations doesn't matter. This allows attackers to rearrange terms to solve for unknown variables in complex challenges.</a:t>
            </a:r>
            <a:endParaRPr lang="en-US" sz="1135" dirty="0"/>
          </a:p>
        </p:txBody>
      </p:sp>
      <p:sp>
        <p:nvSpPr>
          <p:cNvPr id="26" name="Shape 20"/>
          <p:cNvSpPr/>
          <p:nvPr/>
        </p:nvSpPr>
        <p:spPr>
          <a:xfrm>
            <a:off x="381000" y="5743575"/>
            <a:ext cx="11430000" cy="781051"/>
          </a:xfrm>
          <a:prstGeom prst="rect">
            <a:avLst/>
          </a:prstGeom>
          <a:solidFill>
            <a:srgbClr val="E3B341">
              <a:alpha val="10000"/>
            </a:srgbClr>
          </a:solidFill>
          <a:ln w="9144">
            <a:solidFill>
              <a:srgbClr val="E3B341"/>
            </a:solidFill>
            <a:prstDash val="solid"/>
          </a:ln>
        </p:spPr>
      </p:sp>
      <p:pic>
        <p:nvPicPr>
          <p:cNvPr id="27" name="Image 4" descr="preencoded.png"/>
          <p:cNvPicPr>
            <a:picLocks noChangeAspect="1"/>
          </p:cNvPicPr>
          <p:nvPr/>
        </p:nvPicPr>
        <p:blipFill>
          <a:blip r:embed="rId5"/>
          <a:stretch>
            <a:fillRect/>
          </a:stretch>
        </p:blipFill>
        <p:spPr>
          <a:xfrm>
            <a:off x="571500" y="6124575"/>
            <a:ext cx="190500" cy="190500"/>
          </a:xfrm>
          <a:prstGeom prst="rect">
            <a:avLst/>
          </a:prstGeom>
        </p:spPr>
      </p:pic>
      <p:sp>
        <p:nvSpPr>
          <p:cNvPr id="28" name="Text 21"/>
          <p:cNvSpPr/>
          <p:nvPr/>
        </p:nvSpPr>
        <p:spPr>
          <a:xfrm>
            <a:off x="904875" y="5934075"/>
            <a:ext cx="10715625" cy="215265"/>
          </a:xfrm>
          <a:prstGeom prst="rect">
            <a:avLst/>
          </a:prstGeom>
          <a:noFill/>
        </p:spPr>
        <p:txBody>
          <a:bodyPr wrap="square" lIns="0" tIns="0" rIns="0" bIns="0" rtlCol="0" anchor="t">
            <a:spAutoFit/>
          </a:bodyPr>
          <a:lstStyle/>
          <a:p>
            <a:pPr marL="0" indent="0" algn="l">
              <a:buNone/>
            </a:pPr>
            <a:r>
              <a:rPr lang="en-US" sz="1335" b="1" dirty="0">
                <a:solidFill>
                  <a:srgbClr val="E3B341"/>
                </a:solidFill>
                <a:latin typeface="Poppins SemiBold" pitchFamily="34" charset="0"/>
                <a:ea typeface="Poppins SemiBold" pitchFamily="34" charset="-122"/>
                <a:cs typeface="Poppins SemiBold" pitchFamily="34" charset="-120"/>
              </a:rPr>
              <a:t>CTF Application:</a:t>
            </a:r>
            <a:r>
              <a:rPr lang="en-US" sz="1400" dirty="0">
                <a:solidFill>
                  <a:srgbClr val="E3B341"/>
                </a:solidFill>
                <a:latin typeface="Poppins SemiBold" pitchFamily="34" charset="0"/>
                <a:ea typeface="Poppins SemiBold" pitchFamily="34" charset="-122"/>
                <a:cs typeface="Poppins SemiBold" pitchFamily="34" charset="-120"/>
              </a:rPr>
              <a:t> If you know the </a:t>
            </a:r>
            <a:r>
              <a:rPr lang="en-US" sz="1400" dirty="0">
                <a:solidFill>
                  <a:srgbClr val="00FF9C"/>
                </a:solidFill>
                <a:latin typeface="Poppins SemiBold" pitchFamily="34" charset="0"/>
                <a:ea typeface="Poppins SemiBold" pitchFamily="34" charset="-122"/>
                <a:cs typeface="Poppins SemiBold" pitchFamily="34" charset="-120"/>
              </a:rPr>
              <a:t>Plaintext (P)</a:t>
            </a:r>
            <a:r>
              <a:rPr lang="en-US" sz="1400" dirty="0">
                <a:solidFill>
                  <a:srgbClr val="E3B341"/>
                </a:solidFill>
                <a:latin typeface="Poppins SemiBold" pitchFamily="34" charset="0"/>
                <a:ea typeface="Poppins SemiBold" pitchFamily="34" charset="-122"/>
                <a:cs typeface="Poppins SemiBold" pitchFamily="34" charset="-120"/>
              </a:rPr>
              <a:t> and the </a:t>
            </a:r>
            <a:r>
              <a:rPr lang="en-US" sz="1400" dirty="0">
                <a:solidFill>
                  <a:srgbClr val="00FF9C"/>
                </a:solidFill>
                <a:latin typeface="Poppins SemiBold" pitchFamily="34" charset="0"/>
                <a:ea typeface="Poppins SemiBold" pitchFamily="34" charset="-122"/>
                <a:cs typeface="Poppins SemiBold" pitchFamily="34" charset="-120"/>
              </a:rPr>
              <a:t>Ciphertext (C)</a:t>
            </a:r>
            <a:r>
              <a:rPr lang="en-US" sz="1400" dirty="0">
                <a:solidFill>
                  <a:srgbClr val="E3B341"/>
                </a:solidFill>
                <a:latin typeface="Poppins SemiBold" pitchFamily="34" charset="0"/>
                <a:ea typeface="Poppins SemiBold" pitchFamily="34" charset="-122"/>
                <a:cs typeface="Poppins SemiBold" pitchFamily="34" charset="-120"/>
              </a:rPr>
              <a:t>, you can recover the </a:t>
            </a:r>
            <a:r>
              <a:rPr lang="en-US" sz="1400" dirty="0">
                <a:solidFill>
                  <a:srgbClr val="FF6B6B"/>
                </a:solidFill>
                <a:latin typeface="Poppins SemiBold" pitchFamily="34" charset="0"/>
                <a:ea typeface="Poppins SemiBold" pitchFamily="34" charset="-122"/>
                <a:cs typeface="Poppins SemiBold" pitchFamily="34" charset="-120"/>
              </a:rPr>
              <a:t>Key (K)</a:t>
            </a:r>
            <a:r>
              <a:rPr lang="en-US" sz="1400" dirty="0">
                <a:solidFill>
                  <a:srgbClr val="E3B341"/>
                </a:solidFill>
                <a:latin typeface="Poppins SemiBold" pitchFamily="34" charset="0"/>
                <a:ea typeface="Poppins SemiBold" pitchFamily="34" charset="-122"/>
                <a:cs typeface="Poppins SemiBold" pitchFamily="34" charset="-120"/>
              </a:rPr>
              <a:t> because </a:t>
            </a:r>
            <a:r>
              <a:rPr lang="en-US" sz="1400" dirty="0">
                <a:solidFill>
                  <a:srgbClr val="E3B341"/>
                </a:solidFill>
                <a:latin typeface="JetBrains Mono Medium" pitchFamily="34" charset="0"/>
                <a:ea typeface="JetBrains Mono Medium" pitchFamily="34" charset="-122"/>
                <a:cs typeface="JetBrains Mono Medium" pitchFamily="34" charset="-120"/>
              </a:rPr>
              <a:t>P ⊕ C = K</a:t>
            </a:r>
            <a:r>
              <a:rPr lang="en-US" sz="1400" dirty="0">
                <a:solidFill>
                  <a:srgbClr val="E3B341"/>
                </a:solidFill>
                <a:latin typeface="Poppins SemiBold" pitchFamily="34" charset="0"/>
                <a:ea typeface="Poppins SemiBold" pitchFamily="34" charset="-122"/>
                <a:cs typeface="Poppins SemiBold" pitchFamily="34" charset="-120"/>
              </a:rPr>
              <a:t>.</a:t>
            </a:r>
            <a:endParaRPr lang="en-US" sz="133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54177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8462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48 | EWUCSC</a:t>
            </a:r>
            <a:endParaRPr lang="en-US" sz="1265" dirty="0"/>
          </a:p>
        </p:txBody>
      </p:sp>
      <p:sp>
        <p:nvSpPr>
          <p:cNvPr id="7" name="Text 4"/>
          <p:cNvSpPr/>
          <p:nvPr/>
        </p:nvSpPr>
        <p:spPr>
          <a:xfrm>
            <a:off x="381000" y="952500"/>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XOR Cipher in Practice</a:t>
            </a:r>
            <a:endParaRPr lang="en-US" sz="2800" dirty="0"/>
          </a:p>
        </p:txBody>
      </p:sp>
      <p:sp>
        <p:nvSpPr>
          <p:cNvPr id="8" name="Shape 5"/>
          <p:cNvSpPr/>
          <p:nvPr/>
        </p:nvSpPr>
        <p:spPr>
          <a:xfrm>
            <a:off x="381000" y="1838325"/>
            <a:ext cx="6026720" cy="4448547"/>
          </a:xfrm>
          <a:prstGeom prst="rect">
            <a:avLst/>
          </a:prstGeom>
          <a:solidFill>
            <a:srgbClr val="161B22"/>
          </a:solidFill>
          <a:ln w="9144">
            <a:solidFill>
              <a:srgbClr val="30363D"/>
            </a:solidFill>
            <a:prstDash val="solid"/>
          </a:ln>
        </p:spPr>
      </p:sp>
      <p:pic>
        <p:nvPicPr>
          <p:cNvPr id="9" name="Image 1" descr="preencoded.png"/>
          <p:cNvPicPr>
            <a:picLocks noChangeAspect="1"/>
          </p:cNvPicPr>
          <p:nvPr/>
        </p:nvPicPr>
        <p:blipFill>
          <a:blip r:embed="rId2"/>
          <a:stretch>
            <a:fillRect/>
          </a:stretch>
        </p:blipFill>
        <p:spPr>
          <a:xfrm>
            <a:off x="666751" y="2176463"/>
            <a:ext cx="228600" cy="228600"/>
          </a:xfrm>
          <a:prstGeom prst="rect">
            <a:avLst/>
          </a:prstGeom>
        </p:spPr>
      </p:pic>
      <p:sp>
        <p:nvSpPr>
          <p:cNvPr id="10" name="Text 6"/>
          <p:cNvSpPr/>
          <p:nvPr/>
        </p:nvSpPr>
        <p:spPr>
          <a:xfrm>
            <a:off x="895351" y="2135981"/>
            <a:ext cx="1828800" cy="255905"/>
          </a:xfrm>
          <a:prstGeom prst="rect">
            <a:avLst/>
          </a:prstGeom>
          <a:noFill/>
        </p:spPr>
        <p:txBody>
          <a:bodyPr wrap="square" lIns="0" tIns="0" rIns="0" bIns="0" rtlCol="0" anchor="t">
            <a:spAutoFit/>
          </a:bodyPr>
          <a:lstStyle/>
          <a:p>
            <a:pPr marL="0" indent="0" algn="l">
              <a:buNone/>
            </a:pPr>
            <a:r>
              <a:rPr lang="en-US" sz="1665" dirty="0">
                <a:solidFill>
                  <a:srgbClr val="58A6FF"/>
                </a:solidFill>
                <a:latin typeface="Poppins SemiBold" pitchFamily="34" charset="0"/>
                <a:ea typeface="Poppins SemiBold" pitchFamily="34" charset="-122"/>
                <a:cs typeface="Poppins SemiBold" pitchFamily="34" charset="-120"/>
              </a:rPr>
              <a:t>Byte-Level XOR</a:t>
            </a:r>
            <a:endParaRPr lang="en-US" sz="1665" dirty="0"/>
          </a:p>
        </p:txBody>
      </p:sp>
      <p:sp>
        <p:nvSpPr>
          <p:cNvPr id="11" name="Text 7"/>
          <p:cNvSpPr/>
          <p:nvPr/>
        </p:nvSpPr>
        <p:spPr>
          <a:xfrm>
            <a:off x="666751" y="2659856"/>
            <a:ext cx="2985770" cy="280670"/>
          </a:xfrm>
          <a:prstGeom prst="rect">
            <a:avLst/>
          </a:prstGeom>
          <a:noFill/>
        </p:spPr>
        <p:txBody>
          <a:bodyPr wrap="none" lIns="0" tIns="0" rIns="0" bIns="0" rtlCol="0" anchor="t">
            <a:spAutoFit/>
          </a:bodyPr>
          <a:lstStyle/>
          <a:p>
            <a:pPr marL="0" indent="0" algn="l">
              <a:lnSpc>
                <a:spcPct val="144000"/>
              </a:lnSpc>
              <a:buNone/>
            </a:pPr>
            <a:r>
              <a:rPr lang="en-US" sz="1265" dirty="0">
                <a:solidFill>
                  <a:srgbClr val="8B949E"/>
                </a:solidFill>
                <a:latin typeface="JetBrains Mono Medium" pitchFamily="34" charset="0"/>
                <a:ea typeface="JetBrains Mono Medium" pitchFamily="34" charset="-122"/>
                <a:cs typeface="JetBrains Mono Medium" pitchFamily="34" charset="-120"/>
              </a:rPr>
              <a:t>Plaintext: "Hi" (0x48 0x69) | Key: "K" (0x4B)</a:t>
            </a:r>
            <a:endParaRPr lang="en-US" sz="1265" dirty="0"/>
          </a:p>
        </p:txBody>
      </p:sp>
      <p:sp>
        <p:nvSpPr>
          <p:cNvPr id="12" name="Text 8"/>
          <p:cNvSpPr/>
          <p:nvPr/>
        </p:nvSpPr>
        <p:spPr>
          <a:xfrm>
            <a:off x="666751" y="3158952"/>
            <a:ext cx="454660" cy="280670"/>
          </a:xfrm>
          <a:prstGeom prst="rect">
            <a:avLst/>
          </a:prstGeom>
          <a:noFill/>
        </p:spPr>
        <p:txBody>
          <a:bodyPr wrap="none" lIns="0" tIns="0" rIns="0" bIns="0" rtlCol="0" anchor="t">
            <a:spAutoFit/>
          </a:bodyPr>
          <a:lstStyle/>
          <a:p>
            <a:pPr marL="0" indent="0" algn="l">
              <a:lnSpc>
                <a:spcPct val="144000"/>
              </a:lnSpc>
              <a:buNone/>
            </a:pPr>
            <a:r>
              <a:rPr lang="en-US" sz="1265" dirty="0">
                <a:solidFill>
                  <a:srgbClr val="8B949E"/>
                </a:solidFill>
                <a:latin typeface="JetBrains Mono Medium" pitchFamily="34" charset="0"/>
                <a:ea typeface="JetBrains Mono Medium" pitchFamily="34" charset="-122"/>
                <a:cs typeface="JetBrains Mono Medium" pitchFamily="34" charset="-120"/>
              </a:rPr>
              <a:t>P ('H'):</a:t>
            </a:r>
            <a:endParaRPr lang="en-US" sz="1265" dirty="0"/>
          </a:p>
        </p:txBody>
      </p:sp>
      <p:sp>
        <p:nvSpPr>
          <p:cNvPr id="13" name="Text 9"/>
          <p:cNvSpPr/>
          <p:nvPr/>
        </p:nvSpPr>
        <p:spPr>
          <a:xfrm>
            <a:off x="2000251" y="3158952"/>
            <a:ext cx="709295" cy="280670"/>
          </a:xfrm>
          <a:prstGeom prst="rect">
            <a:avLst/>
          </a:prstGeom>
          <a:noFill/>
        </p:spPr>
        <p:txBody>
          <a:bodyPr wrap="none" lIns="0" tIns="0" rIns="0" bIns="0" rtlCol="0" anchor="t">
            <a:spAutoFit/>
          </a:bodyPr>
          <a:lstStyle/>
          <a:p>
            <a:pPr marL="0" indent="0" algn="l">
              <a:lnSpc>
                <a:spcPct val="144000"/>
              </a:lnSpc>
              <a:buNone/>
            </a:pPr>
            <a:r>
              <a:rPr lang="en-US" sz="1265" kern="0" spc="2" dirty="0">
                <a:solidFill>
                  <a:srgbClr val="E6EDF3"/>
                </a:solidFill>
                <a:latin typeface="JetBrains Mono Medium" pitchFamily="34" charset="0"/>
                <a:ea typeface="JetBrains Mono Medium" pitchFamily="34" charset="-122"/>
                <a:cs typeface="JetBrains Mono Medium" pitchFamily="34" charset="-120"/>
              </a:rPr>
              <a:t>0100 1000</a:t>
            </a:r>
            <a:endParaRPr lang="en-US" sz="1265" dirty="0"/>
          </a:p>
        </p:txBody>
      </p:sp>
      <p:sp>
        <p:nvSpPr>
          <p:cNvPr id="14" name="Text 10"/>
          <p:cNvSpPr/>
          <p:nvPr/>
        </p:nvSpPr>
        <p:spPr>
          <a:xfrm>
            <a:off x="666751" y="3610421"/>
            <a:ext cx="442595" cy="280670"/>
          </a:xfrm>
          <a:prstGeom prst="rect">
            <a:avLst/>
          </a:prstGeom>
          <a:noFill/>
        </p:spPr>
        <p:txBody>
          <a:bodyPr wrap="none" lIns="0" tIns="0" rIns="0" bIns="0" rtlCol="0" anchor="t">
            <a:spAutoFit/>
          </a:bodyPr>
          <a:lstStyle/>
          <a:p>
            <a:pPr marL="0" indent="0" algn="l">
              <a:lnSpc>
                <a:spcPct val="144000"/>
              </a:lnSpc>
              <a:buNone/>
            </a:pPr>
            <a:r>
              <a:rPr lang="en-US" sz="1265" dirty="0">
                <a:solidFill>
                  <a:srgbClr val="8B949E"/>
                </a:solidFill>
                <a:latin typeface="JetBrains Mono Medium" pitchFamily="34" charset="0"/>
                <a:ea typeface="JetBrains Mono Medium" pitchFamily="34" charset="-122"/>
                <a:cs typeface="JetBrains Mono Medium" pitchFamily="34" charset="-120"/>
              </a:rPr>
              <a:t>K ('K'):</a:t>
            </a:r>
            <a:endParaRPr lang="en-US" sz="1265" dirty="0"/>
          </a:p>
        </p:txBody>
      </p:sp>
      <p:sp>
        <p:nvSpPr>
          <p:cNvPr id="15" name="Text 11"/>
          <p:cNvSpPr/>
          <p:nvPr/>
        </p:nvSpPr>
        <p:spPr>
          <a:xfrm>
            <a:off x="2000251" y="3610421"/>
            <a:ext cx="709295" cy="280670"/>
          </a:xfrm>
          <a:prstGeom prst="rect">
            <a:avLst/>
          </a:prstGeom>
          <a:noFill/>
        </p:spPr>
        <p:txBody>
          <a:bodyPr wrap="none" lIns="0" tIns="0" rIns="0" bIns="0" rtlCol="0" anchor="t">
            <a:spAutoFit/>
          </a:bodyPr>
          <a:lstStyle/>
          <a:p>
            <a:pPr marL="0" indent="0" algn="l">
              <a:lnSpc>
                <a:spcPct val="144000"/>
              </a:lnSpc>
              <a:buNone/>
            </a:pPr>
            <a:r>
              <a:rPr lang="en-US" sz="1265" kern="0" spc="2" dirty="0">
                <a:solidFill>
                  <a:srgbClr val="E6EDF3"/>
                </a:solidFill>
                <a:latin typeface="JetBrains Mono Medium" pitchFamily="34" charset="0"/>
                <a:ea typeface="JetBrains Mono Medium" pitchFamily="34" charset="-122"/>
                <a:cs typeface="JetBrains Mono Medium" pitchFamily="34" charset="-120"/>
              </a:rPr>
              <a:t>0100 1011</a:t>
            </a:r>
            <a:endParaRPr lang="en-US" sz="1265" dirty="0"/>
          </a:p>
        </p:txBody>
      </p:sp>
      <p:sp>
        <p:nvSpPr>
          <p:cNvPr id="16" name="Text 12"/>
          <p:cNvSpPr/>
          <p:nvPr/>
        </p:nvSpPr>
        <p:spPr>
          <a:xfrm>
            <a:off x="666751" y="4166667"/>
            <a:ext cx="621665" cy="280670"/>
          </a:xfrm>
          <a:prstGeom prst="rect">
            <a:avLst/>
          </a:prstGeom>
          <a:noFill/>
        </p:spPr>
        <p:txBody>
          <a:bodyPr wrap="none" lIns="0" tIns="0" rIns="0" bIns="0" rtlCol="0" anchor="t">
            <a:spAutoFit/>
          </a:bodyPr>
          <a:lstStyle/>
          <a:p>
            <a:pPr marL="0" indent="0" algn="l">
              <a:lnSpc>
                <a:spcPct val="144000"/>
              </a:lnSpc>
              <a:buNone/>
            </a:pPr>
            <a:r>
              <a:rPr lang="en-US" sz="1265" dirty="0">
                <a:solidFill>
                  <a:srgbClr val="8B949E"/>
                </a:solidFill>
                <a:latin typeface="JetBrains Mono Medium" pitchFamily="34" charset="0"/>
                <a:ea typeface="JetBrains Mono Medium" pitchFamily="34" charset="-122"/>
                <a:cs typeface="JetBrains Mono Medium" pitchFamily="34" charset="-120"/>
              </a:rPr>
              <a:t>C (0x03):</a:t>
            </a:r>
            <a:endParaRPr lang="en-US" sz="1265" dirty="0"/>
          </a:p>
        </p:txBody>
      </p:sp>
      <p:sp>
        <p:nvSpPr>
          <p:cNvPr id="17" name="Text 13"/>
          <p:cNvSpPr/>
          <p:nvPr/>
        </p:nvSpPr>
        <p:spPr>
          <a:xfrm>
            <a:off x="2000251" y="4166667"/>
            <a:ext cx="676910" cy="265430"/>
          </a:xfrm>
          <a:prstGeom prst="rect">
            <a:avLst/>
          </a:prstGeom>
          <a:noFill/>
        </p:spPr>
        <p:txBody>
          <a:bodyPr wrap="none" lIns="0" tIns="0" rIns="0" bIns="0" rtlCol="0" anchor="t">
            <a:spAutoFit/>
          </a:bodyPr>
          <a:lstStyle/>
          <a:p>
            <a:pPr marL="0" indent="0" algn="l">
              <a:lnSpc>
                <a:spcPct val="144000"/>
              </a:lnSpc>
              <a:buNone/>
            </a:pPr>
            <a:r>
              <a:rPr lang="en-US" sz="1200" b="1" kern="0" spc="2" dirty="0">
                <a:solidFill>
                  <a:srgbClr val="00FF9C"/>
                </a:solidFill>
                <a:latin typeface="JetBrains Mono Medium" pitchFamily="34" charset="0"/>
                <a:ea typeface="JetBrains Mono Medium" pitchFamily="34" charset="-122"/>
                <a:cs typeface="JetBrains Mono Medium" pitchFamily="34" charset="-120"/>
              </a:rPr>
              <a:t>0000 0011</a:t>
            </a:r>
            <a:endParaRPr lang="en-US" sz="1200" dirty="0"/>
          </a:p>
        </p:txBody>
      </p:sp>
      <p:sp>
        <p:nvSpPr>
          <p:cNvPr id="18" name="Text 14"/>
          <p:cNvSpPr/>
          <p:nvPr/>
        </p:nvSpPr>
        <p:spPr>
          <a:xfrm>
            <a:off x="666751" y="4808637"/>
            <a:ext cx="386080" cy="280670"/>
          </a:xfrm>
          <a:prstGeom prst="rect">
            <a:avLst/>
          </a:prstGeom>
          <a:noFill/>
        </p:spPr>
        <p:txBody>
          <a:bodyPr wrap="none" lIns="0" tIns="0" rIns="0" bIns="0" rtlCol="0" anchor="t">
            <a:spAutoFit/>
          </a:bodyPr>
          <a:lstStyle/>
          <a:p>
            <a:pPr marL="0" indent="0" algn="l">
              <a:lnSpc>
                <a:spcPct val="144000"/>
              </a:lnSpc>
              <a:buNone/>
            </a:pPr>
            <a:r>
              <a:rPr lang="en-US" sz="1265" dirty="0">
                <a:solidFill>
                  <a:srgbClr val="8B949E"/>
                </a:solidFill>
                <a:latin typeface="JetBrains Mono Medium" pitchFamily="34" charset="0"/>
                <a:ea typeface="JetBrains Mono Medium" pitchFamily="34" charset="-122"/>
                <a:cs typeface="JetBrains Mono Medium" pitchFamily="34" charset="-120"/>
              </a:rPr>
              <a:t>P ('i'):</a:t>
            </a:r>
            <a:endParaRPr lang="en-US" sz="1265" dirty="0"/>
          </a:p>
        </p:txBody>
      </p:sp>
      <p:sp>
        <p:nvSpPr>
          <p:cNvPr id="19" name="Text 15"/>
          <p:cNvSpPr/>
          <p:nvPr/>
        </p:nvSpPr>
        <p:spPr>
          <a:xfrm>
            <a:off x="2000251" y="4808637"/>
            <a:ext cx="709295" cy="280670"/>
          </a:xfrm>
          <a:prstGeom prst="rect">
            <a:avLst/>
          </a:prstGeom>
          <a:noFill/>
        </p:spPr>
        <p:txBody>
          <a:bodyPr wrap="none" lIns="0" tIns="0" rIns="0" bIns="0" rtlCol="0" anchor="t">
            <a:spAutoFit/>
          </a:bodyPr>
          <a:lstStyle/>
          <a:p>
            <a:pPr marL="0" indent="0" algn="l">
              <a:lnSpc>
                <a:spcPct val="144000"/>
              </a:lnSpc>
              <a:buNone/>
            </a:pPr>
            <a:r>
              <a:rPr lang="en-US" sz="1265" kern="0" spc="2" dirty="0">
                <a:solidFill>
                  <a:srgbClr val="E6EDF3"/>
                </a:solidFill>
                <a:latin typeface="JetBrains Mono Medium" pitchFamily="34" charset="0"/>
                <a:ea typeface="JetBrains Mono Medium" pitchFamily="34" charset="-122"/>
                <a:cs typeface="JetBrains Mono Medium" pitchFamily="34" charset="-120"/>
              </a:rPr>
              <a:t>0110 1001</a:t>
            </a:r>
            <a:endParaRPr lang="en-US" sz="1265" dirty="0"/>
          </a:p>
        </p:txBody>
      </p:sp>
      <p:sp>
        <p:nvSpPr>
          <p:cNvPr id="20" name="Text 16"/>
          <p:cNvSpPr/>
          <p:nvPr/>
        </p:nvSpPr>
        <p:spPr>
          <a:xfrm>
            <a:off x="666751" y="5260107"/>
            <a:ext cx="442595" cy="280670"/>
          </a:xfrm>
          <a:prstGeom prst="rect">
            <a:avLst/>
          </a:prstGeom>
          <a:noFill/>
        </p:spPr>
        <p:txBody>
          <a:bodyPr wrap="none" lIns="0" tIns="0" rIns="0" bIns="0" rtlCol="0" anchor="t">
            <a:spAutoFit/>
          </a:bodyPr>
          <a:lstStyle/>
          <a:p>
            <a:pPr marL="0" indent="0" algn="l">
              <a:lnSpc>
                <a:spcPct val="144000"/>
              </a:lnSpc>
              <a:buNone/>
            </a:pPr>
            <a:r>
              <a:rPr lang="en-US" sz="1265" dirty="0">
                <a:solidFill>
                  <a:srgbClr val="8B949E"/>
                </a:solidFill>
                <a:latin typeface="JetBrains Mono Medium" pitchFamily="34" charset="0"/>
                <a:ea typeface="JetBrains Mono Medium" pitchFamily="34" charset="-122"/>
                <a:cs typeface="JetBrains Mono Medium" pitchFamily="34" charset="-120"/>
              </a:rPr>
              <a:t>K ('K'):</a:t>
            </a:r>
            <a:endParaRPr lang="en-US" sz="1265" dirty="0"/>
          </a:p>
        </p:txBody>
      </p:sp>
      <p:sp>
        <p:nvSpPr>
          <p:cNvPr id="21" name="Text 17"/>
          <p:cNvSpPr/>
          <p:nvPr/>
        </p:nvSpPr>
        <p:spPr>
          <a:xfrm>
            <a:off x="2000251" y="5260107"/>
            <a:ext cx="709295" cy="280670"/>
          </a:xfrm>
          <a:prstGeom prst="rect">
            <a:avLst/>
          </a:prstGeom>
          <a:noFill/>
        </p:spPr>
        <p:txBody>
          <a:bodyPr wrap="none" lIns="0" tIns="0" rIns="0" bIns="0" rtlCol="0" anchor="t">
            <a:spAutoFit/>
          </a:bodyPr>
          <a:lstStyle/>
          <a:p>
            <a:pPr marL="0" indent="0" algn="l">
              <a:lnSpc>
                <a:spcPct val="144000"/>
              </a:lnSpc>
              <a:buNone/>
            </a:pPr>
            <a:r>
              <a:rPr lang="en-US" sz="1265" kern="0" spc="2" dirty="0">
                <a:solidFill>
                  <a:srgbClr val="E6EDF3"/>
                </a:solidFill>
                <a:latin typeface="JetBrains Mono Medium" pitchFamily="34" charset="0"/>
                <a:ea typeface="JetBrains Mono Medium" pitchFamily="34" charset="-122"/>
                <a:cs typeface="JetBrains Mono Medium" pitchFamily="34" charset="-120"/>
              </a:rPr>
              <a:t>0100 1011</a:t>
            </a:r>
            <a:endParaRPr lang="en-US" sz="1265" dirty="0"/>
          </a:p>
        </p:txBody>
      </p:sp>
      <p:sp>
        <p:nvSpPr>
          <p:cNvPr id="22" name="Text 18"/>
          <p:cNvSpPr/>
          <p:nvPr/>
        </p:nvSpPr>
        <p:spPr>
          <a:xfrm>
            <a:off x="666751" y="5816352"/>
            <a:ext cx="621665" cy="280670"/>
          </a:xfrm>
          <a:prstGeom prst="rect">
            <a:avLst/>
          </a:prstGeom>
          <a:noFill/>
        </p:spPr>
        <p:txBody>
          <a:bodyPr wrap="none" lIns="0" tIns="0" rIns="0" bIns="0" rtlCol="0" anchor="t">
            <a:spAutoFit/>
          </a:bodyPr>
          <a:lstStyle/>
          <a:p>
            <a:pPr marL="0" indent="0" algn="l">
              <a:lnSpc>
                <a:spcPct val="144000"/>
              </a:lnSpc>
              <a:buNone/>
            </a:pPr>
            <a:r>
              <a:rPr lang="en-US" sz="1265" dirty="0">
                <a:solidFill>
                  <a:srgbClr val="8B949E"/>
                </a:solidFill>
                <a:latin typeface="JetBrains Mono Medium" pitchFamily="34" charset="0"/>
                <a:ea typeface="JetBrains Mono Medium" pitchFamily="34" charset="-122"/>
                <a:cs typeface="JetBrains Mono Medium" pitchFamily="34" charset="-120"/>
              </a:rPr>
              <a:t>C (0x22):</a:t>
            </a:r>
            <a:endParaRPr lang="en-US" sz="1265" dirty="0"/>
          </a:p>
        </p:txBody>
      </p:sp>
      <p:sp>
        <p:nvSpPr>
          <p:cNvPr id="23" name="Text 19"/>
          <p:cNvSpPr/>
          <p:nvPr/>
        </p:nvSpPr>
        <p:spPr>
          <a:xfrm>
            <a:off x="2000251" y="5816352"/>
            <a:ext cx="676910" cy="265430"/>
          </a:xfrm>
          <a:prstGeom prst="rect">
            <a:avLst/>
          </a:prstGeom>
          <a:noFill/>
        </p:spPr>
        <p:txBody>
          <a:bodyPr wrap="none" lIns="0" tIns="0" rIns="0" bIns="0" rtlCol="0" anchor="t">
            <a:spAutoFit/>
          </a:bodyPr>
          <a:lstStyle/>
          <a:p>
            <a:pPr marL="0" indent="0" algn="l">
              <a:lnSpc>
                <a:spcPct val="144000"/>
              </a:lnSpc>
              <a:buNone/>
            </a:pPr>
            <a:r>
              <a:rPr lang="en-US" sz="1200" b="1" kern="0" spc="2" dirty="0">
                <a:solidFill>
                  <a:srgbClr val="00FF9C"/>
                </a:solidFill>
                <a:latin typeface="JetBrains Mono Medium" pitchFamily="34" charset="0"/>
                <a:ea typeface="JetBrains Mono Medium" pitchFamily="34" charset="-122"/>
                <a:cs typeface="JetBrains Mono Medium" pitchFamily="34" charset="-120"/>
              </a:rPr>
              <a:t>0010 0010</a:t>
            </a:r>
            <a:endParaRPr lang="en-US" sz="1200" dirty="0"/>
          </a:p>
        </p:txBody>
      </p:sp>
      <p:sp>
        <p:nvSpPr>
          <p:cNvPr id="24" name="Shape 20"/>
          <p:cNvSpPr/>
          <p:nvPr/>
        </p:nvSpPr>
        <p:spPr>
          <a:xfrm>
            <a:off x="6788720" y="1838325"/>
            <a:ext cx="5022280" cy="2181225"/>
          </a:xfrm>
          <a:prstGeom prst="rect">
            <a:avLst/>
          </a:prstGeom>
          <a:solidFill>
            <a:srgbClr val="0D1117"/>
          </a:solidFill>
          <a:ln w="9144">
            <a:solidFill>
              <a:srgbClr val="30363D"/>
            </a:solidFill>
            <a:prstDash val="solid"/>
          </a:ln>
        </p:spPr>
      </p:sp>
      <p:sp>
        <p:nvSpPr>
          <p:cNvPr id="25" name="Text 21"/>
          <p:cNvSpPr/>
          <p:nvPr/>
        </p:nvSpPr>
        <p:spPr>
          <a:xfrm>
            <a:off x="6979220" y="2028825"/>
            <a:ext cx="177292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8B949E"/>
                </a:solidFill>
                <a:latin typeface="JetBrains Mono Medium" pitchFamily="34" charset="0"/>
                <a:ea typeface="JetBrains Mono Medium" pitchFamily="34" charset="-122"/>
                <a:cs typeface="JetBrains Mono Medium" pitchFamily="34" charset="-120"/>
              </a:rPr>
              <a:t># XOR Encryption in Python</a:t>
            </a:r>
            <a:endParaRPr lang="en-US" sz="1135" dirty="0"/>
          </a:p>
        </p:txBody>
      </p:sp>
      <p:sp>
        <p:nvSpPr>
          <p:cNvPr id="26" name="Text 22"/>
          <p:cNvSpPr/>
          <p:nvPr/>
        </p:nvSpPr>
        <p:spPr>
          <a:xfrm>
            <a:off x="6979220" y="2257425"/>
            <a:ext cx="103124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FF6B6B"/>
                </a:solidFill>
                <a:latin typeface="JetBrains Mono Medium" pitchFamily="34" charset="0"/>
                <a:ea typeface="JetBrains Mono Medium" pitchFamily="34" charset="-122"/>
                <a:cs typeface="JetBrains Mono Medium" pitchFamily="34" charset="-120"/>
              </a:rPr>
              <a:t>plaintext</a:t>
            </a:r>
            <a:r>
              <a:rPr lang="en-US" sz="1135" dirty="0">
                <a:solidFill>
                  <a:srgbClr val="E6EDF3"/>
                </a:solidFill>
                <a:latin typeface="JetBrains Mono Medium" pitchFamily="34" charset="0"/>
                <a:ea typeface="JetBrains Mono Medium" pitchFamily="34" charset="-122"/>
                <a:cs typeface="JetBrains Mono Medium" pitchFamily="34" charset="-120"/>
              </a:rPr>
              <a:t> = </a:t>
            </a:r>
            <a:r>
              <a:rPr lang="en-US" sz="1135" dirty="0">
                <a:solidFill>
                  <a:srgbClr val="E3B341"/>
                </a:solidFill>
                <a:latin typeface="JetBrains Mono Medium" pitchFamily="34" charset="0"/>
                <a:ea typeface="JetBrains Mono Medium" pitchFamily="34" charset="-122"/>
                <a:cs typeface="JetBrains Mono Medium" pitchFamily="34" charset="-120"/>
              </a:rPr>
              <a:t>b"Hi"</a:t>
            </a:r>
            <a:endParaRPr lang="en-US" sz="1135" dirty="0"/>
          </a:p>
        </p:txBody>
      </p:sp>
      <p:sp>
        <p:nvSpPr>
          <p:cNvPr id="27" name="Text 23"/>
          <p:cNvSpPr/>
          <p:nvPr/>
        </p:nvSpPr>
        <p:spPr>
          <a:xfrm>
            <a:off x="6979220" y="2486025"/>
            <a:ext cx="68834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FF6B6B"/>
                </a:solidFill>
                <a:latin typeface="JetBrains Mono Medium" pitchFamily="34" charset="0"/>
                <a:ea typeface="JetBrains Mono Medium" pitchFamily="34" charset="-122"/>
                <a:cs typeface="JetBrains Mono Medium" pitchFamily="34" charset="-120"/>
              </a:rPr>
              <a:t>key</a:t>
            </a:r>
            <a:r>
              <a:rPr lang="en-US" sz="1135" dirty="0">
                <a:solidFill>
                  <a:srgbClr val="E6EDF3"/>
                </a:solidFill>
                <a:latin typeface="JetBrains Mono Medium" pitchFamily="34" charset="0"/>
                <a:ea typeface="JetBrains Mono Medium" pitchFamily="34" charset="-122"/>
                <a:cs typeface="JetBrains Mono Medium" pitchFamily="34" charset="-120"/>
              </a:rPr>
              <a:t> = </a:t>
            </a:r>
            <a:r>
              <a:rPr lang="en-US" sz="1135" dirty="0">
                <a:solidFill>
                  <a:srgbClr val="FF6B6B"/>
                </a:solidFill>
                <a:latin typeface="JetBrains Mono Medium" pitchFamily="34" charset="0"/>
                <a:ea typeface="JetBrains Mono Medium" pitchFamily="34" charset="-122"/>
                <a:cs typeface="JetBrains Mono Medium" pitchFamily="34" charset="-120"/>
              </a:rPr>
              <a:t>0x4B</a:t>
            </a:r>
            <a:endParaRPr lang="en-US" sz="1135" dirty="0"/>
          </a:p>
        </p:txBody>
      </p:sp>
      <p:sp>
        <p:nvSpPr>
          <p:cNvPr id="28" name="Text 24"/>
          <p:cNvSpPr/>
          <p:nvPr/>
        </p:nvSpPr>
        <p:spPr>
          <a:xfrm>
            <a:off x="6979220" y="2714625"/>
            <a:ext cx="2620645"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FF6B6B"/>
                </a:solidFill>
                <a:latin typeface="JetBrains Mono Medium" pitchFamily="34" charset="0"/>
                <a:ea typeface="JetBrains Mono Medium" pitchFamily="34" charset="-122"/>
                <a:cs typeface="JetBrains Mono Medium" pitchFamily="34" charset="-120"/>
              </a:rPr>
              <a:t>cipher</a:t>
            </a:r>
            <a:r>
              <a:rPr lang="en-US" sz="1135" dirty="0">
                <a:solidFill>
                  <a:srgbClr val="E6EDF3"/>
                </a:solidFill>
                <a:latin typeface="JetBrains Mono Medium" pitchFamily="34" charset="0"/>
                <a:ea typeface="JetBrains Mono Medium" pitchFamily="34" charset="-122"/>
                <a:cs typeface="JetBrains Mono Medium" pitchFamily="34" charset="-120"/>
              </a:rPr>
              <a:t> = </a:t>
            </a:r>
            <a:r>
              <a:rPr lang="en-US" sz="1135" dirty="0">
                <a:solidFill>
                  <a:srgbClr val="FF6B6B"/>
                </a:solidFill>
                <a:latin typeface="JetBrains Mono Medium" pitchFamily="34" charset="0"/>
                <a:ea typeface="JetBrains Mono Medium" pitchFamily="34" charset="-122"/>
                <a:cs typeface="JetBrains Mono Medium" pitchFamily="34" charset="-120"/>
              </a:rPr>
              <a:t>bytes</a:t>
            </a:r>
            <a:r>
              <a:rPr lang="en-US" sz="1135" dirty="0">
                <a:solidFill>
                  <a:srgbClr val="E6EDF3"/>
                </a:solidFill>
                <a:latin typeface="JetBrains Mono Medium" pitchFamily="34" charset="0"/>
                <a:ea typeface="JetBrains Mono Medium" pitchFamily="34" charset="-122"/>
                <a:cs typeface="JetBrains Mono Medium" pitchFamily="34" charset="-120"/>
              </a:rPr>
              <a:t>([b ^ key </a:t>
            </a:r>
            <a:r>
              <a:rPr lang="en-US" sz="1135" dirty="0">
                <a:solidFill>
                  <a:srgbClr val="FF6B6B"/>
                </a:solidFill>
                <a:latin typeface="JetBrains Mono Medium" pitchFamily="34" charset="0"/>
                <a:ea typeface="JetBrains Mono Medium" pitchFamily="34" charset="-122"/>
                <a:cs typeface="JetBrains Mono Medium" pitchFamily="34" charset="-120"/>
              </a:rPr>
              <a:t>for</a:t>
            </a:r>
            <a:r>
              <a:rPr lang="en-US" sz="1135" dirty="0">
                <a:solidFill>
                  <a:srgbClr val="E6EDF3"/>
                </a:solidFill>
                <a:latin typeface="JetBrains Mono Medium" pitchFamily="34" charset="0"/>
                <a:ea typeface="JetBrains Mono Medium" pitchFamily="34" charset="-122"/>
                <a:cs typeface="JetBrains Mono Medium" pitchFamily="34" charset="-120"/>
              </a:rPr>
              <a:t> b </a:t>
            </a:r>
            <a:r>
              <a:rPr lang="en-US" sz="1135" dirty="0">
                <a:solidFill>
                  <a:srgbClr val="FF6B6B"/>
                </a:solidFill>
                <a:latin typeface="JetBrains Mono Medium" pitchFamily="34" charset="0"/>
                <a:ea typeface="JetBrains Mono Medium" pitchFamily="34" charset="-122"/>
                <a:cs typeface="JetBrains Mono Medium" pitchFamily="34" charset="-120"/>
              </a:rPr>
              <a:t>in</a:t>
            </a:r>
            <a:r>
              <a:rPr lang="en-US" sz="1135" dirty="0">
                <a:solidFill>
                  <a:srgbClr val="E6EDF3"/>
                </a:solidFill>
                <a:latin typeface="JetBrains Mono Medium" pitchFamily="34" charset="0"/>
                <a:ea typeface="JetBrains Mono Medium" pitchFamily="34" charset="-122"/>
                <a:cs typeface="JetBrains Mono Medium" pitchFamily="34" charset="-120"/>
              </a:rPr>
              <a:t> plaintext])</a:t>
            </a:r>
            <a:endParaRPr lang="en-US" sz="1135" dirty="0"/>
          </a:p>
        </p:txBody>
      </p:sp>
      <p:sp>
        <p:nvSpPr>
          <p:cNvPr id="29" name="Text 25"/>
          <p:cNvSpPr/>
          <p:nvPr/>
        </p:nvSpPr>
        <p:spPr>
          <a:xfrm>
            <a:off x="6979220" y="2943225"/>
            <a:ext cx="1669415"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FF6B6B"/>
                </a:solidFill>
                <a:latin typeface="JetBrains Mono Medium" pitchFamily="34" charset="0"/>
                <a:ea typeface="JetBrains Mono Medium" pitchFamily="34" charset="-122"/>
                <a:cs typeface="JetBrains Mono Medium" pitchFamily="34" charset="-120"/>
              </a:rPr>
              <a:t>print</a:t>
            </a:r>
            <a:r>
              <a:rPr lang="en-US" sz="1135" dirty="0">
                <a:solidFill>
                  <a:srgbClr val="E6EDF3"/>
                </a:solidFill>
                <a:latin typeface="JetBrains Mono Medium" pitchFamily="34" charset="0"/>
                <a:ea typeface="JetBrains Mono Medium" pitchFamily="34" charset="-122"/>
                <a:cs typeface="JetBrains Mono Medium" pitchFamily="34" charset="-120"/>
              </a:rPr>
              <a:t>(cipher.hex()) </a:t>
            </a:r>
            <a:r>
              <a:rPr lang="en-US" sz="1135" dirty="0">
                <a:solidFill>
                  <a:srgbClr val="8B949E"/>
                </a:solidFill>
                <a:latin typeface="JetBrains Mono Medium" pitchFamily="34" charset="0"/>
                <a:ea typeface="JetBrains Mono Medium" pitchFamily="34" charset="-122"/>
                <a:cs typeface="JetBrains Mono Medium" pitchFamily="34" charset="-120"/>
              </a:rPr>
              <a:t># 0322</a:t>
            </a:r>
            <a:endParaRPr lang="en-US" sz="1135" dirty="0"/>
          </a:p>
        </p:txBody>
      </p:sp>
      <p:sp>
        <p:nvSpPr>
          <p:cNvPr id="30" name="Text 26"/>
          <p:cNvSpPr/>
          <p:nvPr/>
        </p:nvSpPr>
        <p:spPr>
          <a:xfrm>
            <a:off x="6979220" y="3314700"/>
            <a:ext cx="191389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8B949E"/>
                </a:solidFill>
                <a:latin typeface="JetBrains Mono Medium" pitchFamily="34" charset="0"/>
                <a:ea typeface="JetBrains Mono Medium" pitchFamily="34" charset="-122"/>
                <a:cs typeface="JetBrains Mono Medium" pitchFamily="34" charset="-120"/>
              </a:rPr>
              <a:t># XOR Decryption (Same Key)</a:t>
            </a:r>
            <a:endParaRPr lang="en-US" sz="1135" dirty="0"/>
          </a:p>
        </p:txBody>
      </p:sp>
      <p:sp>
        <p:nvSpPr>
          <p:cNvPr id="31" name="Text 27"/>
          <p:cNvSpPr/>
          <p:nvPr/>
        </p:nvSpPr>
        <p:spPr>
          <a:xfrm>
            <a:off x="6979220" y="3543300"/>
            <a:ext cx="2695575"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FF6B6B"/>
                </a:solidFill>
                <a:latin typeface="JetBrains Mono Medium" pitchFamily="34" charset="0"/>
                <a:ea typeface="JetBrains Mono Medium" pitchFamily="34" charset="-122"/>
                <a:cs typeface="JetBrains Mono Medium" pitchFamily="34" charset="-120"/>
              </a:rPr>
              <a:t>decrypted</a:t>
            </a:r>
            <a:r>
              <a:rPr lang="en-US" sz="1135" dirty="0">
                <a:solidFill>
                  <a:srgbClr val="E6EDF3"/>
                </a:solidFill>
                <a:latin typeface="JetBrains Mono Medium" pitchFamily="34" charset="0"/>
                <a:ea typeface="JetBrains Mono Medium" pitchFamily="34" charset="-122"/>
                <a:cs typeface="JetBrains Mono Medium" pitchFamily="34" charset="-120"/>
              </a:rPr>
              <a:t> = </a:t>
            </a:r>
            <a:r>
              <a:rPr lang="en-US" sz="1135" dirty="0">
                <a:solidFill>
                  <a:srgbClr val="FF6B6B"/>
                </a:solidFill>
                <a:latin typeface="JetBrains Mono Medium" pitchFamily="34" charset="0"/>
                <a:ea typeface="JetBrains Mono Medium" pitchFamily="34" charset="-122"/>
                <a:cs typeface="JetBrains Mono Medium" pitchFamily="34" charset="-120"/>
              </a:rPr>
              <a:t>bytes</a:t>
            </a:r>
            <a:r>
              <a:rPr lang="en-US" sz="1135" dirty="0">
                <a:solidFill>
                  <a:srgbClr val="E6EDF3"/>
                </a:solidFill>
                <a:latin typeface="JetBrains Mono Medium" pitchFamily="34" charset="0"/>
                <a:ea typeface="JetBrains Mono Medium" pitchFamily="34" charset="-122"/>
                <a:cs typeface="JetBrains Mono Medium" pitchFamily="34" charset="-120"/>
              </a:rPr>
              <a:t>([b ^ key </a:t>
            </a:r>
            <a:r>
              <a:rPr lang="en-US" sz="1135" dirty="0">
                <a:solidFill>
                  <a:srgbClr val="FF6B6B"/>
                </a:solidFill>
                <a:latin typeface="JetBrains Mono Medium" pitchFamily="34" charset="0"/>
                <a:ea typeface="JetBrains Mono Medium" pitchFamily="34" charset="-122"/>
                <a:cs typeface="JetBrains Mono Medium" pitchFamily="34" charset="-120"/>
              </a:rPr>
              <a:t>for</a:t>
            </a:r>
            <a:r>
              <a:rPr lang="en-US" sz="1135" dirty="0">
                <a:solidFill>
                  <a:srgbClr val="E6EDF3"/>
                </a:solidFill>
                <a:latin typeface="JetBrains Mono Medium" pitchFamily="34" charset="0"/>
                <a:ea typeface="JetBrains Mono Medium" pitchFamily="34" charset="-122"/>
                <a:cs typeface="JetBrains Mono Medium" pitchFamily="34" charset="-120"/>
              </a:rPr>
              <a:t> b </a:t>
            </a:r>
            <a:r>
              <a:rPr lang="en-US" sz="1135" dirty="0">
                <a:solidFill>
                  <a:srgbClr val="FF6B6B"/>
                </a:solidFill>
                <a:latin typeface="JetBrains Mono Medium" pitchFamily="34" charset="0"/>
                <a:ea typeface="JetBrains Mono Medium" pitchFamily="34" charset="-122"/>
                <a:cs typeface="JetBrains Mono Medium" pitchFamily="34" charset="-120"/>
              </a:rPr>
              <a:t>in</a:t>
            </a:r>
            <a:r>
              <a:rPr lang="en-US" sz="1135" dirty="0">
                <a:solidFill>
                  <a:srgbClr val="E6EDF3"/>
                </a:solidFill>
                <a:latin typeface="JetBrains Mono Medium" pitchFamily="34" charset="0"/>
                <a:ea typeface="JetBrains Mono Medium" pitchFamily="34" charset="-122"/>
                <a:cs typeface="JetBrains Mono Medium" pitchFamily="34" charset="-120"/>
              </a:rPr>
              <a:t> cipher])</a:t>
            </a:r>
            <a:endParaRPr lang="en-US" sz="1135" dirty="0"/>
          </a:p>
        </p:txBody>
      </p:sp>
      <p:sp>
        <p:nvSpPr>
          <p:cNvPr id="32" name="Text 28"/>
          <p:cNvSpPr/>
          <p:nvPr/>
        </p:nvSpPr>
        <p:spPr>
          <a:xfrm>
            <a:off x="6979220" y="3771900"/>
            <a:ext cx="150749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FF6B6B"/>
                </a:solidFill>
                <a:latin typeface="JetBrains Mono Medium" pitchFamily="34" charset="0"/>
                <a:ea typeface="JetBrains Mono Medium" pitchFamily="34" charset="-122"/>
                <a:cs typeface="JetBrains Mono Medium" pitchFamily="34" charset="-120"/>
              </a:rPr>
              <a:t>print</a:t>
            </a:r>
            <a:r>
              <a:rPr lang="en-US" sz="1135" dirty="0">
                <a:solidFill>
                  <a:srgbClr val="E6EDF3"/>
                </a:solidFill>
                <a:latin typeface="JetBrains Mono Medium" pitchFamily="34" charset="0"/>
                <a:ea typeface="JetBrains Mono Medium" pitchFamily="34" charset="-122"/>
                <a:cs typeface="JetBrains Mono Medium" pitchFamily="34" charset="-120"/>
              </a:rPr>
              <a:t>(decrypted) </a:t>
            </a:r>
            <a:r>
              <a:rPr lang="en-US" sz="1135" dirty="0">
                <a:solidFill>
                  <a:srgbClr val="8B949E"/>
                </a:solidFill>
                <a:latin typeface="JetBrains Mono Medium" pitchFamily="34" charset="0"/>
                <a:ea typeface="JetBrains Mono Medium" pitchFamily="34" charset="-122"/>
                <a:cs typeface="JetBrains Mono Medium" pitchFamily="34" charset="-120"/>
              </a:rPr>
              <a:t># b'Hi'</a:t>
            </a:r>
            <a:endParaRPr lang="en-US" sz="1135" dirty="0"/>
          </a:p>
        </p:txBody>
      </p:sp>
      <p:sp>
        <p:nvSpPr>
          <p:cNvPr id="33" name="Shape 29"/>
          <p:cNvSpPr/>
          <p:nvPr/>
        </p:nvSpPr>
        <p:spPr>
          <a:xfrm>
            <a:off x="6788720" y="4191000"/>
            <a:ext cx="5022280" cy="914400"/>
          </a:xfrm>
          <a:prstGeom prst="rect">
            <a:avLst/>
          </a:prstGeom>
          <a:solidFill>
            <a:srgbClr val="00FF9C">
              <a:alpha val="5000"/>
            </a:srgbClr>
          </a:solidFill>
          <a:ln w="9144">
            <a:solidFill>
              <a:srgbClr val="00FF9C"/>
            </a:solidFill>
            <a:prstDash val="solid"/>
          </a:ln>
        </p:spPr>
      </p:sp>
      <p:pic>
        <p:nvPicPr>
          <p:cNvPr id="34" name="Image 2" descr="preencoded.png"/>
          <p:cNvPicPr>
            <a:picLocks noChangeAspect="1"/>
          </p:cNvPicPr>
          <p:nvPr/>
        </p:nvPicPr>
        <p:blipFill>
          <a:blip r:embed="rId3"/>
          <a:stretch>
            <a:fillRect/>
          </a:stretch>
        </p:blipFill>
        <p:spPr>
          <a:xfrm>
            <a:off x="6979220" y="4414837"/>
            <a:ext cx="152400" cy="152400"/>
          </a:xfrm>
          <a:prstGeom prst="rect">
            <a:avLst/>
          </a:prstGeom>
        </p:spPr>
      </p:pic>
      <p:sp>
        <p:nvSpPr>
          <p:cNvPr id="35" name="Text 30"/>
          <p:cNvSpPr/>
          <p:nvPr/>
        </p:nvSpPr>
        <p:spPr>
          <a:xfrm>
            <a:off x="7131620" y="4388644"/>
            <a:ext cx="1800225" cy="174625"/>
          </a:xfrm>
          <a:prstGeom prst="rect">
            <a:avLst/>
          </a:prstGeom>
          <a:noFill/>
        </p:spPr>
        <p:txBody>
          <a:bodyPr wrap="square" lIns="0" tIns="0" rIns="0" bIns="0" rtlCol="0" anchor="t">
            <a:spAutoFit/>
          </a:bodyPr>
          <a:lstStyle/>
          <a:p>
            <a:pPr marL="0" indent="0" algn="l">
              <a:buNone/>
            </a:pPr>
            <a:r>
              <a:rPr lang="en-US" sz="1135" dirty="0">
                <a:solidFill>
                  <a:srgbClr val="00FF9C"/>
                </a:solidFill>
                <a:latin typeface="Poppins SemiBold" pitchFamily="34" charset="0"/>
                <a:ea typeface="Poppins SemiBold" pitchFamily="34" charset="-122"/>
                <a:cs typeface="Poppins SemiBold" pitchFamily="34" charset="-120"/>
              </a:rPr>
              <a:t>Decryption Verification</a:t>
            </a:r>
            <a:endParaRPr lang="en-US" sz="1135" dirty="0"/>
          </a:p>
        </p:txBody>
      </p:sp>
      <p:sp>
        <p:nvSpPr>
          <p:cNvPr id="36" name="Text 31"/>
          <p:cNvSpPr/>
          <p:nvPr/>
        </p:nvSpPr>
        <p:spPr>
          <a:xfrm>
            <a:off x="6979220" y="4702969"/>
            <a:ext cx="4641280" cy="349885"/>
          </a:xfrm>
          <a:prstGeom prst="rect">
            <a:avLst/>
          </a:prstGeom>
          <a:noFill/>
        </p:spPr>
        <p:txBody>
          <a:bodyPr wrap="square" lIns="0" tIns="0" rIns="0" bIns="0" rtlCol="0" anchor="t">
            <a:spAutoFit/>
          </a:bodyPr>
          <a:lstStyle/>
          <a:p>
            <a:pPr marL="0" indent="0" algn="l">
              <a:buNone/>
            </a:pPr>
            <a:r>
              <a:rPr lang="en-US" sz="1135" dirty="0">
                <a:solidFill>
                  <a:srgbClr val="00FF9C"/>
                </a:solidFill>
                <a:latin typeface="Inter" pitchFamily="34" charset="0"/>
                <a:ea typeface="Inter" pitchFamily="34" charset="-122"/>
                <a:cs typeface="Inter" pitchFamily="34" charset="-120"/>
              </a:rPr>
              <a:t>Because XOR is its own inverse, applying the same key to the ciphertext </a:t>
            </a:r>
            <a:r>
              <a:rPr lang="en-US" sz="1135" dirty="0">
                <a:solidFill>
                  <a:srgbClr val="00FF9C"/>
                </a:solidFill>
                <a:latin typeface="JetBrains Mono Medium" pitchFamily="34" charset="0"/>
                <a:ea typeface="JetBrains Mono Medium" pitchFamily="34" charset="-122"/>
                <a:cs typeface="JetBrains Mono Medium" pitchFamily="34" charset="-120"/>
              </a:rPr>
              <a:t>0x03 0x22</a:t>
            </a:r>
            <a:r>
              <a:rPr lang="en-US" sz="1135" dirty="0">
                <a:solidFill>
                  <a:srgbClr val="00FF9C"/>
                </a:solidFill>
                <a:latin typeface="Inter" pitchFamily="34" charset="0"/>
                <a:ea typeface="Inter" pitchFamily="34" charset="-122"/>
                <a:cs typeface="Inter" pitchFamily="34" charset="-120"/>
              </a:rPr>
              <a:t> perfectly restores the original </a:t>
            </a:r>
            <a:r>
              <a:rPr lang="en-US" sz="1135" dirty="0">
                <a:solidFill>
                  <a:srgbClr val="00FF9C"/>
                </a:solidFill>
                <a:latin typeface="JetBrains Mono Medium" pitchFamily="34" charset="0"/>
                <a:ea typeface="JetBrains Mono Medium" pitchFamily="34" charset="-122"/>
                <a:cs typeface="JetBrains Mono Medium" pitchFamily="34" charset="-120"/>
              </a:rPr>
              <a:t>"Hi"</a:t>
            </a:r>
            <a:r>
              <a:rPr lang="en-US" sz="1135" dirty="0">
                <a:solidFill>
                  <a:srgbClr val="00FF9C"/>
                </a:solidFill>
                <a:latin typeface="Inter" pitchFamily="34" charset="0"/>
                <a:ea typeface="Inter" pitchFamily="34" charset="-122"/>
                <a:cs typeface="Inter" pitchFamily="34" charset="-120"/>
              </a:rPr>
              <a:t>.</a:t>
            </a:r>
            <a:endParaRPr lang="en-US" sz="113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7074693"/>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49 | EWUCSC</a:t>
            </a:r>
            <a:endParaRPr lang="en-US" sz="1265" dirty="0"/>
          </a:p>
        </p:txBody>
      </p:sp>
      <p:sp>
        <p:nvSpPr>
          <p:cNvPr id="7" name="Text 4"/>
          <p:cNvSpPr/>
          <p:nvPr/>
        </p:nvSpPr>
        <p:spPr>
          <a:xfrm>
            <a:off x="381000" y="952500"/>
            <a:ext cx="4753831" cy="861695"/>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CTF Technique: Cracking Single-Byte XOR</a:t>
            </a:r>
            <a:endParaRPr lang="en-US" sz="2800" dirty="0"/>
          </a:p>
        </p:txBody>
      </p:sp>
      <p:sp>
        <p:nvSpPr>
          <p:cNvPr id="8" name="Text 5"/>
          <p:cNvSpPr/>
          <p:nvPr/>
        </p:nvSpPr>
        <p:spPr>
          <a:xfrm>
            <a:off x="381000" y="3086100"/>
            <a:ext cx="4753831" cy="551180"/>
          </a:xfrm>
          <a:prstGeom prst="rect">
            <a:avLst/>
          </a:prstGeom>
          <a:noFill/>
        </p:spPr>
        <p:txBody>
          <a:bodyPr wrap="square" lIns="0" tIns="0" rIns="0" bIns="0" rtlCol="0" anchor="t">
            <a:spAutoFit/>
          </a:bodyPr>
          <a:lstStyle/>
          <a:p>
            <a:pPr marL="0" indent="0" algn="l">
              <a:lnSpc>
                <a:spcPct val="128000"/>
              </a:lnSpc>
              <a:buNone/>
            </a:pPr>
            <a:r>
              <a:rPr lang="en-US" sz="1400" dirty="0">
                <a:solidFill>
                  <a:srgbClr val="E6EDF3"/>
                </a:solidFill>
                <a:latin typeface="Inter" pitchFamily="34" charset="0"/>
                <a:ea typeface="Inter" pitchFamily="34" charset="-122"/>
                <a:cs typeface="Inter" pitchFamily="34" charset="-120"/>
              </a:rPr>
              <a:t>If a message is XOR'd with a single repeated byte, there are only </a:t>
            </a:r>
            <a:r>
              <a:rPr lang="en-US" sz="1335" b="1" dirty="0">
                <a:solidFill>
                  <a:srgbClr val="E6EDF3"/>
                </a:solidFill>
                <a:latin typeface="Inter" pitchFamily="34" charset="0"/>
                <a:ea typeface="Inter" pitchFamily="34" charset="-122"/>
                <a:cs typeface="Inter" pitchFamily="34" charset="-120"/>
              </a:rPr>
              <a:t>256 possible keys</a:t>
            </a:r>
            <a:r>
              <a:rPr lang="en-US" sz="1400" dirty="0">
                <a:solidFill>
                  <a:srgbClr val="E6EDF3"/>
                </a:solidFill>
                <a:latin typeface="Inter" pitchFamily="34" charset="0"/>
                <a:ea typeface="Inter" pitchFamily="34" charset="-122"/>
                <a:cs typeface="Inter" pitchFamily="34" charset="-120"/>
              </a:rPr>
              <a:t> (0x00 to 0xFF).</a:t>
            </a:r>
            <a:endParaRPr lang="en-US" sz="1400" dirty="0"/>
          </a:p>
        </p:txBody>
      </p:sp>
      <p:sp>
        <p:nvSpPr>
          <p:cNvPr id="9" name="Text 6"/>
          <p:cNvSpPr/>
          <p:nvPr/>
        </p:nvSpPr>
        <p:spPr>
          <a:xfrm>
            <a:off x="381000" y="4000500"/>
            <a:ext cx="4753831" cy="1102360"/>
          </a:xfrm>
          <a:prstGeom prst="rect">
            <a:avLst/>
          </a:prstGeom>
          <a:noFill/>
        </p:spPr>
        <p:txBody>
          <a:bodyPr wrap="square" lIns="0" tIns="0" rIns="0" bIns="0" rtlCol="0" anchor="t">
            <a:spAutoFit/>
          </a:bodyPr>
          <a:lstStyle/>
          <a:p>
            <a:pPr marL="0" indent="0" algn="l">
              <a:lnSpc>
                <a:spcPct val="128000"/>
              </a:lnSpc>
              <a:buNone/>
            </a:pPr>
            <a:r>
              <a:rPr lang="en-US" sz="1400" dirty="0">
                <a:solidFill>
                  <a:srgbClr val="E6EDF3"/>
                </a:solidFill>
                <a:latin typeface="Inter" pitchFamily="34" charset="0"/>
                <a:ea typeface="Inter" pitchFamily="34" charset="-122"/>
                <a:cs typeface="Inter" pitchFamily="34" charset="-120"/>
              </a:rPr>
              <a:t>Instead of manual guessing, we can automate the process: try all 256 keys and score each result for "English-ness" using letter frequency (looking for common characters like 'e', 't', 'a', 'o', 'i', 'n', and spaces).</a:t>
            </a:r>
            <a:endParaRPr lang="en-US" sz="1400" dirty="0"/>
          </a:p>
        </p:txBody>
      </p:sp>
      <p:sp>
        <p:nvSpPr>
          <p:cNvPr id="10" name="Shape 7"/>
          <p:cNvSpPr/>
          <p:nvPr/>
        </p:nvSpPr>
        <p:spPr>
          <a:xfrm>
            <a:off x="381000" y="5762625"/>
            <a:ext cx="4753831" cy="931069"/>
          </a:xfrm>
          <a:prstGeom prst="rect">
            <a:avLst/>
          </a:prstGeom>
          <a:solidFill>
            <a:srgbClr val="58A6FF">
              <a:alpha val="10000"/>
            </a:srgbClr>
          </a:solidFill>
        </p:spPr>
      </p:sp>
      <p:sp>
        <p:nvSpPr>
          <p:cNvPr id="11" name="Shape 8"/>
          <p:cNvSpPr/>
          <p:nvPr/>
        </p:nvSpPr>
        <p:spPr>
          <a:xfrm>
            <a:off x="381000" y="5762625"/>
            <a:ext cx="38100" cy="931069"/>
          </a:xfrm>
          <a:prstGeom prst="rect">
            <a:avLst/>
          </a:prstGeom>
          <a:solidFill>
            <a:srgbClr val="58A6FF"/>
          </a:solidFill>
        </p:spPr>
      </p:sp>
      <p:pic>
        <p:nvPicPr>
          <p:cNvPr id="12" name="Image 1" descr="preencoded.png"/>
          <p:cNvPicPr>
            <a:picLocks noChangeAspect="1"/>
          </p:cNvPicPr>
          <p:nvPr/>
        </p:nvPicPr>
        <p:blipFill>
          <a:blip r:embed="rId2"/>
          <a:stretch>
            <a:fillRect/>
          </a:stretch>
        </p:blipFill>
        <p:spPr>
          <a:xfrm>
            <a:off x="571500" y="5967412"/>
            <a:ext cx="114300" cy="152400"/>
          </a:xfrm>
          <a:prstGeom prst="rect">
            <a:avLst/>
          </a:prstGeom>
        </p:spPr>
      </p:pic>
      <p:sp>
        <p:nvSpPr>
          <p:cNvPr id="13" name="Text 9"/>
          <p:cNvSpPr/>
          <p:nvPr/>
        </p:nvSpPr>
        <p:spPr>
          <a:xfrm>
            <a:off x="685800" y="5953125"/>
            <a:ext cx="3719512" cy="174625"/>
          </a:xfrm>
          <a:prstGeom prst="rect">
            <a:avLst/>
          </a:prstGeom>
          <a:noFill/>
        </p:spPr>
        <p:txBody>
          <a:bodyPr wrap="square" lIns="0" tIns="0" rIns="0" bIns="0" rtlCol="0" anchor="t">
            <a:spAutoFit/>
          </a:bodyPr>
          <a:lstStyle/>
          <a:p>
            <a:pPr marL="0" indent="0" algn="l">
              <a:buNone/>
            </a:pPr>
            <a:r>
              <a:rPr lang="en-US" sz="1135" i="1" dirty="0">
                <a:solidFill>
                  <a:srgbClr val="8B949E"/>
                </a:solidFill>
                <a:latin typeface="Inter" pitchFamily="34" charset="0"/>
                <a:ea typeface="Inter" pitchFamily="34" charset="-122"/>
                <a:cs typeface="Inter" pitchFamily="34" charset="-120"/>
              </a:rPr>
              <a:t>"This exact code solves 90% of beginner XOR CTF</a:t>
            </a:r>
            <a:endParaRPr lang="en-US" sz="1135" dirty="0"/>
          </a:p>
        </p:txBody>
      </p:sp>
      <p:sp>
        <p:nvSpPr>
          <p:cNvPr id="14" name="Text 10"/>
          <p:cNvSpPr/>
          <p:nvPr/>
        </p:nvSpPr>
        <p:spPr>
          <a:xfrm>
            <a:off x="571500" y="6136481"/>
            <a:ext cx="3967163" cy="174625"/>
          </a:xfrm>
          <a:prstGeom prst="rect">
            <a:avLst/>
          </a:prstGeom>
          <a:noFill/>
        </p:spPr>
        <p:txBody>
          <a:bodyPr wrap="square" lIns="0" tIns="0" rIns="0" bIns="0" rtlCol="0" anchor="t">
            <a:spAutoFit/>
          </a:bodyPr>
          <a:lstStyle/>
          <a:p>
            <a:pPr marL="0" indent="0" algn="l">
              <a:buNone/>
            </a:pPr>
            <a:r>
              <a:rPr lang="en-US" sz="1135" i="1" dirty="0">
                <a:solidFill>
                  <a:srgbClr val="8B949E"/>
                </a:solidFill>
                <a:latin typeface="Inter" pitchFamily="34" charset="0"/>
                <a:ea typeface="Inter" pitchFamily="34" charset="-122"/>
                <a:cs typeface="Inter" pitchFamily="34" charset="-120"/>
              </a:rPr>
              <a:t>challenges. Master it, and you've mastered a core CTF</a:t>
            </a:r>
            <a:endParaRPr lang="en-US" sz="1135" dirty="0"/>
          </a:p>
        </p:txBody>
      </p:sp>
      <p:sp>
        <p:nvSpPr>
          <p:cNvPr id="15" name="Text 11"/>
          <p:cNvSpPr/>
          <p:nvPr/>
        </p:nvSpPr>
        <p:spPr>
          <a:xfrm>
            <a:off x="4538663" y="6136481"/>
            <a:ext cx="317500" cy="174625"/>
          </a:xfrm>
          <a:prstGeom prst="rect">
            <a:avLst/>
          </a:prstGeom>
          <a:noFill/>
        </p:spPr>
        <p:txBody>
          <a:bodyPr wrap="none" lIns="0" tIns="0" rIns="0" bIns="0" rtlCol="0" anchor="t">
            <a:spAutoFit/>
          </a:bodyPr>
          <a:lstStyle/>
          <a:p>
            <a:pPr marL="0" indent="0" algn="l">
              <a:buNone/>
            </a:pPr>
            <a:r>
              <a:rPr lang="en-US" sz="1135" i="1" dirty="0">
                <a:solidFill>
                  <a:srgbClr val="8B949E"/>
                </a:solidFill>
                <a:latin typeface="Inter" pitchFamily="34" charset="0"/>
                <a:ea typeface="Inter" pitchFamily="34" charset="-122"/>
                <a:cs typeface="Inter" pitchFamily="34" charset="-120"/>
              </a:rPr>
              <a:t>skill."</a:t>
            </a:r>
            <a:endParaRPr lang="en-US" sz="1135" dirty="0"/>
          </a:p>
        </p:txBody>
      </p:sp>
      <p:sp>
        <p:nvSpPr>
          <p:cNvPr id="16" name="Shape 12"/>
          <p:cNvSpPr/>
          <p:nvPr/>
        </p:nvSpPr>
        <p:spPr>
          <a:xfrm>
            <a:off x="5515831" y="952500"/>
            <a:ext cx="6295169" cy="5557837"/>
          </a:xfrm>
          <a:prstGeom prst="rect">
            <a:avLst/>
          </a:prstGeom>
          <a:solidFill>
            <a:srgbClr val="161B22"/>
          </a:solidFill>
          <a:ln w="9144">
            <a:solidFill>
              <a:srgbClr val="30363D"/>
            </a:solidFill>
            <a:prstDash val="solid"/>
          </a:ln>
        </p:spPr>
      </p:sp>
      <p:pic>
        <p:nvPicPr>
          <p:cNvPr id="17" name="Image 2" descr="preencoded.png"/>
          <p:cNvPicPr>
            <a:picLocks noChangeAspect="1"/>
          </p:cNvPicPr>
          <p:nvPr/>
        </p:nvPicPr>
        <p:blipFill>
          <a:blip r:embed="rId3"/>
          <a:stretch>
            <a:fillRect/>
          </a:stretch>
        </p:blipFill>
        <p:spPr>
          <a:xfrm>
            <a:off x="5810251" y="1281112"/>
            <a:ext cx="150019" cy="171451"/>
          </a:xfrm>
          <a:prstGeom prst="rect">
            <a:avLst/>
          </a:prstGeom>
        </p:spPr>
      </p:pic>
      <p:sp>
        <p:nvSpPr>
          <p:cNvPr id="18" name="Text 13"/>
          <p:cNvSpPr/>
          <p:nvPr/>
        </p:nvSpPr>
        <p:spPr>
          <a:xfrm>
            <a:off x="6055519" y="1238251"/>
            <a:ext cx="905510" cy="194310"/>
          </a:xfrm>
          <a:prstGeom prst="rect">
            <a:avLst/>
          </a:prstGeom>
          <a:noFill/>
        </p:spPr>
        <p:txBody>
          <a:bodyPr wrap="none" lIns="0" tIns="0" rIns="0" bIns="0" rtlCol="0" anchor="t">
            <a:spAutoFit/>
          </a:bodyPr>
          <a:lstStyle/>
          <a:p>
            <a:pPr marL="0" indent="0" algn="l">
              <a:buNone/>
            </a:pPr>
            <a:r>
              <a:rPr lang="en-US" sz="1265" dirty="0">
                <a:solidFill>
                  <a:srgbClr val="58A6FF"/>
                </a:solidFill>
                <a:latin typeface="Poppins SemiBold" pitchFamily="34" charset="0"/>
                <a:ea typeface="Poppins SemiBold" pitchFamily="34" charset="-122"/>
                <a:cs typeface="Poppins SemiBold" pitchFamily="34" charset="-120"/>
              </a:rPr>
              <a:t>xor_crack.py</a:t>
            </a:r>
            <a:endParaRPr lang="en-US" sz="1265" dirty="0"/>
          </a:p>
        </p:txBody>
      </p:sp>
      <p:sp>
        <p:nvSpPr>
          <p:cNvPr id="19" name="Text 14"/>
          <p:cNvSpPr/>
          <p:nvPr/>
        </p:nvSpPr>
        <p:spPr>
          <a:xfrm>
            <a:off x="5810251" y="1638300"/>
            <a:ext cx="5715000" cy="4206240"/>
          </a:xfrm>
          <a:prstGeom prst="rect">
            <a:avLst/>
          </a:prstGeom>
          <a:noFill/>
        </p:spPr>
        <p:txBody>
          <a:bodyPr wrap="square" lIns="0" tIns="0" rIns="0" bIns="0" rtlCol="0" anchor="t">
            <a:spAutoFit/>
          </a:bodyPr>
          <a:lstStyle/>
          <a:p>
            <a:pPr marL="0" indent="0" algn="l">
              <a:lnSpc>
                <a:spcPct val="120000"/>
              </a:lnSpc>
              <a:buNone/>
            </a:pPr>
            <a:r>
              <a:rPr lang="en-US" sz="1135" dirty="0">
                <a:solidFill>
                  <a:srgbClr val="FF6B6B"/>
                </a:solidFill>
                <a:latin typeface="JetBrains Mono Medium" pitchFamily="34" charset="0"/>
                <a:ea typeface="JetBrains Mono Medium" pitchFamily="34" charset="-122"/>
                <a:cs typeface="JetBrains Mono Medium" pitchFamily="34" charset="-120"/>
              </a:rPr>
              <a:t>def</a:t>
            </a:r>
            <a:r>
              <a:rPr lang="en-US" sz="1135" dirty="0">
                <a:solidFill>
                  <a:srgbClr val="E6EDF3"/>
                </a:solidFill>
                <a:latin typeface="JetBrains Mono Medium" pitchFamily="34" charset="0"/>
                <a:ea typeface="JetBrains Mono Medium" pitchFamily="34" charset="-122"/>
                <a:cs typeface="JetBrains Mono Medium" pitchFamily="34" charset="-120"/>
              </a:rPr>
              <a:t> </a:t>
            </a:r>
            <a:r>
              <a:rPr lang="en-US" sz="1135" dirty="0">
                <a:solidFill>
                  <a:srgbClr val="00FF9C"/>
                </a:solidFill>
                <a:latin typeface="JetBrains Mono Medium" pitchFamily="34" charset="0"/>
                <a:ea typeface="JetBrains Mono Medium" pitchFamily="34" charset="-122"/>
                <a:cs typeface="JetBrains Mono Medium" pitchFamily="34" charset="-120"/>
              </a:rPr>
              <a:t>crack_single_xor</a:t>
            </a:r>
            <a:r>
              <a:rPr lang="en-US" sz="1135" dirty="0">
                <a:solidFill>
                  <a:srgbClr val="E6EDF3"/>
                </a:solidFill>
                <a:latin typeface="JetBrains Mono Medium" pitchFamily="34" charset="0"/>
                <a:ea typeface="JetBrains Mono Medium" pitchFamily="34" charset="-122"/>
                <a:cs typeface="JetBrains Mono Medium" pitchFamily="34" charset="-120"/>
              </a:rPr>
              <a:t>(ciphertext):
    best_score = </a:t>
            </a:r>
            <a:r>
              <a:rPr lang="en-US" sz="1135" dirty="0">
                <a:solidFill>
                  <a:srgbClr val="FF6B6B"/>
                </a:solidFill>
                <a:latin typeface="JetBrains Mono Medium" pitchFamily="34" charset="0"/>
                <a:ea typeface="JetBrains Mono Medium" pitchFamily="34" charset="-122"/>
                <a:cs typeface="JetBrains Mono Medium" pitchFamily="34" charset="-120"/>
              </a:rPr>
              <a:t>0</a:t>
            </a:r>
            <a:r>
              <a:rPr lang="en-US" sz="1135" dirty="0">
                <a:solidFill>
                  <a:srgbClr val="E6EDF3"/>
                </a:solidFill>
                <a:latin typeface="JetBrains Mono Medium" pitchFamily="34" charset="0"/>
                <a:ea typeface="JetBrains Mono Medium" pitchFamily="34" charset="-122"/>
                <a:cs typeface="JetBrains Mono Medium" pitchFamily="34" charset="-120"/>
              </a:rPr>
              <a:t>
best_key = </a:t>
            </a:r>
            <a:r>
              <a:rPr lang="en-US" sz="1135" dirty="0">
                <a:solidFill>
                  <a:srgbClr val="FF6B6B"/>
                </a:solidFill>
                <a:latin typeface="JetBrains Mono Medium" pitchFamily="34" charset="0"/>
                <a:ea typeface="JetBrains Mono Medium" pitchFamily="34" charset="-122"/>
                <a:cs typeface="JetBrains Mono Medium" pitchFamily="34" charset="-120"/>
              </a:rPr>
              <a:t>0</a:t>
            </a:r>
            <a:r>
              <a:rPr lang="en-US" sz="1135" dirty="0">
                <a:solidFill>
                  <a:srgbClr val="E6EDF3"/>
                </a:solidFill>
                <a:latin typeface="JetBrains Mono Medium" pitchFamily="34" charset="0"/>
                <a:ea typeface="JetBrains Mono Medium" pitchFamily="34" charset="-122"/>
                <a:cs typeface="JetBrains Mono Medium" pitchFamily="34" charset="-120"/>
              </a:rPr>
              <a:t>
best_plain = </a:t>
            </a:r>
            <a:r>
              <a:rPr lang="en-US" sz="1135" dirty="0">
                <a:solidFill>
                  <a:srgbClr val="E3B341"/>
                </a:solidFill>
                <a:latin typeface="JetBrains Mono Medium" pitchFamily="34" charset="0"/>
                <a:ea typeface="JetBrains Mono Medium" pitchFamily="34" charset="-122"/>
                <a:cs typeface="JetBrains Mono Medium" pitchFamily="34" charset="-120"/>
              </a:rPr>
              <a:t>b""</a:t>
            </a:r>
            <a:endParaRPr lang="en-US" sz="1135" dirty="0"/>
          </a:p>
          <a:p>
            <a:pPr marL="0" indent="0" algn="l">
              <a:lnSpc>
                <a:spcPct val="120000"/>
              </a:lnSpc>
              <a:buNone/>
            </a:pPr>
            <a:r>
              <a:rPr lang="en-US" sz="1135" dirty="0">
                <a:solidFill>
                  <a:srgbClr val="E6EDF3"/>
                </a:solidFill>
                <a:latin typeface="JetBrains Mono Medium" pitchFamily="34" charset="0"/>
                <a:ea typeface="JetBrains Mono Medium" pitchFamily="34" charset="-122"/>
                <a:cs typeface="JetBrains Mono Medium" pitchFamily="34" charset="-120"/>
              </a:rPr>
              <a:t>    </a:t>
            </a:r>
            <a:endParaRPr lang="en-US" sz="1135" dirty="0"/>
          </a:p>
          <a:p>
            <a:pPr marL="0" indent="0" algn="l">
              <a:lnSpc>
                <a:spcPct val="120000"/>
              </a:lnSpc>
              <a:buNone/>
            </a:pPr>
            <a:r>
              <a:rPr lang="en-US" sz="1135" dirty="0">
                <a:solidFill>
                  <a:srgbClr val="E6EDF3"/>
                </a:solidFill>
                <a:latin typeface="JetBrains Mono Medium" pitchFamily="34" charset="0"/>
                <a:ea typeface="JetBrains Mono Medium" pitchFamily="34" charset="-122"/>
                <a:cs typeface="JetBrains Mono Medium" pitchFamily="34" charset="-120"/>
              </a:rPr>
              <a:t>    </a:t>
            </a:r>
            <a:endParaRPr lang="en-US" sz="1135" dirty="0"/>
          </a:p>
          <a:p>
            <a:pPr marL="0" indent="0" algn="l">
              <a:lnSpc>
                <a:spcPct val="120000"/>
              </a:lnSpc>
              <a:buNone/>
            </a:pPr>
            <a:r>
              <a:rPr lang="en-US" sz="1135" dirty="0">
                <a:solidFill>
                  <a:srgbClr val="FF6B6B"/>
                </a:solidFill>
                <a:latin typeface="JetBrains Mono Medium" pitchFamily="34" charset="0"/>
                <a:ea typeface="JetBrains Mono Medium" pitchFamily="34" charset="-122"/>
                <a:cs typeface="JetBrains Mono Medium" pitchFamily="34" charset="-120"/>
              </a:rPr>
              <a:t>for</a:t>
            </a:r>
            <a:r>
              <a:rPr lang="en-US" sz="1135" dirty="0">
                <a:solidFill>
                  <a:srgbClr val="E6EDF3"/>
                </a:solidFill>
                <a:latin typeface="JetBrains Mono Medium" pitchFamily="34" charset="0"/>
                <a:ea typeface="JetBrains Mono Medium" pitchFamily="34" charset="-122"/>
                <a:cs typeface="JetBrains Mono Medium" pitchFamily="34" charset="-120"/>
              </a:rPr>
              <a:t> key </a:t>
            </a:r>
            <a:r>
              <a:rPr lang="en-US" sz="1135" dirty="0">
                <a:solidFill>
                  <a:srgbClr val="FF6B6B"/>
                </a:solidFill>
                <a:latin typeface="JetBrains Mono Medium" pitchFamily="34" charset="0"/>
                <a:ea typeface="JetBrains Mono Medium" pitchFamily="34" charset="-122"/>
                <a:cs typeface="JetBrains Mono Medium" pitchFamily="34" charset="-120"/>
              </a:rPr>
              <a:t>in</a:t>
            </a:r>
            <a:r>
              <a:rPr lang="en-US" sz="1135" dirty="0">
                <a:solidFill>
                  <a:srgbClr val="E6EDF3"/>
                </a:solidFill>
                <a:latin typeface="JetBrains Mono Medium" pitchFamily="34" charset="0"/>
                <a:ea typeface="JetBrains Mono Medium" pitchFamily="34" charset="-122"/>
                <a:cs typeface="JetBrains Mono Medium" pitchFamily="34" charset="-120"/>
              </a:rPr>
              <a:t> </a:t>
            </a:r>
            <a:r>
              <a:rPr lang="en-US" sz="1135" dirty="0">
                <a:solidFill>
                  <a:srgbClr val="00FF9C"/>
                </a:solidFill>
                <a:latin typeface="JetBrains Mono Medium" pitchFamily="34" charset="0"/>
                <a:ea typeface="JetBrains Mono Medium" pitchFamily="34" charset="-122"/>
                <a:cs typeface="JetBrains Mono Medium" pitchFamily="34" charset="-120"/>
              </a:rPr>
              <a:t>range</a:t>
            </a:r>
            <a:r>
              <a:rPr lang="en-US" sz="1135" dirty="0">
                <a:solidFill>
                  <a:srgbClr val="E6EDF3"/>
                </a:solidFill>
                <a:latin typeface="JetBrains Mono Medium" pitchFamily="34" charset="0"/>
                <a:ea typeface="JetBrains Mono Medium" pitchFamily="34" charset="-122"/>
                <a:cs typeface="JetBrains Mono Medium" pitchFamily="34" charset="-120"/>
              </a:rPr>
              <a:t>(</a:t>
            </a:r>
            <a:r>
              <a:rPr lang="en-US" sz="1135" dirty="0">
                <a:solidFill>
                  <a:srgbClr val="FF6B6B"/>
                </a:solidFill>
                <a:latin typeface="JetBrains Mono Medium" pitchFamily="34" charset="0"/>
                <a:ea typeface="JetBrains Mono Medium" pitchFamily="34" charset="-122"/>
                <a:cs typeface="JetBrains Mono Medium" pitchFamily="34" charset="-120"/>
              </a:rPr>
              <a:t>256</a:t>
            </a:r>
            <a:r>
              <a:rPr lang="en-US" sz="1135" dirty="0">
                <a:solidFill>
                  <a:srgbClr val="E6EDF3"/>
                </a:solidFill>
                <a:latin typeface="JetBrains Mono Medium" pitchFamily="34" charset="0"/>
                <a:ea typeface="JetBrains Mono Medium" pitchFamily="34" charset="-122"/>
                <a:cs typeface="JetBrains Mono Medium" pitchFamily="34" charset="-120"/>
              </a:rPr>
              <a:t>):
        </a:t>
            </a:r>
            <a:r>
              <a:rPr lang="en-US" sz="1135" dirty="0">
                <a:solidFill>
                  <a:srgbClr val="8B949E"/>
                </a:solidFill>
                <a:latin typeface="JetBrains Mono Medium" pitchFamily="34" charset="0"/>
                <a:ea typeface="JetBrains Mono Medium" pitchFamily="34" charset="-122"/>
                <a:cs typeface="JetBrains Mono Medium" pitchFamily="34" charset="-120"/>
              </a:rPr>
              <a:t># XOR every byte with the current key</a:t>
            </a:r>
            <a:r>
              <a:rPr lang="en-US" sz="1135" dirty="0">
                <a:solidFill>
                  <a:srgbClr val="E6EDF3"/>
                </a:solidFill>
                <a:latin typeface="JetBrains Mono Medium" pitchFamily="34" charset="0"/>
                <a:ea typeface="JetBrains Mono Medium" pitchFamily="34" charset="-122"/>
                <a:cs typeface="JetBrains Mono Medium" pitchFamily="34" charset="-120"/>
              </a:rPr>
              <a:t>
plain = </a:t>
            </a:r>
            <a:r>
              <a:rPr lang="en-US" sz="1135" dirty="0">
                <a:solidFill>
                  <a:srgbClr val="00FF9C"/>
                </a:solidFill>
                <a:latin typeface="JetBrains Mono Medium" pitchFamily="34" charset="0"/>
                <a:ea typeface="JetBrains Mono Medium" pitchFamily="34" charset="-122"/>
                <a:cs typeface="JetBrains Mono Medium" pitchFamily="34" charset="-120"/>
              </a:rPr>
              <a:t>bytes</a:t>
            </a:r>
            <a:r>
              <a:rPr lang="en-US" sz="1135" dirty="0">
                <a:solidFill>
                  <a:srgbClr val="E6EDF3"/>
                </a:solidFill>
                <a:latin typeface="JetBrains Mono Medium" pitchFamily="34" charset="0"/>
                <a:ea typeface="JetBrains Mono Medium" pitchFamily="34" charset="-122"/>
                <a:cs typeface="JetBrains Mono Medium" pitchFamily="34" charset="-120"/>
              </a:rPr>
              <a:t>([b ^ key </a:t>
            </a:r>
            <a:r>
              <a:rPr lang="en-US" sz="1135" dirty="0">
                <a:solidFill>
                  <a:srgbClr val="FF6B6B"/>
                </a:solidFill>
                <a:latin typeface="JetBrains Mono Medium" pitchFamily="34" charset="0"/>
                <a:ea typeface="JetBrains Mono Medium" pitchFamily="34" charset="-122"/>
                <a:cs typeface="JetBrains Mono Medium" pitchFamily="34" charset="-120"/>
              </a:rPr>
              <a:t>for</a:t>
            </a:r>
            <a:r>
              <a:rPr lang="en-US" sz="1135" dirty="0">
                <a:solidFill>
                  <a:srgbClr val="E6EDF3"/>
                </a:solidFill>
                <a:latin typeface="JetBrains Mono Medium" pitchFamily="34" charset="0"/>
                <a:ea typeface="JetBrains Mono Medium" pitchFamily="34" charset="-122"/>
                <a:cs typeface="JetBrains Mono Medium" pitchFamily="34" charset="-120"/>
              </a:rPr>
              <a:t> b </a:t>
            </a:r>
            <a:r>
              <a:rPr lang="en-US" sz="1135" dirty="0">
                <a:solidFill>
                  <a:srgbClr val="FF6B6B"/>
                </a:solidFill>
                <a:latin typeface="JetBrains Mono Medium" pitchFamily="34" charset="0"/>
                <a:ea typeface="JetBrains Mono Medium" pitchFamily="34" charset="-122"/>
                <a:cs typeface="JetBrains Mono Medium" pitchFamily="34" charset="-120"/>
              </a:rPr>
              <a:t>in</a:t>
            </a:r>
            <a:r>
              <a:rPr lang="en-US" sz="1135" dirty="0">
                <a:solidFill>
                  <a:srgbClr val="E6EDF3"/>
                </a:solidFill>
                <a:latin typeface="JetBrains Mono Medium" pitchFamily="34" charset="0"/>
                <a:ea typeface="JetBrains Mono Medium" pitchFamily="34" charset="-122"/>
                <a:cs typeface="JetBrains Mono Medium" pitchFamily="34" charset="-120"/>
              </a:rPr>
              <a:t> ciphertext])
        </a:t>
            </a:r>
            <a:r>
              <a:rPr lang="en-US" sz="1135" dirty="0">
                <a:solidFill>
                  <a:srgbClr val="8B949E"/>
                </a:solidFill>
                <a:latin typeface="JetBrains Mono Medium" pitchFamily="34" charset="0"/>
                <a:ea typeface="JetBrains Mono Medium" pitchFamily="34" charset="-122"/>
                <a:cs typeface="JetBrains Mono Medium" pitchFamily="34" charset="-120"/>
              </a:rPr>
              <a:t># Score based on common English letters</a:t>
            </a:r>
            <a:r>
              <a:rPr lang="en-US" sz="1135" dirty="0">
                <a:solidFill>
                  <a:srgbClr val="E6EDF3"/>
                </a:solidFill>
                <a:latin typeface="JetBrains Mono Medium" pitchFamily="34" charset="0"/>
                <a:ea typeface="JetBrains Mono Medium" pitchFamily="34" charset="-122"/>
                <a:cs typeface="JetBrains Mono Medium" pitchFamily="34" charset="-120"/>
              </a:rPr>
              <a:t>
score = </a:t>
            </a:r>
            <a:r>
              <a:rPr lang="en-US" sz="1135" dirty="0">
                <a:solidFill>
                  <a:srgbClr val="00FF9C"/>
                </a:solidFill>
                <a:latin typeface="JetBrains Mono Medium" pitchFamily="34" charset="0"/>
                <a:ea typeface="JetBrains Mono Medium" pitchFamily="34" charset="-122"/>
                <a:cs typeface="JetBrains Mono Medium" pitchFamily="34" charset="-120"/>
              </a:rPr>
              <a:t>sum</a:t>
            </a:r>
            <a:r>
              <a:rPr lang="en-US" sz="1135" dirty="0">
                <a:solidFill>
                  <a:srgbClr val="E6EDF3"/>
                </a:solidFill>
                <a:latin typeface="JetBrains Mono Medium" pitchFamily="34" charset="0"/>
                <a:ea typeface="JetBrains Mono Medium" pitchFamily="34" charset="-122"/>
                <a:cs typeface="JetBrains Mono Medium" pitchFamily="34" charset="-120"/>
              </a:rPr>
              <a:t>(plain.count(c) </a:t>
            </a:r>
            <a:r>
              <a:rPr lang="en-US" sz="1135" dirty="0">
                <a:solidFill>
                  <a:srgbClr val="FF6B6B"/>
                </a:solidFill>
                <a:latin typeface="JetBrains Mono Medium" pitchFamily="34" charset="0"/>
                <a:ea typeface="JetBrains Mono Medium" pitchFamily="34" charset="-122"/>
                <a:cs typeface="JetBrains Mono Medium" pitchFamily="34" charset="-120"/>
              </a:rPr>
              <a:t>for</a:t>
            </a:r>
            <a:r>
              <a:rPr lang="en-US" sz="1135" dirty="0">
                <a:solidFill>
                  <a:srgbClr val="E6EDF3"/>
                </a:solidFill>
                <a:latin typeface="JetBrains Mono Medium" pitchFamily="34" charset="0"/>
                <a:ea typeface="JetBrains Mono Medium" pitchFamily="34" charset="-122"/>
                <a:cs typeface="JetBrains Mono Medium" pitchFamily="34" charset="-120"/>
              </a:rPr>
              <a:t> c </a:t>
            </a:r>
            <a:r>
              <a:rPr lang="en-US" sz="1135" dirty="0">
                <a:solidFill>
                  <a:srgbClr val="FF6B6B"/>
                </a:solidFill>
                <a:latin typeface="JetBrains Mono Medium" pitchFamily="34" charset="0"/>
                <a:ea typeface="JetBrains Mono Medium" pitchFamily="34" charset="-122"/>
                <a:cs typeface="JetBrains Mono Medium" pitchFamily="34" charset="-120"/>
              </a:rPr>
              <a:t>in</a:t>
            </a:r>
            <a:r>
              <a:rPr lang="en-US" sz="1135" dirty="0">
                <a:solidFill>
                  <a:srgbClr val="E6EDF3"/>
                </a:solidFill>
                <a:latin typeface="JetBrains Mono Medium" pitchFamily="34" charset="0"/>
                <a:ea typeface="JetBrains Mono Medium" pitchFamily="34" charset="-122"/>
                <a:cs typeface="JetBrains Mono Medium" pitchFamily="34" charset="-120"/>
              </a:rPr>
              <a:t> </a:t>
            </a:r>
            <a:r>
              <a:rPr lang="en-US" sz="1135" dirty="0">
                <a:solidFill>
                  <a:srgbClr val="E3B341"/>
                </a:solidFill>
                <a:latin typeface="JetBrains Mono Medium" pitchFamily="34" charset="0"/>
                <a:ea typeface="JetBrains Mono Medium" pitchFamily="34" charset="-122"/>
                <a:cs typeface="JetBrains Mono Medium" pitchFamily="34" charset="-120"/>
              </a:rPr>
              <a:t>b'etaoin '</a:t>
            </a:r>
            <a:r>
              <a:rPr lang="en-US" sz="1135" dirty="0">
                <a:solidFill>
                  <a:srgbClr val="E6EDF3"/>
                </a:solidFill>
                <a:latin typeface="JetBrains Mono Medium" pitchFamily="34" charset="0"/>
                <a:ea typeface="JetBrains Mono Medium" pitchFamily="34" charset="-122"/>
                <a:cs typeface="JetBrains Mono Medium" pitchFamily="34" charset="-120"/>
              </a:rPr>
              <a:t>)
        </a:t>
            </a:r>
            <a:r>
              <a:rPr lang="en-US" sz="1135" dirty="0">
                <a:solidFill>
                  <a:srgbClr val="FF6B6B"/>
                </a:solidFill>
                <a:latin typeface="JetBrains Mono Medium" pitchFamily="34" charset="0"/>
                <a:ea typeface="JetBrains Mono Medium" pitchFamily="34" charset="-122"/>
                <a:cs typeface="JetBrains Mono Medium" pitchFamily="34" charset="-120"/>
              </a:rPr>
              <a:t>if</a:t>
            </a:r>
            <a:r>
              <a:rPr lang="en-US" sz="1135" dirty="0">
                <a:solidFill>
                  <a:srgbClr val="E6EDF3"/>
                </a:solidFill>
                <a:latin typeface="JetBrains Mono Medium" pitchFamily="34" charset="0"/>
                <a:ea typeface="JetBrains Mono Medium" pitchFamily="34" charset="-122"/>
                <a:cs typeface="JetBrains Mono Medium" pitchFamily="34" charset="-120"/>
              </a:rPr>
              <a:t> score &gt; best_score:
            best_score = score
            best_key = key
            best_plain = plain
    </a:t>
            </a:r>
            <a:r>
              <a:rPr lang="en-US" sz="1135" dirty="0">
                <a:solidFill>
                  <a:srgbClr val="FF6B6B"/>
                </a:solidFill>
                <a:latin typeface="JetBrains Mono Medium" pitchFamily="34" charset="0"/>
                <a:ea typeface="JetBrains Mono Medium" pitchFamily="34" charset="-122"/>
                <a:cs typeface="JetBrains Mono Medium" pitchFamily="34" charset="-120"/>
              </a:rPr>
              <a:t>return</a:t>
            </a:r>
            <a:r>
              <a:rPr lang="en-US" sz="1135" dirty="0">
                <a:solidFill>
                  <a:srgbClr val="E6EDF3"/>
                </a:solidFill>
                <a:latin typeface="JetBrains Mono Medium" pitchFamily="34" charset="0"/>
                <a:ea typeface="JetBrains Mono Medium" pitchFamily="34" charset="-122"/>
                <a:cs typeface="JetBrains Mono Medium" pitchFamily="34" charset="-120"/>
              </a:rPr>
              <a:t> best_key, best_plain
</a:t>
            </a:r>
            <a:endParaRPr lang="en-US" sz="113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72465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66750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50 | EWUCSC</a:t>
            </a:r>
            <a:endParaRPr lang="en-US" sz="1265" dirty="0"/>
          </a:p>
        </p:txBody>
      </p:sp>
      <p:sp>
        <p:nvSpPr>
          <p:cNvPr id="7" name="Text 4"/>
          <p:cNvSpPr/>
          <p:nvPr/>
        </p:nvSpPr>
        <p:spPr>
          <a:xfrm>
            <a:off x="381000" y="952500"/>
            <a:ext cx="5524500" cy="861695"/>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CTF Challenge #3: The Ancient Message</a:t>
            </a:r>
            <a:endParaRPr lang="en-US" sz="2800" dirty="0"/>
          </a:p>
        </p:txBody>
      </p:sp>
      <p:sp>
        <p:nvSpPr>
          <p:cNvPr id="8" name="Text 5"/>
          <p:cNvSpPr/>
          <p:nvPr/>
        </p:nvSpPr>
        <p:spPr>
          <a:xfrm>
            <a:off x="381000" y="2438400"/>
            <a:ext cx="5524500" cy="389255"/>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Inter" pitchFamily="34" charset="0"/>
                <a:ea typeface="Inter" pitchFamily="34" charset="-122"/>
                <a:cs typeface="Inter" pitchFamily="34" charset="-120"/>
              </a:rPr>
              <a:t>You found this message on an old server. It looks like nonsense, but there's a clue in the file system.</a:t>
            </a:r>
            <a:endParaRPr lang="en-US" sz="1265" dirty="0"/>
          </a:p>
        </p:txBody>
      </p:sp>
      <p:sp>
        <p:nvSpPr>
          <p:cNvPr id="9" name="Shape 6"/>
          <p:cNvSpPr/>
          <p:nvPr/>
        </p:nvSpPr>
        <p:spPr>
          <a:xfrm>
            <a:off x="381000" y="3043237"/>
            <a:ext cx="5524500" cy="862012"/>
          </a:xfrm>
          <a:prstGeom prst="rect">
            <a:avLst/>
          </a:prstGeom>
          <a:solidFill>
            <a:srgbClr val="161B22"/>
          </a:solidFill>
          <a:ln w="18288">
            <a:solidFill>
              <a:srgbClr val="E3B341"/>
            </a:solidFill>
            <a:prstDash val="solid"/>
          </a:ln>
        </p:spPr>
      </p:sp>
      <p:sp>
        <p:nvSpPr>
          <p:cNvPr id="10" name="Text 7"/>
          <p:cNvSpPr/>
          <p:nvPr/>
        </p:nvSpPr>
        <p:spPr>
          <a:xfrm>
            <a:off x="381000" y="3043237"/>
            <a:ext cx="5524500" cy="894715"/>
          </a:xfrm>
          <a:prstGeom prst="rect">
            <a:avLst/>
          </a:prstGeom>
          <a:noFill/>
        </p:spPr>
        <p:txBody>
          <a:bodyPr wrap="square" lIns="340190" tIns="340190" rIns="340190" bIns="340190" rtlCol="0" anchor="t">
            <a:spAutoFit/>
          </a:bodyPr>
          <a:lstStyle/>
          <a:p>
            <a:pPr marL="0" indent="0" algn="l">
              <a:buNone/>
            </a:pPr>
            <a:r>
              <a:rPr lang="en-US" sz="1400" dirty="0">
                <a:solidFill>
                  <a:srgbClr val="E3B341"/>
                </a:solidFill>
                <a:latin typeface="JetBrains Mono Medium" pitchFamily="34" charset="0"/>
                <a:ea typeface="JetBrains Mono Medium" pitchFamily="34" charset="-122"/>
                <a:cs typeface="JetBrains Mono Medium" pitchFamily="34" charset="-120"/>
              </a:rPr>
              <a:t>Gur synt vf: synt{ebg_guvegrra_vf_rnfl}</a:t>
            </a:r>
            <a:endParaRPr lang="en-US" sz="1400" dirty="0"/>
          </a:p>
        </p:txBody>
      </p:sp>
      <p:sp>
        <p:nvSpPr>
          <p:cNvPr id="11" name="Shape 8"/>
          <p:cNvSpPr/>
          <p:nvPr/>
        </p:nvSpPr>
        <p:spPr>
          <a:xfrm>
            <a:off x="381000" y="4057651"/>
            <a:ext cx="5524500" cy="671512"/>
          </a:xfrm>
          <a:prstGeom prst="rect">
            <a:avLst/>
          </a:prstGeom>
          <a:solidFill>
            <a:srgbClr val="58A6FF">
              <a:alpha val="10000"/>
            </a:srgbClr>
          </a:solidFill>
          <a:ln w="9144">
            <a:solidFill>
              <a:srgbClr val="58A6FF"/>
            </a:solidFill>
            <a:prstDash val="solid"/>
          </a:ln>
        </p:spPr>
      </p:sp>
      <p:pic>
        <p:nvPicPr>
          <p:cNvPr id="12" name="Image 1" descr="preencoded.png"/>
          <p:cNvPicPr>
            <a:picLocks noChangeAspect="1"/>
          </p:cNvPicPr>
          <p:nvPr/>
        </p:nvPicPr>
        <p:blipFill>
          <a:blip r:embed="rId2">
            <a:alphaModFix amt="20000"/>
          </a:blip>
          <a:stretch>
            <a:fillRect/>
          </a:stretch>
        </p:blipFill>
        <p:spPr>
          <a:xfrm>
            <a:off x="5295900" y="3138488"/>
            <a:ext cx="428625" cy="381000"/>
          </a:xfrm>
          <a:prstGeom prst="rect">
            <a:avLst/>
          </a:prstGeom>
        </p:spPr>
      </p:pic>
      <p:pic>
        <p:nvPicPr>
          <p:cNvPr id="13" name="Image 2" descr="preencoded.png"/>
          <p:cNvPicPr>
            <a:picLocks noChangeAspect="1"/>
          </p:cNvPicPr>
          <p:nvPr/>
        </p:nvPicPr>
        <p:blipFill>
          <a:blip r:embed="rId3"/>
          <a:stretch>
            <a:fillRect/>
          </a:stretch>
        </p:blipFill>
        <p:spPr>
          <a:xfrm>
            <a:off x="523875" y="4307681"/>
            <a:ext cx="152400" cy="152400"/>
          </a:xfrm>
          <a:prstGeom prst="rect">
            <a:avLst/>
          </a:prstGeom>
        </p:spPr>
      </p:pic>
      <p:sp>
        <p:nvSpPr>
          <p:cNvPr id="14" name="Text 9"/>
          <p:cNvSpPr/>
          <p:nvPr/>
        </p:nvSpPr>
        <p:spPr>
          <a:xfrm>
            <a:off x="819151" y="4200525"/>
            <a:ext cx="2557463" cy="349885"/>
          </a:xfrm>
          <a:prstGeom prst="rect">
            <a:avLst/>
          </a:prstGeom>
          <a:noFill/>
        </p:spPr>
        <p:txBody>
          <a:bodyPr wrap="square" lIns="0" tIns="0" rIns="0" bIns="0" rtlCol="0" anchor="t">
            <a:spAutoFit/>
          </a:bodyPr>
          <a:lstStyle/>
          <a:p>
            <a:pPr marL="0" indent="0" algn="l">
              <a:buNone/>
            </a:pPr>
            <a:r>
              <a:rPr lang="en-US" sz="1065" b="1" dirty="0">
                <a:solidFill>
                  <a:srgbClr val="58A6FF"/>
                </a:solidFill>
                <a:latin typeface="Inter" pitchFamily="34" charset="0"/>
                <a:ea typeface="Inter" pitchFamily="34" charset="-122"/>
                <a:cs typeface="Inter" pitchFamily="34" charset="-120"/>
              </a:rPr>
              <a:t>File Metadata:</a:t>
            </a:r>
            <a:r>
              <a:rPr lang="en-US" sz="1135" dirty="0">
                <a:solidFill>
                  <a:srgbClr val="58A6FF"/>
                </a:solidFill>
                <a:latin typeface="Inter" pitchFamily="34" charset="0"/>
                <a:ea typeface="Inter" pitchFamily="34" charset="-122"/>
                <a:cs typeface="Inter" pitchFamily="34" charset="-120"/>
              </a:rPr>
              <a:t>
Last Modified: Friday, May 13, 2026</a:t>
            </a:r>
            <a:endParaRPr lang="en-US" sz="1135" dirty="0"/>
          </a:p>
        </p:txBody>
      </p:sp>
      <p:sp>
        <p:nvSpPr>
          <p:cNvPr id="15" name="Shape 10"/>
          <p:cNvSpPr/>
          <p:nvPr/>
        </p:nvSpPr>
        <p:spPr>
          <a:xfrm>
            <a:off x="6286500" y="952500"/>
            <a:ext cx="5524500" cy="838200"/>
          </a:xfrm>
          <a:prstGeom prst="rect">
            <a:avLst/>
          </a:prstGeom>
          <a:solidFill>
            <a:srgbClr val="161B22"/>
          </a:solidFill>
        </p:spPr>
      </p:sp>
      <p:sp>
        <p:nvSpPr>
          <p:cNvPr id="16" name="Shape 11"/>
          <p:cNvSpPr/>
          <p:nvPr/>
        </p:nvSpPr>
        <p:spPr>
          <a:xfrm>
            <a:off x="6286500" y="952500"/>
            <a:ext cx="38100" cy="838200"/>
          </a:xfrm>
          <a:prstGeom prst="rect">
            <a:avLst/>
          </a:prstGeom>
          <a:solidFill>
            <a:srgbClr val="00FF9C"/>
          </a:solidFill>
        </p:spPr>
      </p:sp>
      <p:sp>
        <p:nvSpPr>
          <p:cNvPr id="17" name="Text 12"/>
          <p:cNvSpPr/>
          <p:nvPr/>
        </p:nvSpPr>
        <p:spPr>
          <a:xfrm>
            <a:off x="6477000" y="1143000"/>
            <a:ext cx="51435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Poppins SemiBold" pitchFamily="34" charset="0"/>
                <a:ea typeface="Poppins SemiBold" pitchFamily="34" charset="-122"/>
                <a:cs typeface="Poppins SemiBold" pitchFamily="34" charset="-120"/>
              </a:rPr>
              <a:t>STEP 1: IDENTIFY HINT</a:t>
            </a:r>
            <a:endParaRPr lang="en-US" sz="1000" dirty="0"/>
          </a:p>
        </p:txBody>
      </p:sp>
      <p:sp>
        <p:nvSpPr>
          <p:cNvPr id="18" name="Text 13"/>
          <p:cNvSpPr/>
          <p:nvPr/>
        </p:nvSpPr>
        <p:spPr>
          <a:xfrm>
            <a:off x="6477000" y="1393031"/>
            <a:ext cx="5143500" cy="184150"/>
          </a:xfrm>
          <a:prstGeom prst="rect">
            <a:avLst/>
          </a:prstGeom>
          <a:noFill/>
        </p:spPr>
        <p:txBody>
          <a:bodyPr wrap="square" lIns="0" tIns="0" rIns="0" bIns="0" rtlCol="0" anchor="t">
            <a:spAutoFit/>
          </a:bodyPr>
          <a:lstStyle/>
          <a:p>
            <a:pPr marL="0" indent="0" algn="l">
              <a:buNone/>
            </a:pPr>
            <a:r>
              <a:rPr lang="en-US" sz="1200" dirty="0">
                <a:solidFill>
                  <a:srgbClr val="E6EDF3"/>
                </a:solidFill>
                <a:latin typeface="Inter" pitchFamily="34" charset="0"/>
                <a:ea typeface="Inter" pitchFamily="34" charset="-122"/>
                <a:cs typeface="Inter" pitchFamily="34" charset="-120"/>
              </a:rPr>
              <a:t>"Friday the 13th" is a common hint for </a:t>
            </a:r>
            <a:r>
              <a:rPr lang="en-US" sz="1200" dirty="0">
                <a:solidFill>
                  <a:srgbClr val="58A6FF"/>
                </a:solidFill>
                <a:latin typeface="Inter" pitchFamily="34" charset="0"/>
                <a:ea typeface="Inter" pitchFamily="34" charset="-122"/>
                <a:cs typeface="Inter" pitchFamily="34" charset="-120"/>
              </a:rPr>
              <a:t>ROT13</a:t>
            </a:r>
            <a:r>
              <a:rPr lang="en-US" sz="1200" dirty="0">
                <a:solidFill>
                  <a:srgbClr val="E6EDF3"/>
                </a:solidFill>
                <a:latin typeface="Inter" pitchFamily="34" charset="0"/>
                <a:ea typeface="Inter" pitchFamily="34" charset="-122"/>
                <a:cs typeface="Inter" pitchFamily="34" charset="-120"/>
              </a:rPr>
              <a:t>.</a:t>
            </a:r>
            <a:endParaRPr lang="en-US" sz="1200" dirty="0"/>
          </a:p>
        </p:txBody>
      </p:sp>
      <p:sp>
        <p:nvSpPr>
          <p:cNvPr id="19" name="Shape 14"/>
          <p:cNvSpPr/>
          <p:nvPr/>
        </p:nvSpPr>
        <p:spPr>
          <a:xfrm>
            <a:off x="6286500" y="1981200"/>
            <a:ext cx="5524500" cy="838200"/>
          </a:xfrm>
          <a:prstGeom prst="rect">
            <a:avLst/>
          </a:prstGeom>
          <a:solidFill>
            <a:srgbClr val="161B22"/>
          </a:solidFill>
        </p:spPr>
      </p:sp>
      <p:sp>
        <p:nvSpPr>
          <p:cNvPr id="20" name="Shape 15"/>
          <p:cNvSpPr/>
          <p:nvPr/>
        </p:nvSpPr>
        <p:spPr>
          <a:xfrm>
            <a:off x="6286500" y="1981200"/>
            <a:ext cx="38100" cy="838200"/>
          </a:xfrm>
          <a:prstGeom prst="rect">
            <a:avLst/>
          </a:prstGeom>
          <a:solidFill>
            <a:srgbClr val="58A6FF"/>
          </a:solidFill>
        </p:spPr>
      </p:sp>
      <p:sp>
        <p:nvSpPr>
          <p:cNvPr id="21" name="Text 16"/>
          <p:cNvSpPr/>
          <p:nvPr/>
        </p:nvSpPr>
        <p:spPr>
          <a:xfrm>
            <a:off x="6477000" y="2171700"/>
            <a:ext cx="51435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Poppins SemiBold" pitchFamily="34" charset="0"/>
                <a:ea typeface="Poppins SemiBold" pitchFamily="34" charset="-122"/>
                <a:cs typeface="Poppins SemiBold" pitchFamily="34" charset="-120"/>
              </a:rPr>
              <a:t>STEP 2: APPLY LOGIC</a:t>
            </a:r>
            <a:endParaRPr lang="en-US" sz="1000" dirty="0"/>
          </a:p>
        </p:txBody>
      </p:sp>
      <p:sp>
        <p:nvSpPr>
          <p:cNvPr id="22" name="Text 17"/>
          <p:cNvSpPr/>
          <p:nvPr/>
        </p:nvSpPr>
        <p:spPr>
          <a:xfrm>
            <a:off x="6477000" y="2421731"/>
            <a:ext cx="5143500" cy="184150"/>
          </a:xfrm>
          <a:prstGeom prst="rect">
            <a:avLst/>
          </a:prstGeom>
          <a:noFill/>
        </p:spPr>
        <p:txBody>
          <a:bodyPr wrap="square" lIns="0" tIns="0" rIns="0" bIns="0" rtlCol="0" anchor="t">
            <a:spAutoFit/>
          </a:bodyPr>
          <a:lstStyle/>
          <a:p>
            <a:pPr marL="0" indent="0" algn="l">
              <a:buNone/>
            </a:pPr>
            <a:r>
              <a:rPr lang="en-US" sz="1200" dirty="0">
                <a:solidFill>
                  <a:srgbClr val="E6EDF3"/>
                </a:solidFill>
                <a:latin typeface="Inter" pitchFamily="34" charset="0"/>
                <a:ea typeface="Inter" pitchFamily="34" charset="-122"/>
                <a:cs typeface="Inter" pitchFamily="34" charset="-120"/>
              </a:rPr>
              <a:t>Apply ROT13 shift to the entire intercepted string.</a:t>
            </a:r>
            <a:endParaRPr lang="en-US" sz="1200" dirty="0"/>
          </a:p>
        </p:txBody>
      </p:sp>
      <p:sp>
        <p:nvSpPr>
          <p:cNvPr id="23" name="Shape 18"/>
          <p:cNvSpPr/>
          <p:nvPr/>
        </p:nvSpPr>
        <p:spPr>
          <a:xfrm>
            <a:off x="6286500" y="4914900"/>
            <a:ext cx="5524500" cy="952500"/>
          </a:xfrm>
          <a:prstGeom prst="rect">
            <a:avLst/>
          </a:prstGeom>
          <a:solidFill>
            <a:srgbClr val="FF6B6B">
              <a:alpha val="10000"/>
            </a:srgbClr>
          </a:solidFill>
          <a:ln w="9144">
            <a:solidFill>
              <a:srgbClr val="FF6B6B"/>
            </a:solidFill>
            <a:prstDash val="solid"/>
          </a:ln>
        </p:spPr>
      </p:sp>
      <p:sp>
        <p:nvSpPr>
          <p:cNvPr id="24" name="Text 19"/>
          <p:cNvSpPr/>
          <p:nvPr/>
        </p:nvSpPr>
        <p:spPr>
          <a:xfrm>
            <a:off x="6477000" y="5124451"/>
            <a:ext cx="5143500" cy="153670"/>
          </a:xfrm>
          <a:prstGeom prst="rect">
            <a:avLst/>
          </a:prstGeom>
          <a:noFill/>
        </p:spPr>
        <p:txBody>
          <a:bodyPr wrap="square" lIns="0" tIns="0" rIns="0" bIns="0" rtlCol="0" anchor="t">
            <a:spAutoFit/>
          </a:bodyPr>
          <a:lstStyle/>
          <a:p>
            <a:pPr marL="0" indent="0" algn="ctr">
              <a:buNone/>
            </a:pPr>
            <a:r>
              <a:rPr lang="en-US" sz="1000" dirty="0">
                <a:solidFill>
                  <a:srgbClr val="FF6B6B"/>
                </a:solidFill>
                <a:latin typeface="Poppins SemiBold" pitchFamily="34" charset="0"/>
                <a:ea typeface="Poppins SemiBold" pitchFamily="34" charset="-122"/>
                <a:cs typeface="Poppins SemiBold" pitchFamily="34" charset="-120"/>
              </a:rPr>
              <a:t>FINAL REVEAL</a:t>
            </a:r>
            <a:endParaRPr lang="en-US" sz="1000" dirty="0"/>
          </a:p>
        </p:txBody>
      </p:sp>
      <p:sp>
        <p:nvSpPr>
          <p:cNvPr id="25" name="Text 20"/>
          <p:cNvSpPr/>
          <p:nvPr/>
        </p:nvSpPr>
        <p:spPr>
          <a:xfrm>
            <a:off x="6477000" y="5374481"/>
            <a:ext cx="5143500" cy="245745"/>
          </a:xfrm>
          <a:prstGeom prst="rect">
            <a:avLst/>
          </a:prstGeom>
          <a:noFill/>
        </p:spPr>
        <p:txBody>
          <a:bodyPr wrap="square" lIns="0" tIns="0" rIns="0" bIns="0" rtlCol="0" anchor="t">
            <a:spAutoFit/>
          </a:bodyPr>
          <a:lstStyle/>
          <a:p>
            <a:pPr marL="0" indent="0" algn="ctr">
              <a:buNone/>
            </a:pPr>
            <a:r>
              <a:rPr lang="en-US" sz="1600" b="1" dirty="0">
                <a:solidFill>
                  <a:srgbClr val="FF6B6B"/>
                </a:solidFill>
                <a:latin typeface="JetBrains Mono Medium" pitchFamily="34" charset="0"/>
                <a:ea typeface="JetBrains Mono Medium" pitchFamily="34" charset="-122"/>
                <a:cs typeface="JetBrains Mono Medium" pitchFamily="34" charset="-120"/>
              </a:rPr>
              <a:t>flag{rot_thirteen_is_easy}</a:t>
            </a:r>
            <a:endParaRPr lang="en-US" sz="1600" dirty="0"/>
          </a:p>
        </p:txBody>
      </p:sp>
      <p:pic>
        <p:nvPicPr>
          <p:cNvPr id="26" name="Image 3" descr="preencoded.png"/>
          <p:cNvPicPr>
            <a:picLocks noChangeAspect="1"/>
          </p:cNvPicPr>
          <p:nvPr/>
        </p:nvPicPr>
        <p:blipFill>
          <a:blip r:embed="rId4"/>
          <a:stretch>
            <a:fillRect/>
          </a:stretch>
        </p:blipFill>
        <p:spPr>
          <a:xfrm>
            <a:off x="6286500" y="6165056"/>
            <a:ext cx="133351" cy="133351"/>
          </a:xfrm>
          <a:prstGeom prst="rect">
            <a:avLst/>
          </a:prstGeom>
        </p:spPr>
      </p:pic>
      <p:sp>
        <p:nvSpPr>
          <p:cNvPr id="27" name="Text 21"/>
          <p:cNvSpPr/>
          <p:nvPr/>
        </p:nvSpPr>
        <p:spPr>
          <a:xfrm>
            <a:off x="6419851" y="6153151"/>
            <a:ext cx="5157788" cy="153670"/>
          </a:xfrm>
          <a:prstGeom prst="rect">
            <a:avLst/>
          </a:prstGeom>
          <a:noFill/>
        </p:spPr>
        <p:txBody>
          <a:bodyPr wrap="square" lIns="0" tIns="0" rIns="0" bIns="0" rtlCol="0" anchor="t">
            <a:spAutoFit/>
          </a:bodyPr>
          <a:lstStyle/>
          <a:p>
            <a:pPr marL="0" indent="0" algn="l">
              <a:buNone/>
            </a:pPr>
            <a:r>
              <a:rPr lang="en-US" sz="1000" i="1" dirty="0">
                <a:solidFill>
                  <a:srgbClr val="8B949E"/>
                </a:solidFill>
                <a:latin typeface="Inter" pitchFamily="34" charset="0"/>
                <a:ea typeface="Inter" pitchFamily="34" charset="-122"/>
                <a:cs typeface="Inter" pitchFamily="34" charset="-120"/>
              </a:rPr>
              <a:t>Lesson: CTF hints are hidden everywhere — file names, metadata, dates, or even</a:t>
            </a:r>
            <a:endParaRPr lang="en-US" sz="1000" dirty="0"/>
          </a:p>
        </p:txBody>
      </p:sp>
      <p:sp>
        <p:nvSpPr>
          <p:cNvPr id="28" name="Text 22"/>
          <p:cNvSpPr/>
          <p:nvPr/>
        </p:nvSpPr>
        <p:spPr>
          <a:xfrm>
            <a:off x="6286500" y="6315075"/>
            <a:ext cx="3221831" cy="153670"/>
          </a:xfrm>
          <a:prstGeom prst="rect">
            <a:avLst/>
          </a:prstGeom>
          <a:noFill/>
        </p:spPr>
        <p:txBody>
          <a:bodyPr wrap="square" lIns="0" tIns="0" rIns="0" bIns="0" rtlCol="0" anchor="t">
            <a:spAutoFit/>
          </a:bodyPr>
          <a:lstStyle/>
          <a:p>
            <a:pPr marL="0" indent="0" algn="l">
              <a:buNone/>
            </a:pPr>
            <a:r>
              <a:rPr lang="en-US" sz="1000" i="1" dirty="0">
                <a:solidFill>
                  <a:srgbClr val="8B949E"/>
                </a:solidFill>
                <a:latin typeface="Inter" pitchFamily="34" charset="0"/>
                <a:ea typeface="Inter" pitchFamily="34" charset="-122"/>
                <a:cs typeface="Inter" pitchFamily="34" charset="-120"/>
              </a:rPr>
              <a:t>source code comments. Always check the context!</a:t>
            </a:r>
            <a:endParaRPr lang="en-US" sz="1000"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54177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8462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4403408" y="941375"/>
            <a:ext cx="3385185" cy="1082675"/>
          </a:xfrm>
          <a:prstGeom prst="rect">
            <a:avLst/>
          </a:prstGeom>
          <a:noFill/>
        </p:spPr>
        <p:txBody>
          <a:bodyPr wrap="none" lIns="0" tIns="0" rIns="0" bIns="0" rtlCol="0" anchor="t">
            <a:spAutoFit/>
          </a:bodyPr>
          <a:lstStyle/>
          <a:p>
            <a:pPr marL="0" indent="0" algn="ctr">
              <a:lnSpc>
                <a:spcPct val="80000"/>
              </a:lnSpc>
              <a:buNone/>
            </a:pPr>
            <a:r>
              <a:rPr lang="en-US" sz="8800" kern="0" spc="8" dirty="0">
                <a:solidFill>
                  <a:srgbClr val="00FF9C"/>
                </a:solidFill>
                <a:latin typeface="Poppins ExtraBold" pitchFamily="34" charset="0"/>
                <a:ea typeface="Poppins ExtraBold" pitchFamily="34" charset="-122"/>
                <a:cs typeface="Poppins ExtraBold" pitchFamily="34" charset="-120"/>
              </a:rPr>
              <a:t>PART 4</a:t>
            </a:r>
            <a:endParaRPr lang="en-US" sz="8800" dirty="0"/>
          </a:p>
        </p:txBody>
      </p:sp>
      <p:sp>
        <p:nvSpPr>
          <p:cNvPr id="4" name="Text 1"/>
          <p:cNvSpPr/>
          <p:nvPr/>
        </p:nvSpPr>
        <p:spPr>
          <a:xfrm>
            <a:off x="0" y="2274875"/>
            <a:ext cx="12192000" cy="717550"/>
          </a:xfrm>
          <a:prstGeom prst="rect">
            <a:avLst/>
          </a:prstGeom>
          <a:noFill/>
        </p:spPr>
        <p:txBody>
          <a:bodyPr wrap="square" lIns="0" tIns="0" rIns="0" bIns="0" rtlCol="0" anchor="t">
            <a:spAutoFit/>
          </a:bodyPr>
          <a:lstStyle/>
          <a:p>
            <a:pPr marL="0" indent="0" algn="ctr">
              <a:buNone/>
            </a:pPr>
            <a:r>
              <a:rPr lang="en-US" sz="4665" dirty="0">
                <a:solidFill>
                  <a:srgbClr val="E6EDF3"/>
                </a:solidFill>
                <a:latin typeface="Poppins ExtraBold" pitchFamily="34" charset="0"/>
                <a:ea typeface="Poppins ExtraBold" pitchFamily="34" charset="-122"/>
                <a:cs typeface="Poppins ExtraBold" pitchFamily="34" charset="-120"/>
              </a:rPr>
              <a:t>Modern Cryptography</a:t>
            </a:r>
            <a:endParaRPr lang="en-US" sz="4665" dirty="0"/>
          </a:p>
        </p:txBody>
      </p:sp>
      <p:sp>
        <p:nvSpPr>
          <p:cNvPr id="5" name="Text 2"/>
          <p:cNvSpPr/>
          <p:nvPr/>
        </p:nvSpPr>
        <p:spPr>
          <a:xfrm>
            <a:off x="0" y="3382156"/>
            <a:ext cx="12192000" cy="255905"/>
          </a:xfrm>
          <a:prstGeom prst="rect">
            <a:avLst/>
          </a:prstGeom>
          <a:noFill/>
        </p:spPr>
        <p:txBody>
          <a:bodyPr wrap="square" lIns="0" tIns="0" rIns="0" bIns="0" rtlCol="0" anchor="t">
            <a:spAutoFit/>
          </a:bodyPr>
          <a:lstStyle/>
          <a:p>
            <a:pPr marL="0" indent="0" algn="ctr">
              <a:buNone/>
            </a:pPr>
            <a:r>
              <a:rPr lang="en-US" sz="1665" kern="0" spc="3" dirty="0">
                <a:solidFill>
                  <a:srgbClr val="58A6FF"/>
                </a:solidFill>
                <a:latin typeface="JetBrains Mono Medium" pitchFamily="34" charset="0"/>
                <a:ea typeface="JetBrains Mono Medium" pitchFamily="34" charset="-122"/>
                <a:cs typeface="JetBrains Mono Medium" pitchFamily="34" charset="-120"/>
              </a:rPr>
              <a:t>AES · RSA · HASHING · SIGNATURES</a:t>
            </a:r>
            <a:endParaRPr lang="en-US" sz="1665" dirty="0"/>
          </a:p>
        </p:txBody>
      </p:sp>
      <p:sp>
        <p:nvSpPr>
          <p:cNvPr id="6" name="Shape 3"/>
          <p:cNvSpPr/>
          <p:nvPr/>
        </p:nvSpPr>
        <p:spPr>
          <a:xfrm>
            <a:off x="3762375" y="4522775"/>
            <a:ext cx="4667251" cy="1393812"/>
          </a:xfrm>
          <a:prstGeom prst="rect">
            <a:avLst/>
          </a:prstGeom>
          <a:solidFill>
            <a:srgbClr val="161B22"/>
          </a:solidFill>
          <a:ln w="9144">
            <a:solidFill>
              <a:srgbClr val="30363D"/>
            </a:solidFill>
            <a:prstDash val="solid"/>
          </a:ln>
        </p:spPr>
      </p:sp>
      <p:sp>
        <p:nvSpPr>
          <p:cNvPr id="7" name="Text 4"/>
          <p:cNvSpPr/>
          <p:nvPr/>
        </p:nvSpPr>
        <p:spPr>
          <a:xfrm>
            <a:off x="4152900" y="4722800"/>
            <a:ext cx="1719263" cy="174625"/>
          </a:xfrm>
          <a:prstGeom prst="rect">
            <a:avLst/>
          </a:prstGeom>
          <a:noFill/>
        </p:spPr>
        <p:txBody>
          <a:bodyPr wrap="square" lIns="0" tIns="0" rIns="0" bIns="0" rtlCol="0" anchor="t">
            <a:spAutoFit/>
          </a:bodyPr>
          <a:lstStyle/>
          <a:p>
            <a:pPr marL="0" indent="0" algn="l">
              <a:buNone/>
            </a:pPr>
            <a:r>
              <a:rPr lang="en-US" sz="1135" dirty="0">
                <a:solidFill>
                  <a:srgbClr val="8B949E"/>
                </a:solidFill>
                <a:latin typeface="JetBrains Mono Medium" pitchFamily="34" charset="0"/>
                <a:ea typeface="JetBrains Mono Medium" pitchFamily="34" charset="-122"/>
                <a:cs typeface="JetBrains Mono Medium" pitchFamily="34" charset="-120"/>
              </a:rPr>
              <a:t>Caesar Cipher Keys:</a:t>
            </a:r>
            <a:endParaRPr lang="en-US" sz="1135" dirty="0"/>
          </a:p>
        </p:txBody>
      </p:sp>
      <p:sp>
        <p:nvSpPr>
          <p:cNvPr id="8" name="Text 5"/>
          <p:cNvSpPr/>
          <p:nvPr/>
        </p:nvSpPr>
        <p:spPr>
          <a:xfrm>
            <a:off x="7858125" y="4722800"/>
            <a:ext cx="140970" cy="163830"/>
          </a:xfrm>
          <a:prstGeom prst="rect">
            <a:avLst/>
          </a:prstGeom>
          <a:noFill/>
        </p:spPr>
        <p:txBody>
          <a:bodyPr wrap="none" lIns="0" tIns="0" rIns="0" bIns="0" rtlCol="0" anchor="t">
            <a:spAutoFit/>
          </a:bodyPr>
          <a:lstStyle/>
          <a:p>
            <a:pPr marL="0" indent="0" algn="l">
              <a:buNone/>
            </a:pPr>
            <a:r>
              <a:rPr lang="en-US" sz="1065" b="1" dirty="0">
                <a:solidFill>
                  <a:srgbClr val="FF6B6B"/>
                </a:solidFill>
                <a:latin typeface="JetBrains Mono Medium" pitchFamily="34" charset="0"/>
                <a:ea typeface="JetBrains Mono Medium" pitchFamily="34" charset="-122"/>
                <a:cs typeface="JetBrains Mono Medium" pitchFamily="34" charset="-120"/>
              </a:rPr>
              <a:t>26</a:t>
            </a:r>
            <a:endParaRPr lang="en-US" sz="1065" dirty="0"/>
          </a:p>
        </p:txBody>
      </p:sp>
      <p:sp>
        <p:nvSpPr>
          <p:cNvPr id="9" name="Text 6"/>
          <p:cNvSpPr/>
          <p:nvPr/>
        </p:nvSpPr>
        <p:spPr>
          <a:xfrm>
            <a:off x="4152900" y="5018075"/>
            <a:ext cx="866775" cy="174625"/>
          </a:xfrm>
          <a:prstGeom prst="rect">
            <a:avLst/>
          </a:prstGeom>
          <a:noFill/>
        </p:spPr>
        <p:txBody>
          <a:bodyPr wrap="none" lIns="0" tIns="0" rIns="0" bIns="0" rtlCol="0" anchor="t">
            <a:spAutoFit/>
          </a:bodyPr>
          <a:lstStyle/>
          <a:p>
            <a:pPr marL="0" indent="0" algn="l">
              <a:buNone/>
            </a:pPr>
            <a:r>
              <a:rPr lang="en-US" sz="1135" dirty="0">
                <a:solidFill>
                  <a:srgbClr val="8B949E"/>
                </a:solidFill>
                <a:latin typeface="JetBrains Mono Medium" pitchFamily="34" charset="0"/>
                <a:ea typeface="JetBrains Mono Medium" pitchFamily="34" charset="-122"/>
                <a:cs typeface="JetBrains Mono Medium" pitchFamily="34" charset="-120"/>
              </a:rPr>
              <a:t>AES-256 Keys:</a:t>
            </a:r>
            <a:endParaRPr lang="en-US" sz="1135" dirty="0"/>
          </a:p>
        </p:txBody>
      </p:sp>
      <p:sp>
        <p:nvSpPr>
          <p:cNvPr id="10" name="Text 7"/>
          <p:cNvSpPr/>
          <p:nvPr/>
        </p:nvSpPr>
        <p:spPr>
          <a:xfrm>
            <a:off x="7720012" y="5045051"/>
            <a:ext cx="70485" cy="163830"/>
          </a:xfrm>
          <a:prstGeom prst="rect">
            <a:avLst/>
          </a:prstGeom>
          <a:noFill/>
        </p:spPr>
        <p:txBody>
          <a:bodyPr wrap="none" lIns="0" tIns="0" rIns="0" bIns="0" rtlCol="0" anchor="t">
            <a:spAutoFit/>
          </a:bodyPr>
          <a:lstStyle/>
          <a:p>
            <a:pPr marL="0" indent="0" algn="l">
              <a:buNone/>
            </a:pPr>
            <a:r>
              <a:rPr lang="en-US" sz="1065" b="1" dirty="0">
                <a:solidFill>
                  <a:srgbClr val="FF6B6B"/>
                </a:solidFill>
                <a:latin typeface="JetBrains Mono Medium" pitchFamily="34" charset="0"/>
                <a:ea typeface="JetBrains Mono Medium" pitchFamily="34" charset="-122"/>
                <a:cs typeface="JetBrains Mono Medium" pitchFamily="34" charset="-120"/>
              </a:rPr>
              <a:t>2</a:t>
            </a:r>
            <a:endParaRPr lang="en-US" sz="1065" dirty="0"/>
          </a:p>
        </p:txBody>
      </p:sp>
      <p:sp>
        <p:nvSpPr>
          <p:cNvPr id="11" name="Text 8"/>
          <p:cNvSpPr/>
          <p:nvPr/>
        </p:nvSpPr>
        <p:spPr>
          <a:xfrm>
            <a:off x="7810500" y="5018075"/>
            <a:ext cx="112395" cy="86360"/>
          </a:xfrm>
          <a:prstGeom prst="rect">
            <a:avLst/>
          </a:prstGeom>
          <a:noFill/>
        </p:spPr>
        <p:txBody>
          <a:bodyPr wrap="none" lIns="0" tIns="0" rIns="0" bIns="0" rtlCol="0" anchor="t">
            <a:spAutoFit/>
          </a:bodyPr>
          <a:lstStyle/>
          <a:p>
            <a:pPr marL="0" indent="0" algn="l">
              <a:buNone/>
            </a:pPr>
            <a:r>
              <a:rPr lang="en-US" sz="865" b="1" baseline="30000" dirty="0">
                <a:solidFill>
                  <a:srgbClr val="FF6B6B"/>
                </a:solidFill>
                <a:latin typeface="JetBrains Mono Medium" pitchFamily="34" charset="0"/>
                <a:ea typeface="JetBrains Mono Medium" pitchFamily="34" charset="-122"/>
                <a:cs typeface="JetBrains Mono Medium" pitchFamily="34" charset="-120"/>
              </a:rPr>
              <a:t>256</a:t>
            </a:r>
            <a:endParaRPr lang="en-US" sz="865" dirty="0"/>
          </a:p>
        </p:txBody>
      </p:sp>
      <p:sp>
        <p:nvSpPr>
          <p:cNvPr id="12" name="Text 9"/>
          <p:cNvSpPr/>
          <p:nvPr/>
        </p:nvSpPr>
        <p:spPr>
          <a:xfrm>
            <a:off x="4152900" y="5435575"/>
            <a:ext cx="3886200" cy="266700"/>
          </a:xfrm>
          <a:prstGeom prst="rect">
            <a:avLst/>
          </a:prstGeom>
          <a:noFill/>
        </p:spPr>
        <p:txBody>
          <a:bodyPr wrap="square" lIns="0" tIns="113453" rIns="0" bIns="0" rtlCol="0" anchor="t">
            <a:spAutoFit/>
          </a:bodyPr>
          <a:lstStyle/>
          <a:p>
            <a:pPr marL="0" indent="0" algn="l">
              <a:buNone/>
            </a:pPr>
            <a:r>
              <a:rPr lang="en-US" sz="1000" dirty="0">
                <a:solidFill>
                  <a:srgbClr val="8B949E"/>
                </a:solidFill>
                <a:latin typeface="JetBrains Mono Medium" pitchFamily="34" charset="0"/>
                <a:ea typeface="JetBrains Mono Medium" pitchFamily="34" charset="-122"/>
                <a:cs typeface="JetBrains Mono Medium" pitchFamily="34" charset="-120"/>
              </a:rPr>
              <a:t>The jump from ancient to modern is astronomical.</a:t>
            </a:r>
            <a:endParaRPr lang="en-US" sz="1000"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905625"/>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52 | EWUCSC</a:t>
            </a:r>
            <a:endParaRPr lang="en-US" sz="1265" dirty="0"/>
          </a:p>
        </p:txBody>
      </p:sp>
      <p:sp>
        <p:nvSpPr>
          <p:cNvPr id="7" name="Text 4"/>
          <p:cNvSpPr/>
          <p:nvPr/>
        </p:nvSpPr>
        <p:spPr>
          <a:xfrm>
            <a:off x="381000" y="952500"/>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Symmetric vs Asymmetric</a:t>
            </a:r>
            <a:endParaRPr lang="en-US" sz="2800" dirty="0"/>
          </a:p>
        </p:txBody>
      </p:sp>
      <p:sp>
        <p:nvSpPr>
          <p:cNvPr id="8" name="Shape 5"/>
          <p:cNvSpPr/>
          <p:nvPr/>
        </p:nvSpPr>
        <p:spPr>
          <a:xfrm>
            <a:off x="381000" y="1838325"/>
            <a:ext cx="5524500" cy="4000500"/>
          </a:xfrm>
          <a:prstGeom prst="rect">
            <a:avLst/>
          </a:prstGeom>
          <a:solidFill>
            <a:srgbClr val="161B22"/>
          </a:solidFill>
          <a:ln w="9144">
            <a:solidFill>
              <a:srgbClr val="30363D"/>
            </a:solidFill>
            <a:prstDash val="solid"/>
          </a:ln>
        </p:spPr>
      </p:sp>
      <p:pic>
        <p:nvPicPr>
          <p:cNvPr id="9" name="Image 1" descr="preencoded.png"/>
          <p:cNvPicPr>
            <a:picLocks noChangeAspect="1"/>
          </p:cNvPicPr>
          <p:nvPr/>
        </p:nvPicPr>
        <p:blipFill>
          <a:blip r:embed="rId2"/>
          <a:stretch>
            <a:fillRect/>
          </a:stretch>
        </p:blipFill>
        <p:spPr>
          <a:xfrm>
            <a:off x="666751" y="2171700"/>
            <a:ext cx="304800" cy="304800"/>
          </a:xfrm>
          <a:prstGeom prst="rect">
            <a:avLst/>
          </a:prstGeom>
        </p:spPr>
      </p:pic>
      <p:sp>
        <p:nvSpPr>
          <p:cNvPr id="10" name="Text 6"/>
          <p:cNvSpPr/>
          <p:nvPr/>
        </p:nvSpPr>
        <p:spPr>
          <a:xfrm>
            <a:off x="1114425" y="2124075"/>
            <a:ext cx="2316956" cy="307340"/>
          </a:xfrm>
          <a:prstGeom prst="rect">
            <a:avLst/>
          </a:prstGeom>
          <a:noFill/>
        </p:spPr>
        <p:txBody>
          <a:bodyPr wrap="square" lIns="0" tIns="0" rIns="0" bIns="0" rtlCol="0" anchor="t">
            <a:spAutoFit/>
          </a:bodyPr>
          <a:lstStyle/>
          <a:p>
            <a:pPr marL="0" indent="0" algn="l">
              <a:buNone/>
            </a:pPr>
            <a:r>
              <a:rPr lang="en-US" sz="2000" dirty="0">
                <a:solidFill>
                  <a:srgbClr val="58A6FF"/>
                </a:solidFill>
                <a:latin typeface="Poppins SemiBold" pitchFamily="34" charset="0"/>
                <a:ea typeface="Poppins SemiBold" pitchFamily="34" charset="-122"/>
                <a:cs typeface="Poppins SemiBold" pitchFamily="34" charset="-120"/>
              </a:rPr>
              <a:t>Symmetric (AES)</a:t>
            </a:r>
            <a:endParaRPr lang="en-US" sz="2000" dirty="0"/>
          </a:p>
        </p:txBody>
      </p:sp>
      <p:sp>
        <p:nvSpPr>
          <p:cNvPr id="11" name="Shape 7"/>
          <p:cNvSpPr/>
          <p:nvPr/>
        </p:nvSpPr>
        <p:spPr>
          <a:xfrm>
            <a:off x="666751" y="2714625"/>
            <a:ext cx="4953000" cy="719137"/>
          </a:xfrm>
          <a:prstGeom prst="rect">
            <a:avLst/>
          </a:prstGeom>
          <a:solidFill>
            <a:srgbClr val="0D1117"/>
          </a:solidFill>
        </p:spPr>
      </p:sp>
      <p:sp>
        <p:nvSpPr>
          <p:cNvPr id="12" name="Shape 8"/>
          <p:cNvSpPr/>
          <p:nvPr/>
        </p:nvSpPr>
        <p:spPr>
          <a:xfrm>
            <a:off x="666751" y="2714625"/>
            <a:ext cx="38100" cy="719137"/>
          </a:xfrm>
          <a:prstGeom prst="rect">
            <a:avLst/>
          </a:prstGeom>
          <a:solidFill>
            <a:srgbClr val="58A6FF"/>
          </a:solidFill>
        </p:spPr>
      </p:sp>
      <p:sp>
        <p:nvSpPr>
          <p:cNvPr id="13" name="Text 9"/>
          <p:cNvSpPr/>
          <p:nvPr/>
        </p:nvSpPr>
        <p:spPr>
          <a:xfrm>
            <a:off x="809625" y="2857500"/>
            <a:ext cx="4667251"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THE HOUSE ANALOGY</a:t>
            </a:r>
            <a:endParaRPr lang="en-US" sz="1000" dirty="0"/>
          </a:p>
        </p:txBody>
      </p:sp>
      <p:sp>
        <p:nvSpPr>
          <p:cNvPr id="14" name="Text 10"/>
          <p:cNvSpPr/>
          <p:nvPr/>
        </p:nvSpPr>
        <p:spPr>
          <a:xfrm>
            <a:off x="809625" y="3067051"/>
            <a:ext cx="4667251" cy="34988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Inter" pitchFamily="34" charset="0"/>
                <a:ea typeface="Inter" pitchFamily="34" charset="-122"/>
                <a:cs typeface="Inter" pitchFamily="34" charset="-120"/>
              </a:rPr>
              <a:t>One physical key that locks and unlocks the front door. Both you and your friend must have a copy.</a:t>
            </a:r>
            <a:endParaRPr lang="en-US" sz="1135" dirty="0"/>
          </a:p>
        </p:txBody>
      </p:sp>
      <p:pic>
        <p:nvPicPr>
          <p:cNvPr id="15" name="Image 2" descr="preencoded.png"/>
          <p:cNvPicPr>
            <a:picLocks noChangeAspect="1"/>
          </p:cNvPicPr>
          <p:nvPr/>
        </p:nvPicPr>
        <p:blipFill>
          <a:blip r:embed="rId3"/>
          <a:stretch>
            <a:fillRect/>
          </a:stretch>
        </p:blipFill>
        <p:spPr>
          <a:xfrm>
            <a:off x="666751" y="3662363"/>
            <a:ext cx="100012" cy="188565"/>
          </a:xfrm>
          <a:prstGeom prst="rect">
            <a:avLst/>
          </a:prstGeom>
        </p:spPr>
      </p:pic>
      <p:sp>
        <p:nvSpPr>
          <p:cNvPr id="16" name="Text 11"/>
          <p:cNvSpPr/>
          <p:nvPr/>
        </p:nvSpPr>
        <p:spPr>
          <a:xfrm>
            <a:off x="862012" y="3624263"/>
            <a:ext cx="2707005" cy="206375"/>
          </a:xfrm>
          <a:prstGeom prst="rect">
            <a:avLst/>
          </a:prstGeom>
          <a:noFill/>
        </p:spPr>
        <p:txBody>
          <a:bodyPr wrap="none" lIns="0" tIns="0" rIns="0" bIns="0" rtlCol="0" anchor="t">
            <a:spAutoFit/>
          </a:bodyPr>
          <a:lstStyle/>
          <a:p>
            <a:pPr marL="0" indent="0" algn="l">
              <a:lnSpc>
                <a:spcPct val="112000"/>
              </a:lnSpc>
              <a:buNone/>
            </a:pPr>
            <a:r>
              <a:rPr lang="en-US" sz="1135" b="1" dirty="0">
                <a:solidFill>
                  <a:srgbClr val="E6EDF3"/>
                </a:solidFill>
                <a:latin typeface="Inter" pitchFamily="34" charset="0"/>
                <a:ea typeface="Inter" pitchFamily="34" charset="-122"/>
                <a:cs typeface="Inter" pitchFamily="34" charset="-120"/>
              </a:rPr>
              <a:t>Fast:</a:t>
            </a:r>
            <a:r>
              <a:rPr lang="en-US" sz="1200" dirty="0">
                <a:solidFill>
                  <a:srgbClr val="E6EDF3"/>
                </a:solidFill>
                <a:latin typeface="Inter" pitchFamily="34" charset="0"/>
                <a:ea typeface="Inter" pitchFamily="34" charset="-122"/>
                <a:cs typeface="Inter" pitchFamily="34" charset="-120"/>
              </a:rPr>
              <a:t> Optimized for bulk data encryption.</a:t>
            </a:r>
            <a:endParaRPr lang="en-US" sz="1135" dirty="0"/>
          </a:p>
        </p:txBody>
      </p:sp>
      <p:pic>
        <p:nvPicPr>
          <p:cNvPr id="17" name="Image 3" descr="preencoded.png"/>
          <p:cNvPicPr>
            <a:picLocks noChangeAspect="1"/>
          </p:cNvPicPr>
          <p:nvPr/>
        </p:nvPicPr>
        <p:blipFill>
          <a:blip r:embed="rId4"/>
          <a:stretch>
            <a:fillRect/>
          </a:stretch>
        </p:blipFill>
        <p:spPr>
          <a:xfrm>
            <a:off x="666751" y="4003328"/>
            <a:ext cx="133351" cy="415231"/>
          </a:xfrm>
          <a:prstGeom prst="rect">
            <a:avLst/>
          </a:prstGeom>
        </p:spPr>
      </p:pic>
      <p:sp>
        <p:nvSpPr>
          <p:cNvPr id="18" name="Text 12"/>
          <p:cNvSpPr/>
          <p:nvPr/>
        </p:nvSpPr>
        <p:spPr>
          <a:xfrm>
            <a:off x="895351" y="3965228"/>
            <a:ext cx="4724400" cy="412750"/>
          </a:xfrm>
          <a:prstGeom prst="rect">
            <a:avLst/>
          </a:prstGeom>
          <a:noFill/>
        </p:spPr>
        <p:txBody>
          <a:bodyPr wrap="square" lIns="0" tIns="0" rIns="0" bIns="0" rtlCol="0" anchor="t">
            <a:spAutoFit/>
          </a:bodyPr>
          <a:lstStyle/>
          <a:p>
            <a:pPr marL="0" indent="0" algn="l">
              <a:lnSpc>
                <a:spcPct val="112000"/>
              </a:lnSpc>
              <a:buNone/>
            </a:pPr>
            <a:r>
              <a:rPr lang="en-US" sz="1135" b="1" dirty="0">
                <a:solidFill>
                  <a:srgbClr val="E6EDF3"/>
                </a:solidFill>
                <a:latin typeface="Inter" pitchFamily="34" charset="0"/>
                <a:ea typeface="Inter" pitchFamily="34" charset="-122"/>
                <a:cs typeface="Inter" pitchFamily="34" charset="-120"/>
              </a:rPr>
              <a:t>The Problem:</a:t>
            </a:r>
            <a:r>
              <a:rPr lang="en-US" sz="1200" dirty="0">
                <a:solidFill>
                  <a:srgbClr val="E6EDF3"/>
                </a:solidFill>
                <a:latin typeface="Inter" pitchFamily="34" charset="0"/>
                <a:ea typeface="Inter" pitchFamily="34" charset="-122"/>
                <a:cs typeface="Inter" pitchFamily="34" charset="-120"/>
              </a:rPr>
              <a:t> How do you share the key safely without an attacker intercepting it?</a:t>
            </a:r>
            <a:endParaRPr lang="en-US" sz="1135" dirty="0"/>
          </a:p>
        </p:txBody>
      </p:sp>
      <p:pic>
        <p:nvPicPr>
          <p:cNvPr id="19" name="Image 4" descr="preencoded.png"/>
          <p:cNvPicPr>
            <a:picLocks noChangeAspect="1"/>
          </p:cNvPicPr>
          <p:nvPr/>
        </p:nvPicPr>
        <p:blipFill>
          <a:blip r:embed="rId5"/>
          <a:stretch>
            <a:fillRect/>
          </a:stretch>
        </p:blipFill>
        <p:spPr>
          <a:xfrm>
            <a:off x="666751" y="4570959"/>
            <a:ext cx="166688" cy="188565"/>
          </a:xfrm>
          <a:prstGeom prst="rect">
            <a:avLst/>
          </a:prstGeom>
        </p:spPr>
      </p:pic>
      <p:sp>
        <p:nvSpPr>
          <p:cNvPr id="20" name="Text 13"/>
          <p:cNvSpPr/>
          <p:nvPr/>
        </p:nvSpPr>
        <p:spPr>
          <a:xfrm>
            <a:off x="928688" y="4532859"/>
            <a:ext cx="1972945" cy="206375"/>
          </a:xfrm>
          <a:prstGeom prst="rect">
            <a:avLst/>
          </a:prstGeom>
          <a:noFill/>
        </p:spPr>
        <p:txBody>
          <a:bodyPr wrap="none" lIns="0" tIns="0" rIns="0" bIns="0" rtlCol="0" anchor="t">
            <a:spAutoFit/>
          </a:bodyPr>
          <a:lstStyle/>
          <a:p>
            <a:pPr marL="0" indent="0" algn="l">
              <a:lnSpc>
                <a:spcPct val="112000"/>
              </a:lnSpc>
              <a:buNone/>
            </a:pPr>
            <a:r>
              <a:rPr lang="en-US" sz="1135" b="1" dirty="0">
                <a:solidFill>
                  <a:srgbClr val="E6EDF3"/>
                </a:solidFill>
                <a:latin typeface="Inter" pitchFamily="34" charset="0"/>
                <a:ea typeface="Inter" pitchFamily="34" charset="-122"/>
                <a:cs typeface="Inter" pitchFamily="34" charset="-120"/>
              </a:rPr>
              <a:t>Common:</a:t>
            </a:r>
            <a:r>
              <a:rPr lang="en-US" sz="1200" dirty="0">
                <a:solidFill>
                  <a:srgbClr val="E6EDF3"/>
                </a:solidFill>
                <a:latin typeface="Inter" pitchFamily="34" charset="0"/>
                <a:ea typeface="Inter" pitchFamily="34" charset="-122"/>
                <a:cs typeface="Inter" pitchFamily="34" charset="-120"/>
              </a:rPr>
              <a:t> AES, DES, ChaCha20.</a:t>
            </a:r>
            <a:endParaRPr lang="en-US" sz="1135" dirty="0"/>
          </a:p>
        </p:txBody>
      </p:sp>
      <p:sp>
        <p:nvSpPr>
          <p:cNvPr id="21" name="Shape 14"/>
          <p:cNvSpPr/>
          <p:nvPr/>
        </p:nvSpPr>
        <p:spPr>
          <a:xfrm>
            <a:off x="6286500" y="1838325"/>
            <a:ext cx="5524500" cy="4000500"/>
          </a:xfrm>
          <a:prstGeom prst="rect">
            <a:avLst/>
          </a:prstGeom>
          <a:solidFill>
            <a:srgbClr val="161B22"/>
          </a:solidFill>
          <a:ln w="9144">
            <a:solidFill>
              <a:srgbClr val="30363D"/>
            </a:solidFill>
            <a:prstDash val="solid"/>
          </a:ln>
        </p:spPr>
      </p:sp>
      <p:pic>
        <p:nvPicPr>
          <p:cNvPr id="22" name="Image 5" descr="preencoded.png"/>
          <p:cNvPicPr>
            <a:picLocks noChangeAspect="1"/>
          </p:cNvPicPr>
          <p:nvPr/>
        </p:nvPicPr>
        <p:blipFill>
          <a:blip r:embed="rId6"/>
          <a:stretch>
            <a:fillRect/>
          </a:stretch>
        </p:blipFill>
        <p:spPr>
          <a:xfrm>
            <a:off x="6572251" y="2171700"/>
            <a:ext cx="304800" cy="304800"/>
          </a:xfrm>
          <a:prstGeom prst="rect">
            <a:avLst/>
          </a:prstGeom>
        </p:spPr>
      </p:pic>
      <p:sp>
        <p:nvSpPr>
          <p:cNvPr id="23" name="Text 15"/>
          <p:cNvSpPr/>
          <p:nvPr/>
        </p:nvSpPr>
        <p:spPr>
          <a:xfrm>
            <a:off x="7019925" y="2124075"/>
            <a:ext cx="2519363" cy="307340"/>
          </a:xfrm>
          <a:prstGeom prst="rect">
            <a:avLst/>
          </a:prstGeom>
          <a:noFill/>
        </p:spPr>
        <p:txBody>
          <a:bodyPr wrap="square" lIns="0" tIns="0" rIns="0" bIns="0" rtlCol="0" anchor="t">
            <a:spAutoFit/>
          </a:bodyPr>
          <a:lstStyle/>
          <a:p>
            <a:pPr marL="0" indent="0" algn="l">
              <a:buNone/>
            </a:pPr>
            <a:r>
              <a:rPr lang="en-US" sz="2000" dirty="0">
                <a:solidFill>
                  <a:srgbClr val="FF6B6B"/>
                </a:solidFill>
                <a:latin typeface="Poppins SemiBold" pitchFamily="34" charset="0"/>
                <a:ea typeface="Poppins SemiBold" pitchFamily="34" charset="-122"/>
                <a:cs typeface="Poppins SemiBold" pitchFamily="34" charset="-120"/>
              </a:rPr>
              <a:t>Asymmetric (RSA)</a:t>
            </a:r>
            <a:endParaRPr lang="en-US" sz="2000" dirty="0"/>
          </a:p>
        </p:txBody>
      </p:sp>
      <p:sp>
        <p:nvSpPr>
          <p:cNvPr id="24" name="Shape 16"/>
          <p:cNvSpPr/>
          <p:nvPr/>
        </p:nvSpPr>
        <p:spPr>
          <a:xfrm>
            <a:off x="6572251" y="2714625"/>
            <a:ext cx="4953000" cy="719137"/>
          </a:xfrm>
          <a:prstGeom prst="rect">
            <a:avLst/>
          </a:prstGeom>
          <a:solidFill>
            <a:srgbClr val="0D1117"/>
          </a:solidFill>
        </p:spPr>
      </p:sp>
      <p:sp>
        <p:nvSpPr>
          <p:cNvPr id="25" name="Shape 17"/>
          <p:cNvSpPr/>
          <p:nvPr/>
        </p:nvSpPr>
        <p:spPr>
          <a:xfrm>
            <a:off x="6572251" y="2714625"/>
            <a:ext cx="38100" cy="719137"/>
          </a:xfrm>
          <a:prstGeom prst="rect">
            <a:avLst/>
          </a:prstGeom>
          <a:solidFill>
            <a:srgbClr val="FF6B6B"/>
          </a:solidFill>
        </p:spPr>
      </p:sp>
      <p:sp>
        <p:nvSpPr>
          <p:cNvPr id="26" name="Text 18"/>
          <p:cNvSpPr/>
          <p:nvPr/>
        </p:nvSpPr>
        <p:spPr>
          <a:xfrm>
            <a:off x="6715125" y="2857500"/>
            <a:ext cx="4667251"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THE MAILBOX ANALOGY</a:t>
            </a:r>
            <a:endParaRPr lang="en-US" sz="1000" dirty="0"/>
          </a:p>
        </p:txBody>
      </p:sp>
      <p:sp>
        <p:nvSpPr>
          <p:cNvPr id="27" name="Text 19"/>
          <p:cNvSpPr/>
          <p:nvPr/>
        </p:nvSpPr>
        <p:spPr>
          <a:xfrm>
            <a:off x="6715125" y="3067051"/>
            <a:ext cx="4667251" cy="34988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Inter" pitchFamily="34" charset="0"/>
                <a:ea typeface="Inter" pitchFamily="34" charset="-122"/>
                <a:cs typeface="Inter" pitchFamily="34" charset="-120"/>
              </a:rPr>
              <a:t>A public mailbox where anyone can drop mail (Public Key), but only the owner has the key to open it (Private Key).</a:t>
            </a:r>
            <a:endParaRPr lang="en-US" sz="1135" dirty="0"/>
          </a:p>
        </p:txBody>
      </p:sp>
      <p:pic>
        <p:nvPicPr>
          <p:cNvPr id="28" name="Image 6" descr="preencoded.png"/>
          <p:cNvPicPr>
            <a:picLocks noChangeAspect="1"/>
          </p:cNvPicPr>
          <p:nvPr/>
        </p:nvPicPr>
        <p:blipFill>
          <a:blip r:embed="rId7"/>
          <a:stretch>
            <a:fillRect/>
          </a:stretch>
        </p:blipFill>
        <p:spPr>
          <a:xfrm>
            <a:off x="6572251" y="3662363"/>
            <a:ext cx="133351" cy="188565"/>
          </a:xfrm>
          <a:prstGeom prst="rect">
            <a:avLst/>
          </a:prstGeom>
        </p:spPr>
      </p:pic>
      <p:sp>
        <p:nvSpPr>
          <p:cNvPr id="29" name="Text 20"/>
          <p:cNvSpPr/>
          <p:nvPr/>
        </p:nvSpPr>
        <p:spPr>
          <a:xfrm>
            <a:off x="6800851" y="3624263"/>
            <a:ext cx="3427730" cy="206375"/>
          </a:xfrm>
          <a:prstGeom prst="rect">
            <a:avLst/>
          </a:prstGeom>
          <a:noFill/>
        </p:spPr>
        <p:txBody>
          <a:bodyPr wrap="none" lIns="0" tIns="0" rIns="0" bIns="0" rtlCol="0" anchor="t">
            <a:spAutoFit/>
          </a:bodyPr>
          <a:lstStyle/>
          <a:p>
            <a:pPr marL="0" indent="0" algn="l">
              <a:lnSpc>
                <a:spcPct val="112000"/>
              </a:lnSpc>
              <a:buNone/>
            </a:pPr>
            <a:r>
              <a:rPr lang="en-US" sz="1135" b="1" dirty="0">
                <a:solidFill>
                  <a:srgbClr val="E6EDF3"/>
                </a:solidFill>
                <a:latin typeface="Inter" pitchFamily="34" charset="0"/>
                <a:ea typeface="Inter" pitchFamily="34" charset="-122"/>
                <a:cs typeface="Inter" pitchFamily="34" charset="-120"/>
              </a:rPr>
              <a:t>Secure Sharing:</a:t>
            </a:r>
            <a:r>
              <a:rPr lang="en-US" sz="1200" dirty="0">
                <a:solidFill>
                  <a:srgbClr val="E6EDF3"/>
                </a:solidFill>
                <a:latin typeface="Inter" pitchFamily="34" charset="0"/>
                <a:ea typeface="Inter" pitchFamily="34" charset="-122"/>
                <a:cs typeface="Inter" pitchFamily="34" charset="-120"/>
              </a:rPr>
              <a:t> Solves the key distribution problem.</a:t>
            </a:r>
            <a:endParaRPr lang="en-US" sz="1135" dirty="0"/>
          </a:p>
        </p:txBody>
      </p:sp>
      <p:pic>
        <p:nvPicPr>
          <p:cNvPr id="30" name="Image 7" descr="preencoded.png"/>
          <p:cNvPicPr>
            <a:picLocks noChangeAspect="1"/>
          </p:cNvPicPr>
          <p:nvPr/>
        </p:nvPicPr>
        <p:blipFill>
          <a:blip r:embed="rId8"/>
          <a:stretch>
            <a:fillRect/>
          </a:stretch>
        </p:blipFill>
        <p:spPr>
          <a:xfrm>
            <a:off x="6572251" y="4003328"/>
            <a:ext cx="100012" cy="188565"/>
          </a:xfrm>
          <a:prstGeom prst="rect">
            <a:avLst/>
          </a:prstGeom>
        </p:spPr>
      </p:pic>
      <p:sp>
        <p:nvSpPr>
          <p:cNvPr id="31" name="Text 21"/>
          <p:cNvSpPr/>
          <p:nvPr/>
        </p:nvSpPr>
        <p:spPr>
          <a:xfrm>
            <a:off x="6767512" y="3965228"/>
            <a:ext cx="3418205" cy="206375"/>
          </a:xfrm>
          <a:prstGeom prst="rect">
            <a:avLst/>
          </a:prstGeom>
          <a:noFill/>
        </p:spPr>
        <p:txBody>
          <a:bodyPr wrap="none" lIns="0" tIns="0" rIns="0" bIns="0" rtlCol="0" anchor="t">
            <a:spAutoFit/>
          </a:bodyPr>
          <a:lstStyle/>
          <a:p>
            <a:pPr marL="0" indent="0" algn="l">
              <a:lnSpc>
                <a:spcPct val="112000"/>
              </a:lnSpc>
              <a:buNone/>
            </a:pPr>
            <a:r>
              <a:rPr lang="en-US" sz="1135" b="1" dirty="0">
                <a:solidFill>
                  <a:srgbClr val="E6EDF3"/>
                </a:solidFill>
                <a:latin typeface="Inter" pitchFamily="34" charset="0"/>
                <a:ea typeface="Inter" pitchFamily="34" charset="-122"/>
                <a:cs typeface="Inter" pitchFamily="34" charset="-120"/>
              </a:rPr>
              <a:t>Slow:</a:t>
            </a:r>
            <a:r>
              <a:rPr lang="en-US" sz="1200" dirty="0">
                <a:solidFill>
                  <a:srgbClr val="E6EDF3"/>
                </a:solidFill>
                <a:latin typeface="Inter" pitchFamily="34" charset="0"/>
                <a:ea typeface="Inter" pitchFamily="34" charset="-122"/>
                <a:cs typeface="Inter" pitchFamily="34" charset="-120"/>
              </a:rPr>
              <a:t> Computationally expensive; not for large files.</a:t>
            </a:r>
            <a:endParaRPr lang="en-US" sz="1135" dirty="0"/>
          </a:p>
        </p:txBody>
      </p:sp>
      <p:pic>
        <p:nvPicPr>
          <p:cNvPr id="32" name="Image 8" descr="preencoded.png"/>
          <p:cNvPicPr>
            <a:picLocks noChangeAspect="1"/>
          </p:cNvPicPr>
          <p:nvPr/>
        </p:nvPicPr>
        <p:blipFill>
          <a:blip r:embed="rId9"/>
          <a:stretch>
            <a:fillRect/>
          </a:stretch>
        </p:blipFill>
        <p:spPr>
          <a:xfrm>
            <a:off x="6572251" y="4344293"/>
            <a:ext cx="166688" cy="188565"/>
          </a:xfrm>
          <a:prstGeom prst="rect">
            <a:avLst/>
          </a:prstGeom>
        </p:spPr>
      </p:pic>
      <p:sp>
        <p:nvSpPr>
          <p:cNvPr id="33" name="Text 22"/>
          <p:cNvSpPr/>
          <p:nvPr/>
        </p:nvSpPr>
        <p:spPr>
          <a:xfrm>
            <a:off x="6834188" y="4306193"/>
            <a:ext cx="2286000" cy="206375"/>
          </a:xfrm>
          <a:prstGeom prst="rect">
            <a:avLst/>
          </a:prstGeom>
          <a:noFill/>
        </p:spPr>
        <p:txBody>
          <a:bodyPr wrap="none" lIns="0" tIns="0" rIns="0" bIns="0" rtlCol="0" anchor="t">
            <a:spAutoFit/>
          </a:bodyPr>
          <a:lstStyle/>
          <a:p>
            <a:pPr marL="0" indent="0" algn="l">
              <a:lnSpc>
                <a:spcPct val="112000"/>
              </a:lnSpc>
              <a:buNone/>
            </a:pPr>
            <a:r>
              <a:rPr lang="en-US" sz="1135" b="1" dirty="0">
                <a:solidFill>
                  <a:srgbClr val="E6EDF3"/>
                </a:solidFill>
                <a:latin typeface="Inter" pitchFamily="34" charset="0"/>
                <a:ea typeface="Inter" pitchFamily="34" charset="-122"/>
                <a:cs typeface="Inter" pitchFamily="34" charset="-120"/>
              </a:rPr>
              <a:t>Common:</a:t>
            </a:r>
            <a:r>
              <a:rPr lang="en-US" sz="1200" dirty="0">
                <a:solidFill>
                  <a:srgbClr val="E6EDF3"/>
                </a:solidFill>
                <a:latin typeface="Inter" pitchFamily="34" charset="0"/>
                <a:ea typeface="Inter" pitchFamily="34" charset="-122"/>
                <a:cs typeface="Inter" pitchFamily="34" charset="-120"/>
              </a:rPr>
              <a:t> RSA, ECC, Diffie-Hellman.</a:t>
            </a:r>
            <a:endParaRPr lang="en-US" sz="1135" dirty="0"/>
          </a:p>
        </p:txBody>
      </p:sp>
      <p:sp>
        <p:nvSpPr>
          <p:cNvPr id="34" name="Shape 23"/>
          <p:cNvSpPr/>
          <p:nvPr/>
        </p:nvSpPr>
        <p:spPr>
          <a:xfrm>
            <a:off x="381000" y="6124575"/>
            <a:ext cx="11430000" cy="781051"/>
          </a:xfrm>
          <a:prstGeom prst="rect">
            <a:avLst/>
          </a:prstGeom>
          <a:solidFill>
            <a:srgbClr val="E3B341">
              <a:alpha val="10000"/>
            </a:srgbClr>
          </a:solidFill>
          <a:ln w="9144">
            <a:solidFill>
              <a:srgbClr val="E3B341"/>
            </a:solidFill>
            <a:prstDash val="solid"/>
          </a:ln>
        </p:spPr>
      </p:sp>
      <p:pic>
        <p:nvPicPr>
          <p:cNvPr id="35" name="Image 9" descr="preencoded.png"/>
          <p:cNvPicPr>
            <a:picLocks noChangeAspect="1"/>
          </p:cNvPicPr>
          <p:nvPr/>
        </p:nvPicPr>
        <p:blipFill>
          <a:blip r:embed="rId10"/>
          <a:stretch>
            <a:fillRect/>
          </a:stretch>
        </p:blipFill>
        <p:spPr>
          <a:xfrm>
            <a:off x="571500" y="6505575"/>
            <a:ext cx="142875" cy="190500"/>
          </a:xfrm>
          <a:prstGeom prst="rect">
            <a:avLst/>
          </a:prstGeom>
        </p:spPr>
      </p:pic>
      <p:sp>
        <p:nvSpPr>
          <p:cNvPr id="36" name="Text 24"/>
          <p:cNvSpPr/>
          <p:nvPr/>
        </p:nvSpPr>
        <p:spPr>
          <a:xfrm>
            <a:off x="857251" y="6315075"/>
            <a:ext cx="10763251" cy="430530"/>
          </a:xfrm>
          <a:prstGeom prst="rect">
            <a:avLst/>
          </a:prstGeom>
          <a:noFill/>
        </p:spPr>
        <p:txBody>
          <a:bodyPr wrap="square" lIns="0" tIns="0" rIns="0" bIns="0" rtlCol="0" anchor="t">
            <a:spAutoFit/>
          </a:bodyPr>
          <a:lstStyle/>
          <a:p>
            <a:pPr marL="0" indent="0" algn="l">
              <a:buNone/>
            </a:pPr>
            <a:r>
              <a:rPr lang="en-US" sz="1335" b="1" dirty="0">
                <a:solidFill>
                  <a:srgbClr val="E3B341"/>
                </a:solidFill>
                <a:latin typeface="Poppins SemiBold" pitchFamily="34" charset="0"/>
                <a:ea typeface="Poppins SemiBold" pitchFamily="34" charset="-122"/>
                <a:cs typeface="Poppins SemiBold" pitchFamily="34" charset="-120"/>
              </a:rPr>
              <a:t>The Real World:</a:t>
            </a:r>
            <a:r>
              <a:rPr lang="en-US" sz="1400" dirty="0">
                <a:solidFill>
                  <a:srgbClr val="E3B341"/>
                </a:solidFill>
                <a:latin typeface="Poppins SemiBold" pitchFamily="34" charset="0"/>
                <a:ea typeface="Poppins SemiBold" pitchFamily="34" charset="-122"/>
                <a:cs typeface="Poppins SemiBold" pitchFamily="34" charset="-120"/>
              </a:rPr>
              <a:t> HTTPS uses </a:t>
            </a:r>
            <a:r>
              <a:rPr lang="en-US" sz="1335" b="1" dirty="0">
                <a:solidFill>
                  <a:srgbClr val="E3B341"/>
                </a:solidFill>
                <a:latin typeface="Poppins SemiBold" pitchFamily="34" charset="0"/>
                <a:ea typeface="Poppins SemiBold" pitchFamily="34" charset="-122"/>
                <a:cs typeface="Poppins SemiBold" pitchFamily="34" charset="-120"/>
              </a:rPr>
              <a:t>BOTH</a:t>
            </a:r>
            <a:r>
              <a:rPr lang="en-US" sz="1400" dirty="0">
                <a:solidFill>
                  <a:srgbClr val="E3B341"/>
                </a:solidFill>
                <a:latin typeface="Poppins SemiBold" pitchFamily="34" charset="0"/>
                <a:ea typeface="Poppins SemiBold" pitchFamily="34" charset="-122"/>
                <a:cs typeface="Poppins SemiBold" pitchFamily="34" charset="-120"/>
              </a:rPr>
              <a:t>. RSA (Asymmetric) is used to safely share a temporary AES key, which is then used for the actual fast data transfer.</a:t>
            </a:r>
            <a:endParaRPr lang="en-US" sz="133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53 | EWUCSC</a:t>
            </a:r>
            <a:endParaRPr lang="en-US" sz="1265" dirty="0"/>
          </a:p>
        </p:txBody>
      </p:sp>
      <p:sp>
        <p:nvSpPr>
          <p:cNvPr id="7" name="Text 4"/>
          <p:cNvSpPr/>
          <p:nvPr/>
        </p:nvSpPr>
        <p:spPr>
          <a:xfrm>
            <a:off x="381000" y="952500"/>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AES: How It Works (Conceptual)</a:t>
            </a:r>
            <a:endParaRPr lang="en-US" sz="2800" dirty="0"/>
          </a:p>
        </p:txBody>
      </p:sp>
      <p:sp>
        <p:nvSpPr>
          <p:cNvPr id="8" name="Text 5"/>
          <p:cNvSpPr/>
          <p:nvPr/>
        </p:nvSpPr>
        <p:spPr>
          <a:xfrm>
            <a:off x="381000" y="1838325"/>
            <a:ext cx="11430000" cy="49974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8B949E"/>
                </a:solidFill>
                <a:latin typeface="Inter" pitchFamily="34" charset="0"/>
                <a:ea typeface="Inter" pitchFamily="34" charset="-122"/>
                <a:cs typeface="Inter" pitchFamily="34" charset="-120"/>
              </a:rPr>
              <a:t>The </a:t>
            </a:r>
            <a:r>
              <a:rPr lang="en-US" sz="1200" b="1" dirty="0">
                <a:solidFill>
                  <a:srgbClr val="8B949E"/>
                </a:solidFill>
                <a:latin typeface="Inter" pitchFamily="34" charset="0"/>
                <a:ea typeface="Inter" pitchFamily="34" charset="-122"/>
                <a:cs typeface="Inter" pitchFamily="34" charset="-120"/>
              </a:rPr>
              <a:t>Advanced Encryption Standard (AES)</a:t>
            </a:r>
            <a:r>
              <a:rPr lang="en-US" sz="1265" dirty="0">
                <a:solidFill>
                  <a:srgbClr val="8B949E"/>
                </a:solidFill>
                <a:latin typeface="Inter" pitchFamily="34" charset="0"/>
                <a:ea typeface="Inter" pitchFamily="34" charset="-122"/>
                <a:cs typeface="Inter" pitchFamily="34" charset="-120"/>
              </a:rPr>
              <a:t> is the global standard for symmetric encryption. Chosen by NIST in 2001, it protects everything from your WhatsApp messages to your bank transactions.</a:t>
            </a:r>
            <a:endParaRPr lang="en-US" sz="1265" dirty="0"/>
          </a:p>
        </p:txBody>
      </p:sp>
      <p:sp>
        <p:nvSpPr>
          <p:cNvPr id="9" name="Shape 6"/>
          <p:cNvSpPr/>
          <p:nvPr/>
        </p:nvSpPr>
        <p:spPr>
          <a:xfrm>
            <a:off x="381000" y="2672656"/>
            <a:ext cx="11430000" cy="1373981"/>
          </a:xfrm>
          <a:prstGeom prst="rect">
            <a:avLst/>
          </a:prstGeom>
          <a:solidFill>
            <a:srgbClr val="161B22"/>
          </a:solidFill>
          <a:ln w="9144">
            <a:solidFill>
              <a:srgbClr val="30363D"/>
            </a:solidFill>
            <a:prstDash val="solid"/>
          </a:ln>
        </p:spPr>
      </p:sp>
      <p:sp>
        <p:nvSpPr>
          <p:cNvPr id="10" name="Shape 7"/>
          <p:cNvSpPr/>
          <p:nvPr/>
        </p:nvSpPr>
        <p:spPr>
          <a:xfrm>
            <a:off x="571500" y="3235821"/>
            <a:ext cx="1524000" cy="514351"/>
          </a:xfrm>
          <a:prstGeom prst="rect">
            <a:avLst/>
          </a:prstGeom>
          <a:solidFill>
            <a:srgbClr val="0D1117"/>
          </a:solidFill>
          <a:ln w="9144">
            <a:solidFill>
              <a:srgbClr val="58A6FF"/>
            </a:solidFill>
            <a:prstDash val="solid"/>
          </a:ln>
        </p:spPr>
      </p:sp>
      <p:sp>
        <p:nvSpPr>
          <p:cNvPr id="11" name="Text 8"/>
          <p:cNvSpPr/>
          <p:nvPr/>
        </p:nvSpPr>
        <p:spPr>
          <a:xfrm>
            <a:off x="845185" y="3235821"/>
            <a:ext cx="976630" cy="476885"/>
          </a:xfrm>
          <a:prstGeom prst="rect">
            <a:avLst/>
          </a:prstGeom>
          <a:noFill/>
        </p:spPr>
        <p:txBody>
          <a:bodyPr wrap="none" lIns="170010" tIns="170010" rIns="170010" bIns="0" rtlCol="0" anchor="t">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Input Block
(128 bits)</a:t>
            </a:r>
            <a:endParaRPr lang="en-US" sz="1000" dirty="0"/>
          </a:p>
        </p:txBody>
      </p:sp>
      <p:pic>
        <p:nvPicPr>
          <p:cNvPr id="12" name="Image 1" descr="preencoded.png"/>
          <p:cNvPicPr>
            <a:picLocks noChangeAspect="1"/>
          </p:cNvPicPr>
          <p:nvPr/>
        </p:nvPicPr>
        <p:blipFill>
          <a:blip r:embed="rId2"/>
          <a:stretch>
            <a:fillRect/>
          </a:stretch>
        </p:blipFill>
        <p:spPr>
          <a:xfrm>
            <a:off x="2714625" y="3378696"/>
            <a:ext cx="228600" cy="228600"/>
          </a:xfrm>
          <a:prstGeom prst="rect">
            <a:avLst/>
          </a:prstGeom>
        </p:spPr>
      </p:pic>
      <p:sp>
        <p:nvSpPr>
          <p:cNvPr id="13" name="Text 9"/>
          <p:cNvSpPr/>
          <p:nvPr/>
        </p:nvSpPr>
        <p:spPr>
          <a:xfrm>
            <a:off x="3667125" y="3063180"/>
            <a:ext cx="4857751" cy="144145"/>
          </a:xfrm>
          <a:prstGeom prst="rect">
            <a:avLst/>
          </a:prstGeom>
          <a:noFill/>
        </p:spPr>
        <p:txBody>
          <a:bodyPr wrap="square" lIns="0" tIns="0" rIns="0" bIns="0" rtlCol="0" anchor="t">
            <a:spAutoFit/>
          </a:bodyPr>
          <a:lstStyle/>
          <a:p>
            <a:pPr marL="0" indent="0" algn="ctr">
              <a:buNone/>
            </a:pPr>
            <a:r>
              <a:rPr lang="en-US" sz="935" b="1" dirty="0">
                <a:solidFill>
                  <a:srgbClr val="E3B341"/>
                </a:solidFill>
                <a:latin typeface="Inter" pitchFamily="34" charset="0"/>
                <a:ea typeface="Inter" pitchFamily="34" charset="-122"/>
                <a:cs typeface="Inter" pitchFamily="34" charset="-120"/>
              </a:rPr>
              <a:t>THE ROUNDS</a:t>
            </a:r>
            <a:endParaRPr lang="en-US" sz="935" dirty="0"/>
          </a:p>
        </p:txBody>
      </p:sp>
      <p:sp>
        <p:nvSpPr>
          <p:cNvPr id="14" name="Shape 10"/>
          <p:cNvSpPr/>
          <p:nvPr/>
        </p:nvSpPr>
        <p:spPr>
          <a:xfrm>
            <a:off x="3667125" y="3320356"/>
            <a:ext cx="1143000" cy="461963"/>
          </a:xfrm>
          <a:prstGeom prst="rect">
            <a:avLst/>
          </a:prstGeom>
          <a:solidFill>
            <a:srgbClr val="0D1117"/>
          </a:solidFill>
          <a:ln w="9144">
            <a:solidFill>
              <a:srgbClr val="58A6FF"/>
            </a:solidFill>
            <a:prstDash val="solid"/>
          </a:ln>
        </p:spPr>
      </p:sp>
      <p:sp>
        <p:nvSpPr>
          <p:cNvPr id="15" name="Text 11"/>
          <p:cNvSpPr/>
          <p:nvPr/>
        </p:nvSpPr>
        <p:spPr>
          <a:xfrm>
            <a:off x="3729990" y="3320356"/>
            <a:ext cx="1017270" cy="292100"/>
          </a:xfrm>
          <a:prstGeom prst="rect">
            <a:avLst/>
          </a:prstGeom>
          <a:noFill/>
        </p:spPr>
        <p:txBody>
          <a:bodyPr wrap="none" lIns="170010" tIns="170010" rIns="170010" bIns="0" rtlCol="0" anchor="t">
            <a:spAutoFit/>
          </a:bodyPr>
          <a:lstStyle/>
          <a:p>
            <a:pPr marL="0" indent="0" algn="ctr">
              <a:buNone/>
            </a:pPr>
            <a:r>
              <a:rPr lang="en-US" sz="800" dirty="0">
                <a:solidFill>
                  <a:srgbClr val="E3B341"/>
                </a:solidFill>
                <a:latin typeface="JetBrains Mono Medium" pitchFamily="34" charset="0"/>
                <a:ea typeface="JetBrains Mono Medium" pitchFamily="34" charset="-122"/>
                <a:cs typeface="JetBrains Mono Medium" pitchFamily="34" charset="-120"/>
              </a:rPr>
              <a:t>Add Round Key</a:t>
            </a:r>
            <a:endParaRPr lang="en-US" sz="800" dirty="0"/>
          </a:p>
        </p:txBody>
      </p:sp>
      <p:sp>
        <p:nvSpPr>
          <p:cNvPr id="16" name="Shape 12"/>
          <p:cNvSpPr/>
          <p:nvPr/>
        </p:nvSpPr>
        <p:spPr>
          <a:xfrm>
            <a:off x="4905375" y="3320356"/>
            <a:ext cx="1143000" cy="442912"/>
          </a:xfrm>
          <a:prstGeom prst="rect">
            <a:avLst/>
          </a:prstGeom>
          <a:solidFill>
            <a:srgbClr val="0D1117"/>
          </a:solidFill>
          <a:ln w="9144">
            <a:solidFill>
              <a:srgbClr val="58A6FF"/>
            </a:solidFill>
            <a:prstDash val="solid"/>
          </a:ln>
        </p:spPr>
      </p:sp>
      <p:sp>
        <p:nvSpPr>
          <p:cNvPr id="17" name="Text 13"/>
          <p:cNvSpPr/>
          <p:nvPr/>
        </p:nvSpPr>
        <p:spPr>
          <a:xfrm>
            <a:off x="5089207" y="3320356"/>
            <a:ext cx="775335" cy="292100"/>
          </a:xfrm>
          <a:prstGeom prst="rect">
            <a:avLst/>
          </a:prstGeom>
          <a:noFill/>
        </p:spPr>
        <p:txBody>
          <a:bodyPr wrap="none" lIns="170010" tIns="170010" rIns="170010" bIns="0" rtlCol="0" anchor="t">
            <a:spAutoFit/>
          </a:bodyPr>
          <a:lstStyle/>
          <a:p>
            <a:pPr marL="0" indent="0" algn="ctr">
              <a:buNone/>
            </a:pPr>
            <a:r>
              <a:rPr lang="en-US" sz="800" dirty="0">
                <a:solidFill>
                  <a:srgbClr val="E3B341"/>
                </a:solidFill>
                <a:latin typeface="JetBrains Mono Medium" pitchFamily="34" charset="0"/>
                <a:ea typeface="JetBrains Mono Medium" pitchFamily="34" charset="-122"/>
                <a:cs typeface="JetBrains Mono Medium" pitchFamily="34" charset="-120"/>
              </a:rPr>
              <a:t>Sub Bytes</a:t>
            </a:r>
            <a:endParaRPr lang="en-US" sz="800" dirty="0"/>
          </a:p>
        </p:txBody>
      </p:sp>
      <p:sp>
        <p:nvSpPr>
          <p:cNvPr id="18" name="Shape 14"/>
          <p:cNvSpPr/>
          <p:nvPr/>
        </p:nvSpPr>
        <p:spPr>
          <a:xfrm>
            <a:off x="6143625" y="3320356"/>
            <a:ext cx="1143000" cy="442912"/>
          </a:xfrm>
          <a:prstGeom prst="rect">
            <a:avLst/>
          </a:prstGeom>
          <a:solidFill>
            <a:srgbClr val="0D1117"/>
          </a:solidFill>
          <a:ln w="9144">
            <a:solidFill>
              <a:srgbClr val="58A6FF"/>
            </a:solidFill>
            <a:prstDash val="solid"/>
          </a:ln>
        </p:spPr>
      </p:sp>
      <p:sp>
        <p:nvSpPr>
          <p:cNvPr id="19" name="Text 15"/>
          <p:cNvSpPr/>
          <p:nvPr/>
        </p:nvSpPr>
        <p:spPr>
          <a:xfrm>
            <a:off x="6313170" y="3320356"/>
            <a:ext cx="803910" cy="292100"/>
          </a:xfrm>
          <a:prstGeom prst="rect">
            <a:avLst/>
          </a:prstGeom>
          <a:noFill/>
        </p:spPr>
        <p:txBody>
          <a:bodyPr wrap="none" lIns="170010" tIns="170010" rIns="170010" bIns="0" rtlCol="0" anchor="t">
            <a:spAutoFit/>
          </a:bodyPr>
          <a:lstStyle/>
          <a:p>
            <a:pPr marL="0" indent="0" algn="ctr">
              <a:buNone/>
            </a:pPr>
            <a:r>
              <a:rPr lang="en-US" sz="800" dirty="0">
                <a:solidFill>
                  <a:srgbClr val="E3B341"/>
                </a:solidFill>
                <a:latin typeface="JetBrains Mono Medium" pitchFamily="34" charset="0"/>
                <a:ea typeface="JetBrains Mono Medium" pitchFamily="34" charset="-122"/>
                <a:cs typeface="JetBrains Mono Medium" pitchFamily="34" charset="-120"/>
              </a:rPr>
              <a:t>Shift Rows</a:t>
            </a:r>
            <a:endParaRPr lang="en-US" sz="800" dirty="0"/>
          </a:p>
        </p:txBody>
      </p:sp>
      <p:sp>
        <p:nvSpPr>
          <p:cNvPr id="20" name="Shape 16"/>
          <p:cNvSpPr/>
          <p:nvPr/>
        </p:nvSpPr>
        <p:spPr>
          <a:xfrm>
            <a:off x="7381875" y="3320356"/>
            <a:ext cx="1143000" cy="442912"/>
          </a:xfrm>
          <a:prstGeom prst="rect">
            <a:avLst/>
          </a:prstGeom>
          <a:solidFill>
            <a:srgbClr val="0D1117"/>
          </a:solidFill>
          <a:ln w="9144">
            <a:solidFill>
              <a:srgbClr val="58A6FF"/>
            </a:solidFill>
            <a:prstDash val="solid"/>
          </a:ln>
        </p:spPr>
      </p:sp>
      <p:sp>
        <p:nvSpPr>
          <p:cNvPr id="21" name="Text 17"/>
          <p:cNvSpPr/>
          <p:nvPr/>
        </p:nvSpPr>
        <p:spPr>
          <a:xfrm>
            <a:off x="7496175" y="3320356"/>
            <a:ext cx="914400" cy="292100"/>
          </a:xfrm>
          <a:prstGeom prst="rect">
            <a:avLst/>
          </a:prstGeom>
          <a:noFill/>
        </p:spPr>
        <p:txBody>
          <a:bodyPr wrap="none" lIns="170010" tIns="170010" rIns="170010" bIns="0" rtlCol="0" anchor="t">
            <a:spAutoFit/>
          </a:bodyPr>
          <a:lstStyle/>
          <a:p>
            <a:pPr marL="0" indent="0" algn="ctr">
              <a:buNone/>
            </a:pPr>
            <a:r>
              <a:rPr lang="en-US" sz="800" dirty="0">
                <a:solidFill>
                  <a:srgbClr val="E3B341"/>
                </a:solidFill>
                <a:latin typeface="JetBrains Mono Medium" pitchFamily="34" charset="0"/>
                <a:ea typeface="JetBrains Mono Medium" pitchFamily="34" charset="-122"/>
                <a:cs typeface="JetBrains Mono Medium" pitchFamily="34" charset="-120"/>
              </a:rPr>
              <a:t>Mix Columns</a:t>
            </a:r>
            <a:endParaRPr lang="en-US" sz="800" dirty="0"/>
          </a:p>
        </p:txBody>
      </p:sp>
      <p:sp>
        <p:nvSpPr>
          <p:cNvPr id="22" name="Text 18"/>
          <p:cNvSpPr/>
          <p:nvPr/>
        </p:nvSpPr>
        <p:spPr>
          <a:xfrm>
            <a:off x="3667125" y="3858517"/>
            <a:ext cx="4857751" cy="122555"/>
          </a:xfrm>
          <a:prstGeom prst="rect">
            <a:avLst/>
          </a:prstGeom>
          <a:noFill/>
        </p:spPr>
        <p:txBody>
          <a:bodyPr wrap="square" lIns="0" tIns="0" rIns="0" bIns="0" rtlCol="0" anchor="t">
            <a:spAutoFit/>
          </a:bodyPr>
          <a:lstStyle/>
          <a:p>
            <a:pPr marL="0" indent="0" algn="ctr">
              <a:buNone/>
            </a:pPr>
            <a:r>
              <a:rPr lang="en-US" sz="800" dirty="0">
                <a:solidFill>
                  <a:srgbClr val="E3B341"/>
                </a:solidFill>
                <a:latin typeface="Inter" pitchFamily="34" charset="0"/>
                <a:ea typeface="Inter" pitchFamily="34" charset="-122"/>
                <a:cs typeface="Inter" pitchFamily="34" charset="-120"/>
              </a:rPr>
              <a:t>(Repeat 10, 12, or 14 times)</a:t>
            </a:r>
            <a:endParaRPr lang="en-US" sz="800" dirty="0"/>
          </a:p>
        </p:txBody>
      </p:sp>
      <p:pic>
        <p:nvPicPr>
          <p:cNvPr id="23" name="Image 2" descr="preencoded.png"/>
          <p:cNvPicPr>
            <a:picLocks noChangeAspect="1"/>
          </p:cNvPicPr>
          <p:nvPr/>
        </p:nvPicPr>
        <p:blipFill>
          <a:blip r:embed="rId2"/>
          <a:stretch>
            <a:fillRect/>
          </a:stretch>
        </p:blipFill>
        <p:spPr>
          <a:xfrm>
            <a:off x="9248775" y="3369171"/>
            <a:ext cx="228600" cy="228600"/>
          </a:xfrm>
          <a:prstGeom prst="rect">
            <a:avLst/>
          </a:prstGeom>
        </p:spPr>
      </p:pic>
      <p:sp>
        <p:nvSpPr>
          <p:cNvPr id="24" name="Shape 19"/>
          <p:cNvSpPr/>
          <p:nvPr/>
        </p:nvSpPr>
        <p:spPr>
          <a:xfrm>
            <a:off x="10096500" y="3226296"/>
            <a:ext cx="1524000" cy="514351"/>
          </a:xfrm>
          <a:prstGeom prst="rect">
            <a:avLst/>
          </a:prstGeom>
          <a:solidFill>
            <a:srgbClr val="0D1117"/>
          </a:solidFill>
          <a:ln w="9144">
            <a:solidFill>
              <a:srgbClr val="58A6FF"/>
            </a:solidFill>
            <a:prstDash val="solid"/>
          </a:ln>
        </p:spPr>
      </p:sp>
      <p:sp>
        <p:nvSpPr>
          <p:cNvPr id="25" name="Text 20"/>
          <p:cNvSpPr/>
          <p:nvPr/>
        </p:nvSpPr>
        <p:spPr>
          <a:xfrm>
            <a:off x="10397490" y="3226296"/>
            <a:ext cx="922020" cy="476885"/>
          </a:xfrm>
          <a:prstGeom prst="rect">
            <a:avLst/>
          </a:prstGeom>
          <a:noFill/>
        </p:spPr>
        <p:txBody>
          <a:bodyPr wrap="none" lIns="170010" tIns="170010" rIns="170010" bIns="0" rtlCol="0" anchor="t">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Ciphertext
(128 bits)</a:t>
            </a:r>
            <a:endParaRPr lang="en-US" sz="1000" dirty="0"/>
          </a:p>
        </p:txBody>
      </p:sp>
      <p:sp>
        <p:nvSpPr>
          <p:cNvPr id="26" name="Text 21"/>
          <p:cNvSpPr/>
          <p:nvPr/>
        </p:nvSpPr>
        <p:spPr>
          <a:xfrm>
            <a:off x="381000" y="4305875"/>
            <a:ext cx="450850" cy="276860"/>
          </a:xfrm>
          <a:prstGeom prst="rect">
            <a:avLst/>
          </a:prstGeom>
          <a:noFill/>
        </p:spPr>
        <p:txBody>
          <a:bodyPr wrap="none" lIns="0" tIns="113453" rIns="0" bIns="0" rtlCol="0" anchor="ctr">
            <a:spAutoFit/>
          </a:bodyPr>
          <a:lstStyle/>
          <a:p>
            <a:pPr marL="0" indent="0" algn="l">
              <a:buNone/>
            </a:pPr>
            <a:r>
              <a:rPr lang="en-US" sz="1065" b="1" dirty="0">
                <a:solidFill>
                  <a:srgbClr val="8B949E"/>
                </a:solidFill>
                <a:latin typeface="JetBrains Mono Medium" pitchFamily="34" charset="0"/>
                <a:ea typeface="JetBrains Mono Medium" pitchFamily="34" charset="-122"/>
                <a:cs typeface="JetBrains Mono Medium" pitchFamily="34" charset="-120"/>
              </a:rPr>
              <a:t>Version</a:t>
            </a:r>
            <a:endParaRPr lang="en-US" sz="1065" dirty="0"/>
          </a:p>
        </p:txBody>
      </p:sp>
      <p:sp>
        <p:nvSpPr>
          <p:cNvPr id="27" name="Text 22"/>
          <p:cNvSpPr/>
          <p:nvPr/>
        </p:nvSpPr>
        <p:spPr>
          <a:xfrm>
            <a:off x="1843683" y="4305875"/>
            <a:ext cx="487680" cy="276860"/>
          </a:xfrm>
          <a:prstGeom prst="rect">
            <a:avLst/>
          </a:prstGeom>
          <a:noFill/>
        </p:spPr>
        <p:txBody>
          <a:bodyPr wrap="none" lIns="0" tIns="113453" rIns="0" bIns="0" rtlCol="0" anchor="ctr">
            <a:spAutoFit/>
          </a:bodyPr>
          <a:lstStyle/>
          <a:p>
            <a:pPr marL="0" indent="0" algn="l">
              <a:buNone/>
            </a:pPr>
            <a:r>
              <a:rPr lang="en-US" sz="1065" b="1" dirty="0">
                <a:solidFill>
                  <a:srgbClr val="8B949E"/>
                </a:solidFill>
                <a:latin typeface="JetBrains Mono Medium" pitchFamily="34" charset="0"/>
                <a:ea typeface="JetBrains Mono Medium" pitchFamily="34" charset="-122"/>
                <a:cs typeface="JetBrains Mono Medium" pitchFamily="34" charset="-120"/>
              </a:rPr>
              <a:t>Key Size</a:t>
            </a:r>
            <a:endParaRPr lang="en-US" sz="1065" dirty="0"/>
          </a:p>
        </p:txBody>
      </p:sp>
      <p:sp>
        <p:nvSpPr>
          <p:cNvPr id="28" name="Text 23"/>
          <p:cNvSpPr/>
          <p:nvPr/>
        </p:nvSpPr>
        <p:spPr>
          <a:xfrm>
            <a:off x="3515320" y="4305875"/>
            <a:ext cx="448310" cy="276860"/>
          </a:xfrm>
          <a:prstGeom prst="rect">
            <a:avLst/>
          </a:prstGeom>
          <a:noFill/>
        </p:spPr>
        <p:txBody>
          <a:bodyPr wrap="none" lIns="0" tIns="113453" rIns="0" bIns="0" rtlCol="0" anchor="ctr">
            <a:spAutoFit/>
          </a:bodyPr>
          <a:lstStyle/>
          <a:p>
            <a:pPr marL="0" indent="0" algn="l">
              <a:buNone/>
            </a:pPr>
            <a:r>
              <a:rPr lang="en-US" sz="1065" b="1" dirty="0">
                <a:solidFill>
                  <a:srgbClr val="8B949E"/>
                </a:solidFill>
                <a:latin typeface="JetBrains Mono Medium" pitchFamily="34" charset="0"/>
                <a:ea typeface="JetBrains Mono Medium" pitchFamily="34" charset="-122"/>
                <a:cs typeface="JetBrains Mono Medium" pitchFamily="34" charset="-120"/>
              </a:rPr>
              <a:t>Rounds</a:t>
            </a:r>
            <a:endParaRPr lang="en-US" sz="1065" dirty="0"/>
          </a:p>
        </p:txBody>
      </p:sp>
      <p:sp>
        <p:nvSpPr>
          <p:cNvPr id="29" name="Text 24"/>
          <p:cNvSpPr/>
          <p:nvPr/>
        </p:nvSpPr>
        <p:spPr>
          <a:xfrm>
            <a:off x="4769048" y="4305875"/>
            <a:ext cx="2298501" cy="276860"/>
          </a:xfrm>
          <a:prstGeom prst="rect">
            <a:avLst/>
          </a:prstGeom>
          <a:noFill/>
        </p:spPr>
        <p:txBody>
          <a:bodyPr wrap="square" lIns="0" tIns="113453" rIns="0" bIns="0" rtlCol="0" anchor="ctr">
            <a:spAutoFit/>
          </a:bodyPr>
          <a:lstStyle/>
          <a:p>
            <a:pPr marL="0" indent="0" algn="l">
              <a:buNone/>
            </a:pPr>
            <a:r>
              <a:rPr lang="en-US" sz="1065" b="1" dirty="0">
                <a:solidFill>
                  <a:srgbClr val="8B949E"/>
                </a:solidFill>
                <a:latin typeface="JetBrains Mono Medium" pitchFamily="34" charset="0"/>
                <a:ea typeface="JetBrains Mono Medium" pitchFamily="34" charset="-122"/>
                <a:cs typeface="JetBrains Mono Medium" pitchFamily="34" charset="-120"/>
              </a:rPr>
              <a:t>Security</a:t>
            </a:r>
            <a:endParaRPr lang="en-US" sz="1065" dirty="0"/>
          </a:p>
        </p:txBody>
      </p:sp>
      <p:sp>
        <p:nvSpPr>
          <p:cNvPr id="30" name="Text 25"/>
          <p:cNvSpPr/>
          <p:nvPr/>
        </p:nvSpPr>
        <p:spPr>
          <a:xfrm>
            <a:off x="381000" y="4600992"/>
            <a:ext cx="509270" cy="310515"/>
          </a:xfrm>
          <a:prstGeom prst="rect">
            <a:avLst/>
          </a:prstGeom>
          <a:noFill/>
        </p:spPr>
        <p:txBody>
          <a:bodyPr wrap="none" lIns="0" tIns="136144" rIns="0"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AES-128</a:t>
            </a:r>
            <a:endParaRPr lang="en-US" sz="1135" dirty="0"/>
          </a:p>
        </p:txBody>
      </p:sp>
      <p:sp>
        <p:nvSpPr>
          <p:cNvPr id="31" name="Text 26"/>
          <p:cNvSpPr/>
          <p:nvPr/>
        </p:nvSpPr>
        <p:spPr>
          <a:xfrm>
            <a:off x="1843683" y="4600992"/>
            <a:ext cx="446405" cy="310515"/>
          </a:xfrm>
          <a:prstGeom prst="rect">
            <a:avLst/>
          </a:prstGeom>
          <a:noFill/>
        </p:spPr>
        <p:txBody>
          <a:bodyPr wrap="none" lIns="0" tIns="136144" rIns="0"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128-bit</a:t>
            </a:r>
            <a:endParaRPr lang="en-US" sz="1135" dirty="0"/>
          </a:p>
        </p:txBody>
      </p:sp>
      <p:sp>
        <p:nvSpPr>
          <p:cNvPr id="32" name="Text 27"/>
          <p:cNvSpPr/>
          <p:nvPr/>
        </p:nvSpPr>
        <p:spPr>
          <a:xfrm>
            <a:off x="3515320" y="4600992"/>
            <a:ext cx="148590" cy="310515"/>
          </a:xfrm>
          <a:prstGeom prst="rect">
            <a:avLst/>
          </a:prstGeom>
          <a:noFill/>
        </p:spPr>
        <p:txBody>
          <a:bodyPr wrap="none" lIns="0" tIns="136144" rIns="0"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10</a:t>
            </a:r>
            <a:endParaRPr lang="en-US" sz="1135" dirty="0"/>
          </a:p>
        </p:txBody>
      </p:sp>
      <p:sp>
        <p:nvSpPr>
          <p:cNvPr id="33" name="Text 28"/>
          <p:cNvSpPr/>
          <p:nvPr/>
        </p:nvSpPr>
        <p:spPr>
          <a:xfrm>
            <a:off x="4769048" y="4600992"/>
            <a:ext cx="2298501" cy="310515"/>
          </a:xfrm>
          <a:prstGeom prst="rect">
            <a:avLst/>
          </a:prstGeom>
          <a:noFill/>
        </p:spPr>
        <p:txBody>
          <a:bodyPr wrap="square" lIns="0" tIns="136144" rIns="0" bIns="0" rtlCol="0" anchor="ctr">
            <a:spAutoFit/>
          </a:bodyPr>
          <a:lstStyle/>
          <a:p>
            <a:pPr marL="0" indent="0" algn="l">
              <a:buNone/>
            </a:pPr>
            <a:r>
              <a:rPr lang="en-US" sz="1135" dirty="0">
                <a:solidFill>
                  <a:srgbClr val="00FF9C"/>
                </a:solidFill>
                <a:latin typeface="JetBrains Mono Medium" pitchFamily="34" charset="0"/>
                <a:ea typeface="JetBrains Mono Medium" pitchFamily="34" charset="-122"/>
                <a:cs typeface="JetBrains Mono Medium" pitchFamily="34" charset="-120"/>
              </a:rPr>
              <a:t>Secure</a:t>
            </a:r>
            <a:endParaRPr lang="en-US" sz="1135" dirty="0"/>
          </a:p>
        </p:txBody>
      </p:sp>
      <p:sp>
        <p:nvSpPr>
          <p:cNvPr id="34" name="Text 29"/>
          <p:cNvSpPr/>
          <p:nvPr/>
        </p:nvSpPr>
        <p:spPr>
          <a:xfrm>
            <a:off x="381000" y="4924842"/>
            <a:ext cx="509270" cy="310515"/>
          </a:xfrm>
          <a:prstGeom prst="rect">
            <a:avLst/>
          </a:prstGeom>
          <a:noFill/>
        </p:spPr>
        <p:txBody>
          <a:bodyPr wrap="none" lIns="0" tIns="136144" rIns="0"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AES-192</a:t>
            </a:r>
            <a:endParaRPr lang="en-US" sz="1135" dirty="0"/>
          </a:p>
        </p:txBody>
      </p:sp>
      <p:sp>
        <p:nvSpPr>
          <p:cNvPr id="35" name="Text 30"/>
          <p:cNvSpPr/>
          <p:nvPr/>
        </p:nvSpPr>
        <p:spPr>
          <a:xfrm>
            <a:off x="1843683" y="4924842"/>
            <a:ext cx="446405" cy="310515"/>
          </a:xfrm>
          <a:prstGeom prst="rect">
            <a:avLst/>
          </a:prstGeom>
          <a:noFill/>
        </p:spPr>
        <p:txBody>
          <a:bodyPr wrap="none" lIns="0" tIns="136144" rIns="0"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192-bit</a:t>
            </a:r>
            <a:endParaRPr lang="en-US" sz="1135" dirty="0"/>
          </a:p>
        </p:txBody>
      </p:sp>
      <p:sp>
        <p:nvSpPr>
          <p:cNvPr id="36" name="Text 31"/>
          <p:cNvSpPr/>
          <p:nvPr/>
        </p:nvSpPr>
        <p:spPr>
          <a:xfrm>
            <a:off x="3515320" y="4924842"/>
            <a:ext cx="148590" cy="310515"/>
          </a:xfrm>
          <a:prstGeom prst="rect">
            <a:avLst/>
          </a:prstGeom>
          <a:noFill/>
        </p:spPr>
        <p:txBody>
          <a:bodyPr wrap="none" lIns="0" tIns="136144" rIns="0"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12</a:t>
            </a:r>
            <a:endParaRPr lang="en-US" sz="1135" dirty="0"/>
          </a:p>
        </p:txBody>
      </p:sp>
      <p:sp>
        <p:nvSpPr>
          <p:cNvPr id="37" name="Text 32"/>
          <p:cNvSpPr/>
          <p:nvPr/>
        </p:nvSpPr>
        <p:spPr>
          <a:xfrm>
            <a:off x="4769048" y="4924842"/>
            <a:ext cx="2298501" cy="310515"/>
          </a:xfrm>
          <a:prstGeom prst="rect">
            <a:avLst/>
          </a:prstGeom>
          <a:noFill/>
        </p:spPr>
        <p:txBody>
          <a:bodyPr wrap="square" lIns="0" tIns="136144" rIns="0" bIns="0" rtlCol="0" anchor="ctr">
            <a:spAutoFit/>
          </a:bodyPr>
          <a:lstStyle/>
          <a:p>
            <a:pPr marL="0" indent="0" algn="l">
              <a:buNone/>
            </a:pPr>
            <a:r>
              <a:rPr lang="en-US" sz="1135" dirty="0">
                <a:solidFill>
                  <a:srgbClr val="00FF9C"/>
                </a:solidFill>
                <a:latin typeface="JetBrains Mono Medium" pitchFamily="34" charset="0"/>
                <a:ea typeface="JetBrains Mono Medium" pitchFamily="34" charset="-122"/>
                <a:cs typeface="JetBrains Mono Medium" pitchFamily="34" charset="-120"/>
              </a:rPr>
              <a:t>Secure</a:t>
            </a:r>
            <a:endParaRPr lang="en-US" sz="1135" dirty="0"/>
          </a:p>
        </p:txBody>
      </p:sp>
      <p:sp>
        <p:nvSpPr>
          <p:cNvPr id="38" name="Text 33"/>
          <p:cNvSpPr/>
          <p:nvPr/>
        </p:nvSpPr>
        <p:spPr>
          <a:xfrm>
            <a:off x="381000" y="5248692"/>
            <a:ext cx="509905" cy="310515"/>
          </a:xfrm>
          <a:prstGeom prst="rect">
            <a:avLst/>
          </a:prstGeom>
          <a:noFill/>
        </p:spPr>
        <p:txBody>
          <a:bodyPr wrap="none" lIns="0" tIns="136144" rIns="0"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AES-256</a:t>
            </a:r>
            <a:endParaRPr lang="en-US" sz="1135" dirty="0"/>
          </a:p>
        </p:txBody>
      </p:sp>
      <p:sp>
        <p:nvSpPr>
          <p:cNvPr id="39" name="Text 34"/>
          <p:cNvSpPr/>
          <p:nvPr/>
        </p:nvSpPr>
        <p:spPr>
          <a:xfrm>
            <a:off x="1843683" y="5248692"/>
            <a:ext cx="447040" cy="310515"/>
          </a:xfrm>
          <a:prstGeom prst="rect">
            <a:avLst/>
          </a:prstGeom>
          <a:noFill/>
        </p:spPr>
        <p:txBody>
          <a:bodyPr wrap="none" lIns="0" tIns="136144" rIns="0"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256-bit</a:t>
            </a:r>
            <a:endParaRPr lang="en-US" sz="1135" dirty="0"/>
          </a:p>
        </p:txBody>
      </p:sp>
      <p:sp>
        <p:nvSpPr>
          <p:cNvPr id="40" name="Text 35"/>
          <p:cNvSpPr/>
          <p:nvPr/>
        </p:nvSpPr>
        <p:spPr>
          <a:xfrm>
            <a:off x="3515320" y="5248692"/>
            <a:ext cx="148590" cy="310515"/>
          </a:xfrm>
          <a:prstGeom prst="rect">
            <a:avLst/>
          </a:prstGeom>
          <a:noFill/>
        </p:spPr>
        <p:txBody>
          <a:bodyPr wrap="none" lIns="0" tIns="136144" rIns="0"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14</a:t>
            </a:r>
            <a:endParaRPr lang="en-US" sz="1135" dirty="0"/>
          </a:p>
        </p:txBody>
      </p:sp>
      <p:sp>
        <p:nvSpPr>
          <p:cNvPr id="41" name="Text 36"/>
          <p:cNvSpPr/>
          <p:nvPr/>
        </p:nvSpPr>
        <p:spPr>
          <a:xfrm>
            <a:off x="4769048" y="5254089"/>
            <a:ext cx="2298501" cy="299720"/>
          </a:xfrm>
          <a:prstGeom prst="rect">
            <a:avLst/>
          </a:prstGeom>
          <a:noFill/>
        </p:spPr>
        <p:txBody>
          <a:bodyPr wrap="square" lIns="0" tIns="136144" rIns="0" bIns="0" rtlCol="0" anchor="ctr">
            <a:spAutoFit/>
          </a:bodyPr>
          <a:lstStyle/>
          <a:p>
            <a:pPr marL="0" indent="0" algn="l">
              <a:buNone/>
            </a:pPr>
            <a:r>
              <a:rPr lang="en-US" sz="1065" b="1" dirty="0">
                <a:solidFill>
                  <a:srgbClr val="00FF9C"/>
                </a:solidFill>
                <a:latin typeface="JetBrains Mono Medium" pitchFamily="34" charset="0"/>
                <a:ea typeface="JetBrains Mono Medium" pitchFamily="34" charset="-122"/>
                <a:cs typeface="JetBrains Mono Medium" pitchFamily="34" charset="-120"/>
              </a:rPr>
              <a:t>Most Secure</a:t>
            </a:r>
            <a:endParaRPr lang="en-US" sz="1065" dirty="0"/>
          </a:p>
        </p:txBody>
      </p:sp>
      <p:sp>
        <p:nvSpPr>
          <p:cNvPr id="42" name="Shape 37"/>
          <p:cNvSpPr/>
          <p:nvPr/>
        </p:nvSpPr>
        <p:spPr>
          <a:xfrm>
            <a:off x="7353300" y="4294287"/>
            <a:ext cx="4457700" cy="1276351"/>
          </a:xfrm>
          <a:prstGeom prst="rect">
            <a:avLst/>
          </a:prstGeom>
          <a:solidFill>
            <a:srgbClr val="FF6B6B">
              <a:alpha val="10000"/>
            </a:srgbClr>
          </a:solidFill>
          <a:ln w="9144">
            <a:solidFill>
              <a:srgbClr val="FF6B6B"/>
            </a:solidFill>
            <a:prstDash val="solid"/>
          </a:ln>
        </p:spPr>
      </p:sp>
      <p:pic>
        <p:nvPicPr>
          <p:cNvPr id="43" name="Image 3" descr="preencoded.png"/>
          <p:cNvPicPr>
            <a:picLocks noChangeAspect="1"/>
          </p:cNvPicPr>
          <p:nvPr/>
        </p:nvPicPr>
        <p:blipFill>
          <a:blip r:embed="rId3"/>
          <a:stretch>
            <a:fillRect/>
          </a:stretch>
        </p:blipFill>
        <p:spPr>
          <a:xfrm>
            <a:off x="7543800" y="4875312"/>
            <a:ext cx="266700" cy="304800"/>
          </a:xfrm>
          <a:prstGeom prst="rect">
            <a:avLst/>
          </a:prstGeom>
        </p:spPr>
      </p:pic>
      <p:sp>
        <p:nvSpPr>
          <p:cNvPr id="44" name="Text 38"/>
          <p:cNvSpPr/>
          <p:nvPr/>
        </p:nvSpPr>
        <p:spPr>
          <a:xfrm>
            <a:off x="7953375" y="4752677"/>
            <a:ext cx="3667125" cy="525145"/>
          </a:xfrm>
          <a:prstGeom prst="rect">
            <a:avLst/>
          </a:prstGeom>
          <a:noFill/>
        </p:spPr>
        <p:txBody>
          <a:bodyPr wrap="square" lIns="0" tIns="0" rIns="0" bIns="0" rtlCol="0" anchor="t">
            <a:spAutoFit/>
          </a:bodyPr>
          <a:lstStyle/>
          <a:p>
            <a:pPr marL="0" indent="0" algn="l">
              <a:buNone/>
            </a:pPr>
            <a:r>
              <a:rPr lang="en-US" sz="1065" b="1" dirty="0">
                <a:solidFill>
                  <a:srgbClr val="FF6B6B"/>
                </a:solidFill>
                <a:latin typeface="Inter" pitchFamily="34" charset="0"/>
                <a:ea typeface="Inter" pitchFamily="34" charset="-122"/>
                <a:cs typeface="Inter" pitchFamily="34" charset="-120"/>
              </a:rPr>
              <a:t>Brute Force Impossible:</a:t>
            </a:r>
            <a:r>
              <a:rPr lang="en-US" sz="1135" dirty="0">
                <a:solidFill>
                  <a:srgbClr val="FF6B6B"/>
                </a:solidFill>
                <a:latin typeface="Inter" pitchFamily="34" charset="0"/>
                <a:ea typeface="Inter" pitchFamily="34" charset="-122"/>
                <a:cs typeface="Inter" pitchFamily="34" charset="-120"/>
              </a:rPr>
              <a:t> Breaking AES-256 by trying every key would take longer than the age of the universe, even with all the world's computers.</a:t>
            </a:r>
            <a:endParaRPr lang="en-US" sz="1135" dirty="0"/>
          </a:p>
        </p:txBody>
      </p:sp>
      <p:grpSp>
        <p:nvGrpSpPr>
          <p:cNvPr id="45" name="Group 2"/>
          <p:cNvGrpSpPr/>
          <p:nvPr/>
        </p:nvGrpSpPr>
        <p:grpSpPr>
          <a:xfrm rot="0">
            <a:off x="294640" y="194310"/>
            <a:ext cx="789305" cy="299720"/>
            <a:chOff x="0" y="0"/>
            <a:chExt cx="341337" cy="102463"/>
          </a:xfrm>
        </p:grpSpPr>
        <p:sp>
          <p:nvSpPr>
            <p:cNvPr id="46"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7"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8" name="Group 5"/>
          <p:cNvGrpSpPr/>
          <p:nvPr/>
        </p:nvGrpSpPr>
        <p:grpSpPr>
          <a:xfrm rot="0">
            <a:off x="822325" y="209550"/>
            <a:ext cx="220980" cy="246380"/>
            <a:chOff x="0" y="0"/>
            <a:chExt cx="812800" cy="812800"/>
          </a:xfrm>
        </p:grpSpPr>
        <p:sp>
          <p:nvSpPr>
            <p:cNvPr id="49"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0"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51"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52"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53"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7122319"/>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54 | EWUCSC</a:t>
            </a:r>
            <a:endParaRPr lang="en-US" sz="1265" dirty="0"/>
          </a:p>
        </p:txBody>
      </p:sp>
      <p:sp>
        <p:nvSpPr>
          <p:cNvPr id="7" name="Text 4"/>
          <p:cNvSpPr/>
          <p:nvPr/>
        </p:nvSpPr>
        <p:spPr>
          <a:xfrm>
            <a:off x="381000" y="952500"/>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AES Modes (CTF Critical)</a:t>
            </a:r>
            <a:endParaRPr lang="en-US" sz="2800" dirty="0"/>
          </a:p>
        </p:txBody>
      </p:sp>
      <p:sp>
        <p:nvSpPr>
          <p:cNvPr id="8" name="Text 5"/>
          <p:cNvSpPr/>
          <p:nvPr/>
        </p:nvSpPr>
        <p:spPr>
          <a:xfrm>
            <a:off x="381000" y="1838325"/>
            <a:ext cx="11430000"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Inter" pitchFamily="34" charset="0"/>
                <a:ea typeface="Inter" pitchFamily="34" charset="-122"/>
                <a:cs typeface="Inter" pitchFamily="34" charset="-120"/>
              </a:rPr>
              <a:t>AES encrypts 128-bit blocks. For longer messages, you need a </a:t>
            </a:r>
            <a:r>
              <a:rPr lang="en-US" sz="1200" b="1" dirty="0">
                <a:solidFill>
                  <a:srgbClr val="8B949E"/>
                </a:solidFill>
                <a:latin typeface="Inter" pitchFamily="34" charset="0"/>
                <a:ea typeface="Inter" pitchFamily="34" charset="-122"/>
                <a:cs typeface="Inter" pitchFamily="34" charset="-120"/>
              </a:rPr>
              <a:t>MODE</a:t>
            </a:r>
            <a:r>
              <a:rPr lang="en-US" sz="1265" dirty="0">
                <a:solidFill>
                  <a:srgbClr val="8B949E"/>
                </a:solidFill>
                <a:latin typeface="Inter" pitchFamily="34" charset="0"/>
                <a:ea typeface="Inter" pitchFamily="34" charset="-122"/>
                <a:cs typeface="Inter" pitchFamily="34" charset="-120"/>
              </a:rPr>
              <a:t> that defines how these blocks relate to each other.</a:t>
            </a:r>
            <a:endParaRPr lang="en-US" sz="1265" dirty="0"/>
          </a:p>
        </p:txBody>
      </p:sp>
      <p:sp>
        <p:nvSpPr>
          <p:cNvPr id="9" name="Shape 6"/>
          <p:cNvSpPr/>
          <p:nvPr/>
        </p:nvSpPr>
        <p:spPr>
          <a:xfrm>
            <a:off x="381000" y="2331244"/>
            <a:ext cx="3682975" cy="3724275"/>
          </a:xfrm>
          <a:prstGeom prst="rect">
            <a:avLst/>
          </a:prstGeom>
          <a:solidFill>
            <a:srgbClr val="161B22"/>
          </a:solidFill>
          <a:ln w="9144">
            <a:solidFill>
              <a:srgbClr val="30363D"/>
            </a:solidFill>
            <a:prstDash val="solid"/>
          </a:ln>
        </p:spPr>
      </p:sp>
      <p:pic>
        <p:nvPicPr>
          <p:cNvPr id="10" name="Image 1" descr="preencoded.png"/>
          <p:cNvPicPr>
            <a:picLocks noChangeAspect="1"/>
          </p:cNvPicPr>
          <p:nvPr/>
        </p:nvPicPr>
        <p:blipFill>
          <a:blip r:embed="rId2"/>
          <a:stretch>
            <a:fillRect/>
          </a:stretch>
        </p:blipFill>
        <p:spPr>
          <a:xfrm>
            <a:off x="571500" y="2627709"/>
            <a:ext cx="228600" cy="228600"/>
          </a:xfrm>
          <a:prstGeom prst="rect">
            <a:avLst/>
          </a:prstGeom>
        </p:spPr>
      </p:pic>
      <p:sp>
        <p:nvSpPr>
          <p:cNvPr id="11" name="Text 7"/>
          <p:cNvSpPr/>
          <p:nvPr/>
        </p:nvSpPr>
        <p:spPr>
          <a:xfrm>
            <a:off x="895351" y="2569369"/>
            <a:ext cx="354330" cy="255905"/>
          </a:xfrm>
          <a:prstGeom prst="rect">
            <a:avLst/>
          </a:prstGeom>
          <a:noFill/>
        </p:spPr>
        <p:txBody>
          <a:bodyPr wrap="none" lIns="0" tIns="0" rIns="0" bIns="0" rtlCol="0" anchor="t">
            <a:spAutoFit/>
          </a:bodyPr>
          <a:lstStyle/>
          <a:p>
            <a:pPr marL="0" indent="0" algn="l">
              <a:buNone/>
            </a:pPr>
            <a:r>
              <a:rPr lang="en-US" sz="1665" dirty="0">
                <a:solidFill>
                  <a:srgbClr val="58A6FF"/>
                </a:solidFill>
                <a:latin typeface="Poppins SemiBold" pitchFamily="34" charset="0"/>
                <a:ea typeface="Poppins SemiBold" pitchFamily="34" charset="-122"/>
                <a:cs typeface="Poppins SemiBold" pitchFamily="34" charset="-120"/>
              </a:rPr>
              <a:t>ECB</a:t>
            </a:r>
            <a:endParaRPr lang="en-US" sz="1665" dirty="0"/>
          </a:p>
        </p:txBody>
      </p:sp>
      <p:sp>
        <p:nvSpPr>
          <p:cNvPr id="12" name="Shape 8"/>
          <p:cNvSpPr/>
          <p:nvPr/>
        </p:nvSpPr>
        <p:spPr>
          <a:xfrm>
            <a:off x="571500" y="3057525"/>
            <a:ext cx="762000" cy="207169"/>
          </a:xfrm>
          <a:prstGeom prst="rect">
            <a:avLst/>
          </a:prstGeom>
          <a:solidFill>
            <a:srgbClr val="FF6B6B">
              <a:alpha val="10000"/>
            </a:srgbClr>
          </a:solidFill>
          <a:ln w="9144">
            <a:solidFill>
              <a:srgbClr val="FF6B6B"/>
            </a:solidFill>
            <a:prstDash val="solid"/>
          </a:ln>
        </p:spPr>
      </p:sp>
      <p:sp>
        <p:nvSpPr>
          <p:cNvPr id="13" name="Text 9"/>
          <p:cNvSpPr/>
          <p:nvPr/>
        </p:nvSpPr>
        <p:spPr>
          <a:xfrm>
            <a:off x="571500" y="3057525"/>
            <a:ext cx="667385" cy="167640"/>
          </a:xfrm>
          <a:prstGeom prst="rect">
            <a:avLst/>
          </a:prstGeom>
          <a:noFill/>
        </p:spPr>
        <p:txBody>
          <a:bodyPr wrap="none" lIns="113453" tIns="45381" rIns="113453" bIns="0" rtlCol="0" anchor="t">
            <a:spAutoFit/>
          </a:bodyPr>
          <a:lstStyle/>
          <a:p>
            <a:pPr marL="0" indent="0" algn="l">
              <a:buNone/>
            </a:pPr>
            <a:r>
              <a:rPr lang="en-US" sz="800" dirty="0">
                <a:solidFill>
                  <a:srgbClr val="FF6B6B"/>
                </a:solidFill>
                <a:latin typeface="JetBrains Mono Medium" pitchFamily="34" charset="0"/>
                <a:ea typeface="JetBrains Mono Medium" pitchFamily="34" charset="-122"/>
                <a:cs typeface="JetBrains Mono Medium" pitchFamily="34" charset="-120"/>
              </a:rPr>
              <a:t>INSECURE</a:t>
            </a:r>
            <a:endParaRPr lang="en-US" sz="800" dirty="0"/>
          </a:p>
        </p:txBody>
      </p:sp>
      <p:sp>
        <p:nvSpPr>
          <p:cNvPr id="14" name="Text 10"/>
          <p:cNvSpPr/>
          <p:nvPr/>
        </p:nvSpPr>
        <p:spPr>
          <a:xfrm>
            <a:off x="571500" y="3388519"/>
            <a:ext cx="3301975" cy="673100"/>
          </a:xfrm>
          <a:prstGeom prst="rect">
            <a:avLst/>
          </a:prstGeom>
          <a:noFill/>
        </p:spPr>
        <p:txBody>
          <a:bodyPr wrap="square" lIns="0" tIns="0" rIns="0" bIns="0" rtlCol="0" anchor="t">
            <a:spAutoFit/>
          </a:bodyPr>
          <a:lstStyle/>
          <a:p>
            <a:pPr marL="0" indent="0" algn="l">
              <a:lnSpc>
                <a:spcPct val="128000"/>
              </a:lnSpc>
              <a:buNone/>
            </a:pPr>
            <a:r>
              <a:rPr lang="en-US" sz="1135" dirty="0">
                <a:solidFill>
                  <a:srgbClr val="E6EDF3"/>
                </a:solidFill>
                <a:latin typeface="Inter" pitchFamily="34" charset="0"/>
                <a:ea typeface="Inter" pitchFamily="34" charset="-122"/>
                <a:cs typeface="Inter" pitchFamily="34" charset="-120"/>
              </a:rPr>
              <a:t>Electronic Codebook: Each block is encrypted independently. Same plaintext block always results in the same ciphertext block.</a:t>
            </a:r>
            <a:endParaRPr lang="en-US" sz="1135" dirty="0"/>
          </a:p>
        </p:txBody>
      </p:sp>
      <p:sp>
        <p:nvSpPr>
          <p:cNvPr id="15" name="Shape 11"/>
          <p:cNvSpPr/>
          <p:nvPr/>
        </p:nvSpPr>
        <p:spPr>
          <a:xfrm>
            <a:off x="571500" y="4506664"/>
            <a:ext cx="3301975" cy="647700"/>
          </a:xfrm>
          <a:prstGeom prst="rect">
            <a:avLst/>
          </a:prstGeom>
          <a:solidFill>
            <a:srgbClr val="0D1117"/>
          </a:solidFill>
          <a:ln w="9144">
            <a:solidFill>
              <a:srgbClr val="30363D"/>
            </a:solidFill>
            <a:prstDash val="dash"/>
          </a:ln>
        </p:spPr>
      </p:sp>
      <p:pic>
        <p:nvPicPr>
          <p:cNvPr id="16" name="Image 2" descr="preencoded.png"/>
          <p:cNvPicPr>
            <a:picLocks noChangeAspect="1"/>
          </p:cNvPicPr>
          <p:nvPr/>
        </p:nvPicPr>
        <p:blipFill>
          <a:blip r:embed="rId3"/>
          <a:stretch>
            <a:fillRect/>
          </a:stretch>
        </p:blipFill>
        <p:spPr>
          <a:xfrm>
            <a:off x="714375" y="4661445"/>
            <a:ext cx="133351" cy="133351"/>
          </a:xfrm>
          <a:prstGeom prst="rect">
            <a:avLst/>
          </a:prstGeom>
        </p:spPr>
      </p:pic>
      <p:sp>
        <p:nvSpPr>
          <p:cNvPr id="17" name="Text 12"/>
          <p:cNvSpPr/>
          <p:nvPr/>
        </p:nvSpPr>
        <p:spPr>
          <a:xfrm>
            <a:off x="885825" y="4649540"/>
            <a:ext cx="1010285" cy="144145"/>
          </a:xfrm>
          <a:prstGeom prst="rect">
            <a:avLst/>
          </a:prstGeom>
          <a:noFill/>
        </p:spPr>
        <p:txBody>
          <a:bodyPr wrap="none" lIns="0" tIns="0" rIns="0" bIns="0" rtlCol="0" anchor="t">
            <a:spAutoFit/>
          </a:bodyPr>
          <a:lstStyle/>
          <a:p>
            <a:pPr marL="0" indent="0" algn="l">
              <a:buNone/>
            </a:pPr>
            <a:r>
              <a:rPr lang="en-US" sz="935" b="1" dirty="0">
                <a:solidFill>
                  <a:srgbClr val="8B949E"/>
                </a:solidFill>
                <a:latin typeface="Inter" pitchFamily="34" charset="0"/>
                <a:ea typeface="Inter" pitchFamily="34" charset="-122"/>
                <a:cs typeface="Inter" pitchFamily="34" charset="-120"/>
              </a:rPr>
              <a:t>The Penguin Effect:</a:t>
            </a:r>
            <a:endParaRPr lang="en-US" sz="935" dirty="0"/>
          </a:p>
        </p:txBody>
      </p:sp>
      <p:sp>
        <p:nvSpPr>
          <p:cNvPr id="18" name="Text 13"/>
          <p:cNvSpPr/>
          <p:nvPr/>
        </p:nvSpPr>
        <p:spPr>
          <a:xfrm>
            <a:off x="2126456" y="4649540"/>
            <a:ext cx="113538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Encrypting an image</a:t>
            </a:r>
            <a:endParaRPr lang="en-US" sz="1000" dirty="0"/>
          </a:p>
        </p:txBody>
      </p:sp>
      <p:sp>
        <p:nvSpPr>
          <p:cNvPr id="19" name="Text 14"/>
          <p:cNvSpPr/>
          <p:nvPr/>
        </p:nvSpPr>
        <p:spPr>
          <a:xfrm>
            <a:off x="714375" y="4811464"/>
            <a:ext cx="2876551"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with ECB reveals the original shapes because</a:t>
            </a:r>
            <a:endParaRPr lang="en-US" sz="1000" dirty="0"/>
          </a:p>
        </p:txBody>
      </p:sp>
      <p:sp>
        <p:nvSpPr>
          <p:cNvPr id="20" name="Text 15"/>
          <p:cNvSpPr/>
          <p:nvPr/>
        </p:nvSpPr>
        <p:spPr>
          <a:xfrm>
            <a:off x="714375" y="4973389"/>
            <a:ext cx="1302385"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patterns are preserved.</a:t>
            </a:r>
            <a:endParaRPr lang="en-US" sz="1000" dirty="0"/>
          </a:p>
        </p:txBody>
      </p:sp>
      <p:sp>
        <p:nvSpPr>
          <p:cNvPr id="21" name="Shape 16"/>
          <p:cNvSpPr/>
          <p:nvPr/>
        </p:nvSpPr>
        <p:spPr>
          <a:xfrm>
            <a:off x="4254475" y="2331244"/>
            <a:ext cx="3683012" cy="3724275"/>
          </a:xfrm>
          <a:prstGeom prst="rect">
            <a:avLst/>
          </a:prstGeom>
          <a:solidFill>
            <a:srgbClr val="161B22"/>
          </a:solidFill>
          <a:ln w="9144">
            <a:solidFill>
              <a:srgbClr val="30363D"/>
            </a:solidFill>
            <a:prstDash val="solid"/>
          </a:ln>
        </p:spPr>
      </p:sp>
      <p:pic>
        <p:nvPicPr>
          <p:cNvPr id="22" name="Image 3" descr="preencoded.png"/>
          <p:cNvPicPr>
            <a:picLocks noChangeAspect="1"/>
          </p:cNvPicPr>
          <p:nvPr/>
        </p:nvPicPr>
        <p:blipFill>
          <a:blip r:embed="rId4"/>
          <a:stretch>
            <a:fillRect/>
          </a:stretch>
        </p:blipFill>
        <p:spPr>
          <a:xfrm>
            <a:off x="4444975" y="2627709"/>
            <a:ext cx="285751" cy="228600"/>
          </a:xfrm>
          <a:prstGeom prst="rect">
            <a:avLst/>
          </a:prstGeom>
        </p:spPr>
      </p:pic>
      <p:sp>
        <p:nvSpPr>
          <p:cNvPr id="23" name="Text 17"/>
          <p:cNvSpPr/>
          <p:nvPr/>
        </p:nvSpPr>
        <p:spPr>
          <a:xfrm>
            <a:off x="4825975" y="2569369"/>
            <a:ext cx="368935" cy="255905"/>
          </a:xfrm>
          <a:prstGeom prst="rect">
            <a:avLst/>
          </a:prstGeom>
          <a:noFill/>
        </p:spPr>
        <p:txBody>
          <a:bodyPr wrap="none" lIns="0" tIns="0" rIns="0" bIns="0" rtlCol="0" anchor="t">
            <a:spAutoFit/>
          </a:bodyPr>
          <a:lstStyle/>
          <a:p>
            <a:pPr marL="0" indent="0" algn="l">
              <a:buNone/>
            </a:pPr>
            <a:r>
              <a:rPr lang="en-US" sz="1665" dirty="0">
                <a:solidFill>
                  <a:srgbClr val="58A6FF"/>
                </a:solidFill>
                <a:latin typeface="Poppins SemiBold" pitchFamily="34" charset="0"/>
                <a:ea typeface="Poppins SemiBold" pitchFamily="34" charset="-122"/>
                <a:cs typeface="Poppins SemiBold" pitchFamily="34" charset="-120"/>
              </a:rPr>
              <a:t>CBC</a:t>
            </a:r>
            <a:endParaRPr lang="en-US" sz="1665" dirty="0"/>
          </a:p>
        </p:txBody>
      </p:sp>
      <p:sp>
        <p:nvSpPr>
          <p:cNvPr id="24" name="Shape 18"/>
          <p:cNvSpPr/>
          <p:nvPr/>
        </p:nvSpPr>
        <p:spPr>
          <a:xfrm>
            <a:off x="4444975" y="3057525"/>
            <a:ext cx="692944" cy="207169"/>
          </a:xfrm>
          <a:prstGeom prst="rect">
            <a:avLst/>
          </a:prstGeom>
          <a:solidFill>
            <a:srgbClr val="00FF9C">
              <a:alpha val="10000"/>
            </a:srgbClr>
          </a:solidFill>
          <a:ln w="9144">
            <a:solidFill>
              <a:srgbClr val="00FF9C"/>
            </a:solidFill>
            <a:prstDash val="solid"/>
          </a:ln>
        </p:spPr>
      </p:sp>
      <p:sp>
        <p:nvSpPr>
          <p:cNvPr id="25" name="Text 19"/>
          <p:cNvSpPr/>
          <p:nvPr/>
        </p:nvSpPr>
        <p:spPr>
          <a:xfrm>
            <a:off x="4444975" y="3057525"/>
            <a:ext cx="618490" cy="167640"/>
          </a:xfrm>
          <a:prstGeom prst="rect">
            <a:avLst/>
          </a:prstGeom>
          <a:noFill/>
        </p:spPr>
        <p:txBody>
          <a:bodyPr wrap="none" lIns="113453" tIns="45381" rIns="113453" bIns="0" rtlCol="0" anchor="t">
            <a:spAutoFit/>
          </a:bodyPr>
          <a:lstStyle/>
          <a:p>
            <a:pPr marL="0" indent="0" algn="l">
              <a:buNone/>
            </a:pPr>
            <a:r>
              <a:rPr lang="en-US" sz="800" dirty="0">
                <a:solidFill>
                  <a:srgbClr val="00FF9C"/>
                </a:solidFill>
                <a:latin typeface="JetBrains Mono Medium" pitchFamily="34" charset="0"/>
                <a:ea typeface="JetBrains Mono Medium" pitchFamily="34" charset="-122"/>
                <a:cs typeface="JetBrains Mono Medium" pitchFamily="34" charset="-120"/>
              </a:rPr>
              <a:t>SECURE*</a:t>
            </a:r>
            <a:endParaRPr lang="en-US" sz="800" dirty="0"/>
          </a:p>
        </p:txBody>
      </p:sp>
      <p:sp>
        <p:nvSpPr>
          <p:cNvPr id="26" name="Text 20"/>
          <p:cNvSpPr/>
          <p:nvPr/>
        </p:nvSpPr>
        <p:spPr>
          <a:xfrm>
            <a:off x="4444975" y="3388519"/>
            <a:ext cx="3302012" cy="673100"/>
          </a:xfrm>
          <a:prstGeom prst="rect">
            <a:avLst/>
          </a:prstGeom>
          <a:noFill/>
        </p:spPr>
        <p:txBody>
          <a:bodyPr wrap="square" lIns="0" tIns="0" rIns="0" bIns="0" rtlCol="0" anchor="t">
            <a:spAutoFit/>
          </a:bodyPr>
          <a:lstStyle/>
          <a:p>
            <a:pPr marL="0" indent="0" algn="l">
              <a:lnSpc>
                <a:spcPct val="128000"/>
              </a:lnSpc>
              <a:buNone/>
            </a:pPr>
            <a:r>
              <a:rPr lang="en-US" sz="1135" dirty="0">
                <a:solidFill>
                  <a:srgbClr val="E6EDF3"/>
                </a:solidFill>
                <a:latin typeface="Inter" pitchFamily="34" charset="0"/>
                <a:ea typeface="Inter" pitchFamily="34" charset="-122"/>
                <a:cs typeface="Inter" pitchFamily="34" charset="-120"/>
              </a:rPr>
              <a:t>Cipher Block Chaining: Each block is XOR'd with the previous ciphertext block before encryption. Requires an </a:t>
            </a:r>
            <a:r>
              <a:rPr lang="en-US" sz="1065" b="1" dirty="0">
                <a:solidFill>
                  <a:srgbClr val="E6EDF3"/>
                </a:solidFill>
                <a:latin typeface="Inter" pitchFamily="34" charset="0"/>
                <a:ea typeface="Inter" pitchFamily="34" charset="-122"/>
                <a:cs typeface="Inter" pitchFamily="34" charset="-120"/>
              </a:rPr>
              <a:t>IV</a:t>
            </a:r>
            <a:r>
              <a:rPr lang="en-US" sz="1135" dirty="0">
                <a:solidFill>
                  <a:srgbClr val="E6EDF3"/>
                </a:solidFill>
                <a:latin typeface="Inter" pitchFamily="34" charset="0"/>
                <a:ea typeface="Inter" pitchFamily="34" charset="-122"/>
                <a:cs typeface="Inter" pitchFamily="34" charset="-120"/>
              </a:rPr>
              <a:t> (Initialization Vector).</a:t>
            </a:r>
            <a:endParaRPr lang="en-US" sz="1135" dirty="0"/>
          </a:p>
        </p:txBody>
      </p:sp>
      <p:sp>
        <p:nvSpPr>
          <p:cNvPr id="27" name="Shape 21"/>
          <p:cNvSpPr/>
          <p:nvPr/>
        </p:nvSpPr>
        <p:spPr>
          <a:xfrm>
            <a:off x="4444975" y="4506664"/>
            <a:ext cx="3302012" cy="647700"/>
          </a:xfrm>
          <a:prstGeom prst="rect">
            <a:avLst/>
          </a:prstGeom>
          <a:solidFill>
            <a:srgbClr val="0D1117"/>
          </a:solidFill>
          <a:ln w="9144">
            <a:solidFill>
              <a:srgbClr val="30363D"/>
            </a:solidFill>
            <a:prstDash val="dash"/>
          </a:ln>
        </p:spPr>
      </p:sp>
      <p:pic>
        <p:nvPicPr>
          <p:cNvPr id="28" name="Image 4" descr="preencoded.png"/>
          <p:cNvPicPr>
            <a:picLocks noChangeAspect="1"/>
          </p:cNvPicPr>
          <p:nvPr/>
        </p:nvPicPr>
        <p:blipFill>
          <a:blip r:embed="rId5"/>
          <a:stretch>
            <a:fillRect/>
          </a:stretch>
        </p:blipFill>
        <p:spPr>
          <a:xfrm>
            <a:off x="4587851" y="4661445"/>
            <a:ext cx="133351" cy="133351"/>
          </a:xfrm>
          <a:prstGeom prst="rect">
            <a:avLst/>
          </a:prstGeom>
        </p:spPr>
      </p:pic>
      <p:sp>
        <p:nvSpPr>
          <p:cNvPr id="29" name="Text 22"/>
          <p:cNvSpPr/>
          <p:nvPr/>
        </p:nvSpPr>
        <p:spPr>
          <a:xfrm>
            <a:off x="4759300" y="4649540"/>
            <a:ext cx="690880" cy="144145"/>
          </a:xfrm>
          <a:prstGeom prst="rect">
            <a:avLst/>
          </a:prstGeom>
          <a:noFill/>
        </p:spPr>
        <p:txBody>
          <a:bodyPr wrap="none" lIns="0" tIns="0" rIns="0" bIns="0" rtlCol="0" anchor="t">
            <a:spAutoFit/>
          </a:bodyPr>
          <a:lstStyle/>
          <a:p>
            <a:pPr marL="0" indent="0" algn="l">
              <a:buNone/>
            </a:pPr>
            <a:r>
              <a:rPr lang="en-US" sz="935" b="1" dirty="0">
                <a:solidFill>
                  <a:srgbClr val="8B949E"/>
                </a:solidFill>
                <a:latin typeface="Inter" pitchFamily="34" charset="0"/>
                <a:ea typeface="Inter" pitchFamily="34" charset="-122"/>
                <a:cs typeface="Inter" pitchFamily="34" charset="-120"/>
              </a:rPr>
              <a:t>Vulnerability:</a:t>
            </a:r>
            <a:endParaRPr lang="en-US" sz="935" dirty="0"/>
          </a:p>
        </p:txBody>
      </p:sp>
      <p:sp>
        <p:nvSpPr>
          <p:cNvPr id="30" name="Text 23"/>
          <p:cNvSpPr/>
          <p:nvPr/>
        </p:nvSpPr>
        <p:spPr>
          <a:xfrm>
            <a:off x="5583213" y="4649540"/>
            <a:ext cx="1257935"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Secure if implemented</a:t>
            </a:r>
            <a:endParaRPr lang="en-US" sz="1000" dirty="0"/>
          </a:p>
        </p:txBody>
      </p:sp>
      <p:sp>
        <p:nvSpPr>
          <p:cNvPr id="31" name="Text 24"/>
          <p:cNvSpPr/>
          <p:nvPr/>
        </p:nvSpPr>
        <p:spPr>
          <a:xfrm>
            <a:off x="4587851" y="4811464"/>
            <a:ext cx="1731169"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correctly, but vulnerable to</a:t>
            </a:r>
            <a:endParaRPr lang="en-US" sz="1000" dirty="0"/>
          </a:p>
        </p:txBody>
      </p:sp>
      <p:sp>
        <p:nvSpPr>
          <p:cNvPr id="32" name="Text 25"/>
          <p:cNvSpPr/>
          <p:nvPr/>
        </p:nvSpPr>
        <p:spPr>
          <a:xfrm>
            <a:off x="6319019" y="4811464"/>
            <a:ext cx="844550" cy="153670"/>
          </a:xfrm>
          <a:prstGeom prst="rect">
            <a:avLst/>
          </a:prstGeom>
          <a:noFill/>
        </p:spPr>
        <p:txBody>
          <a:bodyPr wrap="none" lIns="0" tIns="0" rIns="0" bIns="0" rtlCol="0" anchor="t">
            <a:spAutoFit/>
          </a:bodyPr>
          <a:lstStyle/>
          <a:p>
            <a:pPr marL="0" indent="0" algn="l">
              <a:buNone/>
            </a:pPr>
            <a:r>
              <a:rPr lang="en-US" sz="1000" i="1" dirty="0">
                <a:solidFill>
                  <a:srgbClr val="8B949E"/>
                </a:solidFill>
                <a:latin typeface="Inter" pitchFamily="34" charset="0"/>
                <a:ea typeface="Inter" pitchFamily="34" charset="-122"/>
                <a:cs typeface="Inter" pitchFamily="34" charset="-120"/>
              </a:rPr>
              <a:t>Padding Oracle</a:t>
            </a:r>
            <a:endParaRPr lang="en-US" sz="1000" dirty="0"/>
          </a:p>
        </p:txBody>
      </p:sp>
      <p:sp>
        <p:nvSpPr>
          <p:cNvPr id="33" name="Text 26"/>
          <p:cNvSpPr/>
          <p:nvPr/>
        </p:nvSpPr>
        <p:spPr>
          <a:xfrm>
            <a:off x="4587851" y="4973389"/>
            <a:ext cx="423545"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attacks.</a:t>
            </a:r>
            <a:endParaRPr lang="en-US" sz="1000" dirty="0"/>
          </a:p>
        </p:txBody>
      </p:sp>
      <p:sp>
        <p:nvSpPr>
          <p:cNvPr id="34" name="Shape 27"/>
          <p:cNvSpPr/>
          <p:nvPr/>
        </p:nvSpPr>
        <p:spPr>
          <a:xfrm>
            <a:off x="8127988" y="2331244"/>
            <a:ext cx="3682975" cy="3724275"/>
          </a:xfrm>
          <a:prstGeom prst="rect">
            <a:avLst/>
          </a:prstGeom>
          <a:solidFill>
            <a:srgbClr val="161B22"/>
          </a:solidFill>
          <a:ln w="9144">
            <a:solidFill>
              <a:srgbClr val="30363D"/>
            </a:solidFill>
            <a:prstDash val="solid"/>
          </a:ln>
        </p:spPr>
      </p:sp>
      <p:pic>
        <p:nvPicPr>
          <p:cNvPr id="35" name="Image 5" descr="preencoded.png"/>
          <p:cNvPicPr>
            <a:picLocks noChangeAspect="1"/>
          </p:cNvPicPr>
          <p:nvPr/>
        </p:nvPicPr>
        <p:blipFill>
          <a:blip r:embed="rId6"/>
          <a:stretch>
            <a:fillRect/>
          </a:stretch>
        </p:blipFill>
        <p:spPr>
          <a:xfrm>
            <a:off x="8318488" y="2627709"/>
            <a:ext cx="228600" cy="228600"/>
          </a:xfrm>
          <a:prstGeom prst="rect">
            <a:avLst/>
          </a:prstGeom>
        </p:spPr>
      </p:pic>
      <p:sp>
        <p:nvSpPr>
          <p:cNvPr id="36" name="Text 28"/>
          <p:cNvSpPr/>
          <p:nvPr/>
        </p:nvSpPr>
        <p:spPr>
          <a:xfrm>
            <a:off x="8642337" y="2569369"/>
            <a:ext cx="351790" cy="255905"/>
          </a:xfrm>
          <a:prstGeom prst="rect">
            <a:avLst/>
          </a:prstGeom>
          <a:noFill/>
        </p:spPr>
        <p:txBody>
          <a:bodyPr wrap="none" lIns="0" tIns="0" rIns="0" bIns="0" rtlCol="0" anchor="t">
            <a:spAutoFit/>
          </a:bodyPr>
          <a:lstStyle/>
          <a:p>
            <a:pPr marL="0" indent="0" algn="l">
              <a:buNone/>
            </a:pPr>
            <a:r>
              <a:rPr lang="en-US" sz="1665" dirty="0">
                <a:solidFill>
                  <a:srgbClr val="58A6FF"/>
                </a:solidFill>
                <a:latin typeface="Poppins SemiBold" pitchFamily="34" charset="0"/>
                <a:ea typeface="Poppins SemiBold" pitchFamily="34" charset="-122"/>
                <a:cs typeface="Poppins SemiBold" pitchFamily="34" charset="-120"/>
              </a:rPr>
              <a:t>CTR</a:t>
            </a:r>
            <a:endParaRPr lang="en-US" sz="1665" dirty="0"/>
          </a:p>
        </p:txBody>
      </p:sp>
      <p:sp>
        <p:nvSpPr>
          <p:cNvPr id="37" name="Shape 29"/>
          <p:cNvSpPr/>
          <p:nvPr/>
        </p:nvSpPr>
        <p:spPr>
          <a:xfrm>
            <a:off x="8318488" y="3057525"/>
            <a:ext cx="623888" cy="207169"/>
          </a:xfrm>
          <a:prstGeom prst="rect">
            <a:avLst/>
          </a:prstGeom>
          <a:solidFill>
            <a:srgbClr val="00FF9C">
              <a:alpha val="10000"/>
            </a:srgbClr>
          </a:solidFill>
          <a:ln w="9144">
            <a:solidFill>
              <a:srgbClr val="00FF9C"/>
            </a:solidFill>
            <a:prstDash val="solid"/>
          </a:ln>
        </p:spPr>
      </p:sp>
      <p:sp>
        <p:nvSpPr>
          <p:cNvPr id="38" name="Text 30"/>
          <p:cNvSpPr/>
          <p:nvPr/>
        </p:nvSpPr>
        <p:spPr>
          <a:xfrm>
            <a:off x="8318488" y="3057525"/>
            <a:ext cx="562610" cy="167640"/>
          </a:xfrm>
          <a:prstGeom prst="rect">
            <a:avLst/>
          </a:prstGeom>
          <a:noFill/>
        </p:spPr>
        <p:txBody>
          <a:bodyPr wrap="none" lIns="113453" tIns="45381" rIns="113453" bIns="0" rtlCol="0" anchor="t">
            <a:spAutoFit/>
          </a:bodyPr>
          <a:lstStyle/>
          <a:p>
            <a:pPr marL="0" indent="0" algn="l">
              <a:buNone/>
            </a:pPr>
            <a:r>
              <a:rPr lang="en-US" sz="800" dirty="0">
                <a:solidFill>
                  <a:srgbClr val="00FF9C"/>
                </a:solidFill>
                <a:latin typeface="JetBrains Mono Medium" pitchFamily="34" charset="0"/>
                <a:ea typeface="JetBrains Mono Medium" pitchFamily="34" charset="-122"/>
                <a:cs typeface="JetBrains Mono Medium" pitchFamily="34" charset="-120"/>
              </a:rPr>
              <a:t>SECURE</a:t>
            </a:r>
            <a:endParaRPr lang="en-US" sz="800" dirty="0"/>
          </a:p>
        </p:txBody>
      </p:sp>
      <p:sp>
        <p:nvSpPr>
          <p:cNvPr id="39" name="Text 31"/>
          <p:cNvSpPr/>
          <p:nvPr/>
        </p:nvSpPr>
        <p:spPr>
          <a:xfrm>
            <a:off x="8318488" y="3388519"/>
            <a:ext cx="3301975" cy="673100"/>
          </a:xfrm>
          <a:prstGeom prst="rect">
            <a:avLst/>
          </a:prstGeom>
          <a:noFill/>
        </p:spPr>
        <p:txBody>
          <a:bodyPr wrap="square" lIns="0" tIns="0" rIns="0" bIns="0" rtlCol="0" anchor="t">
            <a:spAutoFit/>
          </a:bodyPr>
          <a:lstStyle/>
          <a:p>
            <a:pPr marL="0" indent="0" algn="l">
              <a:lnSpc>
                <a:spcPct val="128000"/>
              </a:lnSpc>
              <a:buNone/>
            </a:pPr>
            <a:r>
              <a:rPr lang="en-US" sz="1135" dirty="0">
                <a:solidFill>
                  <a:srgbClr val="E6EDF3"/>
                </a:solidFill>
                <a:latin typeface="Inter" pitchFamily="34" charset="0"/>
                <a:ea typeface="Inter" pitchFamily="34" charset="-122"/>
                <a:cs typeface="Inter" pitchFamily="34" charset="-120"/>
              </a:rPr>
              <a:t>Counter Mode: Turns AES into a stream cipher. Each block is XOR'd with an encrypted counter value. No padding required.</a:t>
            </a:r>
            <a:endParaRPr lang="en-US" sz="1135" dirty="0"/>
          </a:p>
        </p:txBody>
      </p:sp>
      <p:sp>
        <p:nvSpPr>
          <p:cNvPr id="40" name="Shape 32"/>
          <p:cNvSpPr/>
          <p:nvPr/>
        </p:nvSpPr>
        <p:spPr>
          <a:xfrm>
            <a:off x="8318488" y="4506664"/>
            <a:ext cx="3301975" cy="485775"/>
          </a:xfrm>
          <a:prstGeom prst="rect">
            <a:avLst/>
          </a:prstGeom>
          <a:solidFill>
            <a:srgbClr val="0D1117"/>
          </a:solidFill>
          <a:ln w="9144">
            <a:solidFill>
              <a:srgbClr val="30363D"/>
            </a:solidFill>
            <a:prstDash val="dash"/>
          </a:ln>
        </p:spPr>
      </p:sp>
      <p:pic>
        <p:nvPicPr>
          <p:cNvPr id="41" name="Image 6" descr="preencoded.png"/>
          <p:cNvPicPr>
            <a:picLocks noChangeAspect="1"/>
          </p:cNvPicPr>
          <p:nvPr/>
        </p:nvPicPr>
        <p:blipFill>
          <a:blip r:embed="rId7"/>
          <a:stretch>
            <a:fillRect/>
          </a:stretch>
        </p:blipFill>
        <p:spPr>
          <a:xfrm>
            <a:off x="8461363" y="4661445"/>
            <a:ext cx="100012" cy="133351"/>
          </a:xfrm>
          <a:prstGeom prst="rect">
            <a:avLst/>
          </a:prstGeom>
        </p:spPr>
      </p:pic>
      <p:sp>
        <p:nvSpPr>
          <p:cNvPr id="42" name="Text 33"/>
          <p:cNvSpPr/>
          <p:nvPr/>
        </p:nvSpPr>
        <p:spPr>
          <a:xfrm>
            <a:off x="8599475" y="4649540"/>
            <a:ext cx="401320" cy="144145"/>
          </a:xfrm>
          <a:prstGeom prst="rect">
            <a:avLst/>
          </a:prstGeom>
          <a:noFill/>
        </p:spPr>
        <p:txBody>
          <a:bodyPr wrap="none" lIns="0" tIns="0" rIns="0" bIns="0" rtlCol="0" anchor="t">
            <a:spAutoFit/>
          </a:bodyPr>
          <a:lstStyle/>
          <a:p>
            <a:pPr marL="0" indent="0" algn="l">
              <a:buNone/>
            </a:pPr>
            <a:r>
              <a:rPr lang="en-US" sz="935" b="1" dirty="0">
                <a:solidFill>
                  <a:srgbClr val="8B949E"/>
                </a:solidFill>
                <a:latin typeface="Inter" pitchFamily="34" charset="0"/>
                <a:ea typeface="Inter" pitchFamily="34" charset="-122"/>
                <a:cs typeface="Inter" pitchFamily="34" charset="-120"/>
              </a:rPr>
              <a:t>Benefit:</a:t>
            </a:r>
            <a:endParaRPr lang="en-US" sz="935" dirty="0"/>
          </a:p>
        </p:txBody>
      </p:sp>
      <p:sp>
        <p:nvSpPr>
          <p:cNvPr id="43" name="Text 34"/>
          <p:cNvSpPr/>
          <p:nvPr/>
        </p:nvSpPr>
        <p:spPr>
          <a:xfrm>
            <a:off x="9087632" y="4649540"/>
            <a:ext cx="2174081"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Highly efficient and parallelizable.</a:t>
            </a:r>
            <a:endParaRPr lang="en-US" sz="1000" dirty="0"/>
          </a:p>
        </p:txBody>
      </p:sp>
      <p:sp>
        <p:nvSpPr>
          <p:cNvPr id="44" name="Text 35"/>
          <p:cNvSpPr/>
          <p:nvPr/>
        </p:nvSpPr>
        <p:spPr>
          <a:xfrm>
            <a:off x="8461363" y="4811464"/>
            <a:ext cx="2424112"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Used in modern protocols like TLS 1.3.</a:t>
            </a:r>
            <a:endParaRPr lang="en-US" sz="1000" dirty="0"/>
          </a:p>
        </p:txBody>
      </p:sp>
      <p:sp>
        <p:nvSpPr>
          <p:cNvPr id="45" name="Shape 36"/>
          <p:cNvSpPr/>
          <p:nvPr/>
        </p:nvSpPr>
        <p:spPr>
          <a:xfrm>
            <a:off x="381000" y="6341110"/>
            <a:ext cx="11430000" cy="654685"/>
          </a:xfrm>
          <a:prstGeom prst="rect">
            <a:avLst/>
          </a:prstGeom>
          <a:solidFill>
            <a:srgbClr val="FF6B6B">
              <a:alpha val="10000"/>
            </a:srgbClr>
          </a:solidFill>
          <a:ln w="9144">
            <a:solidFill>
              <a:srgbClr val="FF6B6B"/>
            </a:solidFill>
            <a:prstDash val="solid"/>
          </a:ln>
        </p:spPr>
      </p:sp>
      <p:pic>
        <p:nvPicPr>
          <p:cNvPr id="46" name="Image 7" descr="preencoded.png"/>
          <p:cNvPicPr>
            <a:picLocks noChangeAspect="1"/>
          </p:cNvPicPr>
          <p:nvPr/>
        </p:nvPicPr>
        <p:blipFill>
          <a:blip r:embed="rId8"/>
          <a:stretch>
            <a:fillRect/>
          </a:stretch>
        </p:blipFill>
        <p:spPr>
          <a:xfrm>
            <a:off x="571500" y="6556534"/>
            <a:ext cx="166688" cy="190500"/>
          </a:xfrm>
          <a:prstGeom prst="rect">
            <a:avLst/>
          </a:prstGeom>
        </p:spPr>
      </p:pic>
      <p:sp>
        <p:nvSpPr>
          <p:cNvPr id="47" name="Text 37"/>
          <p:cNvSpPr/>
          <p:nvPr/>
        </p:nvSpPr>
        <p:spPr>
          <a:xfrm>
            <a:off x="881063" y="6531769"/>
            <a:ext cx="10739437" cy="215265"/>
          </a:xfrm>
          <a:prstGeom prst="rect">
            <a:avLst/>
          </a:prstGeom>
          <a:noFill/>
        </p:spPr>
        <p:txBody>
          <a:bodyPr wrap="square" lIns="0" tIns="0" rIns="0" bIns="0" rtlCol="0" anchor="t">
            <a:spAutoFit/>
          </a:bodyPr>
          <a:lstStyle/>
          <a:p>
            <a:pPr marL="0" indent="0" algn="l">
              <a:buNone/>
            </a:pPr>
            <a:r>
              <a:rPr lang="en-US" sz="1335" b="1" dirty="0">
                <a:solidFill>
                  <a:srgbClr val="FF6B6B"/>
                </a:solidFill>
                <a:latin typeface="Poppins SemiBold" pitchFamily="34" charset="0"/>
                <a:ea typeface="Poppins SemiBold" pitchFamily="34" charset="-122"/>
                <a:cs typeface="Poppins SemiBold" pitchFamily="34" charset="-120"/>
              </a:rPr>
              <a:t>CTF TIP:</a:t>
            </a:r>
            <a:r>
              <a:rPr lang="en-US" sz="1400" dirty="0">
                <a:solidFill>
                  <a:srgbClr val="FF6B6B"/>
                </a:solidFill>
                <a:latin typeface="Poppins SemiBold" pitchFamily="34" charset="0"/>
                <a:ea typeface="Poppins SemiBold" pitchFamily="34" charset="-122"/>
                <a:cs typeface="Poppins SemiBold" pitchFamily="34" charset="-120"/>
              </a:rPr>
              <a:t> If you see </a:t>
            </a:r>
            <a:r>
              <a:rPr lang="en-US" sz="1400" dirty="0">
                <a:solidFill>
                  <a:srgbClr val="FF6B6B"/>
                </a:solidFill>
                <a:latin typeface="JetBrains Mono Medium" pitchFamily="34" charset="0"/>
                <a:ea typeface="JetBrains Mono Medium" pitchFamily="34" charset="-122"/>
                <a:cs typeface="JetBrains Mono Medium" pitchFamily="34" charset="-120"/>
              </a:rPr>
              <a:t>ECB mode</a:t>
            </a:r>
            <a:r>
              <a:rPr lang="en-US" sz="1400" dirty="0">
                <a:solidFill>
                  <a:srgbClr val="FF6B6B"/>
                </a:solidFill>
                <a:latin typeface="Poppins SemiBold" pitchFamily="34" charset="0"/>
                <a:ea typeface="Poppins SemiBold" pitchFamily="34" charset="-122"/>
                <a:cs typeface="Poppins SemiBold" pitchFamily="34" charset="-120"/>
              </a:rPr>
              <a:t> mentioned in a challenge — it's almost certainly the intended vulnerability. Look for repeated patterns!</a:t>
            </a:r>
            <a:endParaRPr lang="en-US" sz="1335" dirty="0"/>
          </a:p>
        </p:txBody>
      </p:sp>
      <p:grpSp>
        <p:nvGrpSpPr>
          <p:cNvPr id="48" name="Group 2"/>
          <p:cNvGrpSpPr/>
          <p:nvPr/>
        </p:nvGrpSpPr>
        <p:grpSpPr>
          <a:xfrm rot="0">
            <a:off x="294640" y="194310"/>
            <a:ext cx="789305" cy="299720"/>
            <a:chOff x="0" y="0"/>
            <a:chExt cx="341337" cy="102463"/>
          </a:xfrm>
        </p:grpSpPr>
        <p:sp>
          <p:nvSpPr>
            <p:cNvPr id="49"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50"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51" name="Group 5"/>
          <p:cNvGrpSpPr/>
          <p:nvPr/>
        </p:nvGrpSpPr>
        <p:grpSpPr>
          <a:xfrm rot="0">
            <a:off x="822325" y="209550"/>
            <a:ext cx="220980" cy="246380"/>
            <a:chOff x="0" y="0"/>
            <a:chExt cx="812800" cy="812800"/>
          </a:xfrm>
        </p:grpSpPr>
        <p:sp>
          <p:nvSpPr>
            <p:cNvPr id="52"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3"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54"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55 | EWUCSC</a:t>
            </a:r>
            <a:endParaRPr lang="en-US" sz="1265" dirty="0"/>
          </a:p>
        </p:txBody>
      </p:sp>
      <p:sp>
        <p:nvSpPr>
          <p:cNvPr id="7" name="Text 4"/>
          <p:cNvSpPr/>
          <p:nvPr/>
        </p:nvSpPr>
        <p:spPr>
          <a:xfrm>
            <a:off x="381000" y="952500"/>
            <a:ext cx="6026720" cy="861695"/>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RSA: Math So Beautiful It Became a Secret</a:t>
            </a:r>
            <a:endParaRPr lang="en-US" sz="2800" dirty="0"/>
          </a:p>
        </p:txBody>
      </p:sp>
      <p:sp>
        <p:nvSpPr>
          <p:cNvPr id="8" name="Text 5"/>
          <p:cNvSpPr/>
          <p:nvPr/>
        </p:nvSpPr>
        <p:spPr>
          <a:xfrm>
            <a:off x="381000" y="2486025"/>
            <a:ext cx="6026720" cy="826770"/>
          </a:xfrm>
          <a:prstGeom prst="rect">
            <a:avLst/>
          </a:prstGeom>
          <a:noFill/>
        </p:spPr>
        <p:txBody>
          <a:bodyPr wrap="square" lIns="0" tIns="0" rIns="0" bIns="0" rtlCol="0" anchor="t">
            <a:spAutoFit/>
          </a:bodyPr>
          <a:lstStyle/>
          <a:p>
            <a:pPr marL="0" indent="0" algn="l">
              <a:lnSpc>
                <a:spcPct val="128000"/>
              </a:lnSpc>
              <a:buNone/>
            </a:pPr>
            <a:r>
              <a:rPr lang="en-US" sz="1400" dirty="0">
                <a:solidFill>
                  <a:srgbClr val="E6EDF3"/>
                </a:solidFill>
                <a:latin typeface="Inter" pitchFamily="34" charset="0"/>
                <a:ea typeface="Inter" pitchFamily="34" charset="-122"/>
                <a:cs typeface="Inter" pitchFamily="34" charset="-120"/>
              </a:rPr>
              <a:t>In 1977, three MIT mathematicians — </a:t>
            </a:r>
            <a:r>
              <a:rPr lang="en-US" sz="1335" b="1" dirty="0">
                <a:solidFill>
                  <a:srgbClr val="E6EDF3"/>
                </a:solidFill>
                <a:latin typeface="Inter" pitchFamily="34" charset="0"/>
                <a:ea typeface="Inter" pitchFamily="34" charset="-122"/>
                <a:cs typeface="Inter" pitchFamily="34" charset="-120"/>
              </a:rPr>
              <a:t>Rivest, Shamir, and Adleman</a:t>
            </a:r>
            <a:r>
              <a:rPr lang="en-US" sz="1400" dirty="0">
                <a:solidFill>
                  <a:srgbClr val="E6EDF3"/>
                </a:solidFill>
                <a:latin typeface="Inter" pitchFamily="34" charset="0"/>
                <a:ea typeface="Inter" pitchFamily="34" charset="-122"/>
                <a:cs typeface="Inter" pitchFamily="34" charset="-120"/>
              </a:rPr>
              <a:t> — discovered something remarkable: you can create two mathematically linked keys where one encrypts and only the other decrypts.</a:t>
            </a:r>
            <a:endParaRPr lang="en-US" sz="1400" dirty="0"/>
          </a:p>
        </p:txBody>
      </p:sp>
      <p:sp>
        <p:nvSpPr>
          <p:cNvPr id="9" name="Shape 6"/>
          <p:cNvSpPr/>
          <p:nvPr/>
        </p:nvSpPr>
        <p:spPr>
          <a:xfrm>
            <a:off x="381000" y="4133851"/>
            <a:ext cx="6026720" cy="1666875"/>
          </a:xfrm>
          <a:prstGeom prst="rect">
            <a:avLst/>
          </a:prstGeom>
          <a:solidFill>
            <a:srgbClr val="161B22"/>
          </a:solidFill>
          <a:ln w="9144">
            <a:solidFill>
              <a:srgbClr val="30363D"/>
            </a:solidFill>
            <a:prstDash val="solid"/>
          </a:ln>
        </p:spPr>
      </p:sp>
      <p:pic>
        <p:nvPicPr>
          <p:cNvPr id="10" name="Image 1" descr="preencoded.png"/>
          <p:cNvPicPr>
            <a:picLocks noChangeAspect="1"/>
          </p:cNvPicPr>
          <p:nvPr/>
        </p:nvPicPr>
        <p:blipFill>
          <a:blip r:embed="rId2"/>
          <a:stretch>
            <a:fillRect/>
          </a:stretch>
        </p:blipFill>
        <p:spPr>
          <a:xfrm>
            <a:off x="619125" y="4419600"/>
            <a:ext cx="190500" cy="190500"/>
          </a:xfrm>
          <a:prstGeom prst="rect">
            <a:avLst/>
          </a:prstGeom>
        </p:spPr>
      </p:pic>
      <p:sp>
        <p:nvSpPr>
          <p:cNvPr id="11" name="Text 7"/>
          <p:cNvSpPr/>
          <p:nvPr/>
        </p:nvSpPr>
        <p:spPr>
          <a:xfrm>
            <a:off x="904875" y="4371975"/>
            <a:ext cx="1220470" cy="215265"/>
          </a:xfrm>
          <a:prstGeom prst="rect">
            <a:avLst/>
          </a:prstGeom>
          <a:noFill/>
        </p:spPr>
        <p:txBody>
          <a:bodyPr wrap="none" lIns="0" tIns="0" rIns="0" bIns="0" rtlCol="0" anchor="t">
            <a:spAutoFit/>
          </a:bodyPr>
          <a:lstStyle/>
          <a:p>
            <a:pPr marL="0" indent="0" algn="l">
              <a:buNone/>
            </a:pPr>
            <a:r>
              <a:rPr lang="en-US" sz="1400" dirty="0">
                <a:solidFill>
                  <a:srgbClr val="58A6FF"/>
                </a:solidFill>
                <a:latin typeface="Poppins SemiBold" pitchFamily="34" charset="0"/>
                <a:ea typeface="Poppins SemiBold" pitchFamily="34" charset="-122"/>
                <a:cs typeface="Poppins SemiBold" pitchFamily="34" charset="-120"/>
              </a:rPr>
              <a:t>The Foundation</a:t>
            </a:r>
            <a:endParaRPr lang="en-US" sz="1400" dirty="0"/>
          </a:p>
        </p:txBody>
      </p:sp>
      <p:sp>
        <p:nvSpPr>
          <p:cNvPr id="12" name="Text 8"/>
          <p:cNvSpPr/>
          <p:nvPr/>
        </p:nvSpPr>
        <p:spPr>
          <a:xfrm>
            <a:off x="619125" y="4752975"/>
            <a:ext cx="5550471" cy="935990"/>
          </a:xfrm>
          <a:prstGeom prst="rect">
            <a:avLst/>
          </a:prstGeom>
          <a:noFill/>
        </p:spPr>
        <p:txBody>
          <a:bodyPr wrap="square" lIns="0" tIns="0" rIns="0" bIns="0" rtlCol="0" anchor="t">
            <a:spAutoFit/>
          </a:bodyPr>
          <a:lstStyle/>
          <a:p>
            <a:pPr marL="0" indent="0" algn="l">
              <a:lnSpc>
                <a:spcPct val="120000"/>
              </a:lnSpc>
              <a:buNone/>
            </a:pPr>
            <a:r>
              <a:rPr lang="en-US" sz="1265" dirty="0">
                <a:solidFill>
                  <a:srgbClr val="E6EDF3"/>
                </a:solidFill>
                <a:latin typeface="Inter" pitchFamily="34" charset="0"/>
                <a:ea typeface="Inter" pitchFamily="34" charset="-122"/>
                <a:cs typeface="Inter" pitchFamily="34" charset="-120"/>
              </a:rPr>
              <a:t>Multiplying two large prime numbers is computationally easy. However, factoring the resulting massive number back into its original primes is </a:t>
            </a:r>
            <a:r>
              <a:rPr lang="en-US" sz="1200" b="1" dirty="0">
                <a:solidFill>
                  <a:srgbClr val="E6EDF3"/>
                </a:solidFill>
                <a:latin typeface="Inter" pitchFamily="34" charset="0"/>
                <a:ea typeface="Inter" pitchFamily="34" charset="-122"/>
                <a:cs typeface="Inter" pitchFamily="34" charset="-120"/>
              </a:rPr>
              <a:t>computationally impossible</a:t>
            </a:r>
            <a:r>
              <a:rPr lang="en-US" sz="1265" dirty="0">
                <a:solidFill>
                  <a:srgbClr val="E6EDF3"/>
                </a:solidFill>
                <a:latin typeface="Inter" pitchFamily="34" charset="0"/>
                <a:ea typeface="Inter" pitchFamily="34" charset="-122"/>
                <a:cs typeface="Inter" pitchFamily="34" charset="-120"/>
              </a:rPr>
              <a:t> at a large scale. This "one-way" mathematical door is the heart of RSA.</a:t>
            </a:r>
            <a:endParaRPr lang="en-US" sz="1265" dirty="0"/>
          </a:p>
        </p:txBody>
      </p:sp>
      <p:sp>
        <p:nvSpPr>
          <p:cNvPr id="13" name="Text 9"/>
          <p:cNvSpPr/>
          <p:nvPr/>
        </p:nvSpPr>
        <p:spPr>
          <a:xfrm>
            <a:off x="7131620" y="952500"/>
            <a:ext cx="2609851" cy="194310"/>
          </a:xfrm>
          <a:prstGeom prst="rect">
            <a:avLst/>
          </a:prstGeom>
          <a:noFill/>
        </p:spPr>
        <p:txBody>
          <a:bodyPr wrap="square" lIns="0" tIns="0" rIns="0" bIns="0" rtlCol="0" anchor="t">
            <a:spAutoFit/>
          </a:bodyPr>
          <a:lstStyle/>
          <a:p>
            <a:pPr marL="0" indent="0" algn="l">
              <a:buNone/>
            </a:pPr>
            <a:r>
              <a:rPr lang="en-US" sz="1265" dirty="0">
                <a:solidFill>
                  <a:srgbClr val="E3B341"/>
                </a:solidFill>
                <a:latin typeface="JetBrains Mono Medium" pitchFamily="34" charset="0"/>
                <a:ea typeface="JetBrains Mono Medium" pitchFamily="34" charset="-122"/>
                <a:cs typeface="JetBrains Mono Medium" pitchFamily="34" charset="-120"/>
              </a:rPr>
              <a:t>1977</a:t>
            </a:r>
            <a:endParaRPr lang="en-US" sz="1265" dirty="0"/>
          </a:p>
        </p:txBody>
      </p:sp>
      <p:sp>
        <p:nvSpPr>
          <p:cNvPr id="14" name="Text 10"/>
          <p:cNvSpPr/>
          <p:nvPr/>
        </p:nvSpPr>
        <p:spPr>
          <a:xfrm>
            <a:off x="7131620" y="1226344"/>
            <a:ext cx="2609851" cy="184150"/>
          </a:xfrm>
          <a:prstGeom prst="rect">
            <a:avLst/>
          </a:prstGeom>
          <a:noFill/>
        </p:spPr>
        <p:txBody>
          <a:bodyPr wrap="square" lIns="0" tIns="0" rIns="0" bIns="0" rtlCol="0" anchor="t">
            <a:spAutoFit/>
          </a:bodyPr>
          <a:lstStyle/>
          <a:p>
            <a:pPr marL="0" indent="0" algn="l">
              <a:buNone/>
            </a:pPr>
            <a:r>
              <a:rPr lang="en-US" sz="1200" dirty="0">
                <a:solidFill>
                  <a:srgbClr val="E6EDF3"/>
                </a:solidFill>
                <a:latin typeface="Inter" pitchFamily="34" charset="0"/>
                <a:ea typeface="Inter" pitchFamily="34" charset="-122"/>
                <a:cs typeface="Inter" pitchFamily="34" charset="-120"/>
              </a:rPr>
              <a:t>RSA Algorithm published at MIT.</a:t>
            </a:r>
            <a:endParaRPr lang="en-US" sz="1200" dirty="0"/>
          </a:p>
        </p:txBody>
      </p:sp>
      <p:sp>
        <p:nvSpPr>
          <p:cNvPr id="15" name="Text 11"/>
          <p:cNvSpPr/>
          <p:nvPr/>
        </p:nvSpPr>
        <p:spPr>
          <a:xfrm>
            <a:off x="7131620" y="1909763"/>
            <a:ext cx="2078831" cy="194310"/>
          </a:xfrm>
          <a:prstGeom prst="rect">
            <a:avLst/>
          </a:prstGeom>
          <a:noFill/>
        </p:spPr>
        <p:txBody>
          <a:bodyPr wrap="square" lIns="0" tIns="0" rIns="0" bIns="0" rtlCol="0" anchor="t">
            <a:spAutoFit/>
          </a:bodyPr>
          <a:lstStyle/>
          <a:p>
            <a:pPr marL="0" indent="0" algn="l">
              <a:buNone/>
            </a:pPr>
            <a:r>
              <a:rPr lang="en-US" sz="1265" dirty="0">
                <a:solidFill>
                  <a:srgbClr val="E3B341"/>
                </a:solidFill>
                <a:latin typeface="JetBrains Mono Medium" pitchFamily="34" charset="0"/>
                <a:ea typeface="JetBrains Mono Medium" pitchFamily="34" charset="-122"/>
                <a:cs typeface="JetBrains Mono Medium" pitchFamily="34" charset="-120"/>
              </a:rPr>
              <a:t>1990s</a:t>
            </a:r>
            <a:endParaRPr lang="en-US" sz="1265" dirty="0"/>
          </a:p>
        </p:txBody>
      </p:sp>
      <p:sp>
        <p:nvSpPr>
          <p:cNvPr id="16" name="Text 12"/>
          <p:cNvSpPr/>
          <p:nvPr/>
        </p:nvSpPr>
        <p:spPr>
          <a:xfrm>
            <a:off x="7131620" y="2183607"/>
            <a:ext cx="2078831" cy="184150"/>
          </a:xfrm>
          <a:prstGeom prst="rect">
            <a:avLst/>
          </a:prstGeom>
          <a:noFill/>
        </p:spPr>
        <p:txBody>
          <a:bodyPr wrap="square" lIns="0" tIns="0" rIns="0" bIns="0" rtlCol="0" anchor="t">
            <a:spAutoFit/>
          </a:bodyPr>
          <a:lstStyle/>
          <a:p>
            <a:pPr marL="0" indent="0" algn="l">
              <a:buNone/>
            </a:pPr>
            <a:r>
              <a:rPr lang="en-US" sz="1200" dirty="0">
                <a:solidFill>
                  <a:srgbClr val="E6EDF3"/>
                </a:solidFill>
                <a:latin typeface="Inter" pitchFamily="34" charset="0"/>
                <a:ea typeface="Inter" pitchFamily="34" charset="-122"/>
                <a:cs typeface="Inter" pitchFamily="34" charset="-120"/>
              </a:rPr>
              <a:t>The "Crypto Wars" begin.</a:t>
            </a:r>
            <a:endParaRPr lang="en-US" sz="1200" dirty="0"/>
          </a:p>
        </p:txBody>
      </p:sp>
      <p:sp>
        <p:nvSpPr>
          <p:cNvPr id="17" name="Text 13"/>
          <p:cNvSpPr/>
          <p:nvPr/>
        </p:nvSpPr>
        <p:spPr>
          <a:xfrm>
            <a:off x="7131620" y="2867025"/>
            <a:ext cx="2907507" cy="194310"/>
          </a:xfrm>
          <a:prstGeom prst="rect">
            <a:avLst/>
          </a:prstGeom>
          <a:noFill/>
        </p:spPr>
        <p:txBody>
          <a:bodyPr wrap="square" lIns="0" tIns="0" rIns="0" bIns="0" rtlCol="0" anchor="t">
            <a:spAutoFit/>
          </a:bodyPr>
          <a:lstStyle/>
          <a:p>
            <a:pPr marL="0" indent="0" algn="l">
              <a:buNone/>
            </a:pPr>
            <a:r>
              <a:rPr lang="en-US" sz="1265" dirty="0">
                <a:solidFill>
                  <a:srgbClr val="E3B341"/>
                </a:solidFill>
                <a:latin typeface="JetBrains Mono Medium" pitchFamily="34" charset="0"/>
                <a:ea typeface="JetBrains Mono Medium" pitchFamily="34" charset="-122"/>
                <a:cs typeface="JetBrains Mono Medium" pitchFamily="34" charset="-120"/>
              </a:rPr>
              <a:t>Today</a:t>
            </a:r>
            <a:endParaRPr lang="en-US" sz="1265" dirty="0"/>
          </a:p>
        </p:txBody>
      </p:sp>
      <p:sp>
        <p:nvSpPr>
          <p:cNvPr id="18" name="Text 14"/>
          <p:cNvSpPr/>
          <p:nvPr/>
        </p:nvSpPr>
        <p:spPr>
          <a:xfrm>
            <a:off x="7131620" y="3140869"/>
            <a:ext cx="2907507" cy="184150"/>
          </a:xfrm>
          <a:prstGeom prst="rect">
            <a:avLst/>
          </a:prstGeom>
          <a:noFill/>
        </p:spPr>
        <p:txBody>
          <a:bodyPr wrap="square" lIns="0" tIns="0" rIns="0" bIns="0" rtlCol="0" anchor="t">
            <a:spAutoFit/>
          </a:bodyPr>
          <a:lstStyle/>
          <a:p>
            <a:pPr marL="0" indent="0" algn="l">
              <a:buNone/>
            </a:pPr>
            <a:r>
              <a:rPr lang="en-US" sz="1200" dirty="0">
                <a:solidFill>
                  <a:srgbClr val="E6EDF3"/>
                </a:solidFill>
                <a:latin typeface="Inter" pitchFamily="34" charset="0"/>
                <a:ea typeface="Inter" pitchFamily="34" charset="-122"/>
                <a:cs typeface="Inter" pitchFamily="34" charset="-120"/>
              </a:rPr>
              <a:t>Foundation of all secure web traffic.</a:t>
            </a:r>
            <a:endParaRPr lang="en-US" sz="1200" dirty="0"/>
          </a:p>
        </p:txBody>
      </p:sp>
      <p:sp>
        <p:nvSpPr>
          <p:cNvPr id="19" name="Shape 15"/>
          <p:cNvSpPr/>
          <p:nvPr/>
        </p:nvSpPr>
        <p:spPr>
          <a:xfrm>
            <a:off x="6788785" y="5493385"/>
            <a:ext cx="5022215" cy="1249045"/>
          </a:xfrm>
          <a:prstGeom prst="rect">
            <a:avLst/>
          </a:prstGeom>
          <a:solidFill>
            <a:srgbClr val="FF6B6B">
              <a:alpha val="10000"/>
            </a:srgbClr>
          </a:solidFill>
          <a:ln w="9144">
            <a:solidFill>
              <a:srgbClr val="FF6B6B"/>
            </a:solidFill>
            <a:prstDash val="solid"/>
          </a:ln>
        </p:spPr>
      </p:sp>
      <p:pic>
        <p:nvPicPr>
          <p:cNvPr id="20" name="Image 2" descr="preencoded.png"/>
          <p:cNvPicPr>
            <a:picLocks noChangeAspect="1"/>
          </p:cNvPicPr>
          <p:nvPr/>
        </p:nvPicPr>
        <p:blipFill>
          <a:blip r:embed="rId3"/>
          <a:stretch>
            <a:fillRect/>
          </a:stretch>
        </p:blipFill>
        <p:spPr>
          <a:xfrm>
            <a:off x="6979220" y="5703093"/>
            <a:ext cx="228600" cy="228600"/>
          </a:xfrm>
          <a:prstGeom prst="rect">
            <a:avLst/>
          </a:prstGeom>
        </p:spPr>
      </p:pic>
      <p:sp>
        <p:nvSpPr>
          <p:cNvPr id="21" name="Text 16"/>
          <p:cNvSpPr/>
          <p:nvPr/>
        </p:nvSpPr>
        <p:spPr>
          <a:xfrm>
            <a:off x="6979220" y="6026944"/>
            <a:ext cx="4641280" cy="163830"/>
          </a:xfrm>
          <a:prstGeom prst="rect">
            <a:avLst/>
          </a:prstGeom>
          <a:noFill/>
        </p:spPr>
        <p:txBody>
          <a:bodyPr wrap="square" lIns="0" tIns="0" rIns="0" bIns="0" rtlCol="0" anchor="t">
            <a:spAutoFit/>
          </a:bodyPr>
          <a:lstStyle/>
          <a:p>
            <a:pPr marL="0" indent="0" algn="l">
              <a:buNone/>
            </a:pPr>
            <a:r>
              <a:rPr lang="en-US" sz="1065" b="1" dirty="0">
                <a:solidFill>
                  <a:srgbClr val="FF6B6B"/>
                </a:solidFill>
                <a:latin typeface="Inter" pitchFamily="34" charset="0"/>
                <a:ea typeface="Inter" pitchFamily="34" charset="-122"/>
                <a:cs typeface="Inter" pitchFamily="34" charset="-120"/>
              </a:rPr>
              <a:t>CLASSIFIED AS A WEAPON</a:t>
            </a:r>
            <a:endParaRPr lang="en-US" sz="1065" dirty="0"/>
          </a:p>
        </p:txBody>
      </p:sp>
      <p:sp>
        <p:nvSpPr>
          <p:cNvPr id="22" name="Text 17"/>
          <p:cNvSpPr/>
          <p:nvPr/>
        </p:nvSpPr>
        <p:spPr>
          <a:xfrm>
            <a:off x="6979220" y="6257925"/>
            <a:ext cx="4641280" cy="367665"/>
          </a:xfrm>
          <a:prstGeom prst="rect">
            <a:avLst/>
          </a:prstGeom>
          <a:noFill/>
        </p:spPr>
        <p:txBody>
          <a:bodyPr wrap="square" lIns="0" tIns="0" rIns="0" bIns="0" rtlCol="0" anchor="t">
            <a:spAutoFit/>
          </a:bodyPr>
          <a:lstStyle/>
          <a:p>
            <a:pPr marL="0" indent="0" algn="l">
              <a:lnSpc>
                <a:spcPct val="112000"/>
              </a:lnSpc>
              <a:buNone/>
            </a:pPr>
            <a:r>
              <a:rPr lang="en-US" sz="1065" dirty="0">
                <a:solidFill>
                  <a:srgbClr val="FF6B6B"/>
                </a:solidFill>
                <a:latin typeface="Inter" pitchFamily="34" charset="0"/>
                <a:ea typeface="Inter" pitchFamily="34" charset="-122"/>
                <a:cs typeface="Inter" pitchFamily="34" charset="-120"/>
              </a:rPr>
              <a:t>During the 1990s, the US government classified RSA as a "munition." Exporting the code was legally equivalent to smuggling missiles or tanks.</a:t>
            </a:r>
            <a:endParaRPr lang="en-US" sz="106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56 | EWUCSC</a:t>
            </a:r>
            <a:endParaRPr lang="en-US" sz="1265" dirty="0"/>
          </a:p>
        </p:txBody>
      </p:sp>
      <p:sp>
        <p:nvSpPr>
          <p:cNvPr id="7" name="Text 4"/>
          <p:cNvSpPr/>
          <p:nvPr/>
        </p:nvSpPr>
        <p:spPr>
          <a:xfrm>
            <a:off x="381000" y="857251"/>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RSA Step by Step: Small Number Example</a:t>
            </a:r>
            <a:endParaRPr lang="en-US" sz="2800" dirty="0"/>
          </a:p>
        </p:txBody>
      </p:sp>
      <p:sp>
        <p:nvSpPr>
          <p:cNvPr id="8" name="Shape 5"/>
          <p:cNvSpPr/>
          <p:nvPr/>
        </p:nvSpPr>
        <p:spPr>
          <a:xfrm>
            <a:off x="381000" y="1647825"/>
            <a:ext cx="6078661" cy="447675"/>
          </a:xfrm>
          <a:prstGeom prst="rect">
            <a:avLst/>
          </a:prstGeom>
          <a:solidFill>
            <a:srgbClr val="161B22"/>
          </a:solidFill>
          <a:ln w="9144">
            <a:solidFill>
              <a:srgbClr val="30363D"/>
            </a:solidFill>
            <a:prstDash val="solid"/>
          </a:ln>
        </p:spPr>
      </p:sp>
      <p:sp>
        <p:nvSpPr>
          <p:cNvPr id="9" name="Shape 6"/>
          <p:cNvSpPr/>
          <p:nvPr/>
        </p:nvSpPr>
        <p:spPr>
          <a:xfrm>
            <a:off x="571500" y="1790700"/>
            <a:ext cx="285751" cy="285751"/>
          </a:xfrm>
          <a:prstGeom prst="rect">
            <a:avLst/>
          </a:prstGeom>
          <a:solidFill>
            <a:srgbClr val="58A6FF"/>
          </a:solidFill>
        </p:spPr>
      </p:sp>
      <p:sp>
        <p:nvSpPr>
          <p:cNvPr id="10" name="Text 7"/>
          <p:cNvSpPr/>
          <p:nvPr/>
        </p:nvSpPr>
        <p:spPr>
          <a:xfrm>
            <a:off x="679133" y="1851660"/>
            <a:ext cx="70485" cy="163830"/>
          </a:xfrm>
          <a:prstGeom prst="rect">
            <a:avLst/>
          </a:prstGeom>
          <a:noFill/>
        </p:spPr>
        <p:txBody>
          <a:bodyPr wrap="none" lIns="0" tIns="0" rIns="0" bIns="0" rtlCol="0" anchor="ctr">
            <a:spAutoFit/>
          </a:bodyPr>
          <a:lstStyle/>
          <a:p>
            <a:pPr marL="0" indent="0" algn="ctr">
              <a:buNone/>
            </a:pPr>
            <a:r>
              <a:rPr lang="en-US" sz="1065" b="1" dirty="0">
                <a:solidFill>
                  <a:srgbClr val="0D1117"/>
                </a:solidFill>
                <a:latin typeface="Poppins SemiBold" pitchFamily="34" charset="0"/>
                <a:ea typeface="Poppins SemiBold" pitchFamily="34" charset="-122"/>
                <a:cs typeface="Poppins SemiBold" pitchFamily="34" charset="-120"/>
              </a:rPr>
              <a:t>1</a:t>
            </a:r>
            <a:endParaRPr lang="en-US" sz="1065" dirty="0"/>
          </a:p>
        </p:txBody>
      </p:sp>
      <p:sp>
        <p:nvSpPr>
          <p:cNvPr id="11" name="Text 8"/>
          <p:cNvSpPr/>
          <p:nvPr/>
        </p:nvSpPr>
        <p:spPr>
          <a:xfrm>
            <a:off x="1047751" y="1820465"/>
            <a:ext cx="2457451" cy="194310"/>
          </a:xfrm>
          <a:prstGeom prst="rect">
            <a:avLst/>
          </a:prstGeom>
          <a:noFill/>
        </p:spPr>
        <p:txBody>
          <a:bodyPr wrap="square" lIns="0" tIns="0" rIns="0" bIns="0" rtlCol="0" anchor="t">
            <a:spAutoFit/>
          </a:bodyPr>
          <a:lstStyle/>
          <a:p>
            <a:pPr marL="0" indent="0" algn="l">
              <a:buNone/>
            </a:pPr>
            <a:r>
              <a:rPr lang="en-US" sz="1265" dirty="0">
                <a:solidFill>
                  <a:srgbClr val="E6EDF3"/>
                </a:solidFill>
                <a:latin typeface="JetBrains Mono Medium" pitchFamily="34" charset="0"/>
                <a:ea typeface="JetBrains Mono Medium" pitchFamily="34" charset="-122"/>
                <a:cs typeface="JetBrains Mono Medium" pitchFamily="34" charset="-120"/>
              </a:rPr>
              <a:t>Choose primes: </a:t>
            </a:r>
            <a:r>
              <a:rPr lang="en-US" sz="1265" dirty="0">
                <a:solidFill>
                  <a:srgbClr val="58A6FF"/>
                </a:solidFill>
                <a:latin typeface="JetBrains Mono Medium" pitchFamily="34" charset="0"/>
                <a:ea typeface="JetBrains Mono Medium" pitchFamily="34" charset="-122"/>
                <a:cs typeface="JetBrains Mono Medium" pitchFamily="34" charset="-120"/>
              </a:rPr>
              <a:t>p=5, q=11</a:t>
            </a:r>
            <a:endParaRPr lang="en-US" sz="1265" dirty="0"/>
          </a:p>
        </p:txBody>
      </p:sp>
      <p:sp>
        <p:nvSpPr>
          <p:cNvPr id="12" name="Text 9"/>
          <p:cNvSpPr/>
          <p:nvPr/>
        </p:nvSpPr>
        <p:spPr>
          <a:xfrm>
            <a:off x="5383336" y="1852612"/>
            <a:ext cx="76454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Secret Primes</a:t>
            </a:r>
            <a:endParaRPr lang="en-US" sz="1000" dirty="0"/>
          </a:p>
        </p:txBody>
      </p:sp>
      <p:sp>
        <p:nvSpPr>
          <p:cNvPr id="13" name="Shape 10"/>
          <p:cNvSpPr/>
          <p:nvPr/>
        </p:nvSpPr>
        <p:spPr>
          <a:xfrm>
            <a:off x="381000" y="2219325"/>
            <a:ext cx="6078661" cy="447675"/>
          </a:xfrm>
          <a:prstGeom prst="rect">
            <a:avLst/>
          </a:prstGeom>
          <a:solidFill>
            <a:srgbClr val="161B22"/>
          </a:solidFill>
          <a:ln w="9144">
            <a:solidFill>
              <a:srgbClr val="30363D"/>
            </a:solidFill>
            <a:prstDash val="solid"/>
          </a:ln>
        </p:spPr>
      </p:sp>
      <p:sp>
        <p:nvSpPr>
          <p:cNvPr id="14" name="Shape 11"/>
          <p:cNvSpPr/>
          <p:nvPr/>
        </p:nvSpPr>
        <p:spPr>
          <a:xfrm>
            <a:off x="571500" y="2362200"/>
            <a:ext cx="285751" cy="285751"/>
          </a:xfrm>
          <a:prstGeom prst="rect">
            <a:avLst/>
          </a:prstGeom>
          <a:solidFill>
            <a:srgbClr val="58A6FF"/>
          </a:solidFill>
        </p:spPr>
      </p:sp>
      <p:sp>
        <p:nvSpPr>
          <p:cNvPr id="15" name="Text 12"/>
          <p:cNvSpPr/>
          <p:nvPr/>
        </p:nvSpPr>
        <p:spPr>
          <a:xfrm>
            <a:off x="679133" y="2423160"/>
            <a:ext cx="70485" cy="163830"/>
          </a:xfrm>
          <a:prstGeom prst="rect">
            <a:avLst/>
          </a:prstGeom>
          <a:noFill/>
        </p:spPr>
        <p:txBody>
          <a:bodyPr wrap="none" lIns="0" tIns="0" rIns="0" bIns="0" rtlCol="0" anchor="ctr">
            <a:spAutoFit/>
          </a:bodyPr>
          <a:lstStyle/>
          <a:p>
            <a:pPr marL="0" indent="0" algn="ctr">
              <a:buNone/>
            </a:pPr>
            <a:r>
              <a:rPr lang="en-US" sz="1065" b="1" dirty="0">
                <a:solidFill>
                  <a:srgbClr val="0D1117"/>
                </a:solidFill>
                <a:latin typeface="Poppins SemiBold" pitchFamily="34" charset="0"/>
                <a:ea typeface="Poppins SemiBold" pitchFamily="34" charset="-122"/>
                <a:cs typeface="Poppins SemiBold" pitchFamily="34" charset="-120"/>
              </a:rPr>
              <a:t>2</a:t>
            </a:r>
            <a:endParaRPr lang="en-US" sz="1065" dirty="0"/>
          </a:p>
        </p:txBody>
      </p:sp>
      <p:sp>
        <p:nvSpPr>
          <p:cNvPr id="16" name="Text 13"/>
          <p:cNvSpPr/>
          <p:nvPr/>
        </p:nvSpPr>
        <p:spPr>
          <a:xfrm>
            <a:off x="1047751" y="2391965"/>
            <a:ext cx="1049020" cy="194310"/>
          </a:xfrm>
          <a:prstGeom prst="rect">
            <a:avLst/>
          </a:prstGeom>
          <a:noFill/>
        </p:spPr>
        <p:txBody>
          <a:bodyPr wrap="none" lIns="0" tIns="0" rIns="0" bIns="0" rtlCol="0" anchor="t">
            <a:spAutoFit/>
          </a:bodyPr>
          <a:lstStyle/>
          <a:p>
            <a:pPr marL="0" indent="0" algn="l">
              <a:buNone/>
            </a:pPr>
            <a:r>
              <a:rPr lang="en-US" sz="1265" dirty="0">
                <a:solidFill>
                  <a:srgbClr val="E6EDF3"/>
                </a:solidFill>
                <a:latin typeface="JetBrains Mono Medium" pitchFamily="34" charset="0"/>
                <a:ea typeface="JetBrains Mono Medium" pitchFamily="34" charset="-122"/>
                <a:cs typeface="JetBrains Mono Medium" pitchFamily="34" charset="-120"/>
              </a:rPr>
              <a:t>n = p × q = </a:t>
            </a:r>
            <a:r>
              <a:rPr lang="en-US" sz="1265" dirty="0">
                <a:solidFill>
                  <a:srgbClr val="00FF9C"/>
                </a:solidFill>
                <a:latin typeface="JetBrains Mono Medium" pitchFamily="34" charset="0"/>
                <a:ea typeface="JetBrains Mono Medium" pitchFamily="34" charset="-122"/>
                <a:cs typeface="JetBrains Mono Medium" pitchFamily="34" charset="-120"/>
              </a:rPr>
              <a:t>55</a:t>
            </a:r>
            <a:endParaRPr lang="en-US" sz="1265" dirty="0"/>
          </a:p>
        </p:txBody>
      </p:sp>
      <p:sp>
        <p:nvSpPr>
          <p:cNvPr id="17" name="Text 14"/>
          <p:cNvSpPr/>
          <p:nvPr/>
        </p:nvSpPr>
        <p:spPr>
          <a:xfrm>
            <a:off x="5297612" y="2424112"/>
            <a:ext cx="84963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Public Modulus</a:t>
            </a:r>
            <a:endParaRPr lang="en-US" sz="1000" dirty="0"/>
          </a:p>
        </p:txBody>
      </p:sp>
      <p:sp>
        <p:nvSpPr>
          <p:cNvPr id="18" name="Shape 15"/>
          <p:cNvSpPr/>
          <p:nvPr/>
        </p:nvSpPr>
        <p:spPr>
          <a:xfrm>
            <a:off x="381000" y="2790825"/>
            <a:ext cx="6078661" cy="447675"/>
          </a:xfrm>
          <a:prstGeom prst="rect">
            <a:avLst/>
          </a:prstGeom>
          <a:solidFill>
            <a:srgbClr val="161B22"/>
          </a:solidFill>
          <a:ln w="9144">
            <a:solidFill>
              <a:srgbClr val="30363D"/>
            </a:solidFill>
            <a:prstDash val="solid"/>
          </a:ln>
        </p:spPr>
      </p:sp>
      <p:sp>
        <p:nvSpPr>
          <p:cNvPr id="19" name="Shape 16"/>
          <p:cNvSpPr/>
          <p:nvPr/>
        </p:nvSpPr>
        <p:spPr>
          <a:xfrm>
            <a:off x="571500" y="2933700"/>
            <a:ext cx="285751" cy="285751"/>
          </a:xfrm>
          <a:prstGeom prst="rect">
            <a:avLst/>
          </a:prstGeom>
          <a:solidFill>
            <a:srgbClr val="58A6FF"/>
          </a:solidFill>
        </p:spPr>
      </p:sp>
      <p:sp>
        <p:nvSpPr>
          <p:cNvPr id="20" name="Text 17"/>
          <p:cNvSpPr/>
          <p:nvPr/>
        </p:nvSpPr>
        <p:spPr>
          <a:xfrm>
            <a:off x="679133" y="2994660"/>
            <a:ext cx="70485" cy="163830"/>
          </a:xfrm>
          <a:prstGeom prst="rect">
            <a:avLst/>
          </a:prstGeom>
          <a:noFill/>
        </p:spPr>
        <p:txBody>
          <a:bodyPr wrap="none" lIns="0" tIns="0" rIns="0" bIns="0" rtlCol="0" anchor="ctr">
            <a:spAutoFit/>
          </a:bodyPr>
          <a:lstStyle/>
          <a:p>
            <a:pPr marL="0" indent="0" algn="ctr">
              <a:buNone/>
            </a:pPr>
            <a:r>
              <a:rPr lang="en-US" sz="1065" b="1" dirty="0">
                <a:solidFill>
                  <a:srgbClr val="0D1117"/>
                </a:solidFill>
                <a:latin typeface="Poppins SemiBold" pitchFamily="34" charset="0"/>
                <a:ea typeface="Poppins SemiBold" pitchFamily="34" charset="-122"/>
                <a:cs typeface="Poppins SemiBold" pitchFamily="34" charset="-120"/>
              </a:rPr>
              <a:t>3</a:t>
            </a:r>
            <a:endParaRPr lang="en-US" sz="1065" dirty="0"/>
          </a:p>
        </p:txBody>
      </p:sp>
      <p:sp>
        <p:nvSpPr>
          <p:cNvPr id="21" name="Text 18"/>
          <p:cNvSpPr/>
          <p:nvPr/>
        </p:nvSpPr>
        <p:spPr>
          <a:xfrm>
            <a:off x="1047751" y="2963465"/>
            <a:ext cx="2252663" cy="194310"/>
          </a:xfrm>
          <a:prstGeom prst="rect">
            <a:avLst/>
          </a:prstGeom>
          <a:noFill/>
        </p:spPr>
        <p:txBody>
          <a:bodyPr wrap="square" lIns="0" tIns="0" rIns="0" bIns="0" rtlCol="0" anchor="t">
            <a:spAutoFit/>
          </a:bodyPr>
          <a:lstStyle/>
          <a:p>
            <a:pPr marL="0" indent="0" algn="l">
              <a:buNone/>
            </a:pPr>
            <a:r>
              <a:rPr lang="en-US" sz="1265" dirty="0">
                <a:solidFill>
                  <a:srgbClr val="E6EDF3"/>
                </a:solidFill>
                <a:latin typeface="JetBrains Mono Medium" pitchFamily="34" charset="0"/>
                <a:ea typeface="JetBrains Mono Medium" pitchFamily="34" charset="-122"/>
                <a:cs typeface="JetBrains Mono Medium" pitchFamily="34" charset="-120"/>
              </a:rPr>
              <a:t>φ(n) = (p-1)(q-1) = </a:t>
            </a:r>
            <a:r>
              <a:rPr lang="en-US" sz="1265" dirty="0">
                <a:solidFill>
                  <a:srgbClr val="58A6FF"/>
                </a:solidFill>
                <a:latin typeface="JetBrains Mono Medium" pitchFamily="34" charset="0"/>
                <a:ea typeface="JetBrains Mono Medium" pitchFamily="34" charset="-122"/>
                <a:cs typeface="JetBrains Mono Medium" pitchFamily="34" charset="-120"/>
              </a:rPr>
              <a:t>40</a:t>
            </a:r>
            <a:endParaRPr lang="en-US" sz="1265" dirty="0"/>
          </a:p>
        </p:txBody>
      </p:sp>
      <p:sp>
        <p:nvSpPr>
          <p:cNvPr id="22" name="Text 19"/>
          <p:cNvSpPr/>
          <p:nvPr/>
        </p:nvSpPr>
        <p:spPr>
          <a:xfrm>
            <a:off x="5364287" y="2995612"/>
            <a:ext cx="79248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Euler's Totient</a:t>
            </a:r>
            <a:endParaRPr lang="en-US" sz="1000" dirty="0"/>
          </a:p>
        </p:txBody>
      </p:sp>
      <p:sp>
        <p:nvSpPr>
          <p:cNvPr id="23" name="Shape 20"/>
          <p:cNvSpPr/>
          <p:nvPr/>
        </p:nvSpPr>
        <p:spPr>
          <a:xfrm>
            <a:off x="381000" y="3362325"/>
            <a:ext cx="6078661" cy="447675"/>
          </a:xfrm>
          <a:prstGeom prst="rect">
            <a:avLst/>
          </a:prstGeom>
          <a:solidFill>
            <a:srgbClr val="161B22"/>
          </a:solidFill>
          <a:ln w="9144">
            <a:solidFill>
              <a:srgbClr val="30363D"/>
            </a:solidFill>
            <a:prstDash val="solid"/>
          </a:ln>
        </p:spPr>
      </p:sp>
      <p:sp>
        <p:nvSpPr>
          <p:cNvPr id="24" name="Shape 21"/>
          <p:cNvSpPr/>
          <p:nvPr/>
        </p:nvSpPr>
        <p:spPr>
          <a:xfrm>
            <a:off x="571500" y="3505200"/>
            <a:ext cx="285751" cy="285751"/>
          </a:xfrm>
          <a:prstGeom prst="rect">
            <a:avLst/>
          </a:prstGeom>
          <a:solidFill>
            <a:srgbClr val="58A6FF"/>
          </a:solidFill>
        </p:spPr>
      </p:sp>
      <p:sp>
        <p:nvSpPr>
          <p:cNvPr id="25" name="Text 22"/>
          <p:cNvSpPr/>
          <p:nvPr/>
        </p:nvSpPr>
        <p:spPr>
          <a:xfrm>
            <a:off x="679133" y="3566160"/>
            <a:ext cx="70485" cy="163830"/>
          </a:xfrm>
          <a:prstGeom prst="rect">
            <a:avLst/>
          </a:prstGeom>
          <a:noFill/>
        </p:spPr>
        <p:txBody>
          <a:bodyPr wrap="none" lIns="0" tIns="0" rIns="0" bIns="0" rtlCol="0" anchor="ctr">
            <a:spAutoFit/>
          </a:bodyPr>
          <a:lstStyle/>
          <a:p>
            <a:pPr marL="0" indent="0" algn="ctr">
              <a:buNone/>
            </a:pPr>
            <a:r>
              <a:rPr lang="en-US" sz="1065" b="1" dirty="0">
                <a:solidFill>
                  <a:srgbClr val="0D1117"/>
                </a:solidFill>
                <a:latin typeface="Poppins SemiBold" pitchFamily="34" charset="0"/>
                <a:ea typeface="Poppins SemiBold" pitchFamily="34" charset="-122"/>
                <a:cs typeface="Poppins SemiBold" pitchFamily="34" charset="-120"/>
              </a:rPr>
              <a:t>4</a:t>
            </a:r>
            <a:endParaRPr lang="en-US" sz="1065" dirty="0"/>
          </a:p>
        </p:txBody>
      </p:sp>
      <p:sp>
        <p:nvSpPr>
          <p:cNvPr id="26" name="Text 23"/>
          <p:cNvSpPr/>
          <p:nvPr/>
        </p:nvSpPr>
        <p:spPr>
          <a:xfrm>
            <a:off x="1047751" y="3534965"/>
            <a:ext cx="820420" cy="194310"/>
          </a:xfrm>
          <a:prstGeom prst="rect">
            <a:avLst/>
          </a:prstGeom>
          <a:noFill/>
        </p:spPr>
        <p:txBody>
          <a:bodyPr wrap="none" lIns="0" tIns="0" rIns="0" bIns="0" rtlCol="0" anchor="t">
            <a:spAutoFit/>
          </a:bodyPr>
          <a:lstStyle/>
          <a:p>
            <a:pPr marL="0" indent="0" algn="l">
              <a:buNone/>
            </a:pPr>
            <a:r>
              <a:rPr lang="en-US" sz="1265" dirty="0">
                <a:solidFill>
                  <a:srgbClr val="E6EDF3"/>
                </a:solidFill>
                <a:latin typeface="JetBrains Mono Medium" pitchFamily="34" charset="0"/>
                <a:ea typeface="JetBrains Mono Medium" pitchFamily="34" charset="-122"/>
                <a:cs typeface="JetBrains Mono Medium" pitchFamily="34" charset="-120"/>
              </a:rPr>
              <a:t>Choose </a:t>
            </a:r>
            <a:r>
              <a:rPr lang="en-US" sz="1265" dirty="0">
                <a:solidFill>
                  <a:srgbClr val="00FF9C"/>
                </a:solidFill>
                <a:latin typeface="JetBrains Mono Medium" pitchFamily="34" charset="0"/>
                <a:ea typeface="JetBrains Mono Medium" pitchFamily="34" charset="-122"/>
                <a:cs typeface="JetBrains Mono Medium" pitchFamily="34" charset="-120"/>
              </a:rPr>
              <a:t>e=3</a:t>
            </a:r>
            <a:endParaRPr lang="en-US" sz="1265" dirty="0"/>
          </a:p>
        </p:txBody>
      </p:sp>
      <p:sp>
        <p:nvSpPr>
          <p:cNvPr id="27" name="Text 24"/>
          <p:cNvSpPr/>
          <p:nvPr/>
        </p:nvSpPr>
        <p:spPr>
          <a:xfrm>
            <a:off x="5247605" y="3567112"/>
            <a:ext cx="894715"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Public Exponent</a:t>
            </a:r>
            <a:endParaRPr lang="en-US" sz="1000" dirty="0"/>
          </a:p>
        </p:txBody>
      </p:sp>
      <p:sp>
        <p:nvSpPr>
          <p:cNvPr id="28" name="Shape 25"/>
          <p:cNvSpPr/>
          <p:nvPr/>
        </p:nvSpPr>
        <p:spPr>
          <a:xfrm>
            <a:off x="381000" y="3933825"/>
            <a:ext cx="6078661" cy="447675"/>
          </a:xfrm>
          <a:prstGeom prst="rect">
            <a:avLst/>
          </a:prstGeom>
          <a:solidFill>
            <a:srgbClr val="161B22"/>
          </a:solidFill>
          <a:ln w="9144">
            <a:solidFill>
              <a:srgbClr val="30363D"/>
            </a:solidFill>
            <a:prstDash val="solid"/>
          </a:ln>
        </p:spPr>
      </p:sp>
      <p:sp>
        <p:nvSpPr>
          <p:cNvPr id="29" name="Shape 26"/>
          <p:cNvSpPr/>
          <p:nvPr/>
        </p:nvSpPr>
        <p:spPr>
          <a:xfrm>
            <a:off x="571500" y="4076700"/>
            <a:ext cx="285751" cy="285751"/>
          </a:xfrm>
          <a:prstGeom prst="rect">
            <a:avLst/>
          </a:prstGeom>
          <a:solidFill>
            <a:srgbClr val="58A6FF"/>
          </a:solidFill>
        </p:spPr>
      </p:sp>
      <p:sp>
        <p:nvSpPr>
          <p:cNvPr id="30" name="Text 27"/>
          <p:cNvSpPr/>
          <p:nvPr/>
        </p:nvSpPr>
        <p:spPr>
          <a:xfrm>
            <a:off x="679133" y="4137660"/>
            <a:ext cx="70485" cy="163830"/>
          </a:xfrm>
          <a:prstGeom prst="rect">
            <a:avLst/>
          </a:prstGeom>
          <a:noFill/>
        </p:spPr>
        <p:txBody>
          <a:bodyPr wrap="none" lIns="0" tIns="0" rIns="0" bIns="0" rtlCol="0" anchor="ctr">
            <a:spAutoFit/>
          </a:bodyPr>
          <a:lstStyle/>
          <a:p>
            <a:pPr marL="0" indent="0" algn="ctr">
              <a:buNone/>
            </a:pPr>
            <a:r>
              <a:rPr lang="en-US" sz="1065" b="1" dirty="0">
                <a:solidFill>
                  <a:srgbClr val="0D1117"/>
                </a:solidFill>
                <a:latin typeface="Poppins SemiBold" pitchFamily="34" charset="0"/>
                <a:ea typeface="Poppins SemiBold" pitchFamily="34" charset="-122"/>
                <a:cs typeface="Poppins SemiBold" pitchFamily="34" charset="-120"/>
              </a:rPr>
              <a:t>5</a:t>
            </a:r>
            <a:endParaRPr lang="en-US" sz="1065" dirty="0"/>
          </a:p>
        </p:txBody>
      </p:sp>
      <p:sp>
        <p:nvSpPr>
          <p:cNvPr id="31" name="Text 28"/>
          <p:cNvSpPr/>
          <p:nvPr/>
        </p:nvSpPr>
        <p:spPr>
          <a:xfrm>
            <a:off x="1047751" y="4102893"/>
            <a:ext cx="2970387" cy="194310"/>
          </a:xfrm>
          <a:prstGeom prst="rect">
            <a:avLst/>
          </a:prstGeom>
          <a:noFill/>
        </p:spPr>
        <p:txBody>
          <a:bodyPr wrap="square" lIns="0" tIns="0" rIns="0" bIns="0" rtlCol="0" anchor="t">
            <a:spAutoFit/>
          </a:bodyPr>
          <a:lstStyle/>
          <a:p>
            <a:pPr marL="0" indent="0" algn="l">
              <a:buNone/>
            </a:pPr>
            <a:r>
              <a:rPr lang="en-US" sz="1265" dirty="0">
                <a:solidFill>
                  <a:srgbClr val="E6EDF3"/>
                </a:solidFill>
                <a:latin typeface="JetBrains Mono Medium" pitchFamily="34" charset="0"/>
                <a:ea typeface="JetBrains Mono Medium" pitchFamily="34" charset="-122"/>
                <a:cs typeface="JetBrains Mono Medium" pitchFamily="34" charset="-120"/>
              </a:rPr>
              <a:t>Find d: d×e ≡ 1 mod 40 → </a:t>
            </a:r>
            <a:r>
              <a:rPr lang="en-US" sz="1265" dirty="0">
                <a:solidFill>
                  <a:srgbClr val="58A6FF"/>
                </a:solidFill>
                <a:latin typeface="JetBrains Mono Medium" pitchFamily="34" charset="0"/>
                <a:ea typeface="JetBrains Mono Medium" pitchFamily="34" charset="-122"/>
                <a:cs typeface="JetBrains Mono Medium" pitchFamily="34" charset="-120"/>
              </a:rPr>
              <a:t>d=27</a:t>
            </a:r>
            <a:endParaRPr lang="en-US" sz="1265" dirty="0"/>
          </a:p>
        </p:txBody>
      </p:sp>
      <p:sp>
        <p:nvSpPr>
          <p:cNvPr id="32" name="Text 29"/>
          <p:cNvSpPr/>
          <p:nvPr/>
        </p:nvSpPr>
        <p:spPr>
          <a:xfrm>
            <a:off x="5197599" y="4138612"/>
            <a:ext cx="951230"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Private Exponent</a:t>
            </a:r>
            <a:endParaRPr lang="en-US" sz="1000" dirty="0"/>
          </a:p>
        </p:txBody>
      </p:sp>
      <p:sp>
        <p:nvSpPr>
          <p:cNvPr id="33" name="Shape 30"/>
          <p:cNvSpPr/>
          <p:nvPr/>
        </p:nvSpPr>
        <p:spPr>
          <a:xfrm>
            <a:off x="6745412" y="1647825"/>
            <a:ext cx="5065588" cy="1280145"/>
          </a:xfrm>
          <a:prstGeom prst="rect">
            <a:avLst/>
          </a:prstGeom>
          <a:solidFill>
            <a:srgbClr val="00FF9C">
              <a:alpha val="5000"/>
            </a:srgbClr>
          </a:solidFill>
          <a:ln w="9144">
            <a:solidFill>
              <a:srgbClr val="00FF9C"/>
            </a:solidFill>
            <a:prstDash val="solid"/>
          </a:ln>
        </p:spPr>
      </p:sp>
      <p:sp>
        <p:nvSpPr>
          <p:cNvPr id="34" name="Text 31"/>
          <p:cNvSpPr/>
          <p:nvPr/>
        </p:nvSpPr>
        <p:spPr>
          <a:xfrm>
            <a:off x="6935912" y="1838325"/>
            <a:ext cx="4684588" cy="194310"/>
          </a:xfrm>
          <a:prstGeom prst="rect">
            <a:avLst/>
          </a:prstGeom>
          <a:noFill/>
        </p:spPr>
        <p:txBody>
          <a:bodyPr wrap="square" lIns="0" tIns="0" rIns="0" bIns="0" rtlCol="0" anchor="t">
            <a:spAutoFit/>
          </a:bodyPr>
          <a:lstStyle/>
          <a:p>
            <a:pPr marL="0" indent="0" algn="l">
              <a:buNone/>
            </a:pPr>
            <a:r>
              <a:rPr lang="en-US" sz="1265" kern="0" spc="2" dirty="0">
                <a:solidFill>
                  <a:srgbClr val="00FF9C"/>
                </a:solidFill>
                <a:latin typeface="Poppins SemiBold" pitchFamily="34" charset="0"/>
                <a:ea typeface="Poppins SemiBold" pitchFamily="34" charset="-122"/>
                <a:cs typeface="Poppins SemiBold" pitchFamily="34" charset="-120"/>
              </a:rPr>
              <a:t>THE KEYS</a:t>
            </a:r>
            <a:endParaRPr lang="en-US" sz="1265" dirty="0"/>
          </a:p>
        </p:txBody>
      </p:sp>
      <p:sp>
        <p:nvSpPr>
          <p:cNvPr id="35" name="Text 32"/>
          <p:cNvSpPr/>
          <p:nvPr/>
        </p:nvSpPr>
        <p:spPr>
          <a:xfrm>
            <a:off x="6935912" y="2238375"/>
            <a:ext cx="4684588" cy="606425"/>
          </a:xfrm>
          <a:prstGeom prst="rect">
            <a:avLst/>
          </a:prstGeom>
          <a:noFill/>
        </p:spPr>
        <p:txBody>
          <a:bodyPr wrap="square" lIns="0" tIns="0" rIns="0" bIns="0" rtlCol="0" anchor="t">
            <a:spAutoFit/>
          </a:bodyPr>
          <a:lstStyle/>
          <a:p>
            <a:pPr marL="0" indent="0" algn="l">
              <a:lnSpc>
                <a:spcPct val="128000"/>
              </a:lnSpc>
              <a:buNone/>
            </a:pPr>
            <a:r>
              <a:rPr lang="en-US" sz="1535" dirty="0">
                <a:solidFill>
                  <a:srgbClr val="E6EDF3"/>
                </a:solidFill>
                <a:latin typeface="JetBrains Mono Medium" pitchFamily="34" charset="0"/>
                <a:ea typeface="JetBrains Mono Medium" pitchFamily="34" charset="-122"/>
                <a:cs typeface="JetBrains Mono Medium" pitchFamily="34" charset="-120"/>
              </a:rPr>
              <a:t>Public Key: </a:t>
            </a:r>
            <a:r>
              <a:rPr lang="en-US" sz="1535" dirty="0">
                <a:solidFill>
                  <a:srgbClr val="00FF9C"/>
                </a:solidFill>
                <a:latin typeface="JetBrains Mono Medium" pitchFamily="34" charset="0"/>
                <a:ea typeface="JetBrains Mono Medium" pitchFamily="34" charset="-122"/>
                <a:cs typeface="JetBrains Mono Medium" pitchFamily="34" charset="-120"/>
              </a:rPr>
              <a:t>(e=3, n=55)</a:t>
            </a:r>
            <a:r>
              <a:rPr lang="en-US" sz="1535" dirty="0">
                <a:solidFill>
                  <a:srgbClr val="E6EDF3"/>
                </a:solidFill>
                <a:latin typeface="JetBrains Mono Medium" pitchFamily="34" charset="0"/>
                <a:ea typeface="JetBrains Mono Medium" pitchFamily="34" charset="-122"/>
                <a:cs typeface="JetBrains Mono Medium" pitchFamily="34" charset="-120"/>
              </a:rPr>
              <a:t>
Private Key: </a:t>
            </a:r>
            <a:r>
              <a:rPr lang="en-US" sz="1535" dirty="0">
                <a:solidFill>
                  <a:srgbClr val="58A6FF"/>
                </a:solidFill>
                <a:latin typeface="JetBrains Mono Medium" pitchFamily="34" charset="0"/>
                <a:ea typeface="JetBrains Mono Medium" pitchFamily="34" charset="-122"/>
                <a:cs typeface="JetBrains Mono Medium" pitchFamily="34" charset="-120"/>
              </a:rPr>
              <a:t>(d=27, n=55)</a:t>
            </a:r>
            <a:endParaRPr lang="en-US" sz="1535" dirty="0"/>
          </a:p>
        </p:txBody>
      </p:sp>
      <p:sp>
        <p:nvSpPr>
          <p:cNvPr id="36" name="Shape 33"/>
          <p:cNvSpPr/>
          <p:nvPr/>
        </p:nvSpPr>
        <p:spPr>
          <a:xfrm>
            <a:off x="6745412" y="3099420"/>
            <a:ext cx="5065588" cy="2518991"/>
          </a:xfrm>
          <a:prstGeom prst="rect">
            <a:avLst/>
          </a:prstGeom>
          <a:solidFill>
            <a:srgbClr val="E3B341">
              <a:alpha val="10000"/>
            </a:srgbClr>
          </a:solidFill>
          <a:ln w="9144">
            <a:solidFill>
              <a:srgbClr val="E3B341"/>
            </a:solidFill>
            <a:prstDash val="solid"/>
          </a:ln>
        </p:spPr>
      </p:sp>
      <p:sp>
        <p:nvSpPr>
          <p:cNvPr id="37" name="Text 34"/>
          <p:cNvSpPr/>
          <p:nvPr/>
        </p:nvSpPr>
        <p:spPr>
          <a:xfrm>
            <a:off x="6935912" y="3289920"/>
            <a:ext cx="4684588" cy="194310"/>
          </a:xfrm>
          <a:prstGeom prst="rect">
            <a:avLst/>
          </a:prstGeom>
          <a:noFill/>
        </p:spPr>
        <p:txBody>
          <a:bodyPr wrap="square" lIns="0" tIns="0" rIns="0" bIns="0" rtlCol="0" anchor="t">
            <a:spAutoFit/>
          </a:bodyPr>
          <a:lstStyle/>
          <a:p>
            <a:pPr marL="0" indent="0" algn="l">
              <a:buNone/>
            </a:pPr>
            <a:r>
              <a:rPr lang="en-US" sz="1265" kern="0" spc="2" dirty="0">
                <a:solidFill>
                  <a:srgbClr val="E3B341"/>
                </a:solidFill>
                <a:latin typeface="Poppins SemiBold" pitchFamily="34" charset="0"/>
                <a:ea typeface="Poppins SemiBold" pitchFamily="34" charset="-122"/>
                <a:cs typeface="Poppins SemiBold" pitchFamily="34" charset="-120"/>
              </a:rPr>
              <a:t>WORKED EXAMPLE (M=9)</a:t>
            </a:r>
            <a:endParaRPr lang="en-US" sz="1265" dirty="0"/>
          </a:p>
        </p:txBody>
      </p:sp>
      <p:sp>
        <p:nvSpPr>
          <p:cNvPr id="38" name="Text 35"/>
          <p:cNvSpPr/>
          <p:nvPr/>
        </p:nvSpPr>
        <p:spPr>
          <a:xfrm>
            <a:off x="6935912" y="3718545"/>
            <a:ext cx="681355" cy="302895"/>
          </a:xfrm>
          <a:prstGeom prst="rect">
            <a:avLst/>
          </a:prstGeom>
          <a:noFill/>
        </p:spPr>
        <p:txBody>
          <a:bodyPr wrap="none" lIns="0" tIns="0" rIns="0" bIns="0" rtlCol="0" anchor="t">
            <a:spAutoFit/>
          </a:bodyPr>
          <a:lstStyle/>
          <a:p>
            <a:pPr marL="0" indent="0" algn="l">
              <a:lnSpc>
                <a:spcPct val="128000"/>
              </a:lnSpc>
              <a:buNone/>
            </a:pPr>
            <a:r>
              <a:rPr lang="en-US" sz="1535" dirty="0">
                <a:solidFill>
                  <a:srgbClr val="8B949E"/>
                </a:solidFill>
                <a:latin typeface="JetBrains Mono Medium" pitchFamily="34" charset="0"/>
                <a:ea typeface="JetBrains Mono Medium" pitchFamily="34" charset="-122"/>
                <a:cs typeface="JetBrains Mono Medium" pitchFamily="34" charset="-120"/>
              </a:rPr>
              <a:t>Encrypt:</a:t>
            </a:r>
            <a:endParaRPr lang="en-US" sz="1535" dirty="0"/>
          </a:p>
        </p:txBody>
      </p:sp>
      <p:sp>
        <p:nvSpPr>
          <p:cNvPr id="39" name="Text 36"/>
          <p:cNvSpPr/>
          <p:nvPr/>
        </p:nvSpPr>
        <p:spPr>
          <a:xfrm>
            <a:off x="6935912" y="4085555"/>
            <a:ext cx="429895" cy="302895"/>
          </a:xfrm>
          <a:prstGeom prst="rect">
            <a:avLst/>
          </a:prstGeom>
          <a:noFill/>
        </p:spPr>
        <p:txBody>
          <a:bodyPr wrap="none" lIns="0" tIns="0" rIns="0" bIns="0" rtlCol="0" anchor="t">
            <a:spAutoFit/>
          </a:bodyPr>
          <a:lstStyle/>
          <a:p>
            <a:pPr marL="0" indent="0" algn="l">
              <a:lnSpc>
                <a:spcPct val="128000"/>
              </a:lnSpc>
              <a:buNone/>
            </a:pPr>
            <a:r>
              <a:rPr lang="en-US" sz="1535" dirty="0">
                <a:solidFill>
                  <a:srgbClr val="E6EDF3"/>
                </a:solidFill>
                <a:latin typeface="JetBrains Mono Medium" pitchFamily="34" charset="0"/>
                <a:ea typeface="JetBrains Mono Medium" pitchFamily="34" charset="-122"/>
                <a:cs typeface="JetBrains Mono Medium" pitchFamily="34" charset="-120"/>
              </a:rPr>
              <a:t>C = 9</a:t>
            </a:r>
            <a:endParaRPr lang="en-US" sz="1535" dirty="0"/>
          </a:p>
        </p:txBody>
      </p:sp>
      <p:sp>
        <p:nvSpPr>
          <p:cNvPr id="40" name="Text 37"/>
          <p:cNvSpPr/>
          <p:nvPr/>
        </p:nvSpPr>
        <p:spPr>
          <a:xfrm>
            <a:off x="7566943" y="4049055"/>
            <a:ext cx="53975" cy="161925"/>
          </a:xfrm>
          <a:prstGeom prst="rect">
            <a:avLst/>
          </a:prstGeom>
          <a:noFill/>
        </p:spPr>
        <p:txBody>
          <a:bodyPr wrap="none" lIns="0" tIns="0" rIns="0" bIns="0" rtlCol="0" anchor="t">
            <a:spAutoFit/>
          </a:bodyPr>
          <a:lstStyle/>
          <a:p>
            <a:pPr marL="0" indent="0" algn="l">
              <a:lnSpc>
                <a:spcPct val="128000"/>
              </a:lnSpc>
              <a:buNone/>
            </a:pPr>
            <a:r>
              <a:rPr lang="en-US" sz="1265" baseline="30000" dirty="0">
                <a:solidFill>
                  <a:srgbClr val="E6EDF3"/>
                </a:solidFill>
                <a:latin typeface="JetBrains Mono Medium" pitchFamily="34" charset="0"/>
                <a:ea typeface="JetBrains Mono Medium" pitchFamily="34" charset="-122"/>
                <a:cs typeface="JetBrains Mono Medium" pitchFamily="34" charset="-120"/>
              </a:rPr>
              <a:t>3</a:t>
            </a:r>
            <a:endParaRPr lang="en-US" sz="1265" dirty="0"/>
          </a:p>
        </p:txBody>
      </p:sp>
      <p:sp>
        <p:nvSpPr>
          <p:cNvPr id="41" name="Text 38"/>
          <p:cNvSpPr/>
          <p:nvPr/>
        </p:nvSpPr>
        <p:spPr>
          <a:xfrm>
            <a:off x="7671717" y="4085555"/>
            <a:ext cx="2015490" cy="302895"/>
          </a:xfrm>
          <a:prstGeom prst="rect">
            <a:avLst/>
          </a:prstGeom>
          <a:noFill/>
        </p:spPr>
        <p:txBody>
          <a:bodyPr wrap="none" lIns="0" tIns="0" rIns="0" bIns="0" rtlCol="0" anchor="t">
            <a:spAutoFit/>
          </a:bodyPr>
          <a:lstStyle/>
          <a:p>
            <a:pPr marL="0" indent="0" algn="l">
              <a:lnSpc>
                <a:spcPct val="128000"/>
              </a:lnSpc>
              <a:buNone/>
            </a:pPr>
            <a:r>
              <a:rPr lang="en-US" sz="1535" dirty="0">
                <a:solidFill>
                  <a:srgbClr val="E6EDF3"/>
                </a:solidFill>
                <a:latin typeface="JetBrains Mono Medium" pitchFamily="34" charset="0"/>
                <a:ea typeface="JetBrains Mono Medium" pitchFamily="34" charset="-122"/>
                <a:cs typeface="JetBrains Mono Medium" pitchFamily="34" charset="-120"/>
              </a:rPr>
              <a:t>mod 55 = 729 mod 55 =</a:t>
            </a:r>
            <a:endParaRPr lang="en-US" sz="1535" dirty="0"/>
          </a:p>
        </p:txBody>
      </p:sp>
      <p:sp>
        <p:nvSpPr>
          <p:cNvPr id="42" name="Text 39"/>
          <p:cNvSpPr/>
          <p:nvPr/>
        </p:nvSpPr>
        <p:spPr>
          <a:xfrm>
            <a:off x="10574461" y="4085555"/>
            <a:ext cx="201930" cy="302895"/>
          </a:xfrm>
          <a:prstGeom prst="rect">
            <a:avLst/>
          </a:prstGeom>
          <a:noFill/>
        </p:spPr>
        <p:txBody>
          <a:bodyPr wrap="none" lIns="0" tIns="0" rIns="0" bIns="0" rtlCol="0" anchor="t">
            <a:spAutoFit/>
          </a:bodyPr>
          <a:lstStyle/>
          <a:p>
            <a:pPr marL="0" indent="0" algn="l">
              <a:lnSpc>
                <a:spcPct val="128000"/>
              </a:lnSpc>
              <a:buNone/>
            </a:pPr>
            <a:r>
              <a:rPr lang="en-US" sz="1535" dirty="0">
                <a:solidFill>
                  <a:srgbClr val="FF6B6B"/>
                </a:solidFill>
                <a:latin typeface="JetBrains Mono Medium" pitchFamily="34" charset="0"/>
                <a:ea typeface="JetBrains Mono Medium" pitchFamily="34" charset="-122"/>
                <a:cs typeface="JetBrains Mono Medium" pitchFamily="34" charset="-120"/>
              </a:rPr>
              <a:t>14</a:t>
            </a:r>
            <a:endParaRPr lang="en-US" sz="1535" dirty="0"/>
          </a:p>
        </p:txBody>
      </p:sp>
      <p:sp>
        <p:nvSpPr>
          <p:cNvPr id="43" name="Text 40"/>
          <p:cNvSpPr/>
          <p:nvPr/>
        </p:nvSpPr>
        <p:spPr>
          <a:xfrm>
            <a:off x="6935912" y="4487503"/>
            <a:ext cx="702310" cy="302895"/>
          </a:xfrm>
          <a:prstGeom prst="rect">
            <a:avLst/>
          </a:prstGeom>
          <a:noFill/>
        </p:spPr>
        <p:txBody>
          <a:bodyPr wrap="none" lIns="0" tIns="0" rIns="0" bIns="0" rtlCol="0" anchor="t">
            <a:spAutoFit/>
          </a:bodyPr>
          <a:lstStyle/>
          <a:p>
            <a:pPr marL="0" indent="0" algn="l">
              <a:lnSpc>
                <a:spcPct val="128000"/>
              </a:lnSpc>
              <a:buNone/>
            </a:pPr>
            <a:r>
              <a:rPr lang="en-US" sz="1535" dirty="0">
                <a:solidFill>
                  <a:srgbClr val="8B949E"/>
                </a:solidFill>
                <a:latin typeface="JetBrains Mono Medium" pitchFamily="34" charset="0"/>
                <a:ea typeface="JetBrains Mono Medium" pitchFamily="34" charset="-122"/>
                <a:cs typeface="JetBrains Mono Medium" pitchFamily="34" charset="-120"/>
              </a:rPr>
              <a:t>Decrypt:</a:t>
            </a:r>
            <a:endParaRPr lang="en-US" sz="1535" dirty="0"/>
          </a:p>
        </p:txBody>
      </p:sp>
      <p:sp>
        <p:nvSpPr>
          <p:cNvPr id="44" name="Text 41"/>
          <p:cNvSpPr/>
          <p:nvPr/>
        </p:nvSpPr>
        <p:spPr>
          <a:xfrm>
            <a:off x="6935912" y="4883088"/>
            <a:ext cx="582295" cy="302895"/>
          </a:xfrm>
          <a:prstGeom prst="rect">
            <a:avLst/>
          </a:prstGeom>
          <a:noFill/>
        </p:spPr>
        <p:txBody>
          <a:bodyPr wrap="none" lIns="0" tIns="0" rIns="0" bIns="0" rtlCol="0" anchor="t">
            <a:spAutoFit/>
          </a:bodyPr>
          <a:lstStyle/>
          <a:p>
            <a:pPr marL="0" indent="0" algn="l">
              <a:lnSpc>
                <a:spcPct val="128000"/>
              </a:lnSpc>
              <a:buNone/>
            </a:pPr>
            <a:r>
              <a:rPr lang="en-US" sz="1535" dirty="0">
                <a:solidFill>
                  <a:srgbClr val="E6EDF3"/>
                </a:solidFill>
                <a:latin typeface="JetBrains Mono Medium" pitchFamily="34" charset="0"/>
                <a:ea typeface="JetBrains Mono Medium" pitchFamily="34" charset="-122"/>
                <a:cs typeface="JetBrains Mono Medium" pitchFamily="34" charset="-120"/>
              </a:rPr>
              <a:t>M = 14</a:t>
            </a:r>
            <a:endParaRPr lang="en-US" sz="1535" dirty="0"/>
          </a:p>
        </p:txBody>
      </p:sp>
      <p:sp>
        <p:nvSpPr>
          <p:cNvPr id="45" name="Text 42"/>
          <p:cNvSpPr/>
          <p:nvPr/>
        </p:nvSpPr>
        <p:spPr>
          <a:xfrm>
            <a:off x="7693149" y="4846588"/>
            <a:ext cx="107950" cy="161925"/>
          </a:xfrm>
          <a:prstGeom prst="rect">
            <a:avLst/>
          </a:prstGeom>
          <a:noFill/>
        </p:spPr>
        <p:txBody>
          <a:bodyPr wrap="none" lIns="0" tIns="0" rIns="0" bIns="0" rtlCol="0" anchor="t">
            <a:spAutoFit/>
          </a:bodyPr>
          <a:lstStyle/>
          <a:p>
            <a:pPr marL="0" indent="0" algn="l">
              <a:lnSpc>
                <a:spcPct val="128000"/>
              </a:lnSpc>
              <a:buNone/>
            </a:pPr>
            <a:r>
              <a:rPr lang="en-US" sz="1265" baseline="30000" dirty="0">
                <a:solidFill>
                  <a:srgbClr val="E6EDF3"/>
                </a:solidFill>
                <a:latin typeface="JetBrains Mono Medium" pitchFamily="34" charset="0"/>
                <a:ea typeface="JetBrains Mono Medium" pitchFamily="34" charset="-122"/>
                <a:cs typeface="JetBrains Mono Medium" pitchFamily="34" charset="-120"/>
              </a:rPr>
              <a:t>27</a:t>
            </a:r>
            <a:endParaRPr lang="en-US" sz="1265" dirty="0"/>
          </a:p>
        </p:txBody>
      </p:sp>
      <p:sp>
        <p:nvSpPr>
          <p:cNvPr id="46" name="Text 43"/>
          <p:cNvSpPr/>
          <p:nvPr/>
        </p:nvSpPr>
        <p:spPr>
          <a:xfrm>
            <a:off x="7902699" y="4883088"/>
            <a:ext cx="803910" cy="302895"/>
          </a:xfrm>
          <a:prstGeom prst="rect">
            <a:avLst/>
          </a:prstGeom>
          <a:noFill/>
        </p:spPr>
        <p:txBody>
          <a:bodyPr wrap="none" lIns="0" tIns="0" rIns="0" bIns="0" rtlCol="0" anchor="t">
            <a:spAutoFit/>
          </a:bodyPr>
          <a:lstStyle/>
          <a:p>
            <a:pPr marL="0" indent="0" algn="l">
              <a:lnSpc>
                <a:spcPct val="128000"/>
              </a:lnSpc>
              <a:buNone/>
            </a:pPr>
            <a:r>
              <a:rPr lang="en-US" sz="1535" dirty="0">
                <a:solidFill>
                  <a:srgbClr val="E6EDF3"/>
                </a:solidFill>
                <a:latin typeface="JetBrains Mono Medium" pitchFamily="34" charset="0"/>
                <a:ea typeface="JetBrains Mono Medium" pitchFamily="34" charset="-122"/>
                <a:cs typeface="JetBrains Mono Medium" pitchFamily="34" charset="-120"/>
              </a:rPr>
              <a:t>mod 55 =</a:t>
            </a:r>
            <a:endParaRPr lang="en-US" sz="1535" dirty="0"/>
          </a:p>
        </p:txBody>
      </p:sp>
      <p:sp>
        <p:nvSpPr>
          <p:cNvPr id="47" name="Text 44"/>
          <p:cNvSpPr/>
          <p:nvPr/>
        </p:nvSpPr>
        <p:spPr>
          <a:xfrm>
            <a:off x="9164761" y="4883088"/>
            <a:ext cx="100965" cy="302895"/>
          </a:xfrm>
          <a:prstGeom prst="rect">
            <a:avLst/>
          </a:prstGeom>
          <a:noFill/>
        </p:spPr>
        <p:txBody>
          <a:bodyPr wrap="none" lIns="0" tIns="0" rIns="0" bIns="0" rtlCol="0" anchor="t">
            <a:spAutoFit/>
          </a:bodyPr>
          <a:lstStyle/>
          <a:p>
            <a:pPr marL="0" indent="0" algn="l">
              <a:lnSpc>
                <a:spcPct val="128000"/>
              </a:lnSpc>
              <a:buNone/>
            </a:pPr>
            <a:r>
              <a:rPr lang="en-US" sz="1535" dirty="0">
                <a:solidFill>
                  <a:srgbClr val="00FF9C"/>
                </a:solidFill>
                <a:latin typeface="JetBrains Mono Medium" pitchFamily="34" charset="0"/>
                <a:ea typeface="JetBrains Mono Medium" pitchFamily="34" charset="-122"/>
                <a:cs typeface="JetBrains Mono Medium" pitchFamily="34" charset="-120"/>
              </a:rPr>
              <a:t>9</a:t>
            </a:r>
            <a:endParaRPr lang="en-US" sz="1535" dirty="0"/>
          </a:p>
        </p:txBody>
      </p:sp>
      <p:sp>
        <p:nvSpPr>
          <p:cNvPr id="48" name="Text 45"/>
          <p:cNvSpPr/>
          <p:nvPr/>
        </p:nvSpPr>
        <p:spPr>
          <a:xfrm>
            <a:off x="9290968" y="4883088"/>
            <a:ext cx="195580" cy="302895"/>
          </a:xfrm>
          <a:prstGeom prst="rect">
            <a:avLst/>
          </a:prstGeom>
          <a:noFill/>
        </p:spPr>
        <p:txBody>
          <a:bodyPr wrap="none" lIns="0" tIns="0" rIns="0" bIns="0" rtlCol="0" anchor="t">
            <a:spAutoFit/>
          </a:bodyPr>
          <a:lstStyle/>
          <a:p>
            <a:pPr marL="0" indent="0" algn="l">
              <a:lnSpc>
                <a:spcPct val="128000"/>
              </a:lnSpc>
              <a:buNone/>
            </a:pPr>
            <a:r>
              <a:rPr lang="en-US" sz="1535" dirty="0">
                <a:solidFill>
                  <a:srgbClr val="E6EDF3"/>
                </a:solidFill>
                <a:latin typeface="JetBrains Mono Medium" pitchFamily="34" charset="0"/>
                <a:ea typeface="JetBrains Mono Medium" pitchFamily="34" charset="-122"/>
                <a:cs typeface="JetBrains Mono Medium" pitchFamily="34" charset="-120"/>
              </a:rPr>
              <a:t>✓</a:t>
            </a:r>
            <a:endParaRPr lang="en-US" sz="1535" dirty="0"/>
          </a:p>
        </p:txBody>
      </p:sp>
      <p:pic>
        <p:nvPicPr>
          <p:cNvPr id="49" name="Image 1" descr="preencoded.png"/>
          <p:cNvPicPr>
            <a:picLocks noChangeAspect="1"/>
          </p:cNvPicPr>
          <p:nvPr/>
        </p:nvPicPr>
        <p:blipFill>
          <a:blip r:embed="rId2"/>
          <a:stretch>
            <a:fillRect/>
          </a:stretch>
        </p:blipFill>
        <p:spPr>
          <a:xfrm>
            <a:off x="6935912" y="5449341"/>
            <a:ext cx="133351" cy="133351"/>
          </a:xfrm>
          <a:prstGeom prst="rect">
            <a:avLst/>
          </a:prstGeom>
        </p:spPr>
      </p:pic>
      <p:sp>
        <p:nvSpPr>
          <p:cNvPr id="50" name="Text 46"/>
          <p:cNvSpPr/>
          <p:nvPr/>
        </p:nvSpPr>
        <p:spPr>
          <a:xfrm>
            <a:off x="7069261" y="5437436"/>
            <a:ext cx="4486275"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Inter" pitchFamily="34" charset="0"/>
                <a:ea typeface="Inter" pitchFamily="34" charset="-122"/>
                <a:cs typeface="Inter" pitchFamily="34" charset="-120"/>
              </a:rPr>
              <a:t>In real RSA, p and q are 1024+ bits long, making n impossible to factor.</a:t>
            </a:r>
            <a:endParaRPr lang="en-US" sz="1000" dirty="0"/>
          </a:p>
        </p:txBody>
      </p:sp>
      <p:grpSp>
        <p:nvGrpSpPr>
          <p:cNvPr id="51" name="Group 2"/>
          <p:cNvGrpSpPr/>
          <p:nvPr/>
        </p:nvGrpSpPr>
        <p:grpSpPr>
          <a:xfrm rot="0">
            <a:off x="294640" y="194310"/>
            <a:ext cx="789305" cy="299720"/>
            <a:chOff x="0" y="0"/>
            <a:chExt cx="341337" cy="102463"/>
          </a:xfrm>
        </p:grpSpPr>
        <p:sp>
          <p:nvSpPr>
            <p:cNvPr id="52"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53"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54" name="Group 5"/>
          <p:cNvGrpSpPr/>
          <p:nvPr/>
        </p:nvGrpSpPr>
        <p:grpSpPr>
          <a:xfrm rot="0">
            <a:off x="822325" y="209550"/>
            <a:ext cx="220980" cy="246380"/>
            <a:chOff x="0" y="0"/>
            <a:chExt cx="812800" cy="812800"/>
          </a:xfrm>
        </p:grpSpPr>
        <p:sp>
          <p:nvSpPr>
            <p:cNvPr id="55"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6"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57"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58"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59"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7122319"/>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57 | EWUCSC</a:t>
            </a:r>
            <a:endParaRPr lang="en-US" sz="1265" dirty="0"/>
          </a:p>
        </p:txBody>
      </p:sp>
      <p:sp>
        <p:nvSpPr>
          <p:cNvPr id="7" name="Text 4"/>
          <p:cNvSpPr/>
          <p:nvPr/>
        </p:nvSpPr>
        <p:spPr>
          <a:xfrm>
            <a:off x="381000" y="952500"/>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Weak RSA: The CTF Goldmine</a:t>
            </a:r>
            <a:endParaRPr lang="en-US" sz="2800" dirty="0"/>
          </a:p>
        </p:txBody>
      </p:sp>
      <p:sp>
        <p:nvSpPr>
          <p:cNvPr id="8" name="Text 5"/>
          <p:cNvSpPr/>
          <p:nvPr/>
        </p:nvSpPr>
        <p:spPr>
          <a:xfrm>
            <a:off x="381000" y="1609725"/>
            <a:ext cx="11430000"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Inter" pitchFamily="34" charset="0"/>
                <a:ea typeface="Inter" pitchFamily="34" charset="-122"/>
                <a:cs typeface="Inter" pitchFamily="34" charset="-120"/>
              </a:rPr>
              <a:t>Real RSA uses 2048-4096 bit keys. CTF challenges intentionally use weak RSA parameters to test your understanding of the math.</a:t>
            </a:r>
            <a:endParaRPr lang="en-US" sz="1265" dirty="0"/>
          </a:p>
        </p:txBody>
      </p:sp>
      <p:sp>
        <p:nvSpPr>
          <p:cNvPr id="9" name="Shape 6"/>
          <p:cNvSpPr/>
          <p:nvPr/>
        </p:nvSpPr>
        <p:spPr>
          <a:xfrm>
            <a:off x="381000" y="1874044"/>
            <a:ext cx="5595937" cy="2085975"/>
          </a:xfrm>
          <a:prstGeom prst="rect">
            <a:avLst/>
          </a:prstGeom>
          <a:solidFill>
            <a:srgbClr val="161B22"/>
          </a:solidFill>
          <a:ln w="9144">
            <a:solidFill>
              <a:srgbClr val="30363D"/>
            </a:solidFill>
            <a:prstDash val="solid"/>
          </a:ln>
        </p:spPr>
      </p:sp>
      <p:pic>
        <p:nvPicPr>
          <p:cNvPr id="10" name="Image 1" descr="preencoded.png"/>
          <p:cNvPicPr>
            <a:picLocks noChangeAspect="1"/>
          </p:cNvPicPr>
          <p:nvPr/>
        </p:nvPicPr>
        <p:blipFill>
          <a:blip r:embed="rId2"/>
          <a:stretch>
            <a:fillRect/>
          </a:stretch>
        </p:blipFill>
        <p:spPr>
          <a:xfrm>
            <a:off x="619125" y="2164556"/>
            <a:ext cx="209551" cy="209551"/>
          </a:xfrm>
          <a:prstGeom prst="rect">
            <a:avLst/>
          </a:prstGeom>
        </p:spPr>
      </p:pic>
      <p:sp>
        <p:nvSpPr>
          <p:cNvPr id="11" name="Text 7"/>
          <p:cNvSpPr/>
          <p:nvPr/>
        </p:nvSpPr>
        <p:spPr>
          <a:xfrm>
            <a:off x="942975" y="2112169"/>
            <a:ext cx="1219835" cy="236220"/>
          </a:xfrm>
          <a:prstGeom prst="rect">
            <a:avLst/>
          </a:prstGeom>
          <a:noFill/>
        </p:spPr>
        <p:txBody>
          <a:bodyPr wrap="none" lIns="0" tIns="0" rIns="0" bIns="0" rtlCol="0" anchor="t">
            <a:spAutoFit/>
          </a:bodyPr>
          <a:lstStyle/>
          <a:p>
            <a:pPr marL="0" indent="0" algn="l">
              <a:buNone/>
            </a:pPr>
            <a:r>
              <a:rPr lang="en-US" sz="1535" dirty="0">
                <a:solidFill>
                  <a:srgbClr val="58A6FF"/>
                </a:solidFill>
                <a:latin typeface="Poppins SemiBold" pitchFamily="34" charset="0"/>
                <a:ea typeface="Poppins SemiBold" pitchFamily="34" charset="-122"/>
                <a:cs typeface="Poppins SemiBold" pitchFamily="34" charset="-120"/>
              </a:rPr>
              <a:t>Small e Attack</a:t>
            </a:r>
            <a:endParaRPr lang="en-US" sz="1535" dirty="0"/>
          </a:p>
        </p:txBody>
      </p:sp>
      <p:sp>
        <p:nvSpPr>
          <p:cNvPr id="12" name="Text 8"/>
          <p:cNvSpPr/>
          <p:nvPr/>
        </p:nvSpPr>
        <p:spPr>
          <a:xfrm>
            <a:off x="619125" y="2613012"/>
            <a:ext cx="94615"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Inter" pitchFamily="34" charset="0"/>
                <a:ea typeface="Inter" pitchFamily="34" charset="-122"/>
                <a:cs typeface="Inter" pitchFamily="34" charset="-120"/>
              </a:rPr>
              <a:t>If</a:t>
            </a:r>
            <a:endParaRPr lang="en-US" sz="1135" dirty="0"/>
          </a:p>
        </p:txBody>
      </p:sp>
      <p:sp>
        <p:nvSpPr>
          <p:cNvPr id="13" name="Shape 9"/>
          <p:cNvSpPr/>
          <p:nvPr/>
        </p:nvSpPr>
        <p:spPr>
          <a:xfrm>
            <a:off x="759619" y="2586819"/>
            <a:ext cx="366712" cy="219075"/>
          </a:xfrm>
          <a:prstGeom prst="rect">
            <a:avLst/>
          </a:prstGeom>
          <a:solidFill>
            <a:srgbClr val="E3B341">
              <a:alpha val="10000"/>
            </a:srgbClr>
          </a:solidFill>
        </p:spPr>
      </p:sp>
      <p:sp>
        <p:nvSpPr>
          <p:cNvPr id="14" name="Text 10"/>
          <p:cNvSpPr/>
          <p:nvPr/>
        </p:nvSpPr>
        <p:spPr>
          <a:xfrm>
            <a:off x="759619" y="2586819"/>
            <a:ext cx="346075" cy="232410"/>
          </a:xfrm>
          <a:prstGeom prst="rect">
            <a:avLst/>
          </a:prstGeom>
          <a:noFill/>
        </p:spPr>
        <p:txBody>
          <a:bodyPr wrap="none" lIns="56726" tIns="22690" rIns="56726" bIns="0" rtlCol="0" anchor="t">
            <a:spAutoFit/>
          </a:bodyPr>
          <a:lstStyle/>
          <a:p>
            <a:pPr marL="0" indent="0" algn="l">
              <a:lnSpc>
                <a:spcPct val="120000"/>
              </a:lnSpc>
              <a:buNone/>
            </a:pPr>
            <a:r>
              <a:rPr lang="en-US" sz="1135" dirty="0">
                <a:solidFill>
                  <a:srgbClr val="E3B341"/>
                </a:solidFill>
                <a:latin typeface="JetBrains Mono Medium" pitchFamily="34" charset="0"/>
                <a:ea typeface="JetBrains Mono Medium" pitchFamily="34" charset="-122"/>
                <a:cs typeface="JetBrains Mono Medium" pitchFamily="34" charset="-120"/>
              </a:rPr>
              <a:t>e=3</a:t>
            </a:r>
            <a:endParaRPr lang="en-US" sz="1135" dirty="0"/>
          </a:p>
        </p:txBody>
      </p:sp>
      <p:sp>
        <p:nvSpPr>
          <p:cNvPr id="15" name="Text 11"/>
          <p:cNvSpPr/>
          <p:nvPr/>
        </p:nvSpPr>
        <p:spPr>
          <a:xfrm>
            <a:off x="1126331" y="2613012"/>
            <a:ext cx="1080135"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Inter" pitchFamily="34" charset="0"/>
                <a:ea typeface="Inter" pitchFamily="34" charset="-122"/>
                <a:cs typeface="Inter" pitchFamily="34" charset="-120"/>
              </a:rPr>
              <a:t>and the message</a:t>
            </a:r>
            <a:endParaRPr lang="en-US" sz="1135" dirty="0"/>
          </a:p>
        </p:txBody>
      </p:sp>
      <p:sp>
        <p:nvSpPr>
          <p:cNvPr id="16" name="Shape 12"/>
          <p:cNvSpPr/>
          <p:nvPr/>
        </p:nvSpPr>
        <p:spPr>
          <a:xfrm>
            <a:off x="2445544" y="2586819"/>
            <a:ext cx="185737" cy="219075"/>
          </a:xfrm>
          <a:prstGeom prst="rect">
            <a:avLst/>
          </a:prstGeom>
          <a:solidFill>
            <a:srgbClr val="E3B341">
              <a:alpha val="10000"/>
            </a:srgbClr>
          </a:solidFill>
        </p:spPr>
      </p:sp>
      <p:sp>
        <p:nvSpPr>
          <p:cNvPr id="17" name="Text 13"/>
          <p:cNvSpPr/>
          <p:nvPr/>
        </p:nvSpPr>
        <p:spPr>
          <a:xfrm>
            <a:off x="2445544" y="2586819"/>
            <a:ext cx="238125" cy="232410"/>
          </a:xfrm>
          <a:prstGeom prst="rect">
            <a:avLst/>
          </a:prstGeom>
          <a:noFill/>
        </p:spPr>
        <p:txBody>
          <a:bodyPr wrap="none" lIns="56726" tIns="22690" rIns="56726" bIns="0" rtlCol="0" anchor="t">
            <a:spAutoFit/>
          </a:bodyPr>
          <a:lstStyle/>
          <a:p>
            <a:pPr marL="0" indent="0" algn="l">
              <a:lnSpc>
                <a:spcPct val="120000"/>
              </a:lnSpc>
              <a:buNone/>
            </a:pPr>
            <a:r>
              <a:rPr lang="en-US" sz="1135" dirty="0">
                <a:solidFill>
                  <a:srgbClr val="E3B341"/>
                </a:solidFill>
                <a:latin typeface="JetBrains Mono Medium" pitchFamily="34" charset="0"/>
                <a:ea typeface="JetBrains Mono Medium" pitchFamily="34" charset="-122"/>
                <a:cs typeface="JetBrains Mono Medium" pitchFamily="34" charset="-120"/>
              </a:rPr>
              <a:t>m</a:t>
            </a:r>
            <a:endParaRPr lang="en-US" sz="1135" dirty="0"/>
          </a:p>
        </p:txBody>
      </p:sp>
      <p:sp>
        <p:nvSpPr>
          <p:cNvPr id="18" name="Text 14"/>
          <p:cNvSpPr/>
          <p:nvPr/>
        </p:nvSpPr>
        <p:spPr>
          <a:xfrm>
            <a:off x="2631281" y="2613012"/>
            <a:ext cx="157480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Inter" pitchFamily="34" charset="0"/>
                <a:ea typeface="Inter" pitchFamily="34" charset="-122"/>
                <a:cs typeface="Inter" pitchFamily="34" charset="-120"/>
              </a:rPr>
              <a:t>is small, it's possible that</a:t>
            </a:r>
            <a:endParaRPr lang="en-US" sz="1135" dirty="0"/>
          </a:p>
        </p:txBody>
      </p:sp>
      <p:sp>
        <p:nvSpPr>
          <p:cNvPr id="19" name="Shape 15"/>
          <p:cNvSpPr/>
          <p:nvPr/>
        </p:nvSpPr>
        <p:spPr>
          <a:xfrm>
            <a:off x="4519612" y="2586819"/>
            <a:ext cx="623888" cy="219075"/>
          </a:xfrm>
          <a:prstGeom prst="rect">
            <a:avLst/>
          </a:prstGeom>
          <a:solidFill>
            <a:srgbClr val="E3B341">
              <a:alpha val="10000"/>
            </a:srgbClr>
          </a:solidFill>
        </p:spPr>
      </p:sp>
      <p:sp>
        <p:nvSpPr>
          <p:cNvPr id="20" name="Text 16"/>
          <p:cNvSpPr/>
          <p:nvPr/>
        </p:nvSpPr>
        <p:spPr>
          <a:xfrm>
            <a:off x="4567237" y="2605869"/>
            <a:ext cx="125095"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3B341"/>
                </a:solidFill>
                <a:latin typeface="JetBrains Mono Medium" pitchFamily="34" charset="0"/>
                <a:ea typeface="JetBrains Mono Medium" pitchFamily="34" charset="-122"/>
                <a:cs typeface="JetBrains Mono Medium" pitchFamily="34" charset="-120"/>
              </a:rPr>
              <a:t>m</a:t>
            </a:r>
            <a:endParaRPr lang="en-US" sz="1135" dirty="0"/>
          </a:p>
        </p:txBody>
      </p:sp>
      <p:sp>
        <p:nvSpPr>
          <p:cNvPr id="21" name="Text 17"/>
          <p:cNvSpPr/>
          <p:nvPr/>
        </p:nvSpPr>
        <p:spPr>
          <a:xfrm>
            <a:off x="4657725" y="2578893"/>
            <a:ext cx="40640" cy="111760"/>
          </a:xfrm>
          <a:prstGeom prst="rect">
            <a:avLst/>
          </a:prstGeom>
          <a:noFill/>
        </p:spPr>
        <p:txBody>
          <a:bodyPr wrap="none" lIns="0" tIns="0" rIns="0" bIns="0" rtlCol="0" anchor="t">
            <a:spAutoFit/>
          </a:bodyPr>
          <a:lstStyle/>
          <a:p>
            <a:pPr marL="0" indent="0" algn="l">
              <a:lnSpc>
                <a:spcPct val="120000"/>
              </a:lnSpc>
              <a:buNone/>
            </a:pPr>
            <a:r>
              <a:rPr lang="en-US" sz="935" baseline="30000" dirty="0">
                <a:solidFill>
                  <a:srgbClr val="E3B341"/>
                </a:solidFill>
                <a:latin typeface="JetBrains Mono Medium" pitchFamily="34" charset="0"/>
                <a:ea typeface="JetBrains Mono Medium" pitchFamily="34" charset="-122"/>
                <a:cs typeface="JetBrains Mono Medium" pitchFamily="34" charset="-120"/>
              </a:rPr>
              <a:t>e</a:t>
            </a:r>
            <a:endParaRPr lang="en-US" sz="935" dirty="0"/>
          </a:p>
        </p:txBody>
      </p:sp>
      <p:sp>
        <p:nvSpPr>
          <p:cNvPr id="22" name="Text 18"/>
          <p:cNvSpPr/>
          <p:nvPr/>
        </p:nvSpPr>
        <p:spPr>
          <a:xfrm>
            <a:off x="4733925" y="2605869"/>
            <a:ext cx="17399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3B341"/>
                </a:solidFill>
                <a:latin typeface="JetBrains Mono Medium" pitchFamily="34" charset="0"/>
                <a:ea typeface="JetBrains Mono Medium" pitchFamily="34" charset="-122"/>
                <a:cs typeface="JetBrains Mono Medium" pitchFamily="34" charset="-120"/>
              </a:rPr>
              <a:t>&lt; n</a:t>
            </a:r>
            <a:endParaRPr lang="en-US" sz="1135" dirty="0"/>
          </a:p>
        </p:txBody>
      </p:sp>
      <p:sp>
        <p:nvSpPr>
          <p:cNvPr id="23" name="Text 19"/>
          <p:cNvSpPr/>
          <p:nvPr/>
        </p:nvSpPr>
        <p:spPr>
          <a:xfrm>
            <a:off x="5143500" y="2613012"/>
            <a:ext cx="467995"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Inter" pitchFamily="34" charset="0"/>
                <a:ea typeface="Inter" pitchFamily="34" charset="-122"/>
                <a:cs typeface="Inter" pitchFamily="34" charset="-120"/>
              </a:rPr>
              <a:t>. In this</a:t>
            </a:r>
            <a:endParaRPr lang="en-US" sz="1135" dirty="0"/>
          </a:p>
        </p:txBody>
      </p:sp>
      <p:sp>
        <p:nvSpPr>
          <p:cNvPr id="24" name="Text 20"/>
          <p:cNvSpPr/>
          <p:nvPr/>
        </p:nvSpPr>
        <p:spPr>
          <a:xfrm>
            <a:off x="619125" y="2841612"/>
            <a:ext cx="221107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Inter" pitchFamily="34" charset="0"/>
                <a:ea typeface="Inter" pitchFamily="34" charset="-122"/>
                <a:cs typeface="Inter" pitchFamily="34" charset="-120"/>
              </a:rPr>
              <a:t>case, no modular reduction occurs.</a:t>
            </a:r>
            <a:endParaRPr lang="en-US" sz="1135" dirty="0"/>
          </a:p>
        </p:txBody>
      </p:sp>
      <p:sp>
        <p:nvSpPr>
          <p:cNvPr id="25" name="Text 21"/>
          <p:cNvSpPr/>
          <p:nvPr/>
        </p:nvSpPr>
        <p:spPr>
          <a:xfrm>
            <a:off x="619125" y="3298812"/>
            <a:ext cx="546735"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8B949E"/>
                </a:solidFill>
                <a:latin typeface="Inter" pitchFamily="34" charset="0"/>
                <a:ea typeface="Inter" pitchFamily="34" charset="-122"/>
                <a:cs typeface="Inter" pitchFamily="34" charset="-120"/>
              </a:rPr>
              <a:t>Solution:</a:t>
            </a:r>
            <a:endParaRPr lang="en-US" sz="1135" dirty="0"/>
          </a:p>
        </p:txBody>
      </p:sp>
      <p:sp>
        <p:nvSpPr>
          <p:cNvPr id="26" name="Text 22"/>
          <p:cNvSpPr/>
          <p:nvPr/>
        </p:nvSpPr>
        <p:spPr>
          <a:xfrm>
            <a:off x="1247775" y="3298812"/>
            <a:ext cx="1086485"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Inter" pitchFamily="34" charset="0"/>
                <a:ea typeface="Inter" pitchFamily="34" charset="-122"/>
                <a:cs typeface="Inter" pitchFamily="34" charset="-120"/>
              </a:rPr>
              <a:t>Just compute the</a:t>
            </a:r>
            <a:endParaRPr lang="en-US" sz="1135" dirty="0"/>
          </a:p>
        </p:txBody>
      </p:sp>
      <p:sp>
        <p:nvSpPr>
          <p:cNvPr id="27" name="Text 23"/>
          <p:cNvSpPr/>
          <p:nvPr/>
        </p:nvSpPr>
        <p:spPr>
          <a:xfrm>
            <a:off x="2588419" y="3291669"/>
            <a:ext cx="572135"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JetBrains Mono Medium" pitchFamily="34" charset="0"/>
                <a:ea typeface="JetBrains Mono Medium" pitchFamily="34" charset="-122"/>
                <a:cs typeface="JetBrains Mono Medium" pitchFamily="34" charset="-120"/>
              </a:rPr>
              <a:t>e-th root</a:t>
            </a:r>
            <a:endParaRPr lang="en-US" sz="1135" dirty="0"/>
          </a:p>
        </p:txBody>
      </p:sp>
      <p:sp>
        <p:nvSpPr>
          <p:cNvPr id="28" name="Text 24"/>
          <p:cNvSpPr/>
          <p:nvPr/>
        </p:nvSpPr>
        <p:spPr>
          <a:xfrm>
            <a:off x="3402807" y="3298812"/>
            <a:ext cx="1089025"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Inter" pitchFamily="34" charset="0"/>
                <a:ea typeface="Inter" pitchFamily="34" charset="-122"/>
                <a:cs typeface="Inter" pitchFamily="34" charset="-120"/>
              </a:rPr>
              <a:t>of the ciphertext.</a:t>
            </a:r>
            <a:endParaRPr lang="en-US" sz="1135" dirty="0"/>
          </a:p>
        </p:txBody>
      </p:sp>
      <p:sp>
        <p:nvSpPr>
          <p:cNvPr id="29" name="Shape 25"/>
          <p:cNvSpPr/>
          <p:nvPr/>
        </p:nvSpPr>
        <p:spPr>
          <a:xfrm>
            <a:off x="6215063" y="1874044"/>
            <a:ext cx="5595937" cy="2085975"/>
          </a:xfrm>
          <a:prstGeom prst="rect">
            <a:avLst/>
          </a:prstGeom>
          <a:solidFill>
            <a:srgbClr val="161B22"/>
          </a:solidFill>
          <a:ln w="9144">
            <a:solidFill>
              <a:srgbClr val="30363D"/>
            </a:solidFill>
            <a:prstDash val="solid"/>
          </a:ln>
        </p:spPr>
      </p:sp>
      <p:pic>
        <p:nvPicPr>
          <p:cNvPr id="30" name="Image 2" descr="preencoded.png"/>
          <p:cNvPicPr>
            <a:picLocks noChangeAspect="1"/>
          </p:cNvPicPr>
          <p:nvPr/>
        </p:nvPicPr>
        <p:blipFill>
          <a:blip r:embed="rId3"/>
          <a:stretch>
            <a:fillRect/>
          </a:stretch>
        </p:blipFill>
        <p:spPr>
          <a:xfrm>
            <a:off x="6453188" y="2164556"/>
            <a:ext cx="235744" cy="209551"/>
          </a:xfrm>
          <a:prstGeom prst="rect">
            <a:avLst/>
          </a:prstGeom>
        </p:spPr>
      </p:pic>
      <p:sp>
        <p:nvSpPr>
          <p:cNvPr id="31" name="Text 26"/>
          <p:cNvSpPr/>
          <p:nvPr/>
        </p:nvSpPr>
        <p:spPr>
          <a:xfrm>
            <a:off x="6803231" y="2112169"/>
            <a:ext cx="2488407" cy="236220"/>
          </a:xfrm>
          <a:prstGeom prst="rect">
            <a:avLst/>
          </a:prstGeom>
          <a:noFill/>
        </p:spPr>
        <p:txBody>
          <a:bodyPr wrap="square" lIns="0" tIns="0" rIns="0" bIns="0" rtlCol="0" anchor="t">
            <a:spAutoFit/>
          </a:bodyPr>
          <a:lstStyle/>
          <a:p>
            <a:pPr marL="0" indent="0" algn="l">
              <a:buNone/>
            </a:pPr>
            <a:r>
              <a:rPr lang="en-US" sz="1535" dirty="0">
                <a:solidFill>
                  <a:srgbClr val="58A6FF"/>
                </a:solidFill>
                <a:latin typeface="Poppins SemiBold" pitchFamily="34" charset="0"/>
                <a:ea typeface="Poppins SemiBold" pitchFamily="34" charset="-122"/>
                <a:cs typeface="Poppins SemiBold" pitchFamily="34" charset="-120"/>
              </a:rPr>
              <a:t>Common Factor Attack</a:t>
            </a:r>
            <a:endParaRPr lang="en-US" sz="1535" dirty="0"/>
          </a:p>
        </p:txBody>
      </p:sp>
      <p:sp>
        <p:nvSpPr>
          <p:cNvPr id="32" name="Text 27"/>
          <p:cNvSpPr/>
          <p:nvPr/>
        </p:nvSpPr>
        <p:spPr>
          <a:xfrm>
            <a:off x="6453188" y="2569369"/>
            <a:ext cx="5119688" cy="840740"/>
          </a:xfrm>
          <a:prstGeom prst="rect">
            <a:avLst/>
          </a:prstGeom>
          <a:noFill/>
        </p:spPr>
        <p:txBody>
          <a:bodyPr wrap="square" lIns="0" tIns="0" rIns="0" bIns="0" rtlCol="0" anchor="t">
            <a:spAutoFit/>
          </a:bodyPr>
          <a:lstStyle/>
          <a:p>
            <a:pPr marL="0" indent="0" algn="l">
              <a:lnSpc>
                <a:spcPct val="120000"/>
              </a:lnSpc>
              <a:buNone/>
            </a:pPr>
            <a:r>
              <a:rPr lang="en-US" sz="1135" dirty="0">
                <a:solidFill>
                  <a:srgbClr val="E6EDF3"/>
                </a:solidFill>
                <a:latin typeface="Inter" pitchFamily="34" charset="0"/>
                <a:ea typeface="Inter" pitchFamily="34" charset="-122"/>
                <a:cs typeface="Inter" pitchFamily="34" charset="-120"/>
              </a:rPr>
              <a:t>If two different public keys share a prime factor, you can find it using the Greatest Common Divisor. 
 </a:t>
            </a:r>
            <a:r>
              <a:rPr lang="en-US" sz="1135" dirty="0">
                <a:solidFill>
                  <a:srgbClr val="E6EDF3"/>
                </a:solidFill>
                <a:latin typeface="JetBrains Mono Medium" pitchFamily="34" charset="0"/>
                <a:ea typeface="JetBrains Mono Medium" pitchFamily="34" charset="-122"/>
                <a:cs typeface="JetBrains Mono Medium" pitchFamily="34" charset="-120"/>
              </a:rPr>
              <a:t>GCD(n1, n2) = p</a:t>
            </a:r>
            <a:r>
              <a:rPr lang="en-US" sz="1135" dirty="0">
                <a:solidFill>
                  <a:srgbClr val="E6EDF3"/>
                </a:solidFill>
                <a:latin typeface="Inter" pitchFamily="34" charset="0"/>
                <a:ea typeface="Inter" pitchFamily="34" charset="-122"/>
                <a:cs typeface="Inter" pitchFamily="34" charset="-120"/>
              </a:rPr>
              <a:t> 
 Once you have </a:t>
            </a:r>
            <a:r>
              <a:rPr lang="en-US" sz="1135" dirty="0">
                <a:solidFill>
                  <a:srgbClr val="E6EDF3"/>
                </a:solidFill>
                <a:latin typeface="JetBrains Mono Medium" pitchFamily="34" charset="0"/>
                <a:ea typeface="JetBrains Mono Medium" pitchFamily="34" charset="-122"/>
                <a:cs typeface="JetBrains Mono Medium" pitchFamily="34" charset="-120"/>
              </a:rPr>
              <a:t>p</a:t>
            </a:r>
            <a:r>
              <a:rPr lang="en-US" sz="1135" dirty="0">
                <a:solidFill>
                  <a:srgbClr val="E6EDF3"/>
                </a:solidFill>
                <a:latin typeface="Inter" pitchFamily="34" charset="0"/>
                <a:ea typeface="Inter" pitchFamily="34" charset="-122"/>
                <a:cs typeface="Inter" pitchFamily="34" charset="-120"/>
              </a:rPr>
              <a:t>, you can easily find </a:t>
            </a:r>
            <a:r>
              <a:rPr lang="en-US" sz="1135" dirty="0">
                <a:solidFill>
                  <a:srgbClr val="E6EDF3"/>
                </a:solidFill>
                <a:latin typeface="JetBrains Mono Medium" pitchFamily="34" charset="0"/>
                <a:ea typeface="JetBrains Mono Medium" pitchFamily="34" charset="-122"/>
                <a:cs typeface="JetBrains Mono Medium" pitchFamily="34" charset="-120"/>
              </a:rPr>
              <a:t>q</a:t>
            </a:r>
            <a:r>
              <a:rPr lang="en-US" sz="1135" dirty="0">
                <a:solidFill>
                  <a:srgbClr val="E6EDF3"/>
                </a:solidFill>
                <a:latin typeface="Inter" pitchFamily="34" charset="0"/>
                <a:ea typeface="Inter" pitchFamily="34" charset="-122"/>
                <a:cs typeface="Inter" pitchFamily="34" charset="-120"/>
              </a:rPr>
              <a:t> and the private key.</a:t>
            </a:r>
            <a:endParaRPr lang="en-US" sz="1135" dirty="0"/>
          </a:p>
        </p:txBody>
      </p:sp>
      <p:sp>
        <p:nvSpPr>
          <p:cNvPr id="33" name="Shape 28"/>
          <p:cNvSpPr/>
          <p:nvPr/>
        </p:nvSpPr>
        <p:spPr>
          <a:xfrm>
            <a:off x="381000" y="4179093"/>
            <a:ext cx="5595937" cy="2066925"/>
          </a:xfrm>
          <a:prstGeom prst="rect">
            <a:avLst/>
          </a:prstGeom>
          <a:solidFill>
            <a:srgbClr val="161B22"/>
          </a:solidFill>
          <a:ln w="9144">
            <a:solidFill>
              <a:srgbClr val="30363D"/>
            </a:solidFill>
            <a:prstDash val="solid"/>
          </a:ln>
        </p:spPr>
      </p:sp>
      <p:pic>
        <p:nvPicPr>
          <p:cNvPr id="34" name="Image 3" descr="preencoded.png"/>
          <p:cNvPicPr>
            <a:picLocks noChangeAspect="1"/>
          </p:cNvPicPr>
          <p:nvPr/>
        </p:nvPicPr>
        <p:blipFill>
          <a:blip r:embed="rId4"/>
          <a:stretch>
            <a:fillRect/>
          </a:stretch>
        </p:blipFill>
        <p:spPr>
          <a:xfrm>
            <a:off x="619125" y="4469607"/>
            <a:ext cx="183356" cy="209551"/>
          </a:xfrm>
          <a:prstGeom prst="rect">
            <a:avLst/>
          </a:prstGeom>
        </p:spPr>
      </p:pic>
      <p:sp>
        <p:nvSpPr>
          <p:cNvPr id="35" name="Text 29"/>
          <p:cNvSpPr/>
          <p:nvPr/>
        </p:nvSpPr>
        <p:spPr>
          <a:xfrm>
            <a:off x="916781" y="4417219"/>
            <a:ext cx="756920" cy="236220"/>
          </a:xfrm>
          <a:prstGeom prst="rect">
            <a:avLst/>
          </a:prstGeom>
          <a:noFill/>
        </p:spPr>
        <p:txBody>
          <a:bodyPr wrap="none" lIns="0" tIns="0" rIns="0" bIns="0" rtlCol="0" anchor="t">
            <a:spAutoFit/>
          </a:bodyPr>
          <a:lstStyle/>
          <a:p>
            <a:pPr marL="0" indent="0" algn="l">
              <a:buNone/>
            </a:pPr>
            <a:r>
              <a:rPr lang="en-US" sz="1535" dirty="0">
                <a:solidFill>
                  <a:srgbClr val="58A6FF"/>
                </a:solidFill>
                <a:latin typeface="Poppins SemiBold" pitchFamily="34" charset="0"/>
                <a:ea typeface="Poppins SemiBold" pitchFamily="34" charset="-122"/>
                <a:cs typeface="Poppins SemiBold" pitchFamily="34" charset="-120"/>
              </a:rPr>
              <a:t>Factordb</a:t>
            </a:r>
            <a:endParaRPr lang="en-US" sz="1535" dirty="0"/>
          </a:p>
        </p:txBody>
      </p:sp>
      <p:sp>
        <p:nvSpPr>
          <p:cNvPr id="36" name="Text 30"/>
          <p:cNvSpPr/>
          <p:nvPr/>
        </p:nvSpPr>
        <p:spPr>
          <a:xfrm>
            <a:off x="619125" y="4874419"/>
            <a:ext cx="5119688" cy="840740"/>
          </a:xfrm>
          <a:prstGeom prst="rect">
            <a:avLst/>
          </a:prstGeom>
          <a:noFill/>
        </p:spPr>
        <p:txBody>
          <a:bodyPr wrap="square" lIns="0" tIns="0" rIns="0" bIns="0" rtlCol="0" anchor="t">
            <a:spAutoFit/>
          </a:bodyPr>
          <a:lstStyle/>
          <a:p>
            <a:pPr marL="0" indent="0" algn="l">
              <a:lnSpc>
                <a:spcPct val="120000"/>
              </a:lnSpc>
              <a:buNone/>
            </a:pPr>
            <a:r>
              <a:rPr lang="en-US" sz="1135" dirty="0">
                <a:solidFill>
                  <a:srgbClr val="E6EDF3"/>
                </a:solidFill>
                <a:latin typeface="Inter" pitchFamily="34" charset="0"/>
                <a:ea typeface="Inter" pitchFamily="34" charset="-122"/>
                <a:cs typeface="Inter" pitchFamily="34" charset="-120"/>
              </a:rPr>
              <a:t>If the modulus </a:t>
            </a:r>
            <a:r>
              <a:rPr lang="en-US" sz="1135" dirty="0">
                <a:solidFill>
                  <a:srgbClr val="E6EDF3"/>
                </a:solidFill>
                <a:latin typeface="JetBrains Mono Medium" pitchFamily="34" charset="0"/>
                <a:ea typeface="JetBrains Mono Medium" pitchFamily="34" charset="-122"/>
                <a:cs typeface="JetBrains Mono Medium" pitchFamily="34" charset="-120"/>
              </a:rPr>
              <a:t>n</a:t>
            </a:r>
            <a:r>
              <a:rPr lang="en-US" sz="1135" dirty="0">
                <a:solidFill>
                  <a:srgbClr val="E6EDF3"/>
                </a:solidFill>
                <a:latin typeface="Inter" pitchFamily="34" charset="0"/>
                <a:ea typeface="Inter" pitchFamily="34" charset="-122"/>
                <a:cs typeface="Inter" pitchFamily="34" charset="-120"/>
              </a:rPr>
              <a:t> is small or weak, it might have already been factored by someone else. 
 </a:t>
            </a:r>
            <a:r>
              <a:rPr lang="en-US" sz="1135" dirty="0">
                <a:solidFill>
                  <a:srgbClr val="8B949E"/>
                </a:solidFill>
                <a:latin typeface="Inter" pitchFamily="34" charset="0"/>
                <a:ea typeface="Inter" pitchFamily="34" charset="-122"/>
                <a:cs typeface="Inter" pitchFamily="34" charset="-120"/>
              </a:rPr>
              <a:t>Action:</a:t>
            </a:r>
            <a:r>
              <a:rPr lang="en-US" sz="1135" dirty="0">
                <a:solidFill>
                  <a:srgbClr val="E6EDF3"/>
                </a:solidFill>
                <a:latin typeface="Inter" pitchFamily="34" charset="0"/>
                <a:ea typeface="Inter" pitchFamily="34" charset="-122"/>
                <a:cs typeface="Inter" pitchFamily="34" charset="-120"/>
              </a:rPr>
              <a:t> Always check </a:t>
            </a:r>
            <a:r>
              <a:rPr lang="en-US" sz="1135" dirty="0">
                <a:solidFill>
                  <a:srgbClr val="00FF9C"/>
                </a:solidFill>
                <a:latin typeface="JetBrains Mono Medium" pitchFamily="34" charset="0"/>
                <a:ea typeface="JetBrains Mono Medium" pitchFamily="34" charset="-122"/>
                <a:cs typeface="JetBrains Mono Medium" pitchFamily="34" charset="-120"/>
              </a:rPr>
              <a:t>factordb.com</a:t>
            </a:r>
            <a:r>
              <a:rPr lang="en-US" sz="1135" dirty="0">
                <a:solidFill>
                  <a:srgbClr val="E6EDF3"/>
                </a:solidFill>
                <a:latin typeface="Inter" pitchFamily="34" charset="0"/>
                <a:ea typeface="Inter" pitchFamily="34" charset="-122"/>
                <a:cs typeface="Inter" pitchFamily="34" charset="-120"/>
              </a:rPr>
              <a:t>. If it's in the database, the challenge is already solved.</a:t>
            </a:r>
            <a:endParaRPr lang="en-US" sz="1135" dirty="0"/>
          </a:p>
        </p:txBody>
      </p:sp>
      <p:sp>
        <p:nvSpPr>
          <p:cNvPr id="37" name="Shape 31"/>
          <p:cNvSpPr/>
          <p:nvPr/>
        </p:nvSpPr>
        <p:spPr>
          <a:xfrm>
            <a:off x="6215063" y="4179093"/>
            <a:ext cx="5595937" cy="2066925"/>
          </a:xfrm>
          <a:prstGeom prst="rect">
            <a:avLst/>
          </a:prstGeom>
          <a:solidFill>
            <a:srgbClr val="161B22"/>
          </a:solidFill>
          <a:ln w="9144">
            <a:solidFill>
              <a:srgbClr val="30363D"/>
            </a:solidFill>
            <a:prstDash val="solid"/>
          </a:ln>
        </p:spPr>
      </p:sp>
      <p:pic>
        <p:nvPicPr>
          <p:cNvPr id="38" name="Image 4" descr="preencoded.png"/>
          <p:cNvPicPr>
            <a:picLocks noChangeAspect="1"/>
          </p:cNvPicPr>
          <p:nvPr/>
        </p:nvPicPr>
        <p:blipFill>
          <a:blip r:embed="rId5"/>
          <a:stretch>
            <a:fillRect/>
          </a:stretch>
        </p:blipFill>
        <p:spPr>
          <a:xfrm>
            <a:off x="6453188" y="4469607"/>
            <a:ext cx="157163" cy="209551"/>
          </a:xfrm>
          <a:prstGeom prst="rect">
            <a:avLst/>
          </a:prstGeom>
        </p:spPr>
      </p:pic>
      <p:sp>
        <p:nvSpPr>
          <p:cNvPr id="39" name="Text 32"/>
          <p:cNvSpPr/>
          <p:nvPr/>
        </p:nvSpPr>
        <p:spPr>
          <a:xfrm>
            <a:off x="6724651" y="4417219"/>
            <a:ext cx="1326515" cy="236220"/>
          </a:xfrm>
          <a:prstGeom prst="rect">
            <a:avLst/>
          </a:prstGeom>
          <a:noFill/>
        </p:spPr>
        <p:txBody>
          <a:bodyPr wrap="none" lIns="0" tIns="0" rIns="0" bIns="0" rtlCol="0" anchor="t">
            <a:spAutoFit/>
          </a:bodyPr>
          <a:lstStyle/>
          <a:p>
            <a:pPr marL="0" indent="0" algn="l">
              <a:buNone/>
            </a:pPr>
            <a:r>
              <a:rPr lang="en-US" sz="1535" dirty="0">
                <a:solidFill>
                  <a:srgbClr val="58A6FF"/>
                </a:solidFill>
                <a:latin typeface="Poppins SemiBold" pitchFamily="34" charset="0"/>
                <a:ea typeface="Poppins SemiBold" pitchFamily="34" charset="-122"/>
                <a:cs typeface="Poppins SemiBold" pitchFamily="34" charset="-120"/>
              </a:rPr>
              <a:t>Wiener's Attack</a:t>
            </a:r>
            <a:endParaRPr lang="en-US" sz="1535" dirty="0"/>
          </a:p>
        </p:txBody>
      </p:sp>
      <p:sp>
        <p:nvSpPr>
          <p:cNvPr id="40" name="Text 33"/>
          <p:cNvSpPr/>
          <p:nvPr/>
        </p:nvSpPr>
        <p:spPr>
          <a:xfrm>
            <a:off x="6453188" y="4918063"/>
            <a:ext cx="1471295"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Inter" pitchFamily="34" charset="0"/>
                <a:ea typeface="Inter" pitchFamily="34" charset="-122"/>
                <a:cs typeface="Inter" pitchFamily="34" charset="-120"/>
              </a:rPr>
              <a:t>If the private exponent</a:t>
            </a:r>
            <a:endParaRPr lang="en-US" sz="1135" dirty="0"/>
          </a:p>
        </p:txBody>
      </p:sp>
      <p:sp>
        <p:nvSpPr>
          <p:cNvPr id="41" name="Text 34"/>
          <p:cNvSpPr/>
          <p:nvPr/>
        </p:nvSpPr>
        <p:spPr>
          <a:xfrm>
            <a:off x="8120063" y="4910919"/>
            <a:ext cx="8128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JetBrains Mono Medium" pitchFamily="34" charset="0"/>
                <a:ea typeface="JetBrains Mono Medium" pitchFamily="34" charset="-122"/>
                <a:cs typeface="JetBrains Mono Medium" pitchFamily="34" charset="-120"/>
              </a:rPr>
              <a:t>d</a:t>
            </a:r>
            <a:endParaRPr lang="en-US" sz="1135" dirty="0"/>
          </a:p>
        </p:txBody>
      </p:sp>
      <p:sp>
        <p:nvSpPr>
          <p:cNvPr id="42" name="Text 35"/>
          <p:cNvSpPr/>
          <p:nvPr/>
        </p:nvSpPr>
        <p:spPr>
          <a:xfrm>
            <a:off x="8210551" y="4918063"/>
            <a:ext cx="145542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Inter" pitchFamily="34" charset="0"/>
                <a:ea typeface="Inter" pitchFamily="34" charset="-122"/>
                <a:cs typeface="Inter" pitchFamily="34" charset="-120"/>
              </a:rPr>
              <a:t>is very small (less than</a:t>
            </a:r>
            <a:endParaRPr lang="en-US" sz="1135" dirty="0"/>
          </a:p>
        </p:txBody>
      </p:sp>
      <p:sp>
        <p:nvSpPr>
          <p:cNvPr id="43" name="Text 36"/>
          <p:cNvSpPr/>
          <p:nvPr/>
        </p:nvSpPr>
        <p:spPr>
          <a:xfrm>
            <a:off x="9939337" y="4910919"/>
            <a:ext cx="34163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JetBrains Mono Medium" pitchFamily="34" charset="0"/>
                <a:ea typeface="JetBrains Mono Medium" pitchFamily="34" charset="-122"/>
                <a:cs typeface="JetBrains Mono Medium" pitchFamily="34" charset="-120"/>
              </a:rPr>
              <a:t>1/3 n</a:t>
            </a:r>
            <a:endParaRPr lang="en-US" sz="1135" dirty="0"/>
          </a:p>
        </p:txBody>
      </p:sp>
      <p:sp>
        <p:nvSpPr>
          <p:cNvPr id="44" name="Text 37"/>
          <p:cNvSpPr/>
          <p:nvPr/>
        </p:nvSpPr>
        <p:spPr>
          <a:xfrm>
            <a:off x="10391775" y="4883944"/>
            <a:ext cx="117475" cy="111760"/>
          </a:xfrm>
          <a:prstGeom prst="rect">
            <a:avLst/>
          </a:prstGeom>
          <a:noFill/>
        </p:spPr>
        <p:txBody>
          <a:bodyPr wrap="none" lIns="0" tIns="0" rIns="0" bIns="0" rtlCol="0" anchor="t">
            <a:spAutoFit/>
          </a:bodyPr>
          <a:lstStyle/>
          <a:p>
            <a:pPr marL="0" indent="0" algn="l">
              <a:lnSpc>
                <a:spcPct val="120000"/>
              </a:lnSpc>
              <a:buNone/>
            </a:pPr>
            <a:r>
              <a:rPr lang="en-US" sz="935" baseline="30000" dirty="0">
                <a:solidFill>
                  <a:srgbClr val="E6EDF3"/>
                </a:solidFill>
                <a:latin typeface="JetBrains Mono Medium" pitchFamily="34" charset="0"/>
                <a:ea typeface="JetBrains Mono Medium" pitchFamily="34" charset="-122"/>
                <a:cs typeface="JetBrains Mono Medium" pitchFamily="34" charset="-120"/>
              </a:rPr>
              <a:t>1/4</a:t>
            </a:r>
            <a:endParaRPr lang="en-US" sz="935" dirty="0"/>
          </a:p>
        </p:txBody>
      </p:sp>
      <p:sp>
        <p:nvSpPr>
          <p:cNvPr id="45" name="Text 38"/>
          <p:cNvSpPr/>
          <p:nvPr/>
        </p:nvSpPr>
        <p:spPr>
          <a:xfrm>
            <a:off x="10620375" y="4918063"/>
            <a:ext cx="66929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Inter" pitchFamily="34" charset="0"/>
                <a:ea typeface="Inter" pitchFamily="34" charset="-122"/>
                <a:cs typeface="Inter" pitchFamily="34" charset="-120"/>
              </a:rPr>
              <a:t>), it can be</a:t>
            </a:r>
            <a:endParaRPr lang="en-US" sz="1135" dirty="0"/>
          </a:p>
        </p:txBody>
      </p:sp>
      <p:sp>
        <p:nvSpPr>
          <p:cNvPr id="46" name="Text 39"/>
          <p:cNvSpPr/>
          <p:nvPr/>
        </p:nvSpPr>
        <p:spPr>
          <a:xfrm>
            <a:off x="6453188" y="5146663"/>
            <a:ext cx="297688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Inter" pitchFamily="34" charset="0"/>
                <a:ea typeface="Inter" pitchFamily="34" charset="-122"/>
                <a:cs typeface="Inter" pitchFamily="34" charset="-120"/>
              </a:rPr>
              <a:t>recovered efficiently using continued fractions.</a:t>
            </a:r>
            <a:endParaRPr lang="en-US" sz="1135" dirty="0"/>
          </a:p>
        </p:txBody>
      </p:sp>
      <p:sp>
        <p:nvSpPr>
          <p:cNvPr id="47" name="Text 40"/>
          <p:cNvSpPr/>
          <p:nvPr/>
        </p:nvSpPr>
        <p:spPr>
          <a:xfrm>
            <a:off x="6453188" y="5603863"/>
            <a:ext cx="4512945"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Inter" pitchFamily="34" charset="0"/>
                <a:ea typeface="Inter" pitchFamily="34" charset="-122"/>
                <a:cs typeface="Inter" pitchFamily="34" charset="-120"/>
              </a:rPr>
              <a:t>This attack targets implementations that try to speed up decryption by</a:t>
            </a:r>
            <a:endParaRPr lang="en-US" sz="1135" dirty="0"/>
          </a:p>
        </p:txBody>
      </p:sp>
      <p:sp>
        <p:nvSpPr>
          <p:cNvPr id="48" name="Text 41"/>
          <p:cNvSpPr/>
          <p:nvPr/>
        </p:nvSpPr>
        <p:spPr>
          <a:xfrm>
            <a:off x="6453188" y="5832463"/>
            <a:ext cx="828675"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Inter" pitchFamily="34" charset="0"/>
                <a:ea typeface="Inter" pitchFamily="34" charset="-122"/>
                <a:cs typeface="Inter" pitchFamily="34" charset="-120"/>
              </a:rPr>
              <a:t>using a small</a:t>
            </a:r>
            <a:endParaRPr lang="en-US" sz="1135" dirty="0"/>
          </a:p>
        </p:txBody>
      </p:sp>
      <p:sp>
        <p:nvSpPr>
          <p:cNvPr id="49" name="Text 42"/>
          <p:cNvSpPr/>
          <p:nvPr/>
        </p:nvSpPr>
        <p:spPr>
          <a:xfrm>
            <a:off x="7436644" y="5825319"/>
            <a:ext cx="8128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JetBrains Mono Medium" pitchFamily="34" charset="0"/>
                <a:ea typeface="JetBrains Mono Medium" pitchFamily="34" charset="-122"/>
                <a:cs typeface="JetBrains Mono Medium" pitchFamily="34" charset="-120"/>
              </a:rPr>
              <a:t>d</a:t>
            </a:r>
            <a:endParaRPr lang="en-US" sz="1135" dirty="0"/>
          </a:p>
        </p:txBody>
      </p:sp>
      <p:sp>
        <p:nvSpPr>
          <p:cNvPr id="50" name="Text 43"/>
          <p:cNvSpPr/>
          <p:nvPr/>
        </p:nvSpPr>
        <p:spPr>
          <a:xfrm>
            <a:off x="7527131" y="5832463"/>
            <a:ext cx="24765"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E6EDF3"/>
                </a:solidFill>
                <a:latin typeface="Inter" pitchFamily="34" charset="0"/>
                <a:ea typeface="Inter" pitchFamily="34" charset="-122"/>
                <a:cs typeface="Inter" pitchFamily="34" charset="-120"/>
              </a:rPr>
              <a:t>.</a:t>
            </a:r>
            <a:endParaRPr lang="en-US" sz="1135" dirty="0"/>
          </a:p>
        </p:txBody>
      </p:sp>
      <p:sp>
        <p:nvSpPr>
          <p:cNvPr id="51" name="Shape 44"/>
          <p:cNvSpPr/>
          <p:nvPr/>
        </p:nvSpPr>
        <p:spPr>
          <a:xfrm>
            <a:off x="381000" y="6303169"/>
            <a:ext cx="11430000" cy="781051"/>
          </a:xfrm>
          <a:prstGeom prst="rect">
            <a:avLst/>
          </a:prstGeom>
          <a:solidFill>
            <a:srgbClr val="FF6B6B">
              <a:alpha val="10000"/>
            </a:srgbClr>
          </a:solidFill>
          <a:ln w="9144">
            <a:solidFill>
              <a:srgbClr val="FF6B6B"/>
            </a:solidFill>
            <a:prstDash val="solid"/>
          </a:ln>
        </p:spPr>
      </p:sp>
      <p:pic>
        <p:nvPicPr>
          <p:cNvPr id="52" name="Image 5" descr="preencoded.png"/>
          <p:cNvPicPr>
            <a:picLocks noChangeAspect="1"/>
          </p:cNvPicPr>
          <p:nvPr/>
        </p:nvPicPr>
        <p:blipFill>
          <a:blip r:embed="rId6"/>
          <a:stretch>
            <a:fillRect/>
          </a:stretch>
        </p:blipFill>
        <p:spPr>
          <a:xfrm>
            <a:off x="571500" y="6684169"/>
            <a:ext cx="190500" cy="190500"/>
          </a:xfrm>
          <a:prstGeom prst="rect">
            <a:avLst/>
          </a:prstGeom>
        </p:spPr>
      </p:pic>
      <p:sp>
        <p:nvSpPr>
          <p:cNvPr id="53" name="Text 45"/>
          <p:cNvSpPr/>
          <p:nvPr/>
        </p:nvSpPr>
        <p:spPr>
          <a:xfrm>
            <a:off x="904875" y="6493669"/>
            <a:ext cx="10715625" cy="215265"/>
          </a:xfrm>
          <a:prstGeom prst="rect">
            <a:avLst/>
          </a:prstGeom>
          <a:noFill/>
        </p:spPr>
        <p:txBody>
          <a:bodyPr wrap="square" lIns="0" tIns="0" rIns="0" bIns="0" rtlCol="0" anchor="t">
            <a:spAutoFit/>
          </a:bodyPr>
          <a:lstStyle/>
          <a:p>
            <a:pPr marL="0" indent="0" algn="l">
              <a:buNone/>
            </a:pPr>
            <a:r>
              <a:rPr lang="en-US" sz="1335" b="1" dirty="0">
                <a:solidFill>
                  <a:srgbClr val="FF6B6B"/>
                </a:solidFill>
                <a:latin typeface="Poppins SemiBold" pitchFamily="34" charset="0"/>
                <a:ea typeface="Poppins SemiBold" pitchFamily="34" charset="-122"/>
                <a:cs typeface="Poppins SemiBold" pitchFamily="34" charset="-120"/>
              </a:rPr>
              <a:t>CTF TOOL:</a:t>
            </a:r>
            <a:r>
              <a:rPr lang="en-US" sz="1400" dirty="0">
                <a:solidFill>
                  <a:srgbClr val="FF6B6B"/>
                </a:solidFill>
                <a:latin typeface="Poppins SemiBold" pitchFamily="34" charset="0"/>
                <a:ea typeface="Poppins SemiBold" pitchFamily="34" charset="-122"/>
                <a:cs typeface="Poppins SemiBold" pitchFamily="34" charset="-120"/>
              </a:rPr>
              <a:t> </a:t>
            </a:r>
            <a:r>
              <a:rPr lang="en-US" sz="1400" dirty="0">
                <a:solidFill>
                  <a:srgbClr val="E6EDF3"/>
                </a:solidFill>
                <a:latin typeface="JetBrains Mono Medium" pitchFamily="34" charset="0"/>
                <a:ea typeface="JetBrains Mono Medium" pitchFamily="34" charset="-122"/>
                <a:cs typeface="JetBrains Mono Medium" pitchFamily="34" charset="-120"/>
              </a:rPr>
              <a:t>RsaCtfTool</a:t>
            </a:r>
            <a:r>
              <a:rPr lang="en-US" sz="1400" dirty="0">
                <a:solidFill>
                  <a:srgbClr val="FF6B6B"/>
                </a:solidFill>
                <a:latin typeface="Poppins SemiBold" pitchFamily="34" charset="0"/>
                <a:ea typeface="Poppins SemiBold" pitchFamily="34" charset="-122"/>
                <a:cs typeface="Poppins SemiBold" pitchFamily="34" charset="-120"/>
              </a:rPr>
              <a:t> — A powerful tool that automates almost all of these attacks. Just provide the public key and let it run!</a:t>
            </a:r>
            <a:endParaRPr lang="en-US" sz="1335" dirty="0"/>
          </a:p>
        </p:txBody>
      </p:sp>
      <p:grpSp>
        <p:nvGrpSpPr>
          <p:cNvPr id="54" name="Group 2"/>
          <p:cNvGrpSpPr/>
          <p:nvPr/>
        </p:nvGrpSpPr>
        <p:grpSpPr>
          <a:xfrm rot="0">
            <a:off x="294640" y="194310"/>
            <a:ext cx="789305" cy="299720"/>
            <a:chOff x="0" y="0"/>
            <a:chExt cx="341337" cy="102463"/>
          </a:xfrm>
        </p:grpSpPr>
        <p:sp>
          <p:nvSpPr>
            <p:cNvPr id="55"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56"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57" name="Group 5"/>
          <p:cNvGrpSpPr/>
          <p:nvPr/>
        </p:nvGrpSpPr>
        <p:grpSpPr>
          <a:xfrm rot="0">
            <a:off x="822325" y="209550"/>
            <a:ext cx="220980" cy="246380"/>
            <a:chOff x="0" y="0"/>
            <a:chExt cx="812800" cy="812800"/>
          </a:xfrm>
        </p:grpSpPr>
        <p:sp>
          <p:nvSpPr>
            <p:cNvPr id="58"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9"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60"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58 | EWUCSC</a:t>
            </a:r>
            <a:endParaRPr lang="en-US" sz="1265" dirty="0"/>
          </a:p>
        </p:txBody>
      </p:sp>
      <p:sp>
        <p:nvSpPr>
          <p:cNvPr id="7" name="Text 4"/>
          <p:cNvSpPr/>
          <p:nvPr/>
        </p:nvSpPr>
        <p:spPr>
          <a:xfrm>
            <a:off x="381000" y="952500"/>
            <a:ext cx="502228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Hashing: Digital Fingerprints</a:t>
            </a:r>
            <a:endParaRPr lang="en-US" sz="2800" dirty="0"/>
          </a:p>
        </p:txBody>
      </p:sp>
      <p:sp>
        <p:nvSpPr>
          <p:cNvPr id="8" name="Text 5"/>
          <p:cNvSpPr/>
          <p:nvPr/>
        </p:nvSpPr>
        <p:spPr>
          <a:xfrm>
            <a:off x="381000" y="2390775"/>
            <a:ext cx="5022280" cy="100012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E6EDF3"/>
                </a:solidFill>
                <a:latin typeface="Inter" pitchFamily="34" charset="0"/>
                <a:ea typeface="Inter" pitchFamily="34" charset="-122"/>
                <a:cs typeface="Inter" pitchFamily="34" charset="-120"/>
              </a:rPr>
              <a:t>Imagine downloading a 4GB Linux ISO. How do you know it wasn't tampered with? You hash the file. If the 64-character string matches the website's — the file is identical. Change even </a:t>
            </a:r>
            <a:r>
              <a:rPr lang="en-US" sz="1200" b="1" dirty="0">
                <a:solidFill>
                  <a:srgbClr val="E6EDF3"/>
                </a:solidFill>
                <a:latin typeface="Inter" pitchFamily="34" charset="0"/>
                <a:ea typeface="Inter" pitchFamily="34" charset="-122"/>
                <a:cs typeface="Inter" pitchFamily="34" charset="-120"/>
              </a:rPr>
              <a:t>ONE bit</a:t>
            </a:r>
            <a:r>
              <a:rPr lang="en-US" sz="1265" dirty="0">
                <a:solidFill>
                  <a:srgbClr val="E6EDF3"/>
                </a:solidFill>
                <a:latin typeface="Inter" pitchFamily="34" charset="0"/>
                <a:ea typeface="Inter" pitchFamily="34" charset="-122"/>
                <a:cs typeface="Inter" pitchFamily="34" charset="-120"/>
              </a:rPr>
              <a:t>, and the hash changes completely.</a:t>
            </a:r>
            <a:endParaRPr lang="en-US" sz="1265" dirty="0"/>
          </a:p>
        </p:txBody>
      </p:sp>
      <p:sp>
        <p:nvSpPr>
          <p:cNvPr id="9" name="Shape 6"/>
          <p:cNvSpPr/>
          <p:nvPr/>
        </p:nvSpPr>
        <p:spPr>
          <a:xfrm>
            <a:off x="381000" y="3726061"/>
            <a:ext cx="5022280" cy="1697831"/>
          </a:xfrm>
          <a:prstGeom prst="rect">
            <a:avLst/>
          </a:prstGeom>
          <a:solidFill>
            <a:srgbClr val="161B22"/>
          </a:solidFill>
          <a:ln w="9144">
            <a:solidFill>
              <a:srgbClr val="30363D"/>
            </a:solidFill>
            <a:prstDash val="solid"/>
          </a:ln>
        </p:spPr>
      </p:sp>
      <p:pic>
        <p:nvPicPr>
          <p:cNvPr id="10" name="Image 1" descr="preencoded.png"/>
          <p:cNvPicPr>
            <a:picLocks noChangeAspect="1"/>
          </p:cNvPicPr>
          <p:nvPr/>
        </p:nvPicPr>
        <p:blipFill>
          <a:blip r:embed="rId2"/>
          <a:stretch>
            <a:fillRect/>
          </a:stretch>
        </p:blipFill>
        <p:spPr>
          <a:xfrm>
            <a:off x="619125" y="3932039"/>
            <a:ext cx="152400" cy="152400"/>
          </a:xfrm>
          <a:prstGeom prst="rect">
            <a:avLst/>
          </a:prstGeom>
        </p:spPr>
      </p:pic>
      <p:sp>
        <p:nvSpPr>
          <p:cNvPr id="11" name="Text 7"/>
          <p:cNvSpPr/>
          <p:nvPr/>
        </p:nvSpPr>
        <p:spPr>
          <a:xfrm>
            <a:off x="885825" y="3916561"/>
            <a:ext cx="3009900"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Inter" pitchFamily="34" charset="0"/>
                <a:ea typeface="Inter" pitchFamily="34" charset="-122"/>
                <a:cs typeface="Inter" pitchFamily="34" charset="-120"/>
              </a:rPr>
              <a:t>Deterministic (Same input = Same output)</a:t>
            </a:r>
            <a:endParaRPr lang="en-US" sz="1135" dirty="0"/>
          </a:p>
        </p:txBody>
      </p:sp>
      <p:pic>
        <p:nvPicPr>
          <p:cNvPr id="12" name="Image 2" descr="preencoded.png"/>
          <p:cNvPicPr>
            <a:picLocks noChangeAspect="1"/>
          </p:cNvPicPr>
          <p:nvPr/>
        </p:nvPicPr>
        <p:blipFill>
          <a:blip r:embed="rId3"/>
          <a:stretch>
            <a:fillRect/>
          </a:stretch>
        </p:blipFill>
        <p:spPr>
          <a:xfrm>
            <a:off x="619125" y="4229695"/>
            <a:ext cx="152400" cy="152400"/>
          </a:xfrm>
          <a:prstGeom prst="rect">
            <a:avLst/>
          </a:prstGeom>
        </p:spPr>
      </p:pic>
      <p:sp>
        <p:nvSpPr>
          <p:cNvPr id="13" name="Text 8"/>
          <p:cNvSpPr/>
          <p:nvPr/>
        </p:nvSpPr>
        <p:spPr>
          <a:xfrm>
            <a:off x="885825" y="4214217"/>
            <a:ext cx="1030605" cy="174625"/>
          </a:xfrm>
          <a:prstGeom prst="rect">
            <a:avLst/>
          </a:prstGeom>
          <a:noFill/>
        </p:spPr>
        <p:txBody>
          <a:bodyPr wrap="none" lIns="0" tIns="0" rIns="0" bIns="0" rtlCol="0" anchor="t">
            <a:spAutoFit/>
          </a:bodyPr>
          <a:lstStyle/>
          <a:p>
            <a:pPr marL="0" indent="0" algn="l">
              <a:buNone/>
            </a:pPr>
            <a:r>
              <a:rPr lang="en-US" sz="1135" dirty="0">
                <a:solidFill>
                  <a:srgbClr val="E6EDF3"/>
                </a:solidFill>
                <a:latin typeface="Inter" pitchFamily="34" charset="0"/>
                <a:ea typeface="Inter" pitchFamily="34" charset="-122"/>
                <a:cs typeface="Inter" pitchFamily="34" charset="-120"/>
              </a:rPr>
              <a:t>Fast to compute</a:t>
            </a:r>
            <a:endParaRPr lang="en-US" sz="1135" dirty="0"/>
          </a:p>
        </p:txBody>
      </p:sp>
      <p:pic>
        <p:nvPicPr>
          <p:cNvPr id="14" name="Image 3" descr="preencoded.png"/>
          <p:cNvPicPr>
            <a:picLocks noChangeAspect="1"/>
          </p:cNvPicPr>
          <p:nvPr/>
        </p:nvPicPr>
        <p:blipFill>
          <a:blip r:embed="rId4"/>
          <a:stretch>
            <a:fillRect/>
          </a:stretch>
        </p:blipFill>
        <p:spPr>
          <a:xfrm>
            <a:off x="619125" y="4527352"/>
            <a:ext cx="152400" cy="152400"/>
          </a:xfrm>
          <a:prstGeom prst="rect">
            <a:avLst/>
          </a:prstGeom>
        </p:spPr>
      </p:pic>
      <p:sp>
        <p:nvSpPr>
          <p:cNvPr id="15" name="Text 9"/>
          <p:cNvSpPr/>
          <p:nvPr/>
        </p:nvSpPr>
        <p:spPr>
          <a:xfrm>
            <a:off x="885825" y="4511873"/>
            <a:ext cx="3681412"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Inter" pitchFamily="34" charset="0"/>
                <a:ea typeface="Inter" pitchFamily="34" charset="-122"/>
                <a:cs typeface="Inter" pitchFamily="34" charset="-120"/>
              </a:rPr>
              <a:t>Avalanche Effect (Small change = Huge difference)</a:t>
            </a:r>
            <a:endParaRPr lang="en-US" sz="1135" dirty="0"/>
          </a:p>
        </p:txBody>
      </p:sp>
      <p:pic>
        <p:nvPicPr>
          <p:cNvPr id="16" name="Image 4" descr="preencoded.png"/>
          <p:cNvPicPr>
            <a:picLocks noChangeAspect="1"/>
          </p:cNvPicPr>
          <p:nvPr/>
        </p:nvPicPr>
        <p:blipFill>
          <a:blip r:embed="rId5"/>
          <a:stretch>
            <a:fillRect/>
          </a:stretch>
        </p:blipFill>
        <p:spPr>
          <a:xfrm>
            <a:off x="619125" y="4825008"/>
            <a:ext cx="152400" cy="152400"/>
          </a:xfrm>
          <a:prstGeom prst="rect">
            <a:avLst/>
          </a:prstGeom>
        </p:spPr>
      </p:pic>
      <p:sp>
        <p:nvSpPr>
          <p:cNvPr id="17" name="Text 10"/>
          <p:cNvSpPr/>
          <p:nvPr/>
        </p:nvSpPr>
        <p:spPr>
          <a:xfrm>
            <a:off x="885825" y="4809529"/>
            <a:ext cx="2226469"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Inter" pitchFamily="34" charset="0"/>
                <a:ea typeface="Inter" pitchFamily="34" charset="-122"/>
                <a:cs typeface="Inter" pitchFamily="34" charset="-120"/>
              </a:rPr>
              <a:t>One-way (Cannot be reversed)</a:t>
            </a:r>
            <a:endParaRPr lang="en-US" sz="1135" dirty="0"/>
          </a:p>
        </p:txBody>
      </p:sp>
      <p:pic>
        <p:nvPicPr>
          <p:cNvPr id="18" name="Image 5" descr="preencoded.png"/>
          <p:cNvPicPr>
            <a:picLocks noChangeAspect="1"/>
          </p:cNvPicPr>
          <p:nvPr/>
        </p:nvPicPr>
        <p:blipFill>
          <a:blip r:embed="rId2"/>
          <a:stretch>
            <a:fillRect/>
          </a:stretch>
        </p:blipFill>
        <p:spPr>
          <a:xfrm>
            <a:off x="619125" y="5122664"/>
            <a:ext cx="152400" cy="152400"/>
          </a:xfrm>
          <a:prstGeom prst="rect">
            <a:avLst/>
          </a:prstGeom>
        </p:spPr>
      </p:pic>
      <p:sp>
        <p:nvSpPr>
          <p:cNvPr id="19" name="Text 11"/>
          <p:cNvSpPr/>
          <p:nvPr/>
        </p:nvSpPr>
        <p:spPr>
          <a:xfrm>
            <a:off x="885825" y="5107185"/>
            <a:ext cx="1157605" cy="174625"/>
          </a:xfrm>
          <a:prstGeom prst="rect">
            <a:avLst/>
          </a:prstGeom>
          <a:noFill/>
        </p:spPr>
        <p:txBody>
          <a:bodyPr wrap="none" lIns="0" tIns="0" rIns="0" bIns="0" rtlCol="0" anchor="t">
            <a:spAutoFit/>
          </a:bodyPr>
          <a:lstStyle/>
          <a:p>
            <a:pPr marL="0" indent="0" algn="l">
              <a:buNone/>
            </a:pPr>
            <a:r>
              <a:rPr lang="en-US" sz="1135" dirty="0">
                <a:solidFill>
                  <a:srgbClr val="E6EDF3"/>
                </a:solidFill>
                <a:latin typeface="Inter" pitchFamily="34" charset="0"/>
                <a:ea typeface="Inter" pitchFamily="34" charset="-122"/>
                <a:cs typeface="Inter" pitchFamily="34" charset="-120"/>
              </a:rPr>
              <a:t>Collision Resistant</a:t>
            </a:r>
            <a:endParaRPr lang="en-US" sz="1135" dirty="0"/>
          </a:p>
        </p:txBody>
      </p:sp>
      <p:sp>
        <p:nvSpPr>
          <p:cNvPr id="20" name="Shape 12"/>
          <p:cNvSpPr/>
          <p:nvPr/>
        </p:nvSpPr>
        <p:spPr>
          <a:xfrm>
            <a:off x="5784280" y="952500"/>
            <a:ext cx="6026720" cy="2901256"/>
          </a:xfrm>
          <a:prstGeom prst="rect">
            <a:avLst/>
          </a:prstGeom>
          <a:solidFill>
            <a:srgbClr val="161B22"/>
          </a:solidFill>
          <a:ln w="9144">
            <a:solidFill>
              <a:srgbClr val="30363D"/>
            </a:solidFill>
            <a:prstDash val="solid"/>
          </a:ln>
        </p:spPr>
      </p:sp>
      <p:pic>
        <p:nvPicPr>
          <p:cNvPr id="21" name="Image 6" descr="preencoded.png"/>
          <p:cNvPicPr>
            <a:picLocks noChangeAspect="1"/>
          </p:cNvPicPr>
          <p:nvPr/>
        </p:nvPicPr>
        <p:blipFill>
          <a:blip r:embed="rId6"/>
          <a:stretch>
            <a:fillRect/>
          </a:stretch>
        </p:blipFill>
        <p:spPr>
          <a:xfrm>
            <a:off x="6022404" y="1238251"/>
            <a:ext cx="190500" cy="190500"/>
          </a:xfrm>
          <a:prstGeom prst="rect">
            <a:avLst/>
          </a:prstGeom>
        </p:spPr>
      </p:pic>
      <p:sp>
        <p:nvSpPr>
          <p:cNvPr id="22" name="Text 13"/>
          <p:cNvSpPr/>
          <p:nvPr/>
        </p:nvSpPr>
        <p:spPr>
          <a:xfrm>
            <a:off x="6308155" y="1190625"/>
            <a:ext cx="2047875" cy="215265"/>
          </a:xfrm>
          <a:prstGeom prst="rect">
            <a:avLst/>
          </a:prstGeom>
          <a:noFill/>
        </p:spPr>
        <p:txBody>
          <a:bodyPr wrap="square" lIns="0" tIns="0" rIns="0" bIns="0" rtlCol="0" anchor="t">
            <a:spAutoFit/>
          </a:bodyPr>
          <a:lstStyle/>
          <a:p>
            <a:pPr marL="0" indent="0" algn="l">
              <a:buNone/>
            </a:pPr>
            <a:r>
              <a:rPr lang="en-US" sz="1400" dirty="0">
                <a:solidFill>
                  <a:srgbClr val="58A6FF"/>
                </a:solidFill>
                <a:latin typeface="Poppins SemiBold" pitchFamily="34" charset="0"/>
                <a:ea typeface="Poppins SemiBold" pitchFamily="34" charset="-122"/>
                <a:cs typeface="Poppins SemiBold" pitchFamily="34" charset="-120"/>
              </a:rPr>
              <a:t>The Avalanche Effect</a:t>
            </a:r>
            <a:endParaRPr lang="en-US" sz="1400" dirty="0"/>
          </a:p>
        </p:txBody>
      </p:sp>
      <p:sp>
        <p:nvSpPr>
          <p:cNvPr id="23" name="Shape 14"/>
          <p:cNvSpPr/>
          <p:nvPr/>
        </p:nvSpPr>
        <p:spPr>
          <a:xfrm>
            <a:off x="6022404" y="1666875"/>
            <a:ext cx="5550471" cy="812453"/>
          </a:xfrm>
          <a:prstGeom prst="rect">
            <a:avLst/>
          </a:prstGeom>
          <a:solidFill>
            <a:srgbClr val="0D1117"/>
          </a:solidFill>
          <a:ln w="9144">
            <a:solidFill>
              <a:srgbClr val="30363D"/>
            </a:solidFill>
            <a:prstDash val="solid"/>
          </a:ln>
        </p:spPr>
      </p:sp>
      <p:sp>
        <p:nvSpPr>
          <p:cNvPr id="24" name="Text 15"/>
          <p:cNvSpPr/>
          <p:nvPr/>
        </p:nvSpPr>
        <p:spPr>
          <a:xfrm>
            <a:off x="6165280" y="1809751"/>
            <a:ext cx="526472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JetBrains Mono Medium" pitchFamily="34" charset="0"/>
                <a:ea typeface="JetBrains Mono Medium" pitchFamily="34" charset="-122"/>
                <a:cs typeface="JetBrains Mono Medium" pitchFamily="34" charset="-120"/>
              </a:rPr>
              <a:t>Input: "Hello"</a:t>
            </a:r>
            <a:endParaRPr lang="en-US" sz="1000" dirty="0"/>
          </a:p>
        </p:txBody>
      </p:sp>
      <p:sp>
        <p:nvSpPr>
          <p:cNvPr id="25" name="Text 16"/>
          <p:cNvSpPr/>
          <p:nvPr/>
        </p:nvSpPr>
        <p:spPr>
          <a:xfrm>
            <a:off x="6165280" y="2033588"/>
            <a:ext cx="5264720" cy="195580"/>
          </a:xfrm>
          <a:prstGeom prst="rect">
            <a:avLst/>
          </a:prstGeom>
          <a:noFill/>
        </p:spPr>
        <p:txBody>
          <a:bodyPr wrap="square" lIns="0" tIns="0" rIns="0" bIns="0" rtlCol="0" anchor="t">
            <a:spAutoFit/>
          </a:bodyPr>
          <a:lstStyle/>
          <a:p>
            <a:pPr marL="0" indent="0" algn="l">
              <a:lnSpc>
                <a:spcPct val="112000"/>
              </a:lnSpc>
              <a:buNone/>
            </a:pPr>
            <a:r>
              <a:rPr lang="en-US" sz="1135" dirty="0">
                <a:solidFill>
                  <a:srgbClr val="E3B341"/>
                </a:solidFill>
                <a:latin typeface="JetBrains Mono Medium" pitchFamily="34" charset="0"/>
                <a:ea typeface="JetBrains Mono Medium" pitchFamily="34" charset="-122"/>
                <a:cs typeface="JetBrains Mono Medium" pitchFamily="34" charset="-120"/>
              </a:rPr>
              <a:t>SHA256: 185f8db32271fe25f561a6fc938b2e264306ec304eda518007d1764826381969</a:t>
            </a:r>
            <a:endParaRPr lang="en-US" sz="1135" dirty="0"/>
          </a:p>
        </p:txBody>
      </p:sp>
      <p:sp>
        <p:nvSpPr>
          <p:cNvPr id="26" name="Shape 17"/>
          <p:cNvSpPr/>
          <p:nvPr/>
        </p:nvSpPr>
        <p:spPr>
          <a:xfrm>
            <a:off x="6022404" y="2650777"/>
            <a:ext cx="5550471" cy="812453"/>
          </a:xfrm>
          <a:prstGeom prst="rect">
            <a:avLst/>
          </a:prstGeom>
          <a:solidFill>
            <a:srgbClr val="0D1117"/>
          </a:solidFill>
          <a:ln w="9144">
            <a:solidFill>
              <a:srgbClr val="FF6B6B"/>
            </a:solidFill>
            <a:prstDash val="solid"/>
          </a:ln>
        </p:spPr>
      </p:sp>
      <p:sp>
        <p:nvSpPr>
          <p:cNvPr id="27" name="Text 18"/>
          <p:cNvSpPr/>
          <p:nvPr/>
        </p:nvSpPr>
        <p:spPr>
          <a:xfrm>
            <a:off x="6165280" y="2793653"/>
            <a:ext cx="526472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JetBrains Mono Medium" pitchFamily="34" charset="0"/>
                <a:ea typeface="JetBrains Mono Medium" pitchFamily="34" charset="-122"/>
                <a:cs typeface="JetBrains Mono Medium" pitchFamily="34" charset="-120"/>
              </a:rPr>
              <a:t>Input: "</a:t>
            </a:r>
            <a:r>
              <a:rPr lang="en-US" sz="935" b="1" dirty="0">
                <a:solidFill>
                  <a:srgbClr val="FF6B6B"/>
                </a:solidFill>
                <a:latin typeface="JetBrains Mono Medium" pitchFamily="34" charset="0"/>
                <a:ea typeface="JetBrains Mono Medium" pitchFamily="34" charset="-122"/>
                <a:cs typeface="JetBrains Mono Medium" pitchFamily="34" charset="-120"/>
              </a:rPr>
              <a:t>h</a:t>
            </a:r>
            <a:r>
              <a:rPr lang="en-US" sz="1000" dirty="0">
                <a:solidFill>
                  <a:srgbClr val="8B949E"/>
                </a:solidFill>
                <a:latin typeface="JetBrains Mono Medium" pitchFamily="34" charset="0"/>
                <a:ea typeface="JetBrains Mono Medium" pitchFamily="34" charset="-122"/>
                <a:cs typeface="JetBrains Mono Medium" pitchFamily="34" charset="-120"/>
              </a:rPr>
              <a:t>ello"</a:t>
            </a:r>
            <a:endParaRPr lang="en-US" sz="1000" dirty="0"/>
          </a:p>
        </p:txBody>
      </p:sp>
      <p:sp>
        <p:nvSpPr>
          <p:cNvPr id="28" name="Text 19"/>
          <p:cNvSpPr/>
          <p:nvPr/>
        </p:nvSpPr>
        <p:spPr>
          <a:xfrm>
            <a:off x="6165280" y="3017491"/>
            <a:ext cx="5264720" cy="195580"/>
          </a:xfrm>
          <a:prstGeom prst="rect">
            <a:avLst/>
          </a:prstGeom>
          <a:noFill/>
        </p:spPr>
        <p:txBody>
          <a:bodyPr wrap="square" lIns="0" tIns="0" rIns="0" bIns="0" rtlCol="0" anchor="t">
            <a:spAutoFit/>
          </a:bodyPr>
          <a:lstStyle/>
          <a:p>
            <a:pPr marL="0" indent="0" algn="l">
              <a:lnSpc>
                <a:spcPct val="112000"/>
              </a:lnSpc>
              <a:buNone/>
            </a:pPr>
            <a:r>
              <a:rPr lang="en-US" sz="1135" dirty="0">
                <a:solidFill>
                  <a:srgbClr val="E3B341"/>
                </a:solidFill>
                <a:latin typeface="JetBrains Mono Medium" pitchFamily="34" charset="0"/>
                <a:ea typeface="JetBrains Mono Medium" pitchFamily="34" charset="-122"/>
                <a:cs typeface="JetBrains Mono Medium" pitchFamily="34" charset="-120"/>
              </a:rPr>
              <a:t>SHA256: </a:t>
            </a:r>
            <a:r>
              <a:rPr lang="en-US" sz="1065" b="1" dirty="0">
                <a:solidFill>
                  <a:srgbClr val="FF6B6B"/>
                </a:solidFill>
                <a:latin typeface="JetBrains Mono Medium" pitchFamily="34" charset="0"/>
                <a:ea typeface="JetBrains Mono Medium" pitchFamily="34" charset="-122"/>
                <a:cs typeface="JetBrains Mono Medium" pitchFamily="34" charset="-120"/>
              </a:rPr>
              <a:t>2cf24dba5fb0a30e26e83b2ac5b9e29e1b161e5c1fa7425e73043362938b9824</a:t>
            </a:r>
            <a:endParaRPr lang="en-US" sz="1135" dirty="0"/>
          </a:p>
        </p:txBody>
      </p:sp>
      <p:sp>
        <p:nvSpPr>
          <p:cNvPr id="29" name="Text 20"/>
          <p:cNvSpPr/>
          <p:nvPr/>
        </p:nvSpPr>
        <p:spPr>
          <a:xfrm>
            <a:off x="6022404" y="3634680"/>
            <a:ext cx="5550471" cy="153670"/>
          </a:xfrm>
          <a:prstGeom prst="rect">
            <a:avLst/>
          </a:prstGeom>
          <a:noFill/>
        </p:spPr>
        <p:txBody>
          <a:bodyPr wrap="square" lIns="0" tIns="0" rIns="0" bIns="0" rtlCol="0" anchor="t">
            <a:spAutoFit/>
          </a:bodyPr>
          <a:lstStyle/>
          <a:p>
            <a:pPr marL="0" indent="0" algn="ctr">
              <a:buNone/>
            </a:pPr>
            <a:r>
              <a:rPr lang="en-US" sz="1000" dirty="0">
                <a:solidFill>
                  <a:srgbClr val="8B949E"/>
                </a:solidFill>
                <a:latin typeface="Inter" pitchFamily="34" charset="0"/>
                <a:ea typeface="Inter" pitchFamily="34" charset="-122"/>
                <a:cs typeface="Inter" pitchFamily="34" charset="-120"/>
              </a:rPr>
              <a:t>A single case change results in a completely different fingerprint.</a:t>
            </a:r>
            <a:endParaRPr lang="en-US" sz="1000" dirty="0"/>
          </a:p>
        </p:txBody>
      </p:sp>
      <p:sp>
        <p:nvSpPr>
          <p:cNvPr id="30" name="Shape 21"/>
          <p:cNvSpPr/>
          <p:nvPr/>
        </p:nvSpPr>
        <p:spPr>
          <a:xfrm>
            <a:off x="5784280" y="4082356"/>
            <a:ext cx="6026720" cy="576263"/>
          </a:xfrm>
          <a:prstGeom prst="rect">
            <a:avLst/>
          </a:prstGeom>
          <a:solidFill>
            <a:srgbClr val="E3B341">
              <a:alpha val="10000"/>
            </a:srgbClr>
          </a:solidFill>
          <a:ln w="9144">
            <a:solidFill>
              <a:srgbClr val="E3B341"/>
            </a:solidFill>
            <a:prstDash val="solid"/>
          </a:ln>
        </p:spPr>
      </p:sp>
      <p:pic>
        <p:nvPicPr>
          <p:cNvPr id="31" name="Image 7" descr="preencoded.png"/>
          <p:cNvPicPr>
            <a:picLocks noChangeAspect="1"/>
          </p:cNvPicPr>
          <p:nvPr/>
        </p:nvPicPr>
        <p:blipFill>
          <a:blip r:embed="rId7"/>
          <a:stretch>
            <a:fillRect/>
          </a:stretch>
        </p:blipFill>
        <p:spPr>
          <a:xfrm>
            <a:off x="5974780" y="4287143"/>
            <a:ext cx="114300" cy="152400"/>
          </a:xfrm>
          <a:prstGeom prst="rect">
            <a:avLst/>
          </a:prstGeom>
        </p:spPr>
      </p:pic>
      <p:sp>
        <p:nvSpPr>
          <p:cNvPr id="32" name="Text 22"/>
          <p:cNvSpPr/>
          <p:nvPr/>
        </p:nvSpPr>
        <p:spPr>
          <a:xfrm>
            <a:off x="6089080" y="4272856"/>
            <a:ext cx="5395912" cy="174625"/>
          </a:xfrm>
          <a:prstGeom prst="rect">
            <a:avLst/>
          </a:prstGeom>
          <a:noFill/>
        </p:spPr>
        <p:txBody>
          <a:bodyPr wrap="square" lIns="0" tIns="0" rIns="0" bIns="0" rtlCol="0" anchor="t">
            <a:spAutoFit/>
          </a:bodyPr>
          <a:lstStyle/>
          <a:p>
            <a:pPr marL="0" indent="0" algn="l">
              <a:buNone/>
            </a:pPr>
            <a:r>
              <a:rPr lang="en-US" sz="1135" i="1" dirty="0">
                <a:solidFill>
                  <a:srgbClr val="E3B341"/>
                </a:solidFill>
                <a:latin typeface="Inter" pitchFamily="34" charset="0"/>
                <a:ea typeface="Inter" pitchFamily="34" charset="-122"/>
                <a:cs typeface="Inter" pitchFamily="34" charset="-120"/>
              </a:rPr>
              <a:t>"Hashing is not encryption. You don't 'decrypt' a hash; you can only find a</a:t>
            </a:r>
            <a:endParaRPr lang="en-US" sz="1135" dirty="0"/>
          </a:p>
        </p:txBody>
      </p:sp>
      <p:sp>
        <p:nvSpPr>
          <p:cNvPr id="33" name="Text 23"/>
          <p:cNvSpPr/>
          <p:nvPr/>
        </p:nvSpPr>
        <p:spPr>
          <a:xfrm>
            <a:off x="5974780" y="4456212"/>
            <a:ext cx="2090737" cy="174625"/>
          </a:xfrm>
          <a:prstGeom prst="rect">
            <a:avLst/>
          </a:prstGeom>
          <a:noFill/>
        </p:spPr>
        <p:txBody>
          <a:bodyPr wrap="square" lIns="0" tIns="0" rIns="0" bIns="0" rtlCol="0" anchor="t">
            <a:spAutoFit/>
          </a:bodyPr>
          <a:lstStyle/>
          <a:p>
            <a:pPr marL="0" indent="0" algn="l">
              <a:buNone/>
            </a:pPr>
            <a:r>
              <a:rPr lang="en-US" sz="1135" i="1" dirty="0">
                <a:solidFill>
                  <a:srgbClr val="E3B341"/>
                </a:solidFill>
                <a:latin typeface="Inter" pitchFamily="34" charset="0"/>
                <a:ea typeface="Inter" pitchFamily="34" charset="-122"/>
                <a:cs typeface="Inter" pitchFamily="34" charset="-120"/>
              </a:rPr>
              <a:t>matching input by guessing."</a:t>
            </a:r>
            <a:endParaRPr lang="en-US" sz="113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5" name="Text 2"/>
          <p:cNvSpPr/>
          <p:nvPr/>
        </p:nvSpPr>
        <p:spPr>
          <a:xfrm>
            <a:off x="381000" y="172640"/>
            <a:ext cx="2764631" cy="194310"/>
          </a:xfrm>
          <a:prstGeom prst="rect">
            <a:avLst/>
          </a:prstGeom>
          <a:noFill/>
        </p:spPr>
        <p:txBody>
          <a:bodyPr wrap="square" lIns="0" tIns="0" rIns="0" bIns="0" rtlCol="0" anchor="t">
            <a:spAutoFit/>
          </a:bodyPr>
          <a:lstStyle/>
          <a:p>
            <a:pPr marL="0" indent="0" algn="l">
              <a:buNone/>
            </a:pPr>
            <a:endParaRPr lang="en-US" sz="1265" dirty="0"/>
          </a:p>
        </p:txBody>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59 | EWUCSC</a:t>
            </a:r>
            <a:endParaRPr lang="en-US" sz="1265" dirty="0"/>
          </a:p>
        </p:txBody>
      </p:sp>
      <p:sp>
        <p:nvSpPr>
          <p:cNvPr id="7" name="Text 4"/>
          <p:cNvSpPr/>
          <p:nvPr/>
        </p:nvSpPr>
        <p:spPr>
          <a:xfrm>
            <a:off x="381000" y="952500"/>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Hash Algorithms: MD5, SHA1, SHA256</a:t>
            </a:r>
            <a:endParaRPr lang="en-US" sz="2800" dirty="0"/>
          </a:p>
        </p:txBody>
      </p:sp>
      <p:sp>
        <p:nvSpPr>
          <p:cNvPr id="8" name="Shape 5"/>
          <p:cNvSpPr/>
          <p:nvPr/>
        </p:nvSpPr>
        <p:spPr>
          <a:xfrm>
            <a:off x="381000" y="1838325"/>
            <a:ext cx="11430000" cy="1766888"/>
          </a:xfrm>
          <a:prstGeom prst="rect">
            <a:avLst/>
          </a:prstGeom>
          <a:solidFill>
            <a:srgbClr val="161B22"/>
          </a:solidFill>
          <a:ln w="9144">
            <a:solidFill>
              <a:srgbClr val="30363D"/>
            </a:solidFill>
            <a:prstDash val="solid"/>
          </a:ln>
        </p:spPr>
      </p:sp>
      <p:sp>
        <p:nvSpPr>
          <p:cNvPr id="9" name="Text 6"/>
          <p:cNvSpPr/>
          <p:nvPr/>
        </p:nvSpPr>
        <p:spPr>
          <a:xfrm>
            <a:off x="381000" y="1841024"/>
            <a:ext cx="2309775" cy="323215"/>
          </a:xfrm>
          <a:prstGeom prst="rect">
            <a:avLst/>
          </a:prstGeom>
          <a:noFill/>
        </p:spPr>
        <p:txBody>
          <a:bodyPr wrap="square" lIns="226737" tIns="170010" rIns="226737" bIns="0" rtlCol="0" anchor="ctr">
            <a:spAutoFit/>
          </a:bodyPr>
          <a:lstStyle/>
          <a:p>
            <a:pPr marL="0" indent="0" algn="l">
              <a:buNone/>
            </a:pPr>
            <a:r>
              <a:rPr lang="en-US" sz="1000" dirty="0">
                <a:solidFill>
                  <a:srgbClr val="8B949E"/>
                </a:solidFill>
                <a:latin typeface="JetBrains Mono Medium" pitchFamily="34" charset="0"/>
                <a:ea typeface="JetBrains Mono Medium" pitchFamily="34" charset="-122"/>
                <a:cs typeface="JetBrains Mono Medium" pitchFamily="34" charset="-120"/>
              </a:rPr>
              <a:t>ALGORITHM</a:t>
            </a:r>
            <a:endParaRPr lang="en-US" sz="1000" dirty="0"/>
          </a:p>
        </p:txBody>
      </p:sp>
      <p:sp>
        <p:nvSpPr>
          <p:cNvPr id="10" name="Text 7"/>
          <p:cNvSpPr/>
          <p:nvPr/>
        </p:nvSpPr>
        <p:spPr>
          <a:xfrm>
            <a:off x="2690775" y="1841024"/>
            <a:ext cx="2646833" cy="323215"/>
          </a:xfrm>
          <a:prstGeom prst="rect">
            <a:avLst/>
          </a:prstGeom>
          <a:noFill/>
        </p:spPr>
        <p:txBody>
          <a:bodyPr wrap="square" lIns="226737" tIns="170010" rIns="226737" bIns="0" rtlCol="0" anchor="ctr">
            <a:spAutoFit/>
          </a:bodyPr>
          <a:lstStyle/>
          <a:p>
            <a:pPr marL="0" indent="0" algn="l">
              <a:buNone/>
            </a:pPr>
            <a:r>
              <a:rPr lang="en-US" sz="1000" dirty="0">
                <a:solidFill>
                  <a:srgbClr val="8B949E"/>
                </a:solidFill>
                <a:latin typeface="JetBrains Mono Medium" pitchFamily="34" charset="0"/>
                <a:ea typeface="JetBrains Mono Medium" pitchFamily="34" charset="-122"/>
                <a:cs typeface="JetBrains Mono Medium" pitchFamily="34" charset="-120"/>
              </a:rPr>
              <a:t>OUTPUT SIZE</a:t>
            </a:r>
            <a:endParaRPr lang="en-US" sz="1000" dirty="0"/>
          </a:p>
        </p:txBody>
      </p:sp>
      <p:sp>
        <p:nvSpPr>
          <p:cNvPr id="11" name="Text 8"/>
          <p:cNvSpPr/>
          <p:nvPr/>
        </p:nvSpPr>
        <p:spPr>
          <a:xfrm>
            <a:off x="5337609" y="1841024"/>
            <a:ext cx="799465" cy="323215"/>
          </a:xfrm>
          <a:prstGeom prst="rect">
            <a:avLst/>
          </a:prstGeom>
          <a:noFill/>
        </p:spPr>
        <p:txBody>
          <a:bodyPr wrap="none" lIns="226737" tIns="170010" rIns="226737" bIns="0" rtlCol="0" anchor="ctr">
            <a:spAutoFit/>
          </a:bodyPr>
          <a:lstStyle/>
          <a:p>
            <a:pPr marL="0" indent="0" algn="l">
              <a:buNone/>
            </a:pPr>
            <a:r>
              <a:rPr lang="en-US" sz="1000" dirty="0">
                <a:solidFill>
                  <a:srgbClr val="8B949E"/>
                </a:solidFill>
                <a:latin typeface="JetBrains Mono Medium" pitchFamily="34" charset="0"/>
                <a:ea typeface="JetBrains Mono Medium" pitchFamily="34" charset="-122"/>
                <a:cs typeface="JetBrains Mono Medium" pitchFamily="34" charset="-120"/>
              </a:rPr>
              <a:t>SPEED</a:t>
            </a:r>
            <a:endParaRPr lang="en-US" sz="1000" dirty="0"/>
          </a:p>
        </p:txBody>
      </p:sp>
      <p:sp>
        <p:nvSpPr>
          <p:cNvPr id="12" name="Text 9"/>
          <p:cNvSpPr/>
          <p:nvPr/>
        </p:nvSpPr>
        <p:spPr>
          <a:xfrm>
            <a:off x="6973268" y="1841024"/>
            <a:ext cx="1972717" cy="323215"/>
          </a:xfrm>
          <a:prstGeom prst="rect">
            <a:avLst/>
          </a:prstGeom>
          <a:noFill/>
        </p:spPr>
        <p:txBody>
          <a:bodyPr wrap="square" lIns="226737" tIns="170010" rIns="226737" bIns="0" rtlCol="0" anchor="ctr">
            <a:spAutoFit/>
          </a:bodyPr>
          <a:lstStyle/>
          <a:p>
            <a:pPr marL="0" indent="0" algn="l">
              <a:buNone/>
            </a:pPr>
            <a:r>
              <a:rPr lang="en-US" sz="1000" dirty="0">
                <a:solidFill>
                  <a:srgbClr val="8B949E"/>
                </a:solidFill>
                <a:latin typeface="JetBrains Mono Medium" pitchFamily="34" charset="0"/>
                <a:ea typeface="JetBrains Mono Medium" pitchFamily="34" charset="-122"/>
                <a:cs typeface="JetBrains Mono Medium" pitchFamily="34" charset="-120"/>
              </a:rPr>
              <a:t>SECURE?</a:t>
            </a:r>
            <a:endParaRPr lang="en-US" sz="1000" dirty="0"/>
          </a:p>
        </p:txBody>
      </p:sp>
      <p:sp>
        <p:nvSpPr>
          <p:cNvPr id="13" name="Text 10"/>
          <p:cNvSpPr/>
          <p:nvPr/>
        </p:nvSpPr>
        <p:spPr>
          <a:xfrm>
            <a:off x="8945984" y="1841024"/>
            <a:ext cx="2865016" cy="323215"/>
          </a:xfrm>
          <a:prstGeom prst="rect">
            <a:avLst/>
          </a:prstGeom>
          <a:noFill/>
        </p:spPr>
        <p:txBody>
          <a:bodyPr wrap="square" lIns="226737" tIns="170010" rIns="226737" bIns="0" rtlCol="0" anchor="ctr">
            <a:spAutoFit/>
          </a:bodyPr>
          <a:lstStyle/>
          <a:p>
            <a:pPr marL="0" indent="0" algn="l">
              <a:buNone/>
            </a:pPr>
            <a:r>
              <a:rPr lang="en-US" sz="1000" dirty="0">
                <a:solidFill>
                  <a:srgbClr val="8B949E"/>
                </a:solidFill>
                <a:latin typeface="JetBrains Mono Medium" pitchFamily="34" charset="0"/>
                <a:ea typeface="JetBrains Mono Medium" pitchFamily="34" charset="-122"/>
                <a:cs typeface="JetBrains Mono Medium" pitchFamily="34" charset="-120"/>
              </a:rPr>
              <a:t>CTF USAGE</a:t>
            </a:r>
            <a:endParaRPr lang="en-US" sz="1000" dirty="0"/>
          </a:p>
        </p:txBody>
      </p:sp>
      <p:sp>
        <p:nvSpPr>
          <p:cNvPr id="14" name="Text 11"/>
          <p:cNvSpPr/>
          <p:nvPr/>
        </p:nvSpPr>
        <p:spPr>
          <a:xfrm>
            <a:off x="381000" y="2173446"/>
            <a:ext cx="2309775" cy="344170"/>
          </a:xfrm>
          <a:prstGeom prst="rect">
            <a:avLst/>
          </a:prstGeom>
          <a:noFill/>
        </p:spPr>
        <p:txBody>
          <a:bodyPr wrap="square" lIns="226737" tIns="170010" rIns="226737"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MD5</a:t>
            </a:r>
            <a:endParaRPr lang="en-US" sz="1135" dirty="0"/>
          </a:p>
        </p:txBody>
      </p:sp>
      <p:sp>
        <p:nvSpPr>
          <p:cNvPr id="15" name="Text 12"/>
          <p:cNvSpPr/>
          <p:nvPr/>
        </p:nvSpPr>
        <p:spPr>
          <a:xfrm>
            <a:off x="2690775" y="2173446"/>
            <a:ext cx="2646833" cy="344170"/>
          </a:xfrm>
          <a:prstGeom prst="rect">
            <a:avLst/>
          </a:prstGeom>
          <a:noFill/>
        </p:spPr>
        <p:txBody>
          <a:bodyPr wrap="square" lIns="226737" tIns="170010" rIns="226737"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128 bits</a:t>
            </a:r>
            <a:endParaRPr lang="en-US" sz="1135" dirty="0"/>
          </a:p>
        </p:txBody>
      </p:sp>
      <p:sp>
        <p:nvSpPr>
          <p:cNvPr id="16" name="Text 13"/>
          <p:cNvSpPr/>
          <p:nvPr/>
        </p:nvSpPr>
        <p:spPr>
          <a:xfrm>
            <a:off x="5337609" y="2173446"/>
            <a:ext cx="713105" cy="344170"/>
          </a:xfrm>
          <a:prstGeom prst="rect">
            <a:avLst/>
          </a:prstGeom>
          <a:noFill/>
        </p:spPr>
        <p:txBody>
          <a:bodyPr wrap="none" lIns="226737" tIns="170010" rIns="226737"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Fast</a:t>
            </a:r>
            <a:endParaRPr lang="en-US" sz="1135" dirty="0"/>
          </a:p>
        </p:txBody>
      </p:sp>
      <p:sp>
        <p:nvSpPr>
          <p:cNvPr id="17" name="Text 14"/>
          <p:cNvSpPr/>
          <p:nvPr/>
        </p:nvSpPr>
        <p:spPr>
          <a:xfrm>
            <a:off x="6973268" y="2178844"/>
            <a:ext cx="1972717" cy="333375"/>
          </a:xfrm>
          <a:prstGeom prst="rect">
            <a:avLst/>
          </a:prstGeom>
          <a:noFill/>
        </p:spPr>
        <p:txBody>
          <a:bodyPr wrap="square" lIns="226737" tIns="170010" rIns="226737" bIns="0" rtlCol="0" anchor="ctr">
            <a:spAutoFit/>
          </a:bodyPr>
          <a:lstStyle/>
          <a:p>
            <a:pPr marL="0" indent="0" algn="l">
              <a:buNone/>
            </a:pPr>
            <a:r>
              <a:rPr lang="en-US" sz="1065" b="1" dirty="0">
                <a:solidFill>
                  <a:srgbClr val="FF6B6B"/>
                </a:solidFill>
                <a:latin typeface="JetBrains Mono Medium" pitchFamily="34" charset="0"/>
                <a:ea typeface="JetBrains Mono Medium" pitchFamily="34" charset="-122"/>
                <a:cs typeface="JetBrains Mono Medium" pitchFamily="34" charset="-120"/>
              </a:rPr>
              <a:t>BROKEN</a:t>
            </a:r>
            <a:endParaRPr lang="en-US" sz="1065" dirty="0"/>
          </a:p>
        </p:txBody>
      </p:sp>
      <p:sp>
        <p:nvSpPr>
          <p:cNvPr id="18" name="Text 15"/>
          <p:cNvSpPr/>
          <p:nvPr/>
        </p:nvSpPr>
        <p:spPr>
          <a:xfrm>
            <a:off x="8945984" y="2173446"/>
            <a:ext cx="2865016" cy="344170"/>
          </a:xfrm>
          <a:prstGeom prst="rect">
            <a:avLst/>
          </a:prstGeom>
          <a:noFill/>
        </p:spPr>
        <p:txBody>
          <a:bodyPr wrap="square" lIns="226737" tIns="170010" rIns="226737"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Very Common</a:t>
            </a:r>
            <a:endParaRPr lang="en-US" sz="1135" dirty="0"/>
          </a:p>
        </p:txBody>
      </p:sp>
      <p:sp>
        <p:nvSpPr>
          <p:cNvPr id="19" name="Text 16"/>
          <p:cNvSpPr/>
          <p:nvPr/>
        </p:nvSpPr>
        <p:spPr>
          <a:xfrm>
            <a:off x="381000" y="2528253"/>
            <a:ext cx="2309775" cy="344170"/>
          </a:xfrm>
          <a:prstGeom prst="rect">
            <a:avLst/>
          </a:prstGeom>
          <a:noFill/>
        </p:spPr>
        <p:txBody>
          <a:bodyPr wrap="square" lIns="226737" tIns="170010" rIns="226737"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SHA1</a:t>
            </a:r>
            <a:endParaRPr lang="en-US" sz="1135" dirty="0"/>
          </a:p>
        </p:txBody>
      </p:sp>
      <p:sp>
        <p:nvSpPr>
          <p:cNvPr id="20" name="Text 17"/>
          <p:cNvSpPr/>
          <p:nvPr/>
        </p:nvSpPr>
        <p:spPr>
          <a:xfrm>
            <a:off x="2690775" y="2528253"/>
            <a:ext cx="2646833" cy="344170"/>
          </a:xfrm>
          <a:prstGeom prst="rect">
            <a:avLst/>
          </a:prstGeom>
          <a:noFill/>
        </p:spPr>
        <p:txBody>
          <a:bodyPr wrap="square" lIns="226737" tIns="170010" rIns="226737"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160 bits</a:t>
            </a:r>
            <a:endParaRPr lang="en-US" sz="1135" dirty="0"/>
          </a:p>
        </p:txBody>
      </p:sp>
      <p:sp>
        <p:nvSpPr>
          <p:cNvPr id="21" name="Text 18"/>
          <p:cNvSpPr/>
          <p:nvPr/>
        </p:nvSpPr>
        <p:spPr>
          <a:xfrm>
            <a:off x="5337609" y="2528253"/>
            <a:ext cx="713105" cy="344170"/>
          </a:xfrm>
          <a:prstGeom prst="rect">
            <a:avLst/>
          </a:prstGeom>
          <a:noFill/>
        </p:spPr>
        <p:txBody>
          <a:bodyPr wrap="none" lIns="226737" tIns="170010" rIns="226737"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Fast</a:t>
            </a:r>
            <a:endParaRPr lang="en-US" sz="1135" dirty="0"/>
          </a:p>
        </p:txBody>
      </p:sp>
      <p:sp>
        <p:nvSpPr>
          <p:cNvPr id="22" name="Text 19"/>
          <p:cNvSpPr/>
          <p:nvPr/>
        </p:nvSpPr>
        <p:spPr>
          <a:xfrm>
            <a:off x="6973268" y="2533650"/>
            <a:ext cx="1972717" cy="333375"/>
          </a:xfrm>
          <a:prstGeom prst="rect">
            <a:avLst/>
          </a:prstGeom>
          <a:noFill/>
        </p:spPr>
        <p:txBody>
          <a:bodyPr wrap="square" lIns="226737" tIns="170010" rIns="226737" bIns="0" rtlCol="0" anchor="ctr">
            <a:spAutoFit/>
          </a:bodyPr>
          <a:lstStyle/>
          <a:p>
            <a:pPr marL="0" indent="0" algn="l">
              <a:buNone/>
            </a:pPr>
            <a:r>
              <a:rPr lang="en-US" sz="1065" b="1" dirty="0">
                <a:solidFill>
                  <a:srgbClr val="FF6B6B"/>
                </a:solidFill>
                <a:latin typeface="JetBrains Mono Medium" pitchFamily="34" charset="0"/>
                <a:ea typeface="JetBrains Mono Medium" pitchFamily="34" charset="-122"/>
                <a:cs typeface="JetBrains Mono Medium" pitchFamily="34" charset="-120"/>
              </a:rPr>
              <a:t>BROKEN</a:t>
            </a:r>
            <a:endParaRPr lang="en-US" sz="1065" dirty="0"/>
          </a:p>
        </p:txBody>
      </p:sp>
      <p:sp>
        <p:nvSpPr>
          <p:cNvPr id="23" name="Text 20"/>
          <p:cNvSpPr/>
          <p:nvPr/>
        </p:nvSpPr>
        <p:spPr>
          <a:xfrm>
            <a:off x="8945984" y="2528253"/>
            <a:ext cx="2865016" cy="344170"/>
          </a:xfrm>
          <a:prstGeom prst="rect">
            <a:avLst/>
          </a:prstGeom>
          <a:noFill/>
        </p:spPr>
        <p:txBody>
          <a:bodyPr wrap="square" lIns="226737" tIns="170010" rIns="226737"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Common</a:t>
            </a:r>
            <a:endParaRPr lang="en-US" sz="1135" dirty="0"/>
          </a:p>
        </p:txBody>
      </p:sp>
      <p:sp>
        <p:nvSpPr>
          <p:cNvPr id="24" name="Text 21"/>
          <p:cNvSpPr/>
          <p:nvPr/>
        </p:nvSpPr>
        <p:spPr>
          <a:xfrm>
            <a:off x="381000" y="2880678"/>
            <a:ext cx="2309775" cy="344170"/>
          </a:xfrm>
          <a:prstGeom prst="rect">
            <a:avLst/>
          </a:prstGeom>
          <a:noFill/>
        </p:spPr>
        <p:txBody>
          <a:bodyPr wrap="square" lIns="226737" tIns="170010" rIns="226737"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SHA256</a:t>
            </a:r>
            <a:endParaRPr lang="en-US" sz="1135" dirty="0"/>
          </a:p>
        </p:txBody>
      </p:sp>
      <p:sp>
        <p:nvSpPr>
          <p:cNvPr id="25" name="Text 22"/>
          <p:cNvSpPr/>
          <p:nvPr/>
        </p:nvSpPr>
        <p:spPr>
          <a:xfrm>
            <a:off x="2690775" y="2880678"/>
            <a:ext cx="2646833" cy="344170"/>
          </a:xfrm>
          <a:prstGeom prst="rect">
            <a:avLst/>
          </a:prstGeom>
          <a:noFill/>
        </p:spPr>
        <p:txBody>
          <a:bodyPr wrap="square" lIns="226737" tIns="170010" rIns="226737"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256 bits</a:t>
            </a:r>
            <a:endParaRPr lang="en-US" sz="1135" dirty="0"/>
          </a:p>
        </p:txBody>
      </p:sp>
      <p:sp>
        <p:nvSpPr>
          <p:cNvPr id="26" name="Text 23"/>
          <p:cNvSpPr/>
          <p:nvPr/>
        </p:nvSpPr>
        <p:spPr>
          <a:xfrm>
            <a:off x="5337609" y="2880678"/>
            <a:ext cx="713105" cy="344170"/>
          </a:xfrm>
          <a:prstGeom prst="rect">
            <a:avLst/>
          </a:prstGeom>
          <a:noFill/>
        </p:spPr>
        <p:txBody>
          <a:bodyPr wrap="none" lIns="226737" tIns="170010" rIns="226737"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Fast</a:t>
            </a:r>
            <a:endParaRPr lang="en-US" sz="1135" dirty="0"/>
          </a:p>
        </p:txBody>
      </p:sp>
      <p:sp>
        <p:nvSpPr>
          <p:cNvPr id="27" name="Text 24"/>
          <p:cNvSpPr/>
          <p:nvPr/>
        </p:nvSpPr>
        <p:spPr>
          <a:xfrm>
            <a:off x="6973268" y="2886076"/>
            <a:ext cx="1972717" cy="333375"/>
          </a:xfrm>
          <a:prstGeom prst="rect">
            <a:avLst/>
          </a:prstGeom>
          <a:noFill/>
        </p:spPr>
        <p:txBody>
          <a:bodyPr wrap="square" lIns="226737" tIns="170010" rIns="226737" bIns="0" rtlCol="0" anchor="ctr">
            <a:spAutoFit/>
          </a:bodyPr>
          <a:lstStyle/>
          <a:p>
            <a:pPr marL="0" indent="0" algn="l">
              <a:buNone/>
            </a:pPr>
            <a:r>
              <a:rPr lang="en-US" sz="1065" b="1" dirty="0">
                <a:solidFill>
                  <a:srgbClr val="00FF9C"/>
                </a:solidFill>
                <a:latin typeface="JetBrains Mono Medium" pitchFamily="34" charset="0"/>
                <a:ea typeface="JetBrains Mono Medium" pitchFamily="34" charset="-122"/>
                <a:cs typeface="JetBrains Mono Medium" pitchFamily="34" charset="-120"/>
              </a:rPr>
              <a:t>YES</a:t>
            </a:r>
            <a:endParaRPr lang="en-US" sz="1065" dirty="0"/>
          </a:p>
        </p:txBody>
      </p:sp>
      <p:sp>
        <p:nvSpPr>
          <p:cNvPr id="28" name="Text 25"/>
          <p:cNvSpPr/>
          <p:nvPr/>
        </p:nvSpPr>
        <p:spPr>
          <a:xfrm>
            <a:off x="8945984" y="2880678"/>
            <a:ext cx="2865016" cy="344170"/>
          </a:xfrm>
          <a:prstGeom prst="rect">
            <a:avLst/>
          </a:prstGeom>
          <a:noFill/>
        </p:spPr>
        <p:txBody>
          <a:bodyPr wrap="square" lIns="226737" tIns="170010" rIns="226737"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Common</a:t>
            </a:r>
            <a:endParaRPr lang="en-US" sz="1135" dirty="0"/>
          </a:p>
        </p:txBody>
      </p:sp>
      <p:sp>
        <p:nvSpPr>
          <p:cNvPr id="29" name="Text 26"/>
          <p:cNvSpPr/>
          <p:nvPr/>
        </p:nvSpPr>
        <p:spPr>
          <a:xfrm>
            <a:off x="381000" y="3233102"/>
            <a:ext cx="2309775" cy="344170"/>
          </a:xfrm>
          <a:prstGeom prst="rect">
            <a:avLst/>
          </a:prstGeom>
          <a:noFill/>
        </p:spPr>
        <p:txBody>
          <a:bodyPr wrap="square" lIns="226737" tIns="170010" rIns="226737"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bcrypt</a:t>
            </a:r>
            <a:endParaRPr lang="en-US" sz="1135" dirty="0"/>
          </a:p>
        </p:txBody>
      </p:sp>
      <p:sp>
        <p:nvSpPr>
          <p:cNvPr id="30" name="Text 27"/>
          <p:cNvSpPr/>
          <p:nvPr/>
        </p:nvSpPr>
        <p:spPr>
          <a:xfrm>
            <a:off x="2690775" y="3233102"/>
            <a:ext cx="2646833" cy="344170"/>
          </a:xfrm>
          <a:prstGeom prst="rect">
            <a:avLst/>
          </a:prstGeom>
          <a:noFill/>
        </p:spPr>
        <p:txBody>
          <a:bodyPr wrap="square" lIns="226737" tIns="170010" rIns="226737"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184 bits</a:t>
            </a:r>
            <a:endParaRPr lang="en-US" sz="1135" dirty="0"/>
          </a:p>
        </p:txBody>
      </p:sp>
      <p:sp>
        <p:nvSpPr>
          <p:cNvPr id="31" name="Text 28"/>
          <p:cNvSpPr/>
          <p:nvPr/>
        </p:nvSpPr>
        <p:spPr>
          <a:xfrm>
            <a:off x="5337609" y="3233102"/>
            <a:ext cx="823595" cy="344170"/>
          </a:xfrm>
          <a:prstGeom prst="rect">
            <a:avLst/>
          </a:prstGeom>
          <a:noFill/>
        </p:spPr>
        <p:txBody>
          <a:bodyPr wrap="none" lIns="226737" tIns="170010" rIns="226737" bIns="0" rtlCol="0" anchor="ctr">
            <a:spAutoFit/>
          </a:bodyPr>
          <a:lstStyle/>
          <a:p>
            <a:pPr marL="0" indent="0" algn="l">
              <a:buNone/>
            </a:pPr>
            <a:r>
              <a:rPr lang="en-US" sz="1135" dirty="0">
                <a:solidFill>
                  <a:srgbClr val="FF6B6B"/>
                </a:solidFill>
                <a:latin typeface="JetBrains Mono Medium" pitchFamily="34" charset="0"/>
                <a:ea typeface="JetBrains Mono Medium" pitchFamily="34" charset="-122"/>
                <a:cs typeface="JetBrains Mono Medium" pitchFamily="34" charset="-120"/>
              </a:rPr>
              <a:t>SLOW</a:t>
            </a:r>
            <a:endParaRPr lang="en-US" sz="1135" dirty="0"/>
          </a:p>
        </p:txBody>
      </p:sp>
      <p:sp>
        <p:nvSpPr>
          <p:cNvPr id="32" name="Text 29"/>
          <p:cNvSpPr/>
          <p:nvPr/>
        </p:nvSpPr>
        <p:spPr>
          <a:xfrm>
            <a:off x="6973268" y="3238500"/>
            <a:ext cx="1972717" cy="333375"/>
          </a:xfrm>
          <a:prstGeom prst="rect">
            <a:avLst/>
          </a:prstGeom>
          <a:noFill/>
        </p:spPr>
        <p:txBody>
          <a:bodyPr wrap="square" lIns="226737" tIns="170010" rIns="226737" bIns="0" rtlCol="0" anchor="ctr">
            <a:spAutoFit/>
          </a:bodyPr>
          <a:lstStyle/>
          <a:p>
            <a:pPr marL="0" indent="0" algn="l">
              <a:buNone/>
            </a:pPr>
            <a:r>
              <a:rPr lang="en-US" sz="1065" b="1" dirty="0">
                <a:solidFill>
                  <a:srgbClr val="00FF9C"/>
                </a:solidFill>
                <a:latin typeface="JetBrains Mono Medium" pitchFamily="34" charset="0"/>
                <a:ea typeface="JetBrains Mono Medium" pitchFamily="34" charset="-122"/>
                <a:cs typeface="JetBrains Mono Medium" pitchFamily="34" charset="-120"/>
              </a:rPr>
              <a:t>YES</a:t>
            </a:r>
            <a:endParaRPr lang="en-US" sz="1065" dirty="0"/>
          </a:p>
        </p:txBody>
      </p:sp>
      <p:sp>
        <p:nvSpPr>
          <p:cNvPr id="33" name="Text 30"/>
          <p:cNvSpPr/>
          <p:nvPr/>
        </p:nvSpPr>
        <p:spPr>
          <a:xfrm>
            <a:off x="8945984" y="3233102"/>
            <a:ext cx="2865016" cy="344170"/>
          </a:xfrm>
          <a:prstGeom prst="rect">
            <a:avLst/>
          </a:prstGeom>
          <a:noFill/>
        </p:spPr>
        <p:txBody>
          <a:bodyPr wrap="square" lIns="226737" tIns="170010" rIns="226737" bIns="0" rtlCol="0" anchor="ctr">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Rare</a:t>
            </a:r>
            <a:endParaRPr lang="en-US" sz="1135" dirty="0"/>
          </a:p>
        </p:txBody>
      </p:sp>
      <p:sp>
        <p:nvSpPr>
          <p:cNvPr id="34" name="Shape 31"/>
          <p:cNvSpPr/>
          <p:nvPr/>
        </p:nvSpPr>
        <p:spPr>
          <a:xfrm>
            <a:off x="381000" y="3871912"/>
            <a:ext cx="3682975" cy="1333500"/>
          </a:xfrm>
          <a:prstGeom prst="rect">
            <a:avLst/>
          </a:prstGeom>
          <a:solidFill>
            <a:srgbClr val="161B22"/>
          </a:solidFill>
          <a:ln w="9144">
            <a:solidFill>
              <a:srgbClr val="30363D"/>
            </a:solidFill>
            <a:prstDash val="solid"/>
          </a:ln>
        </p:spPr>
      </p:sp>
      <p:sp>
        <p:nvSpPr>
          <p:cNvPr id="35" name="Text 32"/>
          <p:cNvSpPr/>
          <p:nvPr/>
        </p:nvSpPr>
        <p:spPr>
          <a:xfrm>
            <a:off x="571500" y="4062412"/>
            <a:ext cx="3301975" cy="194310"/>
          </a:xfrm>
          <a:prstGeom prst="rect">
            <a:avLst/>
          </a:prstGeom>
          <a:noFill/>
        </p:spPr>
        <p:txBody>
          <a:bodyPr wrap="square" lIns="0" tIns="0" rIns="0" bIns="0" rtlCol="0" anchor="t">
            <a:spAutoFit/>
          </a:bodyPr>
          <a:lstStyle/>
          <a:p>
            <a:pPr marL="0" indent="0" algn="l">
              <a:buNone/>
            </a:pPr>
            <a:r>
              <a:rPr lang="en-US" sz="1265" dirty="0">
                <a:solidFill>
                  <a:srgbClr val="58A6FF"/>
                </a:solidFill>
                <a:latin typeface="Poppins SemiBold" pitchFamily="34" charset="0"/>
                <a:ea typeface="Poppins SemiBold" pitchFamily="34" charset="-122"/>
                <a:cs typeface="Poppins SemiBold" pitchFamily="34" charset="-120"/>
              </a:rPr>
              <a:t>MD5 Recognition</a:t>
            </a:r>
            <a:endParaRPr lang="en-US" sz="1265" dirty="0"/>
          </a:p>
        </p:txBody>
      </p:sp>
      <p:sp>
        <p:nvSpPr>
          <p:cNvPr id="36" name="Text 33"/>
          <p:cNvSpPr/>
          <p:nvPr/>
        </p:nvSpPr>
        <p:spPr>
          <a:xfrm>
            <a:off x="571500" y="4414837"/>
            <a:ext cx="3301975" cy="255905"/>
          </a:xfrm>
          <a:prstGeom prst="rect">
            <a:avLst/>
          </a:prstGeom>
          <a:noFill/>
        </p:spPr>
        <p:txBody>
          <a:bodyPr wrap="square" lIns="0" tIns="0" rIns="0" bIns="0" rtlCol="0" anchor="t">
            <a:spAutoFit/>
          </a:bodyPr>
          <a:lstStyle/>
          <a:p>
            <a:pPr marL="0" indent="0" algn="l">
              <a:buNone/>
            </a:pPr>
            <a:r>
              <a:rPr lang="en-US" sz="1665" dirty="0">
                <a:solidFill>
                  <a:srgbClr val="E6EDF3"/>
                </a:solidFill>
                <a:latin typeface="JetBrains Mono Medium" pitchFamily="34" charset="0"/>
                <a:ea typeface="JetBrains Mono Medium" pitchFamily="34" charset="-122"/>
                <a:cs typeface="JetBrains Mono Medium" pitchFamily="34" charset="-120"/>
              </a:rPr>
              <a:t>32 Hex Chars</a:t>
            </a:r>
            <a:endParaRPr lang="en-US" sz="1665" dirty="0"/>
          </a:p>
        </p:txBody>
      </p:sp>
      <p:sp>
        <p:nvSpPr>
          <p:cNvPr id="37" name="Shape 34"/>
          <p:cNvSpPr/>
          <p:nvPr/>
        </p:nvSpPr>
        <p:spPr>
          <a:xfrm>
            <a:off x="4254475" y="3871912"/>
            <a:ext cx="3683012" cy="1333500"/>
          </a:xfrm>
          <a:prstGeom prst="rect">
            <a:avLst/>
          </a:prstGeom>
          <a:solidFill>
            <a:srgbClr val="161B22"/>
          </a:solidFill>
          <a:ln w="9144">
            <a:solidFill>
              <a:srgbClr val="30363D"/>
            </a:solidFill>
            <a:prstDash val="solid"/>
          </a:ln>
        </p:spPr>
      </p:sp>
      <p:sp>
        <p:nvSpPr>
          <p:cNvPr id="38" name="Text 35"/>
          <p:cNvSpPr/>
          <p:nvPr/>
        </p:nvSpPr>
        <p:spPr>
          <a:xfrm>
            <a:off x="4444975" y="4062412"/>
            <a:ext cx="3302012" cy="194310"/>
          </a:xfrm>
          <a:prstGeom prst="rect">
            <a:avLst/>
          </a:prstGeom>
          <a:noFill/>
        </p:spPr>
        <p:txBody>
          <a:bodyPr wrap="square" lIns="0" tIns="0" rIns="0" bIns="0" rtlCol="0" anchor="t">
            <a:spAutoFit/>
          </a:bodyPr>
          <a:lstStyle/>
          <a:p>
            <a:pPr marL="0" indent="0" algn="l">
              <a:buNone/>
            </a:pPr>
            <a:r>
              <a:rPr lang="en-US" sz="1265" dirty="0">
                <a:solidFill>
                  <a:srgbClr val="58A6FF"/>
                </a:solidFill>
                <a:latin typeface="Poppins SemiBold" pitchFamily="34" charset="0"/>
                <a:ea typeface="Poppins SemiBold" pitchFamily="34" charset="-122"/>
                <a:cs typeface="Poppins SemiBold" pitchFamily="34" charset="-120"/>
              </a:rPr>
              <a:t>SHA1 Recognition</a:t>
            </a:r>
            <a:endParaRPr lang="en-US" sz="1265" dirty="0"/>
          </a:p>
        </p:txBody>
      </p:sp>
      <p:sp>
        <p:nvSpPr>
          <p:cNvPr id="39" name="Text 36"/>
          <p:cNvSpPr/>
          <p:nvPr/>
        </p:nvSpPr>
        <p:spPr>
          <a:xfrm>
            <a:off x="4444975" y="4414837"/>
            <a:ext cx="3302012" cy="255905"/>
          </a:xfrm>
          <a:prstGeom prst="rect">
            <a:avLst/>
          </a:prstGeom>
          <a:noFill/>
        </p:spPr>
        <p:txBody>
          <a:bodyPr wrap="square" lIns="0" tIns="0" rIns="0" bIns="0" rtlCol="0" anchor="t">
            <a:spAutoFit/>
          </a:bodyPr>
          <a:lstStyle/>
          <a:p>
            <a:pPr marL="0" indent="0" algn="l">
              <a:buNone/>
            </a:pPr>
            <a:r>
              <a:rPr lang="en-US" sz="1665" dirty="0">
                <a:solidFill>
                  <a:srgbClr val="E6EDF3"/>
                </a:solidFill>
                <a:latin typeface="JetBrains Mono Medium" pitchFamily="34" charset="0"/>
                <a:ea typeface="JetBrains Mono Medium" pitchFamily="34" charset="-122"/>
                <a:cs typeface="JetBrains Mono Medium" pitchFamily="34" charset="-120"/>
              </a:rPr>
              <a:t>40 Hex Chars</a:t>
            </a:r>
            <a:endParaRPr lang="en-US" sz="1665" dirty="0"/>
          </a:p>
        </p:txBody>
      </p:sp>
      <p:sp>
        <p:nvSpPr>
          <p:cNvPr id="40" name="Shape 37"/>
          <p:cNvSpPr/>
          <p:nvPr/>
        </p:nvSpPr>
        <p:spPr>
          <a:xfrm>
            <a:off x="8127988" y="3871912"/>
            <a:ext cx="3682975" cy="1333500"/>
          </a:xfrm>
          <a:prstGeom prst="rect">
            <a:avLst/>
          </a:prstGeom>
          <a:solidFill>
            <a:srgbClr val="161B22"/>
          </a:solidFill>
          <a:ln w="9144">
            <a:solidFill>
              <a:srgbClr val="30363D"/>
            </a:solidFill>
            <a:prstDash val="solid"/>
          </a:ln>
        </p:spPr>
      </p:sp>
      <p:sp>
        <p:nvSpPr>
          <p:cNvPr id="41" name="Text 38"/>
          <p:cNvSpPr/>
          <p:nvPr/>
        </p:nvSpPr>
        <p:spPr>
          <a:xfrm>
            <a:off x="8318488" y="4062412"/>
            <a:ext cx="3301975" cy="194310"/>
          </a:xfrm>
          <a:prstGeom prst="rect">
            <a:avLst/>
          </a:prstGeom>
          <a:noFill/>
        </p:spPr>
        <p:txBody>
          <a:bodyPr wrap="square" lIns="0" tIns="0" rIns="0" bIns="0" rtlCol="0" anchor="t">
            <a:spAutoFit/>
          </a:bodyPr>
          <a:lstStyle/>
          <a:p>
            <a:pPr marL="0" indent="0" algn="l">
              <a:buNone/>
            </a:pPr>
            <a:r>
              <a:rPr lang="en-US" sz="1265" dirty="0">
                <a:solidFill>
                  <a:srgbClr val="58A6FF"/>
                </a:solidFill>
                <a:latin typeface="Poppins SemiBold" pitchFamily="34" charset="0"/>
                <a:ea typeface="Poppins SemiBold" pitchFamily="34" charset="-122"/>
                <a:cs typeface="Poppins SemiBold" pitchFamily="34" charset="-120"/>
              </a:rPr>
              <a:t>SHA256 Recognition</a:t>
            </a:r>
            <a:endParaRPr lang="en-US" sz="1265" dirty="0"/>
          </a:p>
        </p:txBody>
      </p:sp>
      <p:sp>
        <p:nvSpPr>
          <p:cNvPr id="42" name="Text 39"/>
          <p:cNvSpPr/>
          <p:nvPr/>
        </p:nvSpPr>
        <p:spPr>
          <a:xfrm>
            <a:off x="8318488" y="4414837"/>
            <a:ext cx="3301975" cy="255905"/>
          </a:xfrm>
          <a:prstGeom prst="rect">
            <a:avLst/>
          </a:prstGeom>
          <a:noFill/>
        </p:spPr>
        <p:txBody>
          <a:bodyPr wrap="square" lIns="0" tIns="0" rIns="0" bIns="0" rtlCol="0" anchor="t">
            <a:spAutoFit/>
          </a:bodyPr>
          <a:lstStyle/>
          <a:p>
            <a:pPr marL="0" indent="0" algn="l">
              <a:buNone/>
            </a:pPr>
            <a:r>
              <a:rPr lang="en-US" sz="1665" dirty="0">
                <a:solidFill>
                  <a:srgbClr val="E6EDF3"/>
                </a:solidFill>
                <a:latin typeface="JetBrains Mono Medium" pitchFamily="34" charset="0"/>
                <a:ea typeface="JetBrains Mono Medium" pitchFamily="34" charset="-122"/>
                <a:cs typeface="JetBrains Mono Medium" pitchFamily="34" charset="-120"/>
              </a:rPr>
              <a:t>64 Hex Chars</a:t>
            </a:r>
            <a:endParaRPr lang="en-US" sz="1665" dirty="0"/>
          </a:p>
        </p:txBody>
      </p:sp>
      <p:sp>
        <p:nvSpPr>
          <p:cNvPr id="43" name="Shape 40"/>
          <p:cNvSpPr/>
          <p:nvPr/>
        </p:nvSpPr>
        <p:spPr>
          <a:xfrm>
            <a:off x="381000" y="5886451"/>
            <a:ext cx="11430000" cy="781051"/>
          </a:xfrm>
          <a:prstGeom prst="rect">
            <a:avLst/>
          </a:prstGeom>
          <a:solidFill>
            <a:srgbClr val="E3B341">
              <a:alpha val="10000"/>
            </a:srgbClr>
          </a:solidFill>
          <a:ln w="9144">
            <a:solidFill>
              <a:srgbClr val="E3B341"/>
            </a:solidFill>
            <a:prstDash val="solid"/>
          </a:ln>
        </p:spPr>
      </p:sp>
      <p:pic>
        <p:nvPicPr>
          <p:cNvPr id="44" name="Image 1" descr="preencoded.png"/>
          <p:cNvPicPr>
            <a:picLocks noChangeAspect="1"/>
          </p:cNvPicPr>
          <p:nvPr/>
        </p:nvPicPr>
        <p:blipFill>
          <a:blip r:embed="rId2"/>
          <a:stretch>
            <a:fillRect/>
          </a:stretch>
        </p:blipFill>
        <p:spPr>
          <a:xfrm>
            <a:off x="571500" y="6286500"/>
            <a:ext cx="190500" cy="190500"/>
          </a:xfrm>
          <a:prstGeom prst="rect">
            <a:avLst/>
          </a:prstGeom>
        </p:spPr>
      </p:pic>
      <p:sp>
        <p:nvSpPr>
          <p:cNvPr id="45" name="Text 41"/>
          <p:cNvSpPr/>
          <p:nvPr/>
        </p:nvSpPr>
        <p:spPr>
          <a:xfrm>
            <a:off x="904875" y="6096000"/>
            <a:ext cx="10715625" cy="430530"/>
          </a:xfrm>
          <a:prstGeom prst="rect">
            <a:avLst/>
          </a:prstGeom>
          <a:noFill/>
        </p:spPr>
        <p:txBody>
          <a:bodyPr wrap="square" lIns="0" tIns="0" rIns="0" bIns="0" rtlCol="0" anchor="t">
            <a:spAutoFit/>
          </a:bodyPr>
          <a:lstStyle/>
          <a:p>
            <a:pPr marL="0" indent="0" algn="l">
              <a:buNone/>
            </a:pPr>
            <a:r>
              <a:rPr lang="en-US" sz="1335" b="1" dirty="0">
                <a:solidFill>
                  <a:srgbClr val="E3B341"/>
                </a:solidFill>
                <a:latin typeface="Poppins SemiBold" pitchFamily="34" charset="0"/>
                <a:ea typeface="Poppins SemiBold" pitchFamily="34" charset="-122"/>
                <a:cs typeface="Poppins SemiBold" pitchFamily="34" charset="-120"/>
              </a:rPr>
              <a:t>CTF Strategy:</a:t>
            </a:r>
            <a:r>
              <a:rPr lang="en-US" sz="1400" dirty="0">
                <a:solidFill>
                  <a:srgbClr val="E3B341"/>
                </a:solidFill>
                <a:latin typeface="Poppins SemiBold" pitchFamily="34" charset="0"/>
                <a:ea typeface="Poppins SemiBold" pitchFamily="34" charset="-122"/>
                <a:cs typeface="Poppins SemiBold" pitchFamily="34" charset="-120"/>
              </a:rPr>
              <a:t> See a 32-character hex string? It's almost certainly </a:t>
            </a:r>
            <a:r>
              <a:rPr lang="en-US" sz="1400" dirty="0">
                <a:solidFill>
                  <a:srgbClr val="E3B341"/>
                </a:solidFill>
                <a:latin typeface="JetBrains Mono Medium" pitchFamily="34" charset="0"/>
                <a:ea typeface="JetBrains Mono Medium" pitchFamily="34" charset="-122"/>
                <a:cs typeface="JetBrains Mono Medium" pitchFamily="34" charset="-120"/>
              </a:rPr>
              <a:t>MD5</a:t>
            </a:r>
            <a:r>
              <a:rPr lang="en-US" sz="1400" dirty="0">
                <a:solidFill>
                  <a:srgbClr val="E3B341"/>
                </a:solidFill>
                <a:latin typeface="Poppins SemiBold" pitchFamily="34" charset="0"/>
                <a:ea typeface="Poppins SemiBold" pitchFamily="34" charset="-122"/>
                <a:cs typeface="Poppins SemiBold" pitchFamily="34" charset="-120"/>
              </a:rPr>
              <a:t>. Your first move should always be checking </a:t>
            </a:r>
            <a:r>
              <a:rPr lang="en-US" sz="1400" dirty="0">
                <a:solidFill>
                  <a:srgbClr val="00FF9C"/>
                </a:solidFill>
                <a:latin typeface="JetBrains Mono Medium" pitchFamily="34" charset="0"/>
                <a:ea typeface="JetBrains Mono Medium" pitchFamily="34" charset="-122"/>
                <a:cs typeface="JetBrains Mono Medium" pitchFamily="34" charset="-120"/>
              </a:rPr>
              <a:t>crackstation.net</a:t>
            </a:r>
            <a:r>
              <a:rPr lang="en-US" sz="1400" dirty="0">
                <a:solidFill>
                  <a:srgbClr val="E3B341"/>
                </a:solidFill>
                <a:latin typeface="Poppins SemiBold" pitchFamily="34" charset="0"/>
                <a:ea typeface="Poppins SemiBold" pitchFamily="34" charset="-122"/>
                <a:cs typeface="Poppins SemiBold" pitchFamily="34" charset="-120"/>
              </a:rPr>
              <a:t> for a quick win.</a:t>
            </a:r>
            <a:endParaRPr lang="en-US" sz="1335" dirty="0"/>
          </a:p>
        </p:txBody>
      </p:sp>
      <p:grpSp>
        <p:nvGrpSpPr>
          <p:cNvPr id="46" name="Group 2"/>
          <p:cNvGrpSpPr/>
          <p:nvPr/>
        </p:nvGrpSpPr>
        <p:grpSpPr>
          <a:xfrm rot="0">
            <a:off x="294640" y="194310"/>
            <a:ext cx="789305" cy="299720"/>
            <a:chOff x="0" y="0"/>
            <a:chExt cx="341337" cy="102463"/>
          </a:xfrm>
        </p:grpSpPr>
        <p:sp>
          <p:nvSpPr>
            <p:cNvPr id="47"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8"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9" name="Group 5"/>
          <p:cNvGrpSpPr/>
          <p:nvPr/>
        </p:nvGrpSpPr>
        <p:grpSpPr>
          <a:xfrm rot="0">
            <a:off x="822325" y="209550"/>
            <a:ext cx="220980" cy="246380"/>
            <a:chOff x="0" y="0"/>
            <a:chExt cx="812800" cy="812800"/>
          </a:xfrm>
        </p:grpSpPr>
        <p:sp>
          <p:nvSpPr>
            <p:cNvPr id="50"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1"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52"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60 | EWUCSC</a:t>
            </a:r>
            <a:endParaRPr lang="en-US" sz="1265" dirty="0"/>
          </a:p>
        </p:txBody>
      </p:sp>
      <p:sp>
        <p:nvSpPr>
          <p:cNvPr id="7" name="Text 4"/>
          <p:cNvSpPr/>
          <p:nvPr/>
        </p:nvSpPr>
        <p:spPr>
          <a:xfrm>
            <a:off x="381000" y="952500"/>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Hash Cracking: Tools and Techniques</a:t>
            </a:r>
            <a:endParaRPr lang="en-US" sz="2800" dirty="0"/>
          </a:p>
        </p:txBody>
      </p:sp>
      <p:sp>
        <p:nvSpPr>
          <p:cNvPr id="8" name="Text 5"/>
          <p:cNvSpPr/>
          <p:nvPr/>
        </p:nvSpPr>
        <p:spPr>
          <a:xfrm>
            <a:off x="381000" y="1724025"/>
            <a:ext cx="11430000"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Inter" pitchFamily="34" charset="0"/>
                <a:ea typeface="Inter" pitchFamily="34" charset="-122"/>
                <a:cs typeface="Inter" pitchFamily="34" charset="-120"/>
              </a:rPr>
              <a:t>Hashing is one-way — you can't "decrypt" it. Instead, you must guess the input, hash it, and compare the results.</a:t>
            </a:r>
            <a:endParaRPr lang="en-US" sz="1265" dirty="0"/>
          </a:p>
        </p:txBody>
      </p:sp>
      <p:sp>
        <p:nvSpPr>
          <p:cNvPr id="9" name="Shape 6"/>
          <p:cNvSpPr/>
          <p:nvPr/>
        </p:nvSpPr>
        <p:spPr>
          <a:xfrm>
            <a:off x="381000" y="2102644"/>
            <a:ext cx="3733800" cy="1905000"/>
          </a:xfrm>
          <a:prstGeom prst="rect">
            <a:avLst/>
          </a:prstGeom>
          <a:solidFill>
            <a:srgbClr val="161B22"/>
          </a:solidFill>
          <a:ln w="9144">
            <a:solidFill>
              <a:srgbClr val="30363D"/>
            </a:solidFill>
            <a:prstDash val="solid"/>
          </a:ln>
        </p:spPr>
      </p:sp>
      <p:pic>
        <p:nvPicPr>
          <p:cNvPr id="10" name="Image 1" descr="preencoded.png"/>
          <p:cNvPicPr>
            <a:picLocks noChangeAspect="1"/>
          </p:cNvPicPr>
          <p:nvPr/>
        </p:nvPicPr>
        <p:blipFill>
          <a:blip r:embed="rId2"/>
          <a:stretch>
            <a:fillRect/>
          </a:stretch>
        </p:blipFill>
        <p:spPr>
          <a:xfrm>
            <a:off x="533400" y="2302669"/>
            <a:ext cx="166688" cy="190500"/>
          </a:xfrm>
          <a:prstGeom prst="rect">
            <a:avLst/>
          </a:prstGeom>
        </p:spPr>
      </p:pic>
      <p:sp>
        <p:nvSpPr>
          <p:cNvPr id="11" name="Text 7"/>
          <p:cNvSpPr/>
          <p:nvPr/>
        </p:nvSpPr>
        <p:spPr>
          <a:xfrm>
            <a:off x="795337" y="2255044"/>
            <a:ext cx="1341120" cy="215265"/>
          </a:xfrm>
          <a:prstGeom prst="rect">
            <a:avLst/>
          </a:prstGeom>
          <a:noFill/>
        </p:spPr>
        <p:txBody>
          <a:bodyPr wrap="none" lIns="0" tIns="0" rIns="0" bIns="0" rtlCol="0" anchor="t">
            <a:spAutoFit/>
          </a:bodyPr>
          <a:lstStyle/>
          <a:p>
            <a:pPr marL="0" indent="0" algn="l">
              <a:buNone/>
            </a:pPr>
            <a:r>
              <a:rPr lang="en-US" sz="1400" dirty="0">
                <a:solidFill>
                  <a:srgbClr val="58A6FF"/>
                </a:solidFill>
                <a:latin typeface="Poppins SemiBold" pitchFamily="34" charset="0"/>
                <a:ea typeface="Poppins SemiBold" pitchFamily="34" charset="-122"/>
                <a:cs typeface="Poppins SemiBold" pitchFamily="34" charset="-120"/>
              </a:rPr>
              <a:t>Dictionary Attack</a:t>
            </a:r>
            <a:endParaRPr lang="en-US" sz="1400" dirty="0"/>
          </a:p>
        </p:txBody>
      </p:sp>
      <p:sp>
        <p:nvSpPr>
          <p:cNvPr id="12" name="Text 8"/>
          <p:cNvSpPr/>
          <p:nvPr/>
        </p:nvSpPr>
        <p:spPr>
          <a:xfrm>
            <a:off x="533400" y="2655093"/>
            <a:ext cx="3429000" cy="394970"/>
          </a:xfrm>
          <a:prstGeom prst="rect">
            <a:avLst/>
          </a:prstGeom>
          <a:noFill/>
        </p:spPr>
        <p:txBody>
          <a:bodyPr wrap="square" lIns="0" tIns="0" rIns="0" bIns="0" rtlCol="0" anchor="t">
            <a:spAutoFit/>
          </a:bodyPr>
          <a:lstStyle/>
          <a:p>
            <a:pPr marL="0" indent="0" algn="l">
              <a:lnSpc>
                <a:spcPct val="120000"/>
              </a:lnSpc>
              <a:buNone/>
            </a:pPr>
            <a:r>
              <a:rPr lang="en-US" sz="1065" dirty="0">
                <a:solidFill>
                  <a:srgbClr val="8B949E"/>
                </a:solidFill>
                <a:latin typeface="Inter" pitchFamily="34" charset="0"/>
                <a:ea typeface="Inter" pitchFamily="34" charset="-122"/>
                <a:cs typeface="Inter" pitchFamily="34" charset="-120"/>
              </a:rPr>
              <a:t>Try every word in a massive wordlist of common passwords (like rockyou.txt).</a:t>
            </a:r>
            <a:endParaRPr lang="en-US" sz="1065" dirty="0"/>
          </a:p>
        </p:txBody>
      </p:sp>
      <p:sp>
        <p:nvSpPr>
          <p:cNvPr id="13" name="Shape 9"/>
          <p:cNvSpPr/>
          <p:nvPr/>
        </p:nvSpPr>
        <p:spPr>
          <a:xfrm>
            <a:off x="533400" y="3178969"/>
            <a:ext cx="1414463" cy="207169"/>
          </a:xfrm>
          <a:prstGeom prst="rect">
            <a:avLst/>
          </a:prstGeom>
          <a:solidFill>
            <a:srgbClr val="E3B341">
              <a:alpha val="10000"/>
            </a:srgbClr>
          </a:solidFill>
          <a:ln w="9144">
            <a:solidFill>
              <a:srgbClr val="E3B341"/>
            </a:solidFill>
            <a:prstDash val="solid"/>
          </a:ln>
        </p:spPr>
      </p:sp>
      <p:sp>
        <p:nvSpPr>
          <p:cNvPr id="14" name="Text 10"/>
          <p:cNvSpPr/>
          <p:nvPr/>
        </p:nvSpPr>
        <p:spPr>
          <a:xfrm>
            <a:off x="533400" y="3178969"/>
            <a:ext cx="962025" cy="167640"/>
          </a:xfrm>
          <a:prstGeom prst="rect">
            <a:avLst/>
          </a:prstGeom>
          <a:noFill/>
        </p:spPr>
        <p:txBody>
          <a:bodyPr wrap="none" lIns="90762" tIns="45381" rIns="90762" bIns="0" rtlCol="0" anchor="t">
            <a:spAutoFit/>
          </a:bodyPr>
          <a:lstStyle/>
          <a:p>
            <a:pPr marL="0" indent="0" algn="l">
              <a:buNone/>
            </a:pPr>
            <a:r>
              <a:rPr lang="en-US" sz="800" dirty="0">
                <a:solidFill>
                  <a:srgbClr val="E3B341"/>
                </a:solidFill>
                <a:latin typeface="JetBrains Mono Medium" pitchFamily="34" charset="0"/>
                <a:ea typeface="JetBrains Mono Medium" pitchFamily="34" charset="-122"/>
                <a:cs typeface="JetBrains Mono Medium" pitchFamily="34" charset="-120"/>
              </a:rPr>
              <a:t>Tool: hashcat -a 0</a:t>
            </a:r>
            <a:endParaRPr lang="en-US" sz="800" dirty="0"/>
          </a:p>
        </p:txBody>
      </p:sp>
      <p:sp>
        <p:nvSpPr>
          <p:cNvPr id="15" name="Shape 11"/>
          <p:cNvSpPr/>
          <p:nvPr/>
        </p:nvSpPr>
        <p:spPr>
          <a:xfrm>
            <a:off x="4229100" y="2102644"/>
            <a:ext cx="3733800" cy="1905000"/>
          </a:xfrm>
          <a:prstGeom prst="rect">
            <a:avLst/>
          </a:prstGeom>
          <a:solidFill>
            <a:srgbClr val="161B22"/>
          </a:solidFill>
          <a:ln w="9144">
            <a:solidFill>
              <a:srgbClr val="30363D"/>
            </a:solidFill>
            <a:prstDash val="solid"/>
          </a:ln>
        </p:spPr>
      </p:sp>
      <p:pic>
        <p:nvPicPr>
          <p:cNvPr id="16" name="Image 2" descr="preencoded.png"/>
          <p:cNvPicPr>
            <a:picLocks noChangeAspect="1"/>
          </p:cNvPicPr>
          <p:nvPr/>
        </p:nvPicPr>
        <p:blipFill>
          <a:blip r:embed="rId3"/>
          <a:stretch>
            <a:fillRect/>
          </a:stretch>
        </p:blipFill>
        <p:spPr>
          <a:xfrm>
            <a:off x="4381500" y="2302669"/>
            <a:ext cx="238125" cy="190500"/>
          </a:xfrm>
          <a:prstGeom prst="rect">
            <a:avLst/>
          </a:prstGeom>
        </p:spPr>
      </p:pic>
      <p:sp>
        <p:nvSpPr>
          <p:cNvPr id="17" name="Text 12"/>
          <p:cNvSpPr/>
          <p:nvPr/>
        </p:nvSpPr>
        <p:spPr>
          <a:xfrm>
            <a:off x="4714875" y="2255044"/>
            <a:ext cx="1218565" cy="215265"/>
          </a:xfrm>
          <a:prstGeom prst="rect">
            <a:avLst/>
          </a:prstGeom>
          <a:noFill/>
        </p:spPr>
        <p:txBody>
          <a:bodyPr wrap="none" lIns="0" tIns="0" rIns="0" bIns="0" rtlCol="0" anchor="t">
            <a:spAutoFit/>
          </a:bodyPr>
          <a:lstStyle/>
          <a:p>
            <a:pPr marL="0" indent="0" algn="l">
              <a:buNone/>
            </a:pPr>
            <a:r>
              <a:rPr lang="en-US" sz="1400" dirty="0">
                <a:solidFill>
                  <a:srgbClr val="58A6FF"/>
                </a:solidFill>
                <a:latin typeface="Poppins SemiBold" pitchFamily="34" charset="0"/>
                <a:ea typeface="Poppins SemiBold" pitchFamily="34" charset="-122"/>
                <a:cs typeface="Poppins SemiBold" pitchFamily="34" charset="-120"/>
              </a:rPr>
              <a:t>Rainbow Tables</a:t>
            </a:r>
            <a:endParaRPr lang="en-US" sz="1400" dirty="0"/>
          </a:p>
        </p:txBody>
      </p:sp>
      <p:sp>
        <p:nvSpPr>
          <p:cNvPr id="18" name="Text 13"/>
          <p:cNvSpPr/>
          <p:nvPr/>
        </p:nvSpPr>
        <p:spPr>
          <a:xfrm>
            <a:off x="4381500" y="2655093"/>
            <a:ext cx="3429000" cy="394970"/>
          </a:xfrm>
          <a:prstGeom prst="rect">
            <a:avLst/>
          </a:prstGeom>
          <a:noFill/>
        </p:spPr>
        <p:txBody>
          <a:bodyPr wrap="square" lIns="0" tIns="0" rIns="0" bIns="0" rtlCol="0" anchor="t">
            <a:spAutoFit/>
          </a:bodyPr>
          <a:lstStyle/>
          <a:p>
            <a:pPr marL="0" indent="0" algn="l">
              <a:lnSpc>
                <a:spcPct val="120000"/>
              </a:lnSpc>
              <a:buNone/>
            </a:pPr>
            <a:r>
              <a:rPr lang="en-US" sz="1065" dirty="0">
                <a:solidFill>
                  <a:srgbClr val="8B949E"/>
                </a:solidFill>
                <a:latin typeface="Inter" pitchFamily="34" charset="0"/>
                <a:ea typeface="Inter" pitchFamily="34" charset="-122"/>
                <a:cs typeface="Inter" pitchFamily="34" charset="-120"/>
              </a:rPr>
              <a:t>Use pre-computed tables of hash-to-plaintext mappings for instant lookups.</a:t>
            </a:r>
            <a:endParaRPr lang="en-US" sz="1065" dirty="0"/>
          </a:p>
        </p:txBody>
      </p:sp>
      <p:sp>
        <p:nvSpPr>
          <p:cNvPr id="19" name="Shape 14"/>
          <p:cNvSpPr/>
          <p:nvPr/>
        </p:nvSpPr>
        <p:spPr>
          <a:xfrm>
            <a:off x="4381500" y="3178969"/>
            <a:ext cx="1690688" cy="207169"/>
          </a:xfrm>
          <a:prstGeom prst="rect">
            <a:avLst/>
          </a:prstGeom>
          <a:solidFill>
            <a:srgbClr val="E3B341">
              <a:alpha val="10000"/>
            </a:srgbClr>
          </a:solidFill>
          <a:ln w="9144">
            <a:solidFill>
              <a:srgbClr val="E3B341"/>
            </a:solidFill>
            <a:prstDash val="solid"/>
          </a:ln>
        </p:spPr>
      </p:sp>
      <p:sp>
        <p:nvSpPr>
          <p:cNvPr id="20" name="Text 15"/>
          <p:cNvSpPr/>
          <p:nvPr/>
        </p:nvSpPr>
        <p:spPr>
          <a:xfrm>
            <a:off x="4381500" y="3178969"/>
            <a:ext cx="1125855" cy="167640"/>
          </a:xfrm>
          <a:prstGeom prst="rect">
            <a:avLst/>
          </a:prstGeom>
          <a:noFill/>
        </p:spPr>
        <p:txBody>
          <a:bodyPr wrap="none" lIns="90762" tIns="45381" rIns="90762" bIns="0" rtlCol="0" anchor="t">
            <a:spAutoFit/>
          </a:bodyPr>
          <a:lstStyle/>
          <a:p>
            <a:pPr marL="0" indent="0" algn="l">
              <a:buNone/>
            </a:pPr>
            <a:r>
              <a:rPr lang="en-US" sz="800" dirty="0">
                <a:solidFill>
                  <a:srgbClr val="E3B341"/>
                </a:solidFill>
                <a:latin typeface="JetBrains Mono Medium" pitchFamily="34" charset="0"/>
                <a:ea typeface="JetBrains Mono Medium" pitchFamily="34" charset="-122"/>
                <a:cs typeface="JetBrains Mono Medium" pitchFamily="34" charset="-120"/>
              </a:rPr>
              <a:t>Tool: crackstation.net</a:t>
            </a:r>
            <a:endParaRPr lang="en-US" sz="800" dirty="0"/>
          </a:p>
        </p:txBody>
      </p:sp>
      <p:sp>
        <p:nvSpPr>
          <p:cNvPr id="21" name="Shape 16"/>
          <p:cNvSpPr/>
          <p:nvPr/>
        </p:nvSpPr>
        <p:spPr>
          <a:xfrm>
            <a:off x="8077200" y="2102644"/>
            <a:ext cx="3733800" cy="1905000"/>
          </a:xfrm>
          <a:prstGeom prst="rect">
            <a:avLst/>
          </a:prstGeom>
          <a:solidFill>
            <a:srgbClr val="161B22"/>
          </a:solidFill>
          <a:ln w="9144">
            <a:solidFill>
              <a:srgbClr val="30363D"/>
            </a:solidFill>
            <a:prstDash val="solid"/>
          </a:ln>
        </p:spPr>
      </p:sp>
      <p:pic>
        <p:nvPicPr>
          <p:cNvPr id="22" name="Image 3" descr="preencoded.png"/>
          <p:cNvPicPr>
            <a:picLocks noChangeAspect="1"/>
          </p:cNvPicPr>
          <p:nvPr/>
        </p:nvPicPr>
        <p:blipFill>
          <a:blip r:embed="rId4"/>
          <a:stretch>
            <a:fillRect/>
          </a:stretch>
        </p:blipFill>
        <p:spPr>
          <a:xfrm>
            <a:off x="8229600" y="2302669"/>
            <a:ext cx="190500" cy="190500"/>
          </a:xfrm>
          <a:prstGeom prst="rect">
            <a:avLst/>
          </a:prstGeom>
        </p:spPr>
      </p:pic>
      <p:sp>
        <p:nvSpPr>
          <p:cNvPr id="23" name="Text 17"/>
          <p:cNvSpPr/>
          <p:nvPr/>
        </p:nvSpPr>
        <p:spPr>
          <a:xfrm>
            <a:off x="8515351" y="2255044"/>
            <a:ext cx="905510" cy="215265"/>
          </a:xfrm>
          <a:prstGeom prst="rect">
            <a:avLst/>
          </a:prstGeom>
          <a:noFill/>
        </p:spPr>
        <p:txBody>
          <a:bodyPr wrap="none" lIns="0" tIns="0" rIns="0" bIns="0" rtlCol="0" anchor="t">
            <a:spAutoFit/>
          </a:bodyPr>
          <a:lstStyle/>
          <a:p>
            <a:pPr marL="0" indent="0" algn="l">
              <a:buNone/>
            </a:pPr>
            <a:r>
              <a:rPr lang="en-US" sz="1400" dirty="0">
                <a:solidFill>
                  <a:srgbClr val="58A6FF"/>
                </a:solidFill>
                <a:latin typeface="Poppins SemiBold" pitchFamily="34" charset="0"/>
                <a:ea typeface="Poppins SemiBold" pitchFamily="34" charset="-122"/>
                <a:cs typeface="Poppins SemiBold" pitchFamily="34" charset="-120"/>
              </a:rPr>
              <a:t>Brute Force</a:t>
            </a:r>
            <a:endParaRPr lang="en-US" sz="1400" dirty="0"/>
          </a:p>
        </p:txBody>
      </p:sp>
      <p:sp>
        <p:nvSpPr>
          <p:cNvPr id="24" name="Text 18"/>
          <p:cNvSpPr/>
          <p:nvPr/>
        </p:nvSpPr>
        <p:spPr>
          <a:xfrm>
            <a:off x="8229600" y="2655093"/>
            <a:ext cx="3429000" cy="394970"/>
          </a:xfrm>
          <a:prstGeom prst="rect">
            <a:avLst/>
          </a:prstGeom>
          <a:noFill/>
        </p:spPr>
        <p:txBody>
          <a:bodyPr wrap="square" lIns="0" tIns="0" rIns="0" bIns="0" rtlCol="0" anchor="t">
            <a:spAutoFit/>
          </a:bodyPr>
          <a:lstStyle/>
          <a:p>
            <a:pPr marL="0" indent="0" algn="l">
              <a:lnSpc>
                <a:spcPct val="120000"/>
              </a:lnSpc>
              <a:buNone/>
            </a:pPr>
            <a:r>
              <a:rPr lang="en-US" sz="1065" dirty="0">
                <a:solidFill>
                  <a:srgbClr val="8B949E"/>
                </a:solidFill>
                <a:latin typeface="Inter" pitchFamily="34" charset="0"/>
                <a:ea typeface="Inter" pitchFamily="34" charset="-122"/>
                <a:cs typeface="Inter" pitchFamily="34" charset="-120"/>
              </a:rPr>
              <a:t>Try every possible combination of characters. Only feasible for short passwords.</a:t>
            </a:r>
            <a:endParaRPr lang="en-US" sz="1065" dirty="0"/>
          </a:p>
        </p:txBody>
      </p:sp>
      <p:sp>
        <p:nvSpPr>
          <p:cNvPr id="25" name="Shape 19"/>
          <p:cNvSpPr/>
          <p:nvPr/>
        </p:nvSpPr>
        <p:spPr>
          <a:xfrm>
            <a:off x="8229600" y="3178969"/>
            <a:ext cx="1414463" cy="207169"/>
          </a:xfrm>
          <a:prstGeom prst="rect">
            <a:avLst/>
          </a:prstGeom>
          <a:solidFill>
            <a:srgbClr val="E3B341">
              <a:alpha val="10000"/>
            </a:srgbClr>
          </a:solidFill>
          <a:ln w="9144">
            <a:solidFill>
              <a:srgbClr val="E3B341"/>
            </a:solidFill>
            <a:prstDash val="solid"/>
          </a:ln>
        </p:spPr>
      </p:sp>
      <p:sp>
        <p:nvSpPr>
          <p:cNvPr id="26" name="Text 20"/>
          <p:cNvSpPr/>
          <p:nvPr/>
        </p:nvSpPr>
        <p:spPr>
          <a:xfrm>
            <a:off x="8229600" y="3178969"/>
            <a:ext cx="962660" cy="167640"/>
          </a:xfrm>
          <a:prstGeom prst="rect">
            <a:avLst/>
          </a:prstGeom>
          <a:noFill/>
        </p:spPr>
        <p:txBody>
          <a:bodyPr wrap="none" lIns="90762" tIns="45381" rIns="90762" bIns="0" rtlCol="0" anchor="t">
            <a:spAutoFit/>
          </a:bodyPr>
          <a:lstStyle/>
          <a:p>
            <a:pPr marL="0" indent="0" algn="l">
              <a:buNone/>
            </a:pPr>
            <a:r>
              <a:rPr lang="en-US" sz="800" dirty="0">
                <a:solidFill>
                  <a:srgbClr val="E3B341"/>
                </a:solidFill>
                <a:latin typeface="JetBrains Mono Medium" pitchFamily="34" charset="0"/>
                <a:ea typeface="JetBrains Mono Medium" pitchFamily="34" charset="-122"/>
                <a:cs typeface="JetBrains Mono Medium" pitchFamily="34" charset="-120"/>
              </a:rPr>
              <a:t>Tool: hashcat -a 3</a:t>
            </a:r>
            <a:endParaRPr lang="en-US" sz="800" dirty="0"/>
          </a:p>
        </p:txBody>
      </p:sp>
      <p:sp>
        <p:nvSpPr>
          <p:cNvPr id="27" name="Shape 21"/>
          <p:cNvSpPr/>
          <p:nvPr/>
        </p:nvSpPr>
        <p:spPr>
          <a:xfrm>
            <a:off x="381000" y="4179093"/>
            <a:ext cx="11430000" cy="2678907"/>
          </a:xfrm>
          <a:prstGeom prst="rect">
            <a:avLst/>
          </a:prstGeom>
          <a:solidFill>
            <a:srgbClr val="161B22"/>
          </a:solidFill>
          <a:ln w="9144">
            <a:solidFill>
              <a:srgbClr val="30363D"/>
            </a:solidFill>
            <a:prstDash val="solid"/>
          </a:ln>
        </p:spPr>
      </p:sp>
      <p:pic>
        <p:nvPicPr>
          <p:cNvPr id="28" name="Image 4" descr="preencoded.png"/>
          <p:cNvPicPr>
            <a:picLocks noChangeAspect="1"/>
          </p:cNvPicPr>
          <p:nvPr/>
        </p:nvPicPr>
        <p:blipFill>
          <a:blip r:embed="rId5"/>
          <a:stretch>
            <a:fillRect/>
          </a:stretch>
        </p:blipFill>
        <p:spPr>
          <a:xfrm>
            <a:off x="571500" y="4374356"/>
            <a:ext cx="150019" cy="171451"/>
          </a:xfrm>
          <a:prstGeom prst="rect">
            <a:avLst/>
          </a:prstGeom>
        </p:spPr>
      </p:pic>
      <p:sp>
        <p:nvSpPr>
          <p:cNvPr id="29" name="Text 22"/>
          <p:cNvSpPr/>
          <p:nvPr/>
        </p:nvSpPr>
        <p:spPr>
          <a:xfrm>
            <a:off x="816769" y="4331493"/>
            <a:ext cx="1764507" cy="194310"/>
          </a:xfrm>
          <a:prstGeom prst="rect">
            <a:avLst/>
          </a:prstGeom>
          <a:noFill/>
        </p:spPr>
        <p:txBody>
          <a:bodyPr wrap="square" lIns="0" tIns="0" rIns="0" bIns="0" rtlCol="0" anchor="t">
            <a:spAutoFit/>
          </a:bodyPr>
          <a:lstStyle/>
          <a:p>
            <a:pPr marL="0" indent="0" algn="l">
              <a:buNone/>
            </a:pPr>
            <a:r>
              <a:rPr lang="en-US" sz="1265" dirty="0">
                <a:solidFill>
                  <a:srgbClr val="00FF9C"/>
                </a:solidFill>
                <a:latin typeface="Poppins SemiBold" pitchFamily="34" charset="0"/>
                <a:ea typeface="Poppins SemiBold" pitchFamily="34" charset="-122"/>
                <a:cs typeface="Poppins SemiBold" pitchFamily="34" charset="-120"/>
              </a:rPr>
              <a:t>Simple MD5 Cracker</a:t>
            </a:r>
            <a:endParaRPr lang="en-US" sz="1265" dirty="0"/>
          </a:p>
        </p:txBody>
      </p:sp>
      <p:sp>
        <p:nvSpPr>
          <p:cNvPr id="30" name="Text 23"/>
          <p:cNvSpPr/>
          <p:nvPr/>
        </p:nvSpPr>
        <p:spPr>
          <a:xfrm>
            <a:off x="571500" y="4702969"/>
            <a:ext cx="11049000" cy="1765300"/>
          </a:xfrm>
          <a:prstGeom prst="rect">
            <a:avLst/>
          </a:prstGeom>
          <a:noFill/>
        </p:spPr>
        <p:txBody>
          <a:bodyPr wrap="square" lIns="0" tIns="0" rIns="0" bIns="0" rtlCol="0" anchor="t">
            <a:spAutoFit/>
          </a:bodyPr>
          <a:lstStyle/>
          <a:p>
            <a:pPr marL="0" indent="0" algn="l">
              <a:lnSpc>
                <a:spcPct val="112000"/>
              </a:lnSpc>
              <a:buNone/>
            </a:pPr>
            <a:r>
              <a:rPr lang="en-US" sz="1135" dirty="0">
                <a:solidFill>
                  <a:srgbClr val="FF6B6B"/>
                </a:solidFill>
                <a:latin typeface="JetBrains Mono Medium" pitchFamily="34" charset="0"/>
                <a:ea typeface="JetBrains Mono Medium" pitchFamily="34" charset="-122"/>
                <a:cs typeface="JetBrains Mono Medium" pitchFamily="34" charset="-120"/>
              </a:rPr>
              <a:t>import</a:t>
            </a:r>
            <a:r>
              <a:rPr lang="en-US" sz="1135" dirty="0">
                <a:solidFill>
                  <a:srgbClr val="E6EDF3"/>
                </a:solidFill>
                <a:latin typeface="JetBrains Mono Medium" pitchFamily="34" charset="0"/>
                <a:ea typeface="JetBrains Mono Medium" pitchFamily="34" charset="-122"/>
                <a:cs typeface="JetBrains Mono Medium" pitchFamily="34" charset="-120"/>
              </a:rPr>
              <a:t> hashlib
target = </a:t>
            </a:r>
            <a:r>
              <a:rPr lang="en-US" sz="1135" dirty="0">
                <a:solidFill>
                  <a:srgbClr val="E3B341"/>
                </a:solidFill>
                <a:latin typeface="JetBrains Mono Medium" pitchFamily="34" charset="0"/>
                <a:ea typeface="JetBrains Mono Medium" pitchFamily="34" charset="-122"/>
                <a:cs typeface="JetBrains Mono Medium" pitchFamily="34" charset="-120"/>
              </a:rPr>
              <a:t>"5d41402abc4b2a76b9719d911017c592"</a:t>
            </a:r>
            <a:r>
              <a:rPr lang="en-US" sz="1135" dirty="0">
                <a:solidFill>
                  <a:srgbClr val="E6EDF3"/>
                </a:solidFill>
                <a:latin typeface="JetBrains Mono Medium" pitchFamily="34" charset="0"/>
                <a:ea typeface="JetBrains Mono Medium" pitchFamily="34" charset="-122"/>
                <a:cs typeface="JetBrains Mono Medium" pitchFamily="34" charset="-120"/>
              </a:rPr>
              <a:t>
wordlist = [</a:t>
            </a:r>
            <a:r>
              <a:rPr lang="en-US" sz="1135" dirty="0">
                <a:solidFill>
                  <a:srgbClr val="E3B341"/>
                </a:solidFill>
                <a:latin typeface="JetBrains Mono Medium" pitchFamily="34" charset="0"/>
                <a:ea typeface="JetBrains Mono Medium" pitchFamily="34" charset="-122"/>
                <a:cs typeface="JetBrains Mono Medium" pitchFamily="34" charset="-120"/>
              </a:rPr>
              <a:t>"hello"</a:t>
            </a:r>
            <a:r>
              <a:rPr lang="en-US" sz="1135" dirty="0">
                <a:solidFill>
                  <a:srgbClr val="E6EDF3"/>
                </a:solidFill>
                <a:latin typeface="JetBrains Mono Medium" pitchFamily="34" charset="0"/>
                <a:ea typeface="JetBrains Mono Medium" pitchFamily="34" charset="-122"/>
                <a:cs typeface="JetBrains Mono Medium" pitchFamily="34" charset="-120"/>
              </a:rPr>
              <a:t>, </a:t>
            </a:r>
            <a:r>
              <a:rPr lang="en-US" sz="1135" dirty="0">
                <a:solidFill>
                  <a:srgbClr val="E3B341"/>
                </a:solidFill>
                <a:latin typeface="JetBrains Mono Medium" pitchFamily="34" charset="0"/>
                <a:ea typeface="JetBrains Mono Medium" pitchFamily="34" charset="-122"/>
                <a:cs typeface="JetBrains Mono Medium" pitchFamily="34" charset="-120"/>
              </a:rPr>
              <a:t>"password"</a:t>
            </a:r>
            <a:r>
              <a:rPr lang="en-US" sz="1135" dirty="0">
                <a:solidFill>
                  <a:srgbClr val="E6EDF3"/>
                </a:solidFill>
                <a:latin typeface="JetBrains Mono Medium" pitchFamily="34" charset="0"/>
                <a:ea typeface="JetBrains Mono Medium" pitchFamily="34" charset="-122"/>
                <a:cs typeface="JetBrains Mono Medium" pitchFamily="34" charset="-120"/>
              </a:rPr>
              <a:t>, </a:t>
            </a:r>
            <a:r>
              <a:rPr lang="en-US" sz="1135" dirty="0">
                <a:solidFill>
                  <a:srgbClr val="E3B341"/>
                </a:solidFill>
                <a:latin typeface="JetBrains Mono Medium" pitchFamily="34" charset="0"/>
                <a:ea typeface="JetBrains Mono Medium" pitchFamily="34" charset="-122"/>
                <a:cs typeface="JetBrains Mono Medium" pitchFamily="34" charset="-120"/>
              </a:rPr>
              <a:t>"admin"</a:t>
            </a:r>
            <a:r>
              <a:rPr lang="en-US" sz="1135" dirty="0">
                <a:solidFill>
                  <a:srgbClr val="E6EDF3"/>
                </a:solidFill>
                <a:latin typeface="JetBrains Mono Medium" pitchFamily="34" charset="0"/>
                <a:ea typeface="JetBrains Mono Medium" pitchFamily="34" charset="-122"/>
                <a:cs typeface="JetBrains Mono Medium" pitchFamily="34" charset="-120"/>
              </a:rPr>
              <a:t>, </a:t>
            </a:r>
            <a:r>
              <a:rPr lang="en-US" sz="1135" dirty="0">
                <a:solidFill>
                  <a:srgbClr val="E3B341"/>
                </a:solidFill>
                <a:latin typeface="JetBrains Mono Medium" pitchFamily="34" charset="0"/>
                <a:ea typeface="JetBrains Mono Medium" pitchFamily="34" charset="-122"/>
                <a:cs typeface="JetBrains Mono Medium" pitchFamily="34" charset="-120"/>
              </a:rPr>
              <a:t>"1234"</a:t>
            </a:r>
            <a:r>
              <a:rPr lang="en-US" sz="1135" dirty="0">
                <a:solidFill>
                  <a:srgbClr val="E6EDF3"/>
                </a:solidFill>
                <a:latin typeface="JetBrains Mono Medium" pitchFamily="34" charset="0"/>
                <a:ea typeface="JetBrains Mono Medium" pitchFamily="34" charset="-122"/>
                <a:cs typeface="JetBrains Mono Medium" pitchFamily="34" charset="-120"/>
              </a:rPr>
              <a:t>]
</a:t>
            </a:r>
            <a:r>
              <a:rPr lang="en-US" sz="1135" dirty="0">
                <a:solidFill>
                  <a:srgbClr val="FF6B6B"/>
                </a:solidFill>
                <a:latin typeface="JetBrains Mono Medium" pitchFamily="34" charset="0"/>
                <a:ea typeface="JetBrains Mono Medium" pitchFamily="34" charset="-122"/>
                <a:cs typeface="JetBrains Mono Medium" pitchFamily="34" charset="-120"/>
              </a:rPr>
              <a:t>for</a:t>
            </a:r>
            <a:r>
              <a:rPr lang="en-US" sz="1135" dirty="0">
                <a:solidFill>
                  <a:srgbClr val="E6EDF3"/>
                </a:solidFill>
                <a:latin typeface="JetBrains Mono Medium" pitchFamily="34" charset="0"/>
                <a:ea typeface="JetBrains Mono Medium" pitchFamily="34" charset="-122"/>
                <a:cs typeface="JetBrains Mono Medium" pitchFamily="34" charset="-120"/>
              </a:rPr>
              <a:t> word </a:t>
            </a:r>
            <a:r>
              <a:rPr lang="en-US" sz="1135" dirty="0">
                <a:solidFill>
                  <a:srgbClr val="FF6B6B"/>
                </a:solidFill>
                <a:latin typeface="JetBrains Mono Medium" pitchFamily="34" charset="0"/>
                <a:ea typeface="JetBrains Mono Medium" pitchFamily="34" charset="-122"/>
                <a:cs typeface="JetBrains Mono Medium" pitchFamily="34" charset="-120"/>
              </a:rPr>
              <a:t>in</a:t>
            </a:r>
            <a:r>
              <a:rPr lang="en-US" sz="1135" dirty="0">
                <a:solidFill>
                  <a:srgbClr val="E6EDF3"/>
                </a:solidFill>
                <a:latin typeface="JetBrains Mono Medium" pitchFamily="34" charset="0"/>
                <a:ea typeface="JetBrains Mono Medium" pitchFamily="34" charset="-122"/>
                <a:cs typeface="JetBrains Mono Medium" pitchFamily="34" charset="-120"/>
              </a:rPr>
              <a:t> wordlist:
    </a:t>
            </a:r>
            <a:r>
              <a:rPr lang="en-US" sz="1135" dirty="0">
                <a:solidFill>
                  <a:srgbClr val="8B949E"/>
                </a:solidFill>
                <a:latin typeface="JetBrains Mono Medium" pitchFamily="34" charset="0"/>
                <a:ea typeface="JetBrains Mono Medium" pitchFamily="34" charset="-122"/>
                <a:cs typeface="JetBrains Mono Medium" pitchFamily="34" charset="-120"/>
              </a:rPr>
              <a:t># Hash the word and compare with target</a:t>
            </a:r>
            <a:endParaRPr lang="en-US" sz="1135" dirty="0"/>
          </a:p>
          <a:p>
            <a:pPr marL="0" indent="0" algn="l">
              <a:lnSpc>
                <a:spcPct val="112000"/>
              </a:lnSpc>
              <a:buNone/>
            </a:pPr>
            <a:r>
              <a:rPr lang="en-US" sz="1135" dirty="0">
                <a:solidFill>
                  <a:srgbClr val="E6EDF3"/>
                </a:solidFill>
                <a:latin typeface="JetBrains Mono Medium" pitchFamily="34" charset="0"/>
                <a:ea typeface="JetBrains Mono Medium" pitchFamily="34" charset="-122"/>
                <a:cs typeface="JetBrains Mono Medium" pitchFamily="34" charset="-120"/>
              </a:rPr>
              <a:t>    </a:t>
            </a:r>
            <a:endParaRPr lang="en-US" sz="1135" dirty="0"/>
          </a:p>
          <a:p>
            <a:pPr marL="0" indent="0" algn="l">
              <a:lnSpc>
                <a:spcPct val="112000"/>
              </a:lnSpc>
              <a:buNone/>
            </a:pPr>
            <a:r>
              <a:rPr lang="en-US" sz="1135" dirty="0">
                <a:solidFill>
                  <a:srgbClr val="FF6B6B"/>
                </a:solidFill>
                <a:latin typeface="JetBrains Mono Medium" pitchFamily="34" charset="0"/>
                <a:ea typeface="JetBrains Mono Medium" pitchFamily="34" charset="-122"/>
                <a:cs typeface="JetBrains Mono Medium" pitchFamily="34" charset="-120"/>
              </a:rPr>
              <a:t>if</a:t>
            </a:r>
            <a:r>
              <a:rPr lang="en-US" sz="1135" dirty="0">
                <a:solidFill>
                  <a:srgbClr val="E6EDF3"/>
                </a:solidFill>
                <a:latin typeface="JetBrains Mono Medium" pitchFamily="34" charset="0"/>
                <a:ea typeface="JetBrains Mono Medium" pitchFamily="34" charset="-122"/>
                <a:cs typeface="JetBrains Mono Medium" pitchFamily="34" charset="-120"/>
              </a:rPr>
              <a:t> hashlib.</a:t>
            </a:r>
            <a:r>
              <a:rPr lang="en-US" sz="1135" dirty="0">
                <a:solidFill>
                  <a:srgbClr val="58A6FF"/>
                </a:solidFill>
                <a:latin typeface="JetBrains Mono Medium" pitchFamily="34" charset="0"/>
                <a:ea typeface="JetBrains Mono Medium" pitchFamily="34" charset="-122"/>
                <a:cs typeface="JetBrains Mono Medium" pitchFamily="34" charset="-120"/>
              </a:rPr>
              <a:t>md5</a:t>
            </a:r>
            <a:r>
              <a:rPr lang="en-US" sz="1135" dirty="0">
                <a:solidFill>
                  <a:srgbClr val="E6EDF3"/>
                </a:solidFill>
                <a:latin typeface="JetBrains Mono Medium" pitchFamily="34" charset="0"/>
                <a:ea typeface="JetBrains Mono Medium" pitchFamily="34" charset="-122"/>
                <a:cs typeface="JetBrains Mono Medium" pitchFamily="34" charset="-120"/>
              </a:rPr>
              <a:t>(word.</a:t>
            </a:r>
            <a:r>
              <a:rPr lang="en-US" sz="1135" dirty="0">
                <a:solidFill>
                  <a:srgbClr val="58A6FF"/>
                </a:solidFill>
                <a:latin typeface="JetBrains Mono Medium" pitchFamily="34" charset="0"/>
                <a:ea typeface="JetBrains Mono Medium" pitchFamily="34" charset="-122"/>
                <a:cs typeface="JetBrains Mono Medium" pitchFamily="34" charset="-120"/>
              </a:rPr>
              <a:t>encode</a:t>
            </a:r>
            <a:r>
              <a:rPr lang="en-US" sz="1135" dirty="0">
                <a:solidFill>
                  <a:srgbClr val="E6EDF3"/>
                </a:solidFill>
                <a:latin typeface="JetBrains Mono Medium" pitchFamily="34" charset="0"/>
                <a:ea typeface="JetBrains Mono Medium" pitchFamily="34" charset="-122"/>
                <a:cs typeface="JetBrains Mono Medium" pitchFamily="34" charset="-120"/>
              </a:rPr>
              <a:t>()).</a:t>
            </a:r>
            <a:r>
              <a:rPr lang="en-US" sz="1135" dirty="0">
                <a:solidFill>
                  <a:srgbClr val="58A6FF"/>
                </a:solidFill>
                <a:latin typeface="JetBrains Mono Medium" pitchFamily="34" charset="0"/>
                <a:ea typeface="JetBrains Mono Medium" pitchFamily="34" charset="-122"/>
                <a:cs typeface="JetBrains Mono Medium" pitchFamily="34" charset="-120"/>
              </a:rPr>
              <a:t>hexdigest</a:t>
            </a:r>
            <a:r>
              <a:rPr lang="en-US" sz="1135" dirty="0">
                <a:solidFill>
                  <a:srgbClr val="E6EDF3"/>
                </a:solidFill>
                <a:latin typeface="JetBrains Mono Medium" pitchFamily="34" charset="0"/>
                <a:ea typeface="JetBrains Mono Medium" pitchFamily="34" charset="-122"/>
                <a:cs typeface="JetBrains Mono Medium" pitchFamily="34" charset="-120"/>
              </a:rPr>
              <a:t>() == target:
        </a:t>
            </a:r>
            <a:r>
              <a:rPr lang="en-US" sz="1135" dirty="0">
                <a:solidFill>
                  <a:srgbClr val="FF6B6B"/>
                </a:solidFill>
                <a:latin typeface="JetBrains Mono Medium" pitchFamily="34" charset="0"/>
                <a:ea typeface="JetBrains Mono Medium" pitchFamily="34" charset="-122"/>
                <a:cs typeface="JetBrains Mono Medium" pitchFamily="34" charset="-120"/>
              </a:rPr>
              <a:t>print</a:t>
            </a:r>
            <a:r>
              <a:rPr lang="en-US" sz="1135" dirty="0">
                <a:solidFill>
                  <a:srgbClr val="E6EDF3"/>
                </a:solidFill>
                <a:latin typeface="JetBrains Mono Medium" pitchFamily="34" charset="0"/>
                <a:ea typeface="JetBrains Mono Medium" pitchFamily="34" charset="-122"/>
                <a:cs typeface="JetBrains Mono Medium" pitchFamily="34" charset="-120"/>
              </a:rPr>
              <a:t>(</a:t>
            </a:r>
            <a:r>
              <a:rPr lang="en-US" sz="1135" dirty="0">
                <a:solidFill>
                  <a:srgbClr val="E3B341"/>
                </a:solidFill>
                <a:latin typeface="JetBrains Mono Medium" pitchFamily="34" charset="0"/>
                <a:ea typeface="JetBrains Mono Medium" pitchFamily="34" charset="-122"/>
                <a:cs typeface="JetBrains Mono Medium" pitchFamily="34" charset="-120"/>
              </a:rPr>
              <a:t>f"Found: {word}"</a:t>
            </a:r>
            <a:r>
              <a:rPr lang="en-US" sz="1135" dirty="0">
                <a:solidFill>
                  <a:srgbClr val="E6EDF3"/>
                </a:solidFill>
                <a:latin typeface="JetBrains Mono Medium" pitchFamily="34" charset="0"/>
                <a:ea typeface="JetBrains Mono Medium" pitchFamily="34" charset="-122"/>
                <a:cs typeface="JetBrains Mono Medium" pitchFamily="34" charset="-120"/>
              </a:rPr>
              <a:t>) </a:t>
            </a:r>
            <a:r>
              <a:rPr lang="en-US" sz="1135" dirty="0">
                <a:solidFill>
                  <a:srgbClr val="8B949E"/>
                </a:solidFill>
                <a:latin typeface="JetBrains Mono Medium" pitchFamily="34" charset="0"/>
                <a:ea typeface="JetBrains Mono Medium" pitchFamily="34" charset="-122"/>
                <a:cs typeface="JetBrains Mono Medium" pitchFamily="34" charset="-120"/>
              </a:rPr>
              <a:t># Found: hello</a:t>
            </a:r>
            <a:endParaRPr lang="en-US" sz="113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5" name="Text 2"/>
          <p:cNvSpPr/>
          <p:nvPr/>
        </p:nvSpPr>
        <p:spPr>
          <a:xfrm>
            <a:off x="381000" y="172640"/>
            <a:ext cx="2764631" cy="194310"/>
          </a:xfrm>
          <a:prstGeom prst="rect">
            <a:avLst/>
          </a:prstGeom>
          <a:noFill/>
        </p:spPr>
        <p:txBody>
          <a:bodyPr wrap="square" lIns="0" tIns="0" rIns="0" bIns="0" rtlCol="0" anchor="t">
            <a:spAutoFit/>
          </a:bodyPr>
          <a:lstStyle/>
          <a:p>
            <a:pPr marL="0" indent="0" algn="l">
              <a:buNone/>
            </a:pPr>
            <a:endParaRPr lang="en-US" sz="1265" dirty="0"/>
          </a:p>
        </p:txBody>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61 | EWUCSC</a:t>
            </a:r>
            <a:endParaRPr lang="en-US" sz="1265" dirty="0"/>
          </a:p>
        </p:txBody>
      </p:sp>
      <p:sp>
        <p:nvSpPr>
          <p:cNvPr id="7" name="Text 4"/>
          <p:cNvSpPr/>
          <p:nvPr/>
        </p:nvSpPr>
        <p:spPr>
          <a:xfrm>
            <a:off x="381000" y="857251"/>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Digital Signatures: Proving Authenticity</a:t>
            </a:r>
            <a:endParaRPr lang="en-US" sz="2800" dirty="0"/>
          </a:p>
        </p:txBody>
      </p:sp>
      <p:sp>
        <p:nvSpPr>
          <p:cNvPr id="8" name="Shape 5"/>
          <p:cNvSpPr/>
          <p:nvPr/>
        </p:nvSpPr>
        <p:spPr>
          <a:xfrm>
            <a:off x="381000" y="1647825"/>
            <a:ext cx="11430000" cy="657225"/>
          </a:xfrm>
          <a:prstGeom prst="rect">
            <a:avLst/>
          </a:prstGeom>
          <a:solidFill>
            <a:srgbClr val="58A6FF">
              <a:alpha val="10000"/>
            </a:srgbClr>
          </a:solidFill>
        </p:spPr>
      </p:sp>
      <p:sp>
        <p:nvSpPr>
          <p:cNvPr id="9" name="Shape 6"/>
          <p:cNvSpPr/>
          <p:nvPr/>
        </p:nvSpPr>
        <p:spPr>
          <a:xfrm>
            <a:off x="381000" y="1647825"/>
            <a:ext cx="38100" cy="657225"/>
          </a:xfrm>
          <a:prstGeom prst="rect">
            <a:avLst/>
          </a:prstGeom>
          <a:solidFill>
            <a:srgbClr val="58A6FF"/>
          </a:solidFill>
        </p:spPr>
      </p:sp>
      <p:pic>
        <p:nvPicPr>
          <p:cNvPr id="10" name="Image 1" descr="preencoded.png"/>
          <p:cNvPicPr>
            <a:picLocks noChangeAspect="1"/>
          </p:cNvPicPr>
          <p:nvPr/>
        </p:nvPicPr>
        <p:blipFill>
          <a:blip r:embed="rId2"/>
          <a:stretch>
            <a:fillRect/>
          </a:stretch>
        </p:blipFill>
        <p:spPr>
          <a:xfrm>
            <a:off x="571500" y="1831181"/>
            <a:ext cx="171451" cy="171451"/>
          </a:xfrm>
          <a:prstGeom prst="rect">
            <a:avLst/>
          </a:prstGeom>
        </p:spPr>
      </p:pic>
      <p:sp>
        <p:nvSpPr>
          <p:cNvPr id="11" name="Text 7"/>
          <p:cNvSpPr/>
          <p:nvPr/>
        </p:nvSpPr>
        <p:spPr>
          <a:xfrm>
            <a:off x="838200" y="1814512"/>
            <a:ext cx="2448560" cy="233680"/>
          </a:xfrm>
          <a:prstGeom prst="rect">
            <a:avLst/>
          </a:prstGeom>
          <a:noFill/>
        </p:spPr>
        <p:txBody>
          <a:bodyPr wrap="none" lIns="0" tIns="0" rIns="0" bIns="0" rtlCol="0" anchor="t">
            <a:spAutoFit/>
          </a:bodyPr>
          <a:lstStyle/>
          <a:p>
            <a:pPr marL="0" indent="0" algn="l">
              <a:lnSpc>
                <a:spcPct val="120000"/>
              </a:lnSpc>
              <a:buNone/>
            </a:pPr>
            <a:r>
              <a:rPr lang="en-US" sz="1265" dirty="0">
                <a:solidFill>
                  <a:srgbClr val="E6EDF3"/>
                </a:solidFill>
                <a:latin typeface="Inter" pitchFamily="34" charset="0"/>
                <a:ea typeface="Inter" pitchFamily="34" charset="-122"/>
                <a:cs typeface="Inter" pitchFamily="34" charset="-120"/>
              </a:rPr>
              <a:t>How does your browser know that</a:t>
            </a:r>
            <a:endParaRPr lang="en-US" sz="1265" dirty="0"/>
          </a:p>
        </p:txBody>
      </p:sp>
      <p:sp>
        <p:nvSpPr>
          <p:cNvPr id="12" name="Text 8"/>
          <p:cNvSpPr/>
          <p:nvPr/>
        </p:nvSpPr>
        <p:spPr>
          <a:xfrm>
            <a:off x="3712369" y="1814512"/>
            <a:ext cx="755650" cy="220980"/>
          </a:xfrm>
          <a:prstGeom prst="rect">
            <a:avLst/>
          </a:prstGeom>
          <a:noFill/>
        </p:spPr>
        <p:txBody>
          <a:bodyPr wrap="none" lIns="0" tIns="0" rIns="0" bIns="0" rtlCol="0" anchor="t">
            <a:spAutoFit/>
          </a:bodyPr>
          <a:lstStyle/>
          <a:p>
            <a:pPr marL="0" indent="0" algn="l">
              <a:lnSpc>
                <a:spcPct val="120000"/>
              </a:lnSpc>
              <a:buNone/>
            </a:pPr>
            <a:r>
              <a:rPr lang="en-US" sz="1200" b="1" dirty="0">
                <a:solidFill>
                  <a:srgbClr val="E6EDF3"/>
                </a:solidFill>
                <a:latin typeface="Inter" pitchFamily="34" charset="0"/>
                <a:ea typeface="Inter" pitchFamily="34" charset="-122"/>
                <a:cs typeface="Inter" pitchFamily="34" charset="-120"/>
              </a:rPr>
              <a:t>google.com</a:t>
            </a:r>
            <a:endParaRPr lang="en-US" sz="1200" dirty="0"/>
          </a:p>
        </p:txBody>
      </p:sp>
      <p:sp>
        <p:nvSpPr>
          <p:cNvPr id="13" name="Text 9"/>
          <p:cNvSpPr/>
          <p:nvPr/>
        </p:nvSpPr>
        <p:spPr>
          <a:xfrm>
            <a:off x="4667251" y="1814512"/>
            <a:ext cx="4244340" cy="233680"/>
          </a:xfrm>
          <a:prstGeom prst="rect">
            <a:avLst/>
          </a:prstGeom>
          <a:noFill/>
        </p:spPr>
        <p:txBody>
          <a:bodyPr wrap="none" lIns="0" tIns="0" rIns="0" bIns="0" rtlCol="0" anchor="t">
            <a:spAutoFit/>
          </a:bodyPr>
          <a:lstStyle/>
          <a:p>
            <a:pPr marL="0" indent="0" algn="l">
              <a:lnSpc>
                <a:spcPct val="120000"/>
              </a:lnSpc>
              <a:buNone/>
            </a:pPr>
            <a:r>
              <a:rPr lang="en-US" sz="1265" dirty="0">
                <a:solidFill>
                  <a:srgbClr val="E6EDF3"/>
                </a:solidFill>
                <a:latin typeface="Inter" pitchFamily="34" charset="0"/>
                <a:ea typeface="Inter" pitchFamily="34" charset="-122"/>
                <a:cs typeface="Inter" pitchFamily="34" charset="-120"/>
              </a:rPr>
              <a:t>'s certificate is really from Google? Google signs it with their</a:t>
            </a:r>
            <a:endParaRPr lang="en-US" sz="1265" dirty="0"/>
          </a:p>
        </p:txBody>
      </p:sp>
      <p:sp>
        <p:nvSpPr>
          <p:cNvPr id="14" name="Text 10"/>
          <p:cNvSpPr/>
          <p:nvPr/>
        </p:nvSpPr>
        <p:spPr>
          <a:xfrm>
            <a:off x="9572625" y="1814512"/>
            <a:ext cx="757555" cy="220980"/>
          </a:xfrm>
          <a:prstGeom prst="rect">
            <a:avLst/>
          </a:prstGeom>
          <a:noFill/>
        </p:spPr>
        <p:txBody>
          <a:bodyPr wrap="none" lIns="0" tIns="0" rIns="0" bIns="0" rtlCol="0" anchor="t">
            <a:spAutoFit/>
          </a:bodyPr>
          <a:lstStyle/>
          <a:p>
            <a:pPr marL="0" indent="0" algn="l">
              <a:lnSpc>
                <a:spcPct val="120000"/>
              </a:lnSpc>
              <a:buNone/>
            </a:pPr>
            <a:r>
              <a:rPr lang="en-US" sz="1200" b="1" dirty="0">
                <a:solidFill>
                  <a:srgbClr val="E6EDF3"/>
                </a:solidFill>
                <a:latin typeface="Inter" pitchFamily="34" charset="0"/>
                <a:ea typeface="Inter" pitchFamily="34" charset="-122"/>
                <a:cs typeface="Inter" pitchFamily="34" charset="-120"/>
              </a:rPr>
              <a:t>Private Key</a:t>
            </a:r>
            <a:endParaRPr lang="en-US" sz="1200" dirty="0"/>
          </a:p>
        </p:txBody>
      </p:sp>
      <p:sp>
        <p:nvSpPr>
          <p:cNvPr id="15" name="Text 11"/>
          <p:cNvSpPr/>
          <p:nvPr/>
        </p:nvSpPr>
        <p:spPr>
          <a:xfrm>
            <a:off x="10482263" y="1814512"/>
            <a:ext cx="401955" cy="233680"/>
          </a:xfrm>
          <a:prstGeom prst="rect">
            <a:avLst/>
          </a:prstGeom>
          <a:noFill/>
        </p:spPr>
        <p:txBody>
          <a:bodyPr wrap="none" lIns="0" tIns="0" rIns="0" bIns="0" rtlCol="0" anchor="t">
            <a:spAutoFit/>
          </a:bodyPr>
          <a:lstStyle/>
          <a:p>
            <a:pPr marL="0" indent="0" algn="l">
              <a:lnSpc>
                <a:spcPct val="120000"/>
              </a:lnSpc>
              <a:buNone/>
            </a:pPr>
            <a:r>
              <a:rPr lang="en-US" sz="1265" dirty="0">
                <a:solidFill>
                  <a:srgbClr val="E6EDF3"/>
                </a:solidFill>
                <a:latin typeface="Inter" pitchFamily="34" charset="0"/>
                <a:ea typeface="Inter" pitchFamily="34" charset="-122"/>
                <a:cs typeface="Inter" pitchFamily="34" charset="-120"/>
              </a:rPr>
              <a:t>. Your</a:t>
            </a:r>
            <a:endParaRPr lang="en-US" sz="1265" dirty="0"/>
          </a:p>
        </p:txBody>
      </p:sp>
      <p:sp>
        <p:nvSpPr>
          <p:cNvPr id="16" name="Text 12"/>
          <p:cNvSpPr/>
          <p:nvPr/>
        </p:nvSpPr>
        <p:spPr>
          <a:xfrm>
            <a:off x="571500" y="2071688"/>
            <a:ext cx="2264410" cy="233680"/>
          </a:xfrm>
          <a:prstGeom prst="rect">
            <a:avLst/>
          </a:prstGeom>
          <a:noFill/>
        </p:spPr>
        <p:txBody>
          <a:bodyPr wrap="none" lIns="0" tIns="0" rIns="0" bIns="0" rtlCol="0" anchor="t">
            <a:spAutoFit/>
          </a:bodyPr>
          <a:lstStyle/>
          <a:p>
            <a:pPr marL="0" indent="0" algn="l">
              <a:lnSpc>
                <a:spcPct val="120000"/>
              </a:lnSpc>
              <a:buNone/>
            </a:pPr>
            <a:r>
              <a:rPr lang="en-US" sz="1265" dirty="0">
                <a:solidFill>
                  <a:srgbClr val="E6EDF3"/>
                </a:solidFill>
                <a:latin typeface="Inter" pitchFamily="34" charset="0"/>
                <a:ea typeface="Inter" pitchFamily="34" charset="-122"/>
                <a:cs typeface="Inter" pitchFamily="34" charset="-120"/>
              </a:rPr>
              <a:t>browser verifies it with Google's</a:t>
            </a:r>
            <a:endParaRPr lang="en-US" sz="1265" dirty="0"/>
          </a:p>
        </p:txBody>
      </p:sp>
      <p:sp>
        <p:nvSpPr>
          <p:cNvPr id="17" name="Text 13"/>
          <p:cNvSpPr/>
          <p:nvPr/>
        </p:nvSpPr>
        <p:spPr>
          <a:xfrm>
            <a:off x="3224212" y="2071688"/>
            <a:ext cx="690245" cy="220980"/>
          </a:xfrm>
          <a:prstGeom prst="rect">
            <a:avLst/>
          </a:prstGeom>
          <a:noFill/>
        </p:spPr>
        <p:txBody>
          <a:bodyPr wrap="none" lIns="0" tIns="0" rIns="0" bIns="0" rtlCol="0" anchor="t">
            <a:spAutoFit/>
          </a:bodyPr>
          <a:lstStyle/>
          <a:p>
            <a:pPr marL="0" indent="0" algn="l">
              <a:lnSpc>
                <a:spcPct val="120000"/>
              </a:lnSpc>
              <a:buNone/>
            </a:pPr>
            <a:r>
              <a:rPr lang="en-US" sz="1200" b="1" dirty="0">
                <a:solidFill>
                  <a:srgbClr val="E6EDF3"/>
                </a:solidFill>
                <a:latin typeface="Inter" pitchFamily="34" charset="0"/>
                <a:ea typeface="Inter" pitchFamily="34" charset="-122"/>
                <a:cs typeface="Inter" pitchFamily="34" charset="-120"/>
              </a:rPr>
              <a:t>Public Key</a:t>
            </a:r>
            <a:endParaRPr lang="en-US" sz="1200" dirty="0"/>
          </a:p>
        </p:txBody>
      </p:sp>
      <p:sp>
        <p:nvSpPr>
          <p:cNvPr id="18" name="Text 14"/>
          <p:cNvSpPr/>
          <p:nvPr/>
        </p:nvSpPr>
        <p:spPr>
          <a:xfrm>
            <a:off x="4067175" y="2071688"/>
            <a:ext cx="6029325" cy="233680"/>
          </a:xfrm>
          <a:prstGeom prst="rect">
            <a:avLst/>
          </a:prstGeom>
          <a:noFill/>
        </p:spPr>
        <p:txBody>
          <a:bodyPr wrap="none" lIns="0" tIns="0" rIns="0" bIns="0" rtlCol="0" anchor="t">
            <a:spAutoFit/>
          </a:bodyPr>
          <a:lstStyle/>
          <a:p>
            <a:pPr marL="0" indent="0" algn="l">
              <a:lnSpc>
                <a:spcPct val="120000"/>
              </a:lnSpc>
              <a:buNone/>
            </a:pPr>
            <a:r>
              <a:rPr lang="en-US" sz="1265" dirty="0">
                <a:solidFill>
                  <a:srgbClr val="E6EDF3"/>
                </a:solidFill>
                <a:latin typeface="Inter" pitchFamily="34" charset="0"/>
                <a:ea typeface="Inter" pitchFamily="34" charset="-122"/>
                <a:cs typeface="Inter" pitchFamily="34" charset="-120"/>
              </a:rPr>
              <a:t>. Since only Google has the private key, only Google could have created the signature.</a:t>
            </a:r>
            <a:endParaRPr lang="en-US" sz="1265" dirty="0"/>
          </a:p>
        </p:txBody>
      </p:sp>
      <p:sp>
        <p:nvSpPr>
          <p:cNvPr id="19" name="Shape 15"/>
          <p:cNvSpPr/>
          <p:nvPr/>
        </p:nvSpPr>
        <p:spPr>
          <a:xfrm>
            <a:off x="381000" y="2590800"/>
            <a:ext cx="11430000" cy="2231231"/>
          </a:xfrm>
          <a:prstGeom prst="rect">
            <a:avLst/>
          </a:prstGeom>
          <a:solidFill>
            <a:srgbClr val="161B22"/>
          </a:solidFill>
          <a:ln w="9144">
            <a:solidFill>
              <a:srgbClr val="30363D"/>
            </a:solidFill>
            <a:prstDash val="solid"/>
          </a:ln>
        </p:spPr>
      </p:sp>
      <p:sp>
        <p:nvSpPr>
          <p:cNvPr id="20" name="Text 16"/>
          <p:cNvSpPr/>
          <p:nvPr/>
        </p:nvSpPr>
        <p:spPr>
          <a:xfrm>
            <a:off x="619125" y="2828925"/>
            <a:ext cx="1045845"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Poppins SemiBold" pitchFamily="34" charset="0"/>
                <a:ea typeface="Poppins SemiBold" pitchFamily="34" charset="-122"/>
                <a:cs typeface="Poppins SemiBold" pitchFamily="34" charset="-120"/>
              </a:rPr>
              <a:t>SENDER (GOOGLE)</a:t>
            </a:r>
            <a:endParaRPr lang="en-US" sz="1000" dirty="0"/>
          </a:p>
        </p:txBody>
      </p:sp>
      <p:sp>
        <p:nvSpPr>
          <p:cNvPr id="21" name="Shape 17"/>
          <p:cNvSpPr/>
          <p:nvPr/>
        </p:nvSpPr>
        <p:spPr>
          <a:xfrm>
            <a:off x="1905000" y="2886075"/>
            <a:ext cx="1143000" cy="290512"/>
          </a:xfrm>
          <a:prstGeom prst="rect">
            <a:avLst/>
          </a:prstGeom>
          <a:solidFill>
            <a:srgbClr val="0D1117"/>
          </a:solidFill>
          <a:ln w="9144">
            <a:solidFill>
              <a:srgbClr val="30363D"/>
            </a:solidFill>
            <a:prstDash val="solid"/>
          </a:ln>
        </p:spPr>
      </p:sp>
      <p:sp>
        <p:nvSpPr>
          <p:cNvPr id="22" name="Text 18"/>
          <p:cNvSpPr/>
          <p:nvPr/>
        </p:nvSpPr>
        <p:spPr>
          <a:xfrm>
            <a:off x="2018348" y="2886075"/>
            <a:ext cx="916305" cy="266700"/>
          </a:xfrm>
          <a:prstGeom prst="rect">
            <a:avLst/>
          </a:prstGeom>
          <a:noFill/>
        </p:spPr>
        <p:txBody>
          <a:bodyPr wrap="none" lIns="170010" tIns="113453" rIns="170010" bIns="0" rtlCol="0" anchor="t">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Document</a:t>
            </a:r>
            <a:endParaRPr lang="en-US" sz="1000" dirty="0"/>
          </a:p>
        </p:txBody>
      </p:sp>
      <p:pic>
        <p:nvPicPr>
          <p:cNvPr id="23" name="Image 2" descr="preencoded.png"/>
          <p:cNvPicPr>
            <a:picLocks noChangeAspect="1"/>
          </p:cNvPicPr>
          <p:nvPr/>
        </p:nvPicPr>
        <p:blipFill>
          <a:blip r:embed="rId3"/>
          <a:stretch>
            <a:fillRect/>
          </a:stretch>
        </p:blipFill>
        <p:spPr>
          <a:xfrm>
            <a:off x="3190875" y="2945607"/>
            <a:ext cx="171451" cy="171451"/>
          </a:xfrm>
          <a:prstGeom prst="rect">
            <a:avLst/>
          </a:prstGeom>
        </p:spPr>
      </p:pic>
      <p:sp>
        <p:nvSpPr>
          <p:cNvPr id="24" name="Shape 19"/>
          <p:cNvSpPr/>
          <p:nvPr/>
        </p:nvSpPr>
        <p:spPr>
          <a:xfrm>
            <a:off x="3505200" y="2886075"/>
            <a:ext cx="1143000" cy="290512"/>
          </a:xfrm>
          <a:prstGeom prst="rect">
            <a:avLst/>
          </a:prstGeom>
          <a:solidFill>
            <a:srgbClr val="0D1117"/>
          </a:solidFill>
          <a:ln w="9144">
            <a:solidFill>
              <a:srgbClr val="58A6FF"/>
            </a:solidFill>
            <a:prstDash val="solid"/>
          </a:ln>
        </p:spPr>
      </p:sp>
      <p:sp>
        <p:nvSpPr>
          <p:cNvPr id="25" name="Text 20"/>
          <p:cNvSpPr/>
          <p:nvPr/>
        </p:nvSpPr>
        <p:spPr>
          <a:xfrm>
            <a:off x="3766185" y="2886075"/>
            <a:ext cx="621030" cy="266700"/>
          </a:xfrm>
          <a:prstGeom prst="rect">
            <a:avLst/>
          </a:prstGeom>
          <a:noFill/>
        </p:spPr>
        <p:txBody>
          <a:bodyPr wrap="none" lIns="170010" tIns="113453" rIns="170010" bIns="0" rtlCol="0" anchor="t">
            <a:spAutoFit/>
          </a:bodyPr>
          <a:lstStyle/>
          <a:p>
            <a:pPr marL="0" indent="0" algn="ctr">
              <a:buNone/>
            </a:pPr>
            <a:r>
              <a:rPr lang="en-US" sz="1000" dirty="0">
                <a:solidFill>
                  <a:srgbClr val="58A6FF"/>
                </a:solidFill>
                <a:latin typeface="JetBrains Mono Medium" pitchFamily="34" charset="0"/>
                <a:ea typeface="JetBrains Mono Medium" pitchFamily="34" charset="-122"/>
                <a:cs typeface="JetBrains Mono Medium" pitchFamily="34" charset="-120"/>
              </a:rPr>
              <a:t>Hash</a:t>
            </a:r>
            <a:endParaRPr lang="en-US" sz="1000" dirty="0"/>
          </a:p>
        </p:txBody>
      </p:sp>
      <p:pic>
        <p:nvPicPr>
          <p:cNvPr id="26" name="Image 3" descr="preencoded.png"/>
          <p:cNvPicPr>
            <a:picLocks noChangeAspect="1"/>
          </p:cNvPicPr>
          <p:nvPr/>
        </p:nvPicPr>
        <p:blipFill>
          <a:blip r:embed="rId3"/>
          <a:stretch>
            <a:fillRect/>
          </a:stretch>
        </p:blipFill>
        <p:spPr>
          <a:xfrm>
            <a:off x="4791075" y="2945607"/>
            <a:ext cx="171451" cy="171451"/>
          </a:xfrm>
          <a:prstGeom prst="rect">
            <a:avLst/>
          </a:prstGeom>
        </p:spPr>
      </p:pic>
      <p:sp>
        <p:nvSpPr>
          <p:cNvPr id="27" name="Shape 21"/>
          <p:cNvSpPr/>
          <p:nvPr/>
        </p:nvSpPr>
        <p:spPr>
          <a:xfrm>
            <a:off x="5105400" y="2886075"/>
            <a:ext cx="1843088" cy="290512"/>
          </a:xfrm>
          <a:prstGeom prst="rect">
            <a:avLst/>
          </a:prstGeom>
          <a:solidFill>
            <a:srgbClr val="0D1117"/>
          </a:solidFill>
          <a:ln w="9144">
            <a:solidFill>
              <a:srgbClr val="FF6B6B"/>
            </a:solidFill>
            <a:prstDash val="solid"/>
          </a:ln>
        </p:spPr>
      </p:sp>
      <p:sp>
        <p:nvSpPr>
          <p:cNvPr id="28" name="Text 22"/>
          <p:cNvSpPr/>
          <p:nvPr/>
        </p:nvSpPr>
        <p:spPr>
          <a:xfrm>
            <a:off x="5105400" y="2886075"/>
            <a:ext cx="1843088" cy="266700"/>
          </a:xfrm>
          <a:prstGeom prst="rect">
            <a:avLst/>
          </a:prstGeom>
          <a:noFill/>
        </p:spPr>
        <p:txBody>
          <a:bodyPr wrap="square" lIns="170010" tIns="113453" rIns="170010" bIns="0" rtlCol="0" anchor="t">
            <a:spAutoFit/>
          </a:bodyPr>
          <a:lstStyle/>
          <a:p>
            <a:pPr marL="0" indent="0" algn="ctr">
              <a:buNone/>
            </a:pPr>
            <a:r>
              <a:rPr lang="en-US" sz="1000" dirty="0">
                <a:solidFill>
                  <a:srgbClr val="FF6B6B"/>
                </a:solidFill>
                <a:latin typeface="JetBrains Mono Medium" pitchFamily="34" charset="0"/>
                <a:ea typeface="JetBrains Mono Medium" pitchFamily="34" charset="-122"/>
                <a:cs typeface="JetBrains Mono Medium" pitchFamily="34" charset="-120"/>
              </a:rPr>
              <a:t>Sign w/ Private Key</a:t>
            </a:r>
            <a:endParaRPr lang="en-US" sz="1000" dirty="0"/>
          </a:p>
        </p:txBody>
      </p:sp>
      <p:pic>
        <p:nvPicPr>
          <p:cNvPr id="29" name="Image 4" descr="preencoded.png"/>
          <p:cNvPicPr>
            <a:picLocks noChangeAspect="1"/>
          </p:cNvPicPr>
          <p:nvPr/>
        </p:nvPicPr>
        <p:blipFill>
          <a:blip r:embed="rId4"/>
          <a:stretch>
            <a:fillRect/>
          </a:stretch>
        </p:blipFill>
        <p:spPr>
          <a:xfrm>
            <a:off x="7072312" y="2945607"/>
            <a:ext cx="171451" cy="171451"/>
          </a:xfrm>
          <a:prstGeom prst="rect">
            <a:avLst/>
          </a:prstGeom>
        </p:spPr>
      </p:pic>
      <p:sp>
        <p:nvSpPr>
          <p:cNvPr id="30" name="Shape 23"/>
          <p:cNvSpPr/>
          <p:nvPr/>
        </p:nvSpPr>
        <p:spPr>
          <a:xfrm>
            <a:off x="7386637" y="2886075"/>
            <a:ext cx="1143000" cy="290512"/>
          </a:xfrm>
          <a:prstGeom prst="rect">
            <a:avLst/>
          </a:prstGeom>
          <a:solidFill>
            <a:srgbClr val="0D1117"/>
          </a:solidFill>
          <a:ln w="9144">
            <a:solidFill>
              <a:srgbClr val="00FF9C"/>
            </a:solidFill>
            <a:prstDash val="solid"/>
          </a:ln>
        </p:spPr>
      </p:sp>
      <p:sp>
        <p:nvSpPr>
          <p:cNvPr id="31" name="Text 24"/>
          <p:cNvSpPr/>
          <p:nvPr/>
        </p:nvSpPr>
        <p:spPr>
          <a:xfrm>
            <a:off x="7522845" y="2886075"/>
            <a:ext cx="870585" cy="266700"/>
          </a:xfrm>
          <a:prstGeom prst="rect">
            <a:avLst/>
          </a:prstGeom>
          <a:noFill/>
        </p:spPr>
        <p:txBody>
          <a:bodyPr wrap="none" lIns="170010" tIns="113453" rIns="170010" bIns="0" rtlCol="0" anchor="t">
            <a:spAutoFit/>
          </a:bodyPr>
          <a:lstStyle/>
          <a:p>
            <a:pPr marL="0" indent="0" algn="ctr">
              <a:buNone/>
            </a:pPr>
            <a:r>
              <a:rPr lang="en-US" sz="1000" dirty="0">
                <a:solidFill>
                  <a:srgbClr val="00FF9C"/>
                </a:solidFill>
                <a:latin typeface="JetBrains Mono Medium" pitchFamily="34" charset="0"/>
                <a:ea typeface="JetBrains Mono Medium" pitchFamily="34" charset="-122"/>
                <a:cs typeface="JetBrains Mono Medium" pitchFamily="34" charset="-120"/>
              </a:rPr>
              <a:t>Signature</a:t>
            </a:r>
            <a:endParaRPr lang="en-US" sz="1000" dirty="0"/>
          </a:p>
        </p:txBody>
      </p:sp>
      <p:sp>
        <p:nvSpPr>
          <p:cNvPr id="32" name="Text 25"/>
          <p:cNvSpPr/>
          <p:nvPr/>
        </p:nvSpPr>
        <p:spPr>
          <a:xfrm>
            <a:off x="619125" y="3814763"/>
            <a:ext cx="1205865" cy="153670"/>
          </a:xfrm>
          <a:prstGeom prst="rect">
            <a:avLst/>
          </a:prstGeom>
          <a:noFill/>
        </p:spPr>
        <p:txBody>
          <a:bodyPr wrap="none" lIns="0" tIns="0" rIns="0" bIns="0" rtlCol="0" anchor="t">
            <a:spAutoFit/>
          </a:bodyPr>
          <a:lstStyle/>
          <a:p>
            <a:pPr marL="0" indent="0" algn="l">
              <a:buNone/>
            </a:pPr>
            <a:r>
              <a:rPr lang="en-US" sz="1000" dirty="0">
                <a:solidFill>
                  <a:srgbClr val="8B949E"/>
                </a:solidFill>
                <a:latin typeface="Poppins SemiBold" pitchFamily="34" charset="0"/>
                <a:ea typeface="Poppins SemiBold" pitchFamily="34" charset="-122"/>
                <a:cs typeface="Poppins SemiBold" pitchFamily="34" charset="-120"/>
              </a:rPr>
              <a:t>RECEIVER (BROWSER)</a:t>
            </a:r>
            <a:endParaRPr lang="en-US" sz="1000" dirty="0"/>
          </a:p>
        </p:txBody>
      </p:sp>
      <p:sp>
        <p:nvSpPr>
          <p:cNvPr id="33" name="Shape 26"/>
          <p:cNvSpPr/>
          <p:nvPr/>
        </p:nvSpPr>
        <p:spPr>
          <a:xfrm>
            <a:off x="1905000" y="3871912"/>
            <a:ext cx="1143000" cy="290512"/>
          </a:xfrm>
          <a:prstGeom prst="rect">
            <a:avLst/>
          </a:prstGeom>
          <a:solidFill>
            <a:srgbClr val="0D1117"/>
          </a:solidFill>
          <a:ln w="9144">
            <a:solidFill>
              <a:srgbClr val="30363D"/>
            </a:solidFill>
            <a:prstDash val="solid"/>
          </a:ln>
        </p:spPr>
      </p:sp>
      <p:sp>
        <p:nvSpPr>
          <p:cNvPr id="34" name="Text 27"/>
          <p:cNvSpPr/>
          <p:nvPr/>
        </p:nvSpPr>
        <p:spPr>
          <a:xfrm>
            <a:off x="2018348" y="3871912"/>
            <a:ext cx="916305" cy="266700"/>
          </a:xfrm>
          <a:prstGeom prst="rect">
            <a:avLst/>
          </a:prstGeom>
          <a:noFill/>
        </p:spPr>
        <p:txBody>
          <a:bodyPr wrap="none" lIns="170010" tIns="113453" rIns="170010" bIns="0" rtlCol="0" anchor="t">
            <a:spAutoFit/>
          </a:bodyPr>
          <a:lstStyle/>
          <a:p>
            <a:pPr marL="0" indent="0" algn="ctr">
              <a:buNone/>
            </a:pPr>
            <a:r>
              <a:rPr lang="en-US" sz="1000" dirty="0">
                <a:solidFill>
                  <a:srgbClr val="E6EDF3"/>
                </a:solidFill>
                <a:latin typeface="JetBrains Mono Medium" pitchFamily="34" charset="0"/>
                <a:ea typeface="JetBrains Mono Medium" pitchFamily="34" charset="-122"/>
                <a:cs typeface="JetBrains Mono Medium" pitchFamily="34" charset="-120"/>
              </a:rPr>
              <a:t>Document</a:t>
            </a:r>
            <a:endParaRPr lang="en-US" sz="1000" dirty="0"/>
          </a:p>
        </p:txBody>
      </p:sp>
      <p:pic>
        <p:nvPicPr>
          <p:cNvPr id="35" name="Image 5" descr="preencoded.png"/>
          <p:cNvPicPr>
            <a:picLocks noChangeAspect="1"/>
          </p:cNvPicPr>
          <p:nvPr/>
        </p:nvPicPr>
        <p:blipFill>
          <a:blip r:embed="rId5"/>
          <a:stretch>
            <a:fillRect/>
          </a:stretch>
        </p:blipFill>
        <p:spPr>
          <a:xfrm>
            <a:off x="3190875" y="3931444"/>
            <a:ext cx="171451" cy="171451"/>
          </a:xfrm>
          <a:prstGeom prst="rect">
            <a:avLst/>
          </a:prstGeom>
        </p:spPr>
      </p:pic>
      <p:sp>
        <p:nvSpPr>
          <p:cNvPr id="36" name="Shape 28"/>
          <p:cNvSpPr/>
          <p:nvPr/>
        </p:nvSpPr>
        <p:spPr>
          <a:xfrm>
            <a:off x="3505200" y="3871912"/>
            <a:ext cx="1143000" cy="290512"/>
          </a:xfrm>
          <a:prstGeom prst="rect">
            <a:avLst/>
          </a:prstGeom>
          <a:solidFill>
            <a:srgbClr val="0D1117"/>
          </a:solidFill>
          <a:ln w="9144">
            <a:solidFill>
              <a:srgbClr val="58A6FF"/>
            </a:solidFill>
            <a:prstDash val="solid"/>
          </a:ln>
        </p:spPr>
      </p:sp>
      <p:sp>
        <p:nvSpPr>
          <p:cNvPr id="37" name="Text 29"/>
          <p:cNvSpPr/>
          <p:nvPr/>
        </p:nvSpPr>
        <p:spPr>
          <a:xfrm>
            <a:off x="3661093" y="3871912"/>
            <a:ext cx="831215" cy="266700"/>
          </a:xfrm>
          <a:prstGeom prst="rect">
            <a:avLst/>
          </a:prstGeom>
          <a:noFill/>
        </p:spPr>
        <p:txBody>
          <a:bodyPr wrap="none" lIns="170010" tIns="113453" rIns="170010" bIns="0" rtlCol="0" anchor="t">
            <a:spAutoFit/>
          </a:bodyPr>
          <a:lstStyle/>
          <a:p>
            <a:pPr marL="0" indent="0" algn="ctr">
              <a:buNone/>
            </a:pPr>
            <a:r>
              <a:rPr lang="en-US" sz="1000" dirty="0">
                <a:solidFill>
                  <a:srgbClr val="58A6FF"/>
                </a:solidFill>
                <a:latin typeface="JetBrains Mono Medium" pitchFamily="34" charset="0"/>
                <a:ea typeface="JetBrains Mono Medium" pitchFamily="34" charset="-122"/>
                <a:cs typeface="JetBrains Mono Medium" pitchFamily="34" charset="-120"/>
              </a:rPr>
              <a:t>Hash (A)</a:t>
            </a:r>
            <a:endParaRPr lang="en-US" sz="1000" dirty="0"/>
          </a:p>
        </p:txBody>
      </p:sp>
      <p:sp>
        <p:nvSpPr>
          <p:cNvPr id="38" name="Shape 30"/>
          <p:cNvSpPr/>
          <p:nvPr/>
        </p:nvSpPr>
        <p:spPr>
          <a:xfrm>
            <a:off x="1905000" y="4508897"/>
            <a:ext cx="1143000" cy="290512"/>
          </a:xfrm>
          <a:prstGeom prst="rect">
            <a:avLst/>
          </a:prstGeom>
          <a:solidFill>
            <a:srgbClr val="0D1117"/>
          </a:solidFill>
          <a:ln w="9144">
            <a:solidFill>
              <a:srgbClr val="00FF9C"/>
            </a:solidFill>
            <a:prstDash val="solid"/>
          </a:ln>
        </p:spPr>
      </p:sp>
      <p:sp>
        <p:nvSpPr>
          <p:cNvPr id="39" name="Text 31"/>
          <p:cNvSpPr/>
          <p:nvPr/>
        </p:nvSpPr>
        <p:spPr>
          <a:xfrm>
            <a:off x="2041208" y="4508897"/>
            <a:ext cx="870585" cy="266700"/>
          </a:xfrm>
          <a:prstGeom prst="rect">
            <a:avLst/>
          </a:prstGeom>
          <a:noFill/>
        </p:spPr>
        <p:txBody>
          <a:bodyPr wrap="none" lIns="170010" tIns="113453" rIns="170010" bIns="0" rtlCol="0" anchor="t">
            <a:spAutoFit/>
          </a:bodyPr>
          <a:lstStyle/>
          <a:p>
            <a:pPr marL="0" indent="0" algn="ctr">
              <a:buNone/>
            </a:pPr>
            <a:r>
              <a:rPr lang="en-US" sz="1000" dirty="0">
                <a:solidFill>
                  <a:srgbClr val="00FF9C"/>
                </a:solidFill>
                <a:latin typeface="JetBrains Mono Medium" pitchFamily="34" charset="0"/>
                <a:ea typeface="JetBrains Mono Medium" pitchFamily="34" charset="-122"/>
                <a:cs typeface="JetBrains Mono Medium" pitchFamily="34" charset="-120"/>
              </a:rPr>
              <a:t>Signature</a:t>
            </a:r>
            <a:endParaRPr lang="en-US" sz="1000" dirty="0"/>
          </a:p>
        </p:txBody>
      </p:sp>
      <p:pic>
        <p:nvPicPr>
          <p:cNvPr id="40" name="Image 6" descr="preencoded.png"/>
          <p:cNvPicPr>
            <a:picLocks noChangeAspect="1"/>
          </p:cNvPicPr>
          <p:nvPr/>
        </p:nvPicPr>
        <p:blipFill>
          <a:blip r:embed="rId5"/>
          <a:stretch>
            <a:fillRect/>
          </a:stretch>
        </p:blipFill>
        <p:spPr>
          <a:xfrm>
            <a:off x="3190875" y="4568428"/>
            <a:ext cx="171451" cy="171451"/>
          </a:xfrm>
          <a:prstGeom prst="rect">
            <a:avLst/>
          </a:prstGeom>
        </p:spPr>
      </p:pic>
      <p:sp>
        <p:nvSpPr>
          <p:cNvPr id="41" name="Shape 32"/>
          <p:cNvSpPr/>
          <p:nvPr/>
        </p:nvSpPr>
        <p:spPr>
          <a:xfrm>
            <a:off x="3505200" y="4508897"/>
            <a:ext cx="1924051" cy="290512"/>
          </a:xfrm>
          <a:prstGeom prst="rect">
            <a:avLst/>
          </a:prstGeom>
          <a:solidFill>
            <a:srgbClr val="0D1117"/>
          </a:solidFill>
          <a:ln w="9144">
            <a:solidFill>
              <a:srgbClr val="FF6B6B"/>
            </a:solidFill>
            <a:prstDash val="solid"/>
          </a:ln>
        </p:spPr>
      </p:sp>
      <p:sp>
        <p:nvSpPr>
          <p:cNvPr id="42" name="Text 33"/>
          <p:cNvSpPr/>
          <p:nvPr/>
        </p:nvSpPr>
        <p:spPr>
          <a:xfrm>
            <a:off x="3505200" y="4508897"/>
            <a:ext cx="1924051" cy="266700"/>
          </a:xfrm>
          <a:prstGeom prst="rect">
            <a:avLst/>
          </a:prstGeom>
          <a:noFill/>
        </p:spPr>
        <p:txBody>
          <a:bodyPr wrap="square" lIns="170010" tIns="113453" rIns="170010" bIns="0" rtlCol="0" anchor="t">
            <a:spAutoFit/>
          </a:bodyPr>
          <a:lstStyle/>
          <a:p>
            <a:pPr marL="0" indent="0" algn="ctr">
              <a:buNone/>
            </a:pPr>
            <a:r>
              <a:rPr lang="en-US" sz="1000" dirty="0">
                <a:solidFill>
                  <a:srgbClr val="FF6B6B"/>
                </a:solidFill>
                <a:latin typeface="JetBrains Mono Medium" pitchFamily="34" charset="0"/>
                <a:ea typeface="JetBrains Mono Medium" pitchFamily="34" charset="-122"/>
                <a:cs typeface="JetBrains Mono Medium" pitchFamily="34" charset="-120"/>
              </a:rPr>
              <a:t>Verify w/ Public Key</a:t>
            </a:r>
            <a:endParaRPr lang="en-US" sz="1000" dirty="0"/>
          </a:p>
        </p:txBody>
      </p:sp>
      <p:pic>
        <p:nvPicPr>
          <p:cNvPr id="43" name="Image 7" descr="preencoded.png"/>
          <p:cNvPicPr>
            <a:picLocks noChangeAspect="1"/>
          </p:cNvPicPr>
          <p:nvPr/>
        </p:nvPicPr>
        <p:blipFill>
          <a:blip r:embed="rId5"/>
          <a:stretch>
            <a:fillRect/>
          </a:stretch>
        </p:blipFill>
        <p:spPr>
          <a:xfrm>
            <a:off x="5553075" y="4568428"/>
            <a:ext cx="171451" cy="171451"/>
          </a:xfrm>
          <a:prstGeom prst="rect">
            <a:avLst/>
          </a:prstGeom>
        </p:spPr>
      </p:pic>
      <p:sp>
        <p:nvSpPr>
          <p:cNvPr id="44" name="Shape 34"/>
          <p:cNvSpPr/>
          <p:nvPr/>
        </p:nvSpPr>
        <p:spPr>
          <a:xfrm>
            <a:off x="5867400" y="4508897"/>
            <a:ext cx="1143000" cy="290512"/>
          </a:xfrm>
          <a:prstGeom prst="rect">
            <a:avLst/>
          </a:prstGeom>
          <a:solidFill>
            <a:srgbClr val="0D1117"/>
          </a:solidFill>
          <a:ln w="9144">
            <a:solidFill>
              <a:srgbClr val="58A6FF"/>
            </a:solidFill>
            <a:prstDash val="solid"/>
          </a:ln>
        </p:spPr>
      </p:sp>
      <p:sp>
        <p:nvSpPr>
          <p:cNvPr id="45" name="Text 35"/>
          <p:cNvSpPr/>
          <p:nvPr/>
        </p:nvSpPr>
        <p:spPr>
          <a:xfrm>
            <a:off x="6023293" y="4508897"/>
            <a:ext cx="831215" cy="266700"/>
          </a:xfrm>
          <a:prstGeom prst="rect">
            <a:avLst/>
          </a:prstGeom>
          <a:noFill/>
        </p:spPr>
        <p:txBody>
          <a:bodyPr wrap="none" lIns="170010" tIns="113453" rIns="170010" bIns="0" rtlCol="0" anchor="t">
            <a:spAutoFit/>
          </a:bodyPr>
          <a:lstStyle/>
          <a:p>
            <a:pPr marL="0" indent="0" algn="ctr">
              <a:buNone/>
            </a:pPr>
            <a:r>
              <a:rPr lang="en-US" sz="1000" dirty="0">
                <a:solidFill>
                  <a:srgbClr val="58A6FF"/>
                </a:solidFill>
                <a:latin typeface="JetBrains Mono Medium" pitchFamily="34" charset="0"/>
                <a:ea typeface="JetBrains Mono Medium" pitchFamily="34" charset="-122"/>
                <a:cs typeface="JetBrains Mono Medium" pitchFamily="34" charset="-120"/>
              </a:rPr>
              <a:t>Hash (B)</a:t>
            </a:r>
            <a:endParaRPr lang="en-US" sz="1000" dirty="0"/>
          </a:p>
        </p:txBody>
      </p:sp>
      <p:sp>
        <p:nvSpPr>
          <p:cNvPr id="46" name="Shape 36"/>
          <p:cNvSpPr/>
          <p:nvPr/>
        </p:nvSpPr>
        <p:spPr>
          <a:xfrm>
            <a:off x="8689181" y="4505325"/>
            <a:ext cx="2883693" cy="297656"/>
          </a:xfrm>
          <a:prstGeom prst="rect">
            <a:avLst/>
          </a:prstGeom>
          <a:solidFill>
            <a:srgbClr val="00FF9C">
              <a:alpha val="10000"/>
            </a:srgbClr>
          </a:solidFill>
          <a:ln w="9144">
            <a:solidFill>
              <a:srgbClr val="00FF9C"/>
            </a:solidFill>
            <a:prstDash val="solid"/>
          </a:ln>
        </p:spPr>
      </p:sp>
      <p:pic>
        <p:nvPicPr>
          <p:cNvPr id="47" name="Image 8" descr="preencoded.png"/>
          <p:cNvPicPr>
            <a:picLocks noChangeAspect="1"/>
          </p:cNvPicPr>
          <p:nvPr/>
        </p:nvPicPr>
        <p:blipFill>
          <a:blip r:embed="rId6"/>
          <a:stretch>
            <a:fillRect/>
          </a:stretch>
        </p:blipFill>
        <p:spPr>
          <a:xfrm>
            <a:off x="8898731" y="4616053"/>
            <a:ext cx="152400" cy="152400"/>
          </a:xfrm>
          <a:prstGeom prst="rect">
            <a:avLst/>
          </a:prstGeom>
        </p:spPr>
      </p:pic>
      <p:sp>
        <p:nvSpPr>
          <p:cNvPr id="48" name="Text 37"/>
          <p:cNvSpPr/>
          <p:nvPr/>
        </p:nvSpPr>
        <p:spPr>
          <a:xfrm>
            <a:off x="9146381" y="4600575"/>
            <a:ext cx="2235993" cy="163830"/>
          </a:xfrm>
          <a:prstGeom prst="rect">
            <a:avLst/>
          </a:prstGeom>
          <a:noFill/>
        </p:spPr>
        <p:txBody>
          <a:bodyPr wrap="square" lIns="0" tIns="0" rIns="0" bIns="0" rtlCol="0" anchor="t">
            <a:spAutoFit/>
          </a:bodyPr>
          <a:lstStyle/>
          <a:p>
            <a:pPr marL="0" indent="0" algn="l">
              <a:buNone/>
            </a:pPr>
            <a:r>
              <a:rPr lang="en-US" sz="1065" b="1" dirty="0">
                <a:solidFill>
                  <a:srgbClr val="E6EDF3"/>
                </a:solidFill>
                <a:latin typeface="Inter" pitchFamily="34" charset="0"/>
                <a:ea typeface="Inter" pitchFamily="34" charset="-122"/>
                <a:cs typeface="Inter" pitchFamily="34" charset="-120"/>
              </a:rPr>
              <a:t>Compare: Hash A == Hash B ✓</a:t>
            </a:r>
            <a:endParaRPr lang="en-US" sz="1065" dirty="0"/>
          </a:p>
        </p:txBody>
      </p:sp>
      <p:pic>
        <p:nvPicPr>
          <p:cNvPr id="49" name="Image 9" descr="preencoded.png"/>
          <p:cNvPicPr>
            <a:picLocks noChangeAspect="1"/>
          </p:cNvPicPr>
          <p:nvPr/>
        </p:nvPicPr>
        <p:blipFill>
          <a:blip r:embed="rId7"/>
          <a:stretch>
            <a:fillRect/>
          </a:stretch>
        </p:blipFill>
        <p:spPr>
          <a:xfrm>
            <a:off x="3180160" y="5081588"/>
            <a:ext cx="133351" cy="133351"/>
          </a:xfrm>
          <a:prstGeom prst="rect">
            <a:avLst/>
          </a:prstGeom>
        </p:spPr>
      </p:pic>
      <p:sp>
        <p:nvSpPr>
          <p:cNvPr id="50" name="Text 38"/>
          <p:cNvSpPr/>
          <p:nvPr/>
        </p:nvSpPr>
        <p:spPr>
          <a:xfrm>
            <a:off x="3439239" y="5069681"/>
            <a:ext cx="1424940" cy="153670"/>
          </a:xfrm>
          <a:prstGeom prst="rect">
            <a:avLst/>
          </a:prstGeom>
          <a:noFill/>
        </p:spPr>
        <p:txBody>
          <a:bodyPr wrap="none" lIns="0" tIns="0" rIns="0" bIns="0" rtlCol="0" anchor="t">
            <a:spAutoFit/>
          </a:bodyPr>
          <a:lstStyle/>
          <a:p>
            <a:pPr marL="0" indent="0" algn="ctr">
              <a:buNone/>
            </a:pPr>
            <a:r>
              <a:rPr lang="en-US" sz="1000" dirty="0">
                <a:solidFill>
                  <a:srgbClr val="8B949E"/>
                </a:solidFill>
                <a:latin typeface="Inter" pitchFamily="34" charset="0"/>
                <a:ea typeface="Inter" pitchFamily="34" charset="-122"/>
                <a:cs typeface="Inter" pitchFamily="34" charset="-120"/>
              </a:rPr>
              <a:t>Digital signatures provide</a:t>
            </a:r>
            <a:endParaRPr lang="en-US" sz="1000" dirty="0"/>
          </a:p>
        </p:txBody>
      </p:sp>
      <p:sp>
        <p:nvSpPr>
          <p:cNvPr id="51" name="Text 39"/>
          <p:cNvSpPr/>
          <p:nvPr/>
        </p:nvSpPr>
        <p:spPr>
          <a:xfrm>
            <a:off x="5044757" y="5069681"/>
            <a:ext cx="645160" cy="144145"/>
          </a:xfrm>
          <a:prstGeom prst="rect">
            <a:avLst/>
          </a:prstGeom>
          <a:noFill/>
        </p:spPr>
        <p:txBody>
          <a:bodyPr wrap="none" lIns="0" tIns="0" rIns="0" bIns="0" rtlCol="0" anchor="t">
            <a:spAutoFit/>
          </a:bodyPr>
          <a:lstStyle/>
          <a:p>
            <a:pPr marL="0" indent="0" algn="ctr">
              <a:buNone/>
            </a:pPr>
            <a:r>
              <a:rPr lang="en-US" sz="935" b="1" dirty="0">
                <a:solidFill>
                  <a:srgbClr val="8B949E"/>
                </a:solidFill>
                <a:latin typeface="Inter" pitchFamily="34" charset="0"/>
                <a:ea typeface="Inter" pitchFamily="34" charset="-122"/>
                <a:cs typeface="Inter" pitchFamily="34" charset="-120"/>
              </a:rPr>
              <a:t>Authenticity</a:t>
            </a:r>
            <a:endParaRPr lang="en-US" sz="935" dirty="0"/>
          </a:p>
        </p:txBody>
      </p:sp>
      <p:sp>
        <p:nvSpPr>
          <p:cNvPr id="52" name="Text 40"/>
          <p:cNvSpPr/>
          <p:nvPr/>
        </p:nvSpPr>
        <p:spPr>
          <a:xfrm>
            <a:off x="5828188" y="5069681"/>
            <a:ext cx="969010" cy="153670"/>
          </a:xfrm>
          <a:prstGeom prst="rect">
            <a:avLst/>
          </a:prstGeom>
          <a:noFill/>
        </p:spPr>
        <p:txBody>
          <a:bodyPr wrap="none" lIns="0" tIns="0" rIns="0" bIns="0" rtlCol="0" anchor="t">
            <a:spAutoFit/>
          </a:bodyPr>
          <a:lstStyle/>
          <a:p>
            <a:pPr marL="0" indent="0" algn="ctr">
              <a:buNone/>
            </a:pPr>
            <a:r>
              <a:rPr lang="en-US" sz="1000" dirty="0">
                <a:solidFill>
                  <a:srgbClr val="8B949E"/>
                </a:solidFill>
                <a:latin typeface="Inter" pitchFamily="34" charset="0"/>
                <a:ea typeface="Inter" pitchFamily="34" charset="-122"/>
                <a:cs typeface="Inter" pitchFamily="34" charset="-120"/>
              </a:rPr>
              <a:t>(who sent it) and</a:t>
            </a:r>
            <a:endParaRPr lang="en-US" sz="1000" dirty="0"/>
          </a:p>
        </p:txBody>
      </p:sp>
      <p:sp>
        <p:nvSpPr>
          <p:cNvPr id="53" name="Text 41"/>
          <p:cNvSpPr/>
          <p:nvPr/>
        </p:nvSpPr>
        <p:spPr>
          <a:xfrm>
            <a:off x="6913165" y="5069681"/>
            <a:ext cx="454025" cy="144145"/>
          </a:xfrm>
          <a:prstGeom prst="rect">
            <a:avLst/>
          </a:prstGeom>
          <a:noFill/>
        </p:spPr>
        <p:txBody>
          <a:bodyPr wrap="none" lIns="0" tIns="0" rIns="0" bIns="0" rtlCol="0" anchor="t">
            <a:spAutoFit/>
          </a:bodyPr>
          <a:lstStyle/>
          <a:p>
            <a:pPr marL="0" indent="0" algn="ctr">
              <a:buNone/>
            </a:pPr>
            <a:r>
              <a:rPr lang="en-US" sz="935" b="1" dirty="0">
                <a:solidFill>
                  <a:srgbClr val="8B949E"/>
                </a:solidFill>
                <a:latin typeface="Inter" pitchFamily="34" charset="0"/>
                <a:ea typeface="Inter" pitchFamily="34" charset="-122"/>
                <a:cs typeface="Inter" pitchFamily="34" charset="-120"/>
              </a:rPr>
              <a:t>Integrity</a:t>
            </a:r>
            <a:endParaRPr lang="en-US" sz="935" dirty="0"/>
          </a:p>
        </p:txBody>
      </p:sp>
      <p:sp>
        <p:nvSpPr>
          <p:cNvPr id="54" name="Text 42"/>
          <p:cNvSpPr/>
          <p:nvPr/>
        </p:nvSpPr>
        <p:spPr>
          <a:xfrm>
            <a:off x="7513320" y="5069681"/>
            <a:ext cx="1384935" cy="153670"/>
          </a:xfrm>
          <a:prstGeom prst="rect">
            <a:avLst/>
          </a:prstGeom>
          <a:noFill/>
        </p:spPr>
        <p:txBody>
          <a:bodyPr wrap="none" lIns="0" tIns="0" rIns="0" bIns="0" rtlCol="0" anchor="t">
            <a:spAutoFit/>
          </a:bodyPr>
          <a:lstStyle/>
          <a:p>
            <a:pPr marL="0" indent="0" algn="ctr">
              <a:buNone/>
            </a:pPr>
            <a:r>
              <a:rPr lang="en-US" sz="1000" dirty="0">
                <a:solidFill>
                  <a:srgbClr val="8B949E"/>
                </a:solidFill>
                <a:latin typeface="Inter" pitchFamily="34" charset="0"/>
                <a:ea typeface="Inter" pitchFamily="34" charset="-122"/>
                <a:cs typeface="Inter" pitchFamily="34" charset="-120"/>
              </a:rPr>
              <a:t>(it hasn't been changed).</a:t>
            </a:r>
            <a:endParaRPr lang="en-US" sz="1000" dirty="0"/>
          </a:p>
        </p:txBody>
      </p:sp>
      <p:grpSp>
        <p:nvGrpSpPr>
          <p:cNvPr id="55" name="Group 2"/>
          <p:cNvGrpSpPr/>
          <p:nvPr/>
        </p:nvGrpSpPr>
        <p:grpSpPr>
          <a:xfrm rot="0">
            <a:off x="294640" y="194310"/>
            <a:ext cx="789305" cy="299720"/>
            <a:chOff x="0" y="0"/>
            <a:chExt cx="341337" cy="102463"/>
          </a:xfrm>
        </p:grpSpPr>
        <p:sp>
          <p:nvSpPr>
            <p:cNvPr id="56"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57"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58" name="Group 5"/>
          <p:cNvGrpSpPr/>
          <p:nvPr/>
        </p:nvGrpSpPr>
        <p:grpSpPr>
          <a:xfrm rot="0">
            <a:off x="822325" y="209550"/>
            <a:ext cx="220980" cy="246380"/>
            <a:chOff x="0" y="0"/>
            <a:chExt cx="812800" cy="812800"/>
          </a:xfrm>
        </p:grpSpPr>
        <p:sp>
          <p:nvSpPr>
            <p:cNvPr id="59"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60"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61"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62"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63"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62 | EWUCSC</a:t>
            </a:r>
            <a:endParaRPr lang="en-US" sz="1265" dirty="0"/>
          </a:p>
        </p:txBody>
      </p:sp>
      <p:sp>
        <p:nvSpPr>
          <p:cNvPr id="7" name="Text 4"/>
          <p:cNvSpPr/>
          <p:nvPr/>
        </p:nvSpPr>
        <p:spPr>
          <a:xfrm>
            <a:off x="381000" y="952500"/>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Where Signatures Appear</a:t>
            </a:r>
            <a:endParaRPr lang="en-US" sz="2800" dirty="0"/>
          </a:p>
        </p:txBody>
      </p:sp>
      <p:sp>
        <p:nvSpPr>
          <p:cNvPr id="8" name="Shape 5"/>
          <p:cNvSpPr/>
          <p:nvPr/>
        </p:nvSpPr>
        <p:spPr>
          <a:xfrm>
            <a:off x="381000" y="1838325"/>
            <a:ext cx="5595937" cy="1943100"/>
          </a:xfrm>
          <a:prstGeom prst="rect">
            <a:avLst/>
          </a:prstGeom>
          <a:solidFill>
            <a:srgbClr val="161B22"/>
          </a:solidFill>
          <a:ln w="9144">
            <a:solidFill>
              <a:srgbClr val="30363D"/>
            </a:solidFill>
            <a:prstDash val="solid"/>
          </a:ln>
        </p:spPr>
      </p:sp>
      <p:pic>
        <p:nvPicPr>
          <p:cNvPr id="9" name="Image 1" descr="preencoded.png"/>
          <p:cNvPicPr>
            <a:picLocks noChangeAspect="1"/>
          </p:cNvPicPr>
          <p:nvPr/>
        </p:nvPicPr>
        <p:blipFill>
          <a:blip r:embed="rId2"/>
          <a:stretch>
            <a:fillRect/>
          </a:stretch>
        </p:blipFill>
        <p:spPr>
          <a:xfrm>
            <a:off x="619125" y="2100263"/>
            <a:ext cx="266700" cy="266700"/>
          </a:xfrm>
          <a:prstGeom prst="rect">
            <a:avLst/>
          </a:prstGeom>
        </p:spPr>
      </p:pic>
      <p:sp>
        <p:nvSpPr>
          <p:cNvPr id="10" name="Text 6"/>
          <p:cNvSpPr/>
          <p:nvPr/>
        </p:nvSpPr>
        <p:spPr>
          <a:xfrm>
            <a:off x="1028700" y="2076451"/>
            <a:ext cx="1931193" cy="236220"/>
          </a:xfrm>
          <a:prstGeom prst="rect">
            <a:avLst/>
          </a:prstGeom>
          <a:noFill/>
        </p:spPr>
        <p:txBody>
          <a:bodyPr wrap="square" lIns="0" tIns="0" rIns="0" bIns="0" rtlCol="0" anchor="t">
            <a:spAutoFit/>
          </a:bodyPr>
          <a:lstStyle/>
          <a:p>
            <a:pPr marL="0" indent="0" algn="l">
              <a:buNone/>
            </a:pPr>
            <a:r>
              <a:rPr lang="en-US" sz="1535" dirty="0">
                <a:solidFill>
                  <a:srgbClr val="E6EDF3"/>
                </a:solidFill>
                <a:latin typeface="Poppins SemiBold" pitchFamily="34" charset="0"/>
                <a:ea typeface="Poppins SemiBold" pitchFamily="34" charset="-122"/>
                <a:cs typeface="Poppins SemiBold" pitchFamily="34" charset="-120"/>
              </a:rPr>
              <a:t>HTTPS Certificates</a:t>
            </a:r>
            <a:endParaRPr lang="en-US" sz="1535" dirty="0"/>
          </a:p>
        </p:txBody>
      </p:sp>
      <p:sp>
        <p:nvSpPr>
          <p:cNvPr id="11" name="Text 7"/>
          <p:cNvSpPr/>
          <p:nvPr/>
        </p:nvSpPr>
        <p:spPr>
          <a:xfrm>
            <a:off x="619125" y="2533651"/>
            <a:ext cx="5119688" cy="420370"/>
          </a:xfrm>
          <a:prstGeom prst="rect">
            <a:avLst/>
          </a:prstGeom>
          <a:noFill/>
        </p:spPr>
        <p:txBody>
          <a:bodyPr wrap="square" lIns="0" tIns="0" rIns="0" bIns="0" rtlCol="0" anchor="t">
            <a:spAutoFit/>
          </a:bodyPr>
          <a:lstStyle/>
          <a:p>
            <a:pPr marL="0" indent="0" algn="l">
              <a:lnSpc>
                <a:spcPct val="120000"/>
              </a:lnSpc>
              <a:buNone/>
            </a:pPr>
            <a:r>
              <a:rPr lang="en-US" sz="1135" dirty="0">
                <a:solidFill>
                  <a:srgbClr val="8B949E"/>
                </a:solidFill>
                <a:latin typeface="Inter" pitchFamily="34" charset="0"/>
                <a:ea typeface="Inter" pitchFamily="34" charset="-122"/>
                <a:cs typeface="Inter" pitchFamily="34" charset="-120"/>
              </a:rPr>
              <a:t>Your browser verifies the identity of websites using TLS/SSL certificates signed by trusted Certificate Authorities (CAs).</a:t>
            </a:r>
            <a:endParaRPr lang="en-US" sz="1135" dirty="0"/>
          </a:p>
        </p:txBody>
      </p:sp>
      <p:sp>
        <p:nvSpPr>
          <p:cNvPr id="12" name="Text 8"/>
          <p:cNvSpPr/>
          <p:nvPr/>
        </p:nvSpPr>
        <p:spPr>
          <a:xfrm>
            <a:off x="619125" y="3405188"/>
            <a:ext cx="5119688" cy="379730"/>
          </a:xfrm>
          <a:prstGeom prst="rect">
            <a:avLst/>
          </a:prstGeom>
          <a:noFill/>
        </p:spPr>
        <p:txBody>
          <a:bodyPr wrap="square" lIns="0" tIns="113453" rIns="0" bIns="113453" rtlCol="0" anchor="t">
            <a:spAutoFit/>
          </a:bodyPr>
          <a:lstStyle/>
          <a:p>
            <a:pPr marL="0" indent="0" algn="l">
              <a:buNone/>
            </a:pPr>
            <a:r>
              <a:rPr lang="en-US" sz="1000" dirty="0">
                <a:solidFill>
                  <a:srgbClr val="E3B341"/>
                </a:solidFill>
                <a:latin typeface="JetBrains Mono Medium" pitchFamily="34" charset="0"/>
                <a:ea typeface="JetBrains Mono Medium" pitchFamily="34" charset="-122"/>
                <a:cs typeface="JetBrains Mono Medium" pitchFamily="34" charset="-120"/>
              </a:rPr>
              <a:t>X.509 Certificates / TLS Handshake</a:t>
            </a:r>
            <a:endParaRPr lang="en-US" sz="1000" dirty="0"/>
          </a:p>
        </p:txBody>
      </p:sp>
      <p:sp>
        <p:nvSpPr>
          <p:cNvPr id="13" name="Shape 9"/>
          <p:cNvSpPr/>
          <p:nvPr/>
        </p:nvSpPr>
        <p:spPr>
          <a:xfrm>
            <a:off x="6215063" y="1838325"/>
            <a:ext cx="5595937" cy="1943100"/>
          </a:xfrm>
          <a:prstGeom prst="rect">
            <a:avLst/>
          </a:prstGeom>
          <a:solidFill>
            <a:srgbClr val="161B22"/>
          </a:solidFill>
          <a:ln w="9144">
            <a:solidFill>
              <a:srgbClr val="30363D"/>
            </a:solidFill>
            <a:prstDash val="solid"/>
          </a:ln>
        </p:spPr>
      </p:sp>
      <p:pic>
        <p:nvPicPr>
          <p:cNvPr id="14" name="Image 2" descr="preencoded.png"/>
          <p:cNvPicPr>
            <a:picLocks noChangeAspect="1"/>
          </p:cNvPicPr>
          <p:nvPr/>
        </p:nvPicPr>
        <p:blipFill>
          <a:blip r:embed="rId3"/>
          <a:stretch>
            <a:fillRect/>
          </a:stretch>
        </p:blipFill>
        <p:spPr>
          <a:xfrm>
            <a:off x="6453188" y="2100263"/>
            <a:ext cx="233363" cy="266700"/>
          </a:xfrm>
          <a:prstGeom prst="rect">
            <a:avLst/>
          </a:prstGeom>
        </p:spPr>
      </p:pic>
      <p:sp>
        <p:nvSpPr>
          <p:cNvPr id="15" name="Text 10"/>
          <p:cNvSpPr/>
          <p:nvPr/>
        </p:nvSpPr>
        <p:spPr>
          <a:xfrm>
            <a:off x="6829425" y="2076451"/>
            <a:ext cx="1099185" cy="236220"/>
          </a:xfrm>
          <a:prstGeom prst="rect">
            <a:avLst/>
          </a:prstGeom>
          <a:noFill/>
        </p:spPr>
        <p:txBody>
          <a:bodyPr wrap="none" lIns="0" tIns="0" rIns="0" bIns="0" rtlCol="0" anchor="t">
            <a:spAutoFit/>
          </a:bodyPr>
          <a:lstStyle/>
          <a:p>
            <a:pPr marL="0" indent="0" algn="l">
              <a:buNone/>
            </a:pPr>
            <a:r>
              <a:rPr lang="en-US" sz="1535" dirty="0">
                <a:solidFill>
                  <a:srgbClr val="E6EDF3"/>
                </a:solidFill>
                <a:latin typeface="Poppins SemiBold" pitchFamily="34" charset="0"/>
                <a:ea typeface="Poppins SemiBold" pitchFamily="34" charset="-122"/>
                <a:cs typeface="Poppins SemiBold" pitchFamily="34" charset="-120"/>
              </a:rPr>
              <a:t>Code Signing</a:t>
            </a:r>
            <a:endParaRPr lang="en-US" sz="1535" dirty="0"/>
          </a:p>
        </p:txBody>
      </p:sp>
      <p:sp>
        <p:nvSpPr>
          <p:cNvPr id="16" name="Text 11"/>
          <p:cNvSpPr/>
          <p:nvPr/>
        </p:nvSpPr>
        <p:spPr>
          <a:xfrm>
            <a:off x="6453188" y="2533651"/>
            <a:ext cx="5119688" cy="420370"/>
          </a:xfrm>
          <a:prstGeom prst="rect">
            <a:avLst/>
          </a:prstGeom>
          <a:noFill/>
        </p:spPr>
        <p:txBody>
          <a:bodyPr wrap="square" lIns="0" tIns="0" rIns="0" bIns="0" rtlCol="0" anchor="t">
            <a:spAutoFit/>
          </a:bodyPr>
          <a:lstStyle/>
          <a:p>
            <a:pPr marL="0" indent="0" algn="l">
              <a:lnSpc>
                <a:spcPct val="120000"/>
              </a:lnSpc>
              <a:buNone/>
            </a:pPr>
            <a:r>
              <a:rPr lang="en-US" sz="1135" dirty="0">
                <a:solidFill>
                  <a:srgbClr val="8B949E"/>
                </a:solidFill>
                <a:latin typeface="Inter" pitchFamily="34" charset="0"/>
                <a:ea typeface="Inter" pitchFamily="34" charset="-122"/>
                <a:cs typeface="Inter" pitchFamily="34" charset="-120"/>
              </a:rPr>
              <a:t>Operating systems verify that software hasn't been modified and came from a trusted developer before allowing execution.</a:t>
            </a:r>
            <a:endParaRPr lang="en-US" sz="1135" dirty="0"/>
          </a:p>
        </p:txBody>
      </p:sp>
      <p:sp>
        <p:nvSpPr>
          <p:cNvPr id="17" name="Text 12"/>
          <p:cNvSpPr/>
          <p:nvPr/>
        </p:nvSpPr>
        <p:spPr>
          <a:xfrm>
            <a:off x="6453188" y="3405188"/>
            <a:ext cx="5119688" cy="379730"/>
          </a:xfrm>
          <a:prstGeom prst="rect">
            <a:avLst/>
          </a:prstGeom>
          <a:noFill/>
        </p:spPr>
        <p:txBody>
          <a:bodyPr wrap="square" lIns="0" tIns="113453" rIns="0" bIns="113453" rtlCol="0" anchor="t">
            <a:spAutoFit/>
          </a:bodyPr>
          <a:lstStyle/>
          <a:p>
            <a:pPr marL="0" indent="0" algn="l">
              <a:buNone/>
            </a:pPr>
            <a:r>
              <a:rPr lang="en-US" sz="1000" dirty="0">
                <a:solidFill>
                  <a:srgbClr val="E3B341"/>
                </a:solidFill>
                <a:latin typeface="JetBrains Mono Medium" pitchFamily="34" charset="0"/>
                <a:ea typeface="JetBrains Mono Medium" pitchFamily="34" charset="-122"/>
                <a:cs typeface="JetBrains Mono Medium" pitchFamily="34" charset="-120"/>
              </a:rPr>
              <a:t>Authenticode / .exe / .dmg</a:t>
            </a:r>
            <a:endParaRPr lang="en-US" sz="1000" dirty="0"/>
          </a:p>
        </p:txBody>
      </p:sp>
      <p:sp>
        <p:nvSpPr>
          <p:cNvPr id="18" name="Shape 13"/>
          <p:cNvSpPr/>
          <p:nvPr/>
        </p:nvSpPr>
        <p:spPr>
          <a:xfrm>
            <a:off x="381000" y="4019551"/>
            <a:ext cx="5595937" cy="1943100"/>
          </a:xfrm>
          <a:prstGeom prst="rect">
            <a:avLst/>
          </a:prstGeom>
          <a:solidFill>
            <a:srgbClr val="161B22"/>
          </a:solidFill>
          <a:ln w="9144">
            <a:solidFill>
              <a:srgbClr val="30363D"/>
            </a:solidFill>
            <a:prstDash val="solid"/>
          </a:ln>
        </p:spPr>
      </p:sp>
      <p:pic>
        <p:nvPicPr>
          <p:cNvPr id="19" name="Image 3" descr="preencoded.png"/>
          <p:cNvPicPr>
            <a:picLocks noChangeAspect="1"/>
          </p:cNvPicPr>
          <p:nvPr/>
        </p:nvPicPr>
        <p:blipFill>
          <a:blip r:embed="rId4"/>
          <a:stretch>
            <a:fillRect/>
          </a:stretch>
        </p:blipFill>
        <p:spPr>
          <a:xfrm>
            <a:off x="619125" y="4281488"/>
            <a:ext cx="233363" cy="266700"/>
          </a:xfrm>
          <a:prstGeom prst="rect">
            <a:avLst/>
          </a:prstGeom>
        </p:spPr>
      </p:pic>
      <p:sp>
        <p:nvSpPr>
          <p:cNvPr id="20" name="Text 14"/>
          <p:cNvSpPr/>
          <p:nvPr/>
        </p:nvSpPr>
        <p:spPr>
          <a:xfrm>
            <a:off x="995363" y="4257675"/>
            <a:ext cx="1059815" cy="236220"/>
          </a:xfrm>
          <a:prstGeom prst="rect">
            <a:avLst/>
          </a:prstGeom>
          <a:noFill/>
        </p:spPr>
        <p:txBody>
          <a:bodyPr wrap="none" lIns="0" tIns="0" rIns="0" bIns="0" rtlCol="0" anchor="t">
            <a:spAutoFit/>
          </a:bodyPr>
          <a:lstStyle/>
          <a:p>
            <a:pPr marL="0" indent="0" algn="l">
              <a:buNone/>
            </a:pPr>
            <a:r>
              <a:rPr lang="en-US" sz="1535" dirty="0">
                <a:solidFill>
                  <a:srgbClr val="E6EDF3"/>
                </a:solidFill>
                <a:latin typeface="Poppins SemiBold" pitchFamily="34" charset="0"/>
                <a:ea typeface="Poppins SemiBold" pitchFamily="34" charset="-122"/>
                <a:cs typeface="Poppins SemiBold" pitchFamily="34" charset="-120"/>
              </a:rPr>
              <a:t>Git Commits</a:t>
            </a:r>
            <a:endParaRPr lang="en-US" sz="1535" dirty="0"/>
          </a:p>
        </p:txBody>
      </p:sp>
      <p:sp>
        <p:nvSpPr>
          <p:cNvPr id="21" name="Text 15"/>
          <p:cNvSpPr/>
          <p:nvPr/>
        </p:nvSpPr>
        <p:spPr>
          <a:xfrm>
            <a:off x="619125" y="4714875"/>
            <a:ext cx="5119688" cy="420370"/>
          </a:xfrm>
          <a:prstGeom prst="rect">
            <a:avLst/>
          </a:prstGeom>
          <a:noFill/>
        </p:spPr>
        <p:txBody>
          <a:bodyPr wrap="square" lIns="0" tIns="0" rIns="0" bIns="0" rtlCol="0" anchor="t">
            <a:spAutoFit/>
          </a:bodyPr>
          <a:lstStyle/>
          <a:p>
            <a:pPr marL="0" indent="0" algn="l">
              <a:lnSpc>
                <a:spcPct val="120000"/>
              </a:lnSpc>
              <a:buNone/>
            </a:pPr>
            <a:r>
              <a:rPr lang="en-US" sz="1135" dirty="0">
                <a:solidFill>
                  <a:srgbClr val="8B949E"/>
                </a:solidFill>
                <a:latin typeface="Inter" pitchFamily="34" charset="0"/>
                <a:ea typeface="Inter" pitchFamily="34" charset="-122"/>
                <a:cs typeface="Inter" pitchFamily="34" charset="-120"/>
              </a:rPr>
              <a:t>Developers use GPG keys to sign their commits, proving that the code was actually written by them and not an impersonator.</a:t>
            </a:r>
            <a:endParaRPr lang="en-US" sz="1135" dirty="0"/>
          </a:p>
        </p:txBody>
      </p:sp>
      <p:sp>
        <p:nvSpPr>
          <p:cNvPr id="22" name="Text 16"/>
          <p:cNvSpPr/>
          <p:nvPr/>
        </p:nvSpPr>
        <p:spPr>
          <a:xfrm>
            <a:off x="619125" y="5586412"/>
            <a:ext cx="5119688" cy="379730"/>
          </a:xfrm>
          <a:prstGeom prst="rect">
            <a:avLst/>
          </a:prstGeom>
          <a:noFill/>
        </p:spPr>
        <p:txBody>
          <a:bodyPr wrap="square" lIns="0" tIns="113453" rIns="0" bIns="113453" rtlCol="0" anchor="t">
            <a:spAutoFit/>
          </a:bodyPr>
          <a:lstStyle/>
          <a:p>
            <a:pPr marL="0" indent="0" algn="l">
              <a:buNone/>
            </a:pPr>
            <a:r>
              <a:rPr lang="en-US" sz="1000" dirty="0">
                <a:solidFill>
                  <a:srgbClr val="E3B341"/>
                </a:solidFill>
                <a:latin typeface="JetBrains Mono Medium" pitchFamily="34" charset="0"/>
                <a:ea typeface="JetBrains Mono Medium" pitchFamily="34" charset="-122"/>
                <a:cs typeface="JetBrains Mono Medium" pitchFamily="34" charset="-120"/>
              </a:rPr>
              <a:t>GPG / Verified Badge on GitHub</a:t>
            </a:r>
            <a:endParaRPr lang="en-US" sz="1000" dirty="0"/>
          </a:p>
        </p:txBody>
      </p:sp>
      <p:sp>
        <p:nvSpPr>
          <p:cNvPr id="23" name="Shape 17"/>
          <p:cNvSpPr/>
          <p:nvPr/>
        </p:nvSpPr>
        <p:spPr>
          <a:xfrm>
            <a:off x="6215063" y="4019551"/>
            <a:ext cx="5595937" cy="1943100"/>
          </a:xfrm>
          <a:prstGeom prst="rect">
            <a:avLst/>
          </a:prstGeom>
          <a:solidFill>
            <a:srgbClr val="161B22"/>
          </a:solidFill>
          <a:ln w="9144">
            <a:solidFill>
              <a:srgbClr val="30363D"/>
            </a:solidFill>
            <a:prstDash val="solid"/>
          </a:ln>
        </p:spPr>
      </p:sp>
      <p:pic>
        <p:nvPicPr>
          <p:cNvPr id="24" name="Image 4" descr="preencoded.png"/>
          <p:cNvPicPr>
            <a:picLocks noChangeAspect="1"/>
          </p:cNvPicPr>
          <p:nvPr/>
        </p:nvPicPr>
        <p:blipFill>
          <a:blip r:embed="rId5"/>
          <a:stretch>
            <a:fillRect/>
          </a:stretch>
        </p:blipFill>
        <p:spPr>
          <a:xfrm>
            <a:off x="6453188" y="4281488"/>
            <a:ext cx="266700" cy="266700"/>
          </a:xfrm>
          <a:prstGeom prst="rect">
            <a:avLst/>
          </a:prstGeom>
        </p:spPr>
      </p:pic>
      <p:sp>
        <p:nvSpPr>
          <p:cNvPr id="25" name="Text 18"/>
          <p:cNvSpPr/>
          <p:nvPr/>
        </p:nvSpPr>
        <p:spPr>
          <a:xfrm>
            <a:off x="6862763" y="4257675"/>
            <a:ext cx="980440" cy="236220"/>
          </a:xfrm>
          <a:prstGeom prst="rect">
            <a:avLst/>
          </a:prstGeom>
          <a:noFill/>
        </p:spPr>
        <p:txBody>
          <a:bodyPr wrap="none" lIns="0" tIns="0" rIns="0" bIns="0" rtlCol="0" anchor="t">
            <a:spAutoFit/>
          </a:bodyPr>
          <a:lstStyle/>
          <a:p>
            <a:pPr marL="0" indent="0" algn="l">
              <a:buNone/>
            </a:pPr>
            <a:r>
              <a:rPr lang="en-US" sz="1535" dirty="0">
                <a:solidFill>
                  <a:srgbClr val="E6EDF3"/>
                </a:solidFill>
                <a:latin typeface="Poppins SemiBold" pitchFamily="34" charset="0"/>
                <a:ea typeface="Poppins SemiBold" pitchFamily="34" charset="-122"/>
                <a:cs typeface="Poppins SemiBold" pitchFamily="34" charset="-120"/>
              </a:rPr>
              <a:t>JWT Tokens</a:t>
            </a:r>
            <a:endParaRPr lang="en-US" sz="1535" dirty="0"/>
          </a:p>
        </p:txBody>
      </p:sp>
      <p:sp>
        <p:nvSpPr>
          <p:cNvPr id="26" name="Text 19"/>
          <p:cNvSpPr/>
          <p:nvPr/>
        </p:nvSpPr>
        <p:spPr>
          <a:xfrm>
            <a:off x="6453188" y="4714875"/>
            <a:ext cx="5119688" cy="420370"/>
          </a:xfrm>
          <a:prstGeom prst="rect">
            <a:avLst/>
          </a:prstGeom>
          <a:noFill/>
        </p:spPr>
        <p:txBody>
          <a:bodyPr wrap="square" lIns="0" tIns="0" rIns="0" bIns="0" rtlCol="0" anchor="t">
            <a:spAutoFit/>
          </a:bodyPr>
          <a:lstStyle/>
          <a:p>
            <a:pPr marL="0" indent="0" algn="l">
              <a:lnSpc>
                <a:spcPct val="120000"/>
              </a:lnSpc>
              <a:buNone/>
            </a:pPr>
            <a:r>
              <a:rPr lang="en-US" sz="1135" dirty="0">
                <a:solidFill>
                  <a:srgbClr val="8B949E"/>
                </a:solidFill>
                <a:latin typeface="Inter" pitchFamily="34" charset="0"/>
                <a:ea typeface="Inter" pitchFamily="34" charset="-122"/>
                <a:cs typeface="Inter" pitchFamily="34" charset="-120"/>
              </a:rPr>
              <a:t>Web applications use JSON Web Tokens to store user sessions. The server signs the token so the client cannot forge their identity.</a:t>
            </a:r>
            <a:endParaRPr lang="en-US" sz="1135" dirty="0"/>
          </a:p>
        </p:txBody>
      </p:sp>
      <p:sp>
        <p:nvSpPr>
          <p:cNvPr id="27" name="Text 20"/>
          <p:cNvSpPr/>
          <p:nvPr/>
        </p:nvSpPr>
        <p:spPr>
          <a:xfrm>
            <a:off x="6453188" y="5586412"/>
            <a:ext cx="5119688" cy="379730"/>
          </a:xfrm>
          <a:prstGeom prst="rect">
            <a:avLst/>
          </a:prstGeom>
          <a:noFill/>
        </p:spPr>
        <p:txBody>
          <a:bodyPr wrap="square" lIns="0" tIns="113453" rIns="0" bIns="113453" rtlCol="0" anchor="t">
            <a:spAutoFit/>
          </a:bodyPr>
          <a:lstStyle/>
          <a:p>
            <a:pPr marL="0" indent="0" algn="l">
              <a:buNone/>
            </a:pPr>
            <a:r>
              <a:rPr lang="en-US" sz="1000" dirty="0">
                <a:solidFill>
                  <a:srgbClr val="E3B341"/>
                </a:solidFill>
                <a:latin typeface="JetBrains Mono Medium" pitchFamily="34" charset="0"/>
                <a:ea typeface="JetBrains Mono Medium" pitchFamily="34" charset="-122"/>
                <a:cs typeface="JetBrains Mono Medium" pitchFamily="34" charset="-120"/>
              </a:rPr>
              <a:t>HMAC-SHA256 / RSA Signatures</a:t>
            </a:r>
            <a:endParaRPr lang="en-US" sz="1000" dirty="0"/>
          </a:p>
        </p:txBody>
      </p:sp>
      <p:sp>
        <p:nvSpPr>
          <p:cNvPr id="28" name="Shape 21"/>
          <p:cNvSpPr/>
          <p:nvPr/>
        </p:nvSpPr>
        <p:spPr>
          <a:xfrm>
            <a:off x="381000" y="6248400"/>
            <a:ext cx="11430000" cy="419100"/>
          </a:xfrm>
          <a:prstGeom prst="rect">
            <a:avLst/>
          </a:prstGeom>
          <a:solidFill>
            <a:srgbClr val="FF6B6B">
              <a:alpha val="10000"/>
            </a:srgbClr>
          </a:solidFill>
          <a:ln w="9144">
            <a:solidFill>
              <a:srgbClr val="FF6B6B"/>
            </a:solidFill>
            <a:prstDash val="solid"/>
          </a:ln>
        </p:spPr>
      </p:sp>
      <p:pic>
        <p:nvPicPr>
          <p:cNvPr id="29" name="Image 5" descr="preencoded.png"/>
          <p:cNvPicPr>
            <a:picLocks noChangeAspect="1"/>
          </p:cNvPicPr>
          <p:nvPr/>
        </p:nvPicPr>
        <p:blipFill>
          <a:blip r:embed="rId6"/>
          <a:stretch>
            <a:fillRect/>
          </a:stretch>
        </p:blipFill>
        <p:spPr>
          <a:xfrm>
            <a:off x="571500" y="6453188"/>
            <a:ext cx="150019" cy="171451"/>
          </a:xfrm>
          <a:prstGeom prst="rect">
            <a:avLst/>
          </a:prstGeom>
        </p:spPr>
      </p:pic>
      <p:sp>
        <p:nvSpPr>
          <p:cNvPr id="30" name="Text 22"/>
          <p:cNvSpPr/>
          <p:nvPr/>
        </p:nvSpPr>
        <p:spPr>
          <a:xfrm>
            <a:off x="864393" y="6410325"/>
            <a:ext cx="9653588" cy="194310"/>
          </a:xfrm>
          <a:prstGeom prst="rect">
            <a:avLst/>
          </a:prstGeom>
          <a:noFill/>
        </p:spPr>
        <p:txBody>
          <a:bodyPr wrap="square" lIns="0" tIns="0" rIns="0" bIns="0" rtlCol="0" anchor="t">
            <a:spAutoFit/>
          </a:bodyPr>
          <a:lstStyle/>
          <a:p>
            <a:pPr marL="0" indent="0" algn="l">
              <a:buNone/>
            </a:pPr>
            <a:r>
              <a:rPr lang="en-US" sz="1200" b="1" dirty="0">
                <a:solidFill>
                  <a:srgbClr val="FF6B6B"/>
                </a:solidFill>
                <a:latin typeface="Poppins SemiBold" pitchFamily="34" charset="0"/>
                <a:ea typeface="Poppins SemiBold" pitchFamily="34" charset="-122"/>
                <a:cs typeface="Poppins SemiBold" pitchFamily="34" charset="-120"/>
              </a:rPr>
              <a:t>CTF Connection:</a:t>
            </a:r>
            <a:r>
              <a:rPr lang="en-US" sz="1265" dirty="0">
                <a:solidFill>
                  <a:srgbClr val="FF6B6B"/>
                </a:solidFill>
                <a:latin typeface="Poppins SemiBold" pitchFamily="34" charset="0"/>
                <a:ea typeface="Poppins SemiBold" pitchFamily="34" charset="-122"/>
                <a:cs typeface="Poppins SemiBold" pitchFamily="34" charset="-120"/>
              </a:rPr>
              <a:t> JWT token tampering is a common web CTF challenge. We'll dive into breaking these on </a:t>
            </a:r>
            <a:r>
              <a:rPr lang="en-US" sz="1200" b="1" dirty="0">
                <a:solidFill>
                  <a:srgbClr val="FF6B6B"/>
                </a:solidFill>
                <a:latin typeface="Poppins SemiBold" pitchFamily="34" charset="0"/>
                <a:ea typeface="Poppins SemiBold" pitchFamily="34" charset="-122"/>
                <a:cs typeface="Poppins SemiBold" pitchFamily="34" charset="-120"/>
              </a:rPr>
              <a:t>Day 5</a:t>
            </a:r>
            <a:r>
              <a:rPr lang="en-US" sz="1265" dirty="0">
                <a:solidFill>
                  <a:srgbClr val="FF6B6B"/>
                </a:solidFill>
                <a:latin typeface="Poppins SemiBold" pitchFamily="34" charset="0"/>
                <a:ea typeface="Poppins SemiBold" pitchFamily="34" charset="-122"/>
                <a:cs typeface="Poppins SemiBold" pitchFamily="34" charset="-120"/>
              </a:rPr>
              <a:t>!</a:t>
            </a:r>
            <a:endParaRPr lang="en-US" sz="1200"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5" name="Text 2"/>
          <p:cNvSpPr/>
          <p:nvPr/>
        </p:nvSpPr>
        <p:spPr>
          <a:xfrm>
            <a:off x="381000" y="172640"/>
            <a:ext cx="2764631" cy="194310"/>
          </a:xfrm>
          <a:prstGeom prst="rect">
            <a:avLst/>
          </a:prstGeom>
          <a:noFill/>
        </p:spPr>
        <p:txBody>
          <a:bodyPr wrap="square" lIns="0" tIns="0" rIns="0" bIns="0" rtlCol="0" anchor="t">
            <a:spAutoFit/>
          </a:bodyPr>
          <a:lstStyle/>
          <a:p>
            <a:pPr marL="0" indent="0" algn="l">
              <a:buNone/>
            </a:pPr>
            <a:endParaRPr lang="en-US" sz="1265" dirty="0"/>
          </a:p>
        </p:txBody>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63 | EWUCSC</a:t>
            </a:r>
            <a:endParaRPr lang="en-US" sz="1265" dirty="0"/>
          </a:p>
        </p:txBody>
      </p:sp>
      <p:sp>
        <p:nvSpPr>
          <p:cNvPr id="7" name="Text 4"/>
          <p:cNvSpPr/>
          <p:nvPr/>
        </p:nvSpPr>
        <p:spPr>
          <a:xfrm>
            <a:off x="381000" y="857251"/>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Unknown Cipher? Use this guide</a:t>
            </a:r>
            <a:endParaRPr lang="en-US" sz="2800" dirty="0"/>
          </a:p>
        </p:txBody>
      </p:sp>
      <p:sp>
        <p:nvSpPr>
          <p:cNvPr id="8" name="Shape 5"/>
          <p:cNvSpPr/>
          <p:nvPr/>
        </p:nvSpPr>
        <p:spPr>
          <a:xfrm>
            <a:off x="381000" y="1647825"/>
            <a:ext cx="11430000" cy="4483893"/>
          </a:xfrm>
          <a:prstGeom prst="rect">
            <a:avLst/>
          </a:prstGeom>
          <a:solidFill>
            <a:srgbClr val="161B22"/>
          </a:solidFill>
          <a:ln w="9144">
            <a:solidFill>
              <a:srgbClr val="30363D"/>
            </a:solidFill>
            <a:prstDash val="solid"/>
          </a:ln>
        </p:spPr>
      </p:sp>
      <p:pic>
        <p:nvPicPr>
          <p:cNvPr id="9" name="Image 1" descr="preencoded.png"/>
          <p:cNvPicPr>
            <a:picLocks noChangeAspect="1"/>
          </p:cNvPicPr>
          <p:nvPr/>
        </p:nvPicPr>
        <p:blipFill>
          <a:blip r:embed="rId2"/>
          <a:stretch>
            <a:fillRect/>
          </a:stretch>
        </p:blipFill>
        <p:spPr>
          <a:xfrm>
            <a:off x="619125" y="1928812"/>
            <a:ext cx="233363" cy="171451"/>
          </a:xfrm>
          <a:prstGeom prst="rect">
            <a:avLst/>
          </a:prstGeom>
        </p:spPr>
      </p:pic>
      <p:sp>
        <p:nvSpPr>
          <p:cNvPr id="10" name="Text 6"/>
          <p:cNvSpPr/>
          <p:nvPr/>
        </p:nvSpPr>
        <p:spPr>
          <a:xfrm>
            <a:off x="947737" y="1885951"/>
            <a:ext cx="861060" cy="194310"/>
          </a:xfrm>
          <a:prstGeom prst="rect">
            <a:avLst/>
          </a:prstGeom>
          <a:noFill/>
        </p:spPr>
        <p:txBody>
          <a:bodyPr wrap="none" lIns="0" tIns="0" rIns="0" bIns="0" rtlCol="0" anchor="t">
            <a:spAutoFit/>
          </a:bodyPr>
          <a:lstStyle/>
          <a:p>
            <a:pPr marL="0" indent="0" algn="l">
              <a:buNone/>
            </a:pPr>
            <a:r>
              <a:rPr lang="en-US" sz="1265" kern="0" spc="2" dirty="0">
                <a:solidFill>
                  <a:srgbClr val="58A6FF"/>
                </a:solidFill>
                <a:latin typeface="Poppins SemiBold" pitchFamily="34" charset="0"/>
                <a:ea typeface="Poppins SemiBold" pitchFamily="34" charset="-122"/>
                <a:cs typeface="Poppins SemiBold" pitchFamily="34" charset="-120"/>
              </a:rPr>
              <a:t>ENCODINGS</a:t>
            </a:r>
            <a:endParaRPr lang="en-US" sz="1265" dirty="0"/>
          </a:p>
        </p:txBody>
      </p:sp>
      <p:sp>
        <p:nvSpPr>
          <p:cNvPr id="11" name="Text 7"/>
          <p:cNvSpPr/>
          <p:nvPr/>
        </p:nvSpPr>
        <p:spPr>
          <a:xfrm>
            <a:off x="619125" y="2403872"/>
            <a:ext cx="3952875" cy="153670"/>
          </a:xfrm>
          <a:prstGeom prst="rect">
            <a:avLst/>
          </a:prstGeom>
          <a:noFill/>
        </p:spPr>
        <p:txBody>
          <a:bodyPr wrap="square" lIns="0" tIns="0" rIns="0" bIns="0" rtlCol="0" anchor="t">
            <a:spAutoFit/>
          </a:bodyPr>
          <a:lstStyle/>
          <a:p>
            <a:pPr marL="0" indent="0" algn="l">
              <a:buNone/>
            </a:pPr>
            <a:r>
              <a:rPr lang="en-US" sz="1000" dirty="0">
                <a:solidFill>
                  <a:srgbClr val="E6EDF3"/>
                </a:solidFill>
                <a:latin typeface="JetBrains Mono Medium" pitchFamily="34" charset="0"/>
                <a:ea typeface="JetBrains Mono Medium" pitchFamily="34" charset="-122"/>
                <a:cs typeface="JetBrains Mono Medium" pitchFamily="34" charset="-120"/>
              </a:rPr>
              <a:t>Ends in = or ==, A-Za-z0-9+/</a:t>
            </a:r>
            <a:endParaRPr lang="en-US" sz="1000" dirty="0"/>
          </a:p>
        </p:txBody>
      </p:sp>
      <p:sp>
        <p:nvSpPr>
          <p:cNvPr id="12" name="Text 8"/>
          <p:cNvSpPr/>
          <p:nvPr/>
        </p:nvSpPr>
        <p:spPr>
          <a:xfrm>
            <a:off x="5625466" y="2390775"/>
            <a:ext cx="375285" cy="144145"/>
          </a:xfrm>
          <a:prstGeom prst="rect">
            <a:avLst/>
          </a:prstGeom>
          <a:noFill/>
        </p:spPr>
        <p:txBody>
          <a:bodyPr wrap="none" lIns="0" tIns="0" rIns="0" bIns="0" rtlCol="0" anchor="t">
            <a:spAutoFit/>
          </a:bodyPr>
          <a:lstStyle/>
          <a:p>
            <a:pPr marL="0" indent="0" algn="r">
              <a:buNone/>
            </a:pPr>
            <a:r>
              <a:rPr lang="en-US" sz="935" b="1" dirty="0">
                <a:solidFill>
                  <a:srgbClr val="00FF9C"/>
                </a:solidFill>
                <a:latin typeface="Poppins SemiBold" pitchFamily="34" charset="0"/>
                <a:ea typeface="Poppins SemiBold" pitchFamily="34" charset="-122"/>
                <a:cs typeface="Poppins SemiBold" pitchFamily="34" charset="-120"/>
              </a:rPr>
              <a:t>Base64</a:t>
            </a:r>
            <a:endParaRPr lang="en-US" sz="935" dirty="0"/>
          </a:p>
        </p:txBody>
      </p:sp>
      <p:sp>
        <p:nvSpPr>
          <p:cNvPr id="13" name="Text 9"/>
          <p:cNvSpPr/>
          <p:nvPr/>
        </p:nvSpPr>
        <p:spPr>
          <a:xfrm>
            <a:off x="619125" y="2853928"/>
            <a:ext cx="3952875" cy="153670"/>
          </a:xfrm>
          <a:prstGeom prst="rect">
            <a:avLst/>
          </a:prstGeom>
          <a:noFill/>
        </p:spPr>
        <p:txBody>
          <a:bodyPr wrap="square" lIns="0" tIns="0" rIns="0" bIns="0" rtlCol="0" anchor="t">
            <a:spAutoFit/>
          </a:bodyPr>
          <a:lstStyle/>
          <a:p>
            <a:pPr marL="0" indent="0" algn="l">
              <a:buNone/>
            </a:pPr>
            <a:r>
              <a:rPr lang="en-US" sz="1000" dirty="0">
                <a:solidFill>
                  <a:srgbClr val="E6EDF3"/>
                </a:solidFill>
                <a:latin typeface="JetBrains Mono Medium" pitchFamily="34" charset="0"/>
                <a:ea typeface="JetBrains Mono Medium" pitchFamily="34" charset="-122"/>
                <a:cs typeface="JetBrains Mono Medium" pitchFamily="34" charset="-120"/>
              </a:rPr>
              <a:t>All hex, even length</a:t>
            </a:r>
            <a:endParaRPr lang="en-US" sz="1000" dirty="0"/>
          </a:p>
        </p:txBody>
      </p:sp>
      <p:sp>
        <p:nvSpPr>
          <p:cNvPr id="14" name="Text 10"/>
          <p:cNvSpPr/>
          <p:nvPr/>
        </p:nvSpPr>
        <p:spPr>
          <a:xfrm>
            <a:off x="5297171" y="2840831"/>
            <a:ext cx="703580" cy="144145"/>
          </a:xfrm>
          <a:prstGeom prst="rect">
            <a:avLst/>
          </a:prstGeom>
          <a:noFill/>
        </p:spPr>
        <p:txBody>
          <a:bodyPr wrap="none" lIns="0" tIns="0" rIns="0" bIns="0" rtlCol="0" anchor="t">
            <a:spAutoFit/>
          </a:bodyPr>
          <a:lstStyle/>
          <a:p>
            <a:pPr marL="0" indent="0" algn="r">
              <a:buNone/>
            </a:pPr>
            <a:r>
              <a:rPr lang="en-US" sz="935" b="1" dirty="0">
                <a:solidFill>
                  <a:srgbClr val="00FF9C"/>
                </a:solidFill>
                <a:latin typeface="Poppins SemiBold" pitchFamily="34" charset="0"/>
                <a:ea typeface="Poppins SemiBold" pitchFamily="34" charset="-122"/>
                <a:cs typeface="Poppins SemiBold" pitchFamily="34" charset="-120"/>
              </a:rPr>
              <a:t>Hex / Base16</a:t>
            </a:r>
            <a:endParaRPr lang="en-US" sz="935" dirty="0"/>
          </a:p>
        </p:txBody>
      </p:sp>
      <p:sp>
        <p:nvSpPr>
          <p:cNvPr id="15" name="Text 11"/>
          <p:cNvSpPr/>
          <p:nvPr/>
        </p:nvSpPr>
        <p:spPr>
          <a:xfrm>
            <a:off x="619125" y="3303984"/>
            <a:ext cx="3952875" cy="153670"/>
          </a:xfrm>
          <a:prstGeom prst="rect">
            <a:avLst/>
          </a:prstGeom>
          <a:noFill/>
        </p:spPr>
        <p:txBody>
          <a:bodyPr wrap="square" lIns="0" tIns="0" rIns="0" bIns="0" rtlCol="0" anchor="t">
            <a:spAutoFit/>
          </a:bodyPr>
          <a:lstStyle/>
          <a:p>
            <a:pPr marL="0" indent="0" algn="l">
              <a:buNone/>
            </a:pPr>
            <a:r>
              <a:rPr lang="en-US" sz="1000" dirty="0">
                <a:solidFill>
                  <a:srgbClr val="E6EDF3"/>
                </a:solidFill>
                <a:latin typeface="JetBrains Mono Medium" pitchFamily="34" charset="0"/>
                <a:ea typeface="JetBrains Mono Medium" pitchFamily="34" charset="-122"/>
                <a:cs typeface="JetBrains Mono Medium" pitchFamily="34" charset="-120"/>
              </a:rPr>
              <a:t>Only A-Z + 2-7, ends ====</a:t>
            </a:r>
            <a:endParaRPr lang="en-US" sz="1000" dirty="0"/>
          </a:p>
        </p:txBody>
      </p:sp>
      <p:sp>
        <p:nvSpPr>
          <p:cNvPr id="16" name="Text 12"/>
          <p:cNvSpPr/>
          <p:nvPr/>
        </p:nvSpPr>
        <p:spPr>
          <a:xfrm>
            <a:off x="5625466" y="3290888"/>
            <a:ext cx="375285" cy="144145"/>
          </a:xfrm>
          <a:prstGeom prst="rect">
            <a:avLst/>
          </a:prstGeom>
          <a:noFill/>
        </p:spPr>
        <p:txBody>
          <a:bodyPr wrap="none" lIns="0" tIns="0" rIns="0" bIns="0" rtlCol="0" anchor="t">
            <a:spAutoFit/>
          </a:bodyPr>
          <a:lstStyle/>
          <a:p>
            <a:pPr marL="0" indent="0" algn="r">
              <a:buNone/>
            </a:pPr>
            <a:r>
              <a:rPr lang="en-US" sz="935" b="1" dirty="0">
                <a:solidFill>
                  <a:srgbClr val="00FF9C"/>
                </a:solidFill>
                <a:latin typeface="Poppins SemiBold" pitchFamily="34" charset="0"/>
                <a:ea typeface="Poppins SemiBold" pitchFamily="34" charset="-122"/>
                <a:cs typeface="Poppins SemiBold" pitchFamily="34" charset="-120"/>
              </a:rPr>
              <a:t>Base32</a:t>
            </a:r>
            <a:endParaRPr lang="en-US" sz="935" dirty="0"/>
          </a:p>
        </p:txBody>
      </p:sp>
      <p:sp>
        <p:nvSpPr>
          <p:cNvPr id="17" name="Text 13"/>
          <p:cNvSpPr/>
          <p:nvPr/>
        </p:nvSpPr>
        <p:spPr>
          <a:xfrm>
            <a:off x="619125" y="3754040"/>
            <a:ext cx="3952875" cy="153670"/>
          </a:xfrm>
          <a:prstGeom prst="rect">
            <a:avLst/>
          </a:prstGeom>
          <a:noFill/>
        </p:spPr>
        <p:txBody>
          <a:bodyPr wrap="square" lIns="0" tIns="0" rIns="0" bIns="0" rtlCol="0" anchor="t">
            <a:spAutoFit/>
          </a:bodyPr>
          <a:lstStyle/>
          <a:p>
            <a:pPr marL="0" indent="0" algn="l">
              <a:buNone/>
            </a:pPr>
            <a:r>
              <a:rPr lang="en-US" sz="1000" dirty="0">
                <a:solidFill>
                  <a:srgbClr val="E6EDF3"/>
                </a:solidFill>
                <a:latin typeface="JetBrains Mono Medium" pitchFamily="34" charset="0"/>
                <a:ea typeface="JetBrains Mono Medium" pitchFamily="34" charset="-122"/>
                <a:cs typeface="JetBrains Mono Medium" pitchFamily="34" charset="-120"/>
              </a:rPr>
              <a:t>List of numbers (e.g., 72 101 108)</a:t>
            </a:r>
            <a:endParaRPr lang="en-US" sz="1000" dirty="0"/>
          </a:p>
        </p:txBody>
      </p:sp>
      <p:sp>
        <p:nvSpPr>
          <p:cNvPr id="18" name="Text 14"/>
          <p:cNvSpPr/>
          <p:nvPr/>
        </p:nvSpPr>
        <p:spPr>
          <a:xfrm>
            <a:off x="5264786" y="3740944"/>
            <a:ext cx="735965" cy="144145"/>
          </a:xfrm>
          <a:prstGeom prst="rect">
            <a:avLst/>
          </a:prstGeom>
          <a:noFill/>
        </p:spPr>
        <p:txBody>
          <a:bodyPr wrap="none" lIns="0" tIns="0" rIns="0" bIns="0" rtlCol="0" anchor="t">
            <a:spAutoFit/>
          </a:bodyPr>
          <a:lstStyle/>
          <a:p>
            <a:pPr marL="0" indent="0" algn="r">
              <a:buNone/>
            </a:pPr>
            <a:r>
              <a:rPr lang="en-US" sz="935" b="1" dirty="0">
                <a:solidFill>
                  <a:srgbClr val="00FF9C"/>
                </a:solidFill>
                <a:latin typeface="Poppins SemiBold" pitchFamily="34" charset="0"/>
                <a:ea typeface="Poppins SemiBold" pitchFamily="34" charset="-122"/>
                <a:cs typeface="Poppins SemiBold" pitchFamily="34" charset="-120"/>
              </a:rPr>
              <a:t>ASCII Decimal</a:t>
            </a:r>
            <a:endParaRPr lang="en-US" sz="935" dirty="0"/>
          </a:p>
        </p:txBody>
      </p:sp>
      <p:pic>
        <p:nvPicPr>
          <p:cNvPr id="19" name="Image 2" descr="preencoded.png"/>
          <p:cNvPicPr>
            <a:picLocks noChangeAspect="1"/>
          </p:cNvPicPr>
          <p:nvPr/>
        </p:nvPicPr>
        <p:blipFill>
          <a:blip r:embed="rId3"/>
          <a:stretch>
            <a:fillRect/>
          </a:stretch>
        </p:blipFill>
        <p:spPr>
          <a:xfrm>
            <a:off x="6191251" y="1928812"/>
            <a:ext cx="190500" cy="171451"/>
          </a:xfrm>
          <a:prstGeom prst="rect">
            <a:avLst/>
          </a:prstGeom>
        </p:spPr>
      </p:pic>
      <p:sp>
        <p:nvSpPr>
          <p:cNvPr id="20" name="Text 15"/>
          <p:cNvSpPr/>
          <p:nvPr/>
        </p:nvSpPr>
        <p:spPr>
          <a:xfrm>
            <a:off x="6477000" y="1885951"/>
            <a:ext cx="556260" cy="194310"/>
          </a:xfrm>
          <a:prstGeom prst="rect">
            <a:avLst/>
          </a:prstGeom>
          <a:noFill/>
        </p:spPr>
        <p:txBody>
          <a:bodyPr wrap="none" lIns="0" tIns="0" rIns="0" bIns="0" rtlCol="0" anchor="t">
            <a:spAutoFit/>
          </a:bodyPr>
          <a:lstStyle/>
          <a:p>
            <a:pPr marL="0" indent="0" algn="l">
              <a:buNone/>
            </a:pPr>
            <a:r>
              <a:rPr lang="en-US" sz="1265" kern="0" spc="2" dirty="0">
                <a:solidFill>
                  <a:srgbClr val="58A6FF"/>
                </a:solidFill>
                <a:latin typeface="Poppins SemiBold" pitchFamily="34" charset="0"/>
                <a:ea typeface="Poppins SemiBold" pitchFamily="34" charset="-122"/>
                <a:cs typeface="Poppins SemiBold" pitchFamily="34" charset="-120"/>
              </a:rPr>
              <a:t>HASHES</a:t>
            </a:r>
            <a:endParaRPr lang="en-US" sz="1265" dirty="0"/>
          </a:p>
        </p:txBody>
      </p:sp>
      <p:sp>
        <p:nvSpPr>
          <p:cNvPr id="21" name="Text 16"/>
          <p:cNvSpPr/>
          <p:nvPr/>
        </p:nvSpPr>
        <p:spPr>
          <a:xfrm>
            <a:off x="6191251" y="2403872"/>
            <a:ext cx="3952875" cy="153670"/>
          </a:xfrm>
          <a:prstGeom prst="rect">
            <a:avLst/>
          </a:prstGeom>
          <a:noFill/>
        </p:spPr>
        <p:txBody>
          <a:bodyPr wrap="square" lIns="0" tIns="0" rIns="0" bIns="0" rtlCol="0" anchor="t">
            <a:spAutoFit/>
          </a:bodyPr>
          <a:lstStyle/>
          <a:p>
            <a:pPr marL="0" indent="0" algn="l">
              <a:buNone/>
            </a:pPr>
            <a:r>
              <a:rPr lang="en-US" sz="1000" dirty="0">
                <a:solidFill>
                  <a:srgbClr val="E6EDF3"/>
                </a:solidFill>
                <a:latin typeface="JetBrains Mono Medium" pitchFamily="34" charset="0"/>
                <a:ea typeface="JetBrains Mono Medium" pitchFamily="34" charset="-122"/>
                <a:cs typeface="JetBrains Mono Medium" pitchFamily="34" charset="-120"/>
              </a:rPr>
              <a:t>32 hex characters</a:t>
            </a:r>
            <a:endParaRPr lang="en-US" sz="1000" dirty="0"/>
          </a:p>
        </p:txBody>
      </p:sp>
      <p:sp>
        <p:nvSpPr>
          <p:cNvPr id="22" name="Text 17"/>
          <p:cNvSpPr/>
          <p:nvPr/>
        </p:nvSpPr>
        <p:spPr>
          <a:xfrm>
            <a:off x="11330941" y="2390775"/>
            <a:ext cx="241935" cy="144145"/>
          </a:xfrm>
          <a:prstGeom prst="rect">
            <a:avLst/>
          </a:prstGeom>
          <a:noFill/>
        </p:spPr>
        <p:txBody>
          <a:bodyPr wrap="none" lIns="0" tIns="0" rIns="0" bIns="0" rtlCol="0" anchor="t">
            <a:spAutoFit/>
          </a:bodyPr>
          <a:lstStyle/>
          <a:p>
            <a:pPr marL="0" indent="0" algn="r">
              <a:buNone/>
            </a:pPr>
            <a:r>
              <a:rPr lang="en-US" sz="935" b="1" dirty="0">
                <a:solidFill>
                  <a:srgbClr val="00FF9C"/>
                </a:solidFill>
                <a:latin typeface="Poppins SemiBold" pitchFamily="34" charset="0"/>
                <a:ea typeface="Poppins SemiBold" pitchFamily="34" charset="-122"/>
                <a:cs typeface="Poppins SemiBold" pitchFamily="34" charset="-120"/>
              </a:rPr>
              <a:t>MD5</a:t>
            </a:r>
            <a:endParaRPr lang="en-US" sz="935" dirty="0"/>
          </a:p>
        </p:txBody>
      </p:sp>
      <p:sp>
        <p:nvSpPr>
          <p:cNvPr id="23" name="Text 18"/>
          <p:cNvSpPr/>
          <p:nvPr/>
        </p:nvSpPr>
        <p:spPr>
          <a:xfrm>
            <a:off x="6191251" y="2853928"/>
            <a:ext cx="3952875" cy="153670"/>
          </a:xfrm>
          <a:prstGeom prst="rect">
            <a:avLst/>
          </a:prstGeom>
          <a:noFill/>
        </p:spPr>
        <p:txBody>
          <a:bodyPr wrap="square" lIns="0" tIns="0" rIns="0" bIns="0" rtlCol="0" anchor="t">
            <a:spAutoFit/>
          </a:bodyPr>
          <a:lstStyle/>
          <a:p>
            <a:pPr marL="0" indent="0" algn="l">
              <a:buNone/>
            </a:pPr>
            <a:r>
              <a:rPr lang="en-US" sz="1000" dirty="0">
                <a:solidFill>
                  <a:srgbClr val="E6EDF3"/>
                </a:solidFill>
                <a:latin typeface="JetBrains Mono Medium" pitchFamily="34" charset="0"/>
                <a:ea typeface="JetBrains Mono Medium" pitchFamily="34" charset="-122"/>
                <a:cs typeface="JetBrains Mono Medium" pitchFamily="34" charset="-120"/>
              </a:rPr>
              <a:t>40 hex characters</a:t>
            </a:r>
            <a:endParaRPr lang="en-US" sz="1000" dirty="0"/>
          </a:p>
        </p:txBody>
      </p:sp>
      <p:sp>
        <p:nvSpPr>
          <p:cNvPr id="24" name="Text 19"/>
          <p:cNvSpPr/>
          <p:nvPr/>
        </p:nvSpPr>
        <p:spPr>
          <a:xfrm>
            <a:off x="11297286" y="2840831"/>
            <a:ext cx="275590" cy="144145"/>
          </a:xfrm>
          <a:prstGeom prst="rect">
            <a:avLst/>
          </a:prstGeom>
          <a:noFill/>
        </p:spPr>
        <p:txBody>
          <a:bodyPr wrap="none" lIns="0" tIns="0" rIns="0" bIns="0" rtlCol="0" anchor="t">
            <a:spAutoFit/>
          </a:bodyPr>
          <a:lstStyle/>
          <a:p>
            <a:pPr marL="0" indent="0" algn="r">
              <a:buNone/>
            </a:pPr>
            <a:r>
              <a:rPr lang="en-US" sz="935" b="1" dirty="0">
                <a:solidFill>
                  <a:srgbClr val="00FF9C"/>
                </a:solidFill>
                <a:latin typeface="Poppins SemiBold" pitchFamily="34" charset="0"/>
                <a:ea typeface="Poppins SemiBold" pitchFamily="34" charset="-122"/>
                <a:cs typeface="Poppins SemiBold" pitchFamily="34" charset="-120"/>
              </a:rPr>
              <a:t>SHA1</a:t>
            </a:r>
            <a:endParaRPr lang="en-US" sz="935" dirty="0"/>
          </a:p>
        </p:txBody>
      </p:sp>
      <p:sp>
        <p:nvSpPr>
          <p:cNvPr id="25" name="Text 20"/>
          <p:cNvSpPr/>
          <p:nvPr/>
        </p:nvSpPr>
        <p:spPr>
          <a:xfrm>
            <a:off x="6191251" y="3303984"/>
            <a:ext cx="3952875" cy="153670"/>
          </a:xfrm>
          <a:prstGeom prst="rect">
            <a:avLst/>
          </a:prstGeom>
          <a:noFill/>
        </p:spPr>
        <p:txBody>
          <a:bodyPr wrap="square" lIns="0" tIns="0" rIns="0" bIns="0" rtlCol="0" anchor="t">
            <a:spAutoFit/>
          </a:bodyPr>
          <a:lstStyle/>
          <a:p>
            <a:pPr marL="0" indent="0" algn="l">
              <a:buNone/>
            </a:pPr>
            <a:r>
              <a:rPr lang="en-US" sz="1000" dirty="0">
                <a:solidFill>
                  <a:srgbClr val="E6EDF3"/>
                </a:solidFill>
                <a:latin typeface="JetBrains Mono Medium" pitchFamily="34" charset="0"/>
                <a:ea typeface="JetBrains Mono Medium" pitchFamily="34" charset="-122"/>
                <a:cs typeface="JetBrains Mono Medium" pitchFamily="34" charset="-120"/>
              </a:rPr>
              <a:t>64 hex characters</a:t>
            </a:r>
            <a:endParaRPr lang="en-US" sz="1000" dirty="0"/>
          </a:p>
        </p:txBody>
      </p:sp>
      <p:sp>
        <p:nvSpPr>
          <p:cNvPr id="26" name="Text 21"/>
          <p:cNvSpPr/>
          <p:nvPr/>
        </p:nvSpPr>
        <p:spPr>
          <a:xfrm>
            <a:off x="11172826" y="3290888"/>
            <a:ext cx="400050" cy="144145"/>
          </a:xfrm>
          <a:prstGeom prst="rect">
            <a:avLst/>
          </a:prstGeom>
          <a:noFill/>
        </p:spPr>
        <p:txBody>
          <a:bodyPr wrap="none" lIns="0" tIns="0" rIns="0" bIns="0" rtlCol="0" anchor="t">
            <a:spAutoFit/>
          </a:bodyPr>
          <a:lstStyle/>
          <a:p>
            <a:pPr marL="0" indent="0" algn="r">
              <a:buNone/>
            </a:pPr>
            <a:r>
              <a:rPr lang="en-US" sz="935" b="1" dirty="0">
                <a:solidFill>
                  <a:srgbClr val="00FF9C"/>
                </a:solidFill>
                <a:latin typeface="Poppins SemiBold" pitchFamily="34" charset="0"/>
                <a:ea typeface="Poppins SemiBold" pitchFamily="34" charset="-122"/>
                <a:cs typeface="Poppins SemiBold" pitchFamily="34" charset="-120"/>
              </a:rPr>
              <a:t>SHA256</a:t>
            </a:r>
            <a:endParaRPr lang="en-US" sz="935" dirty="0"/>
          </a:p>
        </p:txBody>
      </p:sp>
      <p:sp>
        <p:nvSpPr>
          <p:cNvPr id="27" name="Text 22"/>
          <p:cNvSpPr/>
          <p:nvPr/>
        </p:nvSpPr>
        <p:spPr>
          <a:xfrm>
            <a:off x="6191251" y="3754040"/>
            <a:ext cx="3952875" cy="153670"/>
          </a:xfrm>
          <a:prstGeom prst="rect">
            <a:avLst/>
          </a:prstGeom>
          <a:noFill/>
        </p:spPr>
        <p:txBody>
          <a:bodyPr wrap="square" lIns="0" tIns="0" rIns="0" bIns="0" rtlCol="0" anchor="t">
            <a:spAutoFit/>
          </a:bodyPr>
          <a:lstStyle/>
          <a:p>
            <a:pPr marL="0" indent="0" algn="l">
              <a:buNone/>
            </a:pPr>
            <a:r>
              <a:rPr lang="en-US" sz="1000" dirty="0">
                <a:solidFill>
                  <a:srgbClr val="E6EDF3"/>
                </a:solidFill>
                <a:latin typeface="JetBrains Mono Medium" pitchFamily="34" charset="0"/>
                <a:ea typeface="JetBrains Mono Medium" pitchFamily="34" charset="-122"/>
                <a:cs typeface="JetBrains Mono Medium" pitchFamily="34" charset="-120"/>
              </a:rPr>
              <a:t>Starts with $2a$ or $2y$</a:t>
            </a:r>
            <a:endParaRPr lang="en-US" sz="1000" dirty="0"/>
          </a:p>
        </p:txBody>
      </p:sp>
      <p:sp>
        <p:nvSpPr>
          <p:cNvPr id="28" name="Text 23"/>
          <p:cNvSpPr/>
          <p:nvPr/>
        </p:nvSpPr>
        <p:spPr>
          <a:xfrm>
            <a:off x="11234421" y="3740944"/>
            <a:ext cx="338455" cy="144145"/>
          </a:xfrm>
          <a:prstGeom prst="rect">
            <a:avLst/>
          </a:prstGeom>
          <a:noFill/>
        </p:spPr>
        <p:txBody>
          <a:bodyPr wrap="none" lIns="0" tIns="0" rIns="0" bIns="0" rtlCol="0" anchor="t">
            <a:spAutoFit/>
          </a:bodyPr>
          <a:lstStyle/>
          <a:p>
            <a:pPr marL="0" indent="0" algn="r">
              <a:buNone/>
            </a:pPr>
            <a:r>
              <a:rPr lang="en-US" sz="935" b="1" dirty="0">
                <a:solidFill>
                  <a:srgbClr val="00FF9C"/>
                </a:solidFill>
                <a:latin typeface="Poppins SemiBold" pitchFamily="34" charset="0"/>
                <a:ea typeface="Poppins SemiBold" pitchFamily="34" charset="-122"/>
                <a:cs typeface="Poppins SemiBold" pitchFamily="34" charset="-120"/>
              </a:rPr>
              <a:t>bcrypt</a:t>
            </a:r>
            <a:endParaRPr lang="en-US" sz="935" dirty="0"/>
          </a:p>
        </p:txBody>
      </p:sp>
      <p:pic>
        <p:nvPicPr>
          <p:cNvPr id="29" name="Image 3" descr="preencoded.png"/>
          <p:cNvPicPr>
            <a:picLocks noChangeAspect="1"/>
          </p:cNvPicPr>
          <p:nvPr/>
        </p:nvPicPr>
        <p:blipFill>
          <a:blip r:embed="rId4"/>
          <a:stretch>
            <a:fillRect/>
          </a:stretch>
        </p:blipFill>
        <p:spPr>
          <a:xfrm>
            <a:off x="619125" y="4371975"/>
            <a:ext cx="190500" cy="171451"/>
          </a:xfrm>
          <a:prstGeom prst="rect">
            <a:avLst/>
          </a:prstGeom>
        </p:spPr>
      </p:pic>
      <p:sp>
        <p:nvSpPr>
          <p:cNvPr id="30" name="Text 24"/>
          <p:cNvSpPr/>
          <p:nvPr/>
        </p:nvSpPr>
        <p:spPr>
          <a:xfrm>
            <a:off x="904875" y="4329112"/>
            <a:ext cx="2005012" cy="194310"/>
          </a:xfrm>
          <a:prstGeom prst="rect">
            <a:avLst/>
          </a:prstGeom>
          <a:noFill/>
        </p:spPr>
        <p:txBody>
          <a:bodyPr wrap="square" lIns="0" tIns="0" rIns="0" bIns="0" rtlCol="0" anchor="t">
            <a:spAutoFit/>
          </a:bodyPr>
          <a:lstStyle/>
          <a:p>
            <a:pPr marL="0" indent="0" algn="l">
              <a:buNone/>
            </a:pPr>
            <a:r>
              <a:rPr lang="en-US" sz="1265" kern="0" spc="2" dirty="0">
                <a:solidFill>
                  <a:srgbClr val="58A6FF"/>
                </a:solidFill>
                <a:latin typeface="Poppins SemiBold" pitchFamily="34" charset="0"/>
                <a:ea typeface="Poppins SemiBold" pitchFamily="34" charset="-122"/>
                <a:cs typeface="Poppins SemiBold" pitchFamily="34" charset="-120"/>
              </a:rPr>
              <a:t>CLASSICAL CIPHERS</a:t>
            </a:r>
            <a:endParaRPr lang="en-US" sz="1265" dirty="0"/>
          </a:p>
        </p:txBody>
      </p:sp>
      <p:sp>
        <p:nvSpPr>
          <p:cNvPr id="31" name="Text 25"/>
          <p:cNvSpPr/>
          <p:nvPr/>
        </p:nvSpPr>
        <p:spPr>
          <a:xfrm>
            <a:off x="619125" y="4847035"/>
            <a:ext cx="3952875" cy="153670"/>
          </a:xfrm>
          <a:prstGeom prst="rect">
            <a:avLst/>
          </a:prstGeom>
          <a:noFill/>
        </p:spPr>
        <p:txBody>
          <a:bodyPr wrap="square" lIns="0" tIns="0" rIns="0" bIns="0" rtlCol="0" anchor="t">
            <a:spAutoFit/>
          </a:bodyPr>
          <a:lstStyle/>
          <a:p>
            <a:pPr marL="0" indent="0" algn="l">
              <a:buNone/>
            </a:pPr>
            <a:r>
              <a:rPr lang="en-US" sz="1000" dirty="0">
                <a:solidFill>
                  <a:srgbClr val="E6EDF3"/>
                </a:solidFill>
                <a:latin typeface="JetBrains Mono Medium" pitchFamily="34" charset="0"/>
                <a:ea typeface="JetBrains Mono Medium" pitchFamily="34" charset="-122"/>
                <a:cs typeface="JetBrains Mono Medium" pitchFamily="34" charset="-120"/>
              </a:rPr>
              <a:t>Letters shifted uniformly</a:t>
            </a:r>
            <a:endParaRPr lang="en-US" sz="1000" dirty="0"/>
          </a:p>
        </p:txBody>
      </p:sp>
      <p:sp>
        <p:nvSpPr>
          <p:cNvPr id="32" name="Text 26"/>
          <p:cNvSpPr/>
          <p:nvPr/>
        </p:nvSpPr>
        <p:spPr>
          <a:xfrm>
            <a:off x="5178426" y="4833937"/>
            <a:ext cx="822325" cy="144145"/>
          </a:xfrm>
          <a:prstGeom prst="rect">
            <a:avLst/>
          </a:prstGeom>
          <a:noFill/>
        </p:spPr>
        <p:txBody>
          <a:bodyPr wrap="none" lIns="0" tIns="0" rIns="0" bIns="0" rtlCol="0" anchor="t">
            <a:spAutoFit/>
          </a:bodyPr>
          <a:lstStyle/>
          <a:p>
            <a:pPr marL="0" indent="0" algn="r">
              <a:buNone/>
            </a:pPr>
            <a:r>
              <a:rPr lang="en-US" sz="935" b="1" dirty="0">
                <a:solidFill>
                  <a:srgbClr val="00FF9C"/>
                </a:solidFill>
                <a:latin typeface="Poppins SemiBold" pitchFamily="34" charset="0"/>
                <a:ea typeface="Poppins SemiBold" pitchFamily="34" charset="-122"/>
                <a:cs typeface="Poppins SemiBold" pitchFamily="34" charset="-120"/>
              </a:rPr>
              <a:t>Caesar / ROT13</a:t>
            </a:r>
            <a:endParaRPr lang="en-US" sz="935" dirty="0"/>
          </a:p>
        </p:txBody>
      </p:sp>
      <p:sp>
        <p:nvSpPr>
          <p:cNvPr id="33" name="Text 27"/>
          <p:cNvSpPr/>
          <p:nvPr/>
        </p:nvSpPr>
        <p:spPr>
          <a:xfrm>
            <a:off x="619125" y="5297091"/>
            <a:ext cx="3952875" cy="153670"/>
          </a:xfrm>
          <a:prstGeom prst="rect">
            <a:avLst/>
          </a:prstGeom>
          <a:noFill/>
        </p:spPr>
        <p:txBody>
          <a:bodyPr wrap="square" lIns="0" tIns="0" rIns="0" bIns="0" rtlCol="0" anchor="t">
            <a:spAutoFit/>
          </a:bodyPr>
          <a:lstStyle/>
          <a:p>
            <a:pPr marL="0" indent="0" algn="l">
              <a:buNone/>
            </a:pPr>
            <a:r>
              <a:rPr lang="en-US" sz="1000" dirty="0">
                <a:solidFill>
                  <a:srgbClr val="E6EDF3"/>
                </a:solidFill>
                <a:latin typeface="JetBrains Mono Medium" pitchFamily="34" charset="0"/>
                <a:ea typeface="JetBrains Mono Medium" pitchFamily="34" charset="-122"/>
                <a:cs typeface="JetBrains Mono Medium" pitchFamily="34" charset="-120"/>
              </a:rPr>
              <a:t>Letters shifted variably</a:t>
            </a:r>
            <a:endParaRPr lang="en-US" sz="1000" dirty="0"/>
          </a:p>
        </p:txBody>
      </p:sp>
      <p:sp>
        <p:nvSpPr>
          <p:cNvPr id="34" name="Text 28"/>
          <p:cNvSpPr/>
          <p:nvPr/>
        </p:nvSpPr>
        <p:spPr>
          <a:xfrm>
            <a:off x="5534026" y="5283993"/>
            <a:ext cx="466725" cy="144145"/>
          </a:xfrm>
          <a:prstGeom prst="rect">
            <a:avLst/>
          </a:prstGeom>
          <a:noFill/>
        </p:spPr>
        <p:txBody>
          <a:bodyPr wrap="none" lIns="0" tIns="0" rIns="0" bIns="0" rtlCol="0" anchor="t">
            <a:spAutoFit/>
          </a:bodyPr>
          <a:lstStyle/>
          <a:p>
            <a:pPr marL="0" indent="0" algn="r">
              <a:buNone/>
            </a:pPr>
            <a:r>
              <a:rPr lang="en-US" sz="935" b="1" dirty="0">
                <a:solidFill>
                  <a:srgbClr val="00FF9C"/>
                </a:solidFill>
                <a:latin typeface="Poppins SemiBold" pitchFamily="34" charset="0"/>
                <a:ea typeface="Poppins SemiBold" pitchFamily="34" charset="-122"/>
                <a:cs typeface="Poppins SemiBold" pitchFamily="34" charset="-120"/>
              </a:rPr>
              <a:t>Vigenère</a:t>
            </a:r>
            <a:endParaRPr lang="en-US" sz="935" dirty="0"/>
          </a:p>
        </p:txBody>
      </p:sp>
      <p:sp>
        <p:nvSpPr>
          <p:cNvPr id="35" name="Text 29"/>
          <p:cNvSpPr/>
          <p:nvPr/>
        </p:nvSpPr>
        <p:spPr>
          <a:xfrm>
            <a:off x="619125" y="5747147"/>
            <a:ext cx="3952875" cy="153670"/>
          </a:xfrm>
          <a:prstGeom prst="rect">
            <a:avLst/>
          </a:prstGeom>
          <a:noFill/>
        </p:spPr>
        <p:txBody>
          <a:bodyPr wrap="square" lIns="0" tIns="0" rIns="0" bIns="0" rtlCol="0" anchor="t">
            <a:spAutoFit/>
          </a:bodyPr>
          <a:lstStyle/>
          <a:p>
            <a:pPr marL="0" indent="0" algn="l">
              <a:buNone/>
            </a:pPr>
            <a:r>
              <a:rPr lang="en-US" sz="1000" dirty="0">
                <a:solidFill>
                  <a:srgbClr val="E6EDF3"/>
                </a:solidFill>
                <a:latin typeface="JetBrains Mono Medium" pitchFamily="34" charset="0"/>
                <a:ea typeface="JetBrains Mono Medium" pitchFamily="34" charset="-122"/>
                <a:cs typeface="JetBrains Mono Medium" pitchFamily="34" charset="-120"/>
              </a:rPr>
              <a:t>Keyboard pattern (e.g., QWERTY)</a:t>
            </a:r>
            <a:endParaRPr lang="en-US" sz="1000" dirty="0"/>
          </a:p>
        </p:txBody>
      </p:sp>
      <p:sp>
        <p:nvSpPr>
          <p:cNvPr id="36" name="Text 30"/>
          <p:cNvSpPr/>
          <p:nvPr/>
        </p:nvSpPr>
        <p:spPr>
          <a:xfrm>
            <a:off x="5354321" y="5734051"/>
            <a:ext cx="646430" cy="144145"/>
          </a:xfrm>
          <a:prstGeom prst="rect">
            <a:avLst/>
          </a:prstGeom>
          <a:noFill/>
        </p:spPr>
        <p:txBody>
          <a:bodyPr wrap="none" lIns="0" tIns="0" rIns="0" bIns="0" rtlCol="0" anchor="t">
            <a:spAutoFit/>
          </a:bodyPr>
          <a:lstStyle/>
          <a:p>
            <a:pPr marL="0" indent="0" algn="r">
              <a:buNone/>
            </a:pPr>
            <a:r>
              <a:rPr lang="en-US" sz="935" b="1" dirty="0">
                <a:solidFill>
                  <a:srgbClr val="00FF9C"/>
                </a:solidFill>
                <a:latin typeface="Poppins SemiBold" pitchFamily="34" charset="0"/>
                <a:ea typeface="Poppins SemiBold" pitchFamily="34" charset="-122"/>
                <a:cs typeface="Poppins SemiBold" pitchFamily="34" charset="-120"/>
              </a:rPr>
              <a:t>Substitution</a:t>
            </a:r>
            <a:endParaRPr lang="en-US" sz="935" dirty="0"/>
          </a:p>
        </p:txBody>
      </p:sp>
      <p:pic>
        <p:nvPicPr>
          <p:cNvPr id="37" name="Image 4" descr="preencoded.png"/>
          <p:cNvPicPr>
            <a:picLocks noChangeAspect="1"/>
          </p:cNvPicPr>
          <p:nvPr/>
        </p:nvPicPr>
        <p:blipFill>
          <a:blip r:embed="rId5"/>
          <a:stretch>
            <a:fillRect/>
          </a:stretch>
        </p:blipFill>
        <p:spPr>
          <a:xfrm>
            <a:off x="6191251" y="4371975"/>
            <a:ext cx="190500" cy="171451"/>
          </a:xfrm>
          <a:prstGeom prst="rect">
            <a:avLst/>
          </a:prstGeom>
        </p:spPr>
      </p:pic>
      <p:sp>
        <p:nvSpPr>
          <p:cNvPr id="38" name="Text 31"/>
          <p:cNvSpPr/>
          <p:nvPr/>
        </p:nvSpPr>
        <p:spPr>
          <a:xfrm>
            <a:off x="6477000" y="4329112"/>
            <a:ext cx="644525" cy="194310"/>
          </a:xfrm>
          <a:prstGeom prst="rect">
            <a:avLst/>
          </a:prstGeom>
          <a:noFill/>
        </p:spPr>
        <p:txBody>
          <a:bodyPr wrap="none" lIns="0" tIns="0" rIns="0" bIns="0" rtlCol="0" anchor="t">
            <a:spAutoFit/>
          </a:bodyPr>
          <a:lstStyle/>
          <a:p>
            <a:pPr marL="0" indent="0" algn="l">
              <a:buNone/>
            </a:pPr>
            <a:r>
              <a:rPr lang="en-US" sz="1265" kern="0" spc="2" dirty="0">
                <a:solidFill>
                  <a:srgbClr val="58A6FF"/>
                </a:solidFill>
                <a:latin typeface="Poppins SemiBold" pitchFamily="34" charset="0"/>
                <a:ea typeface="Poppins SemiBold" pitchFamily="34" charset="-122"/>
                <a:cs typeface="Poppins SemiBold" pitchFamily="34" charset="-120"/>
              </a:rPr>
              <a:t>MODERN</a:t>
            </a:r>
            <a:endParaRPr lang="en-US" sz="1265" dirty="0"/>
          </a:p>
        </p:txBody>
      </p:sp>
      <p:sp>
        <p:nvSpPr>
          <p:cNvPr id="39" name="Text 32"/>
          <p:cNvSpPr/>
          <p:nvPr/>
        </p:nvSpPr>
        <p:spPr>
          <a:xfrm>
            <a:off x="6191251" y="4847035"/>
            <a:ext cx="3952875" cy="153670"/>
          </a:xfrm>
          <a:prstGeom prst="rect">
            <a:avLst/>
          </a:prstGeom>
          <a:noFill/>
        </p:spPr>
        <p:txBody>
          <a:bodyPr wrap="square" lIns="0" tIns="0" rIns="0" bIns="0" rtlCol="0" anchor="t">
            <a:spAutoFit/>
          </a:bodyPr>
          <a:lstStyle/>
          <a:p>
            <a:pPr marL="0" indent="0" algn="l">
              <a:buNone/>
            </a:pPr>
            <a:r>
              <a:rPr lang="en-US" sz="1000" dirty="0">
                <a:solidFill>
                  <a:srgbClr val="E6EDF3"/>
                </a:solidFill>
                <a:latin typeface="JetBrains Mono Medium" pitchFamily="34" charset="0"/>
                <a:ea typeface="JetBrains Mono Medium" pitchFamily="34" charset="-122"/>
                <a:cs typeface="JetBrains Mono Medium" pitchFamily="34" charset="-120"/>
              </a:rPr>
              <a:t>Random-looking bytes/hex</a:t>
            </a:r>
            <a:endParaRPr lang="en-US" sz="1000" dirty="0"/>
          </a:p>
        </p:txBody>
      </p:sp>
      <p:sp>
        <p:nvSpPr>
          <p:cNvPr id="40" name="Text 33"/>
          <p:cNvSpPr/>
          <p:nvPr/>
        </p:nvSpPr>
        <p:spPr>
          <a:xfrm>
            <a:off x="11033126" y="4833937"/>
            <a:ext cx="539750" cy="144145"/>
          </a:xfrm>
          <a:prstGeom prst="rect">
            <a:avLst/>
          </a:prstGeom>
          <a:noFill/>
        </p:spPr>
        <p:txBody>
          <a:bodyPr wrap="none" lIns="0" tIns="0" rIns="0" bIns="0" rtlCol="0" anchor="t">
            <a:spAutoFit/>
          </a:bodyPr>
          <a:lstStyle/>
          <a:p>
            <a:pPr marL="0" indent="0" algn="r">
              <a:buNone/>
            </a:pPr>
            <a:r>
              <a:rPr lang="en-US" sz="935" b="1" dirty="0">
                <a:solidFill>
                  <a:srgbClr val="00FF9C"/>
                </a:solidFill>
                <a:latin typeface="Poppins SemiBold" pitchFamily="34" charset="0"/>
                <a:ea typeface="Poppins SemiBold" pitchFamily="34" charset="-122"/>
                <a:cs typeface="Poppins SemiBold" pitchFamily="34" charset="-120"/>
              </a:rPr>
              <a:t>XOR / AES</a:t>
            </a:r>
            <a:endParaRPr lang="en-US" sz="935" dirty="0"/>
          </a:p>
        </p:txBody>
      </p:sp>
      <p:sp>
        <p:nvSpPr>
          <p:cNvPr id="41" name="Text 34"/>
          <p:cNvSpPr/>
          <p:nvPr/>
        </p:nvSpPr>
        <p:spPr>
          <a:xfrm>
            <a:off x="6191251" y="5297091"/>
            <a:ext cx="3952875" cy="153670"/>
          </a:xfrm>
          <a:prstGeom prst="rect">
            <a:avLst/>
          </a:prstGeom>
          <a:noFill/>
        </p:spPr>
        <p:txBody>
          <a:bodyPr wrap="square" lIns="0" tIns="0" rIns="0" bIns="0" rtlCol="0" anchor="t">
            <a:spAutoFit/>
          </a:bodyPr>
          <a:lstStyle/>
          <a:p>
            <a:pPr marL="0" indent="0" algn="l">
              <a:buNone/>
            </a:pPr>
            <a:r>
              <a:rPr lang="en-US" sz="1000" dirty="0">
                <a:solidFill>
                  <a:srgbClr val="E6EDF3"/>
                </a:solidFill>
                <a:latin typeface="JetBrains Mono Medium" pitchFamily="34" charset="0"/>
                <a:ea typeface="JetBrains Mono Medium" pitchFamily="34" charset="-122"/>
                <a:cs typeface="JetBrains Mono Medium" pitchFamily="34" charset="-120"/>
              </a:rPr>
              <a:t>Very large numbers (n, e, c)</a:t>
            </a:r>
            <a:endParaRPr lang="en-US" sz="1000" dirty="0"/>
          </a:p>
        </p:txBody>
      </p:sp>
      <p:sp>
        <p:nvSpPr>
          <p:cNvPr id="42" name="Text 35"/>
          <p:cNvSpPr/>
          <p:nvPr/>
        </p:nvSpPr>
        <p:spPr>
          <a:xfrm>
            <a:off x="11371581" y="5283993"/>
            <a:ext cx="201295" cy="144145"/>
          </a:xfrm>
          <a:prstGeom prst="rect">
            <a:avLst/>
          </a:prstGeom>
          <a:noFill/>
        </p:spPr>
        <p:txBody>
          <a:bodyPr wrap="none" lIns="0" tIns="0" rIns="0" bIns="0" rtlCol="0" anchor="t">
            <a:spAutoFit/>
          </a:bodyPr>
          <a:lstStyle/>
          <a:p>
            <a:pPr marL="0" indent="0" algn="r">
              <a:buNone/>
            </a:pPr>
            <a:r>
              <a:rPr lang="en-US" sz="935" b="1" dirty="0">
                <a:solidFill>
                  <a:srgbClr val="00FF9C"/>
                </a:solidFill>
                <a:latin typeface="Poppins SemiBold" pitchFamily="34" charset="0"/>
                <a:ea typeface="Poppins SemiBold" pitchFamily="34" charset="-122"/>
                <a:cs typeface="Poppins SemiBold" pitchFamily="34" charset="-120"/>
              </a:rPr>
              <a:t>RSA</a:t>
            </a:r>
            <a:endParaRPr lang="en-US" sz="935" dirty="0"/>
          </a:p>
        </p:txBody>
      </p:sp>
      <p:sp>
        <p:nvSpPr>
          <p:cNvPr id="43" name="Shape 36"/>
          <p:cNvSpPr/>
          <p:nvPr/>
        </p:nvSpPr>
        <p:spPr>
          <a:xfrm>
            <a:off x="381000" y="6322219"/>
            <a:ext cx="11430000" cy="345281"/>
          </a:xfrm>
          <a:prstGeom prst="rect">
            <a:avLst/>
          </a:prstGeom>
          <a:solidFill>
            <a:srgbClr val="E3B341">
              <a:alpha val="10000"/>
            </a:srgbClr>
          </a:solidFill>
          <a:ln w="9144">
            <a:solidFill>
              <a:srgbClr val="E3B341"/>
            </a:solidFill>
            <a:prstDash val="solid"/>
          </a:ln>
        </p:spPr>
      </p:sp>
      <p:pic>
        <p:nvPicPr>
          <p:cNvPr id="44" name="Image 5" descr="preencoded.png"/>
          <p:cNvPicPr>
            <a:picLocks noChangeAspect="1"/>
          </p:cNvPicPr>
          <p:nvPr/>
        </p:nvPicPr>
        <p:blipFill>
          <a:blip r:embed="rId6"/>
          <a:stretch>
            <a:fillRect/>
          </a:stretch>
        </p:blipFill>
        <p:spPr>
          <a:xfrm>
            <a:off x="571500" y="6499621"/>
            <a:ext cx="114300" cy="152400"/>
          </a:xfrm>
          <a:prstGeom prst="rect">
            <a:avLst/>
          </a:prstGeom>
        </p:spPr>
      </p:pic>
      <p:sp>
        <p:nvSpPr>
          <p:cNvPr id="45" name="Text 37"/>
          <p:cNvSpPr/>
          <p:nvPr/>
        </p:nvSpPr>
        <p:spPr>
          <a:xfrm>
            <a:off x="828675" y="6484144"/>
            <a:ext cx="9351169" cy="174625"/>
          </a:xfrm>
          <a:prstGeom prst="rect">
            <a:avLst/>
          </a:prstGeom>
          <a:noFill/>
        </p:spPr>
        <p:txBody>
          <a:bodyPr wrap="square" lIns="0" tIns="0" rIns="0" bIns="0" rtlCol="0" anchor="t">
            <a:spAutoFit/>
          </a:bodyPr>
          <a:lstStyle/>
          <a:p>
            <a:pPr marL="0" indent="0" algn="l">
              <a:buNone/>
            </a:pPr>
            <a:r>
              <a:rPr lang="en-US" sz="1065" b="1" dirty="0">
                <a:solidFill>
                  <a:srgbClr val="E3B341"/>
                </a:solidFill>
                <a:latin typeface="Inter" pitchFamily="34" charset="0"/>
                <a:ea typeface="Inter" pitchFamily="34" charset="-122"/>
                <a:cs typeface="Inter" pitchFamily="34" charset="-120"/>
              </a:rPr>
              <a:t>Pro Tip:</a:t>
            </a:r>
            <a:r>
              <a:rPr lang="en-US" sz="1135" dirty="0">
                <a:solidFill>
                  <a:srgbClr val="E3B341"/>
                </a:solidFill>
                <a:latin typeface="Inter" pitchFamily="34" charset="0"/>
                <a:ea typeface="Inter" pitchFamily="34" charset="-122"/>
                <a:cs typeface="Inter" pitchFamily="34" charset="-120"/>
              </a:rPr>
              <a:t> Use </a:t>
            </a:r>
            <a:r>
              <a:rPr lang="en-US" sz="1065" b="1" dirty="0">
                <a:solidFill>
                  <a:srgbClr val="E3B341"/>
                </a:solidFill>
                <a:latin typeface="Inter" pitchFamily="34" charset="0"/>
                <a:ea typeface="Inter" pitchFamily="34" charset="-122"/>
                <a:cs typeface="Inter" pitchFamily="34" charset="-120"/>
              </a:rPr>
              <a:t>dcode.fr</a:t>
            </a:r>
            <a:r>
              <a:rPr lang="en-US" sz="1135" dirty="0">
                <a:solidFill>
                  <a:srgbClr val="E3B341"/>
                </a:solidFill>
                <a:latin typeface="Inter" pitchFamily="34" charset="0"/>
                <a:ea typeface="Inter" pitchFamily="34" charset="-122"/>
                <a:cs typeface="Inter" pitchFamily="34" charset="-120"/>
              </a:rPr>
              <a:t> or </a:t>
            </a:r>
            <a:r>
              <a:rPr lang="en-US" sz="1065" b="1" dirty="0">
                <a:solidFill>
                  <a:srgbClr val="E3B341"/>
                </a:solidFill>
                <a:latin typeface="Inter" pitchFamily="34" charset="0"/>
                <a:ea typeface="Inter" pitchFamily="34" charset="-122"/>
                <a:cs typeface="Inter" pitchFamily="34" charset="-120"/>
              </a:rPr>
              <a:t>CyberChef</a:t>
            </a:r>
            <a:r>
              <a:rPr lang="en-US" sz="1135" dirty="0">
                <a:solidFill>
                  <a:srgbClr val="E3B341"/>
                </a:solidFill>
                <a:latin typeface="Inter" pitchFamily="34" charset="0"/>
                <a:ea typeface="Inter" pitchFamily="34" charset="-122"/>
                <a:cs typeface="Inter" pitchFamily="34" charset="-120"/>
              </a:rPr>
              <a:t>'s "Magic" operation if you're still stuck. They can identify thousands of formats automatically!</a:t>
            </a:r>
            <a:endParaRPr lang="en-US" sz="1065" dirty="0"/>
          </a:p>
        </p:txBody>
      </p:sp>
      <p:grpSp>
        <p:nvGrpSpPr>
          <p:cNvPr id="46" name="Group 2"/>
          <p:cNvGrpSpPr/>
          <p:nvPr/>
        </p:nvGrpSpPr>
        <p:grpSpPr>
          <a:xfrm rot="0">
            <a:off x="294640" y="194310"/>
            <a:ext cx="789305" cy="299720"/>
            <a:chOff x="0" y="0"/>
            <a:chExt cx="341337" cy="102463"/>
          </a:xfrm>
        </p:grpSpPr>
        <p:sp>
          <p:nvSpPr>
            <p:cNvPr id="47"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8"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9" name="Group 5"/>
          <p:cNvGrpSpPr/>
          <p:nvPr/>
        </p:nvGrpSpPr>
        <p:grpSpPr>
          <a:xfrm rot="0">
            <a:off x="822325" y="209550"/>
            <a:ext cx="220980" cy="246380"/>
            <a:chOff x="0" y="0"/>
            <a:chExt cx="812800" cy="812800"/>
          </a:xfrm>
        </p:grpSpPr>
        <p:sp>
          <p:nvSpPr>
            <p:cNvPr id="50"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1"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52"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98056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64 | EWUCSC</a:t>
            </a:r>
            <a:endParaRPr lang="en-US" sz="1265" dirty="0"/>
          </a:p>
        </p:txBody>
      </p:sp>
      <p:sp>
        <p:nvSpPr>
          <p:cNvPr id="7" name="Text 4"/>
          <p:cNvSpPr/>
          <p:nvPr/>
        </p:nvSpPr>
        <p:spPr>
          <a:xfrm>
            <a:off x="381000" y="952500"/>
            <a:ext cx="55245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CTF Challenge #4: The Full Chain</a:t>
            </a:r>
            <a:endParaRPr lang="en-US" sz="2800" dirty="0"/>
          </a:p>
        </p:txBody>
      </p:sp>
      <p:sp>
        <p:nvSpPr>
          <p:cNvPr id="8" name="Text 5"/>
          <p:cNvSpPr/>
          <p:nvPr/>
        </p:nvSpPr>
        <p:spPr>
          <a:xfrm>
            <a:off x="381000" y="2438400"/>
            <a:ext cx="5524500" cy="389255"/>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Inter" pitchFamily="34" charset="0"/>
                <a:ea typeface="Inter" pitchFamily="34" charset="-122"/>
                <a:cs typeface="Inter" pitchFamily="34" charset="-120"/>
              </a:rPr>
              <a:t>You intercept this message from a CTF server. It combines multiple concepts we've learned today.</a:t>
            </a:r>
            <a:endParaRPr lang="en-US" sz="1265" dirty="0"/>
          </a:p>
        </p:txBody>
      </p:sp>
      <p:sp>
        <p:nvSpPr>
          <p:cNvPr id="9" name="Shape 6"/>
          <p:cNvSpPr/>
          <p:nvPr/>
        </p:nvSpPr>
        <p:spPr>
          <a:xfrm>
            <a:off x="381000" y="3043237"/>
            <a:ext cx="5524500" cy="3937323"/>
          </a:xfrm>
          <a:prstGeom prst="rect">
            <a:avLst/>
          </a:prstGeom>
          <a:solidFill>
            <a:srgbClr val="0D1117"/>
          </a:solidFill>
          <a:ln w="9144">
            <a:solidFill>
              <a:srgbClr val="30363D"/>
            </a:solidFill>
            <a:prstDash val="solid"/>
          </a:ln>
        </p:spPr>
      </p:sp>
      <p:sp>
        <p:nvSpPr>
          <p:cNvPr id="10" name="Shape 7"/>
          <p:cNvSpPr/>
          <p:nvPr/>
        </p:nvSpPr>
        <p:spPr>
          <a:xfrm>
            <a:off x="381000" y="3043237"/>
            <a:ext cx="5524500" cy="314325"/>
          </a:xfrm>
          <a:prstGeom prst="rect">
            <a:avLst/>
          </a:prstGeom>
          <a:solidFill>
            <a:srgbClr val="161B22"/>
          </a:solidFill>
        </p:spPr>
      </p:sp>
      <p:sp>
        <p:nvSpPr>
          <p:cNvPr id="11" name="Shape 8"/>
          <p:cNvSpPr/>
          <p:nvPr/>
        </p:nvSpPr>
        <p:spPr>
          <a:xfrm>
            <a:off x="381000" y="3348037"/>
            <a:ext cx="5524500" cy="9525"/>
          </a:xfrm>
          <a:prstGeom prst="rect">
            <a:avLst/>
          </a:prstGeom>
          <a:solidFill>
            <a:srgbClr val="30363D"/>
          </a:solidFill>
        </p:spPr>
      </p:sp>
      <p:sp>
        <p:nvSpPr>
          <p:cNvPr id="12" name="Text 9"/>
          <p:cNvSpPr/>
          <p:nvPr/>
        </p:nvSpPr>
        <p:spPr>
          <a:xfrm>
            <a:off x="381000" y="3348037"/>
            <a:ext cx="5524500" cy="3368675"/>
          </a:xfrm>
          <a:prstGeom prst="rect">
            <a:avLst/>
          </a:prstGeom>
          <a:noFill/>
        </p:spPr>
        <p:txBody>
          <a:bodyPr wrap="square" lIns="226737" tIns="226737" rIns="226737" bIns="0" rtlCol="0" anchor="t">
            <a:spAutoFit/>
          </a:bodyPr>
          <a:lstStyle/>
          <a:p>
            <a:pPr marL="0" indent="0" algn="l">
              <a:lnSpc>
                <a:spcPct val="128000"/>
              </a:lnSpc>
              <a:buNone/>
            </a:pPr>
            <a:r>
              <a:rPr lang="en-US" sz="1135" dirty="0">
                <a:solidFill>
                  <a:srgbClr val="00FF9C"/>
                </a:solidFill>
                <a:latin typeface="JetBrains Mono Medium" pitchFamily="34" charset="0"/>
                <a:ea typeface="JetBrains Mono Medium" pitchFamily="34" charset="-122"/>
                <a:cs typeface="JetBrains Mono Medium" pitchFamily="34" charset="-120"/>
              </a:rPr>
              <a:t>user@ctf:~$</a:t>
            </a:r>
            <a:r>
              <a:rPr lang="en-US" sz="1135" dirty="0">
                <a:solidFill>
                  <a:srgbClr val="E6EDF3"/>
                </a:solidFill>
                <a:latin typeface="JetBrains Mono Medium" pitchFamily="34" charset="0"/>
                <a:ea typeface="JetBrains Mono Medium" pitchFamily="34" charset="-122"/>
                <a:cs typeface="JetBrains Mono Medium" pitchFamily="34" charset="-120"/>
              </a:rPr>
              <a:t> cat intercepted_message.txt
</a:t>
            </a:r>
            <a:r>
              <a:rPr lang="en-US" sz="1135" dirty="0">
                <a:solidFill>
                  <a:srgbClr val="E3B341"/>
                </a:solidFill>
                <a:latin typeface="JetBrains Mono Medium" pitchFamily="34" charset="0"/>
                <a:ea typeface="JetBrains Mono Medium" pitchFamily="34" charset="-122"/>
                <a:cs typeface="JetBrains Mono Medium" pitchFamily="34" charset="-120"/>
              </a:rPr>
              <a:t>U2FsdGVkX1+...</a:t>
            </a:r>
            <a:r>
              <a:rPr lang="en-US" sz="1135" dirty="0">
                <a:solidFill>
                  <a:srgbClr val="E6EDF3"/>
                </a:solidFill>
                <a:latin typeface="JetBrains Mono Medium" pitchFamily="34" charset="0"/>
                <a:ea typeface="JetBrains Mono Medium" pitchFamily="34" charset="-122"/>
                <a:cs typeface="JetBrains Mono Medium" pitchFamily="34" charset="-120"/>
              </a:rPr>
              <a:t> </a:t>
            </a:r>
            <a:r>
              <a:rPr lang="en-US" sz="1135" dirty="0">
                <a:solidFill>
                  <a:srgbClr val="8B949E"/>
                </a:solidFill>
                <a:latin typeface="JetBrains Mono Medium" pitchFamily="34" charset="0"/>
                <a:ea typeface="JetBrains Mono Medium" pitchFamily="34" charset="-122"/>
                <a:cs typeface="JetBrains Mono Medium" pitchFamily="34" charset="-120"/>
              </a:rPr>
              <a:t>[AES encrypted, Base64 encoded]</a:t>
            </a:r>
            <a:r>
              <a:rPr lang="en-US" sz="1135" dirty="0">
                <a:solidFill>
                  <a:srgbClr val="E6EDF3"/>
                </a:solidFill>
                <a:latin typeface="JetBrains Mono Medium" pitchFamily="34" charset="0"/>
                <a:ea typeface="JetBrains Mono Medium" pitchFamily="34" charset="-122"/>
                <a:cs typeface="JetBrains Mono Medium" pitchFamily="34" charset="-120"/>
              </a:rPr>
              <a:t>
</a:t>
            </a:r>
            <a:r>
              <a:rPr lang="en-US" sz="1135" dirty="0">
                <a:solidFill>
                  <a:srgbClr val="00FF9C"/>
                </a:solidFill>
                <a:latin typeface="JetBrains Mono Medium" pitchFamily="34" charset="0"/>
                <a:ea typeface="JetBrains Mono Medium" pitchFamily="34" charset="-122"/>
                <a:cs typeface="JetBrains Mono Medium" pitchFamily="34" charset="-120"/>
              </a:rPr>
              <a:t>user@ctf:~$</a:t>
            </a:r>
            <a:r>
              <a:rPr lang="en-US" sz="1135" dirty="0">
                <a:solidFill>
                  <a:srgbClr val="E6EDF3"/>
                </a:solidFill>
                <a:latin typeface="JetBrains Mono Medium" pitchFamily="34" charset="0"/>
                <a:ea typeface="JetBrains Mono Medium" pitchFamily="34" charset="-122"/>
                <a:cs typeface="JetBrains Mono Medium" pitchFamily="34" charset="-120"/>
              </a:rPr>
              <a:t> cat hints.txt
</a:t>
            </a:r>
            <a:r>
              <a:rPr lang="en-US" sz="1135" dirty="0">
                <a:solidFill>
                  <a:srgbClr val="8B949E"/>
                </a:solidFill>
                <a:latin typeface="JetBrains Mono Medium" pitchFamily="34" charset="0"/>
                <a:ea typeface="JetBrains Mono Medium" pitchFamily="34" charset="-122"/>
                <a:cs typeface="JetBrains Mono Medium" pitchFamily="34" charset="-120"/>
              </a:rPr>
              <a:t># HINT 1:</a:t>
            </a:r>
            <a:r>
              <a:rPr lang="en-US" sz="1135" dirty="0">
                <a:solidFill>
                  <a:srgbClr val="E6EDF3"/>
                </a:solidFill>
                <a:latin typeface="JetBrains Mono Medium" pitchFamily="34" charset="0"/>
                <a:ea typeface="JetBrains Mono Medium" pitchFamily="34" charset="-122"/>
                <a:cs typeface="JetBrains Mono Medium" pitchFamily="34" charset="-120"/>
              </a:rPr>
              <a:t>
The key is the MD5 hash of the string 'bootcamp2026'
</a:t>
            </a:r>
            <a:r>
              <a:rPr lang="en-US" sz="1135" dirty="0">
                <a:solidFill>
                  <a:srgbClr val="8B949E"/>
                </a:solidFill>
                <a:latin typeface="JetBrains Mono Medium" pitchFamily="34" charset="0"/>
                <a:ea typeface="JetBrains Mono Medium" pitchFamily="34" charset="-122"/>
                <a:cs typeface="JetBrains Mono Medium" pitchFamily="34" charset="-120"/>
              </a:rPr>
              <a:t># HINT 2:</a:t>
            </a:r>
            <a:r>
              <a:rPr lang="en-US" sz="1135" dirty="0">
                <a:solidFill>
                  <a:srgbClr val="E6EDF3"/>
                </a:solidFill>
                <a:latin typeface="JetBrains Mono Medium" pitchFamily="34" charset="0"/>
                <a:ea typeface="JetBrains Mono Medium" pitchFamily="34" charset="-122"/>
                <a:cs typeface="JetBrains Mono Medium" pitchFamily="34" charset="-120"/>
              </a:rPr>
              <a:t>
Mode is CBC.
IV is all zeros (0000000000000000).
</a:t>
            </a:r>
            <a:r>
              <a:rPr lang="en-US" sz="1135" dirty="0">
                <a:solidFill>
                  <a:srgbClr val="00FF9C"/>
                </a:solidFill>
                <a:latin typeface="JetBrains Mono Medium" pitchFamily="34" charset="0"/>
                <a:ea typeface="JetBrains Mono Medium" pitchFamily="34" charset="-122"/>
                <a:cs typeface="JetBrains Mono Medium" pitchFamily="34" charset="-120"/>
              </a:rPr>
              <a:t>user@ctf:~$</a:t>
            </a:r>
            <a:r>
              <a:rPr lang="en-US" sz="1135" dirty="0">
                <a:solidFill>
                  <a:srgbClr val="E6EDF3"/>
                </a:solidFill>
                <a:latin typeface="JetBrains Mono Medium" pitchFamily="34" charset="0"/>
                <a:ea typeface="JetBrains Mono Medium" pitchFamily="34" charset="-122"/>
                <a:cs typeface="JetBrains Mono Medium" pitchFamily="34" charset="-120"/>
              </a:rPr>
              <a:t> _</a:t>
            </a:r>
            <a:endParaRPr lang="en-US" sz="1135" dirty="0"/>
          </a:p>
        </p:txBody>
      </p:sp>
      <p:pic>
        <p:nvPicPr>
          <p:cNvPr id="13" name="Image 1" descr="preencoded.png"/>
          <p:cNvPicPr>
            <a:picLocks noChangeAspect="1"/>
          </p:cNvPicPr>
          <p:nvPr/>
        </p:nvPicPr>
        <p:blipFill>
          <a:blip r:embed="rId2"/>
          <a:stretch>
            <a:fillRect/>
          </a:stretch>
        </p:blipFill>
        <p:spPr>
          <a:xfrm>
            <a:off x="6286500" y="1004888"/>
            <a:ext cx="228600" cy="228600"/>
          </a:xfrm>
          <a:prstGeom prst="rect">
            <a:avLst/>
          </a:prstGeom>
        </p:spPr>
      </p:pic>
      <p:sp>
        <p:nvSpPr>
          <p:cNvPr id="14" name="Text 10"/>
          <p:cNvSpPr/>
          <p:nvPr/>
        </p:nvSpPr>
        <p:spPr>
          <a:xfrm>
            <a:off x="6515100" y="964407"/>
            <a:ext cx="2583656" cy="255905"/>
          </a:xfrm>
          <a:prstGeom prst="rect">
            <a:avLst/>
          </a:prstGeom>
          <a:noFill/>
        </p:spPr>
        <p:txBody>
          <a:bodyPr wrap="square" lIns="0" tIns="0" rIns="0" bIns="0" rtlCol="0" anchor="t">
            <a:spAutoFit/>
          </a:bodyPr>
          <a:lstStyle/>
          <a:p>
            <a:pPr marL="0" indent="0" algn="l">
              <a:buNone/>
            </a:pPr>
            <a:r>
              <a:rPr lang="en-US" sz="1665" dirty="0">
                <a:solidFill>
                  <a:srgbClr val="58A6FF"/>
                </a:solidFill>
                <a:latin typeface="Poppins SemiBold" pitchFamily="34" charset="0"/>
                <a:ea typeface="Poppins SemiBold" pitchFamily="34" charset="-122"/>
                <a:cs typeface="Poppins SemiBold" pitchFamily="34" charset="-120"/>
              </a:rPr>
              <a:t>Solution Walkthrough</a:t>
            </a:r>
            <a:endParaRPr lang="en-US" sz="1665" dirty="0"/>
          </a:p>
        </p:txBody>
      </p:sp>
      <p:sp>
        <p:nvSpPr>
          <p:cNvPr id="15" name="Shape 11"/>
          <p:cNvSpPr/>
          <p:nvPr/>
        </p:nvSpPr>
        <p:spPr>
          <a:xfrm>
            <a:off x="6286500" y="1593056"/>
            <a:ext cx="5524500" cy="1200151"/>
          </a:xfrm>
          <a:prstGeom prst="rect">
            <a:avLst/>
          </a:prstGeom>
          <a:solidFill>
            <a:srgbClr val="161B22"/>
          </a:solidFill>
        </p:spPr>
      </p:sp>
      <p:sp>
        <p:nvSpPr>
          <p:cNvPr id="16" name="Shape 12"/>
          <p:cNvSpPr/>
          <p:nvPr/>
        </p:nvSpPr>
        <p:spPr>
          <a:xfrm>
            <a:off x="6286500" y="1593056"/>
            <a:ext cx="38100" cy="1200151"/>
          </a:xfrm>
          <a:prstGeom prst="rect">
            <a:avLst/>
          </a:prstGeom>
          <a:solidFill>
            <a:srgbClr val="58A6FF"/>
          </a:solidFill>
        </p:spPr>
      </p:sp>
      <p:sp>
        <p:nvSpPr>
          <p:cNvPr id="17" name="Text 13"/>
          <p:cNvSpPr/>
          <p:nvPr/>
        </p:nvSpPr>
        <p:spPr>
          <a:xfrm>
            <a:off x="6477000" y="1735931"/>
            <a:ext cx="51435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Poppins SemiBold" pitchFamily="34" charset="0"/>
                <a:ea typeface="Poppins SemiBold" pitchFamily="34" charset="-122"/>
                <a:cs typeface="Poppins SemiBold" pitchFamily="34" charset="-120"/>
              </a:rPr>
              <a:t>STEP 1: COMPUTE THE KEY</a:t>
            </a:r>
            <a:endParaRPr lang="en-US" sz="1000" dirty="0"/>
          </a:p>
        </p:txBody>
      </p:sp>
      <p:sp>
        <p:nvSpPr>
          <p:cNvPr id="18" name="Text 14"/>
          <p:cNvSpPr/>
          <p:nvPr/>
        </p:nvSpPr>
        <p:spPr>
          <a:xfrm>
            <a:off x="6477000" y="1985963"/>
            <a:ext cx="5143500"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Inter" pitchFamily="34" charset="0"/>
                <a:ea typeface="Inter" pitchFamily="34" charset="-122"/>
                <a:cs typeface="Inter" pitchFamily="34" charset="-120"/>
              </a:rPr>
              <a:t>Hash the string 'bootcamp2026' using MD5.</a:t>
            </a:r>
            <a:endParaRPr lang="en-US" sz="1135" dirty="0"/>
          </a:p>
        </p:txBody>
      </p:sp>
      <p:sp>
        <p:nvSpPr>
          <p:cNvPr id="19" name="Shape 15"/>
          <p:cNvSpPr/>
          <p:nvPr/>
        </p:nvSpPr>
        <p:spPr>
          <a:xfrm>
            <a:off x="6477000" y="2264569"/>
            <a:ext cx="5143500" cy="385763"/>
          </a:xfrm>
          <a:prstGeom prst="rect">
            <a:avLst/>
          </a:prstGeom>
          <a:solidFill>
            <a:srgbClr val="0D1117"/>
          </a:solidFill>
          <a:ln w="9144">
            <a:solidFill>
              <a:srgbClr val="30363D"/>
            </a:solidFill>
            <a:prstDash val="solid"/>
          </a:ln>
        </p:spPr>
      </p:sp>
      <p:sp>
        <p:nvSpPr>
          <p:cNvPr id="20" name="Text 16"/>
          <p:cNvSpPr/>
          <p:nvPr/>
        </p:nvSpPr>
        <p:spPr>
          <a:xfrm>
            <a:off x="6477000" y="2264569"/>
            <a:ext cx="5143500" cy="379730"/>
          </a:xfrm>
          <a:prstGeom prst="rect">
            <a:avLst/>
          </a:prstGeom>
          <a:noFill/>
        </p:spPr>
        <p:txBody>
          <a:bodyPr wrap="square" lIns="113453" tIns="113453" rIns="113453" bIns="113453" rtlCol="0" anchor="t">
            <a:spAutoFit/>
          </a:bodyPr>
          <a:lstStyle/>
          <a:p>
            <a:pPr marL="0" indent="0" algn="l">
              <a:buNone/>
            </a:pPr>
            <a:r>
              <a:rPr lang="en-US" sz="1000" dirty="0">
                <a:solidFill>
                  <a:srgbClr val="00FF9C"/>
                </a:solidFill>
                <a:latin typeface="JetBrains Mono Medium" pitchFamily="34" charset="0"/>
                <a:ea typeface="JetBrains Mono Medium" pitchFamily="34" charset="-122"/>
                <a:cs typeface="JetBrains Mono Medium" pitchFamily="34" charset="-120"/>
              </a:rPr>
              <a:t>MD5('bootcamp2026') = 8b1a9953c4611296a827abf8c47804d7</a:t>
            </a:r>
            <a:endParaRPr lang="en-US" sz="1000" dirty="0"/>
          </a:p>
        </p:txBody>
      </p:sp>
      <p:sp>
        <p:nvSpPr>
          <p:cNvPr id="21" name="Shape 17"/>
          <p:cNvSpPr/>
          <p:nvPr/>
        </p:nvSpPr>
        <p:spPr>
          <a:xfrm>
            <a:off x="6286500" y="2964656"/>
            <a:ext cx="5524500" cy="1728788"/>
          </a:xfrm>
          <a:prstGeom prst="rect">
            <a:avLst/>
          </a:prstGeom>
          <a:solidFill>
            <a:srgbClr val="161B22"/>
          </a:solidFill>
        </p:spPr>
      </p:sp>
      <p:sp>
        <p:nvSpPr>
          <p:cNvPr id="22" name="Shape 18"/>
          <p:cNvSpPr/>
          <p:nvPr/>
        </p:nvSpPr>
        <p:spPr>
          <a:xfrm>
            <a:off x="6286500" y="2964656"/>
            <a:ext cx="38100" cy="1728788"/>
          </a:xfrm>
          <a:prstGeom prst="rect">
            <a:avLst/>
          </a:prstGeom>
          <a:solidFill>
            <a:srgbClr val="58A6FF"/>
          </a:solidFill>
        </p:spPr>
      </p:sp>
      <p:sp>
        <p:nvSpPr>
          <p:cNvPr id="23" name="Text 19"/>
          <p:cNvSpPr/>
          <p:nvPr/>
        </p:nvSpPr>
        <p:spPr>
          <a:xfrm>
            <a:off x="6477000" y="3107531"/>
            <a:ext cx="51435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Poppins SemiBold" pitchFamily="34" charset="0"/>
                <a:ea typeface="Poppins SemiBold" pitchFamily="34" charset="-122"/>
                <a:cs typeface="Poppins SemiBold" pitchFamily="34" charset="-120"/>
              </a:rPr>
              <a:t>STEP 2: SETUP DECRYPTION</a:t>
            </a:r>
            <a:endParaRPr lang="en-US" sz="1000" dirty="0"/>
          </a:p>
        </p:txBody>
      </p:sp>
      <p:sp>
        <p:nvSpPr>
          <p:cNvPr id="24" name="Text 20"/>
          <p:cNvSpPr/>
          <p:nvPr/>
        </p:nvSpPr>
        <p:spPr>
          <a:xfrm>
            <a:off x="6477000" y="3357563"/>
            <a:ext cx="5143500"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Inter" pitchFamily="34" charset="0"/>
                <a:ea typeface="Inter" pitchFamily="34" charset="-122"/>
                <a:cs typeface="Inter" pitchFamily="34" charset="-120"/>
              </a:rPr>
              <a:t>Use CyberChef or Python to setup AES Decrypt.</a:t>
            </a:r>
            <a:endParaRPr lang="en-US" sz="1135" dirty="0"/>
          </a:p>
        </p:txBody>
      </p:sp>
      <p:sp>
        <p:nvSpPr>
          <p:cNvPr id="25" name="Shape 21"/>
          <p:cNvSpPr/>
          <p:nvPr/>
        </p:nvSpPr>
        <p:spPr>
          <a:xfrm>
            <a:off x="6477000" y="3636169"/>
            <a:ext cx="5143500" cy="914400"/>
          </a:xfrm>
          <a:prstGeom prst="rect">
            <a:avLst/>
          </a:prstGeom>
          <a:solidFill>
            <a:srgbClr val="0D1117"/>
          </a:solidFill>
          <a:ln w="9144">
            <a:solidFill>
              <a:srgbClr val="30363D"/>
            </a:solidFill>
            <a:prstDash val="solid"/>
          </a:ln>
        </p:spPr>
      </p:sp>
      <p:sp>
        <p:nvSpPr>
          <p:cNvPr id="26" name="Text 22"/>
          <p:cNvSpPr/>
          <p:nvPr/>
        </p:nvSpPr>
        <p:spPr>
          <a:xfrm>
            <a:off x="6477000" y="3636169"/>
            <a:ext cx="5143500" cy="841375"/>
          </a:xfrm>
          <a:prstGeom prst="rect">
            <a:avLst/>
          </a:prstGeom>
          <a:noFill/>
        </p:spPr>
        <p:txBody>
          <a:bodyPr wrap="square" lIns="113453" tIns="113453" rIns="113453" bIns="113453" rtlCol="0" anchor="t">
            <a:spAutoFit/>
          </a:bodyPr>
          <a:lstStyle/>
          <a:p>
            <a:pPr marL="0" indent="0" algn="l">
              <a:buNone/>
            </a:pPr>
            <a:r>
              <a:rPr lang="en-US" sz="1000" dirty="0">
                <a:solidFill>
                  <a:srgbClr val="00FF9C"/>
                </a:solidFill>
                <a:latin typeface="JetBrains Mono Medium" pitchFamily="34" charset="0"/>
                <a:ea typeface="JetBrains Mono Medium" pitchFamily="34" charset="-122"/>
                <a:cs typeface="JetBrains Mono Medium" pitchFamily="34" charset="-120"/>
              </a:rPr>
              <a:t>Algorithm: AES
Mode: CBC
Key: 8b1a9953c4611296a827abf8c47804d7 (Hex)
IV: 00000000000000000000000000000000 (Hex)</a:t>
            </a:r>
            <a:endParaRPr lang="en-US" sz="1000" dirty="0"/>
          </a:p>
        </p:txBody>
      </p:sp>
      <p:sp>
        <p:nvSpPr>
          <p:cNvPr id="27" name="Shape 23"/>
          <p:cNvSpPr/>
          <p:nvPr/>
        </p:nvSpPr>
        <p:spPr>
          <a:xfrm>
            <a:off x="6286500" y="4864893"/>
            <a:ext cx="5524500" cy="814388"/>
          </a:xfrm>
          <a:prstGeom prst="rect">
            <a:avLst/>
          </a:prstGeom>
          <a:solidFill>
            <a:srgbClr val="161B22"/>
          </a:solidFill>
        </p:spPr>
      </p:sp>
      <p:sp>
        <p:nvSpPr>
          <p:cNvPr id="28" name="Shape 24"/>
          <p:cNvSpPr/>
          <p:nvPr/>
        </p:nvSpPr>
        <p:spPr>
          <a:xfrm>
            <a:off x="6286500" y="4864893"/>
            <a:ext cx="38100" cy="814388"/>
          </a:xfrm>
          <a:prstGeom prst="rect">
            <a:avLst/>
          </a:prstGeom>
          <a:solidFill>
            <a:srgbClr val="58A6FF"/>
          </a:solidFill>
        </p:spPr>
      </p:sp>
      <p:sp>
        <p:nvSpPr>
          <p:cNvPr id="29" name="Text 25"/>
          <p:cNvSpPr/>
          <p:nvPr/>
        </p:nvSpPr>
        <p:spPr>
          <a:xfrm>
            <a:off x="6477000" y="5007769"/>
            <a:ext cx="514350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Poppins SemiBold" pitchFamily="34" charset="0"/>
                <a:ea typeface="Poppins SemiBold" pitchFamily="34" charset="-122"/>
                <a:cs typeface="Poppins SemiBold" pitchFamily="34" charset="-120"/>
              </a:rPr>
              <a:t>STEP 3: DECODE &amp; DECRYPT</a:t>
            </a:r>
            <a:endParaRPr lang="en-US" sz="1000" dirty="0"/>
          </a:p>
        </p:txBody>
      </p:sp>
      <p:sp>
        <p:nvSpPr>
          <p:cNvPr id="30" name="Text 26"/>
          <p:cNvSpPr/>
          <p:nvPr/>
        </p:nvSpPr>
        <p:spPr>
          <a:xfrm>
            <a:off x="6477000" y="5257800"/>
            <a:ext cx="5143500"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Inter" pitchFamily="34" charset="0"/>
                <a:ea typeface="Inter" pitchFamily="34" charset="-122"/>
                <a:cs typeface="Inter" pitchFamily="34" charset="-120"/>
              </a:rPr>
              <a:t>Input the Base64 string and execute.</a:t>
            </a:r>
            <a:endParaRPr lang="en-US" sz="1135" dirty="0"/>
          </a:p>
        </p:txBody>
      </p:sp>
      <p:sp>
        <p:nvSpPr>
          <p:cNvPr id="31" name="Shape 27"/>
          <p:cNvSpPr/>
          <p:nvPr/>
        </p:nvSpPr>
        <p:spPr>
          <a:xfrm>
            <a:off x="6286500" y="5999485"/>
            <a:ext cx="5524500" cy="952500"/>
          </a:xfrm>
          <a:prstGeom prst="rect">
            <a:avLst/>
          </a:prstGeom>
          <a:solidFill>
            <a:srgbClr val="FF6B6B">
              <a:alpha val="10000"/>
            </a:srgbClr>
          </a:solidFill>
          <a:ln w="9144">
            <a:solidFill>
              <a:srgbClr val="FF6B6B"/>
            </a:solidFill>
            <a:prstDash val="solid"/>
          </a:ln>
        </p:spPr>
      </p:sp>
      <p:sp>
        <p:nvSpPr>
          <p:cNvPr id="32" name="Text 28"/>
          <p:cNvSpPr/>
          <p:nvPr/>
        </p:nvSpPr>
        <p:spPr>
          <a:xfrm>
            <a:off x="6477000" y="6209035"/>
            <a:ext cx="5143500" cy="153670"/>
          </a:xfrm>
          <a:prstGeom prst="rect">
            <a:avLst/>
          </a:prstGeom>
          <a:noFill/>
        </p:spPr>
        <p:txBody>
          <a:bodyPr wrap="square" lIns="0" tIns="0" rIns="0" bIns="0" rtlCol="0" anchor="t">
            <a:spAutoFit/>
          </a:bodyPr>
          <a:lstStyle/>
          <a:p>
            <a:pPr marL="0" indent="0" algn="ctr">
              <a:buNone/>
            </a:pPr>
            <a:r>
              <a:rPr lang="en-US" sz="1000" dirty="0">
                <a:solidFill>
                  <a:srgbClr val="FF6B6B"/>
                </a:solidFill>
                <a:latin typeface="Poppins SemiBold" pitchFamily="34" charset="0"/>
                <a:ea typeface="Poppins SemiBold" pitchFamily="34" charset="-122"/>
                <a:cs typeface="Poppins SemiBold" pitchFamily="34" charset="-120"/>
              </a:rPr>
              <a:t>FINAL REVEAL</a:t>
            </a:r>
            <a:endParaRPr lang="en-US" sz="1000" dirty="0"/>
          </a:p>
        </p:txBody>
      </p:sp>
      <p:sp>
        <p:nvSpPr>
          <p:cNvPr id="33" name="Text 29"/>
          <p:cNvSpPr/>
          <p:nvPr/>
        </p:nvSpPr>
        <p:spPr>
          <a:xfrm>
            <a:off x="6477000" y="6459067"/>
            <a:ext cx="5143500" cy="245745"/>
          </a:xfrm>
          <a:prstGeom prst="rect">
            <a:avLst/>
          </a:prstGeom>
          <a:noFill/>
        </p:spPr>
        <p:txBody>
          <a:bodyPr wrap="square" lIns="0" tIns="0" rIns="0" bIns="0" rtlCol="0" anchor="t">
            <a:spAutoFit/>
          </a:bodyPr>
          <a:lstStyle/>
          <a:p>
            <a:pPr marL="0" indent="0" algn="ctr">
              <a:buNone/>
            </a:pPr>
            <a:r>
              <a:rPr lang="en-US" sz="1600" b="1" dirty="0">
                <a:solidFill>
                  <a:srgbClr val="FF6B6B"/>
                </a:solidFill>
                <a:latin typeface="JetBrains Mono Medium" pitchFamily="34" charset="0"/>
                <a:ea typeface="JetBrains Mono Medium" pitchFamily="34" charset="-122"/>
                <a:cs typeface="JetBrains Mono Medium" pitchFamily="34" charset="-120"/>
              </a:rPr>
              <a:t>flag{crypto_chains_are_fun}</a:t>
            </a:r>
            <a:endParaRPr lang="en-US" sz="1600"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5" name="Text 2"/>
          <p:cNvSpPr/>
          <p:nvPr/>
        </p:nvSpPr>
        <p:spPr>
          <a:xfrm>
            <a:off x="381000" y="172640"/>
            <a:ext cx="2764631" cy="194310"/>
          </a:xfrm>
          <a:prstGeom prst="rect">
            <a:avLst/>
          </a:prstGeom>
          <a:noFill/>
        </p:spPr>
        <p:txBody>
          <a:bodyPr wrap="square" lIns="0" tIns="0" rIns="0" bIns="0" rtlCol="0" anchor="t">
            <a:spAutoFit/>
          </a:bodyPr>
          <a:lstStyle/>
          <a:p>
            <a:pPr marL="0" indent="0" algn="l">
              <a:buNone/>
            </a:pPr>
            <a:endParaRPr lang="en-US" sz="1265" dirty="0"/>
          </a:p>
        </p:txBody>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65 | EWUCSC</a:t>
            </a:r>
            <a:endParaRPr lang="en-US" sz="1265" dirty="0"/>
          </a:p>
        </p:txBody>
      </p:sp>
      <p:sp>
        <p:nvSpPr>
          <p:cNvPr id="7" name="Text 4"/>
          <p:cNvSpPr/>
          <p:nvPr/>
        </p:nvSpPr>
        <p:spPr>
          <a:xfrm>
            <a:off x="3237309" y="952500"/>
            <a:ext cx="5717381"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Day 1 — What you now know</a:t>
            </a:r>
            <a:endParaRPr lang="en-US" sz="2800" dirty="0"/>
          </a:p>
        </p:txBody>
      </p:sp>
      <p:sp>
        <p:nvSpPr>
          <p:cNvPr id="8" name="Shape 5"/>
          <p:cNvSpPr/>
          <p:nvPr/>
        </p:nvSpPr>
        <p:spPr>
          <a:xfrm>
            <a:off x="1333500" y="1933575"/>
            <a:ext cx="1752600" cy="1301725"/>
          </a:xfrm>
          <a:prstGeom prst="rect">
            <a:avLst/>
          </a:prstGeom>
          <a:solidFill>
            <a:srgbClr val="161B22"/>
          </a:solidFill>
          <a:ln w="9144">
            <a:solidFill>
              <a:srgbClr val="8B949E"/>
            </a:solidFill>
            <a:prstDash val="solid"/>
          </a:ln>
        </p:spPr>
      </p:sp>
      <p:pic>
        <p:nvPicPr>
          <p:cNvPr id="9" name="Image 1" descr="preencoded.png"/>
          <p:cNvPicPr>
            <a:picLocks noChangeAspect="1"/>
          </p:cNvPicPr>
          <p:nvPr/>
        </p:nvPicPr>
        <p:blipFill>
          <a:blip r:embed="rId2"/>
          <a:stretch>
            <a:fillRect/>
          </a:stretch>
        </p:blipFill>
        <p:spPr>
          <a:xfrm>
            <a:off x="2095500" y="2229632"/>
            <a:ext cx="228600" cy="228600"/>
          </a:xfrm>
          <a:prstGeom prst="rect">
            <a:avLst/>
          </a:prstGeom>
        </p:spPr>
      </p:pic>
      <p:sp>
        <p:nvSpPr>
          <p:cNvPr id="10" name="Text 6"/>
          <p:cNvSpPr/>
          <p:nvPr/>
        </p:nvSpPr>
        <p:spPr>
          <a:xfrm>
            <a:off x="1762442" y="2534432"/>
            <a:ext cx="894715" cy="288290"/>
          </a:xfrm>
          <a:prstGeom prst="rect">
            <a:avLst/>
          </a:prstGeom>
          <a:noFill/>
        </p:spPr>
        <p:txBody>
          <a:bodyPr wrap="none" lIns="0" tIns="0" rIns="0" bIns="0" rtlCol="0" anchor="t">
            <a:spAutoFit/>
          </a:bodyPr>
          <a:lstStyle/>
          <a:p>
            <a:pPr marL="0" indent="0" algn="ctr">
              <a:buNone/>
            </a:pPr>
            <a:r>
              <a:rPr lang="en-US" sz="935" dirty="0">
                <a:solidFill>
                  <a:srgbClr val="8B949E"/>
                </a:solidFill>
                <a:latin typeface="Poppins SemiBold" pitchFamily="34" charset="0"/>
                <a:ea typeface="Poppins SemiBold" pitchFamily="34" charset="-122"/>
                <a:cs typeface="Poppins SemiBold" pitchFamily="34" charset="-120"/>
              </a:rPr>
              <a:t>Number Systems
(Binary/Hex)</a:t>
            </a:r>
            <a:endParaRPr lang="en-US" sz="935" dirty="0"/>
          </a:p>
        </p:txBody>
      </p:sp>
      <p:sp>
        <p:nvSpPr>
          <p:cNvPr id="11" name="Shape 7"/>
          <p:cNvSpPr/>
          <p:nvPr/>
        </p:nvSpPr>
        <p:spPr>
          <a:xfrm>
            <a:off x="3276600" y="1933575"/>
            <a:ext cx="1752600" cy="1301725"/>
          </a:xfrm>
          <a:prstGeom prst="rect">
            <a:avLst/>
          </a:prstGeom>
          <a:solidFill>
            <a:srgbClr val="161B22"/>
          </a:solidFill>
          <a:ln w="9144">
            <a:solidFill>
              <a:srgbClr val="E3B341"/>
            </a:solidFill>
            <a:prstDash val="solid"/>
          </a:ln>
        </p:spPr>
      </p:sp>
      <p:pic>
        <p:nvPicPr>
          <p:cNvPr id="12" name="Image 2" descr="preencoded.png"/>
          <p:cNvPicPr>
            <a:picLocks noChangeAspect="1"/>
          </p:cNvPicPr>
          <p:nvPr/>
        </p:nvPicPr>
        <p:blipFill>
          <a:blip r:embed="rId3"/>
          <a:stretch>
            <a:fillRect/>
          </a:stretch>
        </p:blipFill>
        <p:spPr>
          <a:xfrm>
            <a:off x="4010025" y="2229632"/>
            <a:ext cx="285751" cy="228600"/>
          </a:xfrm>
          <a:prstGeom prst="rect">
            <a:avLst/>
          </a:prstGeom>
        </p:spPr>
      </p:pic>
      <p:sp>
        <p:nvSpPr>
          <p:cNvPr id="13" name="Text 8"/>
          <p:cNvSpPr/>
          <p:nvPr/>
        </p:nvSpPr>
        <p:spPr>
          <a:xfrm>
            <a:off x="3752533" y="2534432"/>
            <a:ext cx="800735" cy="288290"/>
          </a:xfrm>
          <a:prstGeom prst="rect">
            <a:avLst/>
          </a:prstGeom>
          <a:noFill/>
        </p:spPr>
        <p:txBody>
          <a:bodyPr wrap="none" lIns="0" tIns="0" rIns="0" bIns="0" rtlCol="0" anchor="t">
            <a:spAutoFit/>
          </a:bodyPr>
          <a:lstStyle/>
          <a:p>
            <a:pPr marL="0" indent="0" algn="ctr">
              <a:buNone/>
            </a:pPr>
            <a:r>
              <a:rPr lang="en-US" sz="935" dirty="0">
                <a:solidFill>
                  <a:srgbClr val="E3B341"/>
                </a:solidFill>
                <a:latin typeface="Poppins SemiBold" pitchFamily="34" charset="0"/>
                <a:ea typeface="Poppins SemiBold" pitchFamily="34" charset="-122"/>
                <a:cs typeface="Poppins SemiBold" pitchFamily="34" charset="-120"/>
              </a:rPr>
              <a:t>Encoding
(Base64/ASCII)</a:t>
            </a:r>
            <a:endParaRPr lang="en-US" sz="935" dirty="0"/>
          </a:p>
        </p:txBody>
      </p:sp>
      <p:sp>
        <p:nvSpPr>
          <p:cNvPr id="14" name="Shape 9"/>
          <p:cNvSpPr/>
          <p:nvPr/>
        </p:nvSpPr>
        <p:spPr>
          <a:xfrm>
            <a:off x="7162800" y="1933575"/>
            <a:ext cx="1752600" cy="1301725"/>
          </a:xfrm>
          <a:prstGeom prst="rect">
            <a:avLst/>
          </a:prstGeom>
          <a:solidFill>
            <a:srgbClr val="161B22"/>
          </a:solidFill>
          <a:ln w="9144">
            <a:solidFill>
              <a:srgbClr val="00FF9C"/>
            </a:solidFill>
            <a:prstDash val="solid"/>
          </a:ln>
        </p:spPr>
      </p:sp>
      <p:pic>
        <p:nvPicPr>
          <p:cNvPr id="15" name="Image 3" descr="preencoded.png"/>
          <p:cNvPicPr>
            <a:picLocks noChangeAspect="1"/>
          </p:cNvPicPr>
          <p:nvPr/>
        </p:nvPicPr>
        <p:blipFill>
          <a:blip r:embed="rId4"/>
          <a:stretch>
            <a:fillRect/>
          </a:stretch>
        </p:blipFill>
        <p:spPr>
          <a:xfrm>
            <a:off x="7924800" y="2229632"/>
            <a:ext cx="228600" cy="228600"/>
          </a:xfrm>
          <a:prstGeom prst="rect">
            <a:avLst/>
          </a:prstGeom>
        </p:spPr>
      </p:pic>
      <p:sp>
        <p:nvSpPr>
          <p:cNvPr id="16" name="Text 10"/>
          <p:cNvSpPr/>
          <p:nvPr/>
        </p:nvSpPr>
        <p:spPr>
          <a:xfrm>
            <a:off x="7736840" y="2534432"/>
            <a:ext cx="604520" cy="288290"/>
          </a:xfrm>
          <a:prstGeom prst="rect">
            <a:avLst/>
          </a:prstGeom>
          <a:noFill/>
        </p:spPr>
        <p:txBody>
          <a:bodyPr wrap="none" lIns="0" tIns="0" rIns="0" bIns="0" rtlCol="0" anchor="t">
            <a:spAutoFit/>
          </a:bodyPr>
          <a:lstStyle/>
          <a:p>
            <a:pPr marL="0" indent="0" algn="ctr">
              <a:buNone/>
            </a:pPr>
            <a:r>
              <a:rPr lang="en-US" sz="935" dirty="0">
                <a:solidFill>
                  <a:srgbClr val="00FF9C"/>
                </a:solidFill>
                <a:latin typeface="Poppins SemiBold" pitchFamily="34" charset="0"/>
                <a:ea typeface="Poppins SemiBold" pitchFamily="34" charset="-122"/>
                <a:cs typeface="Poppins SemiBold" pitchFamily="34" charset="-120"/>
              </a:rPr>
              <a:t>Hashing
(MD5/SHA)</a:t>
            </a:r>
            <a:endParaRPr lang="en-US" sz="935" dirty="0"/>
          </a:p>
        </p:txBody>
      </p:sp>
      <p:sp>
        <p:nvSpPr>
          <p:cNvPr id="17" name="Shape 11"/>
          <p:cNvSpPr/>
          <p:nvPr/>
        </p:nvSpPr>
        <p:spPr>
          <a:xfrm>
            <a:off x="9105900" y="1933575"/>
            <a:ext cx="1752600" cy="1301725"/>
          </a:xfrm>
          <a:prstGeom prst="rect">
            <a:avLst/>
          </a:prstGeom>
          <a:solidFill>
            <a:srgbClr val="161B22"/>
          </a:solidFill>
          <a:ln w="9144">
            <a:solidFill>
              <a:srgbClr val="00FF9C"/>
            </a:solidFill>
            <a:prstDash val="solid"/>
          </a:ln>
        </p:spPr>
      </p:sp>
      <p:pic>
        <p:nvPicPr>
          <p:cNvPr id="18" name="Image 4" descr="preencoded.png"/>
          <p:cNvPicPr>
            <a:picLocks noChangeAspect="1"/>
          </p:cNvPicPr>
          <p:nvPr/>
        </p:nvPicPr>
        <p:blipFill>
          <a:blip r:embed="rId5"/>
          <a:stretch>
            <a:fillRect/>
          </a:stretch>
        </p:blipFill>
        <p:spPr>
          <a:xfrm>
            <a:off x="9853612" y="2229632"/>
            <a:ext cx="257175" cy="228600"/>
          </a:xfrm>
          <a:prstGeom prst="rect">
            <a:avLst/>
          </a:prstGeom>
        </p:spPr>
      </p:pic>
      <p:sp>
        <p:nvSpPr>
          <p:cNvPr id="19" name="Text 12"/>
          <p:cNvSpPr/>
          <p:nvPr/>
        </p:nvSpPr>
        <p:spPr>
          <a:xfrm>
            <a:off x="9705976" y="2534432"/>
            <a:ext cx="552450" cy="288290"/>
          </a:xfrm>
          <a:prstGeom prst="rect">
            <a:avLst/>
          </a:prstGeom>
          <a:noFill/>
        </p:spPr>
        <p:txBody>
          <a:bodyPr wrap="none" lIns="0" tIns="0" rIns="0" bIns="0" rtlCol="0" anchor="t">
            <a:spAutoFit/>
          </a:bodyPr>
          <a:lstStyle/>
          <a:p>
            <a:pPr marL="0" indent="0" algn="ctr">
              <a:buNone/>
            </a:pPr>
            <a:r>
              <a:rPr lang="en-US" sz="935" dirty="0">
                <a:solidFill>
                  <a:srgbClr val="00FF9C"/>
                </a:solidFill>
                <a:latin typeface="Poppins SemiBold" pitchFamily="34" charset="0"/>
                <a:ea typeface="Poppins SemiBold" pitchFamily="34" charset="-122"/>
                <a:cs typeface="Poppins SemiBold" pitchFamily="34" charset="-120"/>
              </a:rPr>
              <a:t>Digital
Signatures</a:t>
            </a:r>
            <a:endParaRPr lang="en-US" sz="935" dirty="0"/>
          </a:p>
        </p:txBody>
      </p:sp>
      <p:sp>
        <p:nvSpPr>
          <p:cNvPr id="20" name="Shape 13"/>
          <p:cNvSpPr/>
          <p:nvPr/>
        </p:nvSpPr>
        <p:spPr>
          <a:xfrm>
            <a:off x="5219700" y="3425800"/>
            <a:ext cx="1752600" cy="1301763"/>
          </a:xfrm>
          <a:prstGeom prst="rect">
            <a:avLst/>
          </a:prstGeom>
          <a:solidFill>
            <a:srgbClr val="00FF9C"/>
          </a:solidFill>
        </p:spPr>
      </p:sp>
      <p:pic>
        <p:nvPicPr>
          <p:cNvPr id="21" name="Image 5" descr="preencoded.png"/>
          <p:cNvPicPr>
            <a:picLocks noChangeAspect="1"/>
          </p:cNvPicPr>
          <p:nvPr/>
        </p:nvPicPr>
        <p:blipFill>
          <a:blip r:embed="rId6"/>
          <a:stretch>
            <a:fillRect/>
          </a:stretch>
        </p:blipFill>
        <p:spPr>
          <a:xfrm>
            <a:off x="5981700" y="3721856"/>
            <a:ext cx="228600" cy="228600"/>
          </a:xfrm>
          <a:prstGeom prst="rect">
            <a:avLst/>
          </a:prstGeom>
        </p:spPr>
      </p:pic>
      <p:sp>
        <p:nvSpPr>
          <p:cNvPr id="22" name="Text 14"/>
          <p:cNvSpPr/>
          <p:nvPr/>
        </p:nvSpPr>
        <p:spPr>
          <a:xfrm>
            <a:off x="5675630" y="4026656"/>
            <a:ext cx="840740" cy="288290"/>
          </a:xfrm>
          <a:prstGeom prst="rect">
            <a:avLst/>
          </a:prstGeom>
          <a:noFill/>
        </p:spPr>
        <p:txBody>
          <a:bodyPr wrap="none" lIns="0" tIns="0" rIns="0" bIns="0" rtlCol="0" anchor="t">
            <a:spAutoFit/>
          </a:bodyPr>
          <a:lstStyle/>
          <a:p>
            <a:pPr marL="0" indent="0" algn="ctr">
              <a:buNone/>
            </a:pPr>
            <a:r>
              <a:rPr lang="en-US" sz="935" dirty="0">
                <a:solidFill>
                  <a:srgbClr val="0D1117"/>
                </a:solidFill>
                <a:latin typeface="Poppins SemiBold" pitchFamily="34" charset="0"/>
                <a:ea typeface="Poppins SemiBold" pitchFamily="34" charset="-122"/>
                <a:cs typeface="Poppins SemiBold" pitchFamily="34" charset="-120"/>
              </a:rPr>
              <a:t>DAY 1
CRYPTOGRAPHY</a:t>
            </a:r>
            <a:endParaRPr lang="en-US" sz="935" dirty="0"/>
          </a:p>
        </p:txBody>
      </p:sp>
      <p:sp>
        <p:nvSpPr>
          <p:cNvPr id="23" name="Shape 15"/>
          <p:cNvSpPr/>
          <p:nvPr/>
        </p:nvSpPr>
        <p:spPr>
          <a:xfrm>
            <a:off x="1333500" y="4918063"/>
            <a:ext cx="1752600" cy="1301763"/>
          </a:xfrm>
          <a:prstGeom prst="rect">
            <a:avLst/>
          </a:prstGeom>
          <a:solidFill>
            <a:srgbClr val="161B22"/>
          </a:solidFill>
          <a:ln w="9144">
            <a:solidFill>
              <a:srgbClr val="FF6B6B"/>
            </a:solidFill>
            <a:prstDash val="solid"/>
          </a:ln>
        </p:spPr>
      </p:sp>
      <p:pic>
        <p:nvPicPr>
          <p:cNvPr id="24" name="Image 6" descr="preencoded.png"/>
          <p:cNvPicPr>
            <a:picLocks noChangeAspect="1"/>
          </p:cNvPicPr>
          <p:nvPr/>
        </p:nvPicPr>
        <p:blipFill>
          <a:blip r:embed="rId7"/>
          <a:stretch>
            <a:fillRect/>
          </a:stretch>
        </p:blipFill>
        <p:spPr>
          <a:xfrm>
            <a:off x="2095500" y="5214119"/>
            <a:ext cx="228600" cy="228600"/>
          </a:xfrm>
          <a:prstGeom prst="rect">
            <a:avLst/>
          </a:prstGeom>
        </p:spPr>
      </p:pic>
      <p:sp>
        <p:nvSpPr>
          <p:cNvPr id="25" name="Text 16"/>
          <p:cNvSpPr/>
          <p:nvPr/>
        </p:nvSpPr>
        <p:spPr>
          <a:xfrm>
            <a:off x="1775778" y="5518919"/>
            <a:ext cx="868045" cy="288290"/>
          </a:xfrm>
          <a:prstGeom prst="rect">
            <a:avLst/>
          </a:prstGeom>
          <a:noFill/>
        </p:spPr>
        <p:txBody>
          <a:bodyPr wrap="none" lIns="0" tIns="0" rIns="0" bIns="0" rtlCol="0" anchor="t">
            <a:spAutoFit/>
          </a:bodyPr>
          <a:lstStyle/>
          <a:p>
            <a:pPr marL="0" indent="0" algn="ctr">
              <a:buNone/>
            </a:pPr>
            <a:r>
              <a:rPr lang="en-US" sz="935" dirty="0">
                <a:solidFill>
                  <a:srgbClr val="FF6B6B"/>
                </a:solidFill>
                <a:latin typeface="Poppins SemiBold" pitchFamily="34" charset="0"/>
                <a:ea typeface="Poppins SemiBold" pitchFamily="34" charset="-122"/>
                <a:cs typeface="Poppins SemiBold" pitchFamily="34" charset="-120"/>
              </a:rPr>
              <a:t>Classical Ciphers
(Caesar/ROT13)</a:t>
            </a:r>
            <a:endParaRPr lang="en-US" sz="935" dirty="0"/>
          </a:p>
        </p:txBody>
      </p:sp>
      <p:sp>
        <p:nvSpPr>
          <p:cNvPr id="26" name="Shape 17"/>
          <p:cNvSpPr/>
          <p:nvPr/>
        </p:nvSpPr>
        <p:spPr>
          <a:xfrm>
            <a:off x="3276600" y="4918063"/>
            <a:ext cx="1752600" cy="1301763"/>
          </a:xfrm>
          <a:prstGeom prst="rect">
            <a:avLst/>
          </a:prstGeom>
          <a:solidFill>
            <a:srgbClr val="161B22"/>
          </a:solidFill>
          <a:ln w="9144">
            <a:solidFill>
              <a:srgbClr val="FF6B6B"/>
            </a:solidFill>
            <a:prstDash val="solid"/>
          </a:ln>
        </p:spPr>
      </p:sp>
      <p:pic>
        <p:nvPicPr>
          <p:cNvPr id="27" name="Image 7" descr="preencoded.png"/>
          <p:cNvPicPr>
            <a:picLocks noChangeAspect="1"/>
          </p:cNvPicPr>
          <p:nvPr/>
        </p:nvPicPr>
        <p:blipFill>
          <a:blip r:embed="rId8"/>
          <a:stretch>
            <a:fillRect/>
          </a:stretch>
        </p:blipFill>
        <p:spPr>
          <a:xfrm>
            <a:off x="4067175" y="5214119"/>
            <a:ext cx="171451" cy="228600"/>
          </a:xfrm>
          <a:prstGeom prst="rect">
            <a:avLst/>
          </a:prstGeom>
        </p:spPr>
      </p:pic>
      <p:sp>
        <p:nvSpPr>
          <p:cNvPr id="28" name="Text 18"/>
          <p:cNvSpPr/>
          <p:nvPr/>
        </p:nvSpPr>
        <p:spPr>
          <a:xfrm>
            <a:off x="3861753" y="5518919"/>
            <a:ext cx="582295" cy="288290"/>
          </a:xfrm>
          <a:prstGeom prst="rect">
            <a:avLst/>
          </a:prstGeom>
          <a:noFill/>
        </p:spPr>
        <p:txBody>
          <a:bodyPr wrap="none" lIns="0" tIns="0" rIns="0" bIns="0" rtlCol="0" anchor="t">
            <a:spAutoFit/>
          </a:bodyPr>
          <a:lstStyle/>
          <a:p>
            <a:pPr marL="0" indent="0" algn="ctr">
              <a:buNone/>
            </a:pPr>
            <a:r>
              <a:rPr lang="en-US" sz="935" dirty="0">
                <a:solidFill>
                  <a:srgbClr val="FF6B6B"/>
                </a:solidFill>
                <a:latin typeface="Poppins SemiBold" pitchFamily="34" charset="0"/>
                <a:ea typeface="Poppins SemiBold" pitchFamily="34" charset="-122"/>
                <a:cs typeface="Poppins SemiBold" pitchFamily="34" charset="-120"/>
              </a:rPr>
              <a:t>XOR
Operations</a:t>
            </a:r>
            <a:endParaRPr lang="en-US" sz="935" dirty="0"/>
          </a:p>
        </p:txBody>
      </p:sp>
      <p:sp>
        <p:nvSpPr>
          <p:cNvPr id="29" name="Shape 19"/>
          <p:cNvSpPr/>
          <p:nvPr/>
        </p:nvSpPr>
        <p:spPr>
          <a:xfrm>
            <a:off x="7162800" y="4918063"/>
            <a:ext cx="1752600" cy="1301763"/>
          </a:xfrm>
          <a:prstGeom prst="rect">
            <a:avLst/>
          </a:prstGeom>
          <a:solidFill>
            <a:srgbClr val="161B22"/>
          </a:solidFill>
          <a:ln w="9144">
            <a:solidFill>
              <a:srgbClr val="58A6FF"/>
            </a:solidFill>
            <a:prstDash val="solid"/>
          </a:ln>
        </p:spPr>
      </p:sp>
      <p:pic>
        <p:nvPicPr>
          <p:cNvPr id="30" name="Image 8" descr="preencoded.png"/>
          <p:cNvPicPr>
            <a:picLocks noChangeAspect="1"/>
          </p:cNvPicPr>
          <p:nvPr/>
        </p:nvPicPr>
        <p:blipFill>
          <a:blip r:embed="rId9"/>
          <a:stretch>
            <a:fillRect/>
          </a:stretch>
        </p:blipFill>
        <p:spPr>
          <a:xfrm>
            <a:off x="7939088" y="5214119"/>
            <a:ext cx="200025" cy="228600"/>
          </a:xfrm>
          <a:prstGeom prst="rect">
            <a:avLst/>
          </a:prstGeom>
        </p:spPr>
      </p:pic>
      <p:sp>
        <p:nvSpPr>
          <p:cNvPr id="31" name="Text 20"/>
          <p:cNvSpPr/>
          <p:nvPr/>
        </p:nvSpPr>
        <p:spPr>
          <a:xfrm>
            <a:off x="7760335" y="5518919"/>
            <a:ext cx="557530" cy="288290"/>
          </a:xfrm>
          <a:prstGeom prst="rect">
            <a:avLst/>
          </a:prstGeom>
          <a:noFill/>
        </p:spPr>
        <p:txBody>
          <a:bodyPr wrap="none" lIns="0" tIns="0" rIns="0" bIns="0" rtlCol="0" anchor="t">
            <a:spAutoFit/>
          </a:bodyPr>
          <a:lstStyle/>
          <a:p>
            <a:pPr marL="0" indent="0" algn="ctr">
              <a:buNone/>
            </a:pPr>
            <a:r>
              <a:rPr lang="en-US" sz="935" dirty="0">
                <a:solidFill>
                  <a:srgbClr val="58A6FF"/>
                </a:solidFill>
                <a:latin typeface="Poppins SemiBold" pitchFamily="34" charset="0"/>
                <a:ea typeface="Poppins SemiBold" pitchFamily="34" charset="-122"/>
                <a:cs typeface="Poppins SemiBold" pitchFamily="34" charset="-120"/>
              </a:rPr>
              <a:t>Symmetric
(AES)</a:t>
            </a:r>
            <a:endParaRPr lang="en-US" sz="935" dirty="0"/>
          </a:p>
        </p:txBody>
      </p:sp>
      <p:sp>
        <p:nvSpPr>
          <p:cNvPr id="32" name="Shape 21"/>
          <p:cNvSpPr/>
          <p:nvPr/>
        </p:nvSpPr>
        <p:spPr>
          <a:xfrm>
            <a:off x="9105900" y="4918063"/>
            <a:ext cx="1752600" cy="1301763"/>
          </a:xfrm>
          <a:prstGeom prst="rect">
            <a:avLst/>
          </a:prstGeom>
          <a:solidFill>
            <a:srgbClr val="161B22"/>
          </a:solidFill>
          <a:ln w="9144">
            <a:solidFill>
              <a:srgbClr val="58A6FF"/>
            </a:solidFill>
            <a:prstDash val="solid"/>
          </a:ln>
        </p:spPr>
      </p:sp>
      <p:pic>
        <p:nvPicPr>
          <p:cNvPr id="33" name="Image 9" descr="preencoded.png"/>
          <p:cNvPicPr>
            <a:picLocks noChangeAspect="1"/>
          </p:cNvPicPr>
          <p:nvPr/>
        </p:nvPicPr>
        <p:blipFill>
          <a:blip r:embed="rId10"/>
          <a:stretch>
            <a:fillRect/>
          </a:stretch>
        </p:blipFill>
        <p:spPr>
          <a:xfrm>
            <a:off x="9882188" y="5214119"/>
            <a:ext cx="200025" cy="228600"/>
          </a:xfrm>
          <a:prstGeom prst="rect">
            <a:avLst/>
          </a:prstGeom>
        </p:spPr>
      </p:pic>
      <p:sp>
        <p:nvSpPr>
          <p:cNvPr id="34" name="Text 22"/>
          <p:cNvSpPr/>
          <p:nvPr/>
        </p:nvSpPr>
        <p:spPr>
          <a:xfrm>
            <a:off x="9671367" y="5518919"/>
            <a:ext cx="621665" cy="288290"/>
          </a:xfrm>
          <a:prstGeom prst="rect">
            <a:avLst/>
          </a:prstGeom>
          <a:noFill/>
        </p:spPr>
        <p:txBody>
          <a:bodyPr wrap="none" lIns="0" tIns="0" rIns="0" bIns="0" rtlCol="0" anchor="t">
            <a:spAutoFit/>
          </a:bodyPr>
          <a:lstStyle/>
          <a:p>
            <a:pPr marL="0" indent="0" algn="ctr">
              <a:buNone/>
            </a:pPr>
            <a:r>
              <a:rPr lang="en-US" sz="935" dirty="0">
                <a:solidFill>
                  <a:srgbClr val="58A6FF"/>
                </a:solidFill>
                <a:latin typeface="Poppins SemiBold" pitchFamily="34" charset="0"/>
                <a:ea typeface="Poppins SemiBold" pitchFamily="34" charset="-122"/>
                <a:cs typeface="Poppins SemiBold" pitchFamily="34" charset="-120"/>
              </a:rPr>
              <a:t>Asymmetric
(RSA)</a:t>
            </a:r>
            <a:endParaRPr lang="en-US" sz="935" dirty="0"/>
          </a:p>
        </p:txBody>
      </p:sp>
      <p:pic>
        <p:nvPicPr>
          <p:cNvPr id="35" name="Image 10" descr="preencoded.png"/>
          <p:cNvPicPr>
            <a:picLocks noChangeAspect="1"/>
          </p:cNvPicPr>
          <p:nvPr/>
        </p:nvPicPr>
        <p:blipFill>
          <a:blip r:embed="rId11"/>
          <a:stretch>
            <a:fillRect/>
          </a:stretch>
        </p:blipFill>
        <p:spPr>
          <a:xfrm>
            <a:off x="3256360" y="6274593"/>
            <a:ext cx="150019" cy="171451"/>
          </a:xfrm>
          <a:prstGeom prst="rect">
            <a:avLst/>
          </a:prstGeom>
        </p:spPr>
      </p:pic>
      <p:sp>
        <p:nvSpPr>
          <p:cNvPr id="36" name="Text 23"/>
          <p:cNvSpPr/>
          <p:nvPr/>
        </p:nvSpPr>
        <p:spPr>
          <a:xfrm>
            <a:off x="3406379" y="6250781"/>
            <a:ext cx="3378993" cy="194310"/>
          </a:xfrm>
          <a:prstGeom prst="rect">
            <a:avLst/>
          </a:prstGeom>
          <a:noFill/>
        </p:spPr>
        <p:txBody>
          <a:bodyPr wrap="square" lIns="0" tIns="0" rIns="0" bIns="0" rtlCol="0" anchor="t">
            <a:spAutoFit/>
          </a:bodyPr>
          <a:lstStyle/>
          <a:p>
            <a:pPr marL="0" indent="0" algn="l">
              <a:buNone/>
            </a:pPr>
            <a:r>
              <a:rPr lang="en-US" sz="1265" dirty="0">
                <a:solidFill>
                  <a:srgbClr val="58A6FF"/>
                </a:solidFill>
                <a:latin typeface="JetBrains Mono Medium" pitchFamily="34" charset="0"/>
                <a:ea typeface="JetBrains Mono Medium" pitchFamily="34" charset="-122"/>
                <a:cs typeface="JetBrains Mono Medium" pitchFamily="34" charset="-120"/>
              </a:rPr>
              <a:t>All of these concepts feed into</a:t>
            </a:r>
            <a:endParaRPr lang="en-US" sz="1265" dirty="0"/>
          </a:p>
        </p:txBody>
      </p:sp>
      <p:sp>
        <p:nvSpPr>
          <p:cNvPr id="37" name="Text 24"/>
          <p:cNvSpPr/>
          <p:nvPr/>
        </p:nvSpPr>
        <p:spPr>
          <a:xfrm>
            <a:off x="6785372" y="6250781"/>
            <a:ext cx="2150269" cy="184150"/>
          </a:xfrm>
          <a:prstGeom prst="rect">
            <a:avLst/>
          </a:prstGeom>
          <a:noFill/>
        </p:spPr>
        <p:txBody>
          <a:bodyPr wrap="square" lIns="0" tIns="0" rIns="0" bIns="0" rtlCol="0" anchor="t">
            <a:spAutoFit/>
          </a:bodyPr>
          <a:lstStyle/>
          <a:p>
            <a:pPr marL="0" indent="0" algn="l">
              <a:buNone/>
            </a:pPr>
            <a:r>
              <a:rPr lang="en-US" sz="1200" b="1" dirty="0">
                <a:solidFill>
                  <a:srgbClr val="58A6FF"/>
                </a:solidFill>
                <a:latin typeface="JetBrains Mono Medium" pitchFamily="34" charset="0"/>
                <a:ea typeface="JetBrains Mono Medium" pitchFamily="34" charset="-122"/>
                <a:cs typeface="JetBrains Mono Medium" pitchFamily="34" charset="-120"/>
              </a:rPr>
              <a:t>CTF Crypto Challenges</a:t>
            </a:r>
            <a:endParaRPr lang="en-US" sz="1200"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50748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5033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2"/>
          <a:stretch>
            <a:fillRect/>
          </a:stretch>
        </p:blipFill>
        <p:spPr>
          <a:xfrm>
            <a:off x="3417093" y="1047751"/>
            <a:ext cx="5357812" cy="4762500"/>
          </a:xfrm>
          <a:prstGeom prst="rect">
            <a:avLst/>
          </a:prstGeom>
        </p:spPr>
      </p:pic>
      <p:sp>
        <p:nvSpPr>
          <p:cNvPr id="4" name="Text 0"/>
          <p:cNvSpPr/>
          <p:nvPr/>
        </p:nvSpPr>
        <p:spPr>
          <a:xfrm>
            <a:off x="4403725" y="1309688"/>
            <a:ext cx="3384550" cy="1082675"/>
          </a:xfrm>
          <a:prstGeom prst="rect">
            <a:avLst/>
          </a:prstGeom>
          <a:noFill/>
        </p:spPr>
        <p:txBody>
          <a:bodyPr wrap="none" lIns="0" tIns="0" rIns="0" bIns="0" rtlCol="0" anchor="t">
            <a:spAutoFit/>
          </a:bodyPr>
          <a:lstStyle/>
          <a:p>
            <a:pPr marL="0" indent="0" algn="ctr">
              <a:lnSpc>
                <a:spcPct val="80000"/>
              </a:lnSpc>
              <a:buNone/>
            </a:pPr>
            <a:r>
              <a:rPr lang="en-US" sz="8800" kern="0" spc="8" dirty="0">
                <a:solidFill>
                  <a:srgbClr val="00FF9C"/>
                </a:solidFill>
                <a:latin typeface="Poppins ExtraBold" pitchFamily="34" charset="0"/>
                <a:ea typeface="Poppins ExtraBold" pitchFamily="34" charset="-122"/>
                <a:cs typeface="Poppins ExtraBold" pitchFamily="34" charset="-120"/>
              </a:rPr>
              <a:t>PART 5</a:t>
            </a:r>
            <a:endParaRPr lang="en-US" sz="8800" dirty="0"/>
          </a:p>
        </p:txBody>
      </p:sp>
      <p:sp>
        <p:nvSpPr>
          <p:cNvPr id="5" name="Text 1"/>
          <p:cNvSpPr/>
          <p:nvPr/>
        </p:nvSpPr>
        <p:spPr>
          <a:xfrm>
            <a:off x="0" y="2643188"/>
            <a:ext cx="12192000" cy="717550"/>
          </a:xfrm>
          <a:prstGeom prst="rect">
            <a:avLst/>
          </a:prstGeom>
          <a:noFill/>
        </p:spPr>
        <p:txBody>
          <a:bodyPr wrap="square" lIns="0" tIns="0" rIns="0" bIns="0" rtlCol="0" anchor="t">
            <a:spAutoFit/>
          </a:bodyPr>
          <a:lstStyle/>
          <a:p>
            <a:pPr marL="0" indent="0" algn="ctr">
              <a:buNone/>
            </a:pPr>
            <a:r>
              <a:rPr lang="en-US" sz="4665" dirty="0">
                <a:solidFill>
                  <a:srgbClr val="E6EDF3"/>
                </a:solidFill>
                <a:latin typeface="Poppins ExtraBold" pitchFamily="34" charset="0"/>
                <a:ea typeface="Poppins ExtraBold" pitchFamily="34" charset="-122"/>
                <a:cs typeface="Poppins ExtraBold" pitchFamily="34" charset="-120"/>
              </a:rPr>
              <a:t>CTF Lab + Resources</a:t>
            </a:r>
            <a:endParaRPr lang="en-US" sz="4665" dirty="0"/>
          </a:p>
        </p:txBody>
      </p:sp>
      <p:sp>
        <p:nvSpPr>
          <p:cNvPr id="6" name="Shape 2"/>
          <p:cNvSpPr/>
          <p:nvPr/>
        </p:nvSpPr>
        <p:spPr>
          <a:xfrm>
            <a:off x="3967163" y="4398169"/>
            <a:ext cx="4257675" cy="1150144"/>
          </a:xfrm>
          <a:prstGeom prst="rect">
            <a:avLst/>
          </a:prstGeom>
          <a:solidFill>
            <a:srgbClr val="161B22"/>
          </a:solidFill>
          <a:ln w="9144">
            <a:solidFill>
              <a:srgbClr val="30363D"/>
            </a:solidFill>
            <a:prstDash val="solid"/>
          </a:ln>
        </p:spPr>
      </p:sp>
      <p:sp>
        <p:nvSpPr>
          <p:cNvPr id="7" name="Text 3"/>
          <p:cNvSpPr/>
          <p:nvPr/>
        </p:nvSpPr>
        <p:spPr>
          <a:xfrm>
            <a:off x="4357688" y="4598193"/>
            <a:ext cx="3476625" cy="255905"/>
          </a:xfrm>
          <a:prstGeom prst="rect">
            <a:avLst/>
          </a:prstGeom>
          <a:noFill/>
        </p:spPr>
        <p:txBody>
          <a:bodyPr wrap="square" lIns="0" tIns="0" rIns="0" bIns="0" rtlCol="0" anchor="t">
            <a:spAutoFit/>
          </a:bodyPr>
          <a:lstStyle/>
          <a:p>
            <a:pPr marL="0" indent="0" algn="l">
              <a:buNone/>
            </a:pPr>
            <a:r>
              <a:rPr lang="en-US" sz="1665" dirty="0">
                <a:solidFill>
                  <a:srgbClr val="00FF9C"/>
                </a:solidFill>
                <a:latin typeface="JetBrains Mono Medium" pitchFamily="34" charset="0"/>
                <a:ea typeface="JetBrains Mono Medium" pitchFamily="34" charset="-122"/>
                <a:cs typeface="JetBrains Mono Medium" pitchFamily="34" charset="-120"/>
              </a:rPr>
              <a:t>$</a:t>
            </a:r>
            <a:r>
              <a:rPr lang="en-US" sz="1665" dirty="0">
                <a:solidFill>
                  <a:srgbClr val="58A6FF"/>
                </a:solidFill>
                <a:latin typeface="JetBrains Mono Medium" pitchFamily="34" charset="0"/>
                <a:ea typeface="JetBrains Mono Medium" pitchFamily="34" charset="-122"/>
                <a:cs typeface="JetBrains Mono Medium" pitchFamily="34" charset="-120"/>
              </a:rPr>
              <a:t> theory --mode practice</a:t>
            </a:r>
            <a:endParaRPr lang="en-US" sz="1665" dirty="0"/>
          </a:p>
        </p:txBody>
      </p:sp>
      <p:sp>
        <p:nvSpPr>
          <p:cNvPr id="8" name="Text 4"/>
          <p:cNvSpPr/>
          <p:nvPr/>
        </p:nvSpPr>
        <p:spPr>
          <a:xfrm>
            <a:off x="4357688" y="5091112"/>
            <a:ext cx="3314700" cy="215265"/>
          </a:xfrm>
          <a:prstGeom prst="rect">
            <a:avLst/>
          </a:prstGeom>
          <a:noFill/>
        </p:spPr>
        <p:txBody>
          <a:bodyPr wrap="square" lIns="0" tIns="0" rIns="0" bIns="0" rtlCol="0" anchor="t">
            <a:spAutoFit/>
          </a:bodyPr>
          <a:lstStyle/>
          <a:p>
            <a:pPr marL="0" indent="0" algn="l">
              <a:buNone/>
            </a:pPr>
            <a:r>
              <a:rPr lang="en-US" sz="1400" dirty="0">
                <a:solidFill>
                  <a:srgbClr val="E6EDF3"/>
                </a:solidFill>
                <a:latin typeface="JetBrains Mono Medium" pitchFamily="34" charset="0"/>
                <a:ea typeface="JetBrains Mono Medium" pitchFamily="34" charset="-122"/>
                <a:cs typeface="JetBrains Mono Medium" pitchFamily="34" charset="-120"/>
              </a:rPr>
              <a:t>Time to capture some flags...</a:t>
            </a:r>
            <a:endParaRPr lang="en-US" sz="1400"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5" name="Text 2"/>
          <p:cNvSpPr/>
          <p:nvPr/>
        </p:nvSpPr>
        <p:spPr>
          <a:xfrm>
            <a:off x="381000" y="172640"/>
            <a:ext cx="127000" cy="194310"/>
          </a:xfrm>
          <a:prstGeom prst="rect">
            <a:avLst/>
          </a:prstGeom>
          <a:noFill/>
        </p:spPr>
        <p:txBody>
          <a:bodyPr wrap="none" lIns="0" tIns="0" rIns="0" bIns="0" rtlCol="0" anchor="t">
            <a:spAutoFit/>
          </a:bodyPr>
          <a:lstStyle/>
          <a:p>
            <a:pPr marL="0" indent="0" algn="l">
              <a:buNone/>
            </a:pPr>
            <a:endParaRPr lang="en-US" sz="1265" dirty="0"/>
          </a:p>
        </p:txBody>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67 | EWUCSC</a:t>
            </a:r>
            <a:endParaRPr lang="en-US" sz="1265" dirty="0"/>
          </a:p>
        </p:txBody>
      </p:sp>
      <p:sp>
        <p:nvSpPr>
          <p:cNvPr id="7" name="Text 4"/>
          <p:cNvSpPr/>
          <p:nvPr/>
        </p:nvSpPr>
        <p:spPr>
          <a:xfrm>
            <a:off x="381000" y="952500"/>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Today's CTF Lab — 5 Challenges</a:t>
            </a:r>
            <a:endParaRPr lang="en-US" sz="2800" dirty="0"/>
          </a:p>
        </p:txBody>
      </p:sp>
      <p:sp>
        <p:nvSpPr>
          <p:cNvPr id="8" name="Shape 5"/>
          <p:cNvSpPr/>
          <p:nvPr/>
        </p:nvSpPr>
        <p:spPr>
          <a:xfrm>
            <a:off x="381000" y="1724025"/>
            <a:ext cx="11430000" cy="3286125"/>
          </a:xfrm>
          <a:prstGeom prst="rect">
            <a:avLst/>
          </a:prstGeom>
          <a:solidFill>
            <a:srgbClr val="161B22"/>
          </a:solidFill>
          <a:ln w="9144">
            <a:solidFill>
              <a:srgbClr val="30363D"/>
            </a:solidFill>
            <a:prstDash val="solid"/>
          </a:ln>
        </p:spPr>
      </p:sp>
      <p:sp>
        <p:nvSpPr>
          <p:cNvPr id="9" name="Text 6"/>
          <p:cNvSpPr/>
          <p:nvPr/>
        </p:nvSpPr>
        <p:spPr>
          <a:xfrm>
            <a:off x="571500" y="2039540"/>
            <a:ext cx="194945" cy="194310"/>
          </a:xfrm>
          <a:prstGeom prst="rect">
            <a:avLst/>
          </a:prstGeom>
          <a:noFill/>
        </p:spPr>
        <p:txBody>
          <a:bodyPr wrap="non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#1</a:t>
            </a:r>
            <a:endParaRPr lang="en-US" sz="1265" dirty="0"/>
          </a:p>
        </p:txBody>
      </p:sp>
      <p:sp>
        <p:nvSpPr>
          <p:cNvPr id="10" name="Shape 7"/>
          <p:cNvSpPr/>
          <p:nvPr/>
        </p:nvSpPr>
        <p:spPr>
          <a:xfrm>
            <a:off x="1143000" y="2034779"/>
            <a:ext cx="952500" cy="235744"/>
          </a:xfrm>
          <a:prstGeom prst="rect">
            <a:avLst/>
          </a:prstGeom>
          <a:solidFill>
            <a:srgbClr val="00FF9C">
              <a:alpha val="10000"/>
            </a:srgbClr>
          </a:solidFill>
          <a:ln w="9144">
            <a:solidFill>
              <a:srgbClr val="00FF9C"/>
            </a:solidFill>
            <a:prstDash val="solid"/>
          </a:ln>
        </p:spPr>
      </p:sp>
      <p:sp>
        <p:nvSpPr>
          <p:cNvPr id="11" name="Text 8"/>
          <p:cNvSpPr/>
          <p:nvPr/>
        </p:nvSpPr>
        <p:spPr>
          <a:xfrm>
            <a:off x="1509713" y="2034779"/>
            <a:ext cx="219075" cy="212725"/>
          </a:xfrm>
          <a:prstGeom prst="rect">
            <a:avLst/>
          </a:prstGeom>
          <a:noFill/>
        </p:spPr>
        <p:txBody>
          <a:bodyPr wrap="none" lIns="0" tIns="45381" rIns="0" bIns="45381" rtlCol="0" anchor="t">
            <a:spAutoFit/>
          </a:bodyPr>
          <a:lstStyle/>
          <a:p>
            <a:pPr marL="0" indent="0" algn="ctr">
              <a:buNone/>
            </a:pPr>
            <a:r>
              <a:rPr lang="en-US" sz="800" b="1" dirty="0">
                <a:solidFill>
                  <a:srgbClr val="00FF9C"/>
                </a:solidFill>
                <a:latin typeface="Inter" pitchFamily="34" charset="0"/>
                <a:ea typeface="Inter" pitchFamily="34" charset="-122"/>
                <a:cs typeface="Inter" pitchFamily="34" charset="-120"/>
              </a:rPr>
              <a:t>EASY</a:t>
            </a:r>
            <a:endParaRPr lang="en-US" sz="800" dirty="0"/>
          </a:p>
        </p:txBody>
      </p:sp>
      <p:sp>
        <p:nvSpPr>
          <p:cNvPr id="12" name="Text 9"/>
          <p:cNvSpPr/>
          <p:nvPr/>
        </p:nvSpPr>
        <p:spPr>
          <a:xfrm>
            <a:off x="2286000" y="2009775"/>
            <a:ext cx="8191500" cy="215265"/>
          </a:xfrm>
          <a:prstGeom prst="rect">
            <a:avLst/>
          </a:prstGeom>
          <a:noFill/>
        </p:spPr>
        <p:txBody>
          <a:bodyPr wrap="square" lIns="0" tIns="0" rIns="0" bIns="0" rtlCol="0" anchor="t">
            <a:spAutoFit/>
          </a:bodyPr>
          <a:lstStyle/>
          <a:p>
            <a:pPr marL="0" indent="0" algn="l">
              <a:buNone/>
            </a:pPr>
            <a:r>
              <a:rPr lang="en-US" sz="1400" dirty="0">
                <a:solidFill>
                  <a:srgbClr val="E6EDF3"/>
                </a:solidFill>
                <a:latin typeface="Poppins SemiBold" pitchFamily="34" charset="0"/>
                <a:ea typeface="Poppins SemiBold" pitchFamily="34" charset="-122"/>
                <a:cs typeface="Poppins SemiBold" pitchFamily="34" charset="-120"/>
              </a:rPr>
              <a:t>Number Decoder</a:t>
            </a:r>
            <a:endParaRPr lang="en-US" sz="1400" dirty="0"/>
          </a:p>
        </p:txBody>
      </p:sp>
      <p:sp>
        <p:nvSpPr>
          <p:cNvPr id="13" name="Text 10"/>
          <p:cNvSpPr/>
          <p:nvPr/>
        </p:nvSpPr>
        <p:spPr>
          <a:xfrm>
            <a:off x="11148695" y="2026444"/>
            <a:ext cx="471805" cy="215265"/>
          </a:xfrm>
          <a:prstGeom prst="rect">
            <a:avLst/>
          </a:prstGeom>
          <a:noFill/>
        </p:spPr>
        <p:txBody>
          <a:bodyPr wrap="none" lIns="0" tIns="0" rIns="0" bIns="0" rtlCol="0" anchor="t">
            <a:spAutoFit/>
          </a:bodyPr>
          <a:lstStyle/>
          <a:p>
            <a:pPr marL="0" indent="0" algn="r">
              <a:buNone/>
            </a:pPr>
            <a:r>
              <a:rPr lang="en-US" sz="1400" dirty="0">
                <a:solidFill>
                  <a:srgbClr val="58A6FF"/>
                </a:solidFill>
                <a:latin typeface="JetBrains Mono Medium" pitchFamily="34" charset="0"/>
                <a:ea typeface="JetBrains Mono Medium" pitchFamily="34" charset="-122"/>
                <a:cs typeface="JetBrains Mono Medium" pitchFamily="34" charset="-120"/>
              </a:rPr>
              <a:t>50 pts</a:t>
            </a:r>
            <a:endParaRPr lang="en-US" sz="1400" dirty="0"/>
          </a:p>
        </p:txBody>
      </p:sp>
      <p:sp>
        <p:nvSpPr>
          <p:cNvPr id="14" name="Text 11"/>
          <p:cNvSpPr/>
          <p:nvPr/>
        </p:nvSpPr>
        <p:spPr>
          <a:xfrm>
            <a:off x="571500" y="2639616"/>
            <a:ext cx="194945" cy="194310"/>
          </a:xfrm>
          <a:prstGeom prst="rect">
            <a:avLst/>
          </a:prstGeom>
          <a:noFill/>
        </p:spPr>
        <p:txBody>
          <a:bodyPr wrap="non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#2</a:t>
            </a:r>
            <a:endParaRPr lang="en-US" sz="1265" dirty="0"/>
          </a:p>
        </p:txBody>
      </p:sp>
      <p:sp>
        <p:nvSpPr>
          <p:cNvPr id="15" name="Shape 12"/>
          <p:cNvSpPr/>
          <p:nvPr/>
        </p:nvSpPr>
        <p:spPr>
          <a:xfrm>
            <a:off x="1143000" y="2634853"/>
            <a:ext cx="952500" cy="235744"/>
          </a:xfrm>
          <a:prstGeom prst="rect">
            <a:avLst/>
          </a:prstGeom>
          <a:solidFill>
            <a:srgbClr val="00FF9C">
              <a:alpha val="10000"/>
            </a:srgbClr>
          </a:solidFill>
          <a:ln w="9144">
            <a:solidFill>
              <a:srgbClr val="00FF9C"/>
            </a:solidFill>
            <a:prstDash val="solid"/>
          </a:ln>
        </p:spPr>
      </p:sp>
      <p:sp>
        <p:nvSpPr>
          <p:cNvPr id="16" name="Text 13"/>
          <p:cNvSpPr/>
          <p:nvPr/>
        </p:nvSpPr>
        <p:spPr>
          <a:xfrm>
            <a:off x="1509713" y="2634853"/>
            <a:ext cx="219075" cy="212725"/>
          </a:xfrm>
          <a:prstGeom prst="rect">
            <a:avLst/>
          </a:prstGeom>
          <a:noFill/>
        </p:spPr>
        <p:txBody>
          <a:bodyPr wrap="none" lIns="0" tIns="45381" rIns="0" bIns="45381" rtlCol="0" anchor="t">
            <a:spAutoFit/>
          </a:bodyPr>
          <a:lstStyle/>
          <a:p>
            <a:pPr marL="0" indent="0" algn="ctr">
              <a:buNone/>
            </a:pPr>
            <a:r>
              <a:rPr lang="en-US" sz="800" b="1" dirty="0">
                <a:solidFill>
                  <a:srgbClr val="00FF9C"/>
                </a:solidFill>
                <a:latin typeface="Inter" pitchFamily="34" charset="0"/>
                <a:ea typeface="Inter" pitchFamily="34" charset="-122"/>
                <a:cs typeface="Inter" pitchFamily="34" charset="-120"/>
              </a:rPr>
              <a:t>EASY</a:t>
            </a:r>
            <a:endParaRPr lang="en-US" sz="800" dirty="0"/>
          </a:p>
        </p:txBody>
      </p:sp>
      <p:sp>
        <p:nvSpPr>
          <p:cNvPr id="17" name="Text 14"/>
          <p:cNvSpPr/>
          <p:nvPr/>
        </p:nvSpPr>
        <p:spPr>
          <a:xfrm>
            <a:off x="2286000" y="2609851"/>
            <a:ext cx="8191500" cy="215265"/>
          </a:xfrm>
          <a:prstGeom prst="rect">
            <a:avLst/>
          </a:prstGeom>
          <a:noFill/>
        </p:spPr>
        <p:txBody>
          <a:bodyPr wrap="square" lIns="0" tIns="0" rIns="0" bIns="0" rtlCol="0" anchor="t">
            <a:spAutoFit/>
          </a:bodyPr>
          <a:lstStyle/>
          <a:p>
            <a:pPr marL="0" indent="0" algn="l">
              <a:buNone/>
            </a:pPr>
            <a:r>
              <a:rPr lang="en-US" sz="1400" dirty="0">
                <a:solidFill>
                  <a:srgbClr val="E6EDF3"/>
                </a:solidFill>
                <a:latin typeface="Poppins SemiBold" pitchFamily="34" charset="0"/>
                <a:ea typeface="Poppins SemiBold" pitchFamily="34" charset="-122"/>
                <a:cs typeface="Poppins SemiBold" pitchFamily="34" charset="-120"/>
              </a:rPr>
              <a:t>Base64 Chain</a:t>
            </a:r>
            <a:endParaRPr lang="en-US" sz="1400" dirty="0"/>
          </a:p>
        </p:txBody>
      </p:sp>
      <p:sp>
        <p:nvSpPr>
          <p:cNvPr id="18" name="Text 15"/>
          <p:cNvSpPr/>
          <p:nvPr/>
        </p:nvSpPr>
        <p:spPr>
          <a:xfrm>
            <a:off x="11148695" y="2626519"/>
            <a:ext cx="471805" cy="215265"/>
          </a:xfrm>
          <a:prstGeom prst="rect">
            <a:avLst/>
          </a:prstGeom>
          <a:noFill/>
        </p:spPr>
        <p:txBody>
          <a:bodyPr wrap="none" lIns="0" tIns="0" rIns="0" bIns="0" rtlCol="0" anchor="t">
            <a:spAutoFit/>
          </a:bodyPr>
          <a:lstStyle/>
          <a:p>
            <a:pPr marL="0" indent="0" algn="r">
              <a:buNone/>
            </a:pPr>
            <a:r>
              <a:rPr lang="en-US" sz="1400" dirty="0">
                <a:solidFill>
                  <a:srgbClr val="58A6FF"/>
                </a:solidFill>
                <a:latin typeface="JetBrains Mono Medium" pitchFamily="34" charset="0"/>
                <a:ea typeface="JetBrains Mono Medium" pitchFamily="34" charset="-122"/>
                <a:cs typeface="JetBrains Mono Medium" pitchFamily="34" charset="-120"/>
              </a:rPr>
              <a:t>50 pts</a:t>
            </a:r>
            <a:endParaRPr lang="en-US" sz="1400" dirty="0"/>
          </a:p>
        </p:txBody>
      </p:sp>
      <p:sp>
        <p:nvSpPr>
          <p:cNvPr id="19" name="Text 16"/>
          <p:cNvSpPr/>
          <p:nvPr/>
        </p:nvSpPr>
        <p:spPr>
          <a:xfrm>
            <a:off x="571500" y="3239691"/>
            <a:ext cx="194945" cy="194310"/>
          </a:xfrm>
          <a:prstGeom prst="rect">
            <a:avLst/>
          </a:prstGeom>
          <a:noFill/>
        </p:spPr>
        <p:txBody>
          <a:bodyPr wrap="non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#3</a:t>
            </a:r>
            <a:endParaRPr lang="en-US" sz="1265" dirty="0"/>
          </a:p>
        </p:txBody>
      </p:sp>
      <p:sp>
        <p:nvSpPr>
          <p:cNvPr id="20" name="Shape 17"/>
          <p:cNvSpPr/>
          <p:nvPr/>
        </p:nvSpPr>
        <p:spPr>
          <a:xfrm>
            <a:off x="1143000" y="3234928"/>
            <a:ext cx="952500" cy="235744"/>
          </a:xfrm>
          <a:prstGeom prst="rect">
            <a:avLst/>
          </a:prstGeom>
          <a:solidFill>
            <a:srgbClr val="E3B341">
              <a:alpha val="10000"/>
            </a:srgbClr>
          </a:solidFill>
          <a:ln w="9144">
            <a:solidFill>
              <a:srgbClr val="E3B341"/>
            </a:solidFill>
            <a:prstDash val="solid"/>
          </a:ln>
        </p:spPr>
      </p:sp>
      <p:sp>
        <p:nvSpPr>
          <p:cNvPr id="21" name="Text 18"/>
          <p:cNvSpPr/>
          <p:nvPr/>
        </p:nvSpPr>
        <p:spPr>
          <a:xfrm>
            <a:off x="1423353" y="3234928"/>
            <a:ext cx="391795" cy="212725"/>
          </a:xfrm>
          <a:prstGeom prst="rect">
            <a:avLst/>
          </a:prstGeom>
          <a:noFill/>
        </p:spPr>
        <p:txBody>
          <a:bodyPr wrap="none" lIns="0" tIns="45381" rIns="0" bIns="45381" rtlCol="0" anchor="t">
            <a:spAutoFit/>
          </a:bodyPr>
          <a:lstStyle/>
          <a:p>
            <a:pPr marL="0" indent="0" algn="ctr">
              <a:buNone/>
            </a:pPr>
            <a:r>
              <a:rPr lang="en-US" sz="800" b="1" dirty="0">
                <a:solidFill>
                  <a:srgbClr val="E3B341"/>
                </a:solidFill>
                <a:latin typeface="Inter" pitchFamily="34" charset="0"/>
                <a:ea typeface="Inter" pitchFamily="34" charset="-122"/>
                <a:cs typeface="Inter" pitchFamily="34" charset="-120"/>
              </a:rPr>
              <a:t>MEDIUM</a:t>
            </a:r>
            <a:endParaRPr lang="en-US" sz="800" dirty="0"/>
          </a:p>
        </p:txBody>
      </p:sp>
      <p:sp>
        <p:nvSpPr>
          <p:cNvPr id="22" name="Text 19"/>
          <p:cNvSpPr/>
          <p:nvPr/>
        </p:nvSpPr>
        <p:spPr>
          <a:xfrm>
            <a:off x="2286000" y="3209925"/>
            <a:ext cx="8191500" cy="215265"/>
          </a:xfrm>
          <a:prstGeom prst="rect">
            <a:avLst/>
          </a:prstGeom>
          <a:noFill/>
        </p:spPr>
        <p:txBody>
          <a:bodyPr wrap="square" lIns="0" tIns="0" rIns="0" bIns="0" rtlCol="0" anchor="t">
            <a:spAutoFit/>
          </a:bodyPr>
          <a:lstStyle/>
          <a:p>
            <a:pPr marL="0" indent="0" algn="l">
              <a:buNone/>
            </a:pPr>
            <a:r>
              <a:rPr lang="en-US" sz="1400" dirty="0">
                <a:solidFill>
                  <a:srgbClr val="E6EDF3"/>
                </a:solidFill>
                <a:latin typeface="Poppins SemiBold" pitchFamily="34" charset="0"/>
                <a:ea typeface="Poppins SemiBold" pitchFamily="34" charset="-122"/>
                <a:cs typeface="Poppins SemiBold" pitchFamily="34" charset="-120"/>
              </a:rPr>
              <a:t>XOR Breaker</a:t>
            </a:r>
            <a:endParaRPr lang="en-US" sz="1400" dirty="0"/>
          </a:p>
        </p:txBody>
      </p:sp>
      <p:sp>
        <p:nvSpPr>
          <p:cNvPr id="23" name="Text 20"/>
          <p:cNvSpPr/>
          <p:nvPr/>
        </p:nvSpPr>
        <p:spPr>
          <a:xfrm>
            <a:off x="11057255" y="3226593"/>
            <a:ext cx="563245" cy="215265"/>
          </a:xfrm>
          <a:prstGeom prst="rect">
            <a:avLst/>
          </a:prstGeom>
          <a:noFill/>
        </p:spPr>
        <p:txBody>
          <a:bodyPr wrap="none" lIns="0" tIns="0" rIns="0" bIns="0" rtlCol="0" anchor="t">
            <a:spAutoFit/>
          </a:bodyPr>
          <a:lstStyle/>
          <a:p>
            <a:pPr marL="0" indent="0" algn="r">
              <a:buNone/>
            </a:pPr>
            <a:r>
              <a:rPr lang="en-US" sz="1400" dirty="0">
                <a:solidFill>
                  <a:srgbClr val="58A6FF"/>
                </a:solidFill>
                <a:latin typeface="JetBrains Mono Medium" pitchFamily="34" charset="0"/>
                <a:ea typeface="JetBrains Mono Medium" pitchFamily="34" charset="-122"/>
                <a:cs typeface="JetBrains Mono Medium" pitchFamily="34" charset="-120"/>
              </a:rPr>
              <a:t>100 pts</a:t>
            </a:r>
            <a:endParaRPr lang="en-US" sz="1400" dirty="0"/>
          </a:p>
        </p:txBody>
      </p:sp>
      <p:sp>
        <p:nvSpPr>
          <p:cNvPr id="24" name="Text 21"/>
          <p:cNvSpPr/>
          <p:nvPr/>
        </p:nvSpPr>
        <p:spPr>
          <a:xfrm>
            <a:off x="571500" y="3839765"/>
            <a:ext cx="194945" cy="194310"/>
          </a:xfrm>
          <a:prstGeom prst="rect">
            <a:avLst/>
          </a:prstGeom>
          <a:noFill/>
        </p:spPr>
        <p:txBody>
          <a:bodyPr wrap="non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#4</a:t>
            </a:r>
            <a:endParaRPr lang="en-US" sz="1265" dirty="0"/>
          </a:p>
        </p:txBody>
      </p:sp>
      <p:sp>
        <p:nvSpPr>
          <p:cNvPr id="25" name="Shape 22"/>
          <p:cNvSpPr/>
          <p:nvPr/>
        </p:nvSpPr>
        <p:spPr>
          <a:xfrm>
            <a:off x="1143000" y="3835003"/>
            <a:ext cx="952500" cy="235744"/>
          </a:xfrm>
          <a:prstGeom prst="rect">
            <a:avLst/>
          </a:prstGeom>
          <a:solidFill>
            <a:srgbClr val="E3B341">
              <a:alpha val="10000"/>
            </a:srgbClr>
          </a:solidFill>
          <a:ln w="9144">
            <a:solidFill>
              <a:srgbClr val="E3B341"/>
            </a:solidFill>
            <a:prstDash val="solid"/>
          </a:ln>
        </p:spPr>
      </p:sp>
      <p:sp>
        <p:nvSpPr>
          <p:cNvPr id="26" name="Text 23"/>
          <p:cNvSpPr/>
          <p:nvPr/>
        </p:nvSpPr>
        <p:spPr>
          <a:xfrm>
            <a:off x="1423353" y="3835003"/>
            <a:ext cx="391795" cy="212725"/>
          </a:xfrm>
          <a:prstGeom prst="rect">
            <a:avLst/>
          </a:prstGeom>
          <a:noFill/>
        </p:spPr>
        <p:txBody>
          <a:bodyPr wrap="none" lIns="0" tIns="45381" rIns="0" bIns="45381" rtlCol="0" anchor="t">
            <a:spAutoFit/>
          </a:bodyPr>
          <a:lstStyle/>
          <a:p>
            <a:pPr marL="0" indent="0" algn="ctr">
              <a:buNone/>
            </a:pPr>
            <a:r>
              <a:rPr lang="en-US" sz="800" b="1" dirty="0">
                <a:solidFill>
                  <a:srgbClr val="E3B341"/>
                </a:solidFill>
                <a:latin typeface="Inter" pitchFamily="34" charset="0"/>
                <a:ea typeface="Inter" pitchFamily="34" charset="-122"/>
                <a:cs typeface="Inter" pitchFamily="34" charset="-120"/>
              </a:rPr>
              <a:t>MEDIUM</a:t>
            </a:r>
            <a:endParaRPr lang="en-US" sz="800" dirty="0"/>
          </a:p>
        </p:txBody>
      </p:sp>
      <p:sp>
        <p:nvSpPr>
          <p:cNvPr id="27" name="Text 24"/>
          <p:cNvSpPr/>
          <p:nvPr/>
        </p:nvSpPr>
        <p:spPr>
          <a:xfrm>
            <a:off x="2286000" y="3810000"/>
            <a:ext cx="8191500" cy="215265"/>
          </a:xfrm>
          <a:prstGeom prst="rect">
            <a:avLst/>
          </a:prstGeom>
          <a:noFill/>
        </p:spPr>
        <p:txBody>
          <a:bodyPr wrap="square" lIns="0" tIns="0" rIns="0" bIns="0" rtlCol="0" anchor="t">
            <a:spAutoFit/>
          </a:bodyPr>
          <a:lstStyle/>
          <a:p>
            <a:pPr marL="0" indent="0" algn="l">
              <a:buNone/>
            </a:pPr>
            <a:r>
              <a:rPr lang="en-US" sz="1400" dirty="0">
                <a:solidFill>
                  <a:srgbClr val="E6EDF3"/>
                </a:solidFill>
                <a:latin typeface="Poppins SemiBold" pitchFamily="34" charset="0"/>
                <a:ea typeface="Poppins SemiBold" pitchFamily="34" charset="-122"/>
                <a:cs typeface="Poppins SemiBold" pitchFamily="34" charset="-120"/>
              </a:rPr>
              <a:t>Hash Cracker</a:t>
            </a:r>
            <a:endParaRPr lang="en-US" sz="1400" dirty="0"/>
          </a:p>
        </p:txBody>
      </p:sp>
      <p:sp>
        <p:nvSpPr>
          <p:cNvPr id="28" name="Text 25"/>
          <p:cNvSpPr/>
          <p:nvPr/>
        </p:nvSpPr>
        <p:spPr>
          <a:xfrm>
            <a:off x="11057255" y="3826669"/>
            <a:ext cx="563245" cy="215265"/>
          </a:xfrm>
          <a:prstGeom prst="rect">
            <a:avLst/>
          </a:prstGeom>
          <a:noFill/>
        </p:spPr>
        <p:txBody>
          <a:bodyPr wrap="none" lIns="0" tIns="0" rIns="0" bIns="0" rtlCol="0" anchor="t">
            <a:spAutoFit/>
          </a:bodyPr>
          <a:lstStyle/>
          <a:p>
            <a:pPr marL="0" indent="0" algn="r">
              <a:buNone/>
            </a:pPr>
            <a:r>
              <a:rPr lang="en-US" sz="1400" dirty="0">
                <a:solidFill>
                  <a:srgbClr val="58A6FF"/>
                </a:solidFill>
                <a:latin typeface="JetBrains Mono Medium" pitchFamily="34" charset="0"/>
                <a:ea typeface="JetBrains Mono Medium" pitchFamily="34" charset="-122"/>
                <a:cs typeface="JetBrains Mono Medium" pitchFamily="34" charset="-120"/>
              </a:rPr>
              <a:t>100 pts</a:t>
            </a:r>
            <a:endParaRPr lang="en-US" sz="1400" dirty="0"/>
          </a:p>
        </p:txBody>
      </p:sp>
      <p:sp>
        <p:nvSpPr>
          <p:cNvPr id="29" name="Text 26"/>
          <p:cNvSpPr/>
          <p:nvPr/>
        </p:nvSpPr>
        <p:spPr>
          <a:xfrm>
            <a:off x="571500" y="4439840"/>
            <a:ext cx="194945" cy="194310"/>
          </a:xfrm>
          <a:prstGeom prst="rect">
            <a:avLst/>
          </a:prstGeom>
          <a:noFill/>
        </p:spPr>
        <p:txBody>
          <a:bodyPr wrap="non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#5</a:t>
            </a:r>
            <a:endParaRPr lang="en-US" sz="1265" dirty="0"/>
          </a:p>
        </p:txBody>
      </p:sp>
      <p:sp>
        <p:nvSpPr>
          <p:cNvPr id="30" name="Shape 27"/>
          <p:cNvSpPr/>
          <p:nvPr/>
        </p:nvSpPr>
        <p:spPr>
          <a:xfrm>
            <a:off x="1143000" y="4435079"/>
            <a:ext cx="952500" cy="235744"/>
          </a:xfrm>
          <a:prstGeom prst="rect">
            <a:avLst/>
          </a:prstGeom>
          <a:solidFill>
            <a:srgbClr val="FF6B6B">
              <a:alpha val="10000"/>
            </a:srgbClr>
          </a:solidFill>
          <a:ln w="9144">
            <a:solidFill>
              <a:srgbClr val="FF6B6B"/>
            </a:solidFill>
            <a:prstDash val="solid"/>
          </a:ln>
        </p:spPr>
      </p:sp>
      <p:sp>
        <p:nvSpPr>
          <p:cNvPr id="31" name="Text 28"/>
          <p:cNvSpPr/>
          <p:nvPr/>
        </p:nvSpPr>
        <p:spPr>
          <a:xfrm>
            <a:off x="1490345" y="4435079"/>
            <a:ext cx="257810" cy="212725"/>
          </a:xfrm>
          <a:prstGeom prst="rect">
            <a:avLst/>
          </a:prstGeom>
          <a:noFill/>
        </p:spPr>
        <p:txBody>
          <a:bodyPr wrap="none" lIns="0" tIns="45381" rIns="0" bIns="45381" rtlCol="0" anchor="t">
            <a:spAutoFit/>
          </a:bodyPr>
          <a:lstStyle/>
          <a:p>
            <a:pPr marL="0" indent="0" algn="ctr">
              <a:buNone/>
            </a:pPr>
            <a:r>
              <a:rPr lang="en-US" sz="800" b="1" dirty="0">
                <a:solidFill>
                  <a:srgbClr val="FF6B6B"/>
                </a:solidFill>
                <a:latin typeface="Inter" pitchFamily="34" charset="0"/>
                <a:ea typeface="Inter" pitchFamily="34" charset="-122"/>
                <a:cs typeface="Inter" pitchFamily="34" charset="-120"/>
              </a:rPr>
              <a:t>HARD</a:t>
            </a:r>
            <a:endParaRPr lang="en-US" sz="800" dirty="0"/>
          </a:p>
        </p:txBody>
      </p:sp>
      <p:sp>
        <p:nvSpPr>
          <p:cNvPr id="32" name="Text 29"/>
          <p:cNvSpPr/>
          <p:nvPr/>
        </p:nvSpPr>
        <p:spPr>
          <a:xfrm>
            <a:off x="2286000" y="4410075"/>
            <a:ext cx="8191500" cy="215265"/>
          </a:xfrm>
          <a:prstGeom prst="rect">
            <a:avLst/>
          </a:prstGeom>
          <a:noFill/>
        </p:spPr>
        <p:txBody>
          <a:bodyPr wrap="square" lIns="0" tIns="0" rIns="0" bIns="0" rtlCol="0" anchor="t">
            <a:spAutoFit/>
          </a:bodyPr>
          <a:lstStyle/>
          <a:p>
            <a:pPr marL="0" indent="0" algn="l">
              <a:buNone/>
            </a:pPr>
            <a:r>
              <a:rPr lang="en-US" sz="1400" dirty="0">
                <a:solidFill>
                  <a:srgbClr val="E6EDF3"/>
                </a:solidFill>
                <a:latin typeface="Poppins SemiBold" pitchFamily="34" charset="0"/>
                <a:ea typeface="Poppins SemiBold" pitchFamily="34" charset="-122"/>
                <a:cs typeface="Poppins SemiBold" pitchFamily="34" charset="-120"/>
              </a:rPr>
              <a:t>Weak RSA</a:t>
            </a:r>
            <a:endParaRPr lang="en-US" sz="1400" dirty="0"/>
          </a:p>
        </p:txBody>
      </p:sp>
      <p:sp>
        <p:nvSpPr>
          <p:cNvPr id="33" name="Text 30"/>
          <p:cNvSpPr/>
          <p:nvPr/>
        </p:nvSpPr>
        <p:spPr>
          <a:xfrm>
            <a:off x="11057255" y="4426744"/>
            <a:ext cx="563245" cy="215265"/>
          </a:xfrm>
          <a:prstGeom prst="rect">
            <a:avLst/>
          </a:prstGeom>
          <a:noFill/>
        </p:spPr>
        <p:txBody>
          <a:bodyPr wrap="none" lIns="0" tIns="0" rIns="0" bIns="0" rtlCol="0" anchor="t">
            <a:spAutoFit/>
          </a:bodyPr>
          <a:lstStyle/>
          <a:p>
            <a:pPr marL="0" indent="0" algn="r">
              <a:buNone/>
            </a:pPr>
            <a:r>
              <a:rPr lang="en-US" sz="1400" dirty="0">
                <a:solidFill>
                  <a:srgbClr val="58A6FF"/>
                </a:solidFill>
                <a:latin typeface="JetBrains Mono Medium" pitchFamily="34" charset="0"/>
                <a:ea typeface="JetBrains Mono Medium" pitchFamily="34" charset="-122"/>
                <a:cs typeface="JetBrains Mono Medium" pitchFamily="34" charset="-120"/>
              </a:rPr>
              <a:t>200 pts</a:t>
            </a:r>
            <a:endParaRPr lang="en-US" sz="1400" dirty="0"/>
          </a:p>
        </p:txBody>
      </p:sp>
      <p:sp>
        <p:nvSpPr>
          <p:cNvPr id="34" name="Shape 31"/>
          <p:cNvSpPr/>
          <p:nvPr/>
        </p:nvSpPr>
        <p:spPr>
          <a:xfrm>
            <a:off x="381000" y="5717381"/>
            <a:ext cx="3657600" cy="950119"/>
          </a:xfrm>
          <a:prstGeom prst="rect">
            <a:avLst/>
          </a:prstGeom>
          <a:solidFill>
            <a:srgbClr val="58A6FF">
              <a:alpha val="5000"/>
            </a:srgbClr>
          </a:solidFill>
        </p:spPr>
      </p:sp>
      <p:sp>
        <p:nvSpPr>
          <p:cNvPr id="35" name="Shape 32"/>
          <p:cNvSpPr/>
          <p:nvPr/>
        </p:nvSpPr>
        <p:spPr>
          <a:xfrm>
            <a:off x="381000" y="5717381"/>
            <a:ext cx="3657600" cy="19051"/>
          </a:xfrm>
          <a:prstGeom prst="rect">
            <a:avLst/>
          </a:prstGeom>
          <a:solidFill>
            <a:srgbClr val="58A6FF"/>
          </a:solidFill>
        </p:spPr>
      </p:sp>
      <p:sp>
        <p:nvSpPr>
          <p:cNvPr id="36" name="Text 33"/>
          <p:cNvSpPr/>
          <p:nvPr/>
        </p:nvSpPr>
        <p:spPr>
          <a:xfrm>
            <a:off x="495300" y="5831681"/>
            <a:ext cx="3429000" cy="174625"/>
          </a:xfrm>
          <a:prstGeom prst="rect">
            <a:avLst/>
          </a:prstGeom>
          <a:noFill/>
        </p:spPr>
        <p:txBody>
          <a:bodyPr wrap="square" lIns="0" tIns="0" rIns="0" bIns="0" rtlCol="0" anchor="t">
            <a:spAutoFit/>
          </a:bodyPr>
          <a:lstStyle/>
          <a:p>
            <a:pPr marL="0" indent="0" algn="l">
              <a:buNone/>
            </a:pPr>
            <a:r>
              <a:rPr lang="en-US" sz="1135" dirty="0">
                <a:solidFill>
                  <a:srgbClr val="58A6FF"/>
                </a:solidFill>
                <a:latin typeface="Poppins SemiBold" pitchFamily="34" charset="0"/>
                <a:ea typeface="Poppins SemiBold" pitchFamily="34" charset="-122"/>
                <a:cs typeface="Poppins SemiBold" pitchFamily="34" charset="-120"/>
              </a:rPr>
              <a:t>RULES OF ENGAGEMENT</a:t>
            </a:r>
            <a:endParaRPr lang="en-US" sz="1135" dirty="0"/>
          </a:p>
        </p:txBody>
      </p:sp>
      <p:sp>
        <p:nvSpPr>
          <p:cNvPr id="37" name="Text 34"/>
          <p:cNvSpPr/>
          <p:nvPr/>
        </p:nvSpPr>
        <p:spPr>
          <a:xfrm>
            <a:off x="495300" y="6134100"/>
            <a:ext cx="3429000" cy="367665"/>
          </a:xfrm>
          <a:prstGeom prst="rect">
            <a:avLst/>
          </a:prstGeom>
          <a:noFill/>
        </p:spPr>
        <p:txBody>
          <a:bodyPr wrap="square" lIns="0" tIns="0" rIns="0" bIns="0" rtlCol="0" anchor="t">
            <a:spAutoFit/>
          </a:bodyPr>
          <a:lstStyle/>
          <a:p>
            <a:pPr marL="0" indent="0" algn="l">
              <a:lnSpc>
                <a:spcPct val="112000"/>
              </a:lnSpc>
              <a:buNone/>
            </a:pPr>
            <a:r>
              <a:rPr lang="en-US" sz="1065" dirty="0">
                <a:solidFill>
                  <a:srgbClr val="8B949E"/>
                </a:solidFill>
                <a:latin typeface="Inter" pitchFamily="34" charset="0"/>
                <a:ea typeface="Inter" pitchFamily="34" charset="-122"/>
                <a:cs typeface="Inter" pitchFamily="34" charset="-120"/>
              </a:rPr>
              <a:t>Work individually first. Collaboration is encouraged after the first 30 minutes.</a:t>
            </a:r>
            <a:endParaRPr lang="en-US" sz="1065" dirty="0"/>
          </a:p>
        </p:txBody>
      </p:sp>
      <p:sp>
        <p:nvSpPr>
          <p:cNvPr id="38" name="Shape 35"/>
          <p:cNvSpPr/>
          <p:nvPr/>
        </p:nvSpPr>
        <p:spPr>
          <a:xfrm>
            <a:off x="4267200" y="5717381"/>
            <a:ext cx="3657600" cy="950119"/>
          </a:xfrm>
          <a:prstGeom prst="rect">
            <a:avLst/>
          </a:prstGeom>
          <a:solidFill>
            <a:srgbClr val="58A6FF">
              <a:alpha val="5000"/>
            </a:srgbClr>
          </a:solidFill>
        </p:spPr>
      </p:sp>
      <p:sp>
        <p:nvSpPr>
          <p:cNvPr id="39" name="Shape 36"/>
          <p:cNvSpPr/>
          <p:nvPr/>
        </p:nvSpPr>
        <p:spPr>
          <a:xfrm>
            <a:off x="4267200" y="5717381"/>
            <a:ext cx="3657600" cy="19051"/>
          </a:xfrm>
          <a:prstGeom prst="rect">
            <a:avLst/>
          </a:prstGeom>
          <a:solidFill>
            <a:srgbClr val="58A6FF"/>
          </a:solidFill>
        </p:spPr>
      </p:sp>
      <p:sp>
        <p:nvSpPr>
          <p:cNvPr id="40" name="Text 37"/>
          <p:cNvSpPr/>
          <p:nvPr/>
        </p:nvSpPr>
        <p:spPr>
          <a:xfrm>
            <a:off x="4381500" y="5850731"/>
            <a:ext cx="3429000" cy="174625"/>
          </a:xfrm>
          <a:prstGeom prst="rect">
            <a:avLst/>
          </a:prstGeom>
          <a:noFill/>
        </p:spPr>
        <p:txBody>
          <a:bodyPr wrap="square" lIns="0" tIns="0" rIns="0" bIns="0" rtlCol="0" anchor="t">
            <a:spAutoFit/>
          </a:bodyPr>
          <a:lstStyle/>
          <a:p>
            <a:pPr marL="0" indent="0" algn="l">
              <a:buNone/>
            </a:pPr>
            <a:r>
              <a:rPr lang="en-US" sz="1135" dirty="0">
                <a:solidFill>
                  <a:srgbClr val="58A6FF"/>
                </a:solidFill>
                <a:latin typeface="Poppins SemiBold" pitchFamily="34" charset="0"/>
                <a:ea typeface="Poppins SemiBold" pitchFamily="34" charset="-122"/>
                <a:cs typeface="Poppins SemiBold" pitchFamily="34" charset="-120"/>
              </a:rPr>
              <a:t>HINTS</a:t>
            </a:r>
            <a:endParaRPr lang="en-US" sz="1135" dirty="0"/>
          </a:p>
        </p:txBody>
      </p:sp>
      <p:sp>
        <p:nvSpPr>
          <p:cNvPr id="41" name="Text 38"/>
          <p:cNvSpPr/>
          <p:nvPr/>
        </p:nvSpPr>
        <p:spPr>
          <a:xfrm>
            <a:off x="4381500" y="6153151"/>
            <a:ext cx="3429000" cy="367665"/>
          </a:xfrm>
          <a:prstGeom prst="rect">
            <a:avLst/>
          </a:prstGeom>
          <a:noFill/>
        </p:spPr>
        <p:txBody>
          <a:bodyPr wrap="square" lIns="0" tIns="0" rIns="0" bIns="0" rtlCol="0" anchor="t">
            <a:spAutoFit/>
          </a:bodyPr>
          <a:lstStyle/>
          <a:p>
            <a:pPr marL="0" indent="0" algn="l">
              <a:lnSpc>
                <a:spcPct val="112000"/>
              </a:lnSpc>
              <a:buNone/>
            </a:pPr>
            <a:r>
              <a:rPr lang="en-US" sz="1065" dirty="0">
                <a:solidFill>
                  <a:srgbClr val="8B949E"/>
                </a:solidFill>
                <a:latin typeface="Inter" pitchFamily="34" charset="0"/>
                <a:ea typeface="Inter" pitchFamily="34" charset="-122"/>
                <a:cs typeface="Inter" pitchFamily="34" charset="-120"/>
              </a:rPr>
              <a:t>Stuck? Hints are available on the next slides or ask a mentor after 10 minutes.</a:t>
            </a:r>
            <a:endParaRPr lang="en-US" sz="1065" dirty="0"/>
          </a:p>
        </p:txBody>
      </p:sp>
      <p:sp>
        <p:nvSpPr>
          <p:cNvPr id="42" name="Shape 39"/>
          <p:cNvSpPr/>
          <p:nvPr/>
        </p:nvSpPr>
        <p:spPr>
          <a:xfrm>
            <a:off x="8153400" y="5736431"/>
            <a:ext cx="3657600" cy="931069"/>
          </a:xfrm>
          <a:prstGeom prst="rect">
            <a:avLst/>
          </a:prstGeom>
          <a:solidFill>
            <a:srgbClr val="58A6FF">
              <a:alpha val="5000"/>
            </a:srgbClr>
          </a:solidFill>
        </p:spPr>
      </p:sp>
      <p:sp>
        <p:nvSpPr>
          <p:cNvPr id="43" name="Shape 40"/>
          <p:cNvSpPr/>
          <p:nvPr/>
        </p:nvSpPr>
        <p:spPr>
          <a:xfrm>
            <a:off x="8153400" y="5736431"/>
            <a:ext cx="3657600" cy="19051"/>
          </a:xfrm>
          <a:prstGeom prst="rect">
            <a:avLst/>
          </a:prstGeom>
          <a:solidFill>
            <a:srgbClr val="58A6FF"/>
          </a:solidFill>
        </p:spPr>
      </p:sp>
      <p:sp>
        <p:nvSpPr>
          <p:cNvPr id="44" name="Text 41"/>
          <p:cNvSpPr/>
          <p:nvPr/>
        </p:nvSpPr>
        <p:spPr>
          <a:xfrm>
            <a:off x="8267700" y="5850731"/>
            <a:ext cx="3429000" cy="174625"/>
          </a:xfrm>
          <a:prstGeom prst="rect">
            <a:avLst/>
          </a:prstGeom>
          <a:noFill/>
        </p:spPr>
        <p:txBody>
          <a:bodyPr wrap="square" lIns="0" tIns="0" rIns="0" bIns="0" rtlCol="0" anchor="t">
            <a:spAutoFit/>
          </a:bodyPr>
          <a:lstStyle/>
          <a:p>
            <a:pPr marL="0" indent="0" algn="l">
              <a:buNone/>
            </a:pPr>
            <a:r>
              <a:rPr lang="en-US" sz="1135" dirty="0">
                <a:solidFill>
                  <a:srgbClr val="58A6FF"/>
                </a:solidFill>
                <a:latin typeface="Poppins SemiBold" pitchFamily="34" charset="0"/>
                <a:ea typeface="Poppins SemiBold" pitchFamily="34" charset="-122"/>
                <a:cs typeface="Poppins SemiBold" pitchFamily="34" charset="-120"/>
              </a:rPr>
              <a:t>FLAG FORMAT</a:t>
            </a:r>
            <a:endParaRPr lang="en-US" sz="1135" dirty="0"/>
          </a:p>
        </p:txBody>
      </p:sp>
      <p:sp>
        <p:nvSpPr>
          <p:cNvPr id="45" name="Text 42"/>
          <p:cNvSpPr/>
          <p:nvPr/>
        </p:nvSpPr>
        <p:spPr>
          <a:xfrm>
            <a:off x="8267700" y="6153151"/>
            <a:ext cx="2543175" cy="183515"/>
          </a:xfrm>
          <a:prstGeom prst="rect">
            <a:avLst/>
          </a:prstGeom>
          <a:noFill/>
        </p:spPr>
        <p:txBody>
          <a:bodyPr wrap="none" lIns="0" tIns="0" rIns="0" bIns="0" rtlCol="0" anchor="t">
            <a:spAutoFit/>
          </a:bodyPr>
          <a:lstStyle/>
          <a:p>
            <a:pPr marL="0" indent="0" algn="l">
              <a:lnSpc>
                <a:spcPct val="112000"/>
              </a:lnSpc>
              <a:buNone/>
            </a:pPr>
            <a:r>
              <a:rPr lang="en-US" sz="1065" dirty="0">
                <a:solidFill>
                  <a:srgbClr val="8B949E"/>
                </a:solidFill>
                <a:latin typeface="Inter" pitchFamily="34" charset="0"/>
                <a:ea typeface="Inter" pitchFamily="34" charset="-122"/>
                <a:cs typeface="Inter" pitchFamily="34" charset="-120"/>
              </a:rPr>
              <a:t>All flags follow the standard format: </a:t>
            </a:r>
            <a:r>
              <a:rPr lang="en-US" sz="1065" dirty="0">
                <a:solidFill>
                  <a:srgbClr val="FF6B6B"/>
                </a:solidFill>
                <a:latin typeface="JetBrains Mono Medium" pitchFamily="34" charset="0"/>
                <a:ea typeface="JetBrains Mono Medium" pitchFamily="34" charset="-122"/>
                <a:cs typeface="JetBrains Mono Medium" pitchFamily="34" charset="-120"/>
              </a:rPr>
              <a:t>flag{...}</a:t>
            </a:r>
            <a:endParaRPr lang="en-US" sz="1065" dirty="0"/>
          </a:p>
        </p:txBody>
      </p:sp>
      <p:grpSp>
        <p:nvGrpSpPr>
          <p:cNvPr id="46" name="Group 2"/>
          <p:cNvGrpSpPr/>
          <p:nvPr/>
        </p:nvGrpSpPr>
        <p:grpSpPr>
          <a:xfrm rot="0">
            <a:off x="294640" y="194310"/>
            <a:ext cx="789305" cy="299720"/>
            <a:chOff x="0" y="0"/>
            <a:chExt cx="341337" cy="102463"/>
          </a:xfrm>
        </p:grpSpPr>
        <p:sp>
          <p:nvSpPr>
            <p:cNvPr id="47"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8"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9" name="Group 5"/>
          <p:cNvGrpSpPr/>
          <p:nvPr/>
        </p:nvGrpSpPr>
        <p:grpSpPr>
          <a:xfrm rot="0">
            <a:off x="822325" y="209550"/>
            <a:ext cx="220980" cy="246380"/>
            <a:chOff x="0" y="0"/>
            <a:chExt cx="812800" cy="812800"/>
          </a:xfrm>
        </p:grpSpPr>
        <p:sp>
          <p:nvSpPr>
            <p:cNvPr id="50"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1"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52"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68 | EWUCSC</a:t>
            </a:r>
            <a:endParaRPr lang="en-US" sz="1265" dirty="0"/>
          </a:p>
        </p:txBody>
      </p:sp>
      <p:sp>
        <p:nvSpPr>
          <p:cNvPr id="7" name="Shape 4"/>
          <p:cNvSpPr/>
          <p:nvPr/>
        </p:nvSpPr>
        <p:spPr>
          <a:xfrm>
            <a:off x="381000" y="952500"/>
            <a:ext cx="5524500" cy="233363"/>
          </a:xfrm>
          <a:prstGeom prst="rect">
            <a:avLst/>
          </a:prstGeom>
          <a:solidFill>
            <a:srgbClr val="00FF9C">
              <a:alpha val="10000"/>
            </a:srgbClr>
          </a:solidFill>
          <a:ln w="9144">
            <a:solidFill>
              <a:srgbClr val="00FF9C"/>
            </a:solidFill>
            <a:prstDash val="solid"/>
          </a:ln>
        </p:spPr>
      </p:sp>
      <p:sp>
        <p:nvSpPr>
          <p:cNvPr id="8" name="Text 5"/>
          <p:cNvSpPr/>
          <p:nvPr/>
        </p:nvSpPr>
        <p:spPr>
          <a:xfrm>
            <a:off x="381000" y="952500"/>
            <a:ext cx="5524500" cy="198755"/>
          </a:xfrm>
          <a:prstGeom prst="rect">
            <a:avLst/>
          </a:prstGeom>
          <a:noFill/>
        </p:spPr>
        <p:txBody>
          <a:bodyPr wrap="square" lIns="136144" tIns="45381" rIns="136144" bIns="0" rtlCol="0" anchor="t">
            <a:spAutoFit/>
          </a:bodyPr>
          <a:lstStyle/>
          <a:p>
            <a:pPr marL="0" indent="0" algn="l">
              <a:buNone/>
            </a:pPr>
            <a:r>
              <a:rPr lang="en-US" sz="1000" dirty="0">
                <a:solidFill>
                  <a:srgbClr val="00FF9C"/>
                </a:solidFill>
                <a:latin typeface="JetBrains Mono Medium" pitchFamily="34" charset="0"/>
                <a:ea typeface="JetBrains Mono Medium" pitchFamily="34" charset="-122"/>
                <a:cs typeface="JetBrains Mono Medium" pitchFamily="34" charset="-120"/>
              </a:rPr>
              <a:t>50 POINTS</a:t>
            </a:r>
            <a:endParaRPr lang="en-US" sz="1000" dirty="0"/>
          </a:p>
        </p:txBody>
      </p:sp>
      <p:sp>
        <p:nvSpPr>
          <p:cNvPr id="9" name="Text 6"/>
          <p:cNvSpPr/>
          <p:nvPr/>
        </p:nvSpPr>
        <p:spPr>
          <a:xfrm>
            <a:off x="381000" y="1500188"/>
            <a:ext cx="55245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Challenge 1: The Spy's Message</a:t>
            </a:r>
            <a:endParaRPr lang="en-US" sz="2800" dirty="0"/>
          </a:p>
        </p:txBody>
      </p:sp>
      <p:sp>
        <p:nvSpPr>
          <p:cNvPr id="10" name="Text 7"/>
          <p:cNvSpPr/>
          <p:nvPr/>
        </p:nvSpPr>
        <p:spPr>
          <a:xfrm>
            <a:off x="381000" y="2938463"/>
            <a:ext cx="5524500" cy="49974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E6EDF3"/>
                </a:solidFill>
                <a:latin typeface="Inter" pitchFamily="34" charset="0"/>
                <a:ea typeface="Inter" pitchFamily="34" charset="-122"/>
                <a:cs typeface="Inter" pitchFamily="34" charset="-120"/>
              </a:rPr>
              <a:t>A spy transmitted coordinates using an unusual encoding. Your task is to decode the transmission and find the hidden flag.</a:t>
            </a:r>
            <a:endParaRPr lang="en-US" sz="1265" dirty="0"/>
          </a:p>
        </p:txBody>
      </p:sp>
      <p:sp>
        <p:nvSpPr>
          <p:cNvPr id="11" name="Shape 8"/>
          <p:cNvSpPr/>
          <p:nvPr/>
        </p:nvSpPr>
        <p:spPr>
          <a:xfrm>
            <a:off x="381000" y="3725168"/>
            <a:ext cx="5524500" cy="1285875"/>
          </a:xfrm>
          <a:prstGeom prst="rect">
            <a:avLst/>
          </a:prstGeom>
          <a:solidFill>
            <a:srgbClr val="161B22"/>
          </a:solidFill>
          <a:ln w="9144">
            <a:solidFill>
              <a:srgbClr val="30363D"/>
            </a:solidFill>
            <a:prstDash val="solid"/>
          </a:ln>
        </p:spPr>
      </p:sp>
      <p:sp>
        <p:nvSpPr>
          <p:cNvPr id="12" name="Text 9"/>
          <p:cNvSpPr/>
          <p:nvPr/>
        </p:nvSpPr>
        <p:spPr>
          <a:xfrm>
            <a:off x="381000" y="3725168"/>
            <a:ext cx="5524500" cy="1212215"/>
          </a:xfrm>
          <a:prstGeom prst="rect">
            <a:avLst/>
          </a:prstGeom>
          <a:noFill/>
        </p:spPr>
        <p:txBody>
          <a:bodyPr wrap="square" lIns="283464" tIns="283464" rIns="283464" bIns="0" rtlCol="0" anchor="t">
            <a:spAutoFit/>
          </a:bodyPr>
          <a:lstStyle/>
          <a:p>
            <a:pPr marL="0" indent="0" algn="l">
              <a:lnSpc>
                <a:spcPct val="144000"/>
              </a:lnSpc>
              <a:buNone/>
            </a:pPr>
            <a:r>
              <a:rPr lang="en-US" sz="1400" dirty="0">
                <a:solidFill>
                  <a:srgbClr val="58A6FF"/>
                </a:solidFill>
                <a:latin typeface="JetBrains Mono Medium" pitchFamily="34" charset="0"/>
                <a:ea typeface="JetBrains Mono Medium" pitchFamily="34" charset="-122"/>
                <a:cs typeface="JetBrains Mono Medium" pitchFamily="34" charset="-120"/>
              </a:rPr>
              <a:t>0x66 0x6C 0x61 0x67 0x7B
0x6E 0x75 0x6D 0x62 0x65
0x72 0x73 0x7D</a:t>
            </a:r>
            <a:endParaRPr lang="en-US" sz="1400" dirty="0"/>
          </a:p>
        </p:txBody>
      </p:sp>
      <p:sp>
        <p:nvSpPr>
          <p:cNvPr id="13" name="Shape 10"/>
          <p:cNvSpPr/>
          <p:nvPr/>
        </p:nvSpPr>
        <p:spPr>
          <a:xfrm>
            <a:off x="571500" y="3629917"/>
            <a:ext cx="1450181" cy="205717"/>
          </a:xfrm>
          <a:prstGeom prst="rect">
            <a:avLst/>
          </a:prstGeom>
          <a:solidFill>
            <a:srgbClr val="0D1117"/>
          </a:solidFill>
        </p:spPr>
      </p:sp>
      <p:sp>
        <p:nvSpPr>
          <p:cNvPr id="14" name="Text 11"/>
          <p:cNvSpPr/>
          <p:nvPr/>
        </p:nvSpPr>
        <p:spPr>
          <a:xfrm>
            <a:off x="571500" y="3629917"/>
            <a:ext cx="716915" cy="176530"/>
          </a:xfrm>
          <a:prstGeom prst="rect">
            <a:avLst/>
          </a:prstGeom>
          <a:noFill/>
        </p:spPr>
        <p:txBody>
          <a:bodyPr wrap="none" lIns="113453" tIns="0" rIns="113453" bIns="0" rtlCol="0" anchor="t">
            <a:spAutoFit/>
          </a:bodyPr>
          <a:lstStyle/>
          <a:p>
            <a:pPr marL="0" indent="0" algn="l">
              <a:lnSpc>
                <a:spcPct val="144000"/>
              </a:lnSpc>
              <a:buNone/>
            </a:pPr>
            <a:r>
              <a:rPr lang="en-US" sz="800" dirty="0">
                <a:solidFill>
                  <a:srgbClr val="8B949E"/>
                </a:solidFill>
                <a:latin typeface="JetBrains Mono Medium" pitchFamily="34" charset="0"/>
                <a:ea typeface="JetBrains Mono Medium" pitchFamily="34" charset="-122"/>
                <a:cs typeface="JetBrains Mono Medium" pitchFamily="34" charset="-120"/>
              </a:rPr>
              <a:t>INCOMING</a:t>
            </a:r>
            <a:endParaRPr lang="en-US" sz="800" dirty="0"/>
          </a:p>
        </p:txBody>
      </p:sp>
      <p:sp>
        <p:nvSpPr>
          <p:cNvPr id="15" name="Shape 12"/>
          <p:cNvSpPr/>
          <p:nvPr/>
        </p:nvSpPr>
        <p:spPr>
          <a:xfrm>
            <a:off x="571500" y="3629917"/>
            <a:ext cx="1450181" cy="205717"/>
          </a:xfrm>
          <a:prstGeom prst="rect">
            <a:avLst/>
          </a:prstGeom>
          <a:solidFill>
            <a:srgbClr val="0D1117"/>
          </a:solidFill>
        </p:spPr>
      </p:sp>
      <p:sp>
        <p:nvSpPr>
          <p:cNvPr id="16" name="Text 13"/>
          <p:cNvSpPr/>
          <p:nvPr/>
        </p:nvSpPr>
        <p:spPr>
          <a:xfrm>
            <a:off x="571500" y="3629917"/>
            <a:ext cx="915670" cy="176530"/>
          </a:xfrm>
          <a:prstGeom prst="rect">
            <a:avLst/>
          </a:prstGeom>
          <a:noFill/>
        </p:spPr>
        <p:txBody>
          <a:bodyPr wrap="none" lIns="113453" tIns="0" rIns="113453" bIns="0" rtlCol="0" anchor="t">
            <a:spAutoFit/>
          </a:bodyPr>
          <a:lstStyle/>
          <a:p>
            <a:pPr marL="0" indent="0" algn="l">
              <a:lnSpc>
                <a:spcPct val="144000"/>
              </a:lnSpc>
              <a:buNone/>
            </a:pPr>
            <a:r>
              <a:rPr lang="en-US" sz="800" dirty="0">
                <a:solidFill>
                  <a:srgbClr val="8B949E"/>
                </a:solidFill>
                <a:latin typeface="JetBrains Mono Medium" pitchFamily="34" charset="0"/>
                <a:ea typeface="JetBrains Mono Medium" pitchFamily="34" charset="-122"/>
                <a:cs typeface="JetBrains Mono Medium" pitchFamily="34" charset="-120"/>
              </a:rPr>
              <a:t>TRANSMISSION</a:t>
            </a:r>
            <a:endParaRPr lang="en-US" sz="800" dirty="0"/>
          </a:p>
        </p:txBody>
      </p:sp>
      <p:sp>
        <p:nvSpPr>
          <p:cNvPr id="17" name="Shape 14"/>
          <p:cNvSpPr/>
          <p:nvPr/>
        </p:nvSpPr>
        <p:spPr>
          <a:xfrm>
            <a:off x="6286500" y="952500"/>
            <a:ext cx="5524500" cy="897731"/>
          </a:xfrm>
          <a:prstGeom prst="rect">
            <a:avLst/>
          </a:prstGeom>
          <a:solidFill>
            <a:srgbClr val="E3B341">
              <a:alpha val="10000"/>
            </a:srgbClr>
          </a:solidFill>
          <a:ln w="9144">
            <a:solidFill>
              <a:srgbClr val="E3B341"/>
            </a:solidFill>
            <a:prstDash val="solid"/>
          </a:ln>
        </p:spPr>
      </p:sp>
      <p:pic>
        <p:nvPicPr>
          <p:cNvPr id="18" name="Image 1" descr="preencoded.png"/>
          <p:cNvPicPr>
            <a:picLocks noChangeAspect="1"/>
          </p:cNvPicPr>
          <p:nvPr/>
        </p:nvPicPr>
        <p:blipFill>
          <a:blip r:embed="rId2"/>
          <a:stretch>
            <a:fillRect/>
          </a:stretch>
        </p:blipFill>
        <p:spPr>
          <a:xfrm>
            <a:off x="6477000" y="1179909"/>
            <a:ext cx="114300" cy="152400"/>
          </a:xfrm>
          <a:prstGeom prst="rect">
            <a:avLst/>
          </a:prstGeom>
        </p:spPr>
      </p:pic>
      <p:sp>
        <p:nvSpPr>
          <p:cNvPr id="19" name="Text 15"/>
          <p:cNvSpPr/>
          <p:nvPr/>
        </p:nvSpPr>
        <p:spPr>
          <a:xfrm>
            <a:off x="6686551" y="1143000"/>
            <a:ext cx="321310" cy="174625"/>
          </a:xfrm>
          <a:prstGeom prst="rect">
            <a:avLst/>
          </a:prstGeom>
          <a:noFill/>
        </p:spPr>
        <p:txBody>
          <a:bodyPr wrap="none" lIns="0" tIns="0" rIns="0" bIns="0" rtlCol="0" anchor="t">
            <a:spAutoFit/>
          </a:bodyPr>
          <a:lstStyle/>
          <a:p>
            <a:pPr marL="0" indent="0" algn="l">
              <a:buNone/>
            </a:pPr>
            <a:r>
              <a:rPr lang="en-US" sz="1135" dirty="0">
                <a:solidFill>
                  <a:srgbClr val="E3B341"/>
                </a:solidFill>
                <a:latin typeface="Poppins SemiBold" pitchFamily="34" charset="0"/>
                <a:ea typeface="Poppins SemiBold" pitchFamily="34" charset="-122"/>
                <a:cs typeface="Poppins SemiBold" pitchFamily="34" charset="-120"/>
              </a:rPr>
              <a:t>HINT</a:t>
            </a:r>
            <a:endParaRPr lang="en-US" sz="1135" dirty="0"/>
          </a:p>
        </p:txBody>
      </p:sp>
      <p:sp>
        <p:nvSpPr>
          <p:cNvPr id="20" name="Text 16"/>
          <p:cNvSpPr/>
          <p:nvPr/>
        </p:nvSpPr>
        <p:spPr>
          <a:xfrm>
            <a:off x="6477000" y="1464469"/>
            <a:ext cx="5143500" cy="349885"/>
          </a:xfrm>
          <a:prstGeom prst="rect">
            <a:avLst/>
          </a:prstGeom>
          <a:noFill/>
        </p:spPr>
        <p:txBody>
          <a:bodyPr wrap="square" lIns="0" tIns="0" rIns="0" bIns="0" rtlCol="0" anchor="t">
            <a:spAutoFit/>
          </a:bodyPr>
          <a:lstStyle/>
          <a:p>
            <a:pPr marL="0" indent="0" algn="l">
              <a:buNone/>
            </a:pPr>
            <a:r>
              <a:rPr lang="en-US" sz="1135" dirty="0">
                <a:solidFill>
                  <a:srgbClr val="E3B341"/>
                </a:solidFill>
                <a:latin typeface="Inter" pitchFamily="34" charset="0"/>
                <a:ea typeface="Inter" pitchFamily="34" charset="-122"/>
                <a:cs typeface="Inter" pitchFamily="34" charset="-120"/>
              </a:rPr>
              <a:t>Each hex value (starting with 0x) represents a single character in the ASCII table. Look up a hex-to-ASCII chart or use a converter.</a:t>
            </a:r>
            <a:endParaRPr lang="en-US" sz="1135" dirty="0"/>
          </a:p>
        </p:txBody>
      </p:sp>
      <p:sp>
        <p:nvSpPr>
          <p:cNvPr id="21" name="Shape 17"/>
          <p:cNvSpPr/>
          <p:nvPr/>
        </p:nvSpPr>
        <p:spPr>
          <a:xfrm>
            <a:off x="6286500" y="4927327"/>
            <a:ext cx="5524500" cy="1740173"/>
          </a:xfrm>
          <a:prstGeom prst="rect">
            <a:avLst/>
          </a:prstGeom>
          <a:solidFill>
            <a:srgbClr val="161B22"/>
          </a:solidFill>
          <a:ln w="9144">
            <a:solidFill>
              <a:srgbClr val="30363D"/>
            </a:solidFill>
            <a:prstDash val="solid"/>
          </a:ln>
        </p:spPr>
      </p:sp>
      <p:sp>
        <p:nvSpPr>
          <p:cNvPr id="22" name="Text 18"/>
          <p:cNvSpPr/>
          <p:nvPr/>
        </p:nvSpPr>
        <p:spPr>
          <a:xfrm>
            <a:off x="6524625" y="5184503"/>
            <a:ext cx="5048251"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Poppins SemiBold" pitchFamily="34" charset="0"/>
                <a:ea typeface="Poppins SemiBold" pitchFamily="34" charset="-122"/>
                <a:cs typeface="Poppins SemiBold" pitchFamily="34" charset="-120"/>
              </a:rPr>
              <a:t>SOLUTION WALKTHROUGH</a:t>
            </a:r>
            <a:endParaRPr lang="en-US" sz="1000" dirty="0"/>
          </a:p>
        </p:txBody>
      </p:sp>
      <p:sp>
        <p:nvSpPr>
          <p:cNvPr id="23" name="Text 19"/>
          <p:cNvSpPr/>
          <p:nvPr/>
        </p:nvSpPr>
        <p:spPr>
          <a:xfrm>
            <a:off x="6524625" y="5482159"/>
            <a:ext cx="5048251" cy="588010"/>
          </a:xfrm>
          <a:prstGeom prst="rect">
            <a:avLst/>
          </a:prstGeom>
          <a:noFill/>
        </p:spPr>
        <p:txBody>
          <a:bodyPr wrap="square" lIns="0" tIns="0" rIns="0" bIns="0" rtlCol="0" anchor="t">
            <a:spAutoFit/>
          </a:bodyPr>
          <a:lstStyle/>
          <a:p>
            <a:pPr marL="0" indent="0" algn="l">
              <a:lnSpc>
                <a:spcPct val="112000"/>
              </a:lnSpc>
              <a:buNone/>
            </a:pPr>
            <a:r>
              <a:rPr lang="en-US" sz="1135" dirty="0">
                <a:solidFill>
                  <a:srgbClr val="E6EDF3"/>
                </a:solidFill>
                <a:latin typeface="Inter" pitchFamily="34" charset="0"/>
                <a:ea typeface="Inter" pitchFamily="34" charset="-122"/>
                <a:cs typeface="Inter" pitchFamily="34" charset="-120"/>
              </a:rPr>
              <a:t>66 = f | 6C = l | 61 = a | 67 = g | 7B = {
6E = n | 75 = u | 6D = m | 62 = b | 65 = e
72 = r | 73 = s | 7D = }</a:t>
            </a:r>
            <a:endParaRPr lang="en-US" sz="1135" dirty="0"/>
          </a:p>
        </p:txBody>
      </p:sp>
      <p:sp>
        <p:nvSpPr>
          <p:cNvPr id="24" name="Text 20"/>
          <p:cNvSpPr/>
          <p:nvPr/>
        </p:nvSpPr>
        <p:spPr>
          <a:xfrm>
            <a:off x="6524625" y="6265069"/>
            <a:ext cx="5048251" cy="348615"/>
          </a:xfrm>
          <a:prstGeom prst="rect">
            <a:avLst/>
          </a:prstGeom>
          <a:noFill/>
        </p:spPr>
        <p:txBody>
          <a:bodyPr wrap="square" lIns="0" tIns="0" rIns="0" bIns="0" rtlCol="0" anchor="t">
            <a:spAutoFit/>
          </a:bodyPr>
          <a:lstStyle/>
          <a:p>
            <a:pPr marL="0" indent="0" algn="ctr">
              <a:buNone/>
            </a:pPr>
            <a:r>
              <a:rPr lang="en-US" sz="2265" dirty="0">
                <a:solidFill>
                  <a:srgbClr val="FF6B6B"/>
                </a:solidFill>
                <a:latin typeface="JetBrains Mono Medium" pitchFamily="34" charset="0"/>
                <a:ea typeface="JetBrains Mono Medium" pitchFamily="34" charset="-122"/>
                <a:cs typeface="JetBrains Mono Medium" pitchFamily="34" charset="-120"/>
              </a:rPr>
              <a:t>flag{numbers}</a:t>
            </a:r>
            <a:endParaRPr lang="en-US" sz="226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69 | EWUCSC</a:t>
            </a:r>
            <a:endParaRPr lang="en-US" sz="1265" dirty="0"/>
          </a:p>
        </p:txBody>
      </p:sp>
      <p:sp>
        <p:nvSpPr>
          <p:cNvPr id="7" name="Text 4"/>
          <p:cNvSpPr/>
          <p:nvPr/>
        </p:nvSpPr>
        <p:spPr>
          <a:xfrm>
            <a:off x="381000" y="952500"/>
            <a:ext cx="5948363"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Challenge 2: Double Encoded</a:t>
            </a:r>
            <a:endParaRPr lang="en-US" sz="2800" dirty="0"/>
          </a:p>
        </p:txBody>
      </p:sp>
      <p:sp>
        <p:nvSpPr>
          <p:cNvPr id="8" name="Shape 5"/>
          <p:cNvSpPr/>
          <p:nvPr/>
        </p:nvSpPr>
        <p:spPr>
          <a:xfrm>
            <a:off x="10834688" y="952500"/>
            <a:ext cx="976312" cy="233363"/>
          </a:xfrm>
          <a:prstGeom prst="rect">
            <a:avLst/>
          </a:prstGeom>
          <a:solidFill>
            <a:srgbClr val="00FF9C">
              <a:alpha val="10000"/>
            </a:srgbClr>
          </a:solidFill>
          <a:ln w="9144">
            <a:solidFill>
              <a:srgbClr val="00FF9C"/>
            </a:solidFill>
            <a:prstDash val="solid"/>
          </a:ln>
        </p:spPr>
      </p:sp>
      <p:sp>
        <p:nvSpPr>
          <p:cNvPr id="9" name="Text 6"/>
          <p:cNvSpPr/>
          <p:nvPr/>
        </p:nvSpPr>
        <p:spPr>
          <a:xfrm>
            <a:off x="10834688" y="952500"/>
            <a:ext cx="856615" cy="198755"/>
          </a:xfrm>
          <a:prstGeom prst="rect">
            <a:avLst/>
          </a:prstGeom>
          <a:noFill/>
        </p:spPr>
        <p:txBody>
          <a:bodyPr wrap="none" lIns="136144" tIns="45381" rIns="136144" bIns="0" rtlCol="0" anchor="t">
            <a:spAutoFit/>
          </a:bodyPr>
          <a:lstStyle/>
          <a:p>
            <a:pPr marL="0" indent="0" algn="l">
              <a:buNone/>
            </a:pPr>
            <a:r>
              <a:rPr lang="en-US" sz="1000" dirty="0">
                <a:solidFill>
                  <a:srgbClr val="00FF9C"/>
                </a:solidFill>
                <a:latin typeface="JetBrains Mono Medium" pitchFamily="34" charset="0"/>
                <a:ea typeface="JetBrains Mono Medium" pitchFamily="34" charset="-122"/>
                <a:cs typeface="JetBrains Mono Medium" pitchFamily="34" charset="-120"/>
              </a:rPr>
              <a:t>50 POINTS</a:t>
            </a:r>
            <a:endParaRPr lang="en-US" sz="1000" dirty="0"/>
          </a:p>
        </p:txBody>
      </p:sp>
      <p:sp>
        <p:nvSpPr>
          <p:cNvPr id="10" name="Text 7"/>
          <p:cNvSpPr/>
          <p:nvPr/>
        </p:nvSpPr>
        <p:spPr>
          <a:xfrm>
            <a:off x="381000" y="1838325"/>
            <a:ext cx="7620000" cy="49974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8B949E"/>
                </a:solidFill>
                <a:latin typeface="Inter" pitchFamily="34" charset="0"/>
                <a:ea typeface="Inter" pitchFamily="34" charset="-122"/>
                <a:cs typeface="Inter" pitchFamily="34" charset="-120"/>
              </a:rPr>
              <a:t>An insider encoded the flag twice to hide it from security tools. You've intercepted a suspicious email attachment containing the following string.</a:t>
            </a:r>
            <a:endParaRPr lang="en-US" sz="1265" dirty="0"/>
          </a:p>
        </p:txBody>
      </p:sp>
      <p:sp>
        <p:nvSpPr>
          <p:cNvPr id="11" name="Shape 8"/>
          <p:cNvSpPr/>
          <p:nvPr/>
        </p:nvSpPr>
        <p:spPr>
          <a:xfrm>
            <a:off x="381000" y="2672656"/>
            <a:ext cx="11430000" cy="1047751"/>
          </a:xfrm>
          <a:prstGeom prst="rect">
            <a:avLst/>
          </a:prstGeom>
          <a:solidFill>
            <a:srgbClr val="161B22"/>
          </a:solidFill>
          <a:ln w="9144">
            <a:solidFill>
              <a:srgbClr val="30363D"/>
            </a:solidFill>
            <a:prstDash val="solid"/>
          </a:ln>
        </p:spPr>
      </p:sp>
      <p:pic>
        <p:nvPicPr>
          <p:cNvPr id="12" name="Image 1" descr="preencoded.png"/>
          <p:cNvPicPr>
            <a:picLocks noChangeAspect="1"/>
          </p:cNvPicPr>
          <p:nvPr/>
        </p:nvPicPr>
        <p:blipFill>
          <a:blip r:embed="rId2"/>
          <a:stretch>
            <a:fillRect/>
          </a:stretch>
        </p:blipFill>
        <p:spPr>
          <a:xfrm>
            <a:off x="666751" y="2958405"/>
            <a:ext cx="342900" cy="457200"/>
          </a:xfrm>
          <a:prstGeom prst="rect">
            <a:avLst/>
          </a:prstGeom>
        </p:spPr>
      </p:pic>
      <p:sp>
        <p:nvSpPr>
          <p:cNvPr id="13" name="Text 9"/>
          <p:cNvSpPr/>
          <p:nvPr/>
        </p:nvSpPr>
        <p:spPr>
          <a:xfrm>
            <a:off x="1200151" y="3035796"/>
            <a:ext cx="3867151" cy="255905"/>
          </a:xfrm>
          <a:prstGeom prst="rect">
            <a:avLst/>
          </a:prstGeom>
          <a:noFill/>
        </p:spPr>
        <p:txBody>
          <a:bodyPr wrap="square" lIns="0" tIns="0" rIns="0" bIns="0" rtlCol="0" anchor="t">
            <a:spAutoFit/>
          </a:bodyPr>
          <a:lstStyle/>
          <a:p>
            <a:pPr marL="0" indent="0" algn="l">
              <a:buNone/>
            </a:pPr>
            <a:r>
              <a:rPr lang="en-US" sz="1665" dirty="0">
                <a:solidFill>
                  <a:srgbClr val="E3B341"/>
                </a:solidFill>
                <a:latin typeface="JetBrains Mono Medium" pitchFamily="34" charset="0"/>
                <a:ea typeface="JetBrains Mono Medium" pitchFamily="34" charset="-122"/>
                <a:cs typeface="JetBrains Mono Medium" pitchFamily="34" charset="-120"/>
              </a:rPr>
              <a:t>ZmxhZ3tiYXNlNjRfaXNfZnVufQ==</a:t>
            </a:r>
            <a:endParaRPr lang="en-US" sz="1665" dirty="0"/>
          </a:p>
        </p:txBody>
      </p:sp>
      <p:sp>
        <p:nvSpPr>
          <p:cNvPr id="14" name="Shape 10"/>
          <p:cNvSpPr/>
          <p:nvPr/>
        </p:nvSpPr>
        <p:spPr>
          <a:xfrm>
            <a:off x="381000" y="5188744"/>
            <a:ext cx="5572125" cy="1288256"/>
          </a:xfrm>
          <a:prstGeom prst="rect">
            <a:avLst/>
          </a:prstGeom>
          <a:solidFill>
            <a:srgbClr val="E3B341">
              <a:alpha val="10000"/>
            </a:srgbClr>
          </a:solidFill>
          <a:ln w="9144">
            <a:solidFill>
              <a:srgbClr val="E3B341"/>
            </a:solidFill>
            <a:prstDash val="solid"/>
          </a:ln>
        </p:spPr>
      </p:sp>
      <p:pic>
        <p:nvPicPr>
          <p:cNvPr id="15" name="Image 2" descr="preencoded.png"/>
          <p:cNvPicPr>
            <a:picLocks noChangeAspect="1"/>
          </p:cNvPicPr>
          <p:nvPr/>
        </p:nvPicPr>
        <p:blipFill>
          <a:blip r:embed="rId3"/>
          <a:stretch>
            <a:fillRect/>
          </a:stretch>
        </p:blipFill>
        <p:spPr>
          <a:xfrm>
            <a:off x="571500" y="5618560"/>
            <a:ext cx="114300" cy="152400"/>
          </a:xfrm>
          <a:prstGeom prst="rect">
            <a:avLst/>
          </a:prstGeom>
        </p:spPr>
      </p:pic>
      <p:sp>
        <p:nvSpPr>
          <p:cNvPr id="16" name="Text 11"/>
          <p:cNvSpPr/>
          <p:nvPr/>
        </p:nvSpPr>
        <p:spPr>
          <a:xfrm>
            <a:off x="781051" y="5581651"/>
            <a:ext cx="321310" cy="174625"/>
          </a:xfrm>
          <a:prstGeom prst="rect">
            <a:avLst/>
          </a:prstGeom>
          <a:noFill/>
        </p:spPr>
        <p:txBody>
          <a:bodyPr wrap="none" lIns="0" tIns="0" rIns="0" bIns="0" rtlCol="0" anchor="t">
            <a:spAutoFit/>
          </a:bodyPr>
          <a:lstStyle/>
          <a:p>
            <a:pPr marL="0" indent="0" algn="l">
              <a:buNone/>
            </a:pPr>
            <a:r>
              <a:rPr lang="en-US" sz="1135" dirty="0">
                <a:solidFill>
                  <a:srgbClr val="E3B341"/>
                </a:solidFill>
                <a:latin typeface="Poppins SemiBold" pitchFamily="34" charset="0"/>
                <a:ea typeface="Poppins SemiBold" pitchFamily="34" charset="-122"/>
                <a:cs typeface="Poppins SemiBold" pitchFamily="34" charset="-120"/>
              </a:rPr>
              <a:t>HINT</a:t>
            </a:r>
            <a:endParaRPr lang="en-US" sz="1135" dirty="0"/>
          </a:p>
        </p:txBody>
      </p:sp>
      <p:sp>
        <p:nvSpPr>
          <p:cNvPr id="17" name="Text 12"/>
          <p:cNvSpPr/>
          <p:nvPr/>
        </p:nvSpPr>
        <p:spPr>
          <a:xfrm>
            <a:off x="571500" y="5903119"/>
            <a:ext cx="5191125" cy="349885"/>
          </a:xfrm>
          <a:prstGeom prst="rect">
            <a:avLst/>
          </a:prstGeom>
          <a:noFill/>
        </p:spPr>
        <p:txBody>
          <a:bodyPr wrap="square" lIns="0" tIns="0" rIns="0" bIns="0" rtlCol="0" anchor="t">
            <a:spAutoFit/>
          </a:bodyPr>
          <a:lstStyle/>
          <a:p>
            <a:pPr marL="0" indent="0" algn="l">
              <a:buNone/>
            </a:pPr>
            <a:r>
              <a:rPr lang="en-US" sz="1135" dirty="0">
                <a:solidFill>
                  <a:srgbClr val="E3B341"/>
                </a:solidFill>
                <a:latin typeface="Inter" pitchFamily="34" charset="0"/>
                <a:ea typeface="Inter" pitchFamily="34" charset="-122"/>
                <a:cs typeface="Inter" pitchFamily="34" charset="-120"/>
              </a:rPr>
              <a:t>The string ends with </a:t>
            </a:r>
            <a:r>
              <a:rPr lang="en-US" sz="1135" dirty="0">
                <a:solidFill>
                  <a:srgbClr val="E3B341"/>
                </a:solidFill>
                <a:latin typeface="JetBrains Mono Medium" pitchFamily="34" charset="0"/>
                <a:ea typeface="JetBrains Mono Medium" pitchFamily="34" charset="-122"/>
                <a:cs typeface="JetBrains Mono Medium" pitchFamily="34" charset="-120"/>
              </a:rPr>
              <a:t>==</a:t>
            </a:r>
            <a:r>
              <a:rPr lang="en-US" sz="1135" dirty="0">
                <a:solidFill>
                  <a:srgbClr val="E3B341"/>
                </a:solidFill>
                <a:latin typeface="Inter" pitchFamily="34" charset="0"/>
                <a:ea typeface="Inter" pitchFamily="34" charset="-122"/>
                <a:cs typeface="Inter" pitchFamily="34" charset="-120"/>
              </a:rPr>
              <a:t>, which is a classic sign of Base64 padding. If the first decode looks like another encoded string, try decoding it again!</a:t>
            </a:r>
            <a:endParaRPr lang="en-US" sz="1135" dirty="0"/>
          </a:p>
        </p:txBody>
      </p:sp>
      <p:sp>
        <p:nvSpPr>
          <p:cNvPr id="18" name="Shape 13"/>
          <p:cNvSpPr/>
          <p:nvPr/>
        </p:nvSpPr>
        <p:spPr>
          <a:xfrm>
            <a:off x="6238875" y="5391151"/>
            <a:ext cx="5572125" cy="1085851"/>
          </a:xfrm>
          <a:prstGeom prst="rect">
            <a:avLst/>
          </a:prstGeom>
          <a:solidFill>
            <a:srgbClr val="FF6B6B">
              <a:alpha val="10000"/>
            </a:srgbClr>
          </a:solidFill>
          <a:ln w="9144">
            <a:solidFill>
              <a:srgbClr val="FF6B6B"/>
            </a:solidFill>
            <a:prstDash val="solid"/>
          </a:ln>
        </p:spPr>
      </p:sp>
      <p:sp>
        <p:nvSpPr>
          <p:cNvPr id="19" name="Text 14"/>
          <p:cNvSpPr/>
          <p:nvPr/>
        </p:nvSpPr>
        <p:spPr>
          <a:xfrm>
            <a:off x="8491537" y="5632847"/>
            <a:ext cx="905510" cy="153670"/>
          </a:xfrm>
          <a:prstGeom prst="rect">
            <a:avLst/>
          </a:prstGeom>
          <a:noFill/>
        </p:spPr>
        <p:txBody>
          <a:bodyPr wrap="none" lIns="0" tIns="0" rIns="0" bIns="0" rtlCol="0" anchor="t">
            <a:spAutoFit/>
          </a:bodyPr>
          <a:lstStyle/>
          <a:p>
            <a:pPr marL="0" indent="0" algn="l">
              <a:buNone/>
            </a:pPr>
            <a:r>
              <a:rPr lang="en-US" sz="1000" dirty="0">
                <a:solidFill>
                  <a:srgbClr val="FF6B6B"/>
                </a:solidFill>
                <a:latin typeface="Poppins SemiBold" pitchFamily="34" charset="0"/>
                <a:ea typeface="Poppins SemiBold" pitchFamily="34" charset="-122"/>
                <a:cs typeface="Poppins SemiBold" pitchFamily="34" charset="-120"/>
              </a:rPr>
              <a:t>CAPTURED FLAG</a:t>
            </a:r>
            <a:endParaRPr lang="en-US" sz="1000" dirty="0"/>
          </a:p>
        </p:txBody>
      </p:sp>
      <p:sp>
        <p:nvSpPr>
          <p:cNvPr id="20" name="Text 15"/>
          <p:cNvSpPr/>
          <p:nvPr/>
        </p:nvSpPr>
        <p:spPr>
          <a:xfrm>
            <a:off x="7509272" y="5882879"/>
            <a:ext cx="3031331" cy="287020"/>
          </a:xfrm>
          <a:prstGeom prst="rect">
            <a:avLst/>
          </a:prstGeom>
          <a:noFill/>
        </p:spPr>
        <p:txBody>
          <a:bodyPr wrap="square" lIns="0" tIns="0" rIns="0" bIns="0" rtlCol="0" anchor="t">
            <a:spAutoFit/>
          </a:bodyPr>
          <a:lstStyle/>
          <a:p>
            <a:pPr marL="0" indent="0" algn="l">
              <a:buNone/>
            </a:pPr>
            <a:r>
              <a:rPr lang="en-US" sz="1865" b="1" dirty="0">
                <a:solidFill>
                  <a:srgbClr val="FF6B6B"/>
                </a:solidFill>
                <a:latin typeface="JetBrains Mono Medium" pitchFamily="34" charset="0"/>
                <a:ea typeface="JetBrains Mono Medium" pitchFamily="34" charset="-122"/>
                <a:cs typeface="JetBrains Mono Medium" pitchFamily="34" charset="-120"/>
              </a:rPr>
              <a:t>flag{base64_is_fun}</a:t>
            </a:r>
            <a:endParaRPr lang="en-US" sz="186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51891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6176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5" name="Text 2"/>
          <p:cNvSpPr/>
          <p:nvPr/>
        </p:nvSpPr>
        <p:spPr>
          <a:xfrm>
            <a:off x="381000" y="172640"/>
            <a:ext cx="127000" cy="194310"/>
          </a:xfrm>
          <a:prstGeom prst="rect">
            <a:avLst/>
          </a:prstGeom>
          <a:noFill/>
        </p:spPr>
        <p:txBody>
          <a:bodyPr wrap="none" lIns="0" tIns="0" rIns="0" bIns="0" rtlCol="0" anchor="t">
            <a:spAutoFit/>
          </a:bodyPr>
          <a:lstStyle/>
          <a:p>
            <a:pPr marL="0" indent="0" algn="l">
              <a:buNone/>
            </a:pPr>
            <a:endParaRPr lang="en-US" sz="1265" dirty="0"/>
          </a:p>
        </p:txBody>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70 | EWUCSC</a:t>
            </a:r>
            <a:endParaRPr lang="en-US" sz="1265" dirty="0"/>
          </a:p>
        </p:txBody>
      </p:sp>
      <p:sp>
        <p:nvSpPr>
          <p:cNvPr id="7" name="Shape 4"/>
          <p:cNvSpPr/>
          <p:nvPr/>
        </p:nvSpPr>
        <p:spPr>
          <a:xfrm>
            <a:off x="381000" y="952500"/>
            <a:ext cx="5524500" cy="233363"/>
          </a:xfrm>
          <a:prstGeom prst="rect">
            <a:avLst/>
          </a:prstGeom>
          <a:solidFill>
            <a:srgbClr val="E3B341">
              <a:alpha val="10000"/>
            </a:srgbClr>
          </a:solidFill>
          <a:ln w="9144">
            <a:solidFill>
              <a:srgbClr val="E3B341"/>
            </a:solidFill>
            <a:prstDash val="solid"/>
          </a:ln>
        </p:spPr>
      </p:sp>
      <p:sp>
        <p:nvSpPr>
          <p:cNvPr id="8" name="Text 5"/>
          <p:cNvSpPr/>
          <p:nvPr/>
        </p:nvSpPr>
        <p:spPr>
          <a:xfrm>
            <a:off x="381000" y="952500"/>
            <a:ext cx="5524500" cy="198755"/>
          </a:xfrm>
          <a:prstGeom prst="rect">
            <a:avLst/>
          </a:prstGeom>
          <a:noFill/>
        </p:spPr>
        <p:txBody>
          <a:bodyPr wrap="square" lIns="136144" tIns="45381" rIns="136144" bIns="0" rtlCol="0" anchor="t">
            <a:spAutoFit/>
          </a:bodyPr>
          <a:lstStyle/>
          <a:p>
            <a:pPr marL="0" indent="0" algn="l">
              <a:buNone/>
            </a:pPr>
            <a:r>
              <a:rPr lang="en-US" sz="1000" dirty="0">
                <a:solidFill>
                  <a:srgbClr val="E3B341"/>
                </a:solidFill>
                <a:latin typeface="JetBrains Mono Medium" pitchFamily="34" charset="0"/>
                <a:ea typeface="JetBrains Mono Medium" pitchFamily="34" charset="-122"/>
                <a:cs typeface="JetBrains Mono Medium" pitchFamily="34" charset="-120"/>
              </a:rPr>
              <a:t>100 POINTS</a:t>
            </a:r>
            <a:endParaRPr lang="en-US" sz="1000" dirty="0"/>
          </a:p>
        </p:txBody>
      </p:sp>
      <p:sp>
        <p:nvSpPr>
          <p:cNvPr id="9" name="Text 6"/>
          <p:cNvSpPr/>
          <p:nvPr/>
        </p:nvSpPr>
        <p:spPr>
          <a:xfrm>
            <a:off x="381000" y="1500188"/>
            <a:ext cx="55245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Challenge 3: XOR Breaker</a:t>
            </a:r>
            <a:endParaRPr lang="en-US" sz="2800" dirty="0"/>
          </a:p>
        </p:txBody>
      </p:sp>
      <p:sp>
        <p:nvSpPr>
          <p:cNvPr id="10" name="Shape 7"/>
          <p:cNvSpPr/>
          <p:nvPr/>
        </p:nvSpPr>
        <p:spPr>
          <a:xfrm>
            <a:off x="381000" y="2338388"/>
            <a:ext cx="5524500" cy="1179165"/>
          </a:xfrm>
          <a:prstGeom prst="rect">
            <a:avLst/>
          </a:prstGeom>
          <a:solidFill>
            <a:srgbClr val="FF6B6B">
              <a:alpha val="10000"/>
            </a:srgbClr>
          </a:solidFill>
          <a:ln w="9144">
            <a:solidFill>
              <a:srgbClr val="FF6B6B"/>
            </a:solidFill>
            <a:prstDash val="solid"/>
          </a:ln>
        </p:spPr>
      </p:sp>
      <p:pic>
        <p:nvPicPr>
          <p:cNvPr id="11" name="Image 1" descr="preencoded.png"/>
          <p:cNvPicPr>
            <a:picLocks noChangeAspect="1"/>
          </p:cNvPicPr>
          <p:nvPr/>
        </p:nvPicPr>
        <p:blipFill>
          <a:blip r:embed="rId2"/>
          <a:stretch>
            <a:fillRect/>
          </a:stretch>
        </p:blipFill>
        <p:spPr>
          <a:xfrm>
            <a:off x="571500" y="2571751"/>
            <a:ext cx="192881" cy="171451"/>
          </a:xfrm>
          <a:prstGeom prst="rect">
            <a:avLst/>
          </a:prstGeom>
        </p:spPr>
      </p:pic>
      <p:sp>
        <p:nvSpPr>
          <p:cNvPr id="12" name="Text 8"/>
          <p:cNvSpPr/>
          <p:nvPr/>
        </p:nvSpPr>
        <p:spPr>
          <a:xfrm>
            <a:off x="859631" y="2528888"/>
            <a:ext cx="1304925" cy="194310"/>
          </a:xfrm>
          <a:prstGeom prst="rect">
            <a:avLst/>
          </a:prstGeom>
          <a:noFill/>
        </p:spPr>
        <p:txBody>
          <a:bodyPr wrap="none" lIns="0" tIns="0" rIns="0" bIns="0" rtlCol="0" anchor="t">
            <a:spAutoFit/>
          </a:bodyPr>
          <a:lstStyle/>
          <a:p>
            <a:pPr marL="0" indent="0" algn="l">
              <a:buNone/>
            </a:pPr>
            <a:r>
              <a:rPr lang="en-US" sz="1265" dirty="0">
                <a:solidFill>
                  <a:srgbClr val="FF6B6B"/>
                </a:solidFill>
                <a:latin typeface="Poppins SemiBold" pitchFamily="34" charset="0"/>
                <a:ea typeface="Poppins SemiBold" pitchFamily="34" charset="-122"/>
                <a:cs typeface="Poppins SemiBold" pitchFamily="34" charset="-120"/>
              </a:rPr>
              <a:t>Ransomware Alert</a:t>
            </a:r>
            <a:endParaRPr lang="en-US" sz="1265" dirty="0"/>
          </a:p>
        </p:txBody>
      </p:sp>
      <p:sp>
        <p:nvSpPr>
          <p:cNvPr id="13" name="Text 9"/>
          <p:cNvSpPr/>
          <p:nvPr/>
        </p:nvSpPr>
        <p:spPr>
          <a:xfrm>
            <a:off x="571500" y="2881312"/>
            <a:ext cx="5143500" cy="391795"/>
          </a:xfrm>
          <a:prstGeom prst="rect">
            <a:avLst/>
          </a:prstGeom>
          <a:noFill/>
        </p:spPr>
        <p:txBody>
          <a:bodyPr wrap="square" lIns="0" tIns="0" rIns="0" bIns="0" rtlCol="0" anchor="t">
            <a:spAutoFit/>
          </a:bodyPr>
          <a:lstStyle/>
          <a:p>
            <a:pPr marL="0" indent="0" algn="l">
              <a:lnSpc>
                <a:spcPct val="112000"/>
              </a:lnSpc>
              <a:buNone/>
            </a:pPr>
            <a:r>
              <a:rPr lang="en-US" sz="1135" dirty="0">
                <a:solidFill>
                  <a:srgbClr val="E6EDF3"/>
                </a:solidFill>
                <a:latin typeface="Inter" pitchFamily="34" charset="0"/>
                <a:ea typeface="Inter" pitchFamily="34" charset="-122"/>
                <a:cs typeface="Inter" pitchFamily="34" charset="-120"/>
              </a:rPr>
              <a:t>A ransomware sample XOR'd its configuration file with a single secret byte. You've extracted the following hex dump from memory:</a:t>
            </a:r>
            <a:endParaRPr lang="en-US" sz="1135" dirty="0"/>
          </a:p>
        </p:txBody>
      </p:sp>
      <p:sp>
        <p:nvSpPr>
          <p:cNvPr id="14" name="Shape 10"/>
          <p:cNvSpPr/>
          <p:nvPr/>
        </p:nvSpPr>
        <p:spPr>
          <a:xfrm>
            <a:off x="381000" y="3831877"/>
            <a:ext cx="5524500" cy="948631"/>
          </a:xfrm>
          <a:prstGeom prst="rect">
            <a:avLst/>
          </a:prstGeom>
          <a:solidFill>
            <a:srgbClr val="161B22"/>
          </a:solidFill>
          <a:ln w="9144">
            <a:solidFill>
              <a:srgbClr val="30363D"/>
            </a:solidFill>
            <a:prstDash val="solid"/>
          </a:ln>
        </p:spPr>
      </p:sp>
      <p:sp>
        <p:nvSpPr>
          <p:cNvPr id="15" name="Text 11"/>
          <p:cNvSpPr/>
          <p:nvPr/>
        </p:nvSpPr>
        <p:spPr>
          <a:xfrm>
            <a:off x="381000" y="3831877"/>
            <a:ext cx="5524500" cy="953135"/>
          </a:xfrm>
          <a:prstGeom prst="rect">
            <a:avLst/>
          </a:prstGeom>
          <a:noFill/>
        </p:spPr>
        <p:txBody>
          <a:bodyPr wrap="square" lIns="226737" tIns="226737" rIns="226737" bIns="226737" rtlCol="0" anchor="t">
            <a:spAutoFit/>
          </a:bodyPr>
          <a:lstStyle/>
          <a:p>
            <a:pPr marL="0" indent="0" algn="l">
              <a:lnSpc>
                <a:spcPct val="128000"/>
              </a:lnSpc>
              <a:buNone/>
            </a:pPr>
            <a:r>
              <a:rPr lang="en-US" sz="1265" dirty="0">
                <a:solidFill>
                  <a:srgbClr val="58A6FF"/>
                </a:solidFill>
                <a:latin typeface="JetBrains Mono Medium" pitchFamily="34" charset="0"/>
                <a:ea typeface="JetBrains Mono Medium" pitchFamily="34" charset="-122"/>
                <a:cs typeface="JetBrains Mono Medium" pitchFamily="34" charset="-120"/>
              </a:rPr>
              <a:t>2b 07 1a 0b 1e 07 1a 21 07 1a 21 1a 0b 21 07 1a 00 07 21 1a 0b 1e 07 1a 00 0f</a:t>
            </a:r>
            <a:endParaRPr lang="en-US" sz="1265" dirty="0"/>
          </a:p>
        </p:txBody>
      </p:sp>
      <p:sp>
        <p:nvSpPr>
          <p:cNvPr id="16" name="Shape 12"/>
          <p:cNvSpPr/>
          <p:nvPr/>
        </p:nvSpPr>
        <p:spPr>
          <a:xfrm>
            <a:off x="6286500" y="952500"/>
            <a:ext cx="5524500" cy="1361555"/>
          </a:xfrm>
          <a:prstGeom prst="rect">
            <a:avLst/>
          </a:prstGeom>
          <a:solidFill>
            <a:srgbClr val="58A6FF">
              <a:alpha val="10000"/>
            </a:srgbClr>
          </a:solidFill>
          <a:ln w="9144">
            <a:solidFill>
              <a:srgbClr val="58A6FF"/>
            </a:solidFill>
            <a:prstDash val="solid"/>
          </a:ln>
        </p:spPr>
      </p:sp>
      <p:pic>
        <p:nvPicPr>
          <p:cNvPr id="17" name="Image 2" descr="preencoded.png"/>
          <p:cNvPicPr>
            <a:picLocks noChangeAspect="1"/>
          </p:cNvPicPr>
          <p:nvPr/>
        </p:nvPicPr>
        <p:blipFill>
          <a:blip r:embed="rId3"/>
          <a:stretch>
            <a:fillRect/>
          </a:stretch>
        </p:blipFill>
        <p:spPr>
          <a:xfrm>
            <a:off x="6477000" y="1179909"/>
            <a:ext cx="114300" cy="152400"/>
          </a:xfrm>
          <a:prstGeom prst="rect">
            <a:avLst/>
          </a:prstGeom>
        </p:spPr>
      </p:pic>
      <p:sp>
        <p:nvSpPr>
          <p:cNvPr id="18" name="Text 13"/>
          <p:cNvSpPr/>
          <p:nvPr/>
        </p:nvSpPr>
        <p:spPr>
          <a:xfrm>
            <a:off x="6686551" y="1143000"/>
            <a:ext cx="321310" cy="174625"/>
          </a:xfrm>
          <a:prstGeom prst="rect">
            <a:avLst/>
          </a:prstGeom>
          <a:noFill/>
        </p:spPr>
        <p:txBody>
          <a:bodyPr wrap="none" lIns="0" tIns="0" rIns="0" bIns="0" rtlCol="0" anchor="t">
            <a:spAutoFit/>
          </a:bodyPr>
          <a:lstStyle/>
          <a:p>
            <a:pPr marL="0" indent="0" algn="l">
              <a:buNone/>
            </a:pPr>
            <a:r>
              <a:rPr lang="en-US" sz="1135" dirty="0">
                <a:solidFill>
                  <a:srgbClr val="58A6FF"/>
                </a:solidFill>
                <a:latin typeface="Poppins SemiBold" pitchFamily="34" charset="0"/>
                <a:ea typeface="Poppins SemiBold" pitchFamily="34" charset="-122"/>
                <a:cs typeface="Poppins SemiBold" pitchFamily="34" charset="-120"/>
              </a:rPr>
              <a:t>HINT</a:t>
            </a:r>
            <a:endParaRPr lang="en-US" sz="1135" dirty="0"/>
          </a:p>
        </p:txBody>
      </p:sp>
      <p:sp>
        <p:nvSpPr>
          <p:cNvPr id="19" name="Text 14"/>
          <p:cNvSpPr/>
          <p:nvPr/>
        </p:nvSpPr>
        <p:spPr>
          <a:xfrm>
            <a:off x="6477000" y="1464469"/>
            <a:ext cx="5143500" cy="588010"/>
          </a:xfrm>
          <a:prstGeom prst="rect">
            <a:avLst/>
          </a:prstGeom>
          <a:noFill/>
        </p:spPr>
        <p:txBody>
          <a:bodyPr wrap="square" lIns="0" tIns="0" rIns="0" bIns="0" rtlCol="0" anchor="t">
            <a:spAutoFit/>
          </a:bodyPr>
          <a:lstStyle/>
          <a:p>
            <a:pPr marL="0" indent="0" algn="l">
              <a:lnSpc>
                <a:spcPct val="112000"/>
              </a:lnSpc>
              <a:buNone/>
            </a:pPr>
            <a:r>
              <a:rPr lang="en-US" sz="1135" dirty="0">
                <a:solidFill>
                  <a:srgbClr val="58A6FF"/>
                </a:solidFill>
                <a:latin typeface="Inter" pitchFamily="34" charset="0"/>
                <a:ea typeface="Inter" pitchFamily="34" charset="-122"/>
                <a:cs typeface="Inter" pitchFamily="34" charset="-120"/>
              </a:rPr>
              <a:t>Since it's a single byte, there are only 256 possible keys. Use the Python script from </a:t>
            </a:r>
            <a:r>
              <a:rPr lang="en-US" sz="1065" b="1" dirty="0">
                <a:solidFill>
                  <a:srgbClr val="58A6FF"/>
                </a:solidFill>
                <a:latin typeface="Inter" pitchFamily="34" charset="0"/>
                <a:ea typeface="Inter" pitchFamily="34" charset="-122"/>
                <a:cs typeface="Inter" pitchFamily="34" charset="-120"/>
              </a:rPr>
              <a:t>Slide 49</a:t>
            </a:r>
            <a:r>
              <a:rPr lang="en-US" sz="1135" dirty="0">
                <a:solidFill>
                  <a:srgbClr val="58A6FF"/>
                </a:solidFill>
                <a:latin typeface="Inter" pitchFamily="34" charset="0"/>
                <a:ea typeface="Inter" pitchFamily="34" charset="-122"/>
                <a:cs typeface="Inter" pitchFamily="34" charset="-120"/>
              </a:rPr>
              <a:t> to brute force the key and score the results based on English letter frequency.</a:t>
            </a:r>
            <a:endParaRPr lang="en-US" sz="1135" dirty="0"/>
          </a:p>
        </p:txBody>
      </p:sp>
      <p:sp>
        <p:nvSpPr>
          <p:cNvPr id="20" name="Shape 15"/>
          <p:cNvSpPr/>
          <p:nvPr/>
        </p:nvSpPr>
        <p:spPr>
          <a:xfrm>
            <a:off x="6286500" y="4836319"/>
            <a:ext cx="5524500" cy="1831181"/>
          </a:xfrm>
          <a:prstGeom prst="rect">
            <a:avLst/>
          </a:prstGeom>
          <a:solidFill>
            <a:srgbClr val="161B22"/>
          </a:solidFill>
          <a:ln w="9144">
            <a:solidFill>
              <a:srgbClr val="30363D"/>
            </a:solidFill>
            <a:prstDash val="solid"/>
          </a:ln>
        </p:spPr>
      </p:sp>
      <p:sp>
        <p:nvSpPr>
          <p:cNvPr id="21" name="Text 16"/>
          <p:cNvSpPr/>
          <p:nvPr/>
        </p:nvSpPr>
        <p:spPr>
          <a:xfrm>
            <a:off x="6524625" y="5093493"/>
            <a:ext cx="5048251"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Poppins SemiBold" pitchFamily="34" charset="0"/>
                <a:ea typeface="Poppins SemiBold" pitchFamily="34" charset="-122"/>
                <a:cs typeface="Poppins SemiBold" pitchFamily="34" charset="-120"/>
              </a:rPr>
              <a:t>SOLUTION WALKTHROUGH</a:t>
            </a:r>
            <a:endParaRPr lang="en-US" sz="1000" dirty="0"/>
          </a:p>
        </p:txBody>
      </p:sp>
      <p:sp>
        <p:nvSpPr>
          <p:cNvPr id="22" name="Text 17"/>
          <p:cNvSpPr/>
          <p:nvPr/>
        </p:nvSpPr>
        <p:spPr>
          <a:xfrm>
            <a:off x="6524625" y="5438775"/>
            <a:ext cx="5048251" cy="174625"/>
          </a:xfrm>
          <a:prstGeom prst="rect">
            <a:avLst/>
          </a:prstGeom>
          <a:noFill/>
        </p:spPr>
        <p:txBody>
          <a:bodyPr wrap="square" lIns="0" tIns="0" rIns="0" bIns="0" rtlCol="0" anchor="t">
            <a:spAutoFit/>
          </a:bodyPr>
          <a:lstStyle/>
          <a:p>
            <a:pPr marL="0" indent="0" algn="l">
              <a:buNone/>
            </a:pPr>
            <a:r>
              <a:rPr lang="en-US" sz="1135" dirty="0">
                <a:solidFill>
                  <a:srgbClr val="00FF9C"/>
                </a:solidFill>
                <a:latin typeface="JetBrains Mono Medium" pitchFamily="34" charset="0"/>
                <a:ea typeface="JetBrains Mono Medium" pitchFamily="34" charset="-122"/>
                <a:cs typeface="JetBrains Mono Medium" pitchFamily="34" charset="-120"/>
              </a:rPr>
              <a:t>Detected Key: 0x46 ('F')</a:t>
            </a:r>
            <a:endParaRPr lang="en-US" sz="1135" dirty="0"/>
          </a:p>
        </p:txBody>
      </p:sp>
      <p:sp>
        <p:nvSpPr>
          <p:cNvPr id="23" name="Text 18"/>
          <p:cNvSpPr/>
          <p:nvPr/>
        </p:nvSpPr>
        <p:spPr>
          <a:xfrm>
            <a:off x="6524625" y="5734051"/>
            <a:ext cx="4408170" cy="183515"/>
          </a:xfrm>
          <a:prstGeom prst="rect">
            <a:avLst/>
          </a:prstGeom>
          <a:noFill/>
        </p:spPr>
        <p:txBody>
          <a:bodyPr wrap="none" lIns="0" tIns="0" rIns="0" bIns="0" rtlCol="0" anchor="t">
            <a:spAutoFit/>
          </a:bodyPr>
          <a:lstStyle/>
          <a:p>
            <a:pPr marL="0" indent="0" algn="l">
              <a:lnSpc>
                <a:spcPct val="112000"/>
              </a:lnSpc>
              <a:buNone/>
            </a:pPr>
            <a:r>
              <a:rPr lang="en-US" sz="1065" dirty="0">
                <a:solidFill>
                  <a:srgbClr val="8B949E"/>
                </a:solidFill>
                <a:latin typeface="Inter" pitchFamily="34" charset="0"/>
                <a:ea typeface="Inter" pitchFamily="34" charset="-122"/>
                <a:cs typeface="Inter" pitchFamily="34" charset="-120"/>
              </a:rPr>
              <a:t>XORing the hex dump with 0x46 reveals the plaintext configuration string.</a:t>
            </a:r>
            <a:endParaRPr lang="en-US" sz="1065" dirty="0"/>
          </a:p>
        </p:txBody>
      </p:sp>
      <p:sp>
        <p:nvSpPr>
          <p:cNvPr id="24" name="Text 19"/>
          <p:cNvSpPr/>
          <p:nvPr/>
        </p:nvSpPr>
        <p:spPr>
          <a:xfrm>
            <a:off x="6524625" y="6076951"/>
            <a:ext cx="5048251" cy="307340"/>
          </a:xfrm>
          <a:prstGeom prst="rect">
            <a:avLst/>
          </a:prstGeom>
          <a:noFill/>
        </p:spPr>
        <p:txBody>
          <a:bodyPr wrap="square" lIns="0" tIns="0" rIns="0" bIns="0" rtlCol="0" anchor="t">
            <a:spAutoFit/>
          </a:bodyPr>
          <a:lstStyle/>
          <a:p>
            <a:pPr marL="0" indent="0" algn="ctr">
              <a:buNone/>
            </a:pPr>
            <a:r>
              <a:rPr lang="en-US" sz="2000" dirty="0">
                <a:solidFill>
                  <a:srgbClr val="FF6B6B"/>
                </a:solidFill>
                <a:latin typeface="JetBrains Mono Medium" pitchFamily="34" charset="0"/>
                <a:ea typeface="JetBrains Mono Medium" pitchFamily="34" charset="-122"/>
                <a:cs typeface="JetBrains Mono Medium" pitchFamily="34" charset="-120"/>
              </a:rPr>
              <a:t>flag{xor_is_everywhere}</a:t>
            </a:r>
            <a:endParaRPr lang="en-US" sz="2000"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71 | EWUCSC</a:t>
            </a:r>
            <a:endParaRPr lang="en-US" sz="1265" dirty="0"/>
          </a:p>
        </p:txBody>
      </p:sp>
      <p:sp>
        <p:nvSpPr>
          <p:cNvPr id="7" name="Shape 4"/>
          <p:cNvSpPr/>
          <p:nvPr/>
        </p:nvSpPr>
        <p:spPr>
          <a:xfrm>
            <a:off x="381000" y="952500"/>
            <a:ext cx="5524500" cy="233363"/>
          </a:xfrm>
          <a:prstGeom prst="rect">
            <a:avLst/>
          </a:prstGeom>
          <a:solidFill>
            <a:srgbClr val="E3B341">
              <a:alpha val="10000"/>
            </a:srgbClr>
          </a:solidFill>
          <a:ln w="9144">
            <a:solidFill>
              <a:srgbClr val="E3B341"/>
            </a:solidFill>
            <a:prstDash val="solid"/>
          </a:ln>
        </p:spPr>
      </p:sp>
      <p:sp>
        <p:nvSpPr>
          <p:cNvPr id="8" name="Text 5"/>
          <p:cNvSpPr/>
          <p:nvPr/>
        </p:nvSpPr>
        <p:spPr>
          <a:xfrm>
            <a:off x="381000" y="952500"/>
            <a:ext cx="5524500" cy="198755"/>
          </a:xfrm>
          <a:prstGeom prst="rect">
            <a:avLst/>
          </a:prstGeom>
          <a:noFill/>
        </p:spPr>
        <p:txBody>
          <a:bodyPr wrap="square" lIns="136144" tIns="45381" rIns="136144" bIns="0" rtlCol="0" anchor="t">
            <a:spAutoFit/>
          </a:bodyPr>
          <a:lstStyle/>
          <a:p>
            <a:pPr marL="0" indent="0" algn="l">
              <a:buNone/>
            </a:pPr>
            <a:r>
              <a:rPr lang="en-US" sz="1000" dirty="0">
                <a:solidFill>
                  <a:srgbClr val="E3B341"/>
                </a:solidFill>
                <a:latin typeface="JetBrains Mono Medium" pitchFamily="34" charset="0"/>
                <a:ea typeface="JetBrains Mono Medium" pitchFamily="34" charset="-122"/>
                <a:cs typeface="JetBrains Mono Medium" pitchFamily="34" charset="-120"/>
              </a:rPr>
              <a:t>100 POINTS</a:t>
            </a:r>
            <a:endParaRPr lang="en-US" sz="1000" dirty="0"/>
          </a:p>
        </p:txBody>
      </p:sp>
      <p:sp>
        <p:nvSpPr>
          <p:cNvPr id="9" name="Text 6"/>
          <p:cNvSpPr/>
          <p:nvPr/>
        </p:nvSpPr>
        <p:spPr>
          <a:xfrm>
            <a:off x="381000" y="1500188"/>
            <a:ext cx="5524500" cy="861695"/>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Challenge 4: Crack the Admin Password</a:t>
            </a:r>
            <a:endParaRPr lang="en-US" sz="2800" dirty="0"/>
          </a:p>
        </p:txBody>
      </p:sp>
      <p:sp>
        <p:nvSpPr>
          <p:cNvPr id="10" name="Text 7"/>
          <p:cNvSpPr/>
          <p:nvPr/>
        </p:nvSpPr>
        <p:spPr>
          <a:xfrm>
            <a:off x="381000" y="2938463"/>
            <a:ext cx="5524500" cy="49974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E6EDF3"/>
                </a:solidFill>
                <a:latin typeface="Inter" pitchFamily="34" charset="0"/>
                <a:ea typeface="Inter" pitchFamily="34" charset="-122"/>
                <a:cs typeface="Inter" pitchFamily="34" charset="-120"/>
              </a:rPr>
              <a:t>You found the admin panel login page. The database was leaked with this hash. The password unlocks the flag.</a:t>
            </a:r>
            <a:endParaRPr lang="en-US" sz="1265" dirty="0"/>
          </a:p>
        </p:txBody>
      </p:sp>
      <p:sp>
        <p:nvSpPr>
          <p:cNvPr id="11" name="Shape 8"/>
          <p:cNvSpPr/>
          <p:nvPr/>
        </p:nvSpPr>
        <p:spPr>
          <a:xfrm>
            <a:off x="381000" y="3725168"/>
            <a:ext cx="5524500" cy="565771"/>
          </a:xfrm>
          <a:prstGeom prst="rect">
            <a:avLst/>
          </a:prstGeom>
          <a:solidFill>
            <a:srgbClr val="161B22"/>
          </a:solidFill>
          <a:ln w="9144">
            <a:solidFill>
              <a:srgbClr val="30363D"/>
            </a:solidFill>
            <a:prstDash val="solid"/>
          </a:ln>
        </p:spPr>
      </p:sp>
      <p:sp>
        <p:nvSpPr>
          <p:cNvPr id="12" name="Text 9"/>
          <p:cNvSpPr/>
          <p:nvPr/>
        </p:nvSpPr>
        <p:spPr>
          <a:xfrm>
            <a:off x="381000" y="3725168"/>
            <a:ext cx="5524500" cy="563880"/>
          </a:xfrm>
          <a:prstGeom prst="rect">
            <a:avLst/>
          </a:prstGeom>
          <a:noFill/>
        </p:spPr>
        <p:txBody>
          <a:bodyPr wrap="square" lIns="283464" tIns="283464" rIns="283464" bIns="0" rtlCol="0" anchor="t">
            <a:spAutoFit/>
          </a:bodyPr>
          <a:lstStyle/>
          <a:p>
            <a:pPr marL="0" indent="0" algn="l">
              <a:lnSpc>
                <a:spcPct val="144000"/>
              </a:lnSpc>
              <a:buNone/>
            </a:pPr>
            <a:r>
              <a:rPr lang="en-US" sz="1265" dirty="0">
                <a:solidFill>
                  <a:srgbClr val="8B949E"/>
                </a:solidFill>
                <a:latin typeface="JetBrains Mono Medium" pitchFamily="34" charset="0"/>
                <a:ea typeface="JetBrains Mono Medium" pitchFamily="34" charset="-122"/>
                <a:cs typeface="JetBrains Mono Medium" pitchFamily="34" charset="-120"/>
              </a:rPr>
              <a:t>admin:</a:t>
            </a:r>
            <a:r>
              <a:rPr lang="en-US" sz="1265" dirty="0">
                <a:solidFill>
                  <a:srgbClr val="FF6B6B"/>
                </a:solidFill>
                <a:latin typeface="JetBrains Mono Medium" pitchFamily="34" charset="0"/>
                <a:ea typeface="JetBrains Mono Medium" pitchFamily="34" charset="-122"/>
                <a:cs typeface="JetBrains Mono Medium" pitchFamily="34" charset="-120"/>
              </a:rPr>
              <a:t> 5f4dcc3b5aa765d61d8327deb882cf99</a:t>
            </a:r>
            <a:endParaRPr lang="en-US" sz="1265" dirty="0"/>
          </a:p>
        </p:txBody>
      </p:sp>
      <p:sp>
        <p:nvSpPr>
          <p:cNvPr id="13" name="Shape 10"/>
          <p:cNvSpPr/>
          <p:nvPr/>
        </p:nvSpPr>
        <p:spPr>
          <a:xfrm>
            <a:off x="571500" y="3629917"/>
            <a:ext cx="1519237" cy="205717"/>
          </a:xfrm>
          <a:prstGeom prst="rect">
            <a:avLst/>
          </a:prstGeom>
          <a:solidFill>
            <a:srgbClr val="0D1117"/>
          </a:solidFill>
        </p:spPr>
      </p:sp>
      <p:sp>
        <p:nvSpPr>
          <p:cNvPr id="14" name="Text 11"/>
          <p:cNvSpPr/>
          <p:nvPr/>
        </p:nvSpPr>
        <p:spPr>
          <a:xfrm>
            <a:off x="571500" y="3629917"/>
            <a:ext cx="936625" cy="176530"/>
          </a:xfrm>
          <a:prstGeom prst="rect">
            <a:avLst/>
          </a:prstGeom>
          <a:noFill/>
        </p:spPr>
        <p:txBody>
          <a:bodyPr wrap="none" lIns="113453" tIns="0" rIns="113453" bIns="0" rtlCol="0" anchor="t">
            <a:spAutoFit/>
          </a:bodyPr>
          <a:lstStyle/>
          <a:p>
            <a:pPr marL="0" indent="0" algn="l">
              <a:lnSpc>
                <a:spcPct val="144000"/>
              </a:lnSpc>
              <a:buNone/>
            </a:pPr>
            <a:r>
              <a:rPr lang="en-US" sz="800" dirty="0">
                <a:solidFill>
                  <a:srgbClr val="FF6B6B"/>
                </a:solidFill>
                <a:latin typeface="JetBrains Mono Medium" pitchFamily="34" charset="0"/>
                <a:ea typeface="JetBrains Mono Medium" pitchFamily="34" charset="-122"/>
                <a:cs typeface="JetBrains Mono Medium" pitchFamily="34" charset="-120"/>
              </a:rPr>
              <a:t>DATABASE LEAK</a:t>
            </a:r>
            <a:endParaRPr lang="en-US" sz="800" dirty="0"/>
          </a:p>
        </p:txBody>
      </p:sp>
      <p:sp>
        <p:nvSpPr>
          <p:cNvPr id="15" name="Shape 12"/>
          <p:cNvSpPr/>
          <p:nvPr/>
        </p:nvSpPr>
        <p:spPr>
          <a:xfrm>
            <a:off x="571500" y="3629917"/>
            <a:ext cx="1519237" cy="205717"/>
          </a:xfrm>
          <a:prstGeom prst="rect">
            <a:avLst/>
          </a:prstGeom>
          <a:solidFill>
            <a:srgbClr val="0D1117"/>
          </a:solidFill>
        </p:spPr>
      </p:sp>
      <p:sp>
        <p:nvSpPr>
          <p:cNvPr id="16" name="Text 13"/>
          <p:cNvSpPr/>
          <p:nvPr/>
        </p:nvSpPr>
        <p:spPr>
          <a:xfrm>
            <a:off x="571500" y="3629917"/>
            <a:ext cx="673735" cy="176530"/>
          </a:xfrm>
          <a:prstGeom prst="rect">
            <a:avLst/>
          </a:prstGeom>
          <a:noFill/>
        </p:spPr>
        <p:txBody>
          <a:bodyPr wrap="none" lIns="113453" tIns="0" rIns="113453" bIns="0" rtlCol="0" anchor="t">
            <a:spAutoFit/>
          </a:bodyPr>
          <a:lstStyle/>
          <a:p>
            <a:pPr marL="0" indent="0" algn="l">
              <a:lnSpc>
                <a:spcPct val="144000"/>
              </a:lnSpc>
              <a:buNone/>
            </a:pPr>
            <a:r>
              <a:rPr lang="en-US" sz="800" dirty="0">
                <a:solidFill>
                  <a:srgbClr val="FF6B6B"/>
                </a:solidFill>
                <a:latin typeface="JetBrains Mono Medium" pitchFamily="34" charset="0"/>
                <a:ea typeface="JetBrains Mono Medium" pitchFamily="34" charset="-122"/>
                <a:cs typeface="JetBrains Mono Medium" pitchFamily="34" charset="-120"/>
              </a:rPr>
              <a:t>DETECTED</a:t>
            </a:r>
            <a:endParaRPr lang="en-US" sz="800" dirty="0"/>
          </a:p>
        </p:txBody>
      </p:sp>
      <p:pic>
        <p:nvPicPr>
          <p:cNvPr id="17" name="Image 1" descr="preencoded.png"/>
          <p:cNvPicPr>
            <a:picLocks noChangeAspect="1"/>
          </p:cNvPicPr>
          <p:nvPr/>
        </p:nvPicPr>
        <p:blipFill>
          <a:blip r:embed="rId2"/>
          <a:stretch>
            <a:fillRect/>
          </a:stretch>
        </p:blipFill>
        <p:spPr>
          <a:xfrm>
            <a:off x="381000" y="4629076"/>
            <a:ext cx="133351" cy="133351"/>
          </a:xfrm>
          <a:prstGeom prst="rect">
            <a:avLst/>
          </a:prstGeom>
        </p:spPr>
      </p:pic>
      <p:sp>
        <p:nvSpPr>
          <p:cNvPr id="18" name="Text 14"/>
          <p:cNvSpPr/>
          <p:nvPr/>
        </p:nvSpPr>
        <p:spPr>
          <a:xfrm>
            <a:off x="514351" y="4617169"/>
            <a:ext cx="4550410" cy="171450"/>
          </a:xfrm>
          <a:prstGeom prst="rect">
            <a:avLst/>
          </a:prstGeom>
          <a:noFill/>
        </p:spPr>
        <p:txBody>
          <a:bodyPr wrap="none" lIns="0" tIns="0" rIns="0" bIns="0" rtlCol="0" anchor="t">
            <a:spAutoFit/>
          </a:bodyPr>
          <a:lstStyle/>
          <a:p>
            <a:pPr marL="0" indent="0" algn="l">
              <a:lnSpc>
                <a:spcPct val="112000"/>
              </a:lnSpc>
              <a:buNone/>
            </a:pPr>
            <a:r>
              <a:rPr lang="en-US" sz="1000" i="1" dirty="0">
                <a:solidFill>
                  <a:srgbClr val="8B949E"/>
                </a:solidFill>
                <a:latin typeface="Inter" pitchFamily="34" charset="0"/>
                <a:ea typeface="Inter" pitchFamily="34" charset="-122"/>
                <a:cs typeface="Inter" pitchFamily="34" charset="-120"/>
              </a:rPr>
              <a:t>This hash appears in millions of breached databases. It's a classic example of why</a:t>
            </a:r>
            <a:endParaRPr lang="en-US" sz="1000" dirty="0"/>
          </a:p>
        </p:txBody>
      </p:sp>
      <p:sp>
        <p:nvSpPr>
          <p:cNvPr id="19" name="Text 15"/>
          <p:cNvSpPr/>
          <p:nvPr/>
        </p:nvSpPr>
        <p:spPr>
          <a:xfrm>
            <a:off x="381000" y="4803837"/>
            <a:ext cx="1852930" cy="171450"/>
          </a:xfrm>
          <a:prstGeom prst="rect">
            <a:avLst/>
          </a:prstGeom>
          <a:noFill/>
        </p:spPr>
        <p:txBody>
          <a:bodyPr wrap="none" lIns="0" tIns="0" rIns="0" bIns="0" rtlCol="0" anchor="t">
            <a:spAutoFit/>
          </a:bodyPr>
          <a:lstStyle/>
          <a:p>
            <a:pPr marL="0" indent="0" algn="l">
              <a:lnSpc>
                <a:spcPct val="112000"/>
              </a:lnSpc>
              <a:buNone/>
            </a:pPr>
            <a:r>
              <a:rPr lang="en-US" sz="1000" i="1" dirty="0">
                <a:solidFill>
                  <a:srgbClr val="8B949E"/>
                </a:solidFill>
                <a:latin typeface="Inter" pitchFamily="34" charset="0"/>
                <a:ea typeface="Inter" pitchFamily="34" charset="-122"/>
                <a:cs typeface="Inter" pitchFamily="34" charset="-120"/>
              </a:rPr>
              <a:t>simple passwords are dangerous.</a:t>
            </a:r>
            <a:endParaRPr lang="en-US" sz="1000" dirty="0"/>
          </a:p>
        </p:txBody>
      </p:sp>
      <p:sp>
        <p:nvSpPr>
          <p:cNvPr id="20" name="Shape 16"/>
          <p:cNvSpPr/>
          <p:nvPr/>
        </p:nvSpPr>
        <p:spPr>
          <a:xfrm>
            <a:off x="6286500" y="952500"/>
            <a:ext cx="5524500" cy="897731"/>
          </a:xfrm>
          <a:prstGeom prst="rect">
            <a:avLst/>
          </a:prstGeom>
          <a:solidFill>
            <a:srgbClr val="58A6FF">
              <a:alpha val="10000"/>
            </a:srgbClr>
          </a:solidFill>
          <a:ln w="9144">
            <a:solidFill>
              <a:srgbClr val="58A6FF"/>
            </a:solidFill>
            <a:prstDash val="solid"/>
          </a:ln>
        </p:spPr>
      </p:sp>
      <p:pic>
        <p:nvPicPr>
          <p:cNvPr id="21" name="Image 2" descr="preencoded.png"/>
          <p:cNvPicPr>
            <a:picLocks noChangeAspect="1"/>
          </p:cNvPicPr>
          <p:nvPr/>
        </p:nvPicPr>
        <p:blipFill>
          <a:blip r:embed="rId3"/>
          <a:stretch>
            <a:fillRect/>
          </a:stretch>
        </p:blipFill>
        <p:spPr>
          <a:xfrm>
            <a:off x="6477000" y="1179909"/>
            <a:ext cx="114300" cy="152400"/>
          </a:xfrm>
          <a:prstGeom prst="rect">
            <a:avLst/>
          </a:prstGeom>
        </p:spPr>
      </p:pic>
      <p:sp>
        <p:nvSpPr>
          <p:cNvPr id="22" name="Text 17"/>
          <p:cNvSpPr/>
          <p:nvPr/>
        </p:nvSpPr>
        <p:spPr>
          <a:xfrm>
            <a:off x="6686551" y="1143000"/>
            <a:ext cx="321310" cy="174625"/>
          </a:xfrm>
          <a:prstGeom prst="rect">
            <a:avLst/>
          </a:prstGeom>
          <a:noFill/>
        </p:spPr>
        <p:txBody>
          <a:bodyPr wrap="none" lIns="0" tIns="0" rIns="0" bIns="0" rtlCol="0" anchor="t">
            <a:spAutoFit/>
          </a:bodyPr>
          <a:lstStyle/>
          <a:p>
            <a:pPr marL="0" indent="0" algn="l">
              <a:buNone/>
            </a:pPr>
            <a:r>
              <a:rPr lang="en-US" sz="1135" dirty="0">
                <a:solidFill>
                  <a:srgbClr val="58A6FF"/>
                </a:solidFill>
                <a:latin typeface="Poppins SemiBold" pitchFamily="34" charset="0"/>
                <a:ea typeface="Poppins SemiBold" pitchFamily="34" charset="-122"/>
                <a:cs typeface="Poppins SemiBold" pitchFamily="34" charset="-120"/>
              </a:rPr>
              <a:t>HINT</a:t>
            </a:r>
            <a:endParaRPr lang="en-US" sz="1135" dirty="0"/>
          </a:p>
        </p:txBody>
      </p:sp>
      <p:sp>
        <p:nvSpPr>
          <p:cNvPr id="23" name="Text 18"/>
          <p:cNvSpPr/>
          <p:nvPr/>
        </p:nvSpPr>
        <p:spPr>
          <a:xfrm>
            <a:off x="6477000" y="1464469"/>
            <a:ext cx="5143500" cy="349885"/>
          </a:xfrm>
          <a:prstGeom prst="rect">
            <a:avLst/>
          </a:prstGeom>
          <a:noFill/>
        </p:spPr>
        <p:txBody>
          <a:bodyPr wrap="square" lIns="0" tIns="0" rIns="0" bIns="0" rtlCol="0" anchor="t">
            <a:spAutoFit/>
          </a:bodyPr>
          <a:lstStyle/>
          <a:p>
            <a:pPr marL="0" indent="0" algn="l">
              <a:buNone/>
            </a:pPr>
            <a:r>
              <a:rPr lang="en-US" sz="1135" dirty="0">
                <a:solidFill>
                  <a:srgbClr val="58A6FF"/>
                </a:solidFill>
                <a:latin typeface="Inter" pitchFamily="34" charset="0"/>
                <a:ea typeface="Inter" pitchFamily="34" charset="-122"/>
                <a:cs typeface="Inter" pitchFamily="34" charset="-120"/>
              </a:rPr>
              <a:t>32 hex characters almost always mean an </a:t>
            </a:r>
            <a:r>
              <a:rPr lang="en-US" sz="1065" b="1" dirty="0">
                <a:solidFill>
                  <a:srgbClr val="58A6FF"/>
                </a:solidFill>
                <a:latin typeface="Inter" pitchFamily="34" charset="0"/>
                <a:ea typeface="Inter" pitchFamily="34" charset="-122"/>
                <a:cs typeface="Inter" pitchFamily="34" charset="-120"/>
              </a:rPr>
              <a:t>MD5 hash</a:t>
            </a:r>
            <a:r>
              <a:rPr lang="en-US" sz="1135" dirty="0">
                <a:solidFill>
                  <a:srgbClr val="58A6FF"/>
                </a:solidFill>
                <a:latin typeface="Inter" pitchFamily="34" charset="0"/>
                <a:ea typeface="Inter" pitchFamily="34" charset="-122"/>
                <a:cs typeface="Inter" pitchFamily="34" charset="-120"/>
              </a:rPr>
              <a:t>. Try using an online rainbow table like </a:t>
            </a:r>
            <a:r>
              <a:rPr lang="en-US" sz="1065" b="1" dirty="0">
                <a:solidFill>
                  <a:srgbClr val="58A6FF"/>
                </a:solidFill>
                <a:latin typeface="Inter" pitchFamily="34" charset="0"/>
                <a:ea typeface="Inter" pitchFamily="34" charset="-122"/>
                <a:cs typeface="Inter" pitchFamily="34" charset="-120"/>
              </a:rPr>
              <a:t>crackstation.net</a:t>
            </a:r>
            <a:r>
              <a:rPr lang="en-US" sz="1135" dirty="0">
                <a:solidFill>
                  <a:srgbClr val="58A6FF"/>
                </a:solidFill>
                <a:latin typeface="Inter" pitchFamily="34" charset="0"/>
                <a:ea typeface="Inter" pitchFamily="34" charset="-122"/>
                <a:cs typeface="Inter" pitchFamily="34" charset="-120"/>
              </a:rPr>
              <a:t> or a tool like </a:t>
            </a:r>
            <a:r>
              <a:rPr lang="en-US" sz="1065" b="1" dirty="0">
                <a:solidFill>
                  <a:srgbClr val="58A6FF"/>
                </a:solidFill>
                <a:latin typeface="Inter" pitchFamily="34" charset="0"/>
                <a:ea typeface="Inter" pitchFamily="34" charset="-122"/>
                <a:cs typeface="Inter" pitchFamily="34" charset="-120"/>
              </a:rPr>
              <a:t>hashcat</a:t>
            </a:r>
            <a:r>
              <a:rPr lang="en-US" sz="1135" dirty="0">
                <a:solidFill>
                  <a:srgbClr val="58A6FF"/>
                </a:solidFill>
                <a:latin typeface="Inter" pitchFamily="34" charset="0"/>
                <a:ea typeface="Inter" pitchFamily="34" charset="-122"/>
                <a:cs typeface="Inter" pitchFamily="34" charset="-120"/>
              </a:rPr>
              <a:t>.</a:t>
            </a:r>
            <a:endParaRPr lang="en-US" sz="1135" dirty="0"/>
          </a:p>
        </p:txBody>
      </p:sp>
      <p:sp>
        <p:nvSpPr>
          <p:cNvPr id="24" name="Shape 19"/>
          <p:cNvSpPr/>
          <p:nvPr/>
        </p:nvSpPr>
        <p:spPr>
          <a:xfrm>
            <a:off x="6286500" y="4974952"/>
            <a:ext cx="5524500" cy="1692548"/>
          </a:xfrm>
          <a:prstGeom prst="rect">
            <a:avLst/>
          </a:prstGeom>
          <a:solidFill>
            <a:srgbClr val="161B22"/>
          </a:solidFill>
          <a:ln w="9144">
            <a:solidFill>
              <a:srgbClr val="30363D"/>
            </a:solidFill>
            <a:prstDash val="solid"/>
          </a:ln>
        </p:spPr>
      </p:sp>
      <p:sp>
        <p:nvSpPr>
          <p:cNvPr id="25" name="Text 20"/>
          <p:cNvSpPr/>
          <p:nvPr/>
        </p:nvSpPr>
        <p:spPr>
          <a:xfrm>
            <a:off x="6524625" y="5232127"/>
            <a:ext cx="5048251"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Poppins SemiBold" pitchFamily="34" charset="0"/>
                <a:ea typeface="Poppins SemiBold" pitchFamily="34" charset="-122"/>
                <a:cs typeface="Poppins SemiBold" pitchFamily="34" charset="-120"/>
              </a:rPr>
              <a:t>SOLUTION WALKTHROUGH</a:t>
            </a:r>
            <a:endParaRPr lang="en-US" sz="1000" dirty="0"/>
          </a:p>
        </p:txBody>
      </p:sp>
      <p:sp>
        <p:nvSpPr>
          <p:cNvPr id="26" name="Text 21"/>
          <p:cNvSpPr/>
          <p:nvPr/>
        </p:nvSpPr>
        <p:spPr>
          <a:xfrm>
            <a:off x="6524625" y="5529784"/>
            <a:ext cx="5048251" cy="588010"/>
          </a:xfrm>
          <a:prstGeom prst="rect">
            <a:avLst/>
          </a:prstGeom>
          <a:noFill/>
        </p:spPr>
        <p:txBody>
          <a:bodyPr wrap="square" lIns="0" tIns="0" rIns="0" bIns="0" rtlCol="0" anchor="t">
            <a:spAutoFit/>
          </a:bodyPr>
          <a:lstStyle/>
          <a:p>
            <a:pPr marL="0" indent="0" algn="l">
              <a:lnSpc>
                <a:spcPct val="112000"/>
              </a:lnSpc>
              <a:buNone/>
            </a:pPr>
            <a:r>
              <a:rPr lang="en-US" sz="1135" dirty="0">
                <a:solidFill>
                  <a:srgbClr val="E6EDF3"/>
                </a:solidFill>
                <a:latin typeface="Inter" pitchFamily="34" charset="0"/>
                <a:ea typeface="Inter" pitchFamily="34" charset="-122"/>
                <a:cs typeface="Inter" pitchFamily="34" charset="-120"/>
              </a:rPr>
              <a:t>1. Identify hash as MD5 (32 chars).
2. Search hash on CrackStation.
3. Result: </a:t>
            </a:r>
            <a:r>
              <a:rPr lang="en-US" sz="1135" dirty="0">
                <a:solidFill>
                  <a:srgbClr val="E3B341"/>
                </a:solidFill>
                <a:latin typeface="JetBrains Mono Medium" pitchFamily="34" charset="0"/>
                <a:ea typeface="JetBrains Mono Medium" pitchFamily="34" charset="-122"/>
                <a:cs typeface="JetBrains Mono Medium" pitchFamily="34" charset="-120"/>
              </a:rPr>
              <a:t>password</a:t>
            </a:r>
            <a:endParaRPr lang="en-US" sz="1135" dirty="0"/>
          </a:p>
        </p:txBody>
      </p:sp>
      <p:sp>
        <p:nvSpPr>
          <p:cNvPr id="27" name="Text 22"/>
          <p:cNvSpPr/>
          <p:nvPr/>
        </p:nvSpPr>
        <p:spPr>
          <a:xfrm>
            <a:off x="6524625" y="6315075"/>
            <a:ext cx="5048251" cy="307340"/>
          </a:xfrm>
          <a:prstGeom prst="rect">
            <a:avLst/>
          </a:prstGeom>
          <a:noFill/>
        </p:spPr>
        <p:txBody>
          <a:bodyPr wrap="square" lIns="0" tIns="0" rIns="0" bIns="0" rtlCol="0" anchor="t">
            <a:spAutoFit/>
          </a:bodyPr>
          <a:lstStyle/>
          <a:p>
            <a:pPr marL="0" indent="0" algn="ctr">
              <a:buNone/>
            </a:pPr>
            <a:r>
              <a:rPr lang="en-US" sz="2000" dirty="0">
                <a:solidFill>
                  <a:srgbClr val="00FF9C"/>
                </a:solidFill>
                <a:latin typeface="JetBrains Mono Medium" pitchFamily="34" charset="0"/>
                <a:ea typeface="JetBrains Mono Medium" pitchFamily="34" charset="-122"/>
                <a:cs typeface="JetBrains Mono Medium" pitchFamily="34" charset="-120"/>
              </a:rPr>
              <a:t>flag{always_salt_your_hashes}</a:t>
            </a:r>
            <a:endParaRPr lang="en-US" sz="2000"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72 | EWUCSC</a:t>
            </a:r>
            <a:endParaRPr lang="en-US" sz="1265" dirty="0"/>
          </a:p>
        </p:txBody>
      </p:sp>
      <p:sp>
        <p:nvSpPr>
          <p:cNvPr id="7" name="Shape 4"/>
          <p:cNvSpPr/>
          <p:nvPr/>
        </p:nvSpPr>
        <p:spPr>
          <a:xfrm>
            <a:off x="381000" y="952500"/>
            <a:ext cx="5022280" cy="233363"/>
          </a:xfrm>
          <a:prstGeom prst="rect">
            <a:avLst/>
          </a:prstGeom>
          <a:solidFill>
            <a:srgbClr val="FF6B6B">
              <a:alpha val="10000"/>
            </a:srgbClr>
          </a:solidFill>
          <a:ln w="9144">
            <a:solidFill>
              <a:srgbClr val="FF6B6B"/>
            </a:solidFill>
            <a:prstDash val="solid"/>
          </a:ln>
        </p:spPr>
      </p:sp>
      <p:sp>
        <p:nvSpPr>
          <p:cNvPr id="8" name="Text 5"/>
          <p:cNvSpPr/>
          <p:nvPr/>
        </p:nvSpPr>
        <p:spPr>
          <a:xfrm>
            <a:off x="381000" y="952500"/>
            <a:ext cx="5022280" cy="198755"/>
          </a:xfrm>
          <a:prstGeom prst="rect">
            <a:avLst/>
          </a:prstGeom>
          <a:noFill/>
        </p:spPr>
        <p:txBody>
          <a:bodyPr wrap="square" lIns="136144" tIns="45381" rIns="136144" bIns="0" rtlCol="0" anchor="t">
            <a:spAutoFit/>
          </a:bodyPr>
          <a:lstStyle/>
          <a:p>
            <a:pPr marL="0" indent="0" algn="l">
              <a:buNone/>
            </a:pPr>
            <a:r>
              <a:rPr lang="en-US" sz="1000" dirty="0">
                <a:solidFill>
                  <a:srgbClr val="FF6B6B"/>
                </a:solidFill>
                <a:latin typeface="JetBrains Mono Medium" pitchFamily="34" charset="0"/>
                <a:ea typeface="JetBrains Mono Medium" pitchFamily="34" charset="-122"/>
                <a:cs typeface="JetBrains Mono Medium" pitchFamily="34" charset="-120"/>
              </a:rPr>
              <a:t>200 POINTS | HARD</a:t>
            </a:r>
            <a:endParaRPr lang="en-US" sz="1000" dirty="0"/>
          </a:p>
        </p:txBody>
      </p:sp>
      <p:sp>
        <p:nvSpPr>
          <p:cNvPr id="9" name="Text 6"/>
          <p:cNvSpPr/>
          <p:nvPr/>
        </p:nvSpPr>
        <p:spPr>
          <a:xfrm>
            <a:off x="381000" y="1500188"/>
            <a:ext cx="502228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Challenge 5: Tiny RSA</a:t>
            </a:r>
            <a:endParaRPr lang="en-US" sz="2800" dirty="0"/>
          </a:p>
        </p:txBody>
      </p:sp>
      <p:sp>
        <p:nvSpPr>
          <p:cNvPr id="10" name="Text 7"/>
          <p:cNvSpPr/>
          <p:nvPr/>
        </p:nvSpPr>
        <p:spPr>
          <a:xfrm>
            <a:off x="381000" y="2338388"/>
            <a:ext cx="5022280" cy="389255"/>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Inter" pitchFamily="34" charset="0"/>
                <a:ea typeface="Inter" pitchFamily="34" charset="-122"/>
                <a:cs typeface="Inter" pitchFamily="34" charset="-120"/>
              </a:rPr>
              <a:t>You captured an RSA encrypted message. The modulus is small enough to factor. Decrypt it to find the flag.</a:t>
            </a:r>
            <a:endParaRPr lang="en-US" sz="1265" dirty="0"/>
          </a:p>
        </p:txBody>
      </p:sp>
      <p:sp>
        <p:nvSpPr>
          <p:cNvPr id="11" name="Shape 8"/>
          <p:cNvSpPr/>
          <p:nvPr/>
        </p:nvSpPr>
        <p:spPr>
          <a:xfrm>
            <a:off x="381000" y="2990851"/>
            <a:ext cx="5022280" cy="1824968"/>
          </a:xfrm>
          <a:prstGeom prst="rect">
            <a:avLst/>
          </a:prstGeom>
          <a:solidFill>
            <a:srgbClr val="161B22"/>
          </a:solidFill>
          <a:ln w="9144">
            <a:solidFill>
              <a:srgbClr val="30363D"/>
            </a:solidFill>
            <a:prstDash val="solid"/>
          </a:ln>
        </p:spPr>
      </p:sp>
      <p:sp>
        <p:nvSpPr>
          <p:cNvPr id="12" name="Text 9"/>
          <p:cNvSpPr/>
          <p:nvPr/>
        </p:nvSpPr>
        <p:spPr>
          <a:xfrm>
            <a:off x="666751" y="3276600"/>
            <a:ext cx="795020" cy="369570"/>
          </a:xfrm>
          <a:prstGeom prst="rect">
            <a:avLst/>
          </a:prstGeom>
          <a:noFill/>
        </p:spPr>
        <p:txBody>
          <a:bodyPr wrap="none" lIns="0" tIns="0" rIns="0" bIns="0" rtlCol="0" anchor="t">
            <a:spAutoFit/>
          </a:bodyPr>
          <a:lstStyle/>
          <a:p>
            <a:pPr marL="0" indent="0" algn="l">
              <a:lnSpc>
                <a:spcPct val="144000"/>
              </a:lnSpc>
              <a:buNone/>
            </a:pPr>
            <a:r>
              <a:rPr lang="en-US" sz="1665" dirty="0">
                <a:solidFill>
                  <a:srgbClr val="8B949E"/>
                </a:solidFill>
                <a:latin typeface="JetBrains Mono Medium" pitchFamily="34" charset="0"/>
                <a:ea typeface="JetBrains Mono Medium" pitchFamily="34" charset="-122"/>
                <a:cs typeface="JetBrains Mono Medium" pitchFamily="34" charset="-120"/>
              </a:rPr>
              <a:t>n =</a:t>
            </a:r>
            <a:r>
              <a:rPr lang="en-US" sz="1665" dirty="0">
                <a:solidFill>
                  <a:srgbClr val="58A6FF"/>
                </a:solidFill>
                <a:latin typeface="JetBrains Mono Medium" pitchFamily="34" charset="0"/>
                <a:ea typeface="JetBrains Mono Medium" pitchFamily="34" charset="-122"/>
                <a:cs typeface="JetBrains Mono Medium" pitchFamily="34" charset="-120"/>
              </a:rPr>
              <a:t> 3233</a:t>
            </a:r>
            <a:endParaRPr lang="en-US" sz="1665" dirty="0"/>
          </a:p>
        </p:txBody>
      </p:sp>
      <p:sp>
        <p:nvSpPr>
          <p:cNvPr id="13" name="Text 10"/>
          <p:cNvSpPr/>
          <p:nvPr/>
        </p:nvSpPr>
        <p:spPr>
          <a:xfrm>
            <a:off x="666751" y="3688072"/>
            <a:ext cx="565785" cy="369570"/>
          </a:xfrm>
          <a:prstGeom prst="rect">
            <a:avLst/>
          </a:prstGeom>
          <a:noFill/>
        </p:spPr>
        <p:txBody>
          <a:bodyPr wrap="none" lIns="0" tIns="0" rIns="0" bIns="0" rtlCol="0" anchor="t">
            <a:spAutoFit/>
          </a:bodyPr>
          <a:lstStyle/>
          <a:p>
            <a:pPr marL="0" indent="0" algn="l">
              <a:lnSpc>
                <a:spcPct val="144000"/>
              </a:lnSpc>
              <a:buNone/>
            </a:pPr>
            <a:r>
              <a:rPr lang="en-US" sz="1665" dirty="0">
                <a:solidFill>
                  <a:srgbClr val="8B949E"/>
                </a:solidFill>
                <a:latin typeface="JetBrains Mono Medium" pitchFamily="34" charset="0"/>
                <a:ea typeface="JetBrains Mono Medium" pitchFamily="34" charset="-122"/>
                <a:cs typeface="JetBrains Mono Medium" pitchFamily="34" charset="-120"/>
              </a:rPr>
              <a:t>e =</a:t>
            </a:r>
            <a:r>
              <a:rPr lang="en-US" sz="1665" dirty="0">
                <a:solidFill>
                  <a:srgbClr val="58A6FF"/>
                </a:solidFill>
                <a:latin typeface="JetBrains Mono Medium" pitchFamily="34" charset="0"/>
                <a:ea typeface="JetBrains Mono Medium" pitchFamily="34" charset="-122"/>
                <a:cs typeface="JetBrains Mono Medium" pitchFamily="34" charset="-120"/>
              </a:rPr>
              <a:t> 17</a:t>
            </a:r>
            <a:endParaRPr lang="en-US" sz="1665" dirty="0"/>
          </a:p>
        </p:txBody>
      </p:sp>
      <p:sp>
        <p:nvSpPr>
          <p:cNvPr id="14" name="Text 11"/>
          <p:cNvSpPr/>
          <p:nvPr/>
        </p:nvSpPr>
        <p:spPr>
          <a:xfrm>
            <a:off x="666751" y="4099545"/>
            <a:ext cx="768985" cy="369570"/>
          </a:xfrm>
          <a:prstGeom prst="rect">
            <a:avLst/>
          </a:prstGeom>
          <a:noFill/>
        </p:spPr>
        <p:txBody>
          <a:bodyPr wrap="none" lIns="0" tIns="0" rIns="0" bIns="0" rtlCol="0" anchor="t">
            <a:spAutoFit/>
          </a:bodyPr>
          <a:lstStyle/>
          <a:p>
            <a:pPr marL="0" indent="0" algn="l">
              <a:lnSpc>
                <a:spcPct val="144000"/>
              </a:lnSpc>
              <a:buNone/>
            </a:pPr>
            <a:r>
              <a:rPr lang="en-US" sz="1665" dirty="0">
                <a:solidFill>
                  <a:srgbClr val="8B949E"/>
                </a:solidFill>
                <a:latin typeface="JetBrains Mono Medium" pitchFamily="34" charset="0"/>
                <a:ea typeface="JetBrains Mono Medium" pitchFamily="34" charset="-122"/>
                <a:cs typeface="JetBrains Mono Medium" pitchFamily="34" charset="-120"/>
              </a:rPr>
              <a:t>c =</a:t>
            </a:r>
            <a:r>
              <a:rPr lang="en-US" sz="1665" dirty="0">
                <a:solidFill>
                  <a:srgbClr val="58A6FF"/>
                </a:solidFill>
                <a:latin typeface="JetBrains Mono Medium" pitchFamily="34" charset="0"/>
                <a:ea typeface="JetBrains Mono Medium" pitchFamily="34" charset="-122"/>
                <a:cs typeface="JetBrains Mono Medium" pitchFamily="34" charset="-120"/>
              </a:rPr>
              <a:t> 2790</a:t>
            </a:r>
            <a:endParaRPr lang="en-US" sz="1665" dirty="0"/>
          </a:p>
        </p:txBody>
      </p:sp>
      <p:pic>
        <p:nvPicPr>
          <p:cNvPr id="15" name="Image 1" descr="preencoded.png"/>
          <p:cNvPicPr>
            <a:picLocks noChangeAspect="1"/>
          </p:cNvPicPr>
          <p:nvPr/>
        </p:nvPicPr>
        <p:blipFill>
          <a:blip r:embed="rId2"/>
          <a:stretch>
            <a:fillRect/>
          </a:stretch>
        </p:blipFill>
        <p:spPr>
          <a:xfrm>
            <a:off x="381000" y="5142049"/>
            <a:ext cx="100012" cy="133351"/>
          </a:xfrm>
          <a:prstGeom prst="rect">
            <a:avLst/>
          </a:prstGeom>
        </p:spPr>
      </p:pic>
      <p:sp>
        <p:nvSpPr>
          <p:cNvPr id="16" name="Text 12"/>
          <p:cNvSpPr/>
          <p:nvPr/>
        </p:nvSpPr>
        <p:spPr>
          <a:xfrm>
            <a:off x="481012" y="5130143"/>
            <a:ext cx="3614737" cy="153670"/>
          </a:xfrm>
          <a:prstGeom prst="rect">
            <a:avLst/>
          </a:prstGeom>
          <a:noFill/>
        </p:spPr>
        <p:txBody>
          <a:bodyPr wrap="square" lIns="0" tIns="0" rIns="0" bIns="0" rtlCol="0" anchor="t">
            <a:spAutoFit/>
          </a:bodyPr>
          <a:lstStyle/>
          <a:p>
            <a:pPr marL="0" indent="0" algn="l">
              <a:buNone/>
            </a:pPr>
            <a:r>
              <a:rPr lang="en-US" sz="1000" i="1" dirty="0">
                <a:solidFill>
                  <a:srgbClr val="E3B341"/>
                </a:solidFill>
                <a:latin typeface="Inter" pitchFamily="34" charset="0"/>
                <a:ea typeface="Inter" pitchFamily="34" charset="-122"/>
                <a:cs typeface="Inter" pitchFamily="34" charset="-120"/>
              </a:rPr>
              <a:t>Hint: n = p × q. Try to factor 3233. (Hint: 3233 = 53 × 61)</a:t>
            </a:r>
            <a:endParaRPr lang="en-US" sz="1000" dirty="0"/>
          </a:p>
        </p:txBody>
      </p:sp>
      <p:sp>
        <p:nvSpPr>
          <p:cNvPr id="17" name="Shape 13"/>
          <p:cNvSpPr/>
          <p:nvPr/>
        </p:nvSpPr>
        <p:spPr>
          <a:xfrm>
            <a:off x="5784280" y="952500"/>
            <a:ext cx="6026720" cy="735807"/>
          </a:xfrm>
          <a:prstGeom prst="rect">
            <a:avLst/>
          </a:prstGeom>
          <a:solidFill>
            <a:srgbClr val="161B22"/>
          </a:solidFill>
        </p:spPr>
      </p:sp>
      <p:sp>
        <p:nvSpPr>
          <p:cNvPr id="18" name="Shape 14"/>
          <p:cNvSpPr/>
          <p:nvPr/>
        </p:nvSpPr>
        <p:spPr>
          <a:xfrm>
            <a:off x="5784280" y="952500"/>
            <a:ext cx="38100" cy="735807"/>
          </a:xfrm>
          <a:prstGeom prst="rect">
            <a:avLst/>
          </a:prstGeom>
          <a:solidFill>
            <a:srgbClr val="00FF9C"/>
          </a:solidFill>
        </p:spPr>
      </p:sp>
      <p:sp>
        <p:nvSpPr>
          <p:cNvPr id="19" name="Text 15"/>
          <p:cNvSpPr/>
          <p:nvPr/>
        </p:nvSpPr>
        <p:spPr>
          <a:xfrm>
            <a:off x="5974780" y="1095375"/>
            <a:ext cx="564572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Poppins SemiBold" pitchFamily="34" charset="0"/>
                <a:ea typeface="Poppins SemiBold" pitchFamily="34" charset="-122"/>
                <a:cs typeface="Poppins SemiBold" pitchFamily="34" charset="-120"/>
              </a:rPr>
              <a:t>STEP 1: FACTORIZE N</a:t>
            </a:r>
            <a:endParaRPr lang="en-US" sz="1000" dirty="0"/>
          </a:p>
        </p:txBody>
      </p:sp>
      <p:sp>
        <p:nvSpPr>
          <p:cNvPr id="20" name="Text 16"/>
          <p:cNvSpPr/>
          <p:nvPr/>
        </p:nvSpPr>
        <p:spPr>
          <a:xfrm>
            <a:off x="5974780" y="1345407"/>
            <a:ext cx="5645720"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p = 53, q = 61</a:t>
            </a:r>
            <a:endParaRPr lang="en-US" sz="1135" dirty="0"/>
          </a:p>
        </p:txBody>
      </p:sp>
      <p:sp>
        <p:nvSpPr>
          <p:cNvPr id="21" name="Shape 17"/>
          <p:cNvSpPr/>
          <p:nvPr/>
        </p:nvSpPr>
        <p:spPr>
          <a:xfrm>
            <a:off x="5784280" y="1831181"/>
            <a:ext cx="6026720" cy="735807"/>
          </a:xfrm>
          <a:prstGeom prst="rect">
            <a:avLst/>
          </a:prstGeom>
          <a:solidFill>
            <a:srgbClr val="161B22"/>
          </a:solidFill>
        </p:spPr>
      </p:sp>
      <p:sp>
        <p:nvSpPr>
          <p:cNvPr id="22" name="Shape 18"/>
          <p:cNvSpPr/>
          <p:nvPr/>
        </p:nvSpPr>
        <p:spPr>
          <a:xfrm>
            <a:off x="5784280" y="1831181"/>
            <a:ext cx="38100" cy="735807"/>
          </a:xfrm>
          <a:prstGeom prst="rect">
            <a:avLst/>
          </a:prstGeom>
          <a:solidFill>
            <a:srgbClr val="58A6FF"/>
          </a:solidFill>
        </p:spPr>
      </p:sp>
      <p:sp>
        <p:nvSpPr>
          <p:cNvPr id="23" name="Text 19"/>
          <p:cNvSpPr/>
          <p:nvPr/>
        </p:nvSpPr>
        <p:spPr>
          <a:xfrm>
            <a:off x="5974780" y="1974056"/>
            <a:ext cx="564572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Poppins SemiBold" pitchFamily="34" charset="0"/>
                <a:ea typeface="Poppins SemiBold" pitchFamily="34" charset="-122"/>
                <a:cs typeface="Poppins SemiBold" pitchFamily="34" charset="-120"/>
              </a:rPr>
              <a:t>STEP 2: CALCULATE TOTIENT Φ(N)</a:t>
            </a:r>
            <a:endParaRPr lang="en-US" sz="1000" dirty="0"/>
          </a:p>
        </p:txBody>
      </p:sp>
      <p:sp>
        <p:nvSpPr>
          <p:cNvPr id="24" name="Text 20"/>
          <p:cNvSpPr/>
          <p:nvPr/>
        </p:nvSpPr>
        <p:spPr>
          <a:xfrm>
            <a:off x="5974780" y="2224088"/>
            <a:ext cx="5645720" cy="174625"/>
          </a:xfrm>
          <a:prstGeom prst="rect">
            <a:avLst/>
          </a:prstGeom>
          <a:noFill/>
        </p:spPr>
        <p:txBody>
          <a:bodyPr wrap="square" lIns="0" tIns="0" rIns="0" bIns="0" rtlCol="0" anchor="t">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φ(n) = (p-1)(q-1) = 52 × 60 = 3120</a:t>
            </a:r>
            <a:endParaRPr lang="en-US" sz="1135" dirty="0"/>
          </a:p>
        </p:txBody>
      </p:sp>
      <p:sp>
        <p:nvSpPr>
          <p:cNvPr id="25" name="Shape 21"/>
          <p:cNvSpPr/>
          <p:nvPr/>
        </p:nvSpPr>
        <p:spPr>
          <a:xfrm>
            <a:off x="5784280" y="2709863"/>
            <a:ext cx="6026720" cy="762781"/>
          </a:xfrm>
          <a:prstGeom prst="rect">
            <a:avLst/>
          </a:prstGeom>
          <a:solidFill>
            <a:srgbClr val="161B22"/>
          </a:solidFill>
        </p:spPr>
      </p:sp>
      <p:sp>
        <p:nvSpPr>
          <p:cNvPr id="26" name="Shape 22"/>
          <p:cNvSpPr/>
          <p:nvPr/>
        </p:nvSpPr>
        <p:spPr>
          <a:xfrm>
            <a:off x="5784280" y="2709863"/>
            <a:ext cx="38100" cy="762781"/>
          </a:xfrm>
          <a:prstGeom prst="rect">
            <a:avLst/>
          </a:prstGeom>
          <a:solidFill>
            <a:srgbClr val="E3B341"/>
          </a:solidFill>
        </p:spPr>
      </p:sp>
      <p:sp>
        <p:nvSpPr>
          <p:cNvPr id="27" name="Text 23"/>
          <p:cNvSpPr/>
          <p:nvPr/>
        </p:nvSpPr>
        <p:spPr>
          <a:xfrm>
            <a:off x="5974780" y="2852737"/>
            <a:ext cx="564572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Poppins SemiBold" pitchFamily="34" charset="0"/>
                <a:ea typeface="Poppins SemiBold" pitchFamily="34" charset="-122"/>
                <a:cs typeface="Poppins SemiBold" pitchFamily="34" charset="-120"/>
              </a:rPr>
              <a:t>STEP 3: FIND PRIVATE EXPONENT D</a:t>
            </a:r>
            <a:endParaRPr lang="en-US" sz="1000" dirty="0"/>
          </a:p>
        </p:txBody>
      </p:sp>
      <p:sp>
        <p:nvSpPr>
          <p:cNvPr id="28" name="Text 24"/>
          <p:cNvSpPr/>
          <p:nvPr/>
        </p:nvSpPr>
        <p:spPr>
          <a:xfrm>
            <a:off x="5974780" y="3129744"/>
            <a:ext cx="318135" cy="174625"/>
          </a:xfrm>
          <a:prstGeom prst="rect">
            <a:avLst/>
          </a:prstGeom>
          <a:noFill/>
        </p:spPr>
        <p:txBody>
          <a:bodyPr wrap="none" lIns="0" tIns="0" rIns="0" bIns="0" rtlCol="0" anchor="t">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d = e</a:t>
            </a:r>
            <a:endParaRPr lang="en-US" sz="1135" dirty="0"/>
          </a:p>
        </p:txBody>
      </p:sp>
      <p:sp>
        <p:nvSpPr>
          <p:cNvPr id="29" name="Text 25"/>
          <p:cNvSpPr/>
          <p:nvPr/>
        </p:nvSpPr>
        <p:spPr>
          <a:xfrm>
            <a:off x="6427217" y="3102769"/>
            <a:ext cx="69215" cy="93345"/>
          </a:xfrm>
          <a:prstGeom prst="rect">
            <a:avLst/>
          </a:prstGeom>
          <a:noFill/>
        </p:spPr>
        <p:txBody>
          <a:bodyPr wrap="none" lIns="0" tIns="0" rIns="0" bIns="0" rtlCol="0" anchor="t">
            <a:spAutoFit/>
          </a:bodyPr>
          <a:lstStyle/>
          <a:p>
            <a:pPr marL="0" indent="0" algn="l">
              <a:buNone/>
            </a:pPr>
            <a:r>
              <a:rPr lang="en-US" sz="935" baseline="30000" dirty="0">
                <a:solidFill>
                  <a:srgbClr val="E6EDF3"/>
                </a:solidFill>
                <a:latin typeface="JetBrains Mono Medium" pitchFamily="34" charset="0"/>
                <a:ea typeface="JetBrains Mono Medium" pitchFamily="34" charset="-122"/>
                <a:cs typeface="JetBrains Mono Medium" pitchFamily="34" charset="-120"/>
              </a:rPr>
              <a:t>-1</a:t>
            </a:r>
            <a:endParaRPr lang="en-US" sz="935" dirty="0"/>
          </a:p>
        </p:txBody>
      </p:sp>
      <p:sp>
        <p:nvSpPr>
          <p:cNvPr id="30" name="Text 26"/>
          <p:cNvSpPr/>
          <p:nvPr/>
        </p:nvSpPr>
        <p:spPr>
          <a:xfrm>
            <a:off x="6579617" y="3129744"/>
            <a:ext cx="928370" cy="174625"/>
          </a:xfrm>
          <a:prstGeom prst="rect">
            <a:avLst/>
          </a:prstGeom>
          <a:noFill/>
        </p:spPr>
        <p:txBody>
          <a:bodyPr wrap="none" lIns="0" tIns="0" rIns="0" bIns="0" rtlCol="0" anchor="t">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mod φ(n) = 17</a:t>
            </a:r>
            <a:endParaRPr lang="en-US" sz="1135" dirty="0"/>
          </a:p>
        </p:txBody>
      </p:sp>
      <p:sp>
        <p:nvSpPr>
          <p:cNvPr id="31" name="Text 27"/>
          <p:cNvSpPr/>
          <p:nvPr/>
        </p:nvSpPr>
        <p:spPr>
          <a:xfrm>
            <a:off x="7846441" y="3102769"/>
            <a:ext cx="69215" cy="93345"/>
          </a:xfrm>
          <a:prstGeom prst="rect">
            <a:avLst/>
          </a:prstGeom>
          <a:noFill/>
        </p:spPr>
        <p:txBody>
          <a:bodyPr wrap="none" lIns="0" tIns="0" rIns="0" bIns="0" rtlCol="0" anchor="t">
            <a:spAutoFit/>
          </a:bodyPr>
          <a:lstStyle/>
          <a:p>
            <a:pPr marL="0" indent="0" algn="l">
              <a:buNone/>
            </a:pPr>
            <a:r>
              <a:rPr lang="en-US" sz="935" baseline="30000" dirty="0">
                <a:solidFill>
                  <a:srgbClr val="E6EDF3"/>
                </a:solidFill>
                <a:latin typeface="JetBrains Mono Medium" pitchFamily="34" charset="0"/>
                <a:ea typeface="JetBrains Mono Medium" pitchFamily="34" charset="-122"/>
                <a:cs typeface="JetBrains Mono Medium" pitchFamily="34" charset="-120"/>
              </a:rPr>
              <a:t>-1</a:t>
            </a:r>
            <a:endParaRPr lang="en-US" sz="935" dirty="0"/>
          </a:p>
        </p:txBody>
      </p:sp>
      <p:sp>
        <p:nvSpPr>
          <p:cNvPr id="32" name="Text 28"/>
          <p:cNvSpPr/>
          <p:nvPr/>
        </p:nvSpPr>
        <p:spPr>
          <a:xfrm>
            <a:off x="7998841" y="3129744"/>
            <a:ext cx="1082675" cy="174625"/>
          </a:xfrm>
          <a:prstGeom prst="rect">
            <a:avLst/>
          </a:prstGeom>
          <a:noFill/>
        </p:spPr>
        <p:txBody>
          <a:bodyPr wrap="none" lIns="0" tIns="0" rIns="0" bIns="0" rtlCol="0" anchor="t">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mod 3120 = 2753</a:t>
            </a:r>
            <a:endParaRPr lang="en-US" sz="1135" dirty="0"/>
          </a:p>
        </p:txBody>
      </p:sp>
      <p:sp>
        <p:nvSpPr>
          <p:cNvPr id="33" name="Shape 29"/>
          <p:cNvSpPr/>
          <p:nvPr/>
        </p:nvSpPr>
        <p:spPr>
          <a:xfrm>
            <a:off x="5784280" y="3615519"/>
            <a:ext cx="6026720" cy="762781"/>
          </a:xfrm>
          <a:prstGeom prst="rect">
            <a:avLst/>
          </a:prstGeom>
          <a:solidFill>
            <a:srgbClr val="161B22"/>
          </a:solidFill>
        </p:spPr>
      </p:sp>
      <p:sp>
        <p:nvSpPr>
          <p:cNvPr id="34" name="Shape 30"/>
          <p:cNvSpPr/>
          <p:nvPr/>
        </p:nvSpPr>
        <p:spPr>
          <a:xfrm>
            <a:off x="5784280" y="3615519"/>
            <a:ext cx="38100" cy="762781"/>
          </a:xfrm>
          <a:prstGeom prst="rect">
            <a:avLst/>
          </a:prstGeom>
          <a:solidFill>
            <a:srgbClr val="FF6B6B"/>
          </a:solidFill>
        </p:spPr>
      </p:sp>
      <p:sp>
        <p:nvSpPr>
          <p:cNvPr id="35" name="Text 31"/>
          <p:cNvSpPr/>
          <p:nvPr/>
        </p:nvSpPr>
        <p:spPr>
          <a:xfrm>
            <a:off x="5974780" y="3758393"/>
            <a:ext cx="5645720" cy="153670"/>
          </a:xfrm>
          <a:prstGeom prst="rect">
            <a:avLst/>
          </a:prstGeom>
          <a:noFill/>
        </p:spPr>
        <p:txBody>
          <a:bodyPr wrap="square" lIns="0" tIns="0" rIns="0" bIns="0" rtlCol="0" anchor="t">
            <a:spAutoFit/>
          </a:bodyPr>
          <a:lstStyle/>
          <a:p>
            <a:pPr marL="0" indent="0" algn="l">
              <a:buNone/>
            </a:pPr>
            <a:r>
              <a:rPr lang="en-US" sz="1000" dirty="0">
                <a:solidFill>
                  <a:srgbClr val="8B949E"/>
                </a:solidFill>
                <a:latin typeface="Poppins SemiBold" pitchFamily="34" charset="0"/>
                <a:ea typeface="Poppins SemiBold" pitchFamily="34" charset="-122"/>
                <a:cs typeface="Poppins SemiBold" pitchFamily="34" charset="-120"/>
              </a:rPr>
              <a:t>STEP 4: DECRYPT MESSAGE M</a:t>
            </a:r>
            <a:endParaRPr lang="en-US" sz="1000" dirty="0"/>
          </a:p>
        </p:txBody>
      </p:sp>
      <p:sp>
        <p:nvSpPr>
          <p:cNvPr id="36" name="Text 32"/>
          <p:cNvSpPr/>
          <p:nvPr/>
        </p:nvSpPr>
        <p:spPr>
          <a:xfrm>
            <a:off x="5974780" y="4035400"/>
            <a:ext cx="351155" cy="174625"/>
          </a:xfrm>
          <a:prstGeom prst="rect">
            <a:avLst/>
          </a:prstGeom>
          <a:noFill/>
        </p:spPr>
        <p:txBody>
          <a:bodyPr wrap="none" lIns="0" tIns="0" rIns="0" bIns="0" rtlCol="0" anchor="t">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m = c</a:t>
            </a:r>
            <a:endParaRPr lang="en-US" sz="1135" dirty="0"/>
          </a:p>
        </p:txBody>
      </p:sp>
      <p:sp>
        <p:nvSpPr>
          <p:cNvPr id="37" name="Text 33"/>
          <p:cNvSpPr/>
          <p:nvPr/>
        </p:nvSpPr>
        <p:spPr>
          <a:xfrm>
            <a:off x="6427217" y="4008425"/>
            <a:ext cx="43815" cy="93345"/>
          </a:xfrm>
          <a:prstGeom prst="rect">
            <a:avLst/>
          </a:prstGeom>
          <a:noFill/>
        </p:spPr>
        <p:txBody>
          <a:bodyPr wrap="none" lIns="0" tIns="0" rIns="0" bIns="0" rtlCol="0" anchor="t">
            <a:spAutoFit/>
          </a:bodyPr>
          <a:lstStyle/>
          <a:p>
            <a:pPr marL="0" indent="0" algn="l">
              <a:buNone/>
            </a:pPr>
            <a:r>
              <a:rPr lang="en-US" sz="935" baseline="30000" dirty="0">
                <a:solidFill>
                  <a:srgbClr val="E6EDF3"/>
                </a:solidFill>
                <a:latin typeface="JetBrains Mono Medium" pitchFamily="34" charset="0"/>
                <a:ea typeface="JetBrains Mono Medium" pitchFamily="34" charset="-122"/>
                <a:cs typeface="JetBrains Mono Medium" pitchFamily="34" charset="-120"/>
              </a:rPr>
              <a:t>d</a:t>
            </a:r>
            <a:endParaRPr lang="en-US" sz="935" dirty="0"/>
          </a:p>
        </p:txBody>
      </p:sp>
      <p:sp>
        <p:nvSpPr>
          <p:cNvPr id="38" name="Text 34"/>
          <p:cNvSpPr/>
          <p:nvPr/>
        </p:nvSpPr>
        <p:spPr>
          <a:xfrm>
            <a:off x="6503417" y="4035400"/>
            <a:ext cx="867410" cy="174625"/>
          </a:xfrm>
          <a:prstGeom prst="rect">
            <a:avLst/>
          </a:prstGeom>
          <a:noFill/>
        </p:spPr>
        <p:txBody>
          <a:bodyPr wrap="none" lIns="0" tIns="0" rIns="0" bIns="0" rtlCol="0" anchor="t">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mod n = 2790</a:t>
            </a:r>
            <a:endParaRPr lang="en-US" sz="1135" dirty="0"/>
          </a:p>
        </p:txBody>
      </p:sp>
      <p:sp>
        <p:nvSpPr>
          <p:cNvPr id="39" name="Text 35"/>
          <p:cNvSpPr/>
          <p:nvPr/>
        </p:nvSpPr>
        <p:spPr>
          <a:xfrm>
            <a:off x="7679755" y="4008425"/>
            <a:ext cx="160020" cy="93345"/>
          </a:xfrm>
          <a:prstGeom prst="rect">
            <a:avLst/>
          </a:prstGeom>
          <a:noFill/>
        </p:spPr>
        <p:txBody>
          <a:bodyPr wrap="none" lIns="0" tIns="0" rIns="0" bIns="0" rtlCol="0" anchor="t">
            <a:spAutoFit/>
          </a:bodyPr>
          <a:lstStyle/>
          <a:p>
            <a:pPr marL="0" indent="0" algn="l">
              <a:buNone/>
            </a:pPr>
            <a:r>
              <a:rPr lang="en-US" sz="935" baseline="30000" dirty="0">
                <a:solidFill>
                  <a:srgbClr val="E6EDF3"/>
                </a:solidFill>
                <a:latin typeface="JetBrains Mono Medium" pitchFamily="34" charset="0"/>
                <a:ea typeface="JetBrains Mono Medium" pitchFamily="34" charset="-122"/>
                <a:cs typeface="JetBrains Mono Medium" pitchFamily="34" charset="-120"/>
              </a:rPr>
              <a:t>2753</a:t>
            </a:r>
            <a:endParaRPr lang="en-US" sz="935" dirty="0"/>
          </a:p>
        </p:txBody>
      </p:sp>
      <p:sp>
        <p:nvSpPr>
          <p:cNvPr id="40" name="Text 36"/>
          <p:cNvSpPr/>
          <p:nvPr/>
        </p:nvSpPr>
        <p:spPr>
          <a:xfrm>
            <a:off x="7984555" y="4035400"/>
            <a:ext cx="935355" cy="174625"/>
          </a:xfrm>
          <a:prstGeom prst="rect">
            <a:avLst/>
          </a:prstGeom>
          <a:noFill/>
        </p:spPr>
        <p:txBody>
          <a:bodyPr wrap="none" lIns="0" tIns="0" rIns="0" bIns="0" rtlCol="0" anchor="t">
            <a:spAutoFit/>
          </a:bodyPr>
          <a:lstStyle/>
          <a:p>
            <a:pPr marL="0" indent="0" algn="l">
              <a:buNone/>
            </a:pPr>
            <a:r>
              <a:rPr lang="en-US" sz="1135" dirty="0">
                <a:solidFill>
                  <a:srgbClr val="E6EDF3"/>
                </a:solidFill>
                <a:latin typeface="JetBrains Mono Medium" pitchFamily="34" charset="0"/>
                <a:ea typeface="JetBrains Mono Medium" pitchFamily="34" charset="-122"/>
                <a:cs typeface="JetBrains Mono Medium" pitchFamily="34" charset="-120"/>
              </a:rPr>
              <a:t>mod 3233 = 65</a:t>
            </a:r>
            <a:endParaRPr lang="en-US" sz="1135" dirty="0"/>
          </a:p>
        </p:txBody>
      </p:sp>
      <p:sp>
        <p:nvSpPr>
          <p:cNvPr id="41" name="Shape 37"/>
          <p:cNvSpPr/>
          <p:nvPr/>
        </p:nvSpPr>
        <p:spPr>
          <a:xfrm>
            <a:off x="5784280" y="5664993"/>
            <a:ext cx="6026720" cy="1002507"/>
          </a:xfrm>
          <a:prstGeom prst="rect">
            <a:avLst/>
          </a:prstGeom>
          <a:solidFill>
            <a:srgbClr val="00FF9C">
              <a:alpha val="10000"/>
            </a:srgbClr>
          </a:solidFill>
          <a:ln w="9144">
            <a:solidFill>
              <a:srgbClr val="00FF9C"/>
            </a:solidFill>
            <a:prstDash val="solid"/>
          </a:ln>
        </p:spPr>
      </p:sp>
      <p:sp>
        <p:nvSpPr>
          <p:cNvPr id="42" name="Text 38"/>
          <p:cNvSpPr/>
          <p:nvPr/>
        </p:nvSpPr>
        <p:spPr>
          <a:xfrm>
            <a:off x="5974780" y="5874544"/>
            <a:ext cx="5645720" cy="153670"/>
          </a:xfrm>
          <a:prstGeom prst="rect">
            <a:avLst/>
          </a:prstGeom>
          <a:noFill/>
        </p:spPr>
        <p:txBody>
          <a:bodyPr wrap="square" lIns="0" tIns="0" rIns="0" bIns="0" rtlCol="0" anchor="t">
            <a:spAutoFit/>
          </a:bodyPr>
          <a:lstStyle/>
          <a:p>
            <a:pPr marL="0" indent="0" algn="ctr">
              <a:buNone/>
            </a:pPr>
            <a:r>
              <a:rPr lang="en-US" sz="1000" dirty="0">
                <a:solidFill>
                  <a:srgbClr val="00FF9C"/>
                </a:solidFill>
                <a:latin typeface="Poppins SemiBold" pitchFamily="34" charset="0"/>
                <a:ea typeface="Poppins SemiBold" pitchFamily="34" charset="-122"/>
                <a:cs typeface="Poppins SemiBold" pitchFamily="34" charset="-120"/>
              </a:rPr>
              <a:t>RESULT: ASCII(65)</a:t>
            </a:r>
            <a:endParaRPr lang="en-US" sz="1000" dirty="0"/>
          </a:p>
        </p:txBody>
      </p:sp>
      <p:sp>
        <p:nvSpPr>
          <p:cNvPr id="43" name="Text 39"/>
          <p:cNvSpPr/>
          <p:nvPr/>
        </p:nvSpPr>
        <p:spPr>
          <a:xfrm>
            <a:off x="5974780" y="6124575"/>
            <a:ext cx="5645720" cy="287020"/>
          </a:xfrm>
          <a:prstGeom prst="rect">
            <a:avLst/>
          </a:prstGeom>
          <a:noFill/>
        </p:spPr>
        <p:txBody>
          <a:bodyPr wrap="square" lIns="0" tIns="0" rIns="0" bIns="0" rtlCol="0" anchor="t">
            <a:spAutoFit/>
          </a:bodyPr>
          <a:lstStyle/>
          <a:p>
            <a:pPr marL="0" indent="0" algn="ctr">
              <a:buNone/>
            </a:pPr>
            <a:r>
              <a:rPr lang="en-US" sz="1865" b="1" dirty="0">
                <a:solidFill>
                  <a:srgbClr val="00FF9C"/>
                </a:solidFill>
                <a:latin typeface="JetBrains Mono Medium" pitchFamily="34" charset="0"/>
                <a:ea typeface="JetBrains Mono Medium" pitchFamily="34" charset="-122"/>
                <a:cs typeface="JetBrains Mono Medium" pitchFamily="34" charset="-120"/>
              </a:rPr>
              <a:t>flag{rsa_math_works}</a:t>
            </a:r>
            <a:endParaRPr lang="en-US" sz="1865" dirty="0"/>
          </a:p>
        </p:txBody>
      </p:sp>
      <p:grpSp>
        <p:nvGrpSpPr>
          <p:cNvPr id="44" name="Group 2"/>
          <p:cNvGrpSpPr/>
          <p:nvPr/>
        </p:nvGrpSpPr>
        <p:grpSpPr>
          <a:xfrm rot="0">
            <a:off x="294640" y="194310"/>
            <a:ext cx="789305" cy="299720"/>
            <a:chOff x="0" y="0"/>
            <a:chExt cx="341337" cy="102463"/>
          </a:xfrm>
        </p:grpSpPr>
        <p:sp>
          <p:nvSpPr>
            <p:cNvPr id="45"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6"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7" name="Group 5"/>
          <p:cNvGrpSpPr/>
          <p:nvPr/>
        </p:nvGrpSpPr>
        <p:grpSpPr>
          <a:xfrm rot="0">
            <a:off x="822325" y="209550"/>
            <a:ext cx="220980" cy="246380"/>
            <a:chOff x="0" y="0"/>
            <a:chExt cx="812800" cy="812800"/>
          </a:xfrm>
        </p:grpSpPr>
        <p:sp>
          <p:nvSpPr>
            <p:cNvPr id="48"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9"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50"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86537"/>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73 | EWUCSC</a:t>
            </a:r>
            <a:endParaRPr lang="en-US" sz="1265" dirty="0"/>
          </a:p>
        </p:txBody>
      </p:sp>
      <p:sp>
        <p:nvSpPr>
          <p:cNvPr id="7" name="Text 4"/>
          <p:cNvSpPr/>
          <p:nvPr/>
        </p:nvSpPr>
        <p:spPr>
          <a:xfrm>
            <a:off x="381000" y="952500"/>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Where to practice — your roadmap</a:t>
            </a:r>
            <a:endParaRPr lang="en-US" sz="2800" dirty="0"/>
          </a:p>
        </p:txBody>
      </p:sp>
      <p:pic>
        <p:nvPicPr>
          <p:cNvPr id="8" name="Image 1" descr="preencoded.png"/>
          <p:cNvPicPr>
            <a:picLocks noChangeAspect="1"/>
          </p:cNvPicPr>
          <p:nvPr/>
        </p:nvPicPr>
        <p:blipFill>
          <a:blip r:embed="rId2"/>
          <a:stretch>
            <a:fillRect/>
          </a:stretch>
        </p:blipFill>
        <p:spPr>
          <a:xfrm>
            <a:off x="381000" y="1785937"/>
            <a:ext cx="233363" cy="171451"/>
          </a:xfrm>
          <a:prstGeom prst="rect">
            <a:avLst/>
          </a:prstGeom>
        </p:spPr>
      </p:pic>
      <p:sp>
        <p:nvSpPr>
          <p:cNvPr id="9" name="Text 5"/>
          <p:cNvSpPr/>
          <p:nvPr/>
        </p:nvSpPr>
        <p:spPr>
          <a:xfrm>
            <a:off x="709612" y="1743075"/>
            <a:ext cx="846455" cy="194310"/>
          </a:xfrm>
          <a:prstGeom prst="rect">
            <a:avLst/>
          </a:prstGeom>
          <a:noFill/>
        </p:spPr>
        <p:txBody>
          <a:bodyPr wrap="none" lIns="0" tIns="0" rIns="0" bIns="0" rtlCol="0" anchor="t">
            <a:spAutoFit/>
          </a:bodyPr>
          <a:lstStyle/>
          <a:p>
            <a:pPr marL="0" indent="0" algn="l">
              <a:buNone/>
            </a:pPr>
            <a:r>
              <a:rPr lang="en-US" sz="1265" kern="0" spc="2" dirty="0">
                <a:solidFill>
                  <a:srgbClr val="58A6FF"/>
                </a:solidFill>
                <a:latin typeface="Poppins SemiBold" pitchFamily="34" charset="0"/>
                <a:ea typeface="Poppins SemiBold" pitchFamily="34" charset="-122"/>
                <a:cs typeface="Poppins SemiBold" pitchFamily="34" charset="-120"/>
              </a:rPr>
              <a:t>PLATFORMS</a:t>
            </a:r>
            <a:endParaRPr lang="en-US" sz="1265" dirty="0"/>
          </a:p>
        </p:txBody>
      </p:sp>
      <p:sp>
        <p:nvSpPr>
          <p:cNvPr id="10" name="Shape 6"/>
          <p:cNvSpPr/>
          <p:nvPr/>
        </p:nvSpPr>
        <p:spPr>
          <a:xfrm>
            <a:off x="381000" y="2143125"/>
            <a:ext cx="3500437" cy="1087264"/>
          </a:xfrm>
          <a:prstGeom prst="rect">
            <a:avLst/>
          </a:prstGeom>
          <a:solidFill>
            <a:srgbClr val="161B22"/>
          </a:solidFill>
          <a:ln w="9144">
            <a:solidFill>
              <a:srgbClr val="30363D"/>
            </a:solidFill>
            <a:prstDash val="solid"/>
          </a:ln>
        </p:spPr>
      </p:sp>
      <p:sp>
        <p:nvSpPr>
          <p:cNvPr id="11" name="Text 7"/>
          <p:cNvSpPr/>
          <p:nvPr/>
        </p:nvSpPr>
        <p:spPr>
          <a:xfrm>
            <a:off x="495300" y="2257425"/>
            <a:ext cx="457835" cy="163830"/>
          </a:xfrm>
          <a:prstGeom prst="rect">
            <a:avLst/>
          </a:prstGeom>
          <a:noFill/>
        </p:spPr>
        <p:txBody>
          <a:bodyPr wrap="none" lIns="0" tIns="0" rIns="0" bIns="0" rtlCol="0" anchor="t">
            <a:spAutoFit/>
          </a:bodyPr>
          <a:lstStyle/>
          <a:p>
            <a:pPr marL="0" indent="0" algn="l">
              <a:buNone/>
            </a:pPr>
            <a:r>
              <a:rPr lang="en-US" sz="1065" dirty="0">
                <a:solidFill>
                  <a:srgbClr val="E6EDF3"/>
                </a:solidFill>
                <a:latin typeface="Poppins SemiBold" pitchFamily="34" charset="0"/>
                <a:ea typeface="Poppins SemiBold" pitchFamily="34" charset="-122"/>
                <a:cs typeface="Poppins SemiBold" pitchFamily="34" charset="-120"/>
              </a:rPr>
              <a:t>PicoCTF</a:t>
            </a:r>
            <a:endParaRPr lang="en-US" sz="1065" dirty="0"/>
          </a:p>
        </p:txBody>
      </p:sp>
      <p:pic>
        <p:nvPicPr>
          <p:cNvPr id="12" name="Image 2" descr="preencoded.png"/>
          <p:cNvPicPr>
            <a:picLocks noChangeAspect="1"/>
          </p:cNvPicPr>
          <p:nvPr/>
        </p:nvPicPr>
        <p:blipFill>
          <a:blip r:embed="rId3"/>
          <a:stretch>
            <a:fillRect/>
          </a:stretch>
        </p:blipFill>
        <p:spPr>
          <a:xfrm>
            <a:off x="3567112" y="2257425"/>
            <a:ext cx="200025" cy="228600"/>
          </a:xfrm>
          <a:prstGeom prst="rect">
            <a:avLst/>
          </a:prstGeom>
        </p:spPr>
      </p:pic>
      <p:sp>
        <p:nvSpPr>
          <p:cNvPr id="13" name="Text 8"/>
          <p:cNvSpPr/>
          <p:nvPr/>
        </p:nvSpPr>
        <p:spPr>
          <a:xfrm>
            <a:off x="495300" y="2543175"/>
            <a:ext cx="3271837" cy="122555"/>
          </a:xfrm>
          <a:prstGeom prst="rect">
            <a:avLst/>
          </a:prstGeom>
          <a:noFill/>
        </p:spPr>
        <p:txBody>
          <a:bodyPr wrap="square" lIns="0" tIns="0" rIns="0" bIns="0" rtlCol="0" anchor="t">
            <a:spAutoFit/>
          </a:bodyPr>
          <a:lstStyle/>
          <a:p>
            <a:pPr marL="0" indent="0" algn="l">
              <a:buNone/>
            </a:pPr>
            <a:r>
              <a:rPr lang="en-US" sz="800" dirty="0">
                <a:solidFill>
                  <a:srgbClr val="00FF9C"/>
                </a:solidFill>
                <a:latin typeface="JetBrains Mono Medium" pitchFamily="34" charset="0"/>
                <a:ea typeface="JetBrains Mono Medium" pitchFamily="34" charset="-122"/>
                <a:cs typeface="JetBrains Mono Medium" pitchFamily="34" charset="-120"/>
              </a:rPr>
              <a:t>picoctf.org</a:t>
            </a:r>
            <a:endParaRPr lang="en-US" sz="800" dirty="0"/>
          </a:p>
        </p:txBody>
      </p:sp>
      <p:sp>
        <p:nvSpPr>
          <p:cNvPr id="14" name="Text 9"/>
          <p:cNvSpPr/>
          <p:nvPr/>
        </p:nvSpPr>
        <p:spPr>
          <a:xfrm>
            <a:off x="495300" y="2750344"/>
            <a:ext cx="3271837" cy="298450"/>
          </a:xfrm>
          <a:prstGeom prst="rect">
            <a:avLst/>
          </a:prstGeom>
          <a:noFill/>
        </p:spPr>
        <p:txBody>
          <a:bodyPr wrap="square" lIns="0" tIns="0" rIns="0" bIns="0" rtlCol="0" anchor="t">
            <a:spAutoFit/>
          </a:bodyPr>
          <a:lstStyle/>
          <a:p>
            <a:pPr marL="0" indent="0" algn="l">
              <a:lnSpc>
                <a:spcPct val="112000"/>
              </a:lnSpc>
              <a:buNone/>
            </a:pPr>
            <a:r>
              <a:rPr lang="en-US" sz="865" dirty="0">
                <a:solidFill>
                  <a:srgbClr val="8B949E"/>
                </a:solidFill>
                <a:latin typeface="Inter" pitchFamily="34" charset="0"/>
                <a:ea typeface="Inter" pitchFamily="34" charset="-122"/>
                <a:cs typeface="Inter" pitchFamily="34" charset="-120"/>
              </a:rPr>
              <a:t>The gold standard for beginners. Start with the "Cryptography" category.</a:t>
            </a:r>
            <a:endParaRPr lang="en-US" sz="865" dirty="0"/>
          </a:p>
        </p:txBody>
      </p:sp>
      <p:sp>
        <p:nvSpPr>
          <p:cNvPr id="15" name="Shape 10"/>
          <p:cNvSpPr/>
          <p:nvPr/>
        </p:nvSpPr>
        <p:spPr>
          <a:xfrm>
            <a:off x="381000" y="3306589"/>
            <a:ext cx="3500437" cy="1087264"/>
          </a:xfrm>
          <a:prstGeom prst="rect">
            <a:avLst/>
          </a:prstGeom>
          <a:solidFill>
            <a:srgbClr val="161B22"/>
          </a:solidFill>
          <a:ln w="9144">
            <a:solidFill>
              <a:srgbClr val="30363D"/>
            </a:solidFill>
            <a:prstDash val="solid"/>
          </a:ln>
        </p:spPr>
      </p:sp>
      <p:sp>
        <p:nvSpPr>
          <p:cNvPr id="16" name="Text 11"/>
          <p:cNvSpPr/>
          <p:nvPr/>
        </p:nvSpPr>
        <p:spPr>
          <a:xfrm>
            <a:off x="495300" y="3420889"/>
            <a:ext cx="690245" cy="163830"/>
          </a:xfrm>
          <a:prstGeom prst="rect">
            <a:avLst/>
          </a:prstGeom>
          <a:noFill/>
        </p:spPr>
        <p:txBody>
          <a:bodyPr wrap="none" lIns="0" tIns="0" rIns="0" bIns="0" rtlCol="0" anchor="t">
            <a:spAutoFit/>
          </a:bodyPr>
          <a:lstStyle/>
          <a:p>
            <a:pPr marL="0" indent="0" algn="l">
              <a:buNone/>
            </a:pPr>
            <a:r>
              <a:rPr lang="en-US" sz="1065" dirty="0">
                <a:solidFill>
                  <a:srgbClr val="E6EDF3"/>
                </a:solidFill>
                <a:latin typeface="Poppins SemiBold" pitchFamily="34" charset="0"/>
                <a:ea typeface="Poppins SemiBold" pitchFamily="34" charset="-122"/>
                <a:cs typeface="Poppins SemiBold" pitchFamily="34" charset="-120"/>
              </a:rPr>
              <a:t>CryptoHack</a:t>
            </a:r>
            <a:endParaRPr lang="en-US" sz="1065" dirty="0"/>
          </a:p>
        </p:txBody>
      </p:sp>
      <p:pic>
        <p:nvPicPr>
          <p:cNvPr id="17" name="Image 3" descr="preencoded.png"/>
          <p:cNvPicPr>
            <a:picLocks noChangeAspect="1"/>
          </p:cNvPicPr>
          <p:nvPr/>
        </p:nvPicPr>
        <p:blipFill>
          <a:blip r:embed="rId4"/>
          <a:stretch>
            <a:fillRect/>
          </a:stretch>
        </p:blipFill>
        <p:spPr>
          <a:xfrm>
            <a:off x="3567112" y="3420889"/>
            <a:ext cx="200025" cy="228600"/>
          </a:xfrm>
          <a:prstGeom prst="rect">
            <a:avLst/>
          </a:prstGeom>
        </p:spPr>
      </p:pic>
      <p:sp>
        <p:nvSpPr>
          <p:cNvPr id="18" name="Text 12"/>
          <p:cNvSpPr/>
          <p:nvPr/>
        </p:nvSpPr>
        <p:spPr>
          <a:xfrm>
            <a:off x="495300" y="3706639"/>
            <a:ext cx="3271837" cy="122555"/>
          </a:xfrm>
          <a:prstGeom prst="rect">
            <a:avLst/>
          </a:prstGeom>
          <a:noFill/>
        </p:spPr>
        <p:txBody>
          <a:bodyPr wrap="square" lIns="0" tIns="0" rIns="0" bIns="0" rtlCol="0" anchor="t">
            <a:spAutoFit/>
          </a:bodyPr>
          <a:lstStyle/>
          <a:p>
            <a:pPr marL="0" indent="0" algn="l">
              <a:buNone/>
            </a:pPr>
            <a:r>
              <a:rPr lang="en-US" sz="800" dirty="0">
                <a:solidFill>
                  <a:srgbClr val="00FF9C"/>
                </a:solidFill>
                <a:latin typeface="JetBrains Mono Medium" pitchFamily="34" charset="0"/>
                <a:ea typeface="JetBrains Mono Medium" pitchFamily="34" charset="-122"/>
                <a:cs typeface="JetBrains Mono Medium" pitchFamily="34" charset="-120"/>
              </a:rPr>
              <a:t>cryptohack.org</a:t>
            </a:r>
            <a:endParaRPr lang="en-US" sz="800" dirty="0"/>
          </a:p>
        </p:txBody>
      </p:sp>
      <p:sp>
        <p:nvSpPr>
          <p:cNvPr id="19" name="Text 13"/>
          <p:cNvSpPr/>
          <p:nvPr/>
        </p:nvSpPr>
        <p:spPr>
          <a:xfrm>
            <a:off x="495300" y="3913808"/>
            <a:ext cx="3271837" cy="149225"/>
          </a:xfrm>
          <a:prstGeom prst="rect">
            <a:avLst/>
          </a:prstGeom>
          <a:noFill/>
        </p:spPr>
        <p:txBody>
          <a:bodyPr wrap="square" lIns="0" tIns="0" rIns="0" bIns="0" rtlCol="0" anchor="t">
            <a:spAutoFit/>
          </a:bodyPr>
          <a:lstStyle/>
          <a:p>
            <a:pPr marL="0" indent="0" algn="l">
              <a:lnSpc>
                <a:spcPct val="112000"/>
              </a:lnSpc>
              <a:buNone/>
            </a:pPr>
            <a:r>
              <a:rPr lang="en-US" sz="865" dirty="0">
                <a:solidFill>
                  <a:srgbClr val="8B949E"/>
                </a:solidFill>
                <a:latin typeface="Inter" pitchFamily="34" charset="0"/>
                <a:ea typeface="Inter" pitchFamily="34" charset="-122"/>
                <a:cs typeface="Inter" pitchFamily="34" charset="-120"/>
              </a:rPr>
              <a:t>Interactive challenges focusing purely on modern cryptography.</a:t>
            </a:r>
            <a:endParaRPr lang="en-US" sz="865" dirty="0"/>
          </a:p>
        </p:txBody>
      </p:sp>
      <p:sp>
        <p:nvSpPr>
          <p:cNvPr id="20" name="Shape 14"/>
          <p:cNvSpPr/>
          <p:nvPr/>
        </p:nvSpPr>
        <p:spPr>
          <a:xfrm>
            <a:off x="381000" y="4470053"/>
            <a:ext cx="3500437" cy="1087264"/>
          </a:xfrm>
          <a:prstGeom prst="rect">
            <a:avLst/>
          </a:prstGeom>
          <a:solidFill>
            <a:srgbClr val="161B22"/>
          </a:solidFill>
          <a:ln w="9144">
            <a:solidFill>
              <a:srgbClr val="30363D"/>
            </a:solidFill>
            <a:prstDash val="solid"/>
          </a:ln>
        </p:spPr>
      </p:sp>
      <p:sp>
        <p:nvSpPr>
          <p:cNvPr id="21" name="Text 15"/>
          <p:cNvSpPr/>
          <p:nvPr/>
        </p:nvSpPr>
        <p:spPr>
          <a:xfrm>
            <a:off x="495300" y="4584353"/>
            <a:ext cx="776605" cy="163830"/>
          </a:xfrm>
          <a:prstGeom prst="rect">
            <a:avLst/>
          </a:prstGeom>
          <a:noFill/>
        </p:spPr>
        <p:txBody>
          <a:bodyPr wrap="none" lIns="0" tIns="0" rIns="0" bIns="0" rtlCol="0" anchor="t">
            <a:spAutoFit/>
          </a:bodyPr>
          <a:lstStyle/>
          <a:p>
            <a:pPr marL="0" indent="0" algn="l">
              <a:buNone/>
            </a:pPr>
            <a:r>
              <a:rPr lang="en-US" sz="1065" dirty="0">
                <a:solidFill>
                  <a:srgbClr val="E6EDF3"/>
                </a:solidFill>
                <a:latin typeface="Poppins SemiBold" pitchFamily="34" charset="0"/>
                <a:ea typeface="Poppins SemiBold" pitchFamily="34" charset="-122"/>
                <a:cs typeface="Poppins SemiBold" pitchFamily="34" charset="-120"/>
              </a:rPr>
              <a:t>OverTheWire</a:t>
            </a:r>
            <a:endParaRPr lang="en-US" sz="1065" dirty="0"/>
          </a:p>
        </p:txBody>
      </p:sp>
      <p:pic>
        <p:nvPicPr>
          <p:cNvPr id="22" name="Image 4" descr="preencoded.png"/>
          <p:cNvPicPr>
            <a:picLocks noChangeAspect="1"/>
          </p:cNvPicPr>
          <p:nvPr/>
        </p:nvPicPr>
        <p:blipFill>
          <a:blip r:embed="rId4"/>
          <a:stretch>
            <a:fillRect/>
          </a:stretch>
        </p:blipFill>
        <p:spPr>
          <a:xfrm>
            <a:off x="3567112" y="4584353"/>
            <a:ext cx="200025" cy="228600"/>
          </a:xfrm>
          <a:prstGeom prst="rect">
            <a:avLst/>
          </a:prstGeom>
        </p:spPr>
      </p:pic>
      <p:sp>
        <p:nvSpPr>
          <p:cNvPr id="23" name="Text 16"/>
          <p:cNvSpPr/>
          <p:nvPr/>
        </p:nvSpPr>
        <p:spPr>
          <a:xfrm>
            <a:off x="495300" y="4870103"/>
            <a:ext cx="3271837" cy="122555"/>
          </a:xfrm>
          <a:prstGeom prst="rect">
            <a:avLst/>
          </a:prstGeom>
          <a:noFill/>
        </p:spPr>
        <p:txBody>
          <a:bodyPr wrap="square" lIns="0" tIns="0" rIns="0" bIns="0" rtlCol="0" anchor="t">
            <a:spAutoFit/>
          </a:bodyPr>
          <a:lstStyle/>
          <a:p>
            <a:pPr marL="0" indent="0" algn="l">
              <a:buNone/>
            </a:pPr>
            <a:r>
              <a:rPr lang="en-US" sz="800" dirty="0">
                <a:solidFill>
                  <a:srgbClr val="00FF9C"/>
                </a:solidFill>
                <a:latin typeface="JetBrains Mono Medium" pitchFamily="34" charset="0"/>
                <a:ea typeface="JetBrains Mono Medium" pitchFamily="34" charset="-122"/>
                <a:cs typeface="JetBrains Mono Medium" pitchFamily="34" charset="-120"/>
              </a:rPr>
              <a:t>overthewire.org</a:t>
            </a:r>
            <a:endParaRPr lang="en-US" sz="800" dirty="0"/>
          </a:p>
        </p:txBody>
      </p:sp>
      <p:sp>
        <p:nvSpPr>
          <p:cNvPr id="24" name="Text 17"/>
          <p:cNvSpPr/>
          <p:nvPr/>
        </p:nvSpPr>
        <p:spPr>
          <a:xfrm>
            <a:off x="495300" y="5077272"/>
            <a:ext cx="3271837" cy="149225"/>
          </a:xfrm>
          <a:prstGeom prst="rect">
            <a:avLst/>
          </a:prstGeom>
          <a:noFill/>
        </p:spPr>
        <p:txBody>
          <a:bodyPr wrap="square" lIns="0" tIns="0" rIns="0" bIns="0" rtlCol="0" anchor="t">
            <a:spAutoFit/>
          </a:bodyPr>
          <a:lstStyle/>
          <a:p>
            <a:pPr marL="0" indent="0" algn="l">
              <a:lnSpc>
                <a:spcPct val="112000"/>
              </a:lnSpc>
              <a:buNone/>
            </a:pPr>
            <a:r>
              <a:rPr lang="en-US" sz="865" dirty="0">
                <a:solidFill>
                  <a:srgbClr val="8B949E"/>
                </a:solidFill>
                <a:latin typeface="Inter" pitchFamily="34" charset="0"/>
                <a:ea typeface="Inter" pitchFamily="34" charset="-122"/>
                <a:cs typeface="Inter" pitchFamily="34" charset="-120"/>
              </a:rPr>
              <a:t>Check out the "Krypton" wargame for classical cipher practice.</a:t>
            </a:r>
            <a:endParaRPr lang="en-US" sz="865" dirty="0"/>
          </a:p>
        </p:txBody>
      </p:sp>
      <p:pic>
        <p:nvPicPr>
          <p:cNvPr id="25" name="Image 5" descr="preencoded.png"/>
          <p:cNvPicPr>
            <a:picLocks noChangeAspect="1"/>
          </p:cNvPicPr>
          <p:nvPr/>
        </p:nvPicPr>
        <p:blipFill>
          <a:blip r:embed="rId5"/>
          <a:stretch>
            <a:fillRect/>
          </a:stretch>
        </p:blipFill>
        <p:spPr>
          <a:xfrm>
            <a:off x="3995737" y="1785937"/>
            <a:ext cx="190500" cy="171451"/>
          </a:xfrm>
          <a:prstGeom prst="rect">
            <a:avLst/>
          </a:prstGeom>
        </p:spPr>
      </p:pic>
      <p:sp>
        <p:nvSpPr>
          <p:cNvPr id="26" name="Text 18"/>
          <p:cNvSpPr/>
          <p:nvPr/>
        </p:nvSpPr>
        <p:spPr>
          <a:xfrm>
            <a:off x="4281488" y="1743075"/>
            <a:ext cx="1743075" cy="194310"/>
          </a:xfrm>
          <a:prstGeom prst="rect">
            <a:avLst/>
          </a:prstGeom>
          <a:noFill/>
        </p:spPr>
        <p:txBody>
          <a:bodyPr wrap="square" lIns="0" tIns="0" rIns="0" bIns="0" rtlCol="0" anchor="t">
            <a:spAutoFit/>
          </a:bodyPr>
          <a:lstStyle/>
          <a:p>
            <a:pPr marL="0" indent="0" algn="l">
              <a:buNone/>
            </a:pPr>
            <a:r>
              <a:rPr lang="en-US" sz="1265" kern="0" spc="2" dirty="0">
                <a:solidFill>
                  <a:srgbClr val="58A6FF"/>
                </a:solidFill>
                <a:latin typeface="Poppins SemiBold" pitchFamily="34" charset="0"/>
                <a:ea typeface="Poppins SemiBold" pitchFamily="34" charset="-122"/>
                <a:cs typeface="Poppins SemiBold" pitchFamily="34" charset="-120"/>
              </a:rPr>
              <a:t>ESSENTIAL TOOLS</a:t>
            </a:r>
            <a:endParaRPr lang="en-US" sz="1265" dirty="0"/>
          </a:p>
        </p:txBody>
      </p:sp>
      <p:sp>
        <p:nvSpPr>
          <p:cNvPr id="27" name="Shape 19"/>
          <p:cNvSpPr/>
          <p:nvPr/>
        </p:nvSpPr>
        <p:spPr>
          <a:xfrm>
            <a:off x="3995737" y="2143125"/>
            <a:ext cx="4200525" cy="1084883"/>
          </a:xfrm>
          <a:prstGeom prst="rect">
            <a:avLst/>
          </a:prstGeom>
          <a:solidFill>
            <a:srgbClr val="161B22"/>
          </a:solidFill>
          <a:ln w="9144">
            <a:solidFill>
              <a:srgbClr val="30363D"/>
            </a:solidFill>
            <a:prstDash val="solid"/>
          </a:ln>
        </p:spPr>
      </p:sp>
      <p:sp>
        <p:nvSpPr>
          <p:cNvPr id="28" name="Text 20"/>
          <p:cNvSpPr/>
          <p:nvPr/>
        </p:nvSpPr>
        <p:spPr>
          <a:xfrm>
            <a:off x="4110037" y="2257425"/>
            <a:ext cx="3971925" cy="163830"/>
          </a:xfrm>
          <a:prstGeom prst="rect">
            <a:avLst/>
          </a:prstGeom>
          <a:noFill/>
        </p:spPr>
        <p:txBody>
          <a:bodyPr wrap="square" lIns="0" tIns="0" rIns="0" bIns="0" rtlCol="0" anchor="t">
            <a:spAutoFit/>
          </a:bodyPr>
          <a:lstStyle/>
          <a:p>
            <a:pPr marL="0" indent="0" algn="l">
              <a:buNone/>
            </a:pPr>
            <a:r>
              <a:rPr lang="en-US" sz="1065" dirty="0">
                <a:solidFill>
                  <a:srgbClr val="E6EDF3"/>
                </a:solidFill>
                <a:latin typeface="Poppins SemiBold" pitchFamily="34" charset="0"/>
                <a:ea typeface="Poppins SemiBold" pitchFamily="34" charset="-122"/>
                <a:cs typeface="Poppins SemiBold" pitchFamily="34" charset="-120"/>
              </a:rPr>
              <a:t>CyberChef</a:t>
            </a:r>
            <a:endParaRPr lang="en-US" sz="1065" dirty="0"/>
          </a:p>
        </p:txBody>
      </p:sp>
      <p:sp>
        <p:nvSpPr>
          <p:cNvPr id="29" name="Text 21"/>
          <p:cNvSpPr/>
          <p:nvPr/>
        </p:nvSpPr>
        <p:spPr>
          <a:xfrm>
            <a:off x="4110037" y="2540793"/>
            <a:ext cx="3971925" cy="122555"/>
          </a:xfrm>
          <a:prstGeom prst="rect">
            <a:avLst/>
          </a:prstGeom>
          <a:noFill/>
        </p:spPr>
        <p:txBody>
          <a:bodyPr wrap="square" lIns="0" tIns="0" rIns="0" bIns="0" rtlCol="0" anchor="t">
            <a:spAutoFit/>
          </a:bodyPr>
          <a:lstStyle/>
          <a:p>
            <a:pPr marL="0" indent="0" algn="l">
              <a:buNone/>
            </a:pPr>
            <a:r>
              <a:rPr lang="en-US" sz="800" dirty="0">
                <a:solidFill>
                  <a:srgbClr val="00FF9C"/>
                </a:solidFill>
                <a:latin typeface="JetBrains Mono Medium" pitchFamily="34" charset="0"/>
                <a:ea typeface="JetBrains Mono Medium" pitchFamily="34" charset="-122"/>
                <a:cs typeface="JetBrains Mono Medium" pitchFamily="34" charset="-120"/>
              </a:rPr>
              <a:t>gchq.github.io/CyberChef</a:t>
            </a:r>
            <a:endParaRPr lang="en-US" sz="800" dirty="0"/>
          </a:p>
        </p:txBody>
      </p:sp>
      <p:sp>
        <p:nvSpPr>
          <p:cNvPr id="30" name="Text 22"/>
          <p:cNvSpPr/>
          <p:nvPr/>
        </p:nvSpPr>
        <p:spPr>
          <a:xfrm>
            <a:off x="4110037" y="2747963"/>
            <a:ext cx="3971925" cy="149225"/>
          </a:xfrm>
          <a:prstGeom prst="rect">
            <a:avLst/>
          </a:prstGeom>
          <a:noFill/>
        </p:spPr>
        <p:txBody>
          <a:bodyPr wrap="square" lIns="0" tIns="0" rIns="0" bIns="0" rtlCol="0" anchor="t">
            <a:spAutoFit/>
          </a:bodyPr>
          <a:lstStyle/>
          <a:p>
            <a:pPr marL="0" indent="0" algn="l">
              <a:lnSpc>
                <a:spcPct val="112000"/>
              </a:lnSpc>
              <a:buNone/>
            </a:pPr>
            <a:r>
              <a:rPr lang="en-US" sz="865" dirty="0">
                <a:solidFill>
                  <a:srgbClr val="8B949E"/>
                </a:solidFill>
                <a:latin typeface="Inter" pitchFamily="34" charset="0"/>
                <a:ea typeface="Inter" pitchFamily="34" charset="-122"/>
                <a:cs typeface="Inter" pitchFamily="34" charset="-120"/>
              </a:rPr>
              <a:t>The "Cyber Swiss Army Knife". Essential for encoding and decoding.</a:t>
            </a:r>
            <a:endParaRPr lang="en-US" sz="865" dirty="0"/>
          </a:p>
        </p:txBody>
      </p:sp>
      <p:sp>
        <p:nvSpPr>
          <p:cNvPr id="31" name="Shape 23"/>
          <p:cNvSpPr/>
          <p:nvPr/>
        </p:nvSpPr>
        <p:spPr>
          <a:xfrm>
            <a:off x="3995737" y="3304208"/>
            <a:ext cx="4200525" cy="911535"/>
          </a:xfrm>
          <a:prstGeom prst="rect">
            <a:avLst/>
          </a:prstGeom>
          <a:solidFill>
            <a:srgbClr val="161B22"/>
          </a:solidFill>
          <a:ln w="9144">
            <a:solidFill>
              <a:srgbClr val="30363D"/>
            </a:solidFill>
            <a:prstDash val="solid"/>
          </a:ln>
        </p:spPr>
      </p:sp>
      <p:sp>
        <p:nvSpPr>
          <p:cNvPr id="32" name="Text 24"/>
          <p:cNvSpPr/>
          <p:nvPr/>
        </p:nvSpPr>
        <p:spPr>
          <a:xfrm>
            <a:off x="4110037" y="3418508"/>
            <a:ext cx="3971925" cy="163830"/>
          </a:xfrm>
          <a:prstGeom prst="rect">
            <a:avLst/>
          </a:prstGeom>
          <a:noFill/>
        </p:spPr>
        <p:txBody>
          <a:bodyPr wrap="square" lIns="0" tIns="0" rIns="0" bIns="0" rtlCol="0" anchor="t">
            <a:spAutoFit/>
          </a:bodyPr>
          <a:lstStyle/>
          <a:p>
            <a:pPr marL="0" indent="0" algn="l">
              <a:buNone/>
            </a:pPr>
            <a:r>
              <a:rPr lang="en-US" sz="1065" dirty="0">
                <a:solidFill>
                  <a:srgbClr val="E6EDF3"/>
                </a:solidFill>
                <a:latin typeface="Poppins SemiBold" pitchFamily="34" charset="0"/>
                <a:ea typeface="Poppins SemiBold" pitchFamily="34" charset="-122"/>
                <a:cs typeface="Poppins SemiBold" pitchFamily="34" charset="-120"/>
              </a:rPr>
              <a:t>hashcat</a:t>
            </a:r>
            <a:endParaRPr lang="en-US" sz="1065" dirty="0"/>
          </a:p>
        </p:txBody>
      </p:sp>
      <p:sp>
        <p:nvSpPr>
          <p:cNvPr id="33" name="Text 25"/>
          <p:cNvSpPr/>
          <p:nvPr/>
        </p:nvSpPr>
        <p:spPr>
          <a:xfrm>
            <a:off x="4110037" y="3701876"/>
            <a:ext cx="3971925" cy="122555"/>
          </a:xfrm>
          <a:prstGeom prst="rect">
            <a:avLst/>
          </a:prstGeom>
          <a:noFill/>
        </p:spPr>
        <p:txBody>
          <a:bodyPr wrap="square" lIns="0" tIns="0" rIns="0" bIns="0" rtlCol="0" anchor="t">
            <a:spAutoFit/>
          </a:bodyPr>
          <a:lstStyle/>
          <a:p>
            <a:pPr marL="0" indent="0" algn="l">
              <a:buNone/>
            </a:pPr>
            <a:r>
              <a:rPr lang="en-US" sz="800" dirty="0">
                <a:solidFill>
                  <a:srgbClr val="00FF9C"/>
                </a:solidFill>
                <a:latin typeface="JetBrains Mono Medium" pitchFamily="34" charset="0"/>
                <a:ea typeface="JetBrains Mono Medium" pitchFamily="34" charset="-122"/>
                <a:cs typeface="JetBrains Mono Medium" pitchFamily="34" charset="-120"/>
              </a:rPr>
              <a:t>hashcat.net</a:t>
            </a:r>
            <a:endParaRPr lang="en-US" sz="800" dirty="0"/>
          </a:p>
        </p:txBody>
      </p:sp>
      <p:sp>
        <p:nvSpPr>
          <p:cNvPr id="34" name="Text 26"/>
          <p:cNvSpPr/>
          <p:nvPr/>
        </p:nvSpPr>
        <p:spPr>
          <a:xfrm>
            <a:off x="4110037" y="3909045"/>
            <a:ext cx="2736850" cy="149225"/>
          </a:xfrm>
          <a:prstGeom prst="rect">
            <a:avLst/>
          </a:prstGeom>
          <a:noFill/>
        </p:spPr>
        <p:txBody>
          <a:bodyPr wrap="none" lIns="0" tIns="0" rIns="0" bIns="0" rtlCol="0" anchor="t">
            <a:spAutoFit/>
          </a:bodyPr>
          <a:lstStyle/>
          <a:p>
            <a:pPr marL="0" indent="0" algn="l">
              <a:lnSpc>
                <a:spcPct val="112000"/>
              </a:lnSpc>
              <a:buNone/>
            </a:pPr>
            <a:r>
              <a:rPr lang="en-US" sz="865" dirty="0">
                <a:solidFill>
                  <a:srgbClr val="8B949E"/>
                </a:solidFill>
                <a:latin typeface="Inter" pitchFamily="34" charset="0"/>
                <a:ea typeface="Inter" pitchFamily="34" charset="-122"/>
                <a:cs typeface="Inter" pitchFamily="34" charset="-120"/>
              </a:rPr>
              <a:t>The world's fastest password cracker. Industry standard.</a:t>
            </a:r>
            <a:endParaRPr lang="en-US" sz="865" dirty="0"/>
          </a:p>
        </p:txBody>
      </p:sp>
      <p:sp>
        <p:nvSpPr>
          <p:cNvPr id="35" name="Shape 27"/>
          <p:cNvSpPr/>
          <p:nvPr/>
        </p:nvSpPr>
        <p:spPr>
          <a:xfrm>
            <a:off x="3995737" y="4291943"/>
            <a:ext cx="4200525" cy="911535"/>
          </a:xfrm>
          <a:prstGeom prst="rect">
            <a:avLst/>
          </a:prstGeom>
          <a:solidFill>
            <a:srgbClr val="161B22"/>
          </a:solidFill>
          <a:ln w="9144">
            <a:solidFill>
              <a:srgbClr val="30363D"/>
            </a:solidFill>
            <a:prstDash val="solid"/>
          </a:ln>
        </p:spPr>
      </p:sp>
      <p:sp>
        <p:nvSpPr>
          <p:cNvPr id="36" name="Text 28"/>
          <p:cNvSpPr/>
          <p:nvPr/>
        </p:nvSpPr>
        <p:spPr>
          <a:xfrm>
            <a:off x="4110037" y="4406243"/>
            <a:ext cx="3971925" cy="163830"/>
          </a:xfrm>
          <a:prstGeom prst="rect">
            <a:avLst/>
          </a:prstGeom>
          <a:noFill/>
        </p:spPr>
        <p:txBody>
          <a:bodyPr wrap="square" lIns="0" tIns="0" rIns="0" bIns="0" rtlCol="0" anchor="t">
            <a:spAutoFit/>
          </a:bodyPr>
          <a:lstStyle/>
          <a:p>
            <a:pPr marL="0" indent="0" algn="l">
              <a:buNone/>
            </a:pPr>
            <a:r>
              <a:rPr lang="en-US" sz="1065" dirty="0">
                <a:solidFill>
                  <a:srgbClr val="E6EDF3"/>
                </a:solidFill>
                <a:latin typeface="Poppins SemiBold" pitchFamily="34" charset="0"/>
                <a:ea typeface="Poppins SemiBold" pitchFamily="34" charset="-122"/>
                <a:cs typeface="Poppins SemiBold" pitchFamily="34" charset="-120"/>
              </a:rPr>
              <a:t>RsaCtfTool</a:t>
            </a:r>
            <a:endParaRPr lang="en-US" sz="1065" dirty="0"/>
          </a:p>
        </p:txBody>
      </p:sp>
      <p:sp>
        <p:nvSpPr>
          <p:cNvPr id="37" name="Text 29"/>
          <p:cNvSpPr/>
          <p:nvPr/>
        </p:nvSpPr>
        <p:spPr>
          <a:xfrm>
            <a:off x="4110037" y="4689612"/>
            <a:ext cx="3971925" cy="122555"/>
          </a:xfrm>
          <a:prstGeom prst="rect">
            <a:avLst/>
          </a:prstGeom>
          <a:noFill/>
        </p:spPr>
        <p:txBody>
          <a:bodyPr wrap="square" lIns="0" tIns="0" rIns="0" bIns="0" rtlCol="0" anchor="t">
            <a:spAutoFit/>
          </a:bodyPr>
          <a:lstStyle/>
          <a:p>
            <a:pPr marL="0" indent="0" algn="l">
              <a:buNone/>
            </a:pPr>
            <a:r>
              <a:rPr lang="en-US" sz="800" dirty="0">
                <a:solidFill>
                  <a:srgbClr val="00FF9C"/>
                </a:solidFill>
                <a:latin typeface="JetBrains Mono Medium" pitchFamily="34" charset="0"/>
                <a:ea typeface="JetBrains Mono Medium" pitchFamily="34" charset="-122"/>
                <a:cs typeface="JetBrains Mono Medium" pitchFamily="34" charset="-120"/>
              </a:rPr>
              <a:t>github.com/RsaCtfTool</a:t>
            </a:r>
            <a:endParaRPr lang="en-US" sz="800" dirty="0"/>
          </a:p>
        </p:txBody>
      </p:sp>
      <p:sp>
        <p:nvSpPr>
          <p:cNvPr id="38" name="Text 30"/>
          <p:cNvSpPr/>
          <p:nvPr/>
        </p:nvSpPr>
        <p:spPr>
          <a:xfrm>
            <a:off x="4110037" y="4896780"/>
            <a:ext cx="2444115" cy="149225"/>
          </a:xfrm>
          <a:prstGeom prst="rect">
            <a:avLst/>
          </a:prstGeom>
          <a:noFill/>
        </p:spPr>
        <p:txBody>
          <a:bodyPr wrap="none" lIns="0" tIns="0" rIns="0" bIns="0" rtlCol="0" anchor="t">
            <a:spAutoFit/>
          </a:bodyPr>
          <a:lstStyle/>
          <a:p>
            <a:pPr marL="0" indent="0" algn="l">
              <a:lnSpc>
                <a:spcPct val="112000"/>
              </a:lnSpc>
              <a:buNone/>
            </a:pPr>
            <a:r>
              <a:rPr lang="en-US" sz="865" dirty="0">
                <a:solidFill>
                  <a:srgbClr val="8B949E"/>
                </a:solidFill>
                <a:latin typeface="Inter" pitchFamily="34" charset="0"/>
                <a:ea typeface="Inter" pitchFamily="34" charset="-122"/>
                <a:cs typeface="Inter" pitchFamily="34" charset="-120"/>
              </a:rPr>
              <a:t>Automated tool for breaking weak RSA challenges.</a:t>
            </a:r>
            <a:endParaRPr lang="en-US" sz="865" dirty="0"/>
          </a:p>
        </p:txBody>
      </p:sp>
      <p:sp>
        <p:nvSpPr>
          <p:cNvPr id="39" name="Shape 31"/>
          <p:cNvSpPr/>
          <p:nvPr/>
        </p:nvSpPr>
        <p:spPr>
          <a:xfrm>
            <a:off x="3995737" y="5279677"/>
            <a:ext cx="4200525" cy="911535"/>
          </a:xfrm>
          <a:prstGeom prst="rect">
            <a:avLst/>
          </a:prstGeom>
          <a:solidFill>
            <a:srgbClr val="161B22"/>
          </a:solidFill>
          <a:ln w="9144">
            <a:solidFill>
              <a:srgbClr val="30363D"/>
            </a:solidFill>
            <a:prstDash val="solid"/>
          </a:ln>
        </p:spPr>
      </p:sp>
      <p:sp>
        <p:nvSpPr>
          <p:cNvPr id="40" name="Text 32"/>
          <p:cNvSpPr/>
          <p:nvPr/>
        </p:nvSpPr>
        <p:spPr>
          <a:xfrm>
            <a:off x="4110037" y="5393977"/>
            <a:ext cx="3971925" cy="163830"/>
          </a:xfrm>
          <a:prstGeom prst="rect">
            <a:avLst/>
          </a:prstGeom>
          <a:noFill/>
        </p:spPr>
        <p:txBody>
          <a:bodyPr wrap="square" lIns="0" tIns="0" rIns="0" bIns="0" rtlCol="0" anchor="t">
            <a:spAutoFit/>
          </a:bodyPr>
          <a:lstStyle/>
          <a:p>
            <a:pPr marL="0" indent="0" algn="l">
              <a:buNone/>
            </a:pPr>
            <a:r>
              <a:rPr lang="en-US" sz="1065" dirty="0">
                <a:solidFill>
                  <a:srgbClr val="E6EDF3"/>
                </a:solidFill>
                <a:latin typeface="Poppins SemiBold" pitchFamily="34" charset="0"/>
                <a:ea typeface="Poppins SemiBold" pitchFamily="34" charset="-122"/>
                <a:cs typeface="Poppins SemiBold" pitchFamily="34" charset="-120"/>
              </a:rPr>
              <a:t>dcode.fr</a:t>
            </a:r>
            <a:endParaRPr lang="en-US" sz="1065" dirty="0"/>
          </a:p>
        </p:txBody>
      </p:sp>
      <p:sp>
        <p:nvSpPr>
          <p:cNvPr id="41" name="Text 33"/>
          <p:cNvSpPr/>
          <p:nvPr/>
        </p:nvSpPr>
        <p:spPr>
          <a:xfrm>
            <a:off x="4110037" y="5677347"/>
            <a:ext cx="3971925" cy="122555"/>
          </a:xfrm>
          <a:prstGeom prst="rect">
            <a:avLst/>
          </a:prstGeom>
          <a:noFill/>
        </p:spPr>
        <p:txBody>
          <a:bodyPr wrap="square" lIns="0" tIns="0" rIns="0" bIns="0" rtlCol="0" anchor="t">
            <a:spAutoFit/>
          </a:bodyPr>
          <a:lstStyle/>
          <a:p>
            <a:pPr marL="0" indent="0" algn="l">
              <a:buNone/>
            </a:pPr>
            <a:r>
              <a:rPr lang="en-US" sz="800" dirty="0">
                <a:solidFill>
                  <a:srgbClr val="00FF9C"/>
                </a:solidFill>
                <a:latin typeface="JetBrains Mono Medium" pitchFamily="34" charset="0"/>
                <a:ea typeface="JetBrains Mono Medium" pitchFamily="34" charset="-122"/>
                <a:cs typeface="JetBrains Mono Medium" pitchFamily="34" charset="-120"/>
              </a:rPr>
              <a:t>dcode.fr</a:t>
            </a:r>
            <a:endParaRPr lang="en-US" sz="800" dirty="0"/>
          </a:p>
        </p:txBody>
      </p:sp>
      <p:sp>
        <p:nvSpPr>
          <p:cNvPr id="42" name="Text 34"/>
          <p:cNvSpPr/>
          <p:nvPr/>
        </p:nvSpPr>
        <p:spPr>
          <a:xfrm>
            <a:off x="4110037" y="5884515"/>
            <a:ext cx="2773045" cy="149225"/>
          </a:xfrm>
          <a:prstGeom prst="rect">
            <a:avLst/>
          </a:prstGeom>
          <a:noFill/>
        </p:spPr>
        <p:txBody>
          <a:bodyPr wrap="none" lIns="0" tIns="0" rIns="0" bIns="0" rtlCol="0" anchor="t">
            <a:spAutoFit/>
          </a:bodyPr>
          <a:lstStyle/>
          <a:p>
            <a:pPr marL="0" indent="0" algn="l">
              <a:lnSpc>
                <a:spcPct val="112000"/>
              </a:lnSpc>
              <a:buNone/>
            </a:pPr>
            <a:r>
              <a:rPr lang="en-US" sz="865" dirty="0">
                <a:solidFill>
                  <a:srgbClr val="8B949E"/>
                </a:solidFill>
                <a:latin typeface="Inter" pitchFamily="34" charset="0"/>
                <a:ea typeface="Inter" pitchFamily="34" charset="-122"/>
                <a:cs typeface="Inter" pitchFamily="34" charset="-120"/>
              </a:rPr>
              <a:t>Excellent online identifier and solver for classical ciphers.</a:t>
            </a:r>
            <a:endParaRPr lang="en-US" sz="865" dirty="0"/>
          </a:p>
        </p:txBody>
      </p:sp>
      <p:pic>
        <p:nvPicPr>
          <p:cNvPr id="43" name="Image 6" descr="preencoded.png"/>
          <p:cNvPicPr>
            <a:picLocks noChangeAspect="1"/>
          </p:cNvPicPr>
          <p:nvPr/>
        </p:nvPicPr>
        <p:blipFill>
          <a:blip r:embed="rId6"/>
          <a:stretch>
            <a:fillRect/>
          </a:stretch>
        </p:blipFill>
        <p:spPr>
          <a:xfrm>
            <a:off x="8310563" y="1785937"/>
            <a:ext cx="233363" cy="171451"/>
          </a:xfrm>
          <a:prstGeom prst="rect">
            <a:avLst/>
          </a:prstGeom>
        </p:spPr>
      </p:pic>
      <p:sp>
        <p:nvSpPr>
          <p:cNvPr id="44" name="Text 35"/>
          <p:cNvSpPr/>
          <p:nvPr/>
        </p:nvSpPr>
        <p:spPr>
          <a:xfrm>
            <a:off x="8639175" y="1743075"/>
            <a:ext cx="736600" cy="194310"/>
          </a:xfrm>
          <a:prstGeom prst="rect">
            <a:avLst/>
          </a:prstGeom>
          <a:noFill/>
        </p:spPr>
        <p:txBody>
          <a:bodyPr wrap="none" lIns="0" tIns="0" rIns="0" bIns="0" rtlCol="0" anchor="t">
            <a:spAutoFit/>
          </a:bodyPr>
          <a:lstStyle/>
          <a:p>
            <a:pPr marL="0" indent="0" algn="l">
              <a:buNone/>
            </a:pPr>
            <a:r>
              <a:rPr lang="en-US" sz="1265" kern="0" spc="2" dirty="0">
                <a:solidFill>
                  <a:srgbClr val="58A6FF"/>
                </a:solidFill>
                <a:latin typeface="Poppins SemiBold" pitchFamily="34" charset="0"/>
                <a:ea typeface="Poppins SemiBold" pitchFamily="34" charset="-122"/>
                <a:cs typeface="Poppins SemiBold" pitchFamily="34" charset="-120"/>
              </a:rPr>
              <a:t>LEARNING</a:t>
            </a:r>
            <a:endParaRPr lang="en-US" sz="1265" dirty="0"/>
          </a:p>
        </p:txBody>
      </p:sp>
      <p:sp>
        <p:nvSpPr>
          <p:cNvPr id="45" name="Shape 36"/>
          <p:cNvSpPr/>
          <p:nvPr/>
        </p:nvSpPr>
        <p:spPr>
          <a:xfrm>
            <a:off x="8310563" y="2143125"/>
            <a:ext cx="3500437" cy="877713"/>
          </a:xfrm>
          <a:prstGeom prst="rect">
            <a:avLst/>
          </a:prstGeom>
          <a:solidFill>
            <a:srgbClr val="161B22"/>
          </a:solidFill>
          <a:ln w="9144">
            <a:solidFill>
              <a:srgbClr val="30363D"/>
            </a:solidFill>
            <a:prstDash val="solid"/>
          </a:ln>
        </p:spPr>
      </p:sp>
      <p:sp>
        <p:nvSpPr>
          <p:cNvPr id="46" name="Text 37"/>
          <p:cNvSpPr/>
          <p:nvPr/>
        </p:nvSpPr>
        <p:spPr>
          <a:xfrm>
            <a:off x="8424863" y="2257425"/>
            <a:ext cx="3271837" cy="163830"/>
          </a:xfrm>
          <a:prstGeom prst="rect">
            <a:avLst/>
          </a:prstGeom>
          <a:noFill/>
        </p:spPr>
        <p:txBody>
          <a:bodyPr wrap="square" lIns="0" tIns="0" rIns="0" bIns="0" rtlCol="0" anchor="t">
            <a:spAutoFit/>
          </a:bodyPr>
          <a:lstStyle/>
          <a:p>
            <a:pPr marL="0" indent="0" algn="l">
              <a:buNone/>
            </a:pPr>
            <a:r>
              <a:rPr lang="en-US" sz="1065" dirty="0">
                <a:solidFill>
                  <a:srgbClr val="E6EDF3"/>
                </a:solidFill>
                <a:latin typeface="Poppins SemiBold" pitchFamily="34" charset="0"/>
                <a:ea typeface="Poppins SemiBold" pitchFamily="34" charset="-122"/>
                <a:cs typeface="Poppins SemiBold" pitchFamily="34" charset="-120"/>
              </a:rPr>
              <a:t>Cryptohack Discord</a:t>
            </a:r>
            <a:endParaRPr lang="en-US" sz="1065" dirty="0"/>
          </a:p>
        </p:txBody>
      </p:sp>
      <p:sp>
        <p:nvSpPr>
          <p:cNvPr id="47" name="Text 38"/>
          <p:cNvSpPr/>
          <p:nvPr/>
        </p:nvSpPr>
        <p:spPr>
          <a:xfrm>
            <a:off x="8424863" y="2540793"/>
            <a:ext cx="3271837" cy="149225"/>
          </a:xfrm>
          <a:prstGeom prst="rect">
            <a:avLst/>
          </a:prstGeom>
          <a:noFill/>
        </p:spPr>
        <p:txBody>
          <a:bodyPr wrap="square" lIns="0" tIns="0" rIns="0" bIns="0" rtlCol="0" anchor="t">
            <a:spAutoFit/>
          </a:bodyPr>
          <a:lstStyle/>
          <a:p>
            <a:pPr marL="0" indent="0" algn="l">
              <a:lnSpc>
                <a:spcPct val="112000"/>
              </a:lnSpc>
              <a:buNone/>
            </a:pPr>
            <a:r>
              <a:rPr lang="en-US" sz="865" dirty="0">
                <a:solidFill>
                  <a:srgbClr val="8B949E"/>
                </a:solidFill>
                <a:latin typeface="Inter" pitchFamily="34" charset="0"/>
                <a:ea typeface="Inter" pitchFamily="34" charset="-122"/>
                <a:cs typeface="Inter" pitchFamily="34" charset="-120"/>
              </a:rPr>
              <a:t>Join a massive community of crypto enthusiasts and experts.</a:t>
            </a:r>
            <a:endParaRPr lang="en-US" sz="865" dirty="0"/>
          </a:p>
        </p:txBody>
      </p:sp>
      <p:sp>
        <p:nvSpPr>
          <p:cNvPr id="48" name="Shape 39"/>
          <p:cNvSpPr/>
          <p:nvPr/>
        </p:nvSpPr>
        <p:spPr>
          <a:xfrm>
            <a:off x="8310563" y="3097039"/>
            <a:ext cx="3500437" cy="1084883"/>
          </a:xfrm>
          <a:prstGeom prst="rect">
            <a:avLst/>
          </a:prstGeom>
          <a:solidFill>
            <a:srgbClr val="161B22"/>
          </a:solidFill>
          <a:ln w="9144">
            <a:solidFill>
              <a:srgbClr val="30363D"/>
            </a:solidFill>
            <a:prstDash val="solid"/>
          </a:ln>
        </p:spPr>
      </p:sp>
      <p:sp>
        <p:nvSpPr>
          <p:cNvPr id="49" name="Text 40"/>
          <p:cNvSpPr/>
          <p:nvPr/>
        </p:nvSpPr>
        <p:spPr>
          <a:xfrm>
            <a:off x="8424863" y="3211339"/>
            <a:ext cx="3271837" cy="163830"/>
          </a:xfrm>
          <a:prstGeom prst="rect">
            <a:avLst/>
          </a:prstGeom>
          <a:noFill/>
        </p:spPr>
        <p:txBody>
          <a:bodyPr wrap="square" lIns="0" tIns="0" rIns="0" bIns="0" rtlCol="0" anchor="t">
            <a:spAutoFit/>
          </a:bodyPr>
          <a:lstStyle/>
          <a:p>
            <a:pPr marL="0" indent="0" algn="l">
              <a:buNone/>
            </a:pPr>
            <a:r>
              <a:rPr lang="en-US" sz="1065" dirty="0">
                <a:solidFill>
                  <a:srgbClr val="E6EDF3"/>
                </a:solidFill>
                <a:latin typeface="Poppins SemiBold" pitchFamily="34" charset="0"/>
                <a:ea typeface="Poppins SemiBold" pitchFamily="34" charset="-122"/>
                <a:cs typeface="Poppins SemiBold" pitchFamily="34" charset="-120"/>
              </a:rPr>
              <a:t>Coursera: Cryptography I</a:t>
            </a:r>
            <a:endParaRPr lang="en-US" sz="1065" dirty="0"/>
          </a:p>
        </p:txBody>
      </p:sp>
      <p:sp>
        <p:nvSpPr>
          <p:cNvPr id="50" name="Text 41"/>
          <p:cNvSpPr/>
          <p:nvPr/>
        </p:nvSpPr>
        <p:spPr>
          <a:xfrm>
            <a:off x="8424863" y="3494708"/>
            <a:ext cx="3271837" cy="122555"/>
          </a:xfrm>
          <a:prstGeom prst="rect">
            <a:avLst/>
          </a:prstGeom>
          <a:noFill/>
        </p:spPr>
        <p:txBody>
          <a:bodyPr wrap="square" lIns="0" tIns="0" rIns="0" bIns="0" rtlCol="0" anchor="t">
            <a:spAutoFit/>
          </a:bodyPr>
          <a:lstStyle/>
          <a:p>
            <a:pPr marL="0" indent="0" algn="l">
              <a:buNone/>
            </a:pPr>
            <a:r>
              <a:rPr lang="en-US" sz="800" dirty="0">
                <a:solidFill>
                  <a:srgbClr val="00FF9C"/>
                </a:solidFill>
                <a:latin typeface="JetBrains Mono Medium" pitchFamily="34" charset="0"/>
                <a:ea typeface="JetBrains Mono Medium" pitchFamily="34" charset="-122"/>
                <a:cs typeface="JetBrains Mono Medium" pitchFamily="34" charset="-120"/>
              </a:rPr>
              <a:t>coursera.org</a:t>
            </a:r>
            <a:endParaRPr lang="en-US" sz="800" dirty="0"/>
          </a:p>
        </p:txBody>
      </p:sp>
      <p:sp>
        <p:nvSpPr>
          <p:cNvPr id="51" name="Text 42"/>
          <p:cNvSpPr/>
          <p:nvPr/>
        </p:nvSpPr>
        <p:spPr>
          <a:xfrm>
            <a:off x="8424863" y="3701876"/>
            <a:ext cx="3271837" cy="298450"/>
          </a:xfrm>
          <a:prstGeom prst="rect">
            <a:avLst/>
          </a:prstGeom>
          <a:noFill/>
        </p:spPr>
        <p:txBody>
          <a:bodyPr wrap="square" lIns="0" tIns="0" rIns="0" bIns="0" rtlCol="0" anchor="t">
            <a:spAutoFit/>
          </a:bodyPr>
          <a:lstStyle/>
          <a:p>
            <a:pPr marL="0" indent="0" algn="l">
              <a:lnSpc>
                <a:spcPct val="112000"/>
              </a:lnSpc>
              <a:buNone/>
            </a:pPr>
            <a:r>
              <a:rPr lang="en-US" sz="865" dirty="0">
                <a:solidFill>
                  <a:srgbClr val="8B949E"/>
                </a:solidFill>
                <a:latin typeface="Inter" pitchFamily="34" charset="0"/>
                <a:ea typeface="Inter" pitchFamily="34" charset="-122"/>
                <a:cs typeface="Inter" pitchFamily="34" charset="-120"/>
              </a:rPr>
              <a:t>Dan Boneh's legendary course from Stanford. Deep technical theory.</a:t>
            </a:r>
            <a:endParaRPr lang="en-US" sz="865" dirty="0"/>
          </a:p>
        </p:txBody>
      </p:sp>
      <p:sp>
        <p:nvSpPr>
          <p:cNvPr id="52" name="Shape 43"/>
          <p:cNvSpPr/>
          <p:nvPr/>
        </p:nvSpPr>
        <p:spPr>
          <a:xfrm>
            <a:off x="8310563" y="4258121"/>
            <a:ext cx="3500437" cy="911535"/>
          </a:xfrm>
          <a:prstGeom prst="rect">
            <a:avLst/>
          </a:prstGeom>
          <a:solidFill>
            <a:srgbClr val="161B22"/>
          </a:solidFill>
          <a:ln w="9144">
            <a:solidFill>
              <a:srgbClr val="30363D"/>
            </a:solidFill>
            <a:prstDash val="solid"/>
          </a:ln>
        </p:spPr>
      </p:sp>
      <p:sp>
        <p:nvSpPr>
          <p:cNvPr id="53" name="Text 44"/>
          <p:cNvSpPr/>
          <p:nvPr/>
        </p:nvSpPr>
        <p:spPr>
          <a:xfrm>
            <a:off x="8424863" y="4372421"/>
            <a:ext cx="3271837" cy="163830"/>
          </a:xfrm>
          <a:prstGeom prst="rect">
            <a:avLst/>
          </a:prstGeom>
          <a:noFill/>
        </p:spPr>
        <p:txBody>
          <a:bodyPr wrap="square" lIns="0" tIns="0" rIns="0" bIns="0" rtlCol="0" anchor="t">
            <a:spAutoFit/>
          </a:bodyPr>
          <a:lstStyle/>
          <a:p>
            <a:pPr marL="0" indent="0" algn="l">
              <a:buNone/>
            </a:pPr>
            <a:r>
              <a:rPr lang="en-US" sz="1065" dirty="0">
                <a:solidFill>
                  <a:srgbClr val="E6EDF3"/>
                </a:solidFill>
                <a:latin typeface="Poppins SemiBold" pitchFamily="34" charset="0"/>
                <a:ea typeface="Poppins SemiBold" pitchFamily="34" charset="-122"/>
                <a:cs typeface="Poppins SemiBold" pitchFamily="34" charset="-120"/>
              </a:rPr>
              <a:t>CTFtime.org</a:t>
            </a:r>
            <a:endParaRPr lang="en-US" sz="1065" dirty="0"/>
          </a:p>
        </p:txBody>
      </p:sp>
      <p:sp>
        <p:nvSpPr>
          <p:cNvPr id="54" name="Text 45"/>
          <p:cNvSpPr/>
          <p:nvPr/>
        </p:nvSpPr>
        <p:spPr>
          <a:xfrm>
            <a:off x="8424863" y="4655791"/>
            <a:ext cx="3271837" cy="122555"/>
          </a:xfrm>
          <a:prstGeom prst="rect">
            <a:avLst/>
          </a:prstGeom>
          <a:noFill/>
        </p:spPr>
        <p:txBody>
          <a:bodyPr wrap="square" lIns="0" tIns="0" rIns="0" bIns="0" rtlCol="0" anchor="t">
            <a:spAutoFit/>
          </a:bodyPr>
          <a:lstStyle/>
          <a:p>
            <a:pPr marL="0" indent="0" algn="l">
              <a:buNone/>
            </a:pPr>
            <a:r>
              <a:rPr lang="en-US" sz="800" dirty="0">
                <a:solidFill>
                  <a:srgbClr val="00FF9C"/>
                </a:solidFill>
                <a:latin typeface="JetBrains Mono Medium" pitchFamily="34" charset="0"/>
                <a:ea typeface="JetBrains Mono Medium" pitchFamily="34" charset="-122"/>
                <a:cs typeface="JetBrains Mono Medium" pitchFamily="34" charset="-120"/>
              </a:rPr>
              <a:t>ctftime.org</a:t>
            </a:r>
            <a:endParaRPr lang="en-US" sz="800" dirty="0"/>
          </a:p>
        </p:txBody>
      </p:sp>
      <p:sp>
        <p:nvSpPr>
          <p:cNvPr id="55" name="Text 46"/>
          <p:cNvSpPr/>
          <p:nvPr/>
        </p:nvSpPr>
        <p:spPr>
          <a:xfrm>
            <a:off x="8424863" y="4862959"/>
            <a:ext cx="2245995" cy="149225"/>
          </a:xfrm>
          <a:prstGeom prst="rect">
            <a:avLst/>
          </a:prstGeom>
          <a:noFill/>
        </p:spPr>
        <p:txBody>
          <a:bodyPr wrap="none" lIns="0" tIns="0" rIns="0" bIns="0" rtlCol="0" anchor="t">
            <a:spAutoFit/>
          </a:bodyPr>
          <a:lstStyle/>
          <a:p>
            <a:pPr marL="0" indent="0" algn="l">
              <a:lnSpc>
                <a:spcPct val="112000"/>
              </a:lnSpc>
              <a:buNone/>
            </a:pPr>
            <a:r>
              <a:rPr lang="en-US" sz="865" dirty="0">
                <a:solidFill>
                  <a:srgbClr val="8B949E"/>
                </a:solidFill>
                <a:latin typeface="Inter" pitchFamily="34" charset="0"/>
                <a:ea typeface="Inter" pitchFamily="34" charset="-122"/>
                <a:cs typeface="Inter" pitchFamily="34" charset="-120"/>
              </a:rPr>
              <a:t>Track upcoming competitions and join a team.</a:t>
            </a:r>
            <a:endParaRPr lang="en-US" sz="865" dirty="0"/>
          </a:p>
        </p:txBody>
      </p:sp>
      <p:pic>
        <p:nvPicPr>
          <p:cNvPr id="56" name="Image 7" descr="preencoded.png"/>
          <p:cNvPicPr>
            <a:picLocks noChangeAspect="1"/>
          </p:cNvPicPr>
          <p:nvPr/>
        </p:nvPicPr>
        <p:blipFill>
          <a:blip r:embed="rId7"/>
          <a:stretch>
            <a:fillRect/>
          </a:stretch>
        </p:blipFill>
        <p:spPr>
          <a:xfrm>
            <a:off x="381000" y="6453188"/>
            <a:ext cx="128588" cy="171451"/>
          </a:xfrm>
          <a:prstGeom prst="rect">
            <a:avLst/>
          </a:prstGeom>
        </p:spPr>
      </p:pic>
      <p:sp>
        <p:nvSpPr>
          <p:cNvPr id="57" name="Text 47"/>
          <p:cNvSpPr/>
          <p:nvPr/>
        </p:nvSpPr>
        <p:spPr>
          <a:xfrm>
            <a:off x="623888" y="6410325"/>
            <a:ext cx="7279481" cy="194310"/>
          </a:xfrm>
          <a:prstGeom prst="rect">
            <a:avLst/>
          </a:prstGeom>
          <a:noFill/>
        </p:spPr>
        <p:txBody>
          <a:bodyPr wrap="square" lIns="0" tIns="0" rIns="0" bIns="0" rtlCol="0" anchor="t">
            <a:spAutoFit/>
          </a:bodyPr>
          <a:lstStyle/>
          <a:p>
            <a:pPr marL="0" indent="0" algn="l">
              <a:buNone/>
            </a:pPr>
            <a:r>
              <a:rPr lang="en-US" sz="1265" dirty="0">
                <a:solidFill>
                  <a:srgbClr val="E3B341"/>
                </a:solidFill>
                <a:latin typeface="Poppins SemiBold" pitchFamily="34" charset="0"/>
                <a:ea typeface="Poppins SemiBold" pitchFamily="34" charset="-122"/>
                <a:cs typeface="Poppins SemiBold" pitchFamily="34" charset="-120"/>
              </a:rPr>
              <a:t>Master these resources and you'll be ahead of 90% of beginner security researchers.</a:t>
            </a:r>
            <a:endParaRPr lang="en-US" sz="1265" dirty="0"/>
          </a:p>
        </p:txBody>
      </p:sp>
      <p:grpSp>
        <p:nvGrpSpPr>
          <p:cNvPr id="58" name="Group 2"/>
          <p:cNvGrpSpPr/>
          <p:nvPr/>
        </p:nvGrpSpPr>
        <p:grpSpPr>
          <a:xfrm rot="0">
            <a:off x="294640" y="194310"/>
            <a:ext cx="789305" cy="299720"/>
            <a:chOff x="0" y="0"/>
            <a:chExt cx="341337" cy="102463"/>
          </a:xfrm>
        </p:grpSpPr>
        <p:sp>
          <p:nvSpPr>
            <p:cNvPr id="59"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60"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61" name="Group 5"/>
          <p:cNvGrpSpPr/>
          <p:nvPr/>
        </p:nvGrpSpPr>
        <p:grpSpPr>
          <a:xfrm rot="0">
            <a:off x="822325" y="209550"/>
            <a:ext cx="220980" cy="246380"/>
            <a:chOff x="0" y="0"/>
            <a:chExt cx="812800" cy="812800"/>
          </a:xfrm>
        </p:grpSpPr>
        <p:sp>
          <p:nvSpPr>
            <p:cNvPr id="62"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63"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64"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65" name="AutoShape 13"/>
          <p:cNvSpPr/>
          <p:nvPr/>
        </p:nvSpPr>
        <p:spPr>
          <a:xfrm>
            <a:off x="411480" y="6598920"/>
            <a:ext cx="11366500" cy="16510"/>
          </a:xfrm>
          <a:prstGeom prst="line">
            <a:avLst/>
          </a:prstGeom>
          <a:ln w="19050" cap="flat">
            <a:solidFill>
              <a:schemeClr val="bg1"/>
            </a:solidFill>
            <a:prstDash val="solid"/>
            <a:headEnd type="none" w="sm" len="sm"/>
            <a:tailEnd type="none" w="sm" len="sm"/>
          </a:ln>
        </p:spPr>
      </p:sp>
      <p:sp>
        <p:nvSpPr>
          <p:cNvPr id="66" name="TextBox 21"/>
          <p:cNvSpPr txBox="1"/>
          <p:nvPr/>
        </p:nvSpPr>
        <p:spPr>
          <a:xfrm>
            <a:off x="4756785" y="654177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571500"/>
          </a:xfrm>
          <a:prstGeom prst="rect">
            <a:avLst/>
          </a:prstGeom>
          <a:solidFill>
            <a:srgbClr val="000000">
              <a:alpha val="0"/>
            </a:srgbClr>
          </a:solidFill>
        </p:spPr>
      </p:sp>
      <p:sp>
        <p:nvSpPr>
          <p:cNvPr id="4" name="Shape 1"/>
          <p:cNvSpPr/>
          <p:nvPr/>
        </p:nvSpPr>
        <p:spPr>
          <a:xfrm>
            <a:off x="0" y="561975"/>
            <a:ext cx="12192000" cy="9525"/>
          </a:xfrm>
          <a:prstGeom prst="rect">
            <a:avLst/>
          </a:prstGeom>
          <a:solidFill>
            <a:srgbClr val="30363D"/>
          </a:solidFill>
        </p:spPr>
      </p:sp>
      <p:sp>
        <p:nvSpPr>
          <p:cNvPr id="6" name="Text 3"/>
          <p:cNvSpPr/>
          <p:nvPr/>
        </p:nvSpPr>
        <p:spPr>
          <a:xfrm>
            <a:off x="9967912" y="172640"/>
            <a:ext cx="1843088" cy="194310"/>
          </a:xfrm>
          <a:prstGeom prst="rect">
            <a:avLst/>
          </a:prstGeom>
          <a:noFill/>
        </p:spPr>
        <p:txBody>
          <a:bodyPr wrap="square" lIns="0" tIns="0" rIns="0" bIns="0" rtlCol="0" anchor="t">
            <a:spAutoFit/>
          </a:bodyPr>
          <a:lstStyle/>
          <a:p>
            <a:pPr marL="0" indent="0" algn="l">
              <a:buNone/>
            </a:pPr>
            <a:r>
              <a:rPr lang="en-US" sz="1265" dirty="0">
                <a:solidFill>
                  <a:srgbClr val="8B949E"/>
                </a:solidFill>
                <a:latin typeface="JetBrains Mono Medium" pitchFamily="34" charset="0"/>
                <a:ea typeface="JetBrains Mono Medium" pitchFamily="34" charset="-122"/>
                <a:cs typeface="JetBrains Mono Medium" pitchFamily="34" charset="-120"/>
              </a:rPr>
              <a:t>Slide 74 | EWUCSC</a:t>
            </a:r>
            <a:endParaRPr lang="en-US" sz="1265" dirty="0"/>
          </a:p>
        </p:txBody>
      </p:sp>
      <p:sp>
        <p:nvSpPr>
          <p:cNvPr id="7" name="Text 4"/>
          <p:cNvSpPr/>
          <p:nvPr/>
        </p:nvSpPr>
        <p:spPr>
          <a:xfrm>
            <a:off x="381000" y="952500"/>
            <a:ext cx="11430000" cy="430530"/>
          </a:xfrm>
          <a:prstGeom prst="rect">
            <a:avLst/>
          </a:prstGeom>
          <a:noFill/>
        </p:spPr>
        <p:txBody>
          <a:bodyPr wrap="square" lIns="0" tIns="0" rIns="0" bIns="0" rtlCol="0" anchor="t">
            <a:spAutoFit/>
          </a:bodyPr>
          <a:lstStyle/>
          <a:p>
            <a:pPr marL="0" indent="0" algn="l">
              <a:buNone/>
            </a:pPr>
            <a:r>
              <a:rPr lang="en-US" sz="2800" b="1" dirty="0">
                <a:solidFill>
                  <a:srgbClr val="00FF9C"/>
                </a:solidFill>
                <a:latin typeface="Poppins SemiBold" pitchFamily="34" charset="0"/>
                <a:ea typeface="Poppins SemiBold" pitchFamily="34" charset="-122"/>
                <a:cs typeface="Poppins SemiBold" pitchFamily="34" charset="-120"/>
              </a:rPr>
              <a:t>Before Day 2 — your assignments</a:t>
            </a:r>
            <a:endParaRPr lang="en-US" sz="2800" dirty="0"/>
          </a:p>
        </p:txBody>
      </p:sp>
      <p:sp>
        <p:nvSpPr>
          <p:cNvPr id="8" name="Text 5"/>
          <p:cNvSpPr/>
          <p:nvPr/>
        </p:nvSpPr>
        <p:spPr>
          <a:xfrm>
            <a:off x="381000" y="1838325"/>
            <a:ext cx="4107656" cy="328295"/>
          </a:xfrm>
          <a:prstGeom prst="rect">
            <a:avLst/>
          </a:prstGeom>
          <a:noFill/>
        </p:spPr>
        <p:txBody>
          <a:bodyPr wrap="square" lIns="0" tIns="0" rIns="0" bIns="113453" rtlCol="0" anchor="t">
            <a:spAutoFit/>
          </a:bodyPr>
          <a:lstStyle/>
          <a:p>
            <a:pPr marL="0" indent="0" algn="l">
              <a:buNone/>
            </a:pPr>
            <a:r>
              <a:rPr lang="en-US" sz="1400" kern="0" spc="2" dirty="0">
                <a:solidFill>
                  <a:srgbClr val="FF6B6B"/>
                </a:solidFill>
                <a:latin typeface="Poppins SemiBold" pitchFamily="34" charset="0"/>
                <a:ea typeface="Poppins SemiBold" pitchFamily="34" charset="-122"/>
                <a:cs typeface="Poppins SemiBold" pitchFamily="34" charset="-120"/>
              </a:rPr>
              <a:t>MUST DO</a:t>
            </a:r>
            <a:endParaRPr lang="en-US" sz="1400" dirty="0"/>
          </a:p>
        </p:txBody>
      </p:sp>
      <p:sp>
        <p:nvSpPr>
          <p:cNvPr id="9" name="Shape 6"/>
          <p:cNvSpPr/>
          <p:nvPr/>
        </p:nvSpPr>
        <p:spPr>
          <a:xfrm>
            <a:off x="381000" y="2476500"/>
            <a:ext cx="4107656" cy="636240"/>
          </a:xfrm>
          <a:prstGeom prst="rect">
            <a:avLst/>
          </a:prstGeom>
          <a:solidFill>
            <a:srgbClr val="161B22"/>
          </a:solidFill>
          <a:ln w="9144">
            <a:solidFill>
              <a:srgbClr val="30363D"/>
            </a:solidFill>
            <a:prstDash val="solid"/>
          </a:ln>
        </p:spPr>
      </p:sp>
      <p:pic>
        <p:nvPicPr>
          <p:cNvPr id="10" name="Image 1" descr="preencoded.png"/>
          <p:cNvPicPr>
            <a:picLocks noChangeAspect="1"/>
          </p:cNvPicPr>
          <p:nvPr/>
        </p:nvPicPr>
        <p:blipFill>
          <a:blip r:embed="rId2"/>
          <a:stretch>
            <a:fillRect/>
          </a:stretch>
        </p:blipFill>
        <p:spPr>
          <a:xfrm>
            <a:off x="523875" y="2609851"/>
            <a:ext cx="150019" cy="171451"/>
          </a:xfrm>
          <a:prstGeom prst="rect">
            <a:avLst/>
          </a:prstGeom>
        </p:spPr>
      </p:pic>
      <p:sp>
        <p:nvSpPr>
          <p:cNvPr id="11" name="Text 7"/>
          <p:cNvSpPr/>
          <p:nvPr/>
        </p:nvSpPr>
        <p:spPr>
          <a:xfrm>
            <a:off x="816769" y="2571751"/>
            <a:ext cx="3529012" cy="195580"/>
          </a:xfrm>
          <a:prstGeom prst="rect">
            <a:avLst/>
          </a:prstGeom>
          <a:noFill/>
        </p:spPr>
        <p:txBody>
          <a:bodyPr wrap="square" lIns="0" tIns="0" rIns="0" bIns="0" rtlCol="0" anchor="t">
            <a:spAutoFit/>
          </a:bodyPr>
          <a:lstStyle/>
          <a:p>
            <a:pPr marL="0" indent="0" algn="l">
              <a:lnSpc>
                <a:spcPct val="112000"/>
              </a:lnSpc>
              <a:buNone/>
            </a:pPr>
            <a:r>
              <a:rPr lang="en-US" sz="1135" dirty="0">
                <a:solidFill>
                  <a:srgbClr val="E6EDF3"/>
                </a:solidFill>
                <a:latin typeface="Inter" pitchFamily="34" charset="0"/>
                <a:ea typeface="Inter" pitchFamily="34" charset="-122"/>
                <a:cs typeface="Inter" pitchFamily="34" charset="-120"/>
              </a:rPr>
              <a:t>Solve </a:t>
            </a:r>
            <a:r>
              <a:rPr lang="en-US" sz="1065" b="1" dirty="0">
                <a:solidFill>
                  <a:srgbClr val="E6EDF3"/>
                </a:solidFill>
                <a:latin typeface="Inter" pitchFamily="34" charset="0"/>
                <a:ea typeface="Inter" pitchFamily="34" charset="-122"/>
                <a:cs typeface="Inter" pitchFamily="34" charset="-120"/>
              </a:rPr>
              <a:t>3 PicoCTF</a:t>
            </a:r>
            <a:r>
              <a:rPr lang="en-US" sz="1135" dirty="0">
                <a:solidFill>
                  <a:srgbClr val="E6EDF3"/>
                </a:solidFill>
                <a:latin typeface="Inter" pitchFamily="34" charset="0"/>
                <a:ea typeface="Inter" pitchFamily="34" charset="-122"/>
                <a:cs typeface="Inter" pitchFamily="34" charset="-120"/>
              </a:rPr>
              <a:t> crypto challenges (any difficulty).</a:t>
            </a:r>
            <a:endParaRPr lang="en-US" sz="1135" dirty="0"/>
          </a:p>
        </p:txBody>
      </p:sp>
      <p:sp>
        <p:nvSpPr>
          <p:cNvPr id="12" name="Shape 8"/>
          <p:cNvSpPr/>
          <p:nvPr/>
        </p:nvSpPr>
        <p:spPr>
          <a:xfrm>
            <a:off x="381000" y="3236565"/>
            <a:ext cx="4107656" cy="422895"/>
          </a:xfrm>
          <a:prstGeom prst="rect">
            <a:avLst/>
          </a:prstGeom>
          <a:solidFill>
            <a:srgbClr val="161B22"/>
          </a:solidFill>
          <a:ln w="9144">
            <a:solidFill>
              <a:srgbClr val="30363D"/>
            </a:solidFill>
            <a:prstDash val="solid"/>
          </a:ln>
        </p:spPr>
      </p:sp>
      <p:pic>
        <p:nvPicPr>
          <p:cNvPr id="13" name="Image 2" descr="preencoded.png"/>
          <p:cNvPicPr>
            <a:picLocks noChangeAspect="1"/>
          </p:cNvPicPr>
          <p:nvPr/>
        </p:nvPicPr>
        <p:blipFill>
          <a:blip r:embed="rId3"/>
          <a:stretch>
            <a:fillRect/>
          </a:stretch>
        </p:blipFill>
        <p:spPr>
          <a:xfrm>
            <a:off x="523875" y="3369915"/>
            <a:ext cx="150019" cy="171451"/>
          </a:xfrm>
          <a:prstGeom prst="rect">
            <a:avLst/>
          </a:prstGeom>
        </p:spPr>
      </p:pic>
      <p:sp>
        <p:nvSpPr>
          <p:cNvPr id="14" name="Text 9"/>
          <p:cNvSpPr/>
          <p:nvPr/>
        </p:nvSpPr>
        <p:spPr>
          <a:xfrm>
            <a:off x="816769" y="3331815"/>
            <a:ext cx="2725420" cy="195580"/>
          </a:xfrm>
          <a:prstGeom prst="rect">
            <a:avLst/>
          </a:prstGeom>
          <a:noFill/>
        </p:spPr>
        <p:txBody>
          <a:bodyPr wrap="none" lIns="0" tIns="0" rIns="0" bIns="0" rtlCol="0" anchor="t">
            <a:spAutoFit/>
          </a:bodyPr>
          <a:lstStyle/>
          <a:p>
            <a:pPr marL="0" indent="0" algn="l">
              <a:lnSpc>
                <a:spcPct val="112000"/>
              </a:lnSpc>
              <a:buNone/>
            </a:pPr>
            <a:r>
              <a:rPr lang="en-US" sz="1135" dirty="0">
                <a:solidFill>
                  <a:srgbClr val="E6EDF3"/>
                </a:solidFill>
                <a:latin typeface="Inter" pitchFamily="34" charset="0"/>
                <a:ea typeface="Inter" pitchFamily="34" charset="-122"/>
                <a:cs typeface="Inter" pitchFamily="34" charset="-120"/>
              </a:rPr>
              <a:t>Complete </a:t>
            </a:r>
            <a:r>
              <a:rPr lang="en-US" sz="1065" b="1" dirty="0">
                <a:solidFill>
                  <a:srgbClr val="E6EDF3"/>
                </a:solidFill>
                <a:latin typeface="Inter" pitchFamily="34" charset="0"/>
                <a:ea typeface="Inter" pitchFamily="34" charset="-122"/>
                <a:cs typeface="Inter" pitchFamily="34" charset="-120"/>
              </a:rPr>
              <a:t>CryptoHack</a:t>
            </a:r>
            <a:r>
              <a:rPr lang="en-US" sz="1135" dirty="0">
                <a:solidFill>
                  <a:srgbClr val="E6EDF3"/>
                </a:solidFill>
                <a:latin typeface="Inter" pitchFamily="34" charset="0"/>
                <a:ea typeface="Inter" pitchFamily="34" charset="-122"/>
                <a:cs typeface="Inter" pitchFamily="34" charset="-120"/>
              </a:rPr>
              <a:t> Introduction module.</a:t>
            </a:r>
            <a:endParaRPr lang="en-US" sz="1135" dirty="0"/>
          </a:p>
        </p:txBody>
      </p:sp>
      <p:sp>
        <p:nvSpPr>
          <p:cNvPr id="15" name="Shape 10"/>
          <p:cNvSpPr/>
          <p:nvPr/>
        </p:nvSpPr>
        <p:spPr>
          <a:xfrm>
            <a:off x="381000" y="3783285"/>
            <a:ext cx="4107656" cy="636240"/>
          </a:xfrm>
          <a:prstGeom prst="rect">
            <a:avLst/>
          </a:prstGeom>
          <a:solidFill>
            <a:srgbClr val="161B22"/>
          </a:solidFill>
          <a:ln w="9144">
            <a:solidFill>
              <a:srgbClr val="30363D"/>
            </a:solidFill>
            <a:prstDash val="solid"/>
          </a:ln>
        </p:spPr>
      </p:sp>
      <p:pic>
        <p:nvPicPr>
          <p:cNvPr id="16" name="Image 3" descr="preencoded.png"/>
          <p:cNvPicPr>
            <a:picLocks noChangeAspect="1"/>
          </p:cNvPicPr>
          <p:nvPr/>
        </p:nvPicPr>
        <p:blipFill>
          <a:blip r:embed="rId4"/>
          <a:stretch>
            <a:fillRect/>
          </a:stretch>
        </p:blipFill>
        <p:spPr>
          <a:xfrm>
            <a:off x="523875" y="3916636"/>
            <a:ext cx="150019" cy="171451"/>
          </a:xfrm>
          <a:prstGeom prst="rect">
            <a:avLst/>
          </a:prstGeom>
        </p:spPr>
      </p:pic>
      <p:sp>
        <p:nvSpPr>
          <p:cNvPr id="17" name="Text 11"/>
          <p:cNvSpPr/>
          <p:nvPr/>
        </p:nvSpPr>
        <p:spPr>
          <a:xfrm>
            <a:off x="816769" y="3878536"/>
            <a:ext cx="3529012" cy="195580"/>
          </a:xfrm>
          <a:prstGeom prst="rect">
            <a:avLst/>
          </a:prstGeom>
          <a:noFill/>
        </p:spPr>
        <p:txBody>
          <a:bodyPr wrap="square" lIns="0" tIns="0" rIns="0" bIns="0" rtlCol="0" anchor="t">
            <a:spAutoFit/>
          </a:bodyPr>
          <a:lstStyle/>
          <a:p>
            <a:pPr marL="0" indent="0" algn="l">
              <a:lnSpc>
                <a:spcPct val="112000"/>
              </a:lnSpc>
              <a:buNone/>
            </a:pPr>
            <a:r>
              <a:rPr lang="en-US" sz="1135" dirty="0">
                <a:solidFill>
                  <a:srgbClr val="E6EDF3"/>
                </a:solidFill>
                <a:latin typeface="Inter" pitchFamily="34" charset="0"/>
                <a:ea typeface="Inter" pitchFamily="34" charset="-122"/>
                <a:cs typeface="Inter" pitchFamily="34" charset="-120"/>
              </a:rPr>
              <a:t>Decode </a:t>
            </a:r>
            <a:r>
              <a:rPr lang="en-US" sz="1065" b="1" dirty="0">
                <a:solidFill>
                  <a:srgbClr val="E6EDF3"/>
                </a:solidFill>
                <a:latin typeface="Inter" pitchFamily="34" charset="0"/>
                <a:ea typeface="Inter" pitchFamily="34" charset="-122"/>
                <a:cs typeface="Inter" pitchFamily="34" charset="-120"/>
              </a:rPr>
              <a:t>5 Base64</a:t>
            </a:r>
            <a:r>
              <a:rPr lang="en-US" sz="1135" dirty="0">
                <a:solidFill>
                  <a:srgbClr val="E6EDF3"/>
                </a:solidFill>
                <a:latin typeface="Inter" pitchFamily="34" charset="0"/>
                <a:ea typeface="Inter" pitchFamily="34" charset="-122"/>
                <a:cs typeface="Inter" pitchFamily="34" charset="-120"/>
              </a:rPr>
              <a:t> strings manually (no CyberChef).</a:t>
            </a:r>
            <a:endParaRPr lang="en-US" sz="1135" dirty="0"/>
          </a:p>
        </p:txBody>
      </p:sp>
      <p:sp>
        <p:nvSpPr>
          <p:cNvPr id="18" name="Shape 12"/>
          <p:cNvSpPr/>
          <p:nvPr/>
        </p:nvSpPr>
        <p:spPr>
          <a:xfrm>
            <a:off x="381000" y="4543351"/>
            <a:ext cx="4107656" cy="422895"/>
          </a:xfrm>
          <a:prstGeom prst="rect">
            <a:avLst/>
          </a:prstGeom>
          <a:solidFill>
            <a:srgbClr val="161B22"/>
          </a:solidFill>
          <a:ln w="9144">
            <a:solidFill>
              <a:srgbClr val="30363D"/>
            </a:solidFill>
            <a:prstDash val="solid"/>
          </a:ln>
        </p:spPr>
      </p:sp>
      <p:pic>
        <p:nvPicPr>
          <p:cNvPr id="19" name="Image 4" descr="preencoded.png"/>
          <p:cNvPicPr>
            <a:picLocks noChangeAspect="1"/>
          </p:cNvPicPr>
          <p:nvPr/>
        </p:nvPicPr>
        <p:blipFill>
          <a:blip r:embed="rId5"/>
          <a:stretch>
            <a:fillRect/>
          </a:stretch>
        </p:blipFill>
        <p:spPr>
          <a:xfrm>
            <a:off x="523875" y="4676700"/>
            <a:ext cx="150019" cy="171451"/>
          </a:xfrm>
          <a:prstGeom prst="rect">
            <a:avLst/>
          </a:prstGeom>
        </p:spPr>
      </p:pic>
      <p:sp>
        <p:nvSpPr>
          <p:cNvPr id="20" name="Text 13"/>
          <p:cNvSpPr/>
          <p:nvPr/>
        </p:nvSpPr>
        <p:spPr>
          <a:xfrm>
            <a:off x="816769" y="4638600"/>
            <a:ext cx="2514600" cy="195580"/>
          </a:xfrm>
          <a:prstGeom prst="rect">
            <a:avLst/>
          </a:prstGeom>
          <a:noFill/>
        </p:spPr>
        <p:txBody>
          <a:bodyPr wrap="none" lIns="0" tIns="0" rIns="0" bIns="0" rtlCol="0" anchor="t">
            <a:spAutoFit/>
          </a:bodyPr>
          <a:lstStyle/>
          <a:p>
            <a:pPr marL="0" indent="0" algn="l">
              <a:lnSpc>
                <a:spcPct val="112000"/>
              </a:lnSpc>
              <a:buNone/>
            </a:pPr>
            <a:r>
              <a:rPr lang="en-US" sz="1135" dirty="0">
                <a:solidFill>
                  <a:srgbClr val="E6EDF3"/>
                </a:solidFill>
                <a:latin typeface="Inter" pitchFamily="34" charset="0"/>
                <a:ea typeface="Inter" pitchFamily="34" charset="-122"/>
                <a:cs typeface="Inter" pitchFamily="34" charset="-120"/>
              </a:rPr>
              <a:t>Crack </a:t>
            </a:r>
            <a:r>
              <a:rPr lang="en-US" sz="1065" b="1" dirty="0">
                <a:solidFill>
                  <a:srgbClr val="E6EDF3"/>
                </a:solidFill>
                <a:latin typeface="Inter" pitchFamily="34" charset="0"/>
                <a:ea typeface="Inter" pitchFamily="34" charset="-122"/>
                <a:cs typeface="Inter" pitchFamily="34" charset="-120"/>
              </a:rPr>
              <a:t>3 MD5 hashes</a:t>
            </a:r>
            <a:r>
              <a:rPr lang="en-US" sz="1135" dirty="0">
                <a:solidFill>
                  <a:srgbClr val="E6EDF3"/>
                </a:solidFill>
                <a:latin typeface="Inter" pitchFamily="34" charset="0"/>
                <a:ea typeface="Inter" pitchFamily="34" charset="-122"/>
                <a:cs typeface="Inter" pitchFamily="34" charset="-120"/>
              </a:rPr>
              <a:t> on crackstation.net.</a:t>
            </a:r>
            <a:endParaRPr lang="en-US" sz="1135" dirty="0"/>
          </a:p>
        </p:txBody>
      </p:sp>
      <p:sp>
        <p:nvSpPr>
          <p:cNvPr id="21" name="Text 14"/>
          <p:cNvSpPr/>
          <p:nvPr/>
        </p:nvSpPr>
        <p:spPr>
          <a:xfrm>
            <a:off x="4726781" y="1838325"/>
            <a:ext cx="3423047" cy="328295"/>
          </a:xfrm>
          <a:prstGeom prst="rect">
            <a:avLst/>
          </a:prstGeom>
          <a:noFill/>
        </p:spPr>
        <p:txBody>
          <a:bodyPr wrap="square" lIns="0" tIns="0" rIns="0" bIns="113453" rtlCol="0" anchor="t">
            <a:spAutoFit/>
          </a:bodyPr>
          <a:lstStyle/>
          <a:p>
            <a:pPr marL="0" indent="0" algn="l">
              <a:buNone/>
            </a:pPr>
            <a:r>
              <a:rPr lang="en-US" sz="1400" kern="0" spc="2" dirty="0">
                <a:solidFill>
                  <a:srgbClr val="E3B341"/>
                </a:solidFill>
                <a:latin typeface="Poppins SemiBold" pitchFamily="34" charset="0"/>
                <a:ea typeface="Poppins SemiBold" pitchFamily="34" charset="-122"/>
                <a:cs typeface="Poppins SemiBold" pitchFamily="34" charset="-120"/>
              </a:rPr>
              <a:t>RECOMMENDED</a:t>
            </a:r>
            <a:endParaRPr lang="en-US" sz="1400" dirty="0"/>
          </a:p>
        </p:txBody>
      </p:sp>
      <p:sp>
        <p:nvSpPr>
          <p:cNvPr id="22" name="Shape 15"/>
          <p:cNvSpPr/>
          <p:nvPr/>
        </p:nvSpPr>
        <p:spPr>
          <a:xfrm>
            <a:off x="4726781" y="2476500"/>
            <a:ext cx="3423047" cy="636240"/>
          </a:xfrm>
          <a:prstGeom prst="rect">
            <a:avLst/>
          </a:prstGeom>
          <a:solidFill>
            <a:srgbClr val="161B22"/>
          </a:solidFill>
          <a:ln w="9144">
            <a:solidFill>
              <a:srgbClr val="30363D"/>
            </a:solidFill>
            <a:prstDash val="solid"/>
          </a:ln>
        </p:spPr>
      </p:sp>
      <p:pic>
        <p:nvPicPr>
          <p:cNvPr id="23" name="Image 5" descr="preencoded.png"/>
          <p:cNvPicPr>
            <a:picLocks noChangeAspect="1"/>
          </p:cNvPicPr>
          <p:nvPr/>
        </p:nvPicPr>
        <p:blipFill>
          <a:blip r:embed="rId6"/>
          <a:stretch>
            <a:fillRect/>
          </a:stretch>
        </p:blipFill>
        <p:spPr>
          <a:xfrm>
            <a:off x="4869656" y="2609851"/>
            <a:ext cx="150019" cy="171451"/>
          </a:xfrm>
          <a:prstGeom prst="rect">
            <a:avLst/>
          </a:prstGeom>
        </p:spPr>
      </p:pic>
      <p:sp>
        <p:nvSpPr>
          <p:cNvPr id="24" name="Text 16"/>
          <p:cNvSpPr/>
          <p:nvPr/>
        </p:nvSpPr>
        <p:spPr>
          <a:xfrm>
            <a:off x="5162551" y="2571751"/>
            <a:ext cx="2844403" cy="391795"/>
          </a:xfrm>
          <a:prstGeom prst="rect">
            <a:avLst/>
          </a:prstGeom>
          <a:noFill/>
        </p:spPr>
        <p:txBody>
          <a:bodyPr wrap="square" lIns="0" tIns="0" rIns="0" bIns="0" rtlCol="0" anchor="t">
            <a:spAutoFit/>
          </a:bodyPr>
          <a:lstStyle/>
          <a:p>
            <a:pPr marL="0" indent="0" algn="l">
              <a:lnSpc>
                <a:spcPct val="112000"/>
              </a:lnSpc>
              <a:buNone/>
            </a:pPr>
            <a:r>
              <a:rPr lang="en-US" sz="1135" dirty="0">
                <a:solidFill>
                  <a:srgbClr val="E6EDF3"/>
                </a:solidFill>
                <a:latin typeface="Inter" pitchFamily="34" charset="0"/>
                <a:ea typeface="Inter" pitchFamily="34" charset="-122"/>
                <a:cs typeface="Inter" pitchFamily="34" charset="-120"/>
              </a:rPr>
              <a:t>Watch: "How RSA works" (Art of the Problem, YouTube).</a:t>
            </a:r>
            <a:endParaRPr lang="en-US" sz="1135" dirty="0"/>
          </a:p>
        </p:txBody>
      </p:sp>
      <p:sp>
        <p:nvSpPr>
          <p:cNvPr id="25" name="Shape 17"/>
          <p:cNvSpPr/>
          <p:nvPr/>
        </p:nvSpPr>
        <p:spPr>
          <a:xfrm>
            <a:off x="4726781" y="3236565"/>
            <a:ext cx="3423047" cy="636240"/>
          </a:xfrm>
          <a:prstGeom prst="rect">
            <a:avLst/>
          </a:prstGeom>
          <a:solidFill>
            <a:srgbClr val="161B22"/>
          </a:solidFill>
          <a:ln w="9144">
            <a:solidFill>
              <a:srgbClr val="30363D"/>
            </a:solidFill>
            <a:prstDash val="solid"/>
          </a:ln>
        </p:spPr>
      </p:sp>
      <p:pic>
        <p:nvPicPr>
          <p:cNvPr id="26" name="Image 6" descr="preencoded.png"/>
          <p:cNvPicPr>
            <a:picLocks noChangeAspect="1"/>
          </p:cNvPicPr>
          <p:nvPr/>
        </p:nvPicPr>
        <p:blipFill>
          <a:blip r:embed="rId7"/>
          <a:stretch>
            <a:fillRect/>
          </a:stretch>
        </p:blipFill>
        <p:spPr>
          <a:xfrm>
            <a:off x="4869656" y="3369915"/>
            <a:ext cx="150019" cy="171451"/>
          </a:xfrm>
          <a:prstGeom prst="rect">
            <a:avLst/>
          </a:prstGeom>
        </p:spPr>
      </p:pic>
      <p:sp>
        <p:nvSpPr>
          <p:cNvPr id="27" name="Text 18"/>
          <p:cNvSpPr/>
          <p:nvPr/>
        </p:nvSpPr>
        <p:spPr>
          <a:xfrm>
            <a:off x="5162551" y="3331815"/>
            <a:ext cx="2844403" cy="391795"/>
          </a:xfrm>
          <a:prstGeom prst="rect">
            <a:avLst/>
          </a:prstGeom>
          <a:noFill/>
        </p:spPr>
        <p:txBody>
          <a:bodyPr wrap="square" lIns="0" tIns="0" rIns="0" bIns="0" rtlCol="0" anchor="t">
            <a:spAutoFit/>
          </a:bodyPr>
          <a:lstStyle/>
          <a:p>
            <a:pPr marL="0" indent="0" algn="l">
              <a:lnSpc>
                <a:spcPct val="112000"/>
              </a:lnSpc>
              <a:buNone/>
            </a:pPr>
            <a:r>
              <a:rPr lang="en-US" sz="1135" dirty="0">
                <a:solidFill>
                  <a:srgbClr val="E6EDF3"/>
                </a:solidFill>
                <a:latin typeface="Inter" pitchFamily="34" charset="0"/>
                <a:ea typeface="Inter" pitchFamily="34" charset="-122"/>
                <a:cs typeface="Inter" pitchFamily="34" charset="-120"/>
              </a:rPr>
              <a:t>Explore all </a:t>
            </a:r>
            <a:r>
              <a:rPr lang="en-US" sz="1065" b="1" dirty="0">
                <a:solidFill>
                  <a:srgbClr val="E6EDF3"/>
                </a:solidFill>
                <a:latin typeface="Inter" pitchFamily="34" charset="0"/>
                <a:ea typeface="Inter" pitchFamily="34" charset="-122"/>
                <a:cs typeface="Inter" pitchFamily="34" charset="-120"/>
              </a:rPr>
              <a:t>CyberChef</a:t>
            </a:r>
            <a:r>
              <a:rPr lang="en-US" sz="1135" dirty="0">
                <a:solidFill>
                  <a:srgbClr val="E6EDF3"/>
                </a:solidFill>
                <a:latin typeface="Inter" pitchFamily="34" charset="0"/>
                <a:ea typeface="Inter" pitchFamily="34" charset="-122"/>
                <a:cs typeface="Inter" pitchFamily="34" charset="-120"/>
              </a:rPr>
              <a:t> operations for 30 minutes.</a:t>
            </a:r>
            <a:endParaRPr lang="en-US" sz="1135" dirty="0"/>
          </a:p>
        </p:txBody>
      </p:sp>
      <p:sp>
        <p:nvSpPr>
          <p:cNvPr id="28" name="Shape 19"/>
          <p:cNvSpPr/>
          <p:nvPr/>
        </p:nvSpPr>
        <p:spPr>
          <a:xfrm>
            <a:off x="4726781" y="3996631"/>
            <a:ext cx="3423047" cy="636240"/>
          </a:xfrm>
          <a:prstGeom prst="rect">
            <a:avLst/>
          </a:prstGeom>
          <a:solidFill>
            <a:srgbClr val="161B22"/>
          </a:solidFill>
          <a:ln w="9144">
            <a:solidFill>
              <a:srgbClr val="30363D"/>
            </a:solidFill>
            <a:prstDash val="solid"/>
          </a:ln>
        </p:spPr>
      </p:sp>
      <p:pic>
        <p:nvPicPr>
          <p:cNvPr id="29" name="Image 7" descr="preencoded.png"/>
          <p:cNvPicPr>
            <a:picLocks noChangeAspect="1"/>
          </p:cNvPicPr>
          <p:nvPr/>
        </p:nvPicPr>
        <p:blipFill>
          <a:blip r:embed="rId8"/>
          <a:stretch>
            <a:fillRect/>
          </a:stretch>
        </p:blipFill>
        <p:spPr>
          <a:xfrm>
            <a:off x="4869656" y="4129980"/>
            <a:ext cx="150019" cy="171451"/>
          </a:xfrm>
          <a:prstGeom prst="rect">
            <a:avLst/>
          </a:prstGeom>
        </p:spPr>
      </p:pic>
      <p:sp>
        <p:nvSpPr>
          <p:cNvPr id="30" name="Text 20"/>
          <p:cNvSpPr/>
          <p:nvPr/>
        </p:nvSpPr>
        <p:spPr>
          <a:xfrm>
            <a:off x="5162551" y="4091880"/>
            <a:ext cx="2844403" cy="391795"/>
          </a:xfrm>
          <a:prstGeom prst="rect">
            <a:avLst/>
          </a:prstGeom>
          <a:noFill/>
        </p:spPr>
        <p:txBody>
          <a:bodyPr wrap="square" lIns="0" tIns="0" rIns="0" bIns="0" rtlCol="0" anchor="t">
            <a:spAutoFit/>
          </a:bodyPr>
          <a:lstStyle/>
          <a:p>
            <a:pPr marL="0" indent="0" algn="l">
              <a:lnSpc>
                <a:spcPct val="112000"/>
              </a:lnSpc>
              <a:buNone/>
            </a:pPr>
            <a:r>
              <a:rPr lang="en-US" sz="1135" dirty="0">
                <a:solidFill>
                  <a:srgbClr val="E6EDF3"/>
                </a:solidFill>
                <a:latin typeface="Inter" pitchFamily="34" charset="0"/>
                <a:ea typeface="Inter" pitchFamily="34" charset="-122"/>
                <a:cs typeface="Inter" pitchFamily="34" charset="-120"/>
              </a:rPr>
              <a:t>Try PicoCTF </a:t>
            </a:r>
            <a:r>
              <a:rPr lang="en-US" sz="1065" b="1" dirty="0">
                <a:solidFill>
                  <a:srgbClr val="E6EDF3"/>
                </a:solidFill>
                <a:latin typeface="Inter" pitchFamily="34" charset="0"/>
                <a:ea typeface="Inter" pitchFamily="34" charset="-122"/>
                <a:cs typeface="Inter" pitchFamily="34" charset="-120"/>
              </a:rPr>
              <a:t>"Mind your Ps and Qs"</a:t>
            </a:r>
            <a:r>
              <a:rPr lang="en-US" sz="1135" dirty="0">
                <a:solidFill>
                  <a:srgbClr val="E6EDF3"/>
                </a:solidFill>
                <a:latin typeface="Inter" pitchFamily="34" charset="0"/>
                <a:ea typeface="Inter" pitchFamily="34" charset="-122"/>
                <a:cs typeface="Inter" pitchFamily="34" charset="-120"/>
              </a:rPr>
              <a:t> (RSA challenge).</a:t>
            </a:r>
            <a:endParaRPr lang="en-US" sz="1135" dirty="0"/>
          </a:p>
        </p:txBody>
      </p:sp>
      <p:sp>
        <p:nvSpPr>
          <p:cNvPr id="31" name="Text 21"/>
          <p:cNvSpPr/>
          <p:nvPr/>
        </p:nvSpPr>
        <p:spPr>
          <a:xfrm>
            <a:off x="8387953" y="1838325"/>
            <a:ext cx="3423047" cy="328295"/>
          </a:xfrm>
          <a:prstGeom prst="rect">
            <a:avLst/>
          </a:prstGeom>
          <a:noFill/>
        </p:spPr>
        <p:txBody>
          <a:bodyPr wrap="square" lIns="0" tIns="0" rIns="0" bIns="113453" rtlCol="0" anchor="t">
            <a:spAutoFit/>
          </a:bodyPr>
          <a:lstStyle/>
          <a:p>
            <a:pPr marL="0" indent="0" algn="l">
              <a:buNone/>
            </a:pPr>
            <a:r>
              <a:rPr lang="en-US" sz="1400" kern="0" spc="2" dirty="0">
                <a:solidFill>
                  <a:srgbClr val="00FF9C"/>
                </a:solidFill>
                <a:latin typeface="Poppins SemiBold" pitchFamily="34" charset="0"/>
                <a:ea typeface="Poppins SemiBold" pitchFamily="34" charset="-122"/>
                <a:cs typeface="Poppins SemiBold" pitchFamily="34" charset="-120"/>
              </a:rPr>
              <a:t>BONUS (HARD)</a:t>
            </a:r>
            <a:endParaRPr lang="en-US" sz="1400" dirty="0"/>
          </a:p>
        </p:txBody>
      </p:sp>
      <p:sp>
        <p:nvSpPr>
          <p:cNvPr id="32" name="Shape 22"/>
          <p:cNvSpPr/>
          <p:nvPr/>
        </p:nvSpPr>
        <p:spPr>
          <a:xfrm>
            <a:off x="8387953" y="2476500"/>
            <a:ext cx="3423047" cy="636240"/>
          </a:xfrm>
          <a:prstGeom prst="rect">
            <a:avLst/>
          </a:prstGeom>
          <a:solidFill>
            <a:srgbClr val="161B22"/>
          </a:solidFill>
          <a:ln w="9144">
            <a:solidFill>
              <a:srgbClr val="30363D"/>
            </a:solidFill>
            <a:prstDash val="solid"/>
          </a:ln>
        </p:spPr>
      </p:sp>
      <p:pic>
        <p:nvPicPr>
          <p:cNvPr id="33" name="Image 8" descr="preencoded.png"/>
          <p:cNvPicPr>
            <a:picLocks noChangeAspect="1"/>
          </p:cNvPicPr>
          <p:nvPr/>
        </p:nvPicPr>
        <p:blipFill>
          <a:blip r:embed="rId9"/>
          <a:stretch>
            <a:fillRect/>
          </a:stretch>
        </p:blipFill>
        <p:spPr>
          <a:xfrm>
            <a:off x="8530828" y="2609851"/>
            <a:ext cx="150019" cy="171451"/>
          </a:xfrm>
          <a:prstGeom prst="rect">
            <a:avLst/>
          </a:prstGeom>
        </p:spPr>
      </p:pic>
      <p:sp>
        <p:nvSpPr>
          <p:cNvPr id="34" name="Text 23"/>
          <p:cNvSpPr/>
          <p:nvPr/>
        </p:nvSpPr>
        <p:spPr>
          <a:xfrm>
            <a:off x="8823721" y="2571751"/>
            <a:ext cx="2844403" cy="195580"/>
          </a:xfrm>
          <a:prstGeom prst="rect">
            <a:avLst/>
          </a:prstGeom>
          <a:noFill/>
        </p:spPr>
        <p:txBody>
          <a:bodyPr wrap="square" lIns="0" tIns="0" rIns="0" bIns="0" rtlCol="0" anchor="t">
            <a:spAutoFit/>
          </a:bodyPr>
          <a:lstStyle/>
          <a:p>
            <a:pPr marL="0" indent="0" algn="l">
              <a:lnSpc>
                <a:spcPct val="112000"/>
              </a:lnSpc>
              <a:buNone/>
            </a:pPr>
            <a:r>
              <a:rPr lang="en-US" sz="1135" dirty="0">
                <a:solidFill>
                  <a:srgbClr val="E6EDF3"/>
                </a:solidFill>
                <a:latin typeface="Inter" pitchFamily="34" charset="0"/>
                <a:ea typeface="Inter" pitchFamily="34" charset="-122"/>
                <a:cs typeface="Inter" pitchFamily="34" charset="-120"/>
              </a:rPr>
              <a:t>Write a </a:t>
            </a:r>
            <a:r>
              <a:rPr lang="en-US" sz="1065" b="1" dirty="0">
                <a:solidFill>
                  <a:srgbClr val="E6EDF3"/>
                </a:solidFill>
                <a:latin typeface="Inter" pitchFamily="34" charset="0"/>
                <a:ea typeface="Inter" pitchFamily="34" charset="-122"/>
                <a:cs typeface="Inter" pitchFamily="34" charset="-120"/>
              </a:rPr>
              <a:t>Python XOR cracker</a:t>
            </a:r>
            <a:r>
              <a:rPr lang="en-US" sz="1135" dirty="0">
                <a:solidFill>
                  <a:srgbClr val="E6EDF3"/>
                </a:solidFill>
                <a:latin typeface="Inter" pitchFamily="34" charset="0"/>
                <a:ea typeface="Inter" pitchFamily="34" charset="-122"/>
                <a:cs typeface="Inter" pitchFamily="34" charset="-120"/>
              </a:rPr>
              <a:t> from scratch.</a:t>
            </a:r>
            <a:endParaRPr lang="en-US" sz="1135" dirty="0"/>
          </a:p>
        </p:txBody>
      </p:sp>
      <p:sp>
        <p:nvSpPr>
          <p:cNvPr id="35" name="Shape 24"/>
          <p:cNvSpPr/>
          <p:nvPr/>
        </p:nvSpPr>
        <p:spPr>
          <a:xfrm>
            <a:off x="8387953" y="3236565"/>
            <a:ext cx="3423047" cy="422895"/>
          </a:xfrm>
          <a:prstGeom prst="rect">
            <a:avLst/>
          </a:prstGeom>
          <a:solidFill>
            <a:srgbClr val="161B22"/>
          </a:solidFill>
          <a:ln w="9144">
            <a:solidFill>
              <a:srgbClr val="30363D"/>
            </a:solidFill>
            <a:prstDash val="solid"/>
          </a:ln>
        </p:spPr>
      </p:sp>
      <p:pic>
        <p:nvPicPr>
          <p:cNvPr id="36" name="Image 9" descr="preencoded.png"/>
          <p:cNvPicPr>
            <a:picLocks noChangeAspect="1"/>
          </p:cNvPicPr>
          <p:nvPr/>
        </p:nvPicPr>
        <p:blipFill>
          <a:blip r:embed="rId10"/>
          <a:stretch>
            <a:fillRect/>
          </a:stretch>
        </p:blipFill>
        <p:spPr>
          <a:xfrm>
            <a:off x="8530828" y="3369915"/>
            <a:ext cx="150019" cy="171451"/>
          </a:xfrm>
          <a:prstGeom prst="rect">
            <a:avLst/>
          </a:prstGeom>
        </p:spPr>
      </p:pic>
      <p:sp>
        <p:nvSpPr>
          <p:cNvPr id="37" name="Text 25"/>
          <p:cNvSpPr/>
          <p:nvPr/>
        </p:nvSpPr>
        <p:spPr>
          <a:xfrm>
            <a:off x="8823721" y="3331815"/>
            <a:ext cx="2231390" cy="195580"/>
          </a:xfrm>
          <a:prstGeom prst="rect">
            <a:avLst/>
          </a:prstGeom>
          <a:noFill/>
        </p:spPr>
        <p:txBody>
          <a:bodyPr wrap="none" lIns="0" tIns="0" rIns="0" bIns="0" rtlCol="0" anchor="t">
            <a:spAutoFit/>
          </a:bodyPr>
          <a:lstStyle/>
          <a:p>
            <a:pPr marL="0" indent="0" algn="l">
              <a:lnSpc>
                <a:spcPct val="112000"/>
              </a:lnSpc>
              <a:buNone/>
            </a:pPr>
            <a:r>
              <a:rPr lang="en-US" sz="1135" dirty="0">
                <a:solidFill>
                  <a:srgbClr val="E6EDF3"/>
                </a:solidFill>
                <a:latin typeface="Inter" pitchFamily="34" charset="0"/>
                <a:ea typeface="Inter" pitchFamily="34" charset="-122"/>
                <a:cs typeface="Inter" pitchFamily="34" charset="-120"/>
              </a:rPr>
              <a:t>Implement </a:t>
            </a:r>
            <a:r>
              <a:rPr lang="en-US" sz="1065" b="1" dirty="0">
                <a:solidFill>
                  <a:srgbClr val="E6EDF3"/>
                </a:solidFill>
                <a:latin typeface="Inter" pitchFamily="34" charset="0"/>
                <a:ea typeface="Inter" pitchFamily="34" charset="-122"/>
                <a:cs typeface="Inter" pitchFamily="34" charset="-120"/>
              </a:rPr>
              <a:t>Caesar cipher</a:t>
            </a:r>
            <a:r>
              <a:rPr lang="en-US" sz="1135" dirty="0">
                <a:solidFill>
                  <a:srgbClr val="E6EDF3"/>
                </a:solidFill>
                <a:latin typeface="Inter" pitchFamily="34" charset="0"/>
                <a:ea typeface="Inter" pitchFamily="34" charset="-122"/>
                <a:cs typeface="Inter" pitchFamily="34" charset="-120"/>
              </a:rPr>
              <a:t> in Python.</a:t>
            </a:r>
            <a:endParaRPr lang="en-US" sz="1135" dirty="0"/>
          </a:p>
        </p:txBody>
      </p:sp>
      <p:sp>
        <p:nvSpPr>
          <p:cNvPr id="38" name="Shape 26"/>
          <p:cNvSpPr/>
          <p:nvPr/>
        </p:nvSpPr>
        <p:spPr>
          <a:xfrm>
            <a:off x="381000" y="5981700"/>
            <a:ext cx="11430000" cy="553720"/>
          </a:xfrm>
          <a:prstGeom prst="rect">
            <a:avLst/>
          </a:prstGeom>
          <a:solidFill>
            <a:srgbClr val="00FF9C">
              <a:alpha val="10000"/>
            </a:srgbClr>
          </a:solidFill>
          <a:ln w="9144">
            <a:solidFill>
              <a:srgbClr val="00FF9C"/>
            </a:solidFill>
            <a:prstDash val="solid"/>
          </a:ln>
        </p:spPr>
      </p:sp>
      <p:pic>
        <p:nvPicPr>
          <p:cNvPr id="39" name="Image 10" descr="preencoded.png"/>
          <p:cNvPicPr>
            <a:picLocks noChangeAspect="1"/>
          </p:cNvPicPr>
          <p:nvPr/>
        </p:nvPicPr>
        <p:blipFill>
          <a:blip r:embed="rId11"/>
          <a:stretch>
            <a:fillRect/>
          </a:stretch>
        </p:blipFill>
        <p:spPr>
          <a:xfrm>
            <a:off x="3119437" y="6234112"/>
            <a:ext cx="166688" cy="190500"/>
          </a:xfrm>
          <a:prstGeom prst="rect">
            <a:avLst/>
          </a:prstGeom>
        </p:spPr>
      </p:pic>
      <p:sp>
        <p:nvSpPr>
          <p:cNvPr id="40" name="Text 27"/>
          <p:cNvSpPr/>
          <p:nvPr/>
        </p:nvSpPr>
        <p:spPr>
          <a:xfrm>
            <a:off x="3331369" y="6200775"/>
            <a:ext cx="2219325" cy="215265"/>
          </a:xfrm>
          <a:prstGeom prst="rect">
            <a:avLst/>
          </a:prstGeom>
          <a:noFill/>
        </p:spPr>
        <p:txBody>
          <a:bodyPr wrap="square" lIns="0" tIns="0" rIns="0" bIns="0" rtlCol="0" anchor="t">
            <a:spAutoFit/>
          </a:bodyPr>
          <a:lstStyle/>
          <a:p>
            <a:pPr marL="0" indent="0" algn="ctr">
              <a:buNone/>
            </a:pPr>
            <a:r>
              <a:rPr lang="en-US" sz="1400" dirty="0">
                <a:solidFill>
                  <a:srgbClr val="00FF9C"/>
                </a:solidFill>
                <a:latin typeface="Poppins SemiBold" pitchFamily="34" charset="0"/>
                <a:ea typeface="Poppins SemiBold" pitchFamily="34" charset="-122"/>
                <a:cs typeface="Poppins SemiBold" pitchFamily="34" charset="-120"/>
              </a:rPr>
              <a:t>Bring your solutions to</a:t>
            </a:r>
            <a:endParaRPr lang="en-US" sz="1400" dirty="0"/>
          </a:p>
        </p:txBody>
      </p:sp>
      <p:sp>
        <p:nvSpPr>
          <p:cNvPr id="41" name="Text 28"/>
          <p:cNvSpPr/>
          <p:nvPr/>
        </p:nvSpPr>
        <p:spPr>
          <a:xfrm>
            <a:off x="5609272" y="6200775"/>
            <a:ext cx="421005" cy="205740"/>
          </a:xfrm>
          <a:prstGeom prst="rect">
            <a:avLst/>
          </a:prstGeom>
          <a:noFill/>
        </p:spPr>
        <p:txBody>
          <a:bodyPr wrap="none" lIns="0" tIns="0" rIns="0" bIns="0" rtlCol="0" anchor="t">
            <a:spAutoFit/>
          </a:bodyPr>
          <a:lstStyle/>
          <a:p>
            <a:pPr marL="0" indent="0" algn="ctr">
              <a:buNone/>
            </a:pPr>
            <a:r>
              <a:rPr lang="en-US" sz="1335" b="1" dirty="0">
                <a:solidFill>
                  <a:srgbClr val="00FF9C"/>
                </a:solidFill>
                <a:latin typeface="Poppins SemiBold" pitchFamily="34" charset="0"/>
                <a:ea typeface="Poppins SemiBold" pitchFamily="34" charset="-122"/>
                <a:cs typeface="Poppins SemiBold" pitchFamily="34" charset="-120"/>
              </a:rPr>
              <a:t>Day 2</a:t>
            </a:r>
            <a:endParaRPr lang="en-US" sz="1335" dirty="0"/>
          </a:p>
        </p:txBody>
      </p:sp>
      <p:sp>
        <p:nvSpPr>
          <p:cNvPr id="42" name="Text 29"/>
          <p:cNvSpPr/>
          <p:nvPr/>
        </p:nvSpPr>
        <p:spPr>
          <a:xfrm>
            <a:off x="6088856" y="6200775"/>
            <a:ext cx="2983707" cy="215265"/>
          </a:xfrm>
          <a:prstGeom prst="rect">
            <a:avLst/>
          </a:prstGeom>
          <a:noFill/>
        </p:spPr>
        <p:txBody>
          <a:bodyPr wrap="square" lIns="0" tIns="0" rIns="0" bIns="0" rtlCol="0" anchor="t">
            <a:spAutoFit/>
          </a:bodyPr>
          <a:lstStyle/>
          <a:p>
            <a:pPr marL="0" indent="0" algn="ctr">
              <a:buNone/>
            </a:pPr>
            <a:r>
              <a:rPr lang="en-US" sz="1400" dirty="0">
                <a:solidFill>
                  <a:srgbClr val="00FF9C"/>
                </a:solidFill>
                <a:latin typeface="Poppins SemiBold" pitchFamily="34" charset="0"/>
                <a:ea typeface="Poppins SemiBold" pitchFamily="34" charset="-122"/>
                <a:cs typeface="Poppins SemiBold" pitchFamily="34" charset="-120"/>
              </a:rPr>
              <a:t>. We will review them together!</a:t>
            </a:r>
            <a:endParaRPr lang="en-US" sz="1400"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34290" y="0"/>
            <a:ext cx="12192000" cy="6858000"/>
          </a:xfrm>
          <a:prstGeom prst="rect">
            <a:avLst/>
          </a:prstGeom>
        </p:spPr>
      </p:pic>
      <p:sp>
        <p:nvSpPr>
          <p:cNvPr id="3" name="Text 0"/>
          <p:cNvSpPr/>
          <p:nvPr/>
        </p:nvSpPr>
        <p:spPr>
          <a:xfrm>
            <a:off x="2987279" y="1009651"/>
            <a:ext cx="6217444" cy="852170"/>
          </a:xfrm>
          <a:prstGeom prst="rect">
            <a:avLst/>
          </a:prstGeom>
          <a:noFill/>
        </p:spPr>
        <p:txBody>
          <a:bodyPr wrap="square" lIns="0" tIns="0" rIns="0" bIns="0" rtlCol="0" anchor="t">
            <a:spAutoFit/>
          </a:bodyPr>
          <a:lstStyle/>
          <a:p>
            <a:pPr marL="0" indent="0" algn="ctr">
              <a:buNone/>
            </a:pPr>
            <a:r>
              <a:rPr lang="en-US" sz="5535" b="1" kern="0" spc="-2" dirty="0">
                <a:solidFill>
                  <a:srgbClr val="00FF9C"/>
                </a:solidFill>
                <a:latin typeface="Poppins ExtraBold" pitchFamily="34" charset="0"/>
                <a:ea typeface="Poppins ExtraBold" pitchFamily="34" charset="-122"/>
                <a:cs typeface="Poppins ExtraBold" pitchFamily="34" charset="-120"/>
              </a:rPr>
              <a:t>See you on Day 2</a:t>
            </a:r>
            <a:endParaRPr lang="en-US" sz="5535" dirty="0"/>
          </a:p>
        </p:txBody>
      </p:sp>
      <p:sp>
        <p:nvSpPr>
          <p:cNvPr id="4" name="Text 1"/>
          <p:cNvSpPr/>
          <p:nvPr/>
        </p:nvSpPr>
        <p:spPr>
          <a:xfrm>
            <a:off x="1599009" y="2247900"/>
            <a:ext cx="8993981" cy="348615"/>
          </a:xfrm>
          <a:prstGeom prst="rect">
            <a:avLst/>
          </a:prstGeom>
          <a:noFill/>
        </p:spPr>
        <p:txBody>
          <a:bodyPr wrap="square" lIns="0" tIns="0" rIns="0" bIns="0" rtlCol="0" anchor="t">
            <a:spAutoFit/>
          </a:bodyPr>
          <a:lstStyle/>
          <a:p>
            <a:pPr marL="0" indent="0" algn="ctr">
              <a:buNone/>
            </a:pPr>
            <a:r>
              <a:rPr lang="en-US" sz="2265" dirty="0">
                <a:solidFill>
                  <a:srgbClr val="58A6FF"/>
                </a:solidFill>
                <a:latin typeface="Poppins SemiBold" pitchFamily="34" charset="0"/>
                <a:ea typeface="Poppins SemiBold" pitchFamily="34" charset="-122"/>
                <a:cs typeface="Poppins SemiBold" pitchFamily="34" charset="-120"/>
              </a:rPr>
              <a:t>Coming up: Steganography — hiding secrets in plain sight</a:t>
            </a:r>
            <a:endParaRPr lang="en-US" sz="2265" dirty="0"/>
          </a:p>
        </p:txBody>
      </p:sp>
      <p:sp>
        <p:nvSpPr>
          <p:cNvPr id="5" name="Shape 2"/>
          <p:cNvSpPr/>
          <p:nvPr/>
        </p:nvSpPr>
        <p:spPr>
          <a:xfrm>
            <a:off x="1724025" y="3181351"/>
            <a:ext cx="1666875" cy="347663"/>
          </a:xfrm>
          <a:prstGeom prst="rect">
            <a:avLst/>
          </a:prstGeom>
          <a:solidFill>
            <a:srgbClr val="161B22"/>
          </a:solidFill>
          <a:ln w="9144">
            <a:solidFill>
              <a:srgbClr val="30363D"/>
            </a:solidFill>
            <a:prstDash val="solid"/>
          </a:ln>
        </p:spPr>
      </p:sp>
      <p:pic>
        <p:nvPicPr>
          <p:cNvPr id="6" name="Image 1" descr="preencoded.png"/>
          <p:cNvPicPr>
            <a:picLocks noChangeAspect="1"/>
          </p:cNvPicPr>
          <p:nvPr/>
        </p:nvPicPr>
        <p:blipFill>
          <a:blip r:embed="rId2"/>
          <a:stretch>
            <a:fillRect/>
          </a:stretch>
        </p:blipFill>
        <p:spPr>
          <a:xfrm>
            <a:off x="1876425" y="3288507"/>
            <a:ext cx="133351" cy="133351"/>
          </a:xfrm>
          <a:prstGeom prst="rect">
            <a:avLst/>
          </a:prstGeom>
        </p:spPr>
      </p:pic>
      <p:sp>
        <p:nvSpPr>
          <p:cNvPr id="7" name="Text 3"/>
          <p:cNvSpPr/>
          <p:nvPr/>
        </p:nvSpPr>
        <p:spPr>
          <a:xfrm>
            <a:off x="2197100" y="3267075"/>
            <a:ext cx="949325" cy="153670"/>
          </a:xfrm>
          <a:prstGeom prst="rect">
            <a:avLst/>
          </a:prstGeom>
          <a:noFill/>
        </p:spPr>
        <p:txBody>
          <a:bodyPr wrap="none" lIns="0" tIns="0" rIns="0" bIns="0" rtlCol="0" anchor="t">
            <a:spAutoFit/>
          </a:bodyPr>
          <a:lstStyle/>
          <a:p>
            <a:pPr marL="0" indent="0" algn="ctr">
              <a:buNone/>
            </a:pPr>
            <a:r>
              <a:rPr lang="en-US" sz="1000" dirty="0">
                <a:solidFill>
                  <a:srgbClr val="8B949E"/>
                </a:solidFill>
                <a:latin typeface="JetBrains Mono Medium" pitchFamily="34" charset="0"/>
                <a:ea typeface="JetBrains Mono Medium" pitchFamily="34" charset="-122"/>
                <a:cs typeface="JetBrains Mono Medium" pitchFamily="34" charset="-120"/>
              </a:rPr>
              <a:t>Number Systems</a:t>
            </a:r>
            <a:endParaRPr lang="en-US" sz="1000" dirty="0"/>
          </a:p>
        </p:txBody>
      </p:sp>
      <p:sp>
        <p:nvSpPr>
          <p:cNvPr id="8" name="Shape 4"/>
          <p:cNvSpPr/>
          <p:nvPr/>
        </p:nvSpPr>
        <p:spPr>
          <a:xfrm>
            <a:off x="3524251" y="3181351"/>
            <a:ext cx="1181100" cy="347663"/>
          </a:xfrm>
          <a:prstGeom prst="rect">
            <a:avLst/>
          </a:prstGeom>
          <a:solidFill>
            <a:srgbClr val="161B22"/>
          </a:solidFill>
          <a:ln w="9144">
            <a:solidFill>
              <a:srgbClr val="30363D"/>
            </a:solidFill>
            <a:prstDash val="solid"/>
          </a:ln>
        </p:spPr>
      </p:sp>
      <p:pic>
        <p:nvPicPr>
          <p:cNvPr id="9" name="Image 2" descr="preencoded.png"/>
          <p:cNvPicPr>
            <a:picLocks noChangeAspect="1"/>
          </p:cNvPicPr>
          <p:nvPr/>
        </p:nvPicPr>
        <p:blipFill>
          <a:blip r:embed="rId2"/>
          <a:stretch>
            <a:fillRect/>
          </a:stretch>
        </p:blipFill>
        <p:spPr>
          <a:xfrm>
            <a:off x="3676651" y="3288507"/>
            <a:ext cx="133351" cy="133351"/>
          </a:xfrm>
          <a:prstGeom prst="rect">
            <a:avLst/>
          </a:prstGeom>
        </p:spPr>
      </p:pic>
      <p:sp>
        <p:nvSpPr>
          <p:cNvPr id="10" name="Text 5"/>
          <p:cNvSpPr/>
          <p:nvPr/>
        </p:nvSpPr>
        <p:spPr>
          <a:xfrm>
            <a:off x="3976688" y="3267075"/>
            <a:ext cx="504825" cy="153670"/>
          </a:xfrm>
          <a:prstGeom prst="rect">
            <a:avLst/>
          </a:prstGeom>
          <a:noFill/>
        </p:spPr>
        <p:txBody>
          <a:bodyPr wrap="none" lIns="0" tIns="0" rIns="0" bIns="0" rtlCol="0" anchor="t">
            <a:spAutoFit/>
          </a:bodyPr>
          <a:lstStyle/>
          <a:p>
            <a:pPr marL="0" indent="0" algn="ctr">
              <a:buNone/>
            </a:pPr>
            <a:r>
              <a:rPr lang="en-US" sz="1000" dirty="0">
                <a:solidFill>
                  <a:srgbClr val="8B949E"/>
                </a:solidFill>
                <a:latin typeface="JetBrains Mono Medium" pitchFamily="34" charset="0"/>
                <a:ea typeface="JetBrains Mono Medium" pitchFamily="34" charset="-122"/>
                <a:cs typeface="JetBrains Mono Medium" pitchFamily="34" charset="-120"/>
              </a:rPr>
              <a:t>Encoding</a:t>
            </a:r>
            <a:endParaRPr lang="en-US" sz="1000" dirty="0"/>
          </a:p>
        </p:txBody>
      </p:sp>
      <p:sp>
        <p:nvSpPr>
          <p:cNvPr id="11" name="Shape 6"/>
          <p:cNvSpPr/>
          <p:nvPr/>
        </p:nvSpPr>
        <p:spPr>
          <a:xfrm>
            <a:off x="4838700" y="3181351"/>
            <a:ext cx="1909763" cy="347663"/>
          </a:xfrm>
          <a:prstGeom prst="rect">
            <a:avLst/>
          </a:prstGeom>
          <a:solidFill>
            <a:srgbClr val="161B22"/>
          </a:solidFill>
          <a:ln w="9144">
            <a:solidFill>
              <a:srgbClr val="30363D"/>
            </a:solidFill>
            <a:prstDash val="solid"/>
          </a:ln>
        </p:spPr>
      </p:sp>
      <p:pic>
        <p:nvPicPr>
          <p:cNvPr id="12" name="Image 3" descr="preencoded.png"/>
          <p:cNvPicPr>
            <a:picLocks noChangeAspect="1"/>
          </p:cNvPicPr>
          <p:nvPr/>
        </p:nvPicPr>
        <p:blipFill>
          <a:blip r:embed="rId2"/>
          <a:stretch>
            <a:fillRect/>
          </a:stretch>
        </p:blipFill>
        <p:spPr>
          <a:xfrm>
            <a:off x="4991100" y="3288507"/>
            <a:ext cx="133351" cy="133351"/>
          </a:xfrm>
          <a:prstGeom prst="rect">
            <a:avLst/>
          </a:prstGeom>
        </p:spPr>
      </p:pic>
      <p:sp>
        <p:nvSpPr>
          <p:cNvPr id="13" name="Text 7"/>
          <p:cNvSpPr/>
          <p:nvPr/>
        </p:nvSpPr>
        <p:spPr>
          <a:xfrm>
            <a:off x="5445919" y="3267075"/>
            <a:ext cx="923925" cy="153670"/>
          </a:xfrm>
          <a:prstGeom prst="rect">
            <a:avLst/>
          </a:prstGeom>
          <a:noFill/>
        </p:spPr>
        <p:txBody>
          <a:bodyPr wrap="none" lIns="0" tIns="0" rIns="0" bIns="0" rtlCol="0" anchor="t">
            <a:spAutoFit/>
          </a:bodyPr>
          <a:lstStyle/>
          <a:p>
            <a:pPr marL="0" indent="0" algn="ctr">
              <a:buNone/>
            </a:pPr>
            <a:r>
              <a:rPr lang="en-US" sz="1000" dirty="0">
                <a:solidFill>
                  <a:srgbClr val="8B949E"/>
                </a:solidFill>
                <a:latin typeface="JetBrains Mono Medium" pitchFamily="34" charset="0"/>
                <a:ea typeface="JetBrains Mono Medium" pitchFamily="34" charset="-122"/>
                <a:cs typeface="JetBrains Mono Medium" pitchFamily="34" charset="-120"/>
              </a:rPr>
              <a:t>Classical Ciphers</a:t>
            </a:r>
            <a:endParaRPr lang="en-US" sz="1000" dirty="0"/>
          </a:p>
        </p:txBody>
      </p:sp>
      <p:sp>
        <p:nvSpPr>
          <p:cNvPr id="14" name="Shape 8"/>
          <p:cNvSpPr/>
          <p:nvPr/>
        </p:nvSpPr>
        <p:spPr>
          <a:xfrm>
            <a:off x="6881812" y="3181351"/>
            <a:ext cx="1666875" cy="347663"/>
          </a:xfrm>
          <a:prstGeom prst="rect">
            <a:avLst/>
          </a:prstGeom>
          <a:solidFill>
            <a:srgbClr val="161B22"/>
          </a:solidFill>
          <a:ln w="9144">
            <a:solidFill>
              <a:srgbClr val="30363D"/>
            </a:solidFill>
            <a:prstDash val="solid"/>
          </a:ln>
        </p:spPr>
      </p:sp>
      <p:pic>
        <p:nvPicPr>
          <p:cNvPr id="15" name="Image 4" descr="preencoded.png"/>
          <p:cNvPicPr>
            <a:picLocks noChangeAspect="1"/>
          </p:cNvPicPr>
          <p:nvPr/>
        </p:nvPicPr>
        <p:blipFill>
          <a:blip r:embed="rId3"/>
          <a:stretch>
            <a:fillRect/>
          </a:stretch>
        </p:blipFill>
        <p:spPr>
          <a:xfrm>
            <a:off x="7034212" y="3288507"/>
            <a:ext cx="133351" cy="133351"/>
          </a:xfrm>
          <a:prstGeom prst="rect">
            <a:avLst/>
          </a:prstGeom>
        </p:spPr>
      </p:pic>
      <p:sp>
        <p:nvSpPr>
          <p:cNvPr id="16" name="Text 9"/>
          <p:cNvSpPr/>
          <p:nvPr/>
        </p:nvSpPr>
        <p:spPr>
          <a:xfrm>
            <a:off x="7385367" y="3267075"/>
            <a:ext cx="888365" cy="153670"/>
          </a:xfrm>
          <a:prstGeom prst="rect">
            <a:avLst/>
          </a:prstGeom>
          <a:noFill/>
        </p:spPr>
        <p:txBody>
          <a:bodyPr wrap="none" lIns="0" tIns="0" rIns="0" bIns="0" rtlCol="0" anchor="t">
            <a:spAutoFit/>
          </a:bodyPr>
          <a:lstStyle/>
          <a:p>
            <a:pPr marL="0" indent="0" algn="ctr">
              <a:buNone/>
            </a:pPr>
            <a:r>
              <a:rPr lang="en-US" sz="1000" dirty="0">
                <a:solidFill>
                  <a:srgbClr val="8B949E"/>
                </a:solidFill>
                <a:latin typeface="JetBrains Mono Medium" pitchFamily="34" charset="0"/>
                <a:ea typeface="JetBrains Mono Medium" pitchFamily="34" charset="-122"/>
                <a:cs typeface="JetBrains Mono Medium" pitchFamily="34" charset="-120"/>
              </a:rPr>
              <a:t>XOR Operations</a:t>
            </a:r>
            <a:endParaRPr lang="en-US" sz="1000" dirty="0"/>
          </a:p>
        </p:txBody>
      </p:sp>
      <p:sp>
        <p:nvSpPr>
          <p:cNvPr id="17" name="Shape 10"/>
          <p:cNvSpPr/>
          <p:nvPr/>
        </p:nvSpPr>
        <p:spPr>
          <a:xfrm>
            <a:off x="8682037" y="3181351"/>
            <a:ext cx="1747837" cy="347663"/>
          </a:xfrm>
          <a:prstGeom prst="rect">
            <a:avLst/>
          </a:prstGeom>
          <a:solidFill>
            <a:srgbClr val="161B22"/>
          </a:solidFill>
          <a:ln w="9144">
            <a:solidFill>
              <a:srgbClr val="30363D"/>
            </a:solidFill>
            <a:prstDash val="solid"/>
          </a:ln>
        </p:spPr>
      </p:sp>
      <p:pic>
        <p:nvPicPr>
          <p:cNvPr id="18" name="Image 5" descr="preencoded.png"/>
          <p:cNvPicPr>
            <a:picLocks noChangeAspect="1"/>
          </p:cNvPicPr>
          <p:nvPr/>
        </p:nvPicPr>
        <p:blipFill>
          <a:blip r:embed="rId3"/>
          <a:stretch>
            <a:fillRect/>
          </a:stretch>
        </p:blipFill>
        <p:spPr>
          <a:xfrm>
            <a:off x="8834437" y="3288507"/>
            <a:ext cx="133351" cy="133351"/>
          </a:xfrm>
          <a:prstGeom prst="rect">
            <a:avLst/>
          </a:prstGeom>
        </p:spPr>
      </p:pic>
      <p:sp>
        <p:nvSpPr>
          <p:cNvPr id="19" name="Text 11"/>
          <p:cNvSpPr/>
          <p:nvPr/>
        </p:nvSpPr>
        <p:spPr>
          <a:xfrm>
            <a:off x="9204801" y="3267075"/>
            <a:ext cx="930910" cy="153670"/>
          </a:xfrm>
          <a:prstGeom prst="rect">
            <a:avLst/>
          </a:prstGeom>
          <a:noFill/>
        </p:spPr>
        <p:txBody>
          <a:bodyPr wrap="none" lIns="0" tIns="0" rIns="0" bIns="0" rtlCol="0" anchor="t">
            <a:spAutoFit/>
          </a:bodyPr>
          <a:lstStyle/>
          <a:p>
            <a:pPr marL="0" indent="0" algn="ctr">
              <a:buNone/>
            </a:pPr>
            <a:r>
              <a:rPr lang="en-US" sz="1000" dirty="0">
                <a:solidFill>
                  <a:srgbClr val="8B949E"/>
                </a:solidFill>
                <a:latin typeface="JetBrains Mono Medium" pitchFamily="34" charset="0"/>
                <a:ea typeface="JetBrains Mono Medium" pitchFamily="34" charset="-122"/>
                <a:cs typeface="JetBrains Mono Medium" pitchFamily="34" charset="-120"/>
              </a:rPr>
              <a:t>Symmetric (AES)</a:t>
            </a:r>
            <a:endParaRPr lang="en-US" sz="1000" dirty="0"/>
          </a:p>
        </p:txBody>
      </p:sp>
      <p:sp>
        <p:nvSpPr>
          <p:cNvPr id="20" name="Shape 12"/>
          <p:cNvSpPr/>
          <p:nvPr/>
        </p:nvSpPr>
        <p:spPr>
          <a:xfrm>
            <a:off x="3493293" y="3662363"/>
            <a:ext cx="1828800" cy="347663"/>
          </a:xfrm>
          <a:prstGeom prst="rect">
            <a:avLst/>
          </a:prstGeom>
          <a:solidFill>
            <a:srgbClr val="161B22"/>
          </a:solidFill>
          <a:ln w="9144">
            <a:solidFill>
              <a:srgbClr val="30363D"/>
            </a:solidFill>
            <a:prstDash val="solid"/>
          </a:ln>
        </p:spPr>
      </p:sp>
      <p:pic>
        <p:nvPicPr>
          <p:cNvPr id="21" name="Image 6" descr="preencoded.png"/>
          <p:cNvPicPr>
            <a:picLocks noChangeAspect="1"/>
          </p:cNvPicPr>
          <p:nvPr/>
        </p:nvPicPr>
        <p:blipFill>
          <a:blip r:embed="rId4"/>
          <a:stretch>
            <a:fillRect/>
          </a:stretch>
        </p:blipFill>
        <p:spPr>
          <a:xfrm>
            <a:off x="3645693" y="3769519"/>
            <a:ext cx="133351" cy="133351"/>
          </a:xfrm>
          <a:prstGeom prst="rect">
            <a:avLst/>
          </a:prstGeom>
        </p:spPr>
      </p:pic>
      <p:sp>
        <p:nvSpPr>
          <p:cNvPr id="22" name="Text 13"/>
          <p:cNvSpPr/>
          <p:nvPr/>
        </p:nvSpPr>
        <p:spPr>
          <a:xfrm>
            <a:off x="4018121" y="3748088"/>
            <a:ext cx="1007745" cy="153670"/>
          </a:xfrm>
          <a:prstGeom prst="rect">
            <a:avLst/>
          </a:prstGeom>
          <a:noFill/>
        </p:spPr>
        <p:txBody>
          <a:bodyPr wrap="none" lIns="0" tIns="0" rIns="0" bIns="0" rtlCol="0" anchor="t">
            <a:spAutoFit/>
          </a:bodyPr>
          <a:lstStyle/>
          <a:p>
            <a:pPr marL="0" indent="0" algn="ctr">
              <a:buNone/>
            </a:pPr>
            <a:r>
              <a:rPr lang="en-US" sz="1000" dirty="0">
                <a:solidFill>
                  <a:srgbClr val="8B949E"/>
                </a:solidFill>
                <a:latin typeface="JetBrains Mono Medium" pitchFamily="34" charset="0"/>
                <a:ea typeface="JetBrains Mono Medium" pitchFamily="34" charset="-122"/>
                <a:cs typeface="JetBrains Mono Medium" pitchFamily="34" charset="-120"/>
              </a:rPr>
              <a:t>Asymmetric (RSA)</a:t>
            </a:r>
            <a:endParaRPr lang="en-US" sz="1000" dirty="0"/>
          </a:p>
        </p:txBody>
      </p:sp>
      <p:sp>
        <p:nvSpPr>
          <p:cNvPr id="23" name="Shape 14"/>
          <p:cNvSpPr/>
          <p:nvPr/>
        </p:nvSpPr>
        <p:spPr>
          <a:xfrm>
            <a:off x="5455444" y="3662363"/>
            <a:ext cx="1100137" cy="347663"/>
          </a:xfrm>
          <a:prstGeom prst="rect">
            <a:avLst/>
          </a:prstGeom>
          <a:solidFill>
            <a:srgbClr val="161B22"/>
          </a:solidFill>
          <a:ln w="9144">
            <a:solidFill>
              <a:srgbClr val="30363D"/>
            </a:solidFill>
            <a:prstDash val="solid"/>
          </a:ln>
        </p:spPr>
      </p:sp>
      <p:pic>
        <p:nvPicPr>
          <p:cNvPr id="24" name="Image 7" descr="preencoded.png"/>
          <p:cNvPicPr>
            <a:picLocks noChangeAspect="1"/>
          </p:cNvPicPr>
          <p:nvPr/>
        </p:nvPicPr>
        <p:blipFill>
          <a:blip r:embed="rId4"/>
          <a:stretch>
            <a:fillRect/>
          </a:stretch>
        </p:blipFill>
        <p:spPr>
          <a:xfrm>
            <a:off x="5607844" y="3769519"/>
            <a:ext cx="133351" cy="133351"/>
          </a:xfrm>
          <a:prstGeom prst="rect">
            <a:avLst/>
          </a:prstGeom>
        </p:spPr>
      </p:pic>
      <p:sp>
        <p:nvSpPr>
          <p:cNvPr id="25" name="Text 15"/>
          <p:cNvSpPr/>
          <p:nvPr/>
        </p:nvSpPr>
        <p:spPr>
          <a:xfrm>
            <a:off x="5894705" y="3748088"/>
            <a:ext cx="450215" cy="153670"/>
          </a:xfrm>
          <a:prstGeom prst="rect">
            <a:avLst/>
          </a:prstGeom>
          <a:noFill/>
        </p:spPr>
        <p:txBody>
          <a:bodyPr wrap="none" lIns="0" tIns="0" rIns="0" bIns="0" rtlCol="0" anchor="t">
            <a:spAutoFit/>
          </a:bodyPr>
          <a:lstStyle/>
          <a:p>
            <a:pPr marL="0" indent="0" algn="ctr">
              <a:buNone/>
            </a:pPr>
            <a:r>
              <a:rPr lang="en-US" sz="1000" dirty="0">
                <a:solidFill>
                  <a:srgbClr val="8B949E"/>
                </a:solidFill>
                <a:latin typeface="JetBrains Mono Medium" pitchFamily="34" charset="0"/>
                <a:ea typeface="JetBrains Mono Medium" pitchFamily="34" charset="-122"/>
                <a:cs typeface="JetBrains Mono Medium" pitchFamily="34" charset="-120"/>
              </a:rPr>
              <a:t>Hashing</a:t>
            </a:r>
            <a:endParaRPr lang="en-US" sz="1000" dirty="0"/>
          </a:p>
        </p:txBody>
      </p:sp>
      <p:sp>
        <p:nvSpPr>
          <p:cNvPr id="26" name="Shape 16"/>
          <p:cNvSpPr/>
          <p:nvPr/>
        </p:nvSpPr>
        <p:spPr>
          <a:xfrm>
            <a:off x="6688931" y="3662363"/>
            <a:ext cx="1990725" cy="347663"/>
          </a:xfrm>
          <a:prstGeom prst="rect">
            <a:avLst/>
          </a:prstGeom>
          <a:solidFill>
            <a:srgbClr val="161B22"/>
          </a:solidFill>
          <a:ln w="9144">
            <a:solidFill>
              <a:srgbClr val="30363D"/>
            </a:solidFill>
            <a:prstDash val="solid"/>
          </a:ln>
        </p:spPr>
      </p:sp>
      <p:pic>
        <p:nvPicPr>
          <p:cNvPr id="27" name="Image 8" descr="preencoded.png"/>
          <p:cNvPicPr>
            <a:picLocks noChangeAspect="1"/>
          </p:cNvPicPr>
          <p:nvPr/>
        </p:nvPicPr>
        <p:blipFill>
          <a:blip r:embed="rId5"/>
          <a:stretch>
            <a:fillRect/>
          </a:stretch>
        </p:blipFill>
        <p:spPr>
          <a:xfrm>
            <a:off x="6841331" y="3769519"/>
            <a:ext cx="133351" cy="133351"/>
          </a:xfrm>
          <a:prstGeom prst="rect">
            <a:avLst/>
          </a:prstGeom>
        </p:spPr>
      </p:pic>
      <p:sp>
        <p:nvSpPr>
          <p:cNvPr id="28" name="Text 17"/>
          <p:cNvSpPr/>
          <p:nvPr/>
        </p:nvSpPr>
        <p:spPr>
          <a:xfrm>
            <a:off x="7310596" y="3748088"/>
            <a:ext cx="975995" cy="153670"/>
          </a:xfrm>
          <a:prstGeom prst="rect">
            <a:avLst/>
          </a:prstGeom>
          <a:noFill/>
        </p:spPr>
        <p:txBody>
          <a:bodyPr wrap="none" lIns="0" tIns="0" rIns="0" bIns="0" rtlCol="0" anchor="t">
            <a:spAutoFit/>
          </a:bodyPr>
          <a:lstStyle/>
          <a:p>
            <a:pPr marL="0" indent="0" algn="ctr">
              <a:buNone/>
            </a:pPr>
            <a:r>
              <a:rPr lang="en-US" sz="1000" dirty="0">
                <a:solidFill>
                  <a:srgbClr val="8B949E"/>
                </a:solidFill>
                <a:latin typeface="JetBrains Mono Medium" pitchFamily="34" charset="0"/>
                <a:ea typeface="JetBrains Mono Medium" pitchFamily="34" charset="-122"/>
                <a:cs typeface="JetBrains Mono Medium" pitchFamily="34" charset="-120"/>
              </a:rPr>
              <a:t>Digital Signatures</a:t>
            </a:r>
            <a:endParaRPr lang="en-US" sz="1000" dirty="0"/>
          </a:p>
        </p:txBody>
      </p:sp>
      <p:sp>
        <p:nvSpPr>
          <p:cNvPr id="29" name="Text 18"/>
          <p:cNvSpPr/>
          <p:nvPr/>
        </p:nvSpPr>
        <p:spPr>
          <a:xfrm>
            <a:off x="2286000" y="4572000"/>
            <a:ext cx="7620000" cy="615315"/>
          </a:xfrm>
          <a:prstGeom prst="rect">
            <a:avLst/>
          </a:prstGeom>
          <a:noFill/>
        </p:spPr>
        <p:txBody>
          <a:bodyPr wrap="square" lIns="0" tIns="0" rIns="0" bIns="0" rtlCol="0" anchor="t">
            <a:spAutoFit/>
          </a:bodyPr>
          <a:lstStyle/>
          <a:p>
            <a:pPr marL="0" indent="0" algn="ctr">
              <a:lnSpc>
                <a:spcPct val="120000"/>
              </a:lnSpc>
              <a:buNone/>
            </a:pPr>
            <a:r>
              <a:rPr lang="en-US" sz="1665" i="1" dirty="0">
                <a:solidFill>
                  <a:srgbClr val="E6EDF3"/>
                </a:solidFill>
                <a:latin typeface="Poppins" pitchFamily="34" charset="0"/>
                <a:ea typeface="Poppins" pitchFamily="34" charset="-122"/>
                <a:cs typeface="Poppins" pitchFamily="34" charset="-120"/>
              </a:rPr>
              <a:t>"Cryptography is not about making things complicated. It's about making the right things simple."</a:t>
            </a:r>
            <a:endParaRPr lang="en-US" sz="1665" dirty="0"/>
          </a:p>
        </p:txBody>
      </p:sp>
      <p:sp>
        <p:nvSpPr>
          <p:cNvPr id="30" name="Text 19"/>
          <p:cNvSpPr/>
          <p:nvPr/>
        </p:nvSpPr>
        <p:spPr>
          <a:xfrm>
            <a:off x="1777524" y="4191000"/>
            <a:ext cx="602615" cy="1354455"/>
          </a:xfrm>
          <a:prstGeom prst="rect">
            <a:avLst/>
          </a:prstGeom>
          <a:noFill/>
        </p:spPr>
        <p:txBody>
          <a:bodyPr wrap="none" lIns="0" tIns="0" rIns="0" bIns="0" rtlCol="0" anchor="t">
            <a:spAutoFit/>
          </a:bodyPr>
          <a:lstStyle/>
          <a:p>
            <a:pPr marL="0" indent="0" algn="ctr">
              <a:lnSpc>
                <a:spcPct val="120000"/>
              </a:lnSpc>
              <a:buNone/>
            </a:pPr>
            <a:r>
              <a:rPr lang="en-US" sz="7335" i="1" dirty="0">
                <a:solidFill>
                  <a:srgbClr val="00FF9C">
                    <a:alpha val="10000"/>
                  </a:srgbClr>
                </a:solidFill>
                <a:latin typeface="Poppins" pitchFamily="34" charset="0"/>
                <a:ea typeface="Poppins" pitchFamily="34" charset="-122"/>
                <a:cs typeface="Poppins" pitchFamily="34" charset="-120"/>
              </a:rPr>
              <a:t>\"</a:t>
            </a:r>
            <a:endParaRPr lang="en-US" sz="7335" dirty="0"/>
          </a:p>
        </p:txBody>
      </p:sp>
      <p:sp>
        <p:nvSpPr>
          <p:cNvPr id="31" name="Text 20"/>
          <p:cNvSpPr/>
          <p:nvPr/>
        </p:nvSpPr>
        <p:spPr>
          <a:xfrm>
            <a:off x="591503" y="6276975"/>
            <a:ext cx="502920" cy="163830"/>
          </a:xfrm>
          <a:prstGeom prst="rect">
            <a:avLst/>
          </a:prstGeom>
          <a:noFill/>
        </p:spPr>
        <p:txBody>
          <a:bodyPr wrap="none" lIns="0" tIns="0" rIns="0" bIns="0" rtlCol="0" anchor="t">
            <a:spAutoFit/>
          </a:bodyPr>
          <a:lstStyle/>
          <a:p>
            <a:pPr marL="0" indent="0" algn="ctr">
              <a:buNone/>
            </a:pPr>
            <a:r>
              <a:rPr lang="en-US" sz="1065" b="1" dirty="0">
                <a:solidFill>
                  <a:srgbClr val="00FF9C"/>
                </a:solidFill>
                <a:latin typeface="JetBrains Mono Medium" pitchFamily="34" charset="0"/>
                <a:ea typeface="JetBrains Mono Medium" pitchFamily="34" charset="-122"/>
                <a:cs typeface="JetBrains Mono Medium" pitchFamily="34" charset="-120"/>
              </a:rPr>
              <a:t>EWUCSC</a:t>
            </a:r>
            <a:endParaRPr lang="en-US" sz="1065" dirty="0"/>
          </a:p>
        </p:txBody>
      </p:sp>
      <p:sp>
        <p:nvSpPr>
          <p:cNvPr id="32" name="Text 21"/>
          <p:cNvSpPr/>
          <p:nvPr/>
        </p:nvSpPr>
        <p:spPr>
          <a:xfrm>
            <a:off x="5230019" y="6276975"/>
            <a:ext cx="1279525" cy="174625"/>
          </a:xfrm>
          <a:prstGeom prst="rect">
            <a:avLst/>
          </a:prstGeom>
          <a:noFill/>
        </p:spPr>
        <p:txBody>
          <a:bodyPr wrap="none" lIns="0" tIns="0" rIns="0" bIns="0" rtlCol="0" anchor="t">
            <a:spAutoFit/>
          </a:bodyPr>
          <a:lstStyle/>
          <a:p>
            <a:pPr marL="0" indent="0" algn="ctr">
              <a:buNone/>
            </a:pPr>
            <a:r>
              <a:rPr lang="en-US" sz="1135" dirty="0">
                <a:solidFill>
                  <a:srgbClr val="8B949E"/>
                </a:solidFill>
                <a:latin typeface="JetBrains Mono Medium" pitchFamily="34" charset="0"/>
                <a:ea typeface="JetBrains Mono Medium" pitchFamily="34" charset="-122"/>
                <a:cs typeface="JetBrains Mono Medium" pitchFamily="34" charset="-120"/>
              </a:rPr>
              <a:t>ewucsc@ewubd.edu</a:t>
            </a:r>
            <a:endParaRPr lang="en-US" sz="1135" dirty="0"/>
          </a:p>
        </p:txBody>
      </p:sp>
      <p:sp>
        <p:nvSpPr>
          <p:cNvPr id="33" name="Text 22"/>
          <p:cNvSpPr/>
          <p:nvPr/>
        </p:nvSpPr>
        <p:spPr>
          <a:xfrm>
            <a:off x="10767854" y="6276975"/>
            <a:ext cx="709930" cy="174625"/>
          </a:xfrm>
          <a:prstGeom prst="rect">
            <a:avLst/>
          </a:prstGeom>
          <a:noFill/>
        </p:spPr>
        <p:txBody>
          <a:bodyPr wrap="none" lIns="0" tIns="0" rIns="0" bIns="0" rtlCol="0" anchor="t">
            <a:spAutoFit/>
          </a:bodyPr>
          <a:lstStyle/>
          <a:p>
            <a:pPr marL="0" indent="0" algn="ctr">
              <a:buNone/>
            </a:pPr>
            <a:r>
              <a:rPr lang="en-US" sz="1135" dirty="0">
                <a:solidFill>
                  <a:srgbClr val="8B949E"/>
                </a:solidFill>
                <a:latin typeface="JetBrains Mono Medium" pitchFamily="34" charset="0"/>
                <a:ea typeface="JetBrains Mono Medium" pitchFamily="34" charset="-122"/>
                <a:cs typeface="JetBrains Mono Medium" pitchFamily="34" charset="-120"/>
              </a:rPr>
              <a:t>Day 1 of 15</a:t>
            </a:r>
            <a:endParaRPr lang="en-US" sz="1135" dirty="0"/>
          </a:p>
        </p:txBody>
      </p:sp>
      <p:grpSp>
        <p:nvGrpSpPr>
          <p:cNvPr id="43" name="Group 2"/>
          <p:cNvGrpSpPr/>
          <p:nvPr/>
        </p:nvGrpSpPr>
        <p:grpSpPr>
          <a:xfrm rot="0">
            <a:off x="294640" y="194310"/>
            <a:ext cx="789305" cy="299720"/>
            <a:chOff x="0" y="0"/>
            <a:chExt cx="341337" cy="102463"/>
          </a:xfrm>
        </p:grpSpPr>
        <p:sp>
          <p:nvSpPr>
            <p:cNvPr id="44"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5" name="TextBox 4"/>
            <p:cNvSpPr txBox="1"/>
            <p:nvPr/>
          </p:nvSpPr>
          <p:spPr>
            <a:xfrm>
              <a:off x="0" y="-9525"/>
              <a:ext cx="341337" cy="111988"/>
            </a:xfrm>
            <a:prstGeom prst="rect">
              <a:avLst/>
            </a:prstGeom>
          </p:spPr>
          <p:txBody>
            <a:bodyPr lIns="50800" tIns="50800" rIns="50800" bIns="50800" rtlCol="0" anchor="ctr"/>
            <a:lstStyle/>
            <a:p>
              <a:pPr algn="ctr">
                <a:lnSpc>
                  <a:spcPts val="2275"/>
                </a:lnSpc>
              </a:pPr>
            </a:p>
          </p:txBody>
        </p:sp>
      </p:grpSp>
      <p:grpSp>
        <p:nvGrpSpPr>
          <p:cNvPr id="46" name="Group 5"/>
          <p:cNvGrpSpPr/>
          <p:nvPr/>
        </p:nvGrpSpPr>
        <p:grpSpPr>
          <a:xfrm rot="0">
            <a:off x="822325" y="209550"/>
            <a:ext cx="220980" cy="246380"/>
            <a:chOff x="0" y="0"/>
            <a:chExt cx="812800" cy="812800"/>
          </a:xfrm>
        </p:grpSpPr>
        <p:sp>
          <p:nvSpPr>
            <p:cNvPr id="47"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8" name="TextBox 7"/>
            <p:cNvSpPr txBox="1"/>
            <p:nvPr/>
          </p:nvSpPr>
          <p:spPr>
            <a:xfrm>
              <a:off x="76200" y="66675"/>
              <a:ext cx="660400" cy="669925"/>
            </a:xfrm>
            <a:prstGeom prst="rect">
              <a:avLst/>
            </a:prstGeom>
          </p:spPr>
          <p:txBody>
            <a:bodyPr lIns="50800" tIns="50800" rIns="50800" bIns="50800" rtlCol="0" anchor="ctr"/>
            <a:lstStyle/>
            <a:p>
              <a:pPr algn="ctr">
                <a:lnSpc>
                  <a:spcPts val="2275"/>
                </a:lnSpc>
              </a:pPr>
            </a:p>
          </p:txBody>
        </p:sp>
      </p:grpSp>
      <p:sp>
        <p:nvSpPr>
          <p:cNvPr id="49" name="TextBox 18"/>
          <p:cNvSpPr txBox="1"/>
          <p:nvPr/>
        </p:nvSpPr>
        <p:spPr>
          <a:xfrm>
            <a:off x="1134965" y="194254"/>
            <a:ext cx="2623169" cy="299720"/>
          </a:xfrm>
          <a:prstGeom prst="rect">
            <a:avLst/>
          </a:prstGeom>
        </p:spPr>
        <p:txBody>
          <a:bodyPr lIns="0" tIns="0" rIns="0" bIns="0" rtlCol="0" anchor="t">
            <a:spAutoFit/>
          </a:bodyPr>
          <a:lstStyle/>
          <a:p>
            <a:pPr algn="l">
              <a:lnSpc>
                <a:spcPts val="2340"/>
              </a:lnSpc>
            </a:pPr>
            <a:r>
              <a:rPr lang="en-US" sz="1600">
                <a:solidFill>
                  <a:schemeClr val="bg1"/>
                </a:solidFill>
                <a:latin typeface="Arial" panose="020B0604020202020204"/>
                <a:ea typeface="Arial" panose="020B0604020202020204"/>
                <a:cs typeface="Arial" panose="020B0604020202020204"/>
                <a:sym typeface="Arial" panose="020B0604020202020204"/>
              </a:rPr>
              <a:t>Hidden Investigations</a:t>
            </a:r>
            <a:endParaRPr lang="en-US" sz="1600">
              <a:solidFill>
                <a:schemeClr val="bg1"/>
              </a:solidFill>
              <a:latin typeface="Arial" panose="020B0604020202020204"/>
              <a:ea typeface="Arial" panose="020B0604020202020204"/>
              <a:cs typeface="Arial" panose="020B0604020202020204"/>
              <a:sym typeface="Arial" panose="020B0604020202020204"/>
            </a:endParaRPr>
          </a:p>
        </p:txBody>
      </p:sp>
      <p:sp>
        <p:nvSpPr>
          <p:cNvPr id="40" name="AutoShape 13"/>
          <p:cNvSpPr/>
          <p:nvPr/>
        </p:nvSpPr>
        <p:spPr>
          <a:xfrm>
            <a:off x="411480" y="6461760"/>
            <a:ext cx="11366500" cy="16510"/>
          </a:xfrm>
          <a:prstGeom prst="line">
            <a:avLst/>
          </a:prstGeom>
          <a:ln w="19050" cap="flat">
            <a:solidFill>
              <a:schemeClr val="bg1"/>
            </a:solidFill>
            <a:prstDash val="solid"/>
            <a:headEnd type="none" w="sm" len="sm"/>
            <a:tailEnd type="none" w="sm" len="sm"/>
          </a:ln>
        </p:spPr>
      </p:sp>
      <p:sp>
        <p:nvSpPr>
          <p:cNvPr id="41" name="TextBox 21"/>
          <p:cNvSpPr txBox="1"/>
          <p:nvPr/>
        </p:nvSpPr>
        <p:spPr>
          <a:xfrm>
            <a:off x="4756785" y="6404610"/>
            <a:ext cx="2686685" cy="286385"/>
          </a:xfrm>
          <a:prstGeom prst="rect">
            <a:avLst/>
          </a:prstGeom>
        </p:spPr>
        <p:txBody>
          <a:bodyPr lIns="0" tIns="0" rIns="0" bIns="0" rtlCol="0" anchor="t">
            <a:noAutofit/>
          </a:bodyPr>
          <a:lstStyle/>
          <a:p>
            <a:pPr algn="l">
              <a:lnSpc>
                <a:spcPts val="3040"/>
              </a:lnSpc>
            </a:pPr>
            <a:r>
              <a:rPr lang="en-US">
                <a:solidFill>
                  <a:schemeClr val="bg1"/>
                </a:solidFill>
                <a:latin typeface="Arial" panose="020B0604020202020204"/>
                <a:ea typeface="Arial" panose="020B0604020202020204"/>
                <a:cs typeface="Arial" panose="020B0604020202020204"/>
                <a:sym typeface="Arial" panose="020B0604020202020204"/>
              </a:rPr>
              <a:t>Hiddeninvestigations.Net</a:t>
            </a:r>
            <a:endParaRPr lang="en-US">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ags/tag1.xml><?xml version="1.0" encoding="utf-8"?>
<p:tagLst xmlns:p="http://schemas.openxmlformats.org/presentationml/2006/main">
  <p:tag name="KSO_WM_DIAGRAM_VIRTUALLY_FRAME" val="{&quot;height&quot;:74.2499737532808,&quot;left&quot;:488.8622572178477,&quot;top&quot;:277.94530183727034,&quot;width&quot;:388.63779527559063}"/>
</p:tagLst>
</file>

<file path=ppt/tags/tag2.xml><?xml version="1.0" encoding="utf-8"?>
<p:tagLst xmlns:p="http://schemas.openxmlformats.org/presentationml/2006/main">
  <p:tag name="KSO_WM_DIAGRAM_VIRTUALLY_FRAME" val="{&quot;height&quot;:74.2499737532808,&quot;left&quot;:488.8622572178477,&quot;top&quot;:277.94530183727034,&quot;width&quot;:388.63779527559063}"/>
</p:tagLst>
</file>

<file path=ppt/tags/tag3.xml><?xml version="1.0" encoding="utf-8"?>
<p:tagLst xmlns:p="http://schemas.openxmlformats.org/presentationml/2006/main">
  <p:tag name="KSO_WM_DIAGRAM_VIRTUALLY_FRAME" val="{&quot;height&quot;:74.2499737532808,&quot;left&quot;:488.8622572178477,&quot;top&quot;:277.94530183727034,&quot;width&quot;:388.63779527559063}"/>
</p:tagLst>
</file>

<file path=ppt/tags/tag4.xml><?xml version="1.0" encoding="utf-8"?>
<p:tagLst xmlns:p="http://schemas.openxmlformats.org/presentationml/2006/main">
  <p:tag name="KSO_WM_DIAGRAM_VIRTUALLY_FRAME" val="{&quot;height&quot;:74.2499737532808,&quot;left&quot;:488.8622572178477,&quot;top&quot;:277.94530183727034,&quot;width&quot;:388.63779527559063}"/>
</p:tagLst>
</file>

<file path=ppt/tags/tag5.xml><?xml version="1.0" encoding="utf-8"?>
<p:tagLst xmlns:p="http://schemas.openxmlformats.org/presentationml/2006/main">
  <p:tag name="KSO_WM_DIAGRAM_VIRTUALLY_FRAME" val="{&quot;height&quot;:74.2499737532808,&quot;left&quot;:488.8622572178477,&quot;top&quot;:277.94530183727034,&quot;width&quot;:388.63779527559063}"/>
</p:tagLst>
</file>

<file path=ppt/tags/tag6.xml><?xml version="1.0" encoding="utf-8"?>
<p:tagLst xmlns:p="http://schemas.openxmlformats.org/presentationml/2006/main">
  <p:tag name="KSO_WM_DIAGRAM_VIRTUALLY_FRAME" val="{&quot;height&quot;:74.2499737532808,&quot;left&quot;:488.8622572178477,&quot;top&quot;:277.94530183727034,&quot;width&quot;:388.63779527559063}"/>
</p:tagLst>
</file>

<file path=ppt/tags/tag7.xml><?xml version="1.0" encoding="utf-8"?>
<p:tagLst xmlns:p="http://schemas.openxmlformats.org/presentationml/2006/main">
  <p:tag name="KSO_WM_DIAGRAM_VIRTUALLY_FRAME" val="{&quot;height&quot;:74.2499737532808,&quot;left&quot;:488.8622572178477,&quot;top&quot;:277.94530183727034,&quot;width&quot;:388.63779527559063}"/>
</p:tagLst>
</file>

<file path=ppt/tags/tag8.xml><?xml version="1.0" encoding="utf-8"?>
<p:tagLst xmlns:p="http://schemas.openxmlformats.org/presentationml/2006/main">
  <p:tag name="KSO_WM_DIAGRAM_VIRTUALLY_FRAME" val="{&quot;height&quot;:74.2499737532808,&quot;left&quot;:488.8622572178477,&quot;top&quot;:277.94530183727034,&quot;width&quot;:388.6377952755906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41085</Words>
  <Application>WPS Presentation</Application>
  <PresentationFormat>Widescreen</PresentationFormat>
  <Paragraphs>3190</Paragraphs>
  <Slides>76</Slides>
  <Notes>0</Notes>
  <HiddenSlides>0</HiddenSlides>
  <MMClips>0</MMClips>
  <ScaleCrop>false</ScaleCrop>
  <HeadingPairs>
    <vt:vector size="6" baseType="variant">
      <vt:variant>
        <vt:lpstr>已用的字体</vt:lpstr>
      </vt:variant>
      <vt:variant>
        <vt:i4>37</vt:i4>
      </vt:variant>
      <vt:variant>
        <vt:lpstr>主题</vt:lpstr>
      </vt:variant>
      <vt:variant>
        <vt:i4>1</vt:i4>
      </vt:variant>
      <vt:variant>
        <vt:lpstr>幻灯片标题</vt:lpstr>
      </vt:variant>
      <vt:variant>
        <vt:i4>76</vt:i4>
      </vt:variant>
    </vt:vector>
  </HeadingPairs>
  <TitlesOfParts>
    <vt:vector size="114" baseType="lpstr">
      <vt:lpstr>Arial</vt:lpstr>
      <vt:lpstr>SimSun</vt:lpstr>
      <vt:lpstr>Wingdings</vt:lpstr>
      <vt:lpstr>JetBrains Mono Bold</vt:lpstr>
      <vt:lpstr>JetBrains Mono Bold</vt:lpstr>
      <vt:lpstr>JetBrains Mono Bold</vt:lpstr>
      <vt:lpstr>Li Sirajee Sanjar Unicode</vt:lpstr>
      <vt:lpstr>Inter Bold</vt:lpstr>
      <vt:lpstr>Inter Bold</vt:lpstr>
      <vt:lpstr>Inter Bold</vt:lpstr>
      <vt:lpstr>Arial</vt:lpstr>
      <vt:lpstr>Inter</vt:lpstr>
      <vt:lpstr>Inter</vt:lpstr>
      <vt:lpstr>Inter</vt:lpstr>
      <vt:lpstr>JetBrains Mono Medium</vt:lpstr>
      <vt:lpstr>JetBrains Mono Medium</vt:lpstr>
      <vt:lpstr>JetBrains Mono Medium</vt:lpstr>
      <vt:lpstr>Poppins ExtraBold</vt:lpstr>
      <vt:lpstr>Poppins ExtraBold</vt:lpstr>
      <vt:lpstr>Poppins ExtraBold</vt:lpstr>
      <vt:lpstr>Poppins SemiBold</vt:lpstr>
      <vt:lpstr>Poppins SemiBold</vt:lpstr>
      <vt:lpstr>Poppins SemiBold</vt:lpstr>
      <vt:lpstr>Calibri</vt:lpstr>
      <vt:lpstr>Microsoft YaHei</vt:lpstr>
      <vt:lpstr>Arial Unicode MS</vt:lpstr>
      <vt:lpstr>Calibri Light</vt:lpstr>
      <vt:lpstr>Poppins Bold</vt:lpstr>
      <vt:lpstr>Poppins Bold</vt:lpstr>
      <vt:lpstr>Poppins Bold</vt:lpstr>
      <vt:lpstr>JetBrains Mono</vt:lpstr>
      <vt:lpstr>JetBrains Mono</vt:lpstr>
      <vt:lpstr>JetBrains Mono</vt:lpstr>
      <vt:lpstr>Poppins</vt:lpstr>
      <vt:lpstr>Poppins</vt:lpstr>
      <vt:lpstr>Poppins</vt:lpstr>
      <vt:lpstr>MingLiU-ExtB</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WPS_1717093415</cp:lastModifiedBy>
  <cp:revision>8</cp:revision>
  <dcterms:created xsi:type="dcterms:W3CDTF">2025-07-23T00:59:00Z</dcterms:created>
  <dcterms:modified xsi:type="dcterms:W3CDTF">2026-05-22T06:38:45Z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D57A075FD2BA4748BB5F657B3E5F0980_11</vt:lpwstr>
  </property>
  <property fmtid="{D5CDD505-2E9C-101B-9397-08002B2CF9AE}" pid="3" name="KSOProductBuildVer">
    <vt:lpwstr>2057-12.2.0.23202</vt:lpwstr>
  </property>
</Properties>
</file>