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87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jpe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jpe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1" Type="http://schemas.openxmlformats.org/officeDocument/2006/relationships/image" Target="../media/image30.jpe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9.png"/><Relationship Id="rId1" Type="http://schemas.openxmlformats.org/officeDocument/2006/relationships/image" Target="../media/image30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3.jpeg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44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088" y="362545"/>
            <a:ext cx="958850" cy="12255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Invstigations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71475" y="1478756"/>
            <a:ext cx="6102350" cy="8820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altLang="en-GB" sz="3500" dirty="0"/>
              <a:t>Reverse Engineering Foundations:</a:t>
            </a:r>
            <a:endParaRPr lang="en-US" altLang="en-GB" sz="3500" dirty="0"/>
          </a:p>
          <a:p>
            <a:pPr marL="0" indent="0" algn="l">
              <a:lnSpc>
                <a:spcPct val="82000"/>
              </a:lnSpc>
              <a:buNone/>
            </a:pPr>
            <a:r>
              <a:rPr lang="en-US" altLang="en-GB" sz="3500" dirty="0"/>
              <a:t>ELF, PE &amp; Static Analysis</a:t>
            </a:r>
            <a:endParaRPr lang="en-US" altLang="en-GB" sz="3500" dirty="0"/>
          </a:p>
        </p:txBody>
      </p:sp>
      <p:sp>
        <p:nvSpPr>
          <p:cNvPr id="6" name="Text 3"/>
          <p:cNvSpPr/>
          <p:nvPr/>
        </p:nvSpPr>
        <p:spPr>
          <a:xfrm>
            <a:off x="371475" y="2405407"/>
            <a:ext cx="4643438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Breaking Linux Binaries</a:t>
            </a:r>
            <a:r>
              <a:rPr lang="en-US" sz="1500" b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
</a:t>
            </a:r>
            <a:r>
              <a:rPr lang="en-US" sz="1500" b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from Scratch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71475" y="3967507"/>
            <a:ext cx="4643438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Presenter: Md. Tanjim Mahmud Tuhin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15025" y="2887414"/>
            <a:ext cx="2643188" cy="1321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INVESTIGATIONS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0" y="4929188"/>
            <a:ext cx="914400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Hiddeninvestigations.Net</a:t>
            </a:r>
            <a:endParaRPr lang="en-US" sz="600" dirty="0"/>
          </a:p>
        </p:txBody>
      </p:sp>
      <p:sp>
        <p:nvSpPr>
          <p:cNvPr id="14" name="Shape 0"/>
          <p:cNvSpPr/>
          <p:nvPr/>
        </p:nvSpPr>
        <p:spPr>
          <a:xfrm>
            <a:off x="386715" y="32956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6" name="Group 5"/>
          <p:cNvGrpSpPr/>
          <p:nvPr/>
        </p:nvGrpSpPr>
        <p:grpSpPr>
          <a:xfrm rot="0">
            <a:off x="560070" y="373380"/>
            <a:ext cx="102870" cy="95250"/>
            <a:chOff x="0" y="0"/>
            <a:chExt cx="812800" cy="812800"/>
          </a:xfrm>
        </p:grpSpPr>
        <p:sp>
          <p:nvSpPr>
            <p:cNvPr id="47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  <p:grpSp>
        <p:nvGrpSpPr>
          <p:cNvPr id="28" name="Group 8"/>
          <p:cNvGrpSpPr/>
          <p:nvPr/>
        </p:nvGrpSpPr>
        <p:grpSpPr>
          <a:xfrm rot="0">
            <a:off x="6576695" y="1080135"/>
            <a:ext cx="2376805" cy="2390140"/>
            <a:chOff x="0" y="0"/>
            <a:chExt cx="812800" cy="812800"/>
          </a:xfrm>
        </p:grpSpPr>
        <p:sp>
          <p:nvSpPr>
            <p:cNvPr id="2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30" name="Group 10"/>
          <p:cNvGrpSpPr/>
          <p:nvPr/>
        </p:nvGrpSpPr>
        <p:grpSpPr>
          <a:xfrm rot="0">
            <a:off x="5243830" y="2767330"/>
            <a:ext cx="1856105" cy="1893570"/>
            <a:chOff x="0" y="0"/>
            <a:chExt cx="1066226" cy="1081304"/>
          </a:xfrm>
        </p:grpSpPr>
        <p:sp>
          <p:nvSpPr>
            <p:cNvPr id="31" name="Freeform 11"/>
            <p:cNvSpPr/>
            <p:nvPr/>
          </p:nvSpPr>
          <p:spPr>
            <a:xfrm>
              <a:off x="0" y="0"/>
              <a:ext cx="1066226" cy="1081304"/>
            </a:xfrm>
            <a:custGeom>
              <a:avLst/>
              <a:gdLst/>
              <a:ahLst/>
              <a:cxnLst/>
              <a:rect l="l" t="t" r="r" b="b"/>
              <a:pathLst>
                <a:path w="1066226" h="1081304">
                  <a:moveTo>
                    <a:pt x="65021" y="0"/>
                  </a:moveTo>
                  <a:lnTo>
                    <a:pt x="1001206" y="0"/>
                  </a:lnTo>
                  <a:cubicBezTo>
                    <a:pt x="1037116" y="0"/>
                    <a:pt x="1066226" y="29111"/>
                    <a:pt x="1066226" y="65021"/>
                  </a:cubicBezTo>
                  <a:lnTo>
                    <a:pt x="1066226" y="1016284"/>
                  </a:lnTo>
                  <a:cubicBezTo>
                    <a:pt x="1066226" y="1052194"/>
                    <a:pt x="1037116" y="1081304"/>
                    <a:pt x="1001206" y="1081304"/>
                  </a:cubicBezTo>
                  <a:lnTo>
                    <a:pt x="65021" y="1081304"/>
                  </a:lnTo>
                  <a:cubicBezTo>
                    <a:pt x="29111" y="1081304"/>
                    <a:pt x="0" y="1052194"/>
                    <a:pt x="0" y="1016284"/>
                  </a:cubicBezTo>
                  <a:lnTo>
                    <a:pt x="0" y="65021"/>
                  </a:lnTo>
                  <a:cubicBezTo>
                    <a:pt x="0" y="29111"/>
                    <a:pt x="29111" y="0"/>
                    <a:pt x="65021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32" name="TextBox 12"/>
            <p:cNvSpPr txBox="1"/>
            <p:nvPr/>
          </p:nvSpPr>
          <p:spPr>
            <a:xfrm>
              <a:off x="0" y="-9525"/>
              <a:ext cx="1066226" cy="10908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  <p:sp>
        <p:nvSpPr>
          <p:cNvPr id="34" name="Freeform 15"/>
          <p:cNvSpPr/>
          <p:nvPr/>
        </p:nvSpPr>
        <p:spPr>
          <a:xfrm>
            <a:off x="6782435" y="2914650"/>
            <a:ext cx="118745" cy="119380"/>
          </a:xfrm>
          <a:custGeom>
            <a:avLst/>
            <a:gdLst/>
            <a:ahLst/>
            <a:cxnLst/>
            <a:rect l="l" t="t" r="r" b="b"/>
            <a:pathLst>
              <a:path w="258036" h="258036">
                <a:moveTo>
                  <a:pt x="0" y="0"/>
                </a:moveTo>
                <a:lnTo>
                  <a:pt x="258036" y="0"/>
                </a:lnTo>
                <a:lnTo>
                  <a:pt x="258036" y="258036"/>
                </a:lnTo>
                <a:lnTo>
                  <a:pt x="0" y="2580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16"/>
          <p:cNvSpPr/>
          <p:nvPr/>
        </p:nvSpPr>
        <p:spPr>
          <a:xfrm>
            <a:off x="4953000" y="2365375"/>
            <a:ext cx="1539875" cy="1670685"/>
          </a:xfrm>
          <a:custGeom>
            <a:avLst/>
            <a:gdLst/>
            <a:ahLst/>
            <a:cxnLst/>
            <a:rect l="l" t="t" r="r" b="b"/>
            <a:pathLst>
              <a:path w="3356866" h="3622517">
                <a:moveTo>
                  <a:pt x="0" y="0"/>
                </a:moveTo>
                <a:lnTo>
                  <a:pt x="3356866" y="0"/>
                </a:lnTo>
                <a:lnTo>
                  <a:pt x="3356866" y="3622517"/>
                </a:lnTo>
                <a:lnTo>
                  <a:pt x="0" y="3622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6" name="TextBox 20"/>
          <p:cNvSpPr txBox="1"/>
          <p:nvPr/>
        </p:nvSpPr>
        <p:spPr>
          <a:xfrm>
            <a:off x="5243830" y="4017645"/>
            <a:ext cx="1602105" cy="26543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r">
              <a:lnSpc>
                <a:spcPts val="2260"/>
              </a:lnSpc>
            </a:pPr>
            <a:r>
              <a:rPr lang="en-US"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Presented to</a:t>
            </a:r>
            <a:endParaRPr lang="en-US" sz="14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7" name="TextBox 22"/>
          <p:cNvSpPr txBox="1"/>
          <p:nvPr/>
        </p:nvSpPr>
        <p:spPr>
          <a:xfrm>
            <a:off x="4495800" y="4271010"/>
            <a:ext cx="2395855" cy="3105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r">
              <a:lnSpc>
                <a:spcPts val="2805"/>
              </a:lnSpc>
            </a:pPr>
            <a:r>
              <a:rPr lang="en-US" sz="2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EWUCSC</a:t>
            </a:r>
            <a:endParaRPr lang="en-US" sz="24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Text 4"/>
          <p:cNvSpPr/>
          <p:nvPr/>
        </p:nvSpPr>
        <p:spPr>
          <a:xfrm>
            <a:off x="368935" y="4132607"/>
            <a:ext cx="4643438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Date: 08/08/2026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2944" y="289322"/>
            <a:ext cx="1113420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Investigations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71475" y="664369"/>
            <a:ext cx="3059430" cy="2711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100" b="1" kern="0" spc="-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Before we begin: a story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371475" y="1422276"/>
            <a:ext cx="3857625" cy="3714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650" b="1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1997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371475" y="1908051"/>
            <a:ext cx="3857625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 locked vending machine.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71475" y="2204517"/>
            <a:ext cx="3857625" cy="372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No key. No manual. A student watched which coin it accepted, listened to the mechanism, and mapped it from the outside in.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71475" y="2705919"/>
            <a:ext cx="3857625" cy="372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Software is the same. You cannot read the source, but the program still tells you everything if you know how to listen.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00575" y="1379413"/>
            <a:ext cx="4171950" cy="828675"/>
          </a:xfrm>
          <a:prstGeom prst="rect">
            <a:avLst/>
          </a:prstGeom>
          <a:solidFill>
            <a:srgbClr val="0B0C10"/>
          </a:solidFill>
        </p:spPr>
      </p:sp>
      <p:sp>
        <p:nvSpPr>
          <p:cNvPr id="11" name="Shape 8"/>
          <p:cNvSpPr/>
          <p:nvPr/>
        </p:nvSpPr>
        <p:spPr>
          <a:xfrm>
            <a:off x="4600575" y="1379413"/>
            <a:ext cx="71438" cy="828675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12" name="Text 9"/>
          <p:cNvSpPr/>
          <p:nvPr/>
        </p:nvSpPr>
        <p:spPr>
          <a:xfrm>
            <a:off x="4600575" y="1379413"/>
            <a:ext cx="4171950" cy="828675"/>
          </a:xfrm>
          <a:prstGeom prst="rect">
            <a:avLst/>
          </a:prstGeom>
          <a:noFill/>
        </p:spPr>
        <p:txBody>
          <a:bodyPr wrap="square" lIns="221107" tIns="187071" rIns="221107" bIns="187071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01111111 ELF 02 01 01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354087" y="2218804"/>
            <a:ext cx="121444" cy="2786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↓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561255" y="2283098"/>
            <a:ext cx="457702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reverse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00575" y="2508126"/>
            <a:ext cx="4171950" cy="828675"/>
          </a:xfrm>
          <a:prstGeom prst="rect">
            <a:avLst/>
          </a:prstGeom>
          <a:solidFill>
            <a:srgbClr val="0B0C10"/>
          </a:solidFill>
        </p:spPr>
      </p:sp>
      <p:sp>
        <p:nvSpPr>
          <p:cNvPr id="16" name="Shape 13"/>
          <p:cNvSpPr/>
          <p:nvPr/>
        </p:nvSpPr>
        <p:spPr>
          <a:xfrm>
            <a:off x="4600575" y="2508126"/>
            <a:ext cx="71438" cy="828675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17" name="Text 14"/>
          <p:cNvSpPr/>
          <p:nvPr/>
        </p:nvSpPr>
        <p:spPr>
          <a:xfrm>
            <a:off x="4600575" y="2508126"/>
            <a:ext cx="4171950" cy="828675"/>
          </a:xfrm>
          <a:prstGeom prst="rect">
            <a:avLst/>
          </a:prstGeom>
          <a:noFill/>
        </p:spPr>
        <p:txBody>
          <a:bodyPr wrap="square" lIns="221107" tIns="187071" rIns="221107" bIns="187071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if (password == secret)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371475" y="4183097"/>
            <a:ext cx="8401050" cy="457200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19" name="Text 16"/>
          <p:cNvSpPr/>
          <p:nvPr/>
        </p:nvSpPr>
        <p:spPr>
          <a:xfrm>
            <a:off x="371475" y="4183097"/>
            <a:ext cx="8401050" cy="457200"/>
          </a:xfrm>
          <a:prstGeom prst="rect">
            <a:avLst/>
          </a:prstGeom>
          <a:noFill/>
        </p:spPr>
        <p:txBody>
          <a:bodyPr wrap="square" lIns="187071" tIns="0" rIns="187071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Every program reveals its secrets — if you know where to look.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0" y="4943475"/>
            <a:ext cx="914400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Hiddeninvestigations.Net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8518252" y="4822031"/>
            <a:ext cx="254273" cy="2643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Shape 0"/>
          <p:cNvSpPr/>
          <p:nvPr/>
        </p:nvSpPr>
        <p:spPr>
          <a:xfrm>
            <a:off x="348615" y="26860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6" name="Group 5"/>
          <p:cNvGrpSpPr/>
          <p:nvPr/>
        </p:nvGrpSpPr>
        <p:grpSpPr>
          <a:xfrm rot="0">
            <a:off x="521970" y="312420"/>
            <a:ext cx="102870" cy="95250"/>
            <a:chOff x="0" y="0"/>
            <a:chExt cx="812800" cy="812800"/>
          </a:xfrm>
        </p:grpSpPr>
        <p:sp>
          <p:nvSpPr>
            <p:cNvPr id="47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0006"/>
            <a:ext cx="90297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0094" y="339328"/>
            <a:ext cx="1113420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Investigations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8625" y="714375"/>
            <a:ext cx="8401050" cy="3149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1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Same skill. Real stakes.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85800" y="1550863"/>
            <a:ext cx="3664744" cy="1857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◉ Malware Analysis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85800" y="1808038"/>
            <a:ext cx="3664744" cy="1321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Understand what an unknown binary really does.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85800" y="2033067"/>
            <a:ext cx="338156" cy="153591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9" name="Text 6"/>
          <p:cNvSpPr/>
          <p:nvPr/>
        </p:nvSpPr>
        <p:spPr>
          <a:xfrm>
            <a:off x="685800" y="2033067"/>
            <a:ext cx="338156" cy="153591"/>
          </a:xfrm>
          <a:prstGeom prst="rect">
            <a:avLst/>
          </a:prstGeom>
          <a:noFill/>
        </p:spPr>
        <p:txBody>
          <a:bodyPr wrap="none" lIns="85090" tIns="42545" rIns="8509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500" b="1" kern="0" spc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DFIR</a:t>
            </a:r>
            <a:endParaRPr lang="en-US" sz="500" dirty="0"/>
          </a:p>
        </p:txBody>
      </p:sp>
      <p:sp>
        <p:nvSpPr>
          <p:cNvPr id="10" name="Text 7"/>
          <p:cNvSpPr/>
          <p:nvPr/>
        </p:nvSpPr>
        <p:spPr>
          <a:xfrm>
            <a:off x="4986338" y="1550863"/>
            <a:ext cx="3664744" cy="1857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⌁ Vulnerability Research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86338" y="1808038"/>
            <a:ext cx="3664744" cy="1321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Find bugs without source code.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986338" y="2033067"/>
            <a:ext cx="612074" cy="153591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13" name="Text 10"/>
          <p:cNvSpPr/>
          <p:nvPr/>
        </p:nvSpPr>
        <p:spPr>
          <a:xfrm>
            <a:off x="4986338" y="2033067"/>
            <a:ext cx="612074" cy="153591"/>
          </a:xfrm>
          <a:prstGeom prst="rect">
            <a:avLst/>
          </a:prstGeom>
          <a:noFill/>
        </p:spPr>
        <p:txBody>
          <a:bodyPr wrap="none" lIns="85090" tIns="42545" rIns="8509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500" b="1" kern="0" spc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OFFENSIVE</a:t>
            </a:r>
            <a:endParaRPr lang="en-US" sz="500" dirty="0"/>
          </a:p>
        </p:txBody>
      </p:sp>
      <p:sp>
        <p:nvSpPr>
          <p:cNvPr id="14" name="Text 11"/>
          <p:cNvSpPr/>
          <p:nvPr/>
        </p:nvSpPr>
        <p:spPr>
          <a:xfrm>
            <a:off x="685800" y="2651001"/>
            <a:ext cx="3664744" cy="1857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▣ License &amp; Logic Bypass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2908176"/>
            <a:ext cx="3664744" cy="1321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Understand software protections.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85800" y="3133204"/>
            <a:ext cx="1050187" cy="153591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17" name="Text 14"/>
          <p:cNvSpPr/>
          <p:nvPr/>
        </p:nvSpPr>
        <p:spPr>
          <a:xfrm>
            <a:off x="685800" y="3133204"/>
            <a:ext cx="1050187" cy="153591"/>
          </a:xfrm>
          <a:prstGeom prst="rect">
            <a:avLst/>
          </a:prstGeom>
          <a:noFill/>
        </p:spPr>
        <p:txBody>
          <a:bodyPr wrap="none" lIns="85090" tIns="42545" rIns="8509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500" b="1" kern="0" spc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SOFTWARE SECURITY</a:t>
            </a:r>
            <a:endParaRPr lang="en-US" sz="500" dirty="0"/>
          </a:p>
        </p:txBody>
      </p:sp>
      <p:sp>
        <p:nvSpPr>
          <p:cNvPr id="18" name="Text 15"/>
          <p:cNvSpPr/>
          <p:nvPr/>
        </p:nvSpPr>
        <p:spPr>
          <a:xfrm>
            <a:off x="4986338" y="2651001"/>
            <a:ext cx="3664744" cy="1857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◇ CTF Competitions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986338" y="2908176"/>
            <a:ext cx="3664744" cy="1321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Build the skill by solving small challenges.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986338" y="3133204"/>
            <a:ext cx="565193" cy="153591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1" name="Text 18"/>
          <p:cNvSpPr/>
          <p:nvPr/>
        </p:nvSpPr>
        <p:spPr>
          <a:xfrm>
            <a:off x="4986338" y="3133204"/>
            <a:ext cx="565193" cy="153591"/>
          </a:xfrm>
          <a:prstGeom prst="rect">
            <a:avLst/>
          </a:prstGeom>
          <a:noFill/>
        </p:spPr>
        <p:txBody>
          <a:bodyPr wrap="none" lIns="85090" tIns="42545" rIns="8509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500" b="1" kern="0" spc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PRACTICE</a:t>
            </a:r>
            <a:endParaRPr lang="en-US" sz="500" dirty="0"/>
          </a:p>
        </p:txBody>
      </p:sp>
      <p:sp>
        <p:nvSpPr>
          <p:cNvPr id="22" name="Text 19"/>
          <p:cNvSpPr/>
          <p:nvPr/>
        </p:nvSpPr>
        <p:spPr>
          <a:xfrm>
            <a:off x="428625" y="3672557"/>
            <a:ext cx="8401050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Today you will learn </a:t>
            </a:r>
            <a:r>
              <a:rPr lang="en-US" sz="1200" b="1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how all of these begin.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7150" y="4950619"/>
            <a:ext cx="914400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Hiddeninvestigations.Net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8575402" y="4904423"/>
            <a:ext cx="254273" cy="2643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Shape 0"/>
          <p:cNvSpPr/>
          <p:nvPr/>
        </p:nvSpPr>
        <p:spPr>
          <a:xfrm>
            <a:off x="379095" y="29146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6" name="Group 5"/>
          <p:cNvGrpSpPr/>
          <p:nvPr/>
        </p:nvGrpSpPr>
        <p:grpSpPr>
          <a:xfrm rot="0">
            <a:off x="552450" y="335280"/>
            <a:ext cx="102870" cy="95250"/>
            <a:chOff x="0" y="0"/>
            <a:chExt cx="812800" cy="812800"/>
          </a:xfrm>
        </p:grpSpPr>
        <p:sp>
          <p:nvSpPr>
            <p:cNvPr id="47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0094" y="346472"/>
            <a:ext cx="1113420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Investigations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8625" y="721519"/>
            <a:ext cx="8401050" cy="3149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100" b="1" kern="0" spc="-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What you will walk away with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428625" y="1474068"/>
            <a:ext cx="428625" cy="3107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57250" y="1543720"/>
            <a:ext cx="3306440" cy="171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Recognize the structure of a Linux ELF binary.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28625" y="1952699"/>
            <a:ext cx="428625" cy="3107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57250" y="2022351"/>
            <a:ext cx="3525608" cy="171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Inspect a file without running it using basic tools.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28625" y="2431331"/>
            <a:ext cx="428625" cy="3107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57250" y="2500982"/>
            <a:ext cx="4251592" cy="171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Understand registers, arguments, comparisons, and jumps.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28625" y="2909962"/>
            <a:ext cx="428625" cy="3107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04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57250" y="2979613"/>
            <a:ext cx="3732498" cy="171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Build a small checker, then reverse your own binary.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829300" y="1393701"/>
            <a:ext cx="2914650" cy="2286000"/>
          </a:xfrm>
          <a:prstGeom prst="rect">
            <a:avLst/>
          </a:prstGeom>
          <a:solidFill>
            <a:srgbClr val="0B0C10"/>
          </a:solidFill>
        </p:spPr>
      </p:sp>
      <p:sp>
        <p:nvSpPr>
          <p:cNvPr id="15" name="Shape 12"/>
          <p:cNvSpPr/>
          <p:nvPr/>
        </p:nvSpPr>
        <p:spPr>
          <a:xfrm>
            <a:off x="5829300" y="1393701"/>
            <a:ext cx="71438" cy="2286000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16" name="Text 13"/>
          <p:cNvSpPr/>
          <p:nvPr/>
        </p:nvSpPr>
        <p:spPr>
          <a:xfrm>
            <a:off x="5957888" y="1522288"/>
            <a:ext cx="2657475" cy="114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HANDS-ON LABS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957888" y="1750888"/>
            <a:ext cx="2657475" cy="4286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TryHackMe</a:t>
            </a:r>
            <a:r>
              <a:rPr lang="en-US" sz="12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
</a:t>
            </a:r>
            <a:r>
              <a:rPr lang="en-US" sz="12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“Reversing ELF”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957888" y="2308101"/>
            <a:ext cx="2657475" cy="3314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Every exercise turns one idea into something you can test.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28625" y="3851151"/>
            <a:ext cx="8401050" cy="385763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0" name="Text 17"/>
          <p:cNvSpPr/>
          <p:nvPr/>
        </p:nvSpPr>
        <p:spPr>
          <a:xfrm>
            <a:off x="428625" y="3851151"/>
            <a:ext cx="8401050" cy="385763"/>
          </a:xfrm>
          <a:prstGeom prst="rect">
            <a:avLst/>
          </a:prstGeom>
          <a:noFill/>
        </p:spPr>
        <p:txBody>
          <a:bodyPr wrap="square" lIns="170053" tIns="0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The goal: learn a repeatable way to ask a binary better questions.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7150" y="5000625"/>
            <a:ext cx="914400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Hiddeninvestigations.Net</a:t>
            </a:r>
            <a:endParaRPr lang="en-US" sz="600" dirty="0"/>
          </a:p>
        </p:txBody>
      </p:sp>
      <p:sp>
        <p:nvSpPr>
          <p:cNvPr id="22" name="Shape 0"/>
          <p:cNvSpPr/>
          <p:nvPr/>
        </p:nvSpPr>
        <p:spPr>
          <a:xfrm>
            <a:off x="409575" y="32194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6" name="Group 5"/>
          <p:cNvGrpSpPr/>
          <p:nvPr/>
        </p:nvGrpSpPr>
        <p:grpSpPr>
          <a:xfrm rot="0">
            <a:off x="582930" y="365760"/>
            <a:ext cx="102870" cy="95250"/>
            <a:chOff x="0" y="0"/>
            <a:chExt cx="812800" cy="812800"/>
          </a:xfrm>
        </p:grpSpPr>
        <p:sp>
          <p:nvSpPr>
            <p:cNvPr id="47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0094" y="346472"/>
            <a:ext cx="1113420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Investigations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8625" y="721519"/>
            <a:ext cx="8401050" cy="3149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100" b="1" kern="0" spc="-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The route from source to secrets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71513" y="1950913"/>
            <a:ext cx="1343025" cy="16497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Fundamentals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71513" y="2158752"/>
            <a:ext cx="1343025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314575" y="1950913"/>
            <a:ext cx="1343025" cy="32995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Build Your</a:t>
            </a: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
</a:t>
            </a: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Own Binary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314575" y="2323728"/>
            <a:ext cx="1343025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957638" y="1950913"/>
            <a:ext cx="1343025" cy="32995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Static</a:t>
            </a: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
</a:t>
            </a: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Analysis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957638" y="2323728"/>
            <a:ext cx="1343025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600700" y="1950913"/>
            <a:ext cx="1343025" cy="32995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Dynamic</a:t>
            </a: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
</a:t>
            </a: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Analysis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600700" y="2323728"/>
            <a:ext cx="1343025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243763" y="1950913"/>
            <a:ext cx="1343025" cy="32995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Control Flow</a:t>
            </a: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
</a:t>
            </a: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&amp; Logic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243763" y="2323728"/>
            <a:ext cx="1343025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71513" y="3029620"/>
            <a:ext cx="7915275" cy="471488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7" name="Shape 14"/>
          <p:cNvSpPr/>
          <p:nvPr/>
        </p:nvSpPr>
        <p:spPr>
          <a:xfrm>
            <a:off x="671513" y="3029620"/>
            <a:ext cx="7915275" cy="14288"/>
          </a:xfrm>
          <a:prstGeom prst="rect">
            <a:avLst/>
          </a:prstGeom>
          <a:solidFill>
            <a:srgbClr val="0B0C10"/>
          </a:solidFill>
        </p:spPr>
      </p:sp>
      <p:sp>
        <p:nvSpPr>
          <p:cNvPr id="18" name="Shape 15"/>
          <p:cNvSpPr/>
          <p:nvPr/>
        </p:nvSpPr>
        <p:spPr>
          <a:xfrm>
            <a:off x="671513" y="3486820"/>
            <a:ext cx="7915275" cy="14288"/>
          </a:xfrm>
          <a:prstGeom prst="rect">
            <a:avLst/>
          </a:prstGeom>
          <a:solidFill>
            <a:srgbClr val="0B0C10"/>
          </a:solidFill>
        </p:spPr>
      </p:sp>
      <p:sp>
        <p:nvSpPr>
          <p:cNvPr id="19" name="Text 16"/>
          <p:cNvSpPr/>
          <p:nvPr/>
        </p:nvSpPr>
        <p:spPr>
          <a:xfrm>
            <a:off x="671513" y="3029620"/>
            <a:ext cx="7915275" cy="4714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Start with the shape of the binary. Then learn how it thinks.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7150" y="4886325"/>
            <a:ext cx="914400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Hiddeninvestigations.Net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8575402" y="4764881"/>
            <a:ext cx="254273" cy="2643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Shape 0"/>
          <p:cNvSpPr/>
          <p:nvPr/>
        </p:nvSpPr>
        <p:spPr>
          <a:xfrm>
            <a:off x="386715" y="31432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6" name="Group 5"/>
          <p:cNvGrpSpPr/>
          <p:nvPr/>
        </p:nvGrpSpPr>
        <p:grpSpPr>
          <a:xfrm rot="0">
            <a:off x="560070" y="358140"/>
            <a:ext cx="102870" cy="95250"/>
            <a:chOff x="0" y="0"/>
            <a:chExt cx="812800" cy="812800"/>
          </a:xfrm>
        </p:grpSpPr>
        <p:sp>
          <p:nvSpPr>
            <p:cNvPr id="47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514350" y="319831"/>
            <a:ext cx="648008" cy="194519"/>
            <a:chOff x="0" y="0"/>
            <a:chExt cx="341337" cy="1024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1337" cy="102463"/>
            </a:xfrm>
            <a:custGeom>
              <a:avLst/>
              <a:gdLst/>
              <a:ahLst/>
              <a:cxnLst/>
              <a:rect l="l" t="t" r="r" b="b"/>
              <a:pathLst>
                <a:path w="341337" h="102463">
                  <a:moveTo>
                    <a:pt x="51231" y="0"/>
                  </a:moveTo>
                  <a:lnTo>
                    <a:pt x="290106" y="0"/>
                  </a:lnTo>
                  <a:cubicBezTo>
                    <a:pt x="303693" y="0"/>
                    <a:pt x="316724" y="5398"/>
                    <a:pt x="326332" y="15005"/>
                  </a:cubicBezTo>
                  <a:cubicBezTo>
                    <a:pt x="335940" y="24613"/>
                    <a:pt x="341337" y="37644"/>
                    <a:pt x="341337" y="51231"/>
                  </a:cubicBezTo>
                  <a:lnTo>
                    <a:pt x="341337" y="51231"/>
                  </a:lnTo>
                  <a:cubicBezTo>
                    <a:pt x="341337" y="79526"/>
                    <a:pt x="318400" y="102463"/>
                    <a:pt x="290106" y="102463"/>
                  </a:cubicBezTo>
                  <a:lnTo>
                    <a:pt x="51231" y="102463"/>
                  </a:lnTo>
                  <a:cubicBezTo>
                    <a:pt x="37644" y="102463"/>
                    <a:pt x="24613" y="97065"/>
                    <a:pt x="15005" y="87458"/>
                  </a:cubicBezTo>
                  <a:cubicBezTo>
                    <a:pt x="5398" y="77850"/>
                    <a:pt x="0" y="64819"/>
                    <a:pt x="0" y="51231"/>
                  </a:cubicBezTo>
                  <a:lnTo>
                    <a:pt x="0" y="51231"/>
                  </a:lnTo>
                  <a:cubicBezTo>
                    <a:pt x="0" y="37644"/>
                    <a:pt x="5398" y="24613"/>
                    <a:pt x="15005" y="15005"/>
                  </a:cubicBezTo>
                  <a:cubicBezTo>
                    <a:pt x="24613" y="5398"/>
                    <a:pt x="37644" y="0"/>
                    <a:pt x="51231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341337" cy="102463"/>
            </a:xfrm>
            <a:prstGeom prst="rect">
              <a:avLst/>
            </a:prstGeom>
          </p:spPr>
          <p:txBody>
            <a:bodyPr lIns="25399" tIns="25399" rIns="25399" bIns="25399" rtlCol="0" anchor="ctr"/>
            <a:lstStyle/>
            <a:p>
              <a:pPr algn="ctr">
                <a:lnSpc>
                  <a:spcPts val="2275"/>
                </a:lnSpc>
              </a:pPr>
              <a:endParaRPr sz="900"/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978512" y="346682"/>
            <a:ext cx="140817" cy="14081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5399" tIns="25399" rIns="25399" bIns="25399" rtlCol="0" anchor="ctr"/>
            <a:lstStyle/>
            <a:p>
              <a:pPr algn="ctr">
                <a:lnSpc>
                  <a:spcPts val="2275"/>
                </a:lnSpc>
              </a:pPr>
              <a:endParaRPr sz="900"/>
            </a:p>
          </p:txBody>
        </p:sp>
      </p:grpSp>
      <p:sp>
        <p:nvSpPr>
          <p:cNvPr id="8" name="AutoShape 8"/>
          <p:cNvSpPr/>
          <p:nvPr/>
        </p:nvSpPr>
        <p:spPr>
          <a:xfrm>
            <a:off x="514350" y="4633913"/>
            <a:ext cx="829304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488299" y="1118960"/>
            <a:ext cx="3080600" cy="3096080"/>
          </a:xfrm>
          <a:custGeom>
            <a:avLst/>
            <a:gdLst/>
            <a:ahLst/>
            <a:cxnLst/>
            <a:rect l="l" t="t" r="r" b="b"/>
            <a:pathLst>
              <a:path w="6161200" h="6192161">
                <a:moveTo>
                  <a:pt x="0" y="0"/>
                </a:moveTo>
                <a:lnTo>
                  <a:pt x="6161200" y="0"/>
                </a:lnTo>
                <a:lnTo>
                  <a:pt x="6161200" y="6192160"/>
                </a:lnTo>
                <a:lnTo>
                  <a:pt x="0" y="619216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943428" y="3794165"/>
            <a:ext cx="984809" cy="172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55"/>
              </a:lnSpc>
            </a:pPr>
            <a:r>
              <a:rPr lang="en-US" sz="575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01</a:t>
            </a:r>
            <a:endParaRPr lang="en-US" sz="575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96145" y="346682"/>
            <a:ext cx="1311584" cy="299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Hidden Investigations</a:t>
            </a:r>
            <a:endParaRPr lang="en-US" sz="10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574232" y="4714061"/>
            <a:ext cx="2001161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13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Hiddeninvestigations.Net</a:t>
            </a:r>
            <a:endParaRPr lang="en-US" sz="13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3802931" y="967784"/>
            <a:ext cx="1575126" cy="103696"/>
          </a:xfrm>
          <a:custGeom>
            <a:avLst/>
            <a:gdLst/>
            <a:ahLst/>
            <a:cxnLst/>
            <a:rect l="l" t="t" r="r" b="b"/>
            <a:pathLst>
              <a:path w="3150252" h="207392">
                <a:moveTo>
                  <a:pt x="0" y="0"/>
                </a:moveTo>
                <a:lnTo>
                  <a:pt x="3150252" y="0"/>
                </a:lnTo>
                <a:lnTo>
                  <a:pt x="3150252" y="207391"/>
                </a:lnTo>
                <a:lnTo>
                  <a:pt x="0" y="2073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802931" y="728379"/>
            <a:ext cx="4961506" cy="445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75"/>
              </a:lnSpc>
            </a:pPr>
            <a:r>
              <a:rPr lang="en-US" sz="1735" b="1" spc="-90">
                <a:solidFill>
                  <a:srgbClr val="000000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WHO AM I</a:t>
            </a:r>
            <a:endParaRPr lang="en-US" sz="1735" b="1" spc="-90">
              <a:solidFill>
                <a:srgbClr val="000000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802931" y="1281550"/>
            <a:ext cx="5058952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 spc="-72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Tanjim M. Tuhin</a:t>
            </a:r>
            <a:endParaRPr sz="900"/>
          </a:p>
          <a:p>
            <a:pPr marL="518160" lvl="1" indent="-259080" algn="l">
              <a:lnSpc>
                <a:spcPts val="2400"/>
              </a:lnSpc>
              <a:buFont typeface="Arial" panose="020B0604020202020204"/>
              <a:buChar char="•"/>
            </a:pPr>
            <a:r>
              <a:rPr lang="en-US" sz="1200" spc="-62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Founder &amp; Lead, Hidden Investigations (est. 2022)</a:t>
            </a:r>
            <a:endParaRPr lang="en-US" sz="1200" spc="-62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18160" lvl="1" indent="-259080" algn="l">
              <a:lnSpc>
                <a:spcPts val="2400"/>
              </a:lnSpc>
              <a:buFont typeface="Arial" panose="020B0604020202020204"/>
              <a:buChar char="•"/>
            </a:pPr>
            <a:r>
              <a:rPr lang="en-US" sz="1200" spc="-62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Security Researcher, Yogosha Strike Force</a:t>
            </a:r>
            <a:endParaRPr lang="en-US" sz="1200" spc="-62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2100"/>
              </a:lnSpc>
            </a:pPr>
            <a:endParaRPr sz="900"/>
          </a:p>
        </p:txBody>
      </p:sp>
      <p:sp>
        <p:nvSpPr>
          <p:cNvPr id="18" name="TextBox 18"/>
          <p:cNvSpPr txBox="1"/>
          <p:nvPr/>
        </p:nvSpPr>
        <p:spPr>
          <a:xfrm>
            <a:off x="3802931" y="2380084"/>
            <a:ext cx="5058952" cy="2563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0"/>
              </a:lnSpc>
            </a:pPr>
            <a:r>
              <a:rPr lang="en-US" sz="1200" spc="-62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Achievements &amp; Awards</a:t>
            </a:r>
            <a:endParaRPr lang="en-US" sz="1200" spc="-62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18160" lvl="1" indent="-259080" algn="l">
              <a:lnSpc>
                <a:spcPts val="2880"/>
              </a:lnSpc>
              <a:buFont typeface="Arial" panose="020B0604020202020204"/>
              <a:buChar char="•"/>
            </a:pPr>
            <a:r>
              <a:rPr lang="en-US" sz="1200" spc="-62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1st Runner‑up — BlackHat USA CTF 2025</a:t>
            </a:r>
            <a:endParaRPr lang="en-US" sz="1200" spc="-62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18160" lvl="1" indent="-259080" algn="l">
              <a:lnSpc>
                <a:spcPts val="2880"/>
              </a:lnSpc>
              <a:buFont typeface="Arial" panose="020B0604020202020204"/>
              <a:buChar char="•"/>
            </a:pPr>
            <a:r>
              <a:rPr lang="en-US" sz="1200" spc="-62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2nd Runner‑up — BCS ICT Fest CTF 2025 (Bangladesh Computer Society)</a:t>
            </a:r>
            <a:endParaRPr lang="en-US" sz="1200" spc="-62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18160" lvl="1" indent="-259080" algn="l">
              <a:lnSpc>
                <a:spcPts val="2880"/>
              </a:lnSpc>
              <a:buFont typeface="Arial" panose="020B0604020202020204"/>
              <a:buChar char="•"/>
            </a:pPr>
            <a:r>
              <a:rPr lang="en-US" sz="1200" spc="-62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7th place — Phoenix Summit CTF 2025 (Red Team Village/Threat Sim) </a:t>
            </a:r>
            <a:endParaRPr lang="en-US" sz="1200" spc="-62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2880"/>
              </a:lnSpc>
            </a:pPr>
            <a:endParaRPr sz="900"/>
          </a:p>
        </p:txBody>
      </p:sp>
      <p:sp>
        <p:nvSpPr>
          <p:cNvPr id="19" name="TextBox 19"/>
          <p:cNvSpPr txBox="1"/>
          <p:nvPr/>
        </p:nvSpPr>
        <p:spPr>
          <a:xfrm>
            <a:off x="3802931" y="1931218"/>
            <a:ext cx="5058952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0"/>
              </a:lnSpc>
            </a:pPr>
            <a:r>
              <a:rPr lang="en-US" sz="1200" spc="-62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Core Focus</a:t>
            </a:r>
            <a:endParaRPr lang="en-US" sz="1200" spc="-62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18160" lvl="1" indent="-259080" algn="l">
              <a:lnSpc>
                <a:spcPts val="3790"/>
              </a:lnSpc>
              <a:buFont typeface="Arial" panose="020B0604020202020204"/>
              <a:buChar char="•"/>
            </a:pPr>
            <a:r>
              <a:rPr lang="en-US" sz="1200" spc="-62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Offensive security, CTFs, Vulnerability research, Red teaming</a:t>
            </a:r>
            <a:endParaRPr lang="en-US" sz="1200" spc="-62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802931" y="3513809"/>
            <a:ext cx="5058952" cy="1311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25"/>
              </a:lnSpc>
            </a:pPr>
            <a:r>
              <a:rPr lang="en-US" sz="1200" spc="-62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Vision</a:t>
            </a:r>
            <a:endParaRPr lang="en-US" sz="1200" spc="-62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18160" lvl="1" indent="-259080" algn="l">
              <a:lnSpc>
                <a:spcPts val="2400"/>
              </a:lnSpc>
              <a:buFont typeface="Arial" panose="020B0604020202020204"/>
              <a:buChar char="•"/>
            </a:pPr>
            <a:r>
              <a:rPr lang="en-US" sz="1200" spc="-62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“Learn together to build a skilled community.”</a:t>
            </a:r>
            <a:endParaRPr lang="en-US" sz="1200" spc="-62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2400"/>
              </a:lnSpc>
            </a:pPr>
            <a:endParaRPr sz="900"/>
          </a:p>
        </p:txBody>
      </p:sp>
      <p:sp>
        <p:nvSpPr>
          <p:cNvPr id="21" name="Freeform 21"/>
          <p:cNvSpPr/>
          <p:nvPr/>
        </p:nvSpPr>
        <p:spPr>
          <a:xfrm flipH="1">
            <a:off x="5575393" y="-1503477"/>
            <a:ext cx="3620915" cy="2471275"/>
          </a:xfrm>
          <a:custGeom>
            <a:avLst/>
            <a:gdLst/>
            <a:ahLst/>
            <a:cxnLst/>
            <a:rect l="l" t="t" r="r" b="b"/>
            <a:pathLst>
              <a:path w="7241830" h="4942549">
                <a:moveTo>
                  <a:pt x="7241830" y="0"/>
                </a:moveTo>
                <a:lnTo>
                  <a:pt x="0" y="0"/>
                </a:lnTo>
                <a:lnTo>
                  <a:pt x="0" y="4942549"/>
                </a:lnTo>
                <a:lnTo>
                  <a:pt x="7241830" y="4942549"/>
                </a:lnTo>
                <a:lnTo>
                  <a:pt x="724183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23" name="Picture 22" descr="Whimsical-Baby-Groot-In-Fairytale-Landscape-64526876-1-removebg-previe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329" y="1765459"/>
            <a:ext cx="1803083" cy="1803083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" y="127635"/>
            <a:ext cx="9134475" cy="5067300"/>
          </a:xfrm>
          <a:prstGeom prst="rect">
            <a:avLst/>
          </a:prstGeom>
        </p:spPr>
      </p:pic>
      <p:sp>
        <p:nvSpPr>
          <p:cNvPr id="25" name="Rectangles 24"/>
          <p:cNvSpPr/>
          <p:nvPr/>
        </p:nvSpPr>
        <p:spPr>
          <a:xfrm>
            <a:off x="8055293" y="4006215"/>
            <a:ext cx="1002983" cy="876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 sz="1350"/>
          </a:p>
        </p:txBody>
      </p:sp>
      <p:sp>
        <p:nvSpPr>
          <p:cNvPr id="26" name="Text Box 25"/>
          <p:cNvSpPr txBox="1"/>
          <p:nvPr/>
        </p:nvSpPr>
        <p:spPr>
          <a:xfrm>
            <a:off x="8055610" y="4127500"/>
            <a:ext cx="881380" cy="755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3600"/>
              <a:t>  00</a:t>
            </a:r>
            <a:endParaRPr lang="en-US" altLang="en-GB" sz="3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0094" y="275034"/>
            <a:ext cx="1113420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Investigations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8625" y="650081"/>
            <a:ext cx="8401050" cy="3149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100" b="1" kern="0" spc="-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From code to machine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42925" y="1509787"/>
            <a:ext cx="1400175" cy="114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kern="0" spc="2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STAGE 01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42925" y="1724099"/>
            <a:ext cx="1400175" cy="4107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0C1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.c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42925" y="2177728"/>
            <a:ext cx="1400175" cy="1928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Source Code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2925" y="2427759"/>
            <a:ext cx="1400175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Human-readable instructions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143125" y="1765176"/>
            <a:ext cx="457200" cy="4464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750" b="1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→</a:t>
            </a:r>
            <a:endParaRPr lang="en-US" sz="2750" dirty="0"/>
          </a:p>
        </p:txBody>
      </p:sp>
      <p:sp>
        <p:nvSpPr>
          <p:cNvPr id="11" name="Text 8"/>
          <p:cNvSpPr/>
          <p:nvPr/>
        </p:nvSpPr>
        <p:spPr>
          <a:xfrm>
            <a:off x="2800350" y="1509787"/>
            <a:ext cx="1400175" cy="114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kern="0" spc="2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STAGE 02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800350" y="1724099"/>
            <a:ext cx="1400175" cy="4107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0C1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.s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2800350" y="2177728"/>
            <a:ext cx="1400175" cy="1928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Assembly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800350" y="2427759"/>
            <a:ext cx="1400175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CPU-shaped instructions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400550" y="1765176"/>
            <a:ext cx="457200" cy="4464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750" b="1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→</a:t>
            </a:r>
            <a:endParaRPr lang="en-US" sz="2750" dirty="0"/>
          </a:p>
        </p:txBody>
      </p:sp>
      <p:sp>
        <p:nvSpPr>
          <p:cNvPr id="16" name="Text 13"/>
          <p:cNvSpPr/>
          <p:nvPr/>
        </p:nvSpPr>
        <p:spPr>
          <a:xfrm>
            <a:off x="5057775" y="1465138"/>
            <a:ext cx="1400175" cy="114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kern="0" spc="2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STAGE 03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057775" y="1679451"/>
            <a:ext cx="1400175" cy="4107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0C1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.o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5057775" y="2133079"/>
            <a:ext cx="1400175" cy="1928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Object File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057775" y="2383110"/>
            <a:ext cx="1400175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Compiled pieces, not yet linked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657975" y="1765176"/>
            <a:ext cx="457200" cy="4464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750" b="1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→</a:t>
            </a:r>
            <a:endParaRPr lang="en-US" sz="2750" dirty="0"/>
          </a:p>
        </p:txBody>
      </p:sp>
      <p:sp>
        <p:nvSpPr>
          <p:cNvPr id="21" name="Shape 18"/>
          <p:cNvSpPr/>
          <p:nvPr/>
        </p:nvSpPr>
        <p:spPr>
          <a:xfrm>
            <a:off x="7200900" y="1381199"/>
            <a:ext cx="1628775" cy="1214438"/>
          </a:xfrm>
          <a:prstGeom prst="rect">
            <a:avLst/>
          </a:prstGeom>
          <a:solidFill>
            <a:srgbClr val="0B0C10"/>
          </a:solidFill>
        </p:spPr>
      </p:sp>
      <p:sp>
        <p:nvSpPr>
          <p:cNvPr id="22" name="Text 19"/>
          <p:cNvSpPr/>
          <p:nvPr/>
        </p:nvSpPr>
        <p:spPr>
          <a:xfrm>
            <a:off x="7300913" y="1495499"/>
            <a:ext cx="1428750" cy="114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kern="0" spc="2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STAGE 04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7300913" y="1709812"/>
            <a:ext cx="1428750" cy="4107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ELF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7300913" y="2163440"/>
            <a:ext cx="1428750" cy="1928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Executable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300913" y="2413471"/>
            <a:ext cx="1428750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 runnable Linux binary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28625" y="2783160"/>
            <a:ext cx="8401050" cy="414338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7" name="Text 24"/>
          <p:cNvSpPr/>
          <p:nvPr/>
        </p:nvSpPr>
        <p:spPr>
          <a:xfrm>
            <a:off x="428625" y="2783160"/>
            <a:ext cx="8401050" cy="41433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Each step removes human context — and leaves machine clues.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7150" y="4843463"/>
            <a:ext cx="914400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Hiddeninvestigations.Net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8575402" y="4775359"/>
            <a:ext cx="254273" cy="2643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06</a:t>
            </a:r>
            <a:endParaRPr lang="en-US" sz="1600" dirty="0"/>
          </a:p>
        </p:txBody>
      </p:sp>
      <p:sp>
        <p:nvSpPr>
          <p:cNvPr id="30" name="Shape 0"/>
          <p:cNvSpPr/>
          <p:nvPr/>
        </p:nvSpPr>
        <p:spPr>
          <a:xfrm>
            <a:off x="401955" y="23050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6" name="Group 5"/>
          <p:cNvGrpSpPr/>
          <p:nvPr/>
        </p:nvGrpSpPr>
        <p:grpSpPr>
          <a:xfrm rot="0">
            <a:off x="575310" y="274320"/>
            <a:ext cx="102870" cy="95250"/>
            <a:chOff x="0" y="0"/>
            <a:chExt cx="812800" cy="812800"/>
          </a:xfrm>
        </p:grpSpPr>
        <p:sp>
          <p:nvSpPr>
            <p:cNvPr id="47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  <p:sp>
        <p:nvSpPr>
          <p:cNvPr id="3" name="Text Box 2"/>
          <p:cNvSpPr txBox="1"/>
          <p:nvPr/>
        </p:nvSpPr>
        <p:spPr>
          <a:xfrm>
            <a:off x="2093595" y="3495675"/>
            <a:ext cx="3188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printf(“hello”)</a:t>
            </a:r>
            <a:endParaRPr lang="en-US" alt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2944" y="289322"/>
            <a:ext cx="1113420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Investigations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71475" y="664369"/>
            <a:ext cx="8401050" cy="3149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100" b="1" kern="0" spc="-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ELF is the binary’s container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371475" y="1465138"/>
            <a:ext cx="3714750" cy="2070795"/>
          </a:xfrm>
          <a:prstGeom prst="rect">
            <a:avLst/>
          </a:prstGeom>
          <a:solidFill>
            <a:srgbClr val="0B0C10"/>
          </a:solidFill>
        </p:spPr>
      </p:sp>
      <p:sp>
        <p:nvSpPr>
          <p:cNvPr id="7" name="Text 4"/>
          <p:cNvSpPr/>
          <p:nvPr/>
        </p:nvSpPr>
        <p:spPr>
          <a:xfrm>
            <a:off x="614363" y="1665163"/>
            <a:ext cx="3228975" cy="114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MAGIC BYTES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14363" y="1979488"/>
            <a:ext cx="3228975" cy="46791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kern="0" spc="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7F 45 4C 46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614363" y="2833167"/>
            <a:ext cx="3228975" cy="2143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45 4C 46 → E L F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14363" y="3176067"/>
            <a:ext cx="3228975" cy="1321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The first four bytes identify the file format.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500563" y="1479426"/>
            <a:ext cx="4271963" cy="23998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Executable and Linkable Format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00563" y="1805136"/>
            <a:ext cx="4271963" cy="39357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ELF is the standard Linux binary container. It organizes the instructions, data, and metadata a program needs to run.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00563" y="2505894"/>
            <a:ext cx="4271963" cy="1607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Why begin here?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00563" y="2723778"/>
            <a:ext cx="4271963" cy="372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Before reading assembly, confirm what kind of file you are holding. The header gives you the first reliable clue.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500563" y="3360911"/>
            <a:ext cx="4271963" cy="17502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0C1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file ./binary → ELF 64-bit executable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71475" y="3807396"/>
            <a:ext cx="8401050" cy="385763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17" name="Text 14"/>
          <p:cNvSpPr/>
          <p:nvPr/>
        </p:nvSpPr>
        <p:spPr>
          <a:xfrm>
            <a:off x="371475" y="3807396"/>
            <a:ext cx="8401050" cy="385763"/>
          </a:xfrm>
          <a:prstGeom prst="rect">
            <a:avLst/>
          </a:prstGeom>
          <a:noFill/>
        </p:spPr>
        <p:txBody>
          <a:bodyPr wrap="square" lIns="170053" tIns="0" rIns="170053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Read the header first. It tells you what kind of puzzle you are holding.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0" y="4943475"/>
            <a:ext cx="914400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Hiddeninvestigations.Net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8518252" y="4822031"/>
            <a:ext cx="254273" cy="2643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07</a:t>
            </a:r>
            <a:endParaRPr lang="en-US" sz="1600" dirty="0"/>
          </a:p>
        </p:txBody>
      </p:sp>
      <p:sp>
        <p:nvSpPr>
          <p:cNvPr id="20" name="Shape 0"/>
          <p:cNvSpPr/>
          <p:nvPr/>
        </p:nvSpPr>
        <p:spPr>
          <a:xfrm>
            <a:off x="379095" y="25336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6" name="Group 5"/>
          <p:cNvGrpSpPr/>
          <p:nvPr/>
        </p:nvGrpSpPr>
        <p:grpSpPr>
          <a:xfrm rot="0">
            <a:off x="552450" y="297180"/>
            <a:ext cx="102870" cy="95250"/>
            <a:chOff x="0" y="0"/>
            <a:chExt cx="812800" cy="812800"/>
          </a:xfrm>
        </p:grpSpPr>
        <p:sp>
          <p:nvSpPr>
            <p:cNvPr id="47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1519" y="289322"/>
            <a:ext cx="1113420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Investigations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8625" y="664369"/>
            <a:ext cx="8401050" cy="3149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100" b="1" kern="0" spc="-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Inside an ELF: four useful rooms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85788" y="1343695"/>
            <a:ext cx="1107281" cy="2714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0C1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.text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693069" y="1402631"/>
            <a:ext cx="2240124" cy="1535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The instructions the CPU executes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28625" y="1765176"/>
            <a:ext cx="4857750" cy="542925"/>
          </a:xfrm>
          <a:prstGeom prst="rect">
            <a:avLst/>
          </a:prstGeom>
          <a:solidFill>
            <a:srgbClr val="F2C200"/>
          </a:solidFill>
          <a:ln w="18288">
            <a:solidFill>
              <a:srgbClr val="0B0C1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" y="1900907"/>
            <a:ext cx="1107281" cy="2714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0C1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.rodata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678781" y="1959843"/>
            <a:ext cx="3107252" cy="1535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Constants and strings — where clues often hide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85788" y="2458120"/>
            <a:ext cx="1107281" cy="2714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0C1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.data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693069" y="2517056"/>
            <a:ext cx="1244743" cy="1535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Initialized variables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5788" y="2972470"/>
            <a:ext cx="1107281" cy="2714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0C1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.bss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693069" y="3031406"/>
            <a:ext cx="2466435" cy="1535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Storage reserved for uninitialized data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543550" y="1250826"/>
            <a:ext cx="3143250" cy="2143125"/>
          </a:xfrm>
          <a:prstGeom prst="rect">
            <a:avLst/>
          </a:prstGeom>
          <a:solidFill>
            <a:srgbClr val="0B0C10"/>
          </a:solidFill>
        </p:spPr>
      </p:sp>
      <p:sp>
        <p:nvSpPr>
          <p:cNvPr id="16" name="Text 13"/>
          <p:cNvSpPr/>
          <p:nvPr/>
        </p:nvSpPr>
        <p:spPr>
          <a:xfrm>
            <a:off x="5686425" y="1393701"/>
            <a:ext cx="2857500" cy="114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 SIMPLE ANALOGY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686425" y="1622301"/>
            <a:ext cx="2857500" cy="4763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Think of sections as labeled rooms.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686425" y="2198712"/>
            <a:ext cx="2857500" cy="5282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Each room stores a different kind of information. The labels tell you where to look before you read the details.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686425" y="2855547"/>
            <a:ext cx="2571750" cy="39424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0" name="Text 17"/>
          <p:cNvSpPr/>
          <p:nvPr/>
        </p:nvSpPr>
        <p:spPr>
          <a:xfrm>
            <a:off x="5686425" y="2855547"/>
            <a:ext cx="2571750" cy="394246"/>
          </a:xfrm>
          <a:prstGeom prst="rect">
            <a:avLst/>
          </a:prstGeom>
          <a:noFill/>
        </p:spPr>
        <p:txBody>
          <a:bodyPr wrap="square" lIns="102108" tIns="102108" rIns="102108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.rodata is the first room beginners inspect.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28625" y="3522538"/>
            <a:ext cx="840105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2" name="Shape 19"/>
          <p:cNvSpPr/>
          <p:nvPr/>
        </p:nvSpPr>
        <p:spPr>
          <a:xfrm>
            <a:off x="428625" y="3522538"/>
            <a:ext cx="8401050" cy="14288"/>
          </a:xfrm>
          <a:prstGeom prst="rect">
            <a:avLst/>
          </a:prstGeom>
          <a:solidFill>
            <a:srgbClr val="0B0C10"/>
          </a:solidFill>
        </p:spPr>
      </p:sp>
      <p:sp>
        <p:nvSpPr>
          <p:cNvPr id="23" name="Shape 20"/>
          <p:cNvSpPr/>
          <p:nvPr/>
        </p:nvSpPr>
        <p:spPr>
          <a:xfrm>
            <a:off x="428625" y="3851151"/>
            <a:ext cx="8401050" cy="14288"/>
          </a:xfrm>
          <a:prstGeom prst="rect">
            <a:avLst/>
          </a:prstGeom>
          <a:solidFill>
            <a:srgbClr val="0B0C10"/>
          </a:solidFill>
        </p:spPr>
      </p:sp>
      <p:sp>
        <p:nvSpPr>
          <p:cNvPr id="24" name="Text 21"/>
          <p:cNvSpPr/>
          <p:nvPr/>
        </p:nvSpPr>
        <p:spPr>
          <a:xfrm>
            <a:off x="428625" y="3522538"/>
            <a:ext cx="8401050" cy="342900"/>
          </a:xfrm>
          <a:prstGeom prst="rect">
            <a:avLst/>
          </a:prstGeom>
          <a:noFill/>
        </p:spPr>
        <p:txBody>
          <a:bodyPr wrap="square" lIns="0" tIns="85090" rIns="0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Start with the room that stores readable constants.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55295" y="4886757"/>
            <a:ext cx="813249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Hiddeninvestigations.Net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8561115" y="4844608"/>
            <a:ext cx="268560" cy="2643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08</a:t>
            </a:r>
            <a:endParaRPr lang="en-US" sz="1600" dirty="0"/>
          </a:p>
        </p:txBody>
      </p:sp>
      <p:sp>
        <p:nvSpPr>
          <p:cNvPr id="27" name="Shape 0"/>
          <p:cNvSpPr/>
          <p:nvPr/>
        </p:nvSpPr>
        <p:spPr>
          <a:xfrm>
            <a:off x="386715" y="23050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6" name="Group 5"/>
          <p:cNvGrpSpPr/>
          <p:nvPr/>
        </p:nvGrpSpPr>
        <p:grpSpPr>
          <a:xfrm rot="0">
            <a:off x="560070" y="274320"/>
            <a:ext cx="102870" cy="95250"/>
            <a:chOff x="0" y="0"/>
            <a:chExt cx="812800" cy="812800"/>
          </a:xfrm>
        </p:grpSpPr>
        <p:sp>
          <p:nvSpPr>
            <p:cNvPr id="47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  <p:cxnSp>
        <p:nvCxnSpPr>
          <p:cNvPr id="28" name="Straight Connector 27"/>
          <p:cNvCxnSpPr/>
          <p:nvPr/>
        </p:nvCxnSpPr>
        <p:spPr>
          <a:xfrm flipV="1">
            <a:off x="403860" y="4844415"/>
            <a:ext cx="8425815" cy="114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0094" y="260747"/>
            <a:ext cx="1113420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Investigations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8625" y="635794"/>
            <a:ext cx="8401050" cy="3149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100" b="1" kern="0" spc="-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Registers are the CPU’s pockets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428625" y="1222251"/>
            <a:ext cx="4714875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The CPU keeps small, fast values close at hand.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85788" y="1468710"/>
            <a:ext cx="1357313" cy="4857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2C2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RAX / EAX / AL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943100" y="1641946"/>
            <a:ext cx="1707914" cy="1393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Return values and comparisons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85788" y="2047354"/>
            <a:ext cx="1357313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2C2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RDI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943100" y="2099146"/>
            <a:ext cx="1241952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First function argument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85788" y="2504554"/>
            <a:ext cx="1357313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2C2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RSI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943100" y="2556346"/>
            <a:ext cx="1417811" cy="1393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Second function argument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85788" y="2961754"/>
            <a:ext cx="1357313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2C2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RSP / RBP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943100" y="3013546"/>
            <a:ext cx="769572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Stack pointers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514975" y="1222251"/>
            <a:ext cx="3314700" cy="2143125"/>
          </a:xfrm>
          <a:prstGeom prst="rect">
            <a:avLst/>
          </a:prstGeom>
          <a:solidFill>
            <a:srgbClr val="0B0C10"/>
          </a:solidFill>
        </p:spPr>
      </p:sp>
      <p:sp>
        <p:nvSpPr>
          <p:cNvPr id="16" name="Text 13"/>
          <p:cNvSpPr/>
          <p:nvPr/>
        </p:nvSpPr>
        <p:spPr>
          <a:xfrm>
            <a:off x="5657850" y="1307976"/>
            <a:ext cx="3028950" cy="114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ONE POCKET, SMALLER SLICES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786438" y="1593726"/>
            <a:ext cx="2671763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RAX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786438" y="1879476"/>
            <a:ext cx="2671763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64-bit register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015038" y="2250951"/>
            <a:ext cx="2214563" cy="2143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EAX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015038" y="2508126"/>
            <a:ext cx="2214563" cy="114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lower 32 bits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6172200" y="2736726"/>
            <a:ext cx="1900238" cy="371475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2" name="Text 19"/>
          <p:cNvSpPr/>
          <p:nvPr/>
        </p:nvSpPr>
        <p:spPr>
          <a:xfrm>
            <a:off x="6272213" y="2793876"/>
            <a:ext cx="1700213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0C1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272213" y="3018904"/>
            <a:ext cx="1700213" cy="114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lower 8 bits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428625" y="3479676"/>
            <a:ext cx="8401050" cy="385763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5" name="Text 22"/>
          <p:cNvSpPr/>
          <p:nvPr/>
        </p:nvSpPr>
        <p:spPr>
          <a:xfrm>
            <a:off x="428625" y="3479676"/>
            <a:ext cx="8401050" cy="385763"/>
          </a:xfrm>
          <a:prstGeom prst="rect">
            <a:avLst/>
          </a:prstGeom>
          <a:noFill/>
        </p:spPr>
        <p:txBody>
          <a:bodyPr wrap="square" lIns="170053" tIns="0" rIns="170053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The name tells you how much of the pocket you are reading.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561115" y="4857467"/>
            <a:ext cx="268560" cy="2643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09</a:t>
            </a:r>
            <a:endParaRPr lang="en-US" sz="1600" dirty="0"/>
          </a:p>
        </p:txBody>
      </p:sp>
      <p:sp>
        <p:nvSpPr>
          <p:cNvPr id="28" name="Shape 0"/>
          <p:cNvSpPr/>
          <p:nvPr/>
        </p:nvSpPr>
        <p:spPr>
          <a:xfrm>
            <a:off x="386715" y="21526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6" name="Group 5"/>
          <p:cNvGrpSpPr/>
          <p:nvPr/>
        </p:nvGrpSpPr>
        <p:grpSpPr>
          <a:xfrm rot="0">
            <a:off x="560070" y="259080"/>
            <a:ext cx="102870" cy="95250"/>
            <a:chOff x="0" y="0"/>
            <a:chExt cx="812800" cy="812800"/>
          </a:xfrm>
        </p:grpSpPr>
        <p:sp>
          <p:nvSpPr>
            <p:cNvPr id="47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  <p:sp>
        <p:nvSpPr>
          <p:cNvPr id="29" name="Text 22"/>
          <p:cNvSpPr/>
          <p:nvPr/>
        </p:nvSpPr>
        <p:spPr>
          <a:xfrm>
            <a:off x="455295" y="4886757"/>
            <a:ext cx="813249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Hiddeninvestigations.Net</a:t>
            </a:r>
            <a:endParaRPr lang="en-US" sz="600" dirty="0"/>
          </a:p>
        </p:txBody>
      </p:sp>
      <p:cxnSp>
        <p:nvCxnSpPr>
          <p:cNvPr id="30" name="Straight Connector 29"/>
          <p:cNvCxnSpPr/>
          <p:nvPr/>
        </p:nvCxnSpPr>
        <p:spPr>
          <a:xfrm flipV="1">
            <a:off x="403860" y="4844415"/>
            <a:ext cx="8425815" cy="114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0094" y="275034"/>
            <a:ext cx="1113420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Investigations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8625" y="650081"/>
            <a:ext cx="8401050" cy="3149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100" b="1" kern="0" spc="-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Functions receive arguments in registers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42925" y="1672307"/>
            <a:ext cx="1557338" cy="114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kern="0" spc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VALUE 01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42925" y="1858045"/>
            <a:ext cx="1557338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C1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input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2925" y="2172370"/>
            <a:ext cx="1557338" cy="1321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first argument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250281" y="1613371"/>
            <a:ext cx="1271588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1st argument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250281" y="1781249"/>
            <a:ext cx="1271588" cy="3714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650" b="1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→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2250281" y="2152724"/>
            <a:ext cx="1271588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0C1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RDI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557588" y="1463353"/>
            <a:ext cx="2143125" cy="1003697"/>
          </a:xfrm>
          <a:prstGeom prst="rect">
            <a:avLst/>
          </a:prstGeom>
          <a:solidFill>
            <a:srgbClr val="0B0C10"/>
          </a:solidFill>
        </p:spPr>
      </p:sp>
      <p:sp>
        <p:nvSpPr>
          <p:cNvPr id="13" name="Text 10"/>
          <p:cNvSpPr/>
          <p:nvPr/>
        </p:nvSpPr>
        <p:spPr>
          <a:xfrm>
            <a:off x="3657600" y="1549078"/>
            <a:ext cx="1943100" cy="114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kern="0" spc="1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LIBRARY FUNCTION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3657600" y="1734815"/>
            <a:ext cx="1943100" cy="5429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strcmp(input, secret)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657600" y="2334890"/>
            <a:ext cx="1943100" cy="1321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compares two values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736431" y="1613371"/>
            <a:ext cx="1271588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2nd argument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736431" y="1781249"/>
            <a:ext cx="1271588" cy="3714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650" b="1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→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5736431" y="2152724"/>
            <a:ext cx="1271588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0C1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RSI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158038" y="1672307"/>
            <a:ext cx="1557338" cy="114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kern="0" spc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VALUE 02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7158038" y="1858045"/>
            <a:ext cx="1557338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C1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secret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158038" y="2172370"/>
            <a:ext cx="1557338" cy="1321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second argument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1200150" y="2722438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3" name="Shape 20"/>
          <p:cNvSpPr/>
          <p:nvPr/>
        </p:nvSpPr>
        <p:spPr>
          <a:xfrm>
            <a:off x="1200150" y="2722438"/>
            <a:ext cx="6858000" cy="14288"/>
          </a:xfrm>
          <a:prstGeom prst="rect">
            <a:avLst/>
          </a:prstGeom>
          <a:solidFill>
            <a:srgbClr val="0B0C10"/>
          </a:solidFill>
        </p:spPr>
      </p:sp>
      <p:sp>
        <p:nvSpPr>
          <p:cNvPr id="24" name="Shape 21"/>
          <p:cNvSpPr/>
          <p:nvPr/>
        </p:nvSpPr>
        <p:spPr>
          <a:xfrm>
            <a:off x="1200150" y="3108201"/>
            <a:ext cx="6858000" cy="14288"/>
          </a:xfrm>
          <a:prstGeom prst="rect">
            <a:avLst/>
          </a:prstGeom>
          <a:solidFill>
            <a:srgbClr val="0B0C10"/>
          </a:solidFill>
        </p:spPr>
      </p:sp>
      <p:sp>
        <p:nvSpPr>
          <p:cNvPr id="25" name="Text 22"/>
          <p:cNvSpPr/>
          <p:nvPr/>
        </p:nvSpPr>
        <p:spPr>
          <a:xfrm>
            <a:off x="1200150" y="2722438"/>
            <a:ext cx="6858000" cy="4000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On common 64-bit Linux systems, the first function arguments arrive in predictable registers.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28625" y="4006408"/>
            <a:ext cx="8401050" cy="342900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7" name="Text 24"/>
          <p:cNvSpPr/>
          <p:nvPr/>
        </p:nvSpPr>
        <p:spPr>
          <a:xfrm>
            <a:off x="428625" y="3991168"/>
            <a:ext cx="8401050" cy="342900"/>
          </a:xfrm>
          <a:prstGeom prst="rect">
            <a:avLst/>
          </a:prstGeom>
          <a:noFill/>
        </p:spPr>
        <p:txBody>
          <a:bodyPr wrap="square" lIns="170053" tIns="0" rIns="170053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If you can read RDI and RSI, you can read the password.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575402" y="4831556"/>
            <a:ext cx="254273" cy="2643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10</a:t>
            </a:r>
            <a:endParaRPr lang="en-US" sz="1600" dirty="0"/>
          </a:p>
        </p:txBody>
      </p:sp>
      <p:sp>
        <p:nvSpPr>
          <p:cNvPr id="30" name="Shape 0"/>
          <p:cNvSpPr/>
          <p:nvPr/>
        </p:nvSpPr>
        <p:spPr>
          <a:xfrm>
            <a:off x="386715" y="23812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6" name="Group 5"/>
          <p:cNvGrpSpPr/>
          <p:nvPr/>
        </p:nvGrpSpPr>
        <p:grpSpPr>
          <a:xfrm rot="0">
            <a:off x="560070" y="281940"/>
            <a:ext cx="102870" cy="95250"/>
            <a:chOff x="0" y="0"/>
            <a:chExt cx="812800" cy="812800"/>
          </a:xfrm>
        </p:grpSpPr>
        <p:sp>
          <p:nvSpPr>
            <p:cNvPr id="47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  <p:sp>
        <p:nvSpPr>
          <p:cNvPr id="31" name="Text 22"/>
          <p:cNvSpPr/>
          <p:nvPr/>
        </p:nvSpPr>
        <p:spPr>
          <a:xfrm>
            <a:off x="455295" y="4886757"/>
            <a:ext cx="813249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Hiddeninvestigations.Net</a:t>
            </a:r>
            <a:endParaRPr lang="en-US" sz="600" dirty="0"/>
          </a:p>
        </p:txBody>
      </p:sp>
      <p:cxnSp>
        <p:nvCxnSpPr>
          <p:cNvPr id="32" name="Straight Connector 31"/>
          <p:cNvCxnSpPr/>
          <p:nvPr/>
        </p:nvCxnSpPr>
        <p:spPr>
          <a:xfrm flipV="1">
            <a:off x="403860" y="4844415"/>
            <a:ext cx="8425815" cy="114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145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2944" y="253603"/>
            <a:ext cx="1113420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Investigations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71475" y="628650"/>
            <a:ext cx="8401050" cy="3149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100" b="1" kern="0" spc="-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Compare, then choose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371475" y="1300832"/>
            <a:ext cx="1928813" cy="514350"/>
          </a:xfrm>
          <a:prstGeom prst="rect">
            <a:avLst/>
          </a:prstGeom>
          <a:noFill/>
        </p:spPr>
        <p:txBody>
          <a:bodyPr wrap="square" lIns="119126" tIns="102108" rIns="119126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0C1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cmp</a:t>
            </a:r>
            <a:r>
              <a:rPr lang="en-US" sz="85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 — compare two values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528888" y="1300832"/>
            <a:ext cx="1928813" cy="514350"/>
          </a:xfrm>
          <a:prstGeom prst="rect">
            <a:avLst/>
          </a:prstGeom>
          <a:noFill/>
        </p:spPr>
        <p:txBody>
          <a:bodyPr wrap="square" lIns="119126" tIns="102108" rIns="119126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0C1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test</a:t>
            </a:r>
            <a:r>
              <a:rPr lang="en-US" sz="85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 — check bits or zero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686300" y="1300832"/>
            <a:ext cx="1928813" cy="514350"/>
          </a:xfrm>
          <a:prstGeom prst="rect">
            <a:avLst/>
          </a:prstGeom>
          <a:noFill/>
        </p:spPr>
        <p:txBody>
          <a:bodyPr wrap="square" lIns="119126" tIns="102108" rIns="119126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0C1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je</a:t>
            </a:r>
            <a:r>
              <a:rPr lang="en-US" sz="85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 — jump when equal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43713" y="1300832"/>
            <a:ext cx="1928813" cy="514350"/>
          </a:xfrm>
          <a:prstGeom prst="rect">
            <a:avLst/>
          </a:prstGeom>
          <a:noFill/>
        </p:spPr>
        <p:txBody>
          <a:bodyPr wrap="square" lIns="119126" tIns="102108" rIns="119126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0C1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jne</a:t>
            </a:r>
            <a:r>
              <a:rPr lang="en-US" sz="85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 — jump when different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71475" y="1986632"/>
            <a:ext cx="3857625" cy="2144799"/>
          </a:xfrm>
          <a:prstGeom prst="rect">
            <a:avLst/>
          </a:prstGeom>
          <a:solidFill>
            <a:srgbClr val="0B0C10"/>
          </a:solidFill>
        </p:spPr>
      </p:sp>
      <p:sp>
        <p:nvSpPr>
          <p:cNvPr id="11" name="Text 8"/>
          <p:cNvSpPr/>
          <p:nvPr/>
        </p:nvSpPr>
        <p:spPr>
          <a:xfrm>
            <a:off x="557213" y="2143795"/>
            <a:ext cx="3486150" cy="11072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TERMINAL BLOCK / ASSEMBLY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557213" y="2383110"/>
            <a:ext cx="3486150" cy="25929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878C9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cmp</a:t>
            </a:r>
            <a:r>
              <a:rPr lang="en-US" sz="11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eax, 0x1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57213" y="2642406"/>
            <a:ext cx="3486150" cy="25929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F2C2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jne</a:t>
            </a:r>
            <a:r>
              <a:rPr lang="en-US" sz="11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fail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57213" y="2901702"/>
            <a:ext cx="3486150" cy="25929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878C9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call</a:t>
            </a:r>
            <a:r>
              <a:rPr lang="en-US" sz="11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success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57213" y="3296729"/>
            <a:ext cx="471488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878C9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fail: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57213" y="3534594"/>
            <a:ext cx="3486150" cy="25929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878C9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call</a:t>
            </a:r>
            <a:r>
              <a:rPr lang="en-US" sz="11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retry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57213" y="3986771"/>
            <a:ext cx="3486150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The compare sets a condition. The jump chooses which path runs next.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572000" y="2015207"/>
            <a:ext cx="4200525" cy="171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The decision point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815013" y="2329532"/>
            <a:ext cx="1714500" cy="485775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0" name="Text 17"/>
          <p:cNvSpPr/>
          <p:nvPr/>
        </p:nvSpPr>
        <p:spPr>
          <a:xfrm>
            <a:off x="5815013" y="2329532"/>
            <a:ext cx="1714500" cy="48577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C1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cmp input, secret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157788" y="3179638"/>
            <a:ext cx="1300163" cy="2143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C1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je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157788" y="3443957"/>
            <a:ext cx="1300163" cy="1393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equal → success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886575" y="3179638"/>
            <a:ext cx="1300163" cy="2143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C1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jne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886575" y="3443957"/>
            <a:ext cx="1300163" cy="1393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different → fail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71475" y="4260019"/>
            <a:ext cx="8401050" cy="414338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6" name="Text 23"/>
          <p:cNvSpPr/>
          <p:nvPr/>
        </p:nvSpPr>
        <p:spPr>
          <a:xfrm>
            <a:off x="371475" y="4260019"/>
            <a:ext cx="8401050" cy="414338"/>
          </a:xfrm>
          <a:prstGeom prst="rect">
            <a:avLst/>
          </a:prstGeom>
          <a:noFill/>
        </p:spPr>
        <p:txBody>
          <a:bodyPr wrap="square" lIns="170053" tIns="0" rIns="170053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 password check is usually a compare followed by a choice.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0" y="5057775"/>
            <a:ext cx="914400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Hiddeninvestigations.Net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8530865" y="4936331"/>
            <a:ext cx="241660" cy="2643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11</a:t>
            </a:r>
            <a:endParaRPr lang="en-US" sz="1600" dirty="0"/>
          </a:p>
        </p:txBody>
      </p:sp>
      <p:sp>
        <p:nvSpPr>
          <p:cNvPr id="29" name="Shape 0"/>
          <p:cNvSpPr/>
          <p:nvPr/>
        </p:nvSpPr>
        <p:spPr>
          <a:xfrm>
            <a:off x="386715" y="21526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6" name="Group 5"/>
          <p:cNvGrpSpPr/>
          <p:nvPr/>
        </p:nvGrpSpPr>
        <p:grpSpPr>
          <a:xfrm rot="0">
            <a:off x="560070" y="259080"/>
            <a:ext cx="102870" cy="95250"/>
            <a:chOff x="0" y="0"/>
            <a:chExt cx="812800" cy="812800"/>
          </a:xfrm>
        </p:grpSpPr>
        <p:sp>
          <p:nvSpPr>
            <p:cNvPr id="47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-7144"/>
            <a:ext cx="90297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0094" y="282178"/>
            <a:ext cx="1113420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Investigations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8625" y="657225"/>
            <a:ext cx="8401050" cy="3149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100" b="1" kern="0" spc="-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Numbers become characters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442913" y="1486570"/>
            <a:ext cx="2243138" cy="114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kern="0" spc="2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HEX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42913" y="1743745"/>
            <a:ext cx="2243138" cy="5036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650" b="1" dirty="0">
                <a:solidFill>
                  <a:srgbClr val="0B0C1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0x31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442913" y="2318817"/>
            <a:ext cx="2243138" cy="1321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compact byte notation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775347" y="1661592"/>
            <a:ext cx="642938" cy="4786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950" b="1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→</a:t>
            </a:r>
            <a:endParaRPr lang="en-US" sz="2950" dirty="0"/>
          </a:p>
        </p:txBody>
      </p:sp>
      <p:sp>
        <p:nvSpPr>
          <p:cNvPr id="10" name="Text 7"/>
          <p:cNvSpPr/>
          <p:nvPr/>
        </p:nvSpPr>
        <p:spPr>
          <a:xfrm>
            <a:off x="3507581" y="1486570"/>
            <a:ext cx="2243138" cy="114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kern="0" spc="2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DECIMAL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3507581" y="1743745"/>
            <a:ext cx="2243138" cy="5036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650" b="1" dirty="0">
                <a:solidFill>
                  <a:srgbClr val="0B0C1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49</a:t>
            </a:r>
            <a:endParaRPr lang="en-US" sz="2650" dirty="0"/>
          </a:p>
        </p:txBody>
      </p:sp>
      <p:sp>
        <p:nvSpPr>
          <p:cNvPr id="12" name="Text 9"/>
          <p:cNvSpPr/>
          <p:nvPr/>
        </p:nvSpPr>
        <p:spPr>
          <a:xfrm>
            <a:off x="3507581" y="2318817"/>
            <a:ext cx="2243138" cy="1321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the same value in base ten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840016" y="1661592"/>
            <a:ext cx="642938" cy="4786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950" b="1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→</a:t>
            </a:r>
            <a:endParaRPr lang="en-US" sz="2950" dirty="0"/>
          </a:p>
        </p:txBody>
      </p:sp>
      <p:sp>
        <p:nvSpPr>
          <p:cNvPr id="14" name="Shape 11"/>
          <p:cNvSpPr/>
          <p:nvPr/>
        </p:nvSpPr>
        <p:spPr>
          <a:xfrm>
            <a:off x="6557963" y="1329407"/>
            <a:ext cx="2271713" cy="1143000"/>
          </a:xfrm>
          <a:prstGeom prst="rect">
            <a:avLst/>
          </a:prstGeom>
          <a:solidFill>
            <a:srgbClr val="0B0C10"/>
          </a:solidFill>
        </p:spPr>
      </p:sp>
      <p:sp>
        <p:nvSpPr>
          <p:cNvPr id="15" name="Text 12"/>
          <p:cNvSpPr/>
          <p:nvPr/>
        </p:nvSpPr>
        <p:spPr>
          <a:xfrm>
            <a:off x="6557963" y="1472282"/>
            <a:ext cx="2271713" cy="114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kern="0" spc="2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ASCII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57963" y="1729457"/>
            <a:ext cx="2271713" cy="5036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65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"1"</a:t>
            </a:r>
            <a:endParaRPr lang="en-US" sz="2650" dirty="0"/>
          </a:p>
        </p:txBody>
      </p:sp>
      <p:sp>
        <p:nvSpPr>
          <p:cNvPr id="17" name="Text 14"/>
          <p:cNvSpPr/>
          <p:nvPr/>
        </p:nvSpPr>
        <p:spPr>
          <a:xfrm>
            <a:off x="6557963" y="2304529"/>
            <a:ext cx="2271713" cy="1321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 character a human can read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28625" y="2786732"/>
            <a:ext cx="4100513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SIGNED vs UNSIGNED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28625" y="2993901"/>
            <a:ext cx="4100513" cy="339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The same bits can represent a positive number or a negative number, depending on how the program interprets them.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672013" y="2786732"/>
            <a:ext cx="4100513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TWO’S COMPLEMENT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672013" y="2993901"/>
            <a:ext cx="4100513" cy="1699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 common bit pattern used to store negative integers in binary.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28625" y="3529682"/>
            <a:ext cx="8401050" cy="457200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3" name="Text 20"/>
          <p:cNvSpPr/>
          <p:nvPr/>
        </p:nvSpPr>
        <p:spPr>
          <a:xfrm>
            <a:off x="428625" y="3529682"/>
            <a:ext cx="8401050" cy="457200"/>
          </a:xfrm>
          <a:prstGeom prst="rect">
            <a:avLst/>
          </a:prstGeom>
          <a:noFill/>
        </p:spPr>
        <p:txBody>
          <a:bodyPr wrap="square" lIns="187071" tIns="0" rIns="187071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The same bytes can look like numbers, characters, or instructions — context tells you which.</a:t>
            </a:r>
            <a:endParaRPr lang="en-US" sz="1050" dirty="0"/>
          </a:p>
        </p:txBody>
      </p:sp>
      <p:sp>
        <p:nvSpPr>
          <p:cNvPr id="24" name="Shape 0"/>
          <p:cNvSpPr/>
          <p:nvPr/>
        </p:nvSpPr>
        <p:spPr>
          <a:xfrm>
            <a:off x="401955" y="24574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6" name="Group 5"/>
          <p:cNvGrpSpPr/>
          <p:nvPr/>
        </p:nvGrpSpPr>
        <p:grpSpPr>
          <a:xfrm rot="0">
            <a:off x="575310" y="289560"/>
            <a:ext cx="102870" cy="95250"/>
            <a:chOff x="0" y="0"/>
            <a:chExt cx="812800" cy="812800"/>
          </a:xfrm>
        </p:grpSpPr>
        <p:sp>
          <p:nvSpPr>
            <p:cNvPr id="47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  <p:sp>
        <p:nvSpPr>
          <p:cNvPr id="25" name="Text 22"/>
          <p:cNvSpPr/>
          <p:nvPr/>
        </p:nvSpPr>
        <p:spPr>
          <a:xfrm>
            <a:off x="455295" y="4886757"/>
            <a:ext cx="813249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Hiddeninvestigations.Net</a:t>
            </a:r>
            <a:endParaRPr lang="en-US" sz="600" dirty="0"/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403860" y="4844415"/>
            <a:ext cx="8425815" cy="114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4375" y="376833"/>
            <a:ext cx="1187593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Investigations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28625" y="1350169"/>
            <a:ext cx="4643438" cy="4954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500" b="1" kern="0" spc="-2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Reversing ELF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428625" y="1974242"/>
            <a:ext cx="4643438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From Building to Watching Binaries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757863" y="1221581"/>
            <a:ext cx="3071813" cy="2286000"/>
          </a:xfrm>
          <a:prstGeom prst="rect">
            <a:avLst/>
          </a:prstGeom>
          <a:solidFill>
            <a:srgbClr val="0B0C10"/>
          </a:solidFill>
        </p:spPr>
      </p:sp>
      <p:sp>
        <p:nvSpPr>
          <p:cNvPr id="8" name="Shape 5"/>
          <p:cNvSpPr/>
          <p:nvPr/>
        </p:nvSpPr>
        <p:spPr>
          <a:xfrm>
            <a:off x="5757863" y="1221581"/>
            <a:ext cx="85725" cy="2286000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9" name="Text 6"/>
          <p:cNvSpPr/>
          <p:nvPr/>
        </p:nvSpPr>
        <p:spPr>
          <a:xfrm>
            <a:off x="5929313" y="1393031"/>
            <a:ext cx="2728913" cy="8485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gcc -o binary source.c</a:t>
            </a:r>
            <a:r>
              <a:rPr lang="en-US" sz="11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11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strings ./binary</a:t>
            </a:r>
            <a:r>
              <a:rPr lang="en-US" sz="11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1150" dirty="0">
                <a:solidFill>
                  <a:srgbClr val="F2C2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ltrace ./binary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929313" y="2441600"/>
            <a:ext cx="2728913" cy="1321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BUILD → INSPECT → WATCH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7150" y="4986338"/>
            <a:ext cx="914400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Hiddeninvestigations.Net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8559496" y="4850606"/>
            <a:ext cx="270179" cy="2786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13</a:t>
            </a:r>
            <a:endParaRPr lang="en-US" sz="1700" dirty="0"/>
          </a:p>
        </p:txBody>
      </p:sp>
      <p:sp>
        <p:nvSpPr>
          <p:cNvPr id="14" name="Shape 0"/>
          <p:cNvSpPr/>
          <p:nvPr/>
        </p:nvSpPr>
        <p:spPr>
          <a:xfrm>
            <a:off x="394335" y="33718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6" name="Group 5"/>
          <p:cNvGrpSpPr/>
          <p:nvPr/>
        </p:nvGrpSpPr>
        <p:grpSpPr>
          <a:xfrm rot="0">
            <a:off x="567690" y="381000"/>
            <a:ext cx="102870" cy="95250"/>
            <a:chOff x="0" y="0"/>
            <a:chExt cx="812800" cy="812800"/>
          </a:xfrm>
        </p:grpSpPr>
        <p:sp>
          <p:nvSpPr>
            <p:cNvPr id="47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2944" y="275034"/>
            <a:ext cx="1113420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Investigations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71475" y="635794"/>
            <a:ext cx="8401050" cy="3464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Write the lock before picking it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371475" y="1296591"/>
            <a:ext cx="4429125" cy="2957513"/>
          </a:xfrm>
          <a:prstGeom prst="rect">
            <a:avLst/>
          </a:prstGeom>
          <a:solidFill>
            <a:srgbClr val="0B0C10"/>
          </a:solidFill>
        </p:spPr>
      </p:sp>
      <p:sp>
        <p:nvSpPr>
          <p:cNvPr id="7" name="Text 4"/>
          <p:cNvSpPr/>
          <p:nvPr/>
        </p:nvSpPr>
        <p:spPr>
          <a:xfrm>
            <a:off x="485775" y="1382316"/>
            <a:ext cx="4200525" cy="11072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 SOURCE / TERMINAL BLOCK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485775" y="1578769"/>
            <a:ext cx="4200525" cy="166092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#include &lt;stdio.h&gt;</a:t>
            </a:r>
            <a:r>
              <a:rPr lang="en-US" sz="8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8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#include &lt;string.h&gt;</a:t>
            </a:r>
            <a:r>
              <a:rPr lang="en-US" sz="8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8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int main(void) {</a:t>
            </a:r>
            <a:r>
              <a:rPr lang="en-US" sz="8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8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char input[32];</a:t>
            </a:r>
            <a:r>
              <a:rPr lang="en-US" sz="8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8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scanf("%31s", input);</a:t>
            </a:r>
            <a:r>
              <a:rPr lang="en-US" sz="8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8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if (strcmp(input, "CHANGE_ME") == 0)</a:t>
            </a:r>
            <a:r>
              <a:rPr lang="en-US" sz="8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8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puts("Access granted");</a:t>
            </a:r>
            <a:r>
              <a:rPr lang="en-US" sz="8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8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else puts("Try again");</a:t>
            </a:r>
            <a:r>
              <a:rPr lang="en-US" sz="8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8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0;</a:t>
            </a:r>
            <a:r>
              <a:rPr lang="en-US" sz="8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8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85775" y="3296841"/>
            <a:ext cx="4200525" cy="192881"/>
          </a:xfrm>
          <a:prstGeom prst="rect">
            <a:avLst/>
          </a:prstGeom>
          <a:noFill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F2C2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gcc -o mycrackme mycrackme.c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5000625" y="1310878"/>
            <a:ext cx="3657600" cy="3571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 binary is easier to understand when you know what created it.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00625" y="1882378"/>
            <a:ext cx="3657600" cy="3107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01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5000625" y="2193131"/>
            <a:ext cx="3657600" cy="171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Write the checker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000625" y="2407444"/>
            <a:ext cx="3657600" cy="1321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Start with familiar source code.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000625" y="2739628"/>
            <a:ext cx="3657600" cy="3107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5000625" y="3050381"/>
            <a:ext cx="3657600" cy="171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Compile the checker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000625" y="3264694"/>
            <a:ext cx="3657600" cy="1321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Turn the source into an ELF executable.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000625" y="3596878"/>
            <a:ext cx="3657600" cy="3107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03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5000625" y="3907631"/>
            <a:ext cx="3657600" cy="171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Reverse your own binary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000625" y="4121944"/>
            <a:ext cx="3657600" cy="1321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Recognize how the same idea changes shape.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71475" y="4339828"/>
            <a:ext cx="8401050" cy="342900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1" name="Text 18"/>
          <p:cNvSpPr/>
          <p:nvPr/>
        </p:nvSpPr>
        <p:spPr>
          <a:xfrm>
            <a:off x="371475" y="4339828"/>
            <a:ext cx="8401050" cy="3429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Build the lock first. Then learn how the binary remembers it.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0" y="4943475"/>
            <a:ext cx="914400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Hiddeninvestigations.Net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8518252" y="4822031"/>
            <a:ext cx="254273" cy="2643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14</a:t>
            </a:r>
            <a:endParaRPr lang="en-US" sz="1600" dirty="0"/>
          </a:p>
        </p:txBody>
      </p:sp>
      <p:sp>
        <p:nvSpPr>
          <p:cNvPr id="24" name="Shape 0"/>
          <p:cNvSpPr/>
          <p:nvPr/>
        </p:nvSpPr>
        <p:spPr>
          <a:xfrm>
            <a:off x="386715" y="23812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6" name="Group 5"/>
          <p:cNvGrpSpPr/>
          <p:nvPr/>
        </p:nvGrpSpPr>
        <p:grpSpPr>
          <a:xfrm rot="0">
            <a:off x="560070" y="281940"/>
            <a:ext cx="102870" cy="95250"/>
            <a:chOff x="0" y="0"/>
            <a:chExt cx="812800" cy="812800"/>
          </a:xfrm>
        </p:grpSpPr>
        <p:sp>
          <p:nvSpPr>
            <p:cNvPr id="47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49530"/>
            <a:ext cx="90297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0094" y="332184"/>
            <a:ext cx="1113420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Investigations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8625" y="692944"/>
            <a:ext cx="8401050" cy="3149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100" b="1" kern="0" spc="-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Lab 0 — your first binary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428625" y="1493713"/>
            <a:ext cx="514350" cy="3000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100" b="1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42975" y="1474068"/>
            <a:ext cx="2219530" cy="171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Compile it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42975" y="1681237"/>
            <a:ext cx="2219530" cy="1321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Turn the source checker into an executable.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28625" y="2000920"/>
            <a:ext cx="514350" cy="3000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100" b="1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942975" y="1970559"/>
            <a:ext cx="1964085" cy="171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Identify it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42975" y="2177728"/>
            <a:ext cx="1964085" cy="1535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Use </a:t>
            </a:r>
            <a:r>
              <a:rPr lang="en-US" sz="850" dirty="0">
                <a:solidFill>
                  <a:srgbClr val="0B0C1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file</a:t>
            </a:r>
            <a:r>
              <a:rPr lang="en-US" sz="85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 to confirm the binary format.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28625" y="2508126"/>
            <a:ext cx="514350" cy="3000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100" b="1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03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42975" y="2477765"/>
            <a:ext cx="1865188" cy="171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Inspect 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42975" y="2684934"/>
            <a:ext cx="1865188" cy="1535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Use </a:t>
            </a:r>
            <a:r>
              <a:rPr lang="en-US" sz="850" dirty="0">
                <a:solidFill>
                  <a:srgbClr val="0B0C1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strings</a:t>
            </a:r>
            <a:r>
              <a:rPr lang="en-US" sz="85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 to find readable clues.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28625" y="3015332"/>
            <a:ext cx="514350" cy="3000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100" b="1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04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942975" y="2995687"/>
            <a:ext cx="3024094" cy="171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Run and compare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42975" y="3202856"/>
            <a:ext cx="3024094" cy="1321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Compare what the source said with what the binary reveals.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443538" y="1393701"/>
            <a:ext cx="3386138" cy="2357438"/>
          </a:xfrm>
          <a:prstGeom prst="rect">
            <a:avLst/>
          </a:prstGeom>
          <a:solidFill>
            <a:srgbClr val="0B0C10"/>
          </a:solidFill>
        </p:spPr>
      </p:sp>
      <p:sp>
        <p:nvSpPr>
          <p:cNvPr id="19" name="Text 16"/>
          <p:cNvSpPr/>
          <p:nvPr/>
        </p:nvSpPr>
        <p:spPr>
          <a:xfrm>
            <a:off x="5614988" y="1550863"/>
            <a:ext cx="3043238" cy="11072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COMMANDS / TERMINAL BLOCK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5614988" y="1790179"/>
            <a:ext cx="3043238" cy="2442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2000"/>
              </a:lnSpc>
              <a:buNone/>
            </a:pPr>
            <a:r>
              <a:rPr lang="en-US" sz="950" dirty="0">
                <a:solidFill>
                  <a:srgbClr val="F2C2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gcc -o mycrackme mycrackme.c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614988" y="2034462"/>
            <a:ext cx="3043238" cy="2442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file ./mycrackme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614988" y="2278745"/>
            <a:ext cx="3043238" cy="2442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strings ./mycrackme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614988" y="2523027"/>
            <a:ext cx="3043238" cy="2442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./mycrackme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614988" y="2988766"/>
            <a:ext cx="3043238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Observe first. Explain second. Do not guess from one clue.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28625" y="3922588"/>
            <a:ext cx="8401050" cy="442913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6" name="Text 23"/>
          <p:cNvSpPr/>
          <p:nvPr/>
        </p:nvSpPr>
        <p:spPr>
          <a:xfrm>
            <a:off x="428625" y="3922588"/>
            <a:ext cx="8401050" cy="442913"/>
          </a:xfrm>
          <a:prstGeom prst="rect">
            <a:avLst/>
          </a:prstGeom>
          <a:noFill/>
        </p:spPr>
        <p:txBody>
          <a:bodyPr wrap="square" lIns="170053" tIns="0" rIns="170053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You just reverse engineered yourself.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7150" y="5000625"/>
            <a:ext cx="914400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Hiddeninvestigations.Net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8575402" y="4879181"/>
            <a:ext cx="127000" cy="2457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29" name="Shape 0"/>
          <p:cNvSpPr/>
          <p:nvPr/>
        </p:nvSpPr>
        <p:spPr>
          <a:xfrm>
            <a:off x="386715" y="29908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6" name="Group 5"/>
          <p:cNvGrpSpPr/>
          <p:nvPr/>
        </p:nvGrpSpPr>
        <p:grpSpPr>
          <a:xfrm rot="0">
            <a:off x="560070" y="342900"/>
            <a:ext cx="102870" cy="95250"/>
            <a:chOff x="0" y="0"/>
            <a:chExt cx="812800" cy="812800"/>
          </a:xfrm>
        </p:grpSpPr>
        <p:sp>
          <p:nvSpPr>
            <p:cNvPr id="47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0094" y="275034"/>
            <a:ext cx="1113420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Investigations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8625" y="635794"/>
            <a:ext cx="8401050" cy="3464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Technique 1 — read without running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428625" y="1196578"/>
            <a:ext cx="840105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Shape 4"/>
          <p:cNvSpPr/>
          <p:nvPr/>
        </p:nvSpPr>
        <p:spPr>
          <a:xfrm>
            <a:off x="428625" y="1196578"/>
            <a:ext cx="8401050" cy="14288"/>
          </a:xfrm>
          <a:prstGeom prst="rect">
            <a:avLst/>
          </a:prstGeom>
          <a:solidFill>
            <a:srgbClr val="0B0C10"/>
          </a:solidFill>
        </p:spPr>
      </p:sp>
      <p:sp>
        <p:nvSpPr>
          <p:cNvPr id="8" name="Shape 5"/>
          <p:cNvSpPr/>
          <p:nvPr/>
        </p:nvSpPr>
        <p:spPr>
          <a:xfrm>
            <a:off x="428625" y="1525191"/>
            <a:ext cx="8401050" cy="14288"/>
          </a:xfrm>
          <a:prstGeom prst="rect">
            <a:avLst/>
          </a:prstGeom>
          <a:solidFill>
            <a:srgbClr val="0B0C10"/>
          </a:solidFill>
        </p:spPr>
      </p:sp>
      <p:sp>
        <p:nvSpPr>
          <p:cNvPr id="9" name="Text 6"/>
          <p:cNvSpPr/>
          <p:nvPr/>
        </p:nvSpPr>
        <p:spPr>
          <a:xfrm>
            <a:off x="428625" y="1196578"/>
            <a:ext cx="8401050" cy="342900"/>
          </a:xfrm>
          <a:prstGeom prst="rect">
            <a:avLst/>
          </a:prstGeom>
          <a:noFill/>
        </p:spPr>
        <p:txBody>
          <a:bodyPr wrap="square" lIns="153035" tIns="0" rIns="153035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Static analysis = inspecting a program without executing it.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2938" y="1712714"/>
            <a:ext cx="1785938" cy="2536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0C1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file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428875" y="1698427"/>
            <a:ext cx="2397565" cy="1607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Identify the format and architecture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428875" y="1859161"/>
            <a:ext cx="2397565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Tag: IDENTIFY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42938" y="2184202"/>
            <a:ext cx="1785938" cy="2536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0C1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strings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428875" y="2169914"/>
            <a:ext cx="3017286" cy="1607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Print readable sequences embedded in a file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428875" y="2330648"/>
            <a:ext cx="3017286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Tag: QUICK WIN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42938" y="2655689"/>
            <a:ext cx="1785938" cy="2536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0C1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rabin2 -z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428875" y="2641402"/>
            <a:ext cx="2627561" cy="1607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List strings through the radare2 toolkit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428875" y="2802136"/>
            <a:ext cx="2627561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Tag: RADARE2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42938" y="3127177"/>
            <a:ext cx="1785938" cy="2536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0C1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objdump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428875" y="3112889"/>
            <a:ext cx="2961419" cy="1607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Display low-level file and instruction details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428875" y="3273623"/>
            <a:ext cx="2961419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Tag: DISASSEMBLE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28625" y="3539728"/>
            <a:ext cx="8401050" cy="328613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3" name="Text 20"/>
          <p:cNvSpPr/>
          <p:nvPr/>
        </p:nvSpPr>
        <p:spPr>
          <a:xfrm>
            <a:off x="428625" y="3539728"/>
            <a:ext cx="8401050" cy="32861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Start with the cheapest clue before reaching for the deepest tool.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7150" y="5000625"/>
            <a:ext cx="914400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Hiddeninvestigations.Net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8575402" y="4879181"/>
            <a:ext cx="254273" cy="2643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15</a:t>
            </a:r>
            <a:endParaRPr lang="en-US" sz="1600" dirty="0"/>
          </a:p>
        </p:txBody>
      </p:sp>
      <p:sp>
        <p:nvSpPr>
          <p:cNvPr id="26" name="Shape 0"/>
          <p:cNvSpPr/>
          <p:nvPr/>
        </p:nvSpPr>
        <p:spPr>
          <a:xfrm>
            <a:off x="386715" y="23812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6" name="Group 5"/>
          <p:cNvGrpSpPr/>
          <p:nvPr/>
        </p:nvGrpSpPr>
        <p:grpSpPr>
          <a:xfrm rot="0">
            <a:off x="560070" y="281940"/>
            <a:ext cx="102870" cy="95250"/>
            <a:chOff x="0" y="0"/>
            <a:chExt cx="812800" cy="812800"/>
          </a:xfrm>
        </p:grpSpPr>
        <p:sp>
          <p:nvSpPr>
            <p:cNvPr id="47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0094" y="332184"/>
            <a:ext cx="1113420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Investigations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8625" y="692944"/>
            <a:ext cx="8401050" cy="3149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100" b="1" kern="0" spc="-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When secrets are stored in plain sight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428625" y="1379413"/>
            <a:ext cx="3786188" cy="2205186"/>
          </a:xfrm>
          <a:prstGeom prst="rect">
            <a:avLst/>
          </a:prstGeom>
          <a:solidFill>
            <a:srgbClr val="0B0C10"/>
          </a:solidFill>
        </p:spPr>
      </p:sp>
      <p:sp>
        <p:nvSpPr>
          <p:cNvPr id="7" name="Text 4"/>
          <p:cNvSpPr/>
          <p:nvPr/>
        </p:nvSpPr>
        <p:spPr>
          <a:xfrm>
            <a:off x="614363" y="1550863"/>
            <a:ext cx="3414713" cy="11072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F2C2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TERMINAL BLOCK / STATIC CLUE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614363" y="1818754"/>
            <a:ext cx="3414713" cy="247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F2C2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$ strings ./binary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4363" y="2151999"/>
            <a:ext cx="3414713" cy="247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Usage: ./binary &lt;input&gt;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4363" y="2399519"/>
            <a:ext cx="3414713" cy="247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Access granted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4363" y="2647038"/>
            <a:ext cx="3414713" cy="247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Try again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4363" y="2894558"/>
            <a:ext cx="3414713" cy="247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878C9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[printable text only]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4363" y="3420684"/>
            <a:ext cx="3414713" cy="1639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Readable constants often live in the read-only data section.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57713" y="1379413"/>
            <a:ext cx="4271963" cy="2143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Why does </a:t>
            </a:r>
            <a:r>
              <a:rPr lang="en-US" sz="1100" b="1" dirty="0">
                <a:solidFill>
                  <a:srgbClr val="0B0C1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strings</a:t>
            </a:r>
            <a:r>
              <a:rPr lang="en-US" sz="11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 work?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57713" y="1808038"/>
            <a:ext cx="4271963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Constants can survive compilation.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57713" y="1993776"/>
            <a:ext cx="4271963" cy="1542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Messages, labels, and comparison text may remain as printable bytes inside the file.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57713" y="2348061"/>
            <a:ext cx="4271963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Output is a clue, not proof.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57713" y="2533799"/>
            <a:ext cx="4271963" cy="1542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 string may be unused, decoy text, or only one piece of the program’s logic.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557713" y="2888084"/>
            <a:ext cx="4271963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Encoded is not encrypted.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57713" y="3073822"/>
            <a:ext cx="4271963" cy="1578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Base64 often looks like a long mix of letters, numbers, </a:t>
            </a:r>
            <a:r>
              <a:rPr lang="en-US" sz="8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+ /</a:t>
            </a:r>
            <a:r>
              <a:rPr lang="en-US" sz="85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, and optional </a:t>
            </a:r>
            <a:r>
              <a:rPr lang="en-US" sz="8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=</a:t>
            </a:r>
            <a:r>
              <a:rPr lang="en-US" sz="85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 padding.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28625" y="3727475"/>
            <a:ext cx="8401050" cy="414338"/>
          </a:xfrm>
          <a:prstGeom prst="rect">
            <a:avLst/>
          </a:prstGeom>
          <a:solidFill>
            <a:srgbClr val="0B0C10"/>
          </a:solidFill>
        </p:spPr>
      </p:sp>
      <p:sp>
        <p:nvSpPr>
          <p:cNvPr id="22" name="Text 19"/>
          <p:cNvSpPr/>
          <p:nvPr/>
        </p:nvSpPr>
        <p:spPr>
          <a:xfrm>
            <a:off x="428625" y="3727475"/>
            <a:ext cx="8401050" cy="414338"/>
          </a:xfrm>
          <a:prstGeom prst="rect">
            <a:avLst/>
          </a:prstGeom>
          <a:noFill/>
        </p:spPr>
        <p:txBody>
          <a:bodyPr wrap="square" lIns="170053" tIns="0" rIns="170053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kern="0" spc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A–Z a–z 0–9 + / =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28625" y="4256112"/>
            <a:ext cx="8401050" cy="385763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4" name="Text 21"/>
          <p:cNvSpPr/>
          <p:nvPr/>
        </p:nvSpPr>
        <p:spPr>
          <a:xfrm>
            <a:off x="428625" y="4256112"/>
            <a:ext cx="8401050" cy="385763"/>
          </a:xfrm>
          <a:prstGeom prst="rect">
            <a:avLst/>
          </a:prstGeom>
          <a:noFill/>
        </p:spPr>
        <p:txBody>
          <a:bodyPr wrap="square" lIns="170053" tIns="0" rIns="170053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Start with readable text. Then ask whether the program actually uses it.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7150" y="5000625"/>
            <a:ext cx="914400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Hiddeninvestigations.Net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8575402" y="4879181"/>
            <a:ext cx="254273" cy="2643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16</a:t>
            </a:r>
            <a:endParaRPr lang="en-US" sz="1600" dirty="0"/>
          </a:p>
        </p:txBody>
      </p:sp>
      <p:sp>
        <p:nvSpPr>
          <p:cNvPr id="27" name="Shape 0"/>
          <p:cNvSpPr/>
          <p:nvPr/>
        </p:nvSpPr>
        <p:spPr>
          <a:xfrm>
            <a:off x="386715" y="29146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6" name="Group 5"/>
          <p:cNvGrpSpPr/>
          <p:nvPr/>
        </p:nvGrpSpPr>
        <p:grpSpPr>
          <a:xfrm rot="0">
            <a:off x="560070" y="335280"/>
            <a:ext cx="102870" cy="95250"/>
            <a:chOff x="0" y="0"/>
            <a:chExt cx="812800" cy="812800"/>
          </a:xfrm>
        </p:grpSpPr>
        <p:sp>
          <p:nvSpPr>
            <p:cNvPr id="47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075" y="285750"/>
            <a:ext cx="1260872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HIDDEN INVESTIGATIONS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42900" y="607219"/>
            <a:ext cx="8458200" cy="4929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LAB 1: CRACKME 1, 2, 3</a:t>
            </a:r>
            <a:endParaRPr lang="en-US" sz="2350" dirty="0"/>
          </a:p>
        </p:txBody>
      </p:sp>
      <p:sp>
        <p:nvSpPr>
          <p:cNvPr id="6" name="Shape 3"/>
          <p:cNvSpPr/>
          <p:nvPr/>
        </p:nvSpPr>
        <p:spPr>
          <a:xfrm>
            <a:off x="342900" y="1343025"/>
            <a:ext cx="2762231" cy="8143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Shape 4"/>
          <p:cNvSpPr/>
          <p:nvPr/>
        </p:nvSpPr>
        <p:spPr>
          <a:xfrm>
            <a:off x="342900" y="1343025"/>
            <a:ext cx="2762231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8" name="Shape 5"/>
          <p:cNvSpPr/>
          <p:nvPr/>
        </p:nvSpPr>
        <p:spPr>
          <a:xfrm>
            <a:off x="3097988" y="1343025"/>
            <a:ext cx="7144" cy="814388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9" name="Shape 6"/>
          <p:cNvSpPr/>
          <p:nvPr/>
        </p:nvSpPr>
        <p:spPr>
          <a:xfrm>
            <a:off x="342900" y="2150269"/>
            <a:ext cx="2762231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0" name="Shape 7"/>
          <p:cNvSpPr/>
          <p:nvPr/>
        </p:nvSpPr>
        <p:spPr>
          <a:xfrm>
            <a:off x="342900" y="1343025"/>
            <a:ext cx="71438" cy="814388"/>
          </a:xfrm>
          <a:prstGeom prst="rect">
            <a:avLst/>
          </a:prstGeom>
          <a:solidFill>
            <a:srgbClr val="F2C200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450181"/>
            <a:ext cx="171450" cy="1714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1428750"/>
            <a:ext cx="450056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Run it.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28625" y="1700213"/>
            <a:ext cx="2538431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Execute the binary and observe the output.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428625" y="1907381"/>
            <a:ext cx="403622" cy="150019"/>
          </a:xfrm>
          <a:prstGeom prst="roundRect">
            <a:avLst/>
          </a:prstGeom>
          <a:solidFill>
            <a:srgbClr val="F2C200"/>
          </a:solidFill>
        </p:spPr>
      </p:sp>
      <p:sp>
        <p:nvSpPr>
          <p:cNvPr id="15" name="Text 11"/>
          <p:cNvSpPr/>
          <p:nvPr/>
        </p:nvSpPr>
        <p:spPr>
          <a:xfrm>
            <a:off x="428625" y="1907381"/>
            <a:ext cx="403622" cy="150019"/>
          </a:xfrm>
          <a:prstGeom prst="rect">
            <a:avLst/>
          </a:prstGeom>
          <a:noFill/>
        </p:spPr>
        <p:txBody>
          <a:bodyPr wrap="none" lIns="51054" tIns="25527" rIns="51054" bIns="25527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RUNTIME</a:t>
            </a:r>
            <a:endParaRPr lang="en-US" sz="500" dirty="0"/>
          </a:p>
        </p:txBody>
      </p:sp>
      <p:sp>
        <p:nvSpPr>
          <p:cNvPr id="16" name="Shape 12"/>
          <p:cNvSpPr/>
          <p:nvPr/>
        </p:nvSpPr>
        <p:spPr>
          <a:xfrm>
            <a:off x="3138506" y="1343025"/>
            <a:ext cx="2788462" cy="8143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Shape 13"/>
          <p:cNvSpPr/>
          <p:nvPr/>
        </p:nvSpPr>
        <p:spPr>
          <a:xfrm>
            <a:off x="3138506" y="1343025"/>
            <a:ext cx="2788462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8" name="Shape 14"/>
          <p:cNvSpPr/>
          <p:nvPr/>
        </p:nvSpPr>
        <p:spPr>
          <a:xfrm>
            <a:off x="5919825" y="1343025"/>
            <a:ext cx="7144" cy="814388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9" name="Shape 15"/>
          <p:cNvSpPr/>
          <p:nvPr/>
        </p:nvSpPr>
        <p:spPr>
          <a:xfrm>
            <a:off x="3138506" y="2150269"/>
            <a:ext cx="2788462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0" name="Shape 16"/>
          <p:cNvSpPr/>
          <p:nvPr/>
        </p:nvSpPr>
        <p:spPr>
          <a:xfrm>
            <a:off x="3138506" y="1343025"/>
            <a:ext cx="71438" cy="814388"/>
          </a:xfrm>
          <a:prstGeom prst="rect">
            <a:avLst/>
          </a:prstGeom>
          <a:solidFill>
            <a:srgbClr val="F2C200"/>
          </a:solidFill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0406" y="1450181"/>
            <a:ext cx="171450" cy="17145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507581" y="1428750"/>
            <a:ext cx="1218009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strings reveals...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3250406" y="1700213"/>
            <a:ext cx="2564606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Look for human-readable strings in the binary.</a:t>
            </a:r>
            <a:endParaRPr lang="en-US" sz="750" dirty="0"/>
          </a:p>
        </p:txBody>
      </p:sp>
      <p:sp>
        <p:nvSpPr>
          <p:cNvPr id="24" name="Shape 19"/>
          <p:cNvSpPr/>
          <p:nvPr/>
        </p:nvSpPr>
        <p:spPr>
          <a:xfrm>
            <a:off x="3250406" y="1907381"/>
            <a:ext cx="357188" cy="150019"/>
          </a:xfrm>
          <a:prstGeom prst="roundRect">
            <a:avLst/>
          </a:prstGeom>
          <a:solidFill>
            <a:srgbClr val="F2C200"/>
          </a:solidFill>
        </p:spPr>
      </p:sp>
      <p:sp>
        <p:nvSpPr>
          <p:cNvPr id="25" name="Text 20"/>
          <p:cNvSpPr/>
          <p:nvPr/>
        </p:nvSpPr>
        <p:spPr>
          <a:xfrm>
            <a:off x="3250406" y="1907381"/>
            <a:ext cx="357188" cy="150019"/>
          </a:xfrm>
          <a:prstGeom prst="rect">
            <a:avLst/>
          </a:prstGeom>
          <a:noFill/>
        </p:spPr>
        <p:txBody>
          <a:bodyPr wrap="none" lIns="51054" tIns="25527" rIns="51054" bIns="25527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STATIC</a:t>
            </a:r>
            <a:endParaRPr lang="en-US" sz="500" dirty="0"/>
          </a:p>
        </p:txBody>
      </p:sp>
      <p:sp>
        <p:nvSpPr>
          <p:cNvPr id="26" name="Shape 21"/>
          <p:cNvSpPr/>
          <p:nvPr/>
        </p:nvSpPr>
        <p:spPr>
          <a:xfrm>
            <a:off x="5986463" y="1343025"/>
            <a:ext cx="2814638" cy="8143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Shape 22"/>
          <p:cNvSpPr/>
          <p:nvPr/>
        </p:nvSpPr>
        <p:spPr>
          <a:xfrm>
            <a:off x="5986463" y="1343025"/>
            <a:ext cx="2814638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8" name="Shape 23"/>
          <p:cNvSpPr/>
          <p:nvPr/>
        </p:nvSpPr>
        <p:spPr>
          <a:xfrm>
            <a:off x="8793956" y="1343025"/>
            <a:ext cx="7144" cy="814388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9" name="Shape 24"/>
          <p:cNvSpPr/>
          <p:nvPr/>
        </p:nvSpPr>
        <p:spPr>
          <a:xfrm>
            <a:off x="5986463" y="2150269"/>
            <a:ext cx="2814638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0" name="Shape 25"/>
          <p:cNvSpPr/>
          <p:nvPr/>
        </p:nvSpPr>
        <p:spPr>
          <a:xfrm>
            <a:off x="5986463" y="1343025"/>
            <a:ext cx="71438" cy="814388"/>
          </a:xfrm>
          <a:prstGeom prst="rect">
            <a:avLst/>
          </a:prstGeom>
          <a:solidFill>
            <a:srgbClr val="F2C200"/>
          </a:solidFill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538" y="1450181"/>
            <a:ext cx="150019" cy="17145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360282" y="1428750"/>
            <a:ext cx="1707356" cy="2143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strings reveals Base64.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6124538" y="1700213"/>
            <a:ext cx="2590781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Find the encoded string and decode it.</a:t>
            </a:r>
            <a:endParaRPr lang="en-US" sz="750" dirty="0"/>
          </a:p>
        </p:txBody>
      </p:sp>
      <p:sp>
        <p:nvSpPr>
          <p:cNvPr id="34" name="Shape 28"/>
          <p:cNvSpPr/>
          <p:nvPr/>
        </p:nvSpPr>
        <p:spPr>
          <a:xfrm>
            <a:off x="6124538" y="1907381"/>
            <a:ext cx="471488" cy="150019"/>
          </a:xfrm>
          <a:prstGeom prst="roundRect">
            <a:avLst/>
          </a:prstGeom>
          <a:solidFill>
            <a:srgbClr val="F2C200"/>
          </a:solidFill>
        </p:spPr>
      </p:sp>
      <p:sp>
        <p:nvSpPr>
          <p:cNvPr id="35" name="Text 29"/>
          <p:cNvSpPr/>
          <p:nvPr/>
        </p:nvSpPr>
        <p:spPr>
          <a:xfrm>
            <a:off x="6124538" y="1907381"/>
            <a:ext cx="471488" cy="150019"/>
          </a:xfrm>
          <a:prstGeom prst="rect">
            <a:avLst/>
          </a:prstGeom>
          <a:noFill/>
        </p:spPr>
        <p:txBody>
          <a:bodyPr wrap="none" lIns="51054" tIns="25527" rIns="51054" bIns="25527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ENCODING</a:t>
            </a:r>
            <a:endParaRPr lang="en-US" sz="500" dirty="0"/>
          </a:p>
        </p:txBody>
      </p:sp>
      <p:sp>
        <p:nvSpPr>
          <p:cNvPr id="36" name="Shape 30"/>
          <p:cNvSpPr/>
          <p:nvPr/>
        </p:nvSpPr>
        <p:spPr>
          <a:xfrm>
            <a:off x="342900" y="2228850"/>
            <a:ext cx="8458200" cy="696516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7" name="Text 31"/>
          <p:cNvSpPr/>
          <p:nvPr/>
        </p:nvSpPr>
        <p:spPr>
          <a:xfrm>
            <a:off x="342900" y="2228850"/>
            <a:ext cx="8458200" cy="696516"/>
          </a:xfrm>
          <a:prstGeom prst="rect">
            <a:avLst/>
          </a:prstGeom>
          <a:noFill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FF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$</a:t>
            </a:r>
            <a:r>
              <a:rPr lang="en-US" sz="9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./crackme1</a:t>
            </a:r>
            <a:r>
              <a:rPr lang="en-US" sz="9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950" dirty="0">
                <a:solidFill>
                  <a:srgbClr val="00FF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$</a:t>
            </a:r>
            <a:r>
              <a:rPr lang="en-US" sz="9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strings crackme2</a:t>
            </a:r>
            <a:r>
              <a:rPr lang="en-US" sz="9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950" dirty="0">
                <a:solidFill>
                  <a:srgbClr val="00FF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$</a:t>
            </a:r>
            <a:r>
              <a:rPr lang="en-US" sz="9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strings crackme3 | base64 -d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342900" y="3096816"/>
            <a:ext cx="8458200" cy="428625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39" name="Text 33"/>
          <p:cNvSpPr/>
          <p:nvPr/>
        </p:nvSpPr>
        <p:spPr>
          <a:xfrm>
            <a:off x="342900" y="3096816"/>
            <a:ext cx="8458200" cy="428625"/>
          </a:xfrm>
          <a:prstGeom prst="rect">
            <a:avLst/>
          </a:prstGeom>
          <a:noFill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"Always try the easy thing first."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8565356" y="4727258"/>
            <a:ext cx="235744" cy="3857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17</a:t>
            </a:r>
            <a:endParaRPr lang="en-US" sz="1800" dirty="0"/>
          </a:p>
        </p:txBody>
      </p:sp>
      <p:sp>
        <p:nvSpPr>
          <p:cNvPr id="42" name="Shape 0"/>
          <p:cNvSpPr/>
          <p:nvPr/>
        </p:nvSpPr>
        <p:spPr>
          <a:xfrm>
            <a:off x="287655" y="24574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6" name="Group 5"/>
          <p:cNvGrpSpPr/>
          <p:nvPr/>
        </p:nvGrpSpPr>
        <p:grpSpPr>
          <a:xfrm rot="0">
            <a:off x="461010" y="289560"/>
            <a:ext cx="102870" cy="95250"/>
            <a:chOff x="0" y="0"/>
            <a:chExt cx="812800" cy="812800"/>
          </a:xfrm>
        </p:grpSpPr>
        <p:sp>
          <p:nvSpPr>
            <p:cNvPr id="47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  <p:sp>
        <p:nvSpPr>
          <p:cNvPr id="43" name="Text 22"/>
          <p:cNvSpPr/>
          <p:nvPr/>
        </p:nvSpPr>
        <p:spPr>
          <a:xfrm>
            <a:off x="455295" y="4772457"/>
            <a:ext cx="813249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Hiddeninvestigations.Net</a:t>
            </a:r>
            <a:endParaRPr lang="en-US" sz="600" dirty="0"/>
          </a:p>
        </p:txBody>
      </p:sp>
      <p:cxnSp>
        <p:nvCxnSpPr>
          <p:cNvPr id="44" name="Straight Connector 43"/>
          <p:cNvCxnSpPr/>
          <p:nvPr/>
        </p:nvCxnSpPr>
        <p:spPr>
          <a:xfrm flipV="1">
            <a:off x="403860" y="4730115"/>
            <a:ext cx="8425815" cy="114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075" y="285750"/>
            <a:ext cx="1260872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HIDDEN INVESTIGATIONS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42900" y="607219"/>
            <a:ext cx="8458200" cy="4929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When static goes quiet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342900" y="1457325"/>
            <a:ext cx="889397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Scenario: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232297" y="1457325"/>
            <a:ext cx="575072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run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807369" y="1457325"/>
            <a:ext cx="540079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strings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347447" y="1457325"/>
            <a:ext cx="335756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683204" y="1457325"/>
            <a:ext cx="694395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rabin2 -z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377598" y="1457325"/>
            <a:ext cx="1007269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but the output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42900" y="1663043"/>
            <a:ext cx="1703784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 empty or filled with junk.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42900" y="2000920"/>
            <a:ext cx="4086225" cy="6171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Why?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developer didn't store the password as a static 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string. It's being built character-by-character or decrypted at 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runtime.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42900" y="2760948"/>
            <a:ext cx="4086225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Solution: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If we can't read the secret while it's "sleeping" (on 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disk), we watch it while it's "awake" (running).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42900" y="3315258"/>
            <a:ext cx="4086225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Dynamic Analysis: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art of observing a program's behavior, 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memory, and interactions during execution.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293519" y="2132409"/>
            <a:ext cx="2928938" cy="625078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7" name="Text 14"/>
          <p:cNvSpPr/>
          <p:nvPr/>
        </p:nvSpPr>
        <p:spPr>
          <a:xfrm>
            <a:off x="5293519" y="2132409"/>
            <a:ext cx="2928938" cy="625078"/>
          </a:xfrm>
          <a:prstGeom prst="rect">
            <a:avLst/>
          </a:prstGeom>
          <a:noFill/>
        </p:spPr>
        <p:txBody>
          <a:bodyPr wrap="square" lIns="255143" tIns="255143" rIns="255143" bIns="255143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 NO STRINGS FOUND ]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215063" y="2900363"/>
            <a:ext cx="1085850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SWITCH TO DYNAMIC</a:t>
            </a:r>
            <a:endParaRPr lang="en-US" sz="7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121819"/>
            <a:ext cx="257175" cy="342900"/>
          </a:xfrm>
          <a:prstGeom prst="rect">
            <a:avLst/>
          </a:prstGeom>
        </p:spPr>
      </p:pic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675" y="3607594"/>
            <a:ext cx="428625" cy="42862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36781" y="4704398"/>
            <a:ext cx="264319" cy="3857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18</a:t>
            </a:r>
            <a:endParaRPr lang="en-US" sz="1800" dirty="0"/>
          </a:p>
        </p:txBody>
      </p:sp>
      <p:sp>
        <p:nvSpPr>
          <p:cNvPr id="23" name="Shape 0"/>
          <p:cNvSpPr/>
          <p:nvPr/>
        </p:nvSpPr>
        <p:spPr>
          <a:xfrm>
            <a:off x="241935" y="25336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6" name="Group 5"/>
          <p:cNvGrpSpPr/>
          <p:nvPr/>
        </p:nvGrpSpPr>
        <p:grpSpPr>
          <a:xfrm rot="0">
            <a:off x="415290" y="297180"/>
            <a:ext cx="102870" cy="95250"/>
            <a:chOff x="0" y="0"/>
            <a:chExt cx="812800" cy="812800"/>
          </a:xfrm>
        </p:grpSpPr>
        <p:sp>
          <p:nvSpPr>
            <p:cNvPr id="47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  <p:sp>
        <p:nvSpPr>
          <p:cNvPr id="25" name="Text 22"/>
          <p:cNvSpPr/>
          <p:nvPr/>
        </p:nvSpPr>
        <p:spPr>
          <a:xfrm>
            <a:off x="455295" y="4764837"/>
            <a:ext cx="813249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Hiddeninvestigations.Net</a:t>
            </a:r>
            <a:endParaRPr lang="en-US" sz="600" dirty="0"/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403860" y="4722495"/>
            <a:ext cx="8425815" cy="114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075" y="285750"/>
            <a:ext cx="1260872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HIDDEN INVESTIGATIONS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42900" y="607219"/>
            <a:ext cx="8458200" cy="4929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Technique 2: Watching library calls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342900" y="1400175"/>
            <a:ext cx="1428750" cy="1835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Doorway (PLT)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878806" y="1400175"/>
            <a:ext cx="2489597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 programs "borrow" functions like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368403" y="1400175"/>
            <a:ext cx="462948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strcmp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831352" y="1400175"/>
            <a:ext cx="3557588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Linux libraries (libc) rather than writing their own.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42900" y="1690892"/>
            <a:ext cx="1428750" cy="3599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Interception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878806" y="1690892"/>
            <a:ext cx="6922294" cy="3599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can stand at the "doorway" (Procedure Linkage Table) and watch every argument passed to these borrowed functions.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42900" y="2158026"/>
            <a:ext cx="1428750" cy="17998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Tool: ltrace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878806" y="2158026"/>
            <a:ext cx="5547122" cy="17998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library call tracer that intercepts and records dynamic library calls as they happen.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42900" y="2623765"/>
            <a:ext cx="8458200" cy="120015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5" name="Text 12"/>
          <p:cNvSpPr/>
          <p:nvPr/>
        </p:nvSpPr>
        <p:spPr>
          <a:xfrm>
            <a:off x="342900" y="2623765"/>
            <a:ext cx="8458200" cy="1200150"/>
          </a:xfrm>
          <a:prstGeom prst="rect">
            <a:avLst/>
          </a:prstGeom>
          <a:noFill/>
        </p:spPr>
        <p:txBody>
          <a:bodyPr wrap="square" lIns="204089" tIns="204089" rIns="204089" bIns="204089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00FF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</a:t>
            </a: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ltrace ./crackme4</a:t>
            </a: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...</a:t>
            </a: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strcmp("user_input", "</a:t>
            </a:r>
            <a:r>
              <a:rPr lang="en-US" sz="1000" b="1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p4ssw0rd_in_plain_sight</a:t>
            </a: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") = 1</a:t>
            </a: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...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42900" y="4038228"/>
            <a:ext cx="8458200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*Note: The second argument is often the secret we are looking for.*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8547497" y="4765358"/>
            <a:ext cx="253603" cy="3857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19</a:t>
            </a:r>
            <a:endParaRPr lang="en-US" sz="1800" dirty="0"/>
          </a:p>
        </p:txBody>
      </p:sp>
      <p:sp>
        <p:nvSpPr>
          <p:cNvPr id="23" name="Shape 0"/>
          <p:cNvSpPr/>
          <p:nvPr/>
        </p:nvSpPr>
        <p:spPr>
          <a:xfrm>
            <a:off x="241935" y="25336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6" name="Group 5"/>
          <p:cNvGrpSpPr/>
          <p:nvPr/>
        </p:nvGrpSpPr>
        <p:grpSpPr>
          <a:xfrm rot="0">
            <a:off x="415290" y="297180"/>
            <a:ext cx="102870" cy="95250"/>
            <a:chOff x="0" y="0"/>
            <a:chExt cx="812800" cy="812800"/>
          </a:xfrm>
        </p:grpSpPr>
        <p:sp>
          <p:nvSpPr>
            <p:cNvPr id="47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  <p:sp>
        <p:nvSpPr>
          <p:cNvPr id="25" name="Text 22"/>
          <p:cNvSpPr/>
          <p:nvPr/>
        </p:nvSpPr>
        <p:spPr>
          <a:xfrm>
            <a:off x="455295" y="4764837"/>
            <a:ext cx="813249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Hiddeninvestigations.Net</a:t>
            </a:r>
            <a:endParaRPr lang="en-US" sz="600" dirty="0"/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403860" y="4722495"/>
            <a:ext cx="8425815" cy="114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075" y="285750"/>
            <a:ext cx="1260872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HIDDEN INVESTIGATIONS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42900" y="607219"/>
            <a:ext cx="8458200" cy="4929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LAB 2: CRACKME 4, 5</a:t>
            </a:r>
            <a:endParaRPr lang="en-US" sz="2350" dirty="0"/>
          </a:p>
        </p:txBody>
      </p:sp>
      <p:sp>
        <p:nvSpPr>
          <p:cNvPr id="6" name="Shape 3"/>
          <p:cNvSpPr/>
          <p:nvPr/>
        </p:nvSpPr>
        <p:spPr>
          <a:xfrm>
            <a:off x="342900" y="1400175"/>
            <a:ext cx="4143375" cy="127013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Shape 4"/>
          <p:cNvSpPr/>
          <p:nvPr/>
        </p:nvSpPr>
        <p:spPr>
          <a:xfrm>
            <a:off x="342900" y="1400175"/>
            <a:ext cx="4143375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8" name="Shape 5"/>
          <p:cNvSpPr/>
          <p:nvPr/>
        </p:nvSpPr>
        <p:spPr>
          <a:xfrm>
            <a:off x="4479131" y="1400175"/>
            <a:ext cx="7144" cy="1270136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9" name="Shape 6"/>
          <p:cNvSpPr/>
          <p:nvPr/>
        </p:nvSpPr>
        <p:spPr>
          <a:xfrm>
            <a:off x="342900" y="2663168"/>
            <a:ext cx="4143375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0" name="Shape 7"/>
          <p:cNvSpPr/>
          <p:nvPr/>
        </p:nvSpPr>
        <p:spPr>
          <a:xfrm>
            <a:off x="342900" y="1400175"/>
            <a:ext cx="71438" cy="127013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11" name="Text 8"/>
          <p:cNvSpPr/>
          <p:nvPr/>
        </p:nvSpPr>
        <p:spPr>
          <a:xfrm>
            <a:off x="514350" y="1571625"/>
            <a:ext cx="3761184" cy="257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Crackme4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14350" y="1910953"/>
            <a:ext cx="2096691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strings fails, ltrace wins. Intercept the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611041" y="1914525"/>
            <a:ext cx="411491" cy="1535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strcmp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022532" y="1910953"/>
            <a:ext cx="1100138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call to find the flag.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14350" y="2160259"/>
            <a:ext cx="417909" cy="164306"/>
          </a:xfrm>
          <a:prstGeom prst="roundRect">
            <a:avLst/>
          </a:prstGeom>
          <a:solidFill>
            <a:srgbClr val="F2C200"/>
          </a:solidFill>
        </p:spPr>
      </p:sp>
      <p:sp>
        <p:nvSpPr>
          <p:cNvPr id="16" name="Text 13"/>
          <p:cNvSpPr/>
          <p:nvPr/>
        </p:nvSpPr>
        <p:spPr>
          <a:xfrm>
            <a:off x="514350" y="2160259"/>
            <a:ext cx="417909" cy="164306"/>
          </a:xfrm>
          <a:prstGeom prst="rect">
            <a:avLst/>
          </a:prstGeom>
          <a:noFill/>
        </p:spPr>
        <p:txBody>
          <a:bodyPr wrap="none" lIns="85090" tIns="34036" rIns="85090" bIns="34036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LTRACE</a:t>
            </a:r>
            <a:endParaRPr lang="en-US" sz="500" dirty="0"/>
          </a:p>
        </p:txBody>
      </p:sp>
      <p:sp>
        <p:nvSpPr>
          <p:cNvPr id="17" name="Shape 14"/>
          <p:cNvSpPr/>
          <p:nvPr/>
        </p:nvSpPr>
        <p:spPr>
          <a:xfrm>
            <a:off x="4618434" y="1400175"/>
            <a:ext cx="4182666" cy="127013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Shape 15"/>
          <p:cNvSpPr/>
          <p:nvPr/>
        </p:nvSpPr>
        <p:spPr>
          <a:xfrm>
            <a:off x="4618434" y="1400175"/>
            <a:ext cx="4182666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9" name="Shape 16"/>
          <p:cNvSpPr/>
          <p:nvPr/>
        </p:nvSpPr>
        <p:spPr>
          <a:xfrm>
            <a:off x="8793956" y="1400175"/>
            <a:ext cx="7144" cy="1270136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0" name="Shape 17"/>
          <p:cNvSpPr/>
          <p:nvPr/>
        </p:nvSpPr>
        <p:spPr>
          <a:xfrm>
            <a:off x="4618434" y="2663168"/>
            <a:ext cx="4182666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1" name="Shape 18"/>
          <p:cNvSpPr/>
          <p:nvPr/>
        </p:nvSpPr>
        <p:spPr>
          <a:xfrm>
            <a:off x="4618434" y="1400175"/>
            <a:ext cx="71438" cy="127013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2" name="Text 19"/>
          <p:cNvSpPr/>
          <p:nvPr/>
        </p:nvSpPr>
        <p:spPr>
          <a:xfrm>
            <a:off x="4829175" y="1571625"/>
            <a:ext cx="3800475" cy="257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Crackme5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29175" y="1910953"/>
            <a:ext cx="1768078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Decoys and Lengths. Watch for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597253" y="1914525"/>
            <a:ext cx="480082" cy="1535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strncmp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077335" y="1910953"/>
            <a:ext cx="1050131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ignore decoy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8127467" y="1914525"/>
            <a:ext cx="411491" cy="1535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strlen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829175" y="2070962"/>
            <a:ext cx="275034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calls.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829175" y="2320268"/>
            <a:ext cx="500063" cy="164306"/>
          </a:xfrm>
          <a:prstGeom prst="roundRect">
            <a:avLst/>
          </a:prstGeom>
          <a:solidFill>
            <a:srgbClr val="F2C200"/>
          </a:solidFill>
        </p:spPr>
      </p:sp>
      <p:sp>
        <p:nvSpPr>
          <p:cNvPr id="29" name="Text 26"/>
          <p:cNvSpPr/>
          <p:nvPr/>
        </p:nvSpPr>
        <p:spPr>
          <a:xfrm>
            <a:off x="4829175" y="2320268"/>
            <a:ext cx="500063" cy="164306"/>
          </a:xfrm>
          <a:prstGeom prst="rect">
            <a:avLst/>
          </a:prstGeom>
          <a:noFill/>
        </p:spPr>
        <p:txBody>
          <a:bodyPr wrap="none" lIns="85090" tIns="34036" rIns="85090" bIns="34036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FILTERING</a:t>
            </a:r>
            <a:endParaRPr lang="en-US" sz="500" dirty="0"/>
          </a:p>
        </p:txBody>
      </p:sp>
      <p:sp>
        <p:nvSpPr>
          <p:cNvPr id="30" name="Shape 27"/>
          <p:cNvSpPr/>
          <p:nvPr/>
        </p:nvSpPr>
        <p:spPr>
          <a:xfrm>
            <a:off x="342900" y="2870336"/>
            <a:ext cx="8458200" cy="607219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1" name="Text 28"/>
          <p:cNvSpPr/>
          <p:nvPr/>
        </p:nvSpPr>
        <p:spPr>
          <a:xfrm>
            <a:off x="342900" y="2870336"/>
            <a:ext cx="8458200" cy="607219"/>
          </a:xfrm>
          <a:prstGeom prst="rect">
            <a:avLst/>
          </a:prstGeom>
          <a:noFill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0FF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</a:t>
            </a: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ltrace ./crackme4</a:t>
            </a: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00FF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</a:t>
            </a: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ltrace ./crackme5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42900" y="4096941"/>
            <a:ext cx="8458200" cy="485775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33" name="Text 30"/>
          <p:cNvSpPr/>
          <p:nvPr/>
        </p:nvSpPr>
        <p:spPr>
          <a:xfrm>
            <a:off x="342900" y="4096941"/>
            <a:ext cx="8458200" cy="485775"/>
          </a:xfrm>
          <a:prstGeom prst="rect">
            <a:avLst/>
          </a:prstGeom>
          <a:noFill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"If libc does the comparing, ltrace does the cracking."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486775" y="4712018"/>
            <a:ext cx="314325" cy="3857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20</a:t>
            </a:r>
            <a:endParaRPr lang="en-US" sz="1800" dirty="0"/>
          </a:p>
        </p:txBody>
      </p:sp>
      <p:sp>
        <p:nvSpPr>
          <p:cNvPr id="36" name="Shape 0"/>
          <p:cNvSpPr/>
          <p:nvPr/>
        </p:nvSpPr>
        <p:spPr>
          <a:xfrm>
            <a:off x="226695" y="25336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6" name="Group 5"/>
          <p:cNvGrpSpPr/>
          <p:nvPr/>
        </p:nvGrpSpPr>
        <p:grpSpPr>
          <a:xfrm rot="0">
            <a:off x="400050" y="297180"/>
            <a:ext cx="102870" cy="95250"/>
            <a:chOff x="0" y="0"/>
            <a:chExt cx="812800" cy="812800"/>
          </a:xfrm>
        </p:grpSpPr>
        <p:sp>
          <p:nvSpPr>
            <p:cNvPr id="47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  <p:sp>
        <p:nvSpPr>
          <p:cNvPr id="37" name="Text 22"/>
          <p:cNvSpPr/>
          <p:nvPr/>
        </p:nvSpPr>
        <p:spPr>
          <a:xfrm>
            <a:off x="455295" y="4780077"/>
            <a:ext cx="813249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Hiddeninvestigations.Net</a:t>
            </a:r>
            <a:endParaRPr lang="en-US" sz="600" dirty="0"/>
          </a:p>
        </p:txBody>
      </p:sp>
      <p:cxnSp>
        <p:nvCxnSpPr>
          <p:cNvPr id="38" name="Straight Connector 37"/>
          <p:cNvCxnSpPr/>
          <p:nvPr/>
        </p:nvCxnSpPr>
        <p:spPr>
          <a:xfrm flipV="1">
            <a:off x="403860" y="4737735"/>
            <a:ext cx="8425815" cy="114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075" y="285750"/>
            <a:ext cx="1260872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HIDDEN INVESTIGATIONS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42900" y="607219"/>
            <a:ext cx="8458200" cy="4929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developer fights back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342900" y="1443038"/>
            <a:ext cx="4086225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Scenario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42900" y="1703784"/>
            <a:ext cx="462948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ltrace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05848" y="1703784"/>
            <a:ext cx="1264444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 nothing. No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070292" y="1703784"/>
            <a:ext cx="462948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strcmp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533241" y="1703784"/>
            <a:ext cx="267891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no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801131" y="1703784"/>
            <a:ext cx="462948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memcmp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264080" y="1703784"/>
            <a:ext cx="1010841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no library calls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42900" y="1883773"/>
            <a:ext cx="1778794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 all. The program is silent.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42900" y="2238784"/>
            <a:ext cx="4086225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Tactic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42900" y="2499531"/>
            <a:ext cx="4086225" cy="3599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developer wrote their own comparison logic "inline" instead of calling a shared library.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42900" y="3030959"/>
            <a:ext cx="4086225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Inline Comparison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42900" y="3291706"/>
            <a:ext cx="4086225" cy="3599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CPU compares each byte of your input directly against hardcoded values in its registers.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42900" y="3823134"/>
            <a:ext cx="4086225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Result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42900" y="4080309"/>
            <a:ext cx="3932634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secret never leaves the program's internal logic. It never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42900" y="4263870"/>
            <a:ext cx="1903809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crosses the "doorway" where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2246709" y="4263870"/>
            <a:ext cx="462948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ltrace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2709658" y="4263870"/>
            <a:ext cx="803672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 watching.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150644" y="1655564"/>
            <a:ext cx="3214688" cy="28575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4" name="Text 21"/>
          <p:cNvSpPr/>
          <p:nvPr/>
        </p:nvSpPr>
        <p:spPr>
          <a:xfrm>
            <a:off x="5913239" y="1798439"/>
            <a:ext cx="1689497" cy="171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F2C2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BINARY INTERNAL LOGIC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879306" y="2423517"/>
            <a:ext cx="385763" cy="38576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0x46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336506" y="2423517"/>
            <a:ext cx="385763" cy="38576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0x4C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793706" y="2423517"/>
            <a:ext cx="385763" cy="38576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0x41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250906" y="2423517"/>
            <a:ext cx="385763" cy="38576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0x47</a:t>
            </a:r>
            <a:endParaRPr lang="en-US" sz="80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675" y="3095030"/>
            <a:ext cx="428625" cy="428625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115050" y="3595092"/>
            <a:ext cx="1285875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LIBC CALL PATH BLOCKED</a:t>
            </a:r>
            <a:endParaRPr lang="en-US" sz="700" dirty="0"/>
          </a:p>
        </p:txBody>
      </p:sp>
      <p:sp>
        <p:nvSpPr>
          <p:cNvPr id="32" name="Text 28"/>
          <p:cNvSpPr/>
          <p:nvPr/>
        </p:nvSpPr>
        <p:spPr>
          <a:xfrm>
            <a:off x="8558213" y="4719638"/>
            <a:ext cx="242888" cy="3857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21</a:t>
            </a:r>
            <a:endParaRPr lang="en-US" sz="1800" dirty="0"/>
          </a:p>
        </p:txBody>
      </p:sp>
      <p:sp>
        <p:nvSpPr>
          <p:cNvPr id="33" name="Shape 0"/>
          <p:cNvSpPr/>
          <p:nvPr/>
        </p:nvSpPr>
        <p:spPr>
          <a:xfrm>
            <a:off x="241935" y="25336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6" name="Group 5"/>
          <p:cNvGrpSpPr/>
          <p:nvPr/>
        </p:nvGrpSpPr>
        <p:grpSpPr>
          <a:xfrm rot="0">
            <a:off x="415290" y="297180"/>
            <a:ext cx="102870" cy="95250"/>
            <a:chOff x="0" y="0"/>
            <a:chExt cx="812800" cy="812800"/>
          </a:xfrm>
        </p:grpSpPr>
        <p:sp>
          <p:nvSpPr>
            <p:cNvPr id="47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  <p:sp>
        <p:nvSpPr>
          <p:cNvPr id="34" name="Text 22"/>
          <p:cNvSpPr/>
          <p:nvPr/>
        </p:nvSpPr>
        <p:spPr>
          <a:xfrm>
            <a:off x="455295" y="4780077"/>
            <a:ext cx="813249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Hiddeninvestigations.Net</a:t>
            </a:r>
            <a:endParaRPr lang="en-US" sz="600" dirty="0"/>
          </a:p>
        </p:txBody>
      </p:sp>
      <p:cxnSp>
        <p:nvCxnSpPr>
          <p:cNvPr id="35" name="Straight Connector 34"/>
          <p:cNvCxnSpPr/>
          <p:nvPr/>
        </p:nvCxnSpPr>
        <p:spPr>
          <a:xfrm flipV="1">
            <a:off x="403860" y="4737735"/>
            <a:ext cx="8425815" cy="114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6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075" y="285750"/>
            <a:ext cx="1260872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HIDDEN INVESTIGATIONS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42900" y="607219"/>
            <a:ext cx="8458200" cy="4929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Technique 3: Read the disassembly</a:t>
            </a:r>
            <a:endParaRPr lang="en-US" sz="2350" dirty="0"/>
          </a:p>
        </p:txBody>
      </p:sp>
      <p:sp>
        <p:nvSpPr>
          <p:cNvPr id="6" name="Shape 3"/>
          <p:cNvSpPr/>
          <p:nvPr/>
        </p:nvSpPr>
        <p:spPr>
          <a:xfrm>
            <a:off x="342900" y="1400175"/>
            <a:ext cx="4157663" cy="143087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Shape 4"/>
          <p:cNvSpPr/>
          <p:nvPr/>
        </p:nvSpPr>
        <p:spPr>
          <a:xfrm>
            <a:off x="342900" y="1400175"/>
            <a:ext cx="4157663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8" name="Shape 5"/>
          <p:cNvSpPr/>
          <p:nvPr/>
        </p:nvSpPr>
        <p:spPr>
          <a:xfrm>
            <a:off x="4493419" y="1400175"/>
            <a:ext cx="7144" cy="1430871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9" name="Shape 6"/>
          <p:cNvSpPr/>
          <p:nvPr/>
        </p:nvSpPr>
        <p:spPr>
          <a:xfrm>
            <a:off x="342900" y="2823902"/>
            <a:ext cx="4157663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0" name="Shape 7"/>
          <p:cNvSpPr/>
          <p:nvPr/>
        </p:nvSpPr>
        <p:spPr>
          <a:xfrm>
            <a:off x="342900" y="1400175"/>
            <a:ext cx="71438" cy="1430871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11" name="Text 8"/>
          <p:cNvSpPr/>
          <p:nvPr/>
        </p:nvSpPr>
        <p:spPr>
          <a:xfrm>
            <a:off x="485775" y="1543050"/>
            <a:ext cx="3871913" cy="1071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STEP 1: OPEN &amp; DEBUG</a:t>
            </a:r>
            <a:endParaRPr lang="en-US" sz="500" dirty="0"/>
          </a:p>
        </p:txBody>
      </p:sp>
      <p:sp>
        <p:nvSpPr>
          <p:cNvPr id="12" name="Shape 9"/>
          <p:cNvSpPr/>
          <p:nvPr/>
        </p:nvSpPr>
        <p:spPr>
          <a:xfrm>
            <a:off x="485775" y="1707356"/>
            <a:ext cx="1554491" cy="289322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13" name="Text 10"/>
          <p:cNvSpPr/>
          <p:nvPr/>
        </p:nvSpPr>
        <p:spPr>
          <a:xfrm>
            <a:off x="485775" y="1707356"/>
            <a:ext cx="1554491" cy="289322"/>
          </a:xfrm>
          <a:prstGeom prst="rect">
            <a:avLst/>
          </a:prstGeom>
          <a:noFill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r2 -d ./binary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5775" y="2082403"/>
            <a:ext cx="3871913" cy="2143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Load the binary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85775" y="2353866"/>
            <a:ext cx="3871913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Load the target file into Radare2 in debug mode to allow runtime inspection.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643438" y="1400175"/>
            <a:ext cx="4157663" cy="143087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Shape 14"/>
          <p:cNvSpPr/>
          <p:nvPr/>
        </p:nvSpPr>
        <p:spPr>
          <a:xfrm>
            <a:off x="4643438" y="1400175"/>
            <a:ext cx="4157663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8" name="Shape 15"/>
          <p:cNvSpPr/>
          <p:nvPr/>
        </p:nvSpPr>
        <p:spPr>
          <a:xfrm>
            <a:off x="8793956" y="1400175"/>
            <a:ext cx="7144" cy="1430871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9" name="Shape 16"/>
          <p:cNvSpPr/>
          <p:nvPr/>
        </p:nvSpPr>
        <p:spPr>
          <a:xfrm>
            <a:off x="4643438" y="2823902"/>
            <a:ext cx="4157663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0" name="Shape 17"/>
          <p:cNvSpPr/>
          <p:nvPr/>
        </p:nvSpPr>
        <p:spPr>
          <a:xfrm>
            <a:off x="4643438" y="1400175"/>
            <a:ext cx="71438" cy="1430871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1" name="Text 18"/>
          <p:cNvSpPr/>
          <p:nvPr/>
        </p:nvSpPr>
        <p:spPr>
          <a:xfrm>
            <a:off x="4786313" y="1543050"/>
            <a:ext cx="3871913" cy="1071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STEP 2: ANALYZE</a:t>
            </a:r>
            <a:endParaRPr lang="en-US" sz="500" dirty="0"/>
          </a:p>
        </p:txBody>
      </p:sp>
      <p:sp>
        <p:nvSpPr>
          <p:cNvPr id="22" name="Shape 19"/>
          <p:cNvSpPr/>
          <p:nvPr/>
        </p:nvSpPr>
        <p:spPr>
          <a:xfrm>
            <a:off x="4786313" y="1707356"/>
            <a:ext cx="422932" cy="289322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3" name="Text 20"/>
          <p:cNvSpPr/>
          <p:nvPr/>
        </p:nvSpPr>
        <p:spPr>
          <a:xfrm>
            <a:off x="4786313" y="1707356"/>
            <a:ext cx="422932" cy="289322"/>
          </a:xfrm>
          <a:prstGeom prst="rect">
            <a:avLst/>
          </a:prstGeom>
          <a:noFill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aaa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786313" y="2082403"/>
            <a:ext cx="3871913" cy="2143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Run Analysis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786313" y="2353866"/>
            <a:ext cx="3871913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 full analysis to identify functions, strings, and cross-references.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42900" y="2959633"/>
            <a:ext cx="4157663" cy="143087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Shape 24"/>
          <p:cNvSpPr/>
          <p:nvPr/>
        </p:nvSpPr>
        <p:spPr>
          <a:xfrm>
            <a:off x="342900" y="2959633"/>
            <a:ext cx="4157663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8" name="Shape 25"/>
          <p:cNvSpPr/>
          <p:nvPr/>
        </p:nvSpPr>
        <p:spPr>
          <a:xfrm>
            <a:off x="4493419" y="2959633"/>
            <a:ext cx="7144" cy="1430871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9" name="Shape 26"/>
          <p:cNvSpPr/>
          <p:nvPr/>
        </p:nvSpPr>
        <p:spPr>
          <a:xfrm>
            <a:off x="342900" y="4383360"/>
            <a:ext cx="4157663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0" name="Shape 27"/>
          <p:cNvSpPr/>
          <p:nvPr/>
        </p:nvSpPr>
        <p:spPr>
          <a:xfrm>
            <a:off x="342900" y="2959633"/>
            <a:ext cx="71438" cy="1430871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31" name="Text 28"/>
          <p:cNvSpPr/>
          <p:nvPr/>
        </p:nvSpPr>
        <p:spPr>
          <a:xfrm>
            <a:off x="485775" y="3102508"/>
            <a:ext cx="3871913" cy="1071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STEP 3: LIST FUNCTIONS</a:t>
            </a:r>
            <a:endParaRPr lang="en-US" sz="500" dirty="0"/>
          </a:p>
        </p:txBody>
      </p:sp>
      <p:sp>
        <p:nvSpPr>
          <p:cNvPr id="32" name="Shape 29"/>
          <p:cNvSpPr/>
          <p:nvPr/>
        </p:nvSpPr>
        <p:spPr>
          <a:xfrm>
            <a:off x="485775" y="3266815"/>
            <a:ext cx="422932" cy="289322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33" name="Text 30"/>
          <p:cNvSpPr/>
          <p:nvPr/>
        </p:nvSpPr>
        <p:spPr>
          <a:xfrm>
            <a:off x="485775" y="3266815"/>
            <a:ext cx="422932" cy="289322"/>
          </a:xfrm>
          <a:prstGeom prst="rect">
            <a:avLst/>
          </a:prstGeom>
          <a:noFill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afl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85775" y="3641861"/>
            <a:ext cx="3871913" cy="2143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Find the Entry Point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85775" y="3909752"/>
            <a:ext cx="460772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Look for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946547" y="3913324"/>
            <a:ext cx="274365" cy="1535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main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1220912" y="3909752"/>
            <a:ext cx="1903809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 suspicious function names like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485775" y="4073333"/>
            <a:ext cx="1234473" cy="1535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sym.check_password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720248" y="4069761"/>
            <a:ext cx="21431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643438" y="2959633"/>
            <a:ext cx="4157663" cy="143087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1" name="Shape 38"/>
          <p:cNvSpPr/>
          <p:nvPr/>
        </p:nvSpPr>
        <p:spPr>
          <a:xfrm>
            <a:off x="4643438" y="2959633"/>
            <a:ext cx="4157663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2" name="Shape 39"/>
          <p:cNvSpPr/>
          <p:nvPr/>
        </p:nvSpPr>
        <p:spPr>
          <a:xfrm>
            <a:off x="8793956" y="2959633"/>
            <a:ext cx="7144" cy="1430871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3" name="Shape 40"/>
          <p:cNvSpPr/>
          <p:nvPr/>
        </p:nvSpPr>
        <p:spPr>
          <a:xfrm>
            <a:off x="4643438" y="4383360"/>
            <a:ext cx="4157663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4" name="Shape 41"/>
          <p:cNvSpPr/>
          <p:nvPr/>
        </p:nvSpPr>
        <p:spPr>
          <a:xfrm>
            <a:off x="4643438" y="2959633"/>
            <a:ext cx="71438" cy="1430871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45" name="Text 42"/>
          <p:cNvSpPr/>
          <p:nvPr/>
        </p:nvSpPr>
        <p:spPr>
          <a:xfrm>
            <a:off x="4786313" y="3102508"/>
            <a:ext cx="3871913" cy="1071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STEP 4: DISASSEMBLE</a:t>
            </a:r>
            <a:endParaRPr lang="en-US" sz="500" dirty="0"/>
          </a:p>
        </p:txBody>
      </p:sp>
      <p:sp>
        <p:nvSpPr>
          <p:cNvPr id="46" name="Shape 43"/>
          <p:cNvSpPr/>
          <p:nvPr/>
        </p:nvSpPr>
        <p:spPr>
          <a:xfrm>
            <a:off x="4786313" y="3266815"/>
            <a:ext cx="1863123" cy="289322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47" name="Text 44"/>
          <p:cNvSpPr/>
          <p:nvPr/>
        </p:nvSpPr>
        <p:spPr>
          <a:xfrm>
            <a:off x="4786313" y="3266815"/>
            <a:ext cx="1863123" cy="289322"/>
          </a:xfrm>
          <a:prstGeom prst="rect">
            <a:avLst/>
          </a:prstGeom>
          <a:noFill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pdf @sym.function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4786313" y="3641861"/>
            <a:ext cx="3871913" cy="2143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Read the Code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4786313" y="3913324"/>
            <a:ext cx="3871913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Print the disassembly of the selected function to see the raw instructions.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342900" y="4611484"/>
            <a:ext cx="8458200" cy="678656"/>
          </a:xfrm>
          <a:prstGeom prst="rect">
            <a:avLst/>
          </a:prstGeom>
          <a:solidFill>
            <a:srgbClr val="000000"/>
          </a:solidFill>
        </p:spPr>
        <p:txBody>
          <a:bodyPr/>
          <a:p>
            <a:endParaRPr lang="en-GB" altLang="en-US"/>
          </a:p>
        </p:txBody>
      </p:sp>
      <p:pic>
        <p:nvPicPr>
          <p:cNvPr id="5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4844132"/>
            <a:ext cx="128588" cy="171450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757238" y="4740548"/>
            <a:ext cx="1218009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2C2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Look for the Chain: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1975247" y="4740548"/>
            <a:ext cx="1007269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sequence of</a:t>
            </a:r>
            <a:endParaRPr lang="en-US" sz="950" dirty="0"/>
          </a:p>
        </p:txBody>
      </p:sp>
      <p:sp>
        <p:nvSpPr>
          <p:cNvPr id="54" name="Text 50"/>
          <p:cNvSpPr/>
          <p:nvPr/>
        </p:nvSpPr>
        <p:spPr>
          <a:xfrm>
            <a:off x="2982516" y="4740548"/>
            <a:ext cx="925841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cmp al, 0xNN</a:t>
            </a:r>
            <a:endParaRPr lang="en-US" sz="950" dirty="0"/>
          </a:p>
        </p:txBody>
      </p:sp>
      <p:sp>
        <p:nvSpPr>
          <p:cNvPr id="55" name="Text 51"/>
          <p:cNvSpPr/>
          <p:nvPr/>
        </p:nvSpPr>
        <p:spPr>
          <a:xfrm>
            <a:off x="3908357" y="4740548"/>
            <a:ext cx="4636294" cy="182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instructions is often a password spelled out character-by-character in</a:t>
            </a:r>
            <a:endParaRPr lang="en-US" sz="950" dirty="0"/>
          </a:p>
        </p:txBody>
      </p:sp>
      <p:sp>
        <p:nvSpPr>
          <p:cNvPr id="56" name="Text 52"/>
          <p:cNvSpPr/>
          <p:nvPr/>
        </p:nvSpPr>
        <p:spPr>
          <a:xfrm>
            <a:off x="757238" y="4937001"/>
            <a:ext cx="875109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2C2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Hexadecimal</a:t>
            </a:r>
            <a:endParaRPr lang="en-US" sz="900" dirty="0"/>
          </a:p>
        </p:txBody>
      </p:sp>
      <p:sp>
        <p:nvSpPr>
          <p:cNvPr id="57" name="Text 53"/>
          <p:cNvSpPr/>
          <p:nvPr/>
        </p:nvSpPr>
        <p:spPr>
          <a:xfrm>
            <a:off x="1632347" y="4937001"/>
            <a:ext cx="28575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950" dirty="0"/>
          </a:p>
        </p:txBody>
      </p:sp>
      <p:sp>
        <p:nvSpPr>
          <p:cNvPr id="58" name="Text 54"/>
          <p:cNvSpPr/>
          <p:nvPr/>
        </p:nvSpPr>
        <p:spPr>
          <a:xfrm>
            <a:off x="342900" y="5276329"/>
            <a:ext cx="8458200" cy="160020"/>
          </a:xfrm>
          <a:prstGeom prst="rect">
            <a:avLst/>
          </a:prstGeom>
          <a:noFill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buNone/>
            </a:pPr>
            <a:endParaRPr lang="en-US" sz="600" dirty="0"/>
          </a:p>
        </p:txBody>
      </p:sp>
      <p:sp>
        <p:nvSpPr>
          <p:cNvPr id="59" name="Text 55"/>
          <p:cNvSpPr/>
          <p:nvPr/>
        </p:nvSpPr>
        <p:spPr>
          <a:xfrm>
            <a:off x="8508206" y="5072732"/>
            <a:ext cx="292894" cy="3857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22</a:t>
            </a:r>
            <a:endParaRPr lang="en-US" sz="1800" dirty="0"/>
          </a:p>
        </p:txBody>
      </p:sp>
      <p:sp>
        <p:nvSpPr>
          <p:cNvPr id="60" name="Shape 0"/>
          <p:cNvSpPr/>
          <p:nvPr/>
        </p:nvSpPr>
        <p:spPr>
          <a:xfrm>
            <a:off x="241935" y="23812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61" name="Group 5"/>
          <p:cNvGrpSpPr/>
          <p:nvPr/>
        </p:nvGrpSpPr>
        <p:grpSpPr>
          <a:xfrm rot="0">
            <a:off x="415290" y="281940"/>
            <a:ext cx="102870" cy="95250"/>
            <a:chOff x="0" y="0"/>
            <a:chExt cx="812800" cy="812800"/>
          </a:xfrm>
        </p:grpSpPr>
        <p:sp>
          <p:nvSpPr>
            <p:cNvPr id="62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3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075" y="285750"/>
            <a:ext cx="1260872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HIDDEN INVESTIGATIONS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42900" y="607219"/>
            <a:ext cx="8458200" cy="4929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LAB 3: CRACKME 6</a:t>
            </a:r>
            <a:endParaRPr lang="en-US" sz="2350" dirty="0"/>
          </a:p>
        </p:txBody>
      </p:sp>
      <p:sp>
        <p:nvSpPr>
          <p:cNvPr id="6" name="Shape 3"/>
          <p:cNvSpPr/>
          <p:nvPr/>
        </p:nvSpPr>
        <p:spPr>
          <a:xfrm>
            <a:off x="342900" y="1443038"/>
            <a:ext cx="285750" cy="285750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7" name="Text 4"/>
          <p:cNvSpPr/>
          <p:nvPr/>
        </p:nvSpPr>
        <p:spPr>
          <a:xfrm>
            <a:off x="342900" y="1443038"/>
            <a:ext cx="285750" cy="28575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1525" y="1443038"/>
            <a:ext cx="3657600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Locate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1525" y="1707356"/>
            <a:ext cx="3118247" cy="1607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Find the function where the input is being checked (e.g.,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71525" y="1882378"/>
            <a:ext cx="1234473" cy="1535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sym.check_password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005998" y="1878806"/>
            <a:ext cx="71438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42900" y="2218134"/>
            <a:ext cx="285750" cy="285750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13" name="Text 10"/>
          <p:cNvSpPr/>
          <p:nvPr/>
        </p:nvSpPr>
        <p:spPr>
          <a:xfrm>
            <a:off x="342900" y="2218134"/>
            <a:ext cx="285750" cy="28575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1525" y="2218134"/>
            <a:ext cx="3657600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Collect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1525" y="2482453"/>
            <a:ext cx="1385888" cy="1607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Identify the sequence of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157413" y="2486025"/>
            <a:ext cx="205773" cy="1535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cmp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363186" y="2482453"/>
            <a:ext cx="175022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2538208" y="2486025"/>
            <a:ext cx="205773" cy="1535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mov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743981" y="2482453"/>
            <a:ext cx="1446609" cy="1607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instructions involving hex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71525" y="2653903"/>
            <a:ext cx="385763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values.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42900" y="2993231"/>
            <a:ext cx="285750" cy="285750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2" name="Text 19"/>
          <p:cNvSpPr/>
          <p:nvPr/>
        </p:nvSpPr>
        <p:spPr>
          <a:xfrm>
            <a:off x="342900" y="2993231"/>
            <a:ext cx="285750" cy="28575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71525" y="2993231"/>
            <a:ext cx="3657600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Convert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71525" y="3253978"/>
            <a:ext cx="3657600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Take those hex bytes and turn them back into readable ASCII characters.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479256" y="2012752"/>
            <a:ext cx="585788" cy="442913"/>
          </a:xfrm>
          <a:prstGeom prst="rect">
            <a:avLst/>
          </a:prstGeom>
          <a:solidFill>
            <a:srgbClr val="000000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79256" y="2012752"/>
            <a:ext cx="585788" cy="44291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0x31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129338" y="2012752"/>
            <a:ext cx="585788" cy="442913"/>
          </a:xfrm>
          <a:prstGeom prst="rect">
            <a:avLst/>
          </a:prstGeom>
          <a:solidFill>
            <a:srgbClr val="000000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29338" y="2012752"/>
            <a:ext cx="585788" cy="44291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0x33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779419" y="2012752"/>
            <a:ext cx="585788" cy="442913"/>
          </a:xfrm>
          <a:prstGeom prst="rect">
            <a:avLst/>
          </a:prstGeom>
          <a:solidFill>
            <a:srgbClr val="000000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779419" y="2012752"/>
            <a:ext cx="585788" cy="44291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0x33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429500" y="2012752"/>
            <a:ext cx="585788" cy="442913"/>
          </a:xfrm>
          <a:prstGeom prst="rect">
            <a:avLst/>
          </a:prstGeom>
          <a:solidFill>
            <a:srgbClr val="000000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429500" y="2012752"/>
            <a:ext cx="585788" cy="44291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0x37</a:t>
            </a:r>
            <a:endParaRPr lang="en-US" sz="100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3264" y="2627114"/>
            <a:ext cx="214313" cy="28575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6434733" y="2694980"/>
            <a:ext cx="967978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ASCII CONVERSION</a:t>
            </a:r>
            <a:endParaRPr lang="en-US" sz="700" dirty="0"/>
          </a:p>
        </p:txBody>
      </p:sp>
      <p:sp>
        <p:nvSpPr>
          <p:cNvPr id="35" name="Shape 31"/>
          <p:cNvSpPr/>
          <p:nvPr/>
        </p:nvSpPr>
        <p:spPr>
          <a:xfrm>
            <a:off x="5379244" y="3091458"/>
            <a:ext cx="635794" cy="44291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6" name="Shape 32"/>
          <p:cNvSpPr/>
          <p:nvPr/>
        </p:nvSpPr>
        <p:spPr>
          <a:xfrm>
            <a:off x="5379244" y="3091458"/>
            <a:ext cx="635794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7" name="Shape 33"/>
          <p:cNvSpPr/>
          <p:nvPr/>
        </p:nvSpPr>
        <p:spPr>
          <a:xfrm>
            <a:off x="6007894" y="3091458"/>
            <a:ext cx="7144" cy="44291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8" name="Shape 34"/>
          <p:cNvSpPr/>
          <p:nvPr/>
        </p:nvSpPr>
        <p:spPr>
          <a:xfrm>
            <a:off x="5379244" y="3527227"/>
            <a:ext cx="635794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9" name="Shape 35"/>
          <p:cNvSpPr/>
          <p:nvPr/>
        </p:nvSpPr>
        <p:spPr>
          <a:xfrm>
            <a:off x="5379244" y="3091458"/>
            <a:ext cx="57150" cy="442913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40" name="Text 36"/>
          <p:cNvSpPr/>
          <p:nvPr/>
        </p:nvSpPr>
        <p:spPr>
          <a:xfrm>
            <a:off x="5379244" y="3091458"/>
            <a:ext cx="635794" cy="44291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6054328" y="3091458"/>
            <a:ext cx="635794" cy="44291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2" name="Shape 38"/>
          <p:cNvSpPr/>
          <p:nvPr/>
        </p:nvSpPr>
        <p:spPr>
          <a:xfrm>
            <a:off x="6054328" y="3091458"/>
            <a:ext cx="635794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3" name="Shape 39"/>
          <p:cNvSpPr/>
          <p:nvPr/>
        </p:nvSpPr>
        <p:spPr>
          <a:xfrm>
            <a:off x="6682978" y="3091458"/>
            <a:ext cx="7144" cy="44291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4" name="Shape 40"/>
          <p:cNvSpPr/>
          <p:nvPr/>
        </p:nvSpPr>
        <p:spPr>
          <a:xfrm>
            <a:off x="6054328" y="3527227"/>
            <a:ext cx="635794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5" name="Shape 41"/>
          <p:cNvSpPr/>
          <p:nvPr/>
        </p:nvSpPr>
        <p:spPr>
          <a:xfrm>
            <a:off x="6054328" y="3091458"/>
            <a:ext cx="57150" cy="442913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46" name="Text 42"/>
          <p:cNvSpPr/>
          <p:nvPr/>
        </p:nvSpPr>
        <p:spPr>
          <a:xfrm>
            <a:off x="6054328" y="3091458"/>
            <a:ext cx="635794" cy="44291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6729413" y="3091458"/>
            <a:ext cx="635794" cy="44291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Shape 44"/>
          <p:cNvSpPr/>
          <p:nvPr/>
        </p:nvSpPr>
        <p:spPr>
          <a:xfrm>
            <a:off x="6729413" y="3091458"/>
            <a:ext cx="635794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9" name="Shape 45"/>
          <p:cNvSpPr/>
          <p:nvPr/>
        </p:nvSpPr>
        <p:spPr>
          <a:xfrm>
            <a:off x="7358063" y="3091458"/>
            <a:ext cx="7144" cy="44291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50" name="Shape 46"/>
          <p:cNvSpPr/>
          <p:nvPr/>
        </p:nvSpPr>
        <p:spPr>
          <a:xfrm>
            <a:off x="6729413" y="3527227"/>
            <a:ext cx="635794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51" name="Shape 47"/>
          <p:cNvSpPr/>
          <p:nvPr/>
        </p:nvSpPr>
        <p:spPr>
          <a:xfrm>
            <a:off x="6729413" y="3091458"/>
            <a:ext cx="57150" cy="442913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52" name="Text 48"/>
          <p:cNvSpPr/>
          <p:nvPr/>
        </p:nvSpPr>
        <p:spPr>
          <a:xfrm>
            <a:off x="6729413" y="3091458"/>
            <a:ext cx="635794" cy="44291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</a:t>
            </a:r>
            <a:endParaRPr lang="en-US" sz="1000" dirty="0"/>
          </a:p>
        </p:txBody>
      </p:sp>
      <p:sp>
        <p:nvSpPr>
          <p:cNvPr id="53" name="Shape 49"/>
          <p:cNvSpPr/>
          <p:nvPr/>
        </p:nvSpPr>
        <p:spPr>
          <a:xfrm>
            <a:off x="7404497" y="3091458"/>
            <a:ext cx="635794" cy="44291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" name="Shape 50"/>
          <p:cNvSpPr/>
          <p:nvPr/>
        </p:nvSpPr>
        <p:spPr>
          <a:xfrm>
            <a:off x="7404497" y="3091458"/>
            <a:ext cx="635794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55" name="Shape 51"/>
          <p:cNvSpPr/>
          <p:nvPr/>
        </p:nvSpPr>
        <p:spPr>
          <a:xfrm>
            <a:off x="8033147" y="3091458"/>
            <a:ext cx="7144" cy="44291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56" name="Shape 52"/>
          <p:cNvSpPr/>
          <p:nvPr/>
        </p:nvSpPr>
        <p:spPr>
          <a:xfrm>
            <a:off x="7404497" y="3527227"/>
            <a:ext cx="635794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57" name="Shape 53"/>
          <p:cNvSpPr/>
          <p:nvPr/>
        </p:nvSpPr>
        <p:spPr>
          <a:xfrm>
            <a:off x="7404497" y="3091458"/>
            <a:ext cx="57150" cy="442913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58" name="Text 54"/>
          <p:cNvSpPr/>
          <p:nvPr/>
        </p:nvSpPr>
        <p:spPr>
          <a:xfrm>
            <a:off x="7404497" y="3091458"/>
            <a:ext cx="635794" cy="44291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7</a:t>
            </a:r>
            <a:endParaRPr lang="en-US" sz="1000" dirty="0"/>
          </a:p>
        </p:txBody>
      </p:sp>
      <p:sp>
        <p:nvSpPr>
          <p:cNvPr id="59" name="Shape 55"/>
          <p:cNvSpPr/>
          <p:nvPr/>
        </p:nvSpPr>
        <p:spPr>
          <a:xfrm>
            <a:off x="342900" y="4111228"/>
            <a:ext cx="8458200" cy="471488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60" name="Text 56"/>
          <p:cNvSpPr/>
          <p:nvPr/>
        </p:nvSpPr>
        <p:spPr>
          <a:xfrm>
            <a:off x="342900" y="4111228"/>
            <a:ext cx="8458200" cy="471488"/>
          </a:xfrm>
          <a:prstGeom prst="rect">
            <a:avLst/>
          </a:prstGeom>
          <a:noFill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"When the program won't talk, read its mind."</a:t>
            </a:r>
            <a:endParaRPr lang="en-US" sz="1200" dirty="0"/>
          </a:p>
        </p:txBody>
      </p:sp>
      <p:sp>
        <p:nvSpPr>
          <p:cNvPr id="62" name="Text 58"/>
          <p:cNvSpPr/>
          <p:nvPr/>
        </p:nvSpPr>
        <p:spPr>
          <a:xfrm>
            <a:off x="8501063" y="4752658"/>
            <a:ext cx="300038" cy="3857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23</a:t>
            </a:r>
            <a:endParaRPr lang="en-US" sz="1800" dirty="0"/>
          </a:p>
        </p:txBody>
      </p:sp>
      <p:sp>
        <p:nvSpPr>
          <p:cNvPr id="63" name="Shape 0"/>
          <p:cNvSpPr/>
          <p:nvPr/>
        </p:nvSpPr>
        <p:spPr>
          <a:xfrm>
            <a:off x="241935" y="25336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64" name="Group 5"/>
          <p:cNvGrpSpPr/>
          <p:nvPr/>
        </p:nvGrpSpPr>
        <p:grpSpPr>
          <a:xfrm rot="0">
            <a:off x="415290" y="297180"/>
            <a:ext cx="102870" cy="95250"/>
            <a:chOff x="0" y="0"/>
            <a:chExt cx="812800" cy="812800"/>
          </a:xfrm>
        </p:grpSpPr>
        <p:sp>
          <p:nvSpPr>
            <p:cNvPr id="65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6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  <p:sp>
        <p:nvSpPr>
          <p:cNvPr id="67" name="Text 22"/>
          <p:cNvSpPr/>
          <p:nvPr/>
        </p:nvSpPr>
        <p:spPr>
          <a:xfrm>
            <a:off x="455295" y="4772457"/>
            <a:ext cx="813249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Hiddeninvestigations.Net</a:t>
            </a:r>
            <a:endParaRPr lang="en-US" sz="600" dirty="0"/>
          </a:p>
        </p:txBody>
      </p:sp>
      <p:cxnSp>
        <p:nvCxnSpPr>
          <p:cNvPr id="68" name="Straight Connector 67"/>
          <p:cNvCxnSpPr/>
          <p:nvPr/>
        </p:nvCxnSpPr>
        <p:spPr>
          <a:xfrm flipV="1">
            <a:off x="403860" y="4730115"/>
            <a:ext cx="8425815" cy="114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97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075" y="285750"/>
            <a:ext cx="1260872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HIDDEN INVESTIGATIONS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42900" y="607219"/>
            <a:ext cx="8458200" cy="4929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Technique 4: Follow the logic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478631" y="1543050"/>
            <a:ext cx="2588382" cy="2143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Beyond Passwords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78631" y="1814513"/>
            <a:ext cx="2588382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Sometimes the goal isn't a string, but a specific path through the code.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345619" y="1543050"/>
            <a:ext cx="2588437" cy="2143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Hidden Paths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345619" y="1814513"/>
            <a:ext cx="2588437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Developers often leave "backdoors" or hidden menu options for testing.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212663" y="1543050"/>
            <a:ext cx="2588437" cy="2143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Control Flow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12663" y="1810941"/>
            <a:ext cx="2411016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 reading disassembly, we map out every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212663" y="1974521"/>
            <a:ext cx="480082" cy="1535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if/else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692745" y="1970949"/>
            <a:ext cx="939403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branch (jumps).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929063" y="2491718"/>
            <a:ext cx="1285875" cy="439341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29063" y="2491718"/>
            <a:ext cx="1285875" cy="439341"/>
          </a:xfrm>
          <a:prstGeom prst="rect">
            <a:avLst/>
          </a:prstGeom>
          <a:noFill/>
        </p:spPr>
        <p:txBody>
          <a:bodyPr wrap="none" lIns="255143" tIns="127508" rIns="255143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Enter Choice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579409" y="3473983"/>
            <a:ext cx="367903" cy="1250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NORMAL</a:t>
            </a:r>
            <a:endParaRPr lang="en-US" sz="600" dirty="0"/>
          </a:p>
        </p:txBody>
      </p:sp>
      <p:sp>
        <p:nvSpPr>
          <p:cNvPr id="17" name="Shape 14"/>
          <p:cNvSpPr/>
          <p:nvPr/>
        </p:nvSpPr>
        <p:spPr>
          <a:xfrm>
            <a:off x="3143250" y="3634718"/>
            <a:ext cx="1240222" cy="635794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143250" y="3634718"/>
            <a:ext cx="1240222" cy="635794"/>
          </a:xfrm>
          <a:prstGeom prst="rect">
            <a:avLst/>
          </a:prstGeom>
          <a:noFill/>
        </p:spPr>
        <p:txBody>
          <a:bodyPr wrap="none" lIns="255143" tIns="127508" rIns="255143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Option 1, 2, 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855462" y="3473983"/>
            <a:ext cx="657225" cy="1250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SECRET: 0X1337</a:t>
            </a:r>
            <a:endParaRPr lang="en-US" sz="600" dirty="0"/>
          </a:p>
        </p:txBody>
      </p:sp>
      <p:sp>
        <p:nvSpPr>
          <p:cNvPr id="20" name="Shape 17"/>
          <p:cNvSpPr/>
          <p:nvPr/>
        </p:nvSpPr>
        <p:spPr>
          <a:xfrm>
            <a:off x="4367399" y="3634718"/>
            <a:ext cx="1633351" cy="635794"/>
          </a:xfrm>
          <a:prstGeom prst="rect">
            <a:avLst/>
          </a:prstGeom>
          <a:solidFill>
            <a:srgbClr val="F2C2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67399" y="3634718"/>
            <a:ext cx="1633351" cy="635794"/>
          </a:xfrm>
          <a:prstGeom prst="rect">
            <a:avLst/>
          </a:prstGeom>
          <a:noFill/>
        </p:spPr>
        <p:txBody>
          <a:bodyPr wrap="square" lIns="255143" tIns="127508" rIns="255143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FLAG / BACKDOOR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479631" y="4731703"/>
            <a:ext cx="321469" cy="3857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24</a:t>
            </a:r>
            <a:endParaRPr lang="en-US" sz="1800" dirty="0"/>
          </a:p>
        </p:txBody>
      </p:sp>
      <p:sp>
        <p:nvSpPr>
          <p:cNvPr id="24" name="Shape 0"/>
          <p:cNvSpPr/>
          <p:nvPr/>
        </p:nvSpPr>
        <p:spPr>
          <a:xfrm>
            <a:off x="241935" y="24574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6" name="Group 5"/>
          <p:cNvGrpSpPr/>
          <p:nvPr/>
        </p:nvGrpSpPr>
        <p:grpSpPr>
          <a:xfrm rot="0">
            <a:off x="415290" y="289560"/>
            <a:ext cx="102870" cy="95250"/>
            <a:chOff x="0" y="0"/>
            <a:chExt cx="812800" cy="812800"/>
          </a:xfrm>
        </p:grpSpPr>
        <p:sp>
          <p:nvSpPr>
            <p:cNvPr id="47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  <p:sp>
        <p:nvSpPr>
          <p:cNvPr id="25" name="Text 22"/>
          <p:cNvSpPr/>
          <p:nvPr/>
        </p:nvSpPr>
        <p:spPr>
          <a:xfrm>
            <a:off x="447675" y="4772457"/>
            <a:ext cx="813249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Hiddeninvestigations.Net</a:t>
            </a:r>
            <a:endParaRPr lang="en-US" sz="600" dirty="0"/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396240" y="4730115"/>
            <a:ext cx="8425815" cy="114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1854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4375"/>
            <a:ext cx="8001000" cy="4286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00"/>
                </a:solidFill>
                <a:latin typeface="Quicksand Bold" pitchFamily="34" charset="0"/>
                <a:ea typeface="Quicksand Bold" pitchFamily="34" charset="-122"/>
                <a:cs typeface="Quicksand Bold" pitchFamily="34" charset="-120"/>
              </a:rPr>
              <a:t>When math becomes the lock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843088"/>
            <a:ext cx="57150" cy="57150"/>
          </a:xfrm>
          <a:prstGeom prst="ellipse">
            <a:avLst/>
          </a:prstGeom>
          <a:solidFill>
            <a:srgbClr val="F2C200"/>
          </a:solidFill>
        </p:spPr>
      </p:sp>
      <p:sp>
        <p:nvSpPr>
          <p:cNvPr id="5" name="Text 2"/>
          <p:cNvSpPr/>
          <p:nvPr/>
        </p:nvSpPr>
        <p:spPr>
          <a:xfrm>
            <a:off x="571500" y="1771650"/>
            <a:ext cx="3786188" cy="428625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Integer Overflow:</a:t>
            </a: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Occurs when a program stores a value larger than its capacity.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71500" y="2450306"/>
            <a:ext cx="57150" cy="57150"/>
          </a:xfrm>
          <a:prstGeom prst="ellipse">
            <a:avLst/>
          </a:prstGeom>
          <a:solidFill>
            <a:srgbClr val="F2C200"/>
          </a:solidFill>
        </p:spPr>
      </p:sp>
      <p:sp>
        <p:nvSpPr>
          <p:cNvPr id="7" name="Text 4"/>
          <p:cNvSpPr/>
          <p:nvPr/>
        </p:nvSpPr>
        <p:spPr>
          <a:xfrm>
            <a:off x="571500" y="2378869"/>
            <a:ext cx="3786188" cy="428625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32-bit Limit:</a:t>
            </a: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Signed integers max out at </a:t>
            </a: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2,147,483,647</a:t>
            </a: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71500" y="3057525"/>
            <a:ext cx="57150" cy="57150"/>
          </a:xfrm>
          <a:prstGeom prst="ellipse">
            <a:avLst/>
          </a:prstGeom>
          <a:solidFill>
            <a:srgbClr val="F2C200"/>
          </a:solidFill>
        </p:spPr>
      </p:sp>
      <p:sp>
        <p:nvSpPr>
          <p:cNvPr id="9" name="Text 6"/>
          <p:cNvSpPr/>
          <p:nvPr/>
        </p:nvSpPr>
        <p:spPr>
          <a:xfrm>
            <a:off x="571500" y="2986088"/>
            <a:ext cx="3786188" cy="428625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Wraparound:</a:t>
            </a: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Adding 1 to the max value flips it to </a:t>
            </a: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-2,147,483,648</a:t>
            </a: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1500" y="3664744"/>
            <a:ext cx="57150" cy="57150"/>
          </a:xfrm>
          <a:prstGeom prst="ellipse">
            <a:avLst/>
          </a:prstGeom>
          <a:solidFill>
            <a:srgbClr val="F2C200"/>
          </a:solidFill>
        </p:spPr>
      </p:sp>
      <p:sp>
        <p:nvSpPr>
          <p:cNvPr id="11" name="Text 8"/>
          <p:cNvSpPr/>
          <p:nvPr/>
        </p:nvSpPr>
        <p:spPr>
          <a:xfrm>
            <a:off x="714375" y="3600450"/>
            <a:ext cx="792956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Logic Flaw: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507331" y="3600450"/>
            <a:ext cx="1207294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Programs using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714625" y="3596878"/>
            <a:ext cx="514350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atoi()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14375" y="3893820"/>
            <a:ext cx="3193256" cy="4143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input conversion are prime targets for this bypass.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786313" y="1628775"/>
            <a:ext cx="3786188" cy="2571750"/>
          </a:xfrm>
          <a:prstGeom prst="rect">
            <a:avLst/>
          </a:prstGeom>
          <a:solidFill>
            <a:srgbClr val="FAFAFA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72163" y="2025253"/>
            <a:ext cx="1614488" cy="171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Integer Overflow Visualized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072063" y="2768203"/>
            <a:ext cx="3214688" cy="285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8" name="Text 15"/>
          <p:cNvSpPr/>
          <p:nvPr/>
        </p:nvSpPr>
        <p:spPr>
          <a:xfrm>
            <a:off x="4714875" y="2911078"/>
            <a:ext cx="714375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-2,147,483,648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7929563" y="2911078"/>
            <a:ext cx="714375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+2,147,483,647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6291858" y="1646634"/>
            <a:ext cx="775097" cy="18216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1" name="Text 18"/>
          <p:cNvSpPr/>
          <p:nvPr/>
        </p:nvSpPr>
        <p:spPr>
          <a:xfrm>
            <a:off x="6291858" y="1646634"/>
            <a:ext cx="775097" cy="182166"/>
          </a:xfrm>
          <a:prstGeom prst="rect">
            <a:avLst/>
          </a:prstGeom>
          <a:noFill/>
        </p:spPr>
        <p:txBody>
          <a:bodyPr wrap="none" lIns="85090" tIns="34036" rIns="85090" bIns="34036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WRAPAROUND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6045398" y="3654028"/>
            <a:ext cx="126801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Max Value + 1 = Min Value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0" y="4200525"/>
            <a:ext cx="9144000" cy="542925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4" name="Text 21"/>
          <p:cNvSpPr/>
          <p:nvPr/>
        </p:nvSpPr>
        <p:spPr>
          <a:xfrm>
            <a:off x="0" y="4343400"/>
            <a:ext cx="9144000" cy="257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kern="0" spc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"THE BUG ISN'T IN THE PASSWORD. IT'S IN THE ARITHMETIC."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301038" y="4880372"/>
            <a:ext cx="557213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25</a:t>
            </a:r>
            <a:endParaRPr lang="en-US" sz="3300" dirty="0"/>
          </a:p>
        </p:txBody>
      </p:sp>
      <p:sp>
        <p:nvSpPr>
          <p:cNvPr id="27" name="Text 1"/>
          <p:cNvSpPr/>
          <p:nvPr/>
        </p:nvSpPr>
        <p:spPr>
          <a:xfrm>
            <a:off x="600075" y="293370"/>
            <a:ext cx="1260872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HIDDEN INVESTIGATIONS</a:t>
            </a:r>
            <a:endParaRPr lang="en-US" sz="700" dirty="0"/>
          </a:p>
        </p:txBody>
      </p:sp>
      <p:sp>
        <p:nvSpPr>
          <p:cNvPr id="28" name="Shape 0"/>
          <p:cNvSpPr/>
          <p:nvPr/>
        </p:nvSpPr>
        <p:spPr>
          <a:xfrm>
            <a:off x="241935" y="25336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6" name="Group 5"/>
          <p:cNvGrpSpPr/>
          <p:nvPr/>
        </p:nvGrpSpPr>
        <p:grpSpPr>
          <a:xfrm rot="0">
            <a:off x="415290" y="297180"/>
            <a:ext cx="102870" cy="95250"/>
            <a:chOff x="0" y="0"/>
            <a:chExt cx="812800" cy="812800"/>
          </a:xfrm>
        </p:grpSpPr>
        <p:sp>
          <p:nvSpPr>
            <p:cNvPr id="47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  <p:sp>
        <p:nvSpPr>
          <p:cNvPr id="31" name="Text 22"/>
          <p:cNvSpPr/>
          <p:nvPr/>
        </p:nvSpPr>
        <p:spPr>
          <a:xfrm>
            <a:off x="455295" y="4901997"/>
            <a:ext cx="813249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Hiddeninvestigations.Net</a:t>
            </a:r>
            <a:endParaRPr lang="en-US" sz="600" dirty="0"/>
          </a:p>
        </p:txBody>
      </p:sp>
      <p:cxnSp>
        <p:nvCxnSpPr>
          <p:cNvPr id="32" name="Straight Connector 31"/>
          <p:cNvCxnSpPr/>
          <p:nvPr/>
        </p:nvCxnSpPr>
        <p:spPr>
          <a:xfrm flipV="1">
            <a:off x="403860" y="4859655"/>
            <a:ext cx="8425815" cy="114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4375"/>
            <a:ext cx="8001000" cy="4286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00"/>
                </a:solidFill>
                <a:latin typeface="Quicksand Bold" pitchFamily="34" charset="0"/>
                <a:ea typeface="Quicksand Bold" pitchFamily="34" charset="-122"/>
                <a:cs typeface="Quicksand Bold" pitchFamily="34" charset="-120"/>
              </a:rPr>
              <a:t>Lab 4: Crackme 7 &amp; 8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557338"/>
            <a:ext cx="3893344" cy="149801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Shape 2"/>
          <p:cNvSpPr/>
          <p:nvPr/>
        </p:nvSpPr>
        <p:spPr>
          <a:xfrm>
            <a:off x="571500" y="1557338"/>
            <a:ext cx="3893344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6" name="Shape 3"/>
          <p:cNvSpPr/>
          <p:nvPr/>
        </p:nvSpPr>
        <p:spPr>
          <a:xfrm>
            <a:off x="4457700" y="1557338"/>
            <a:ext cx="7144" cy="1498011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7" name="Shape 4"/>
          <p:cNvSpPr/>
          <p:nvPr/>
        </p:nvSpPr>
        <p:spPr>
          <a:xfrm>
            <a:off x="571500" y="3048205"/>
            <a:ext cx="3893344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8" name="Shape 5"/>
          <p:cNvSpPr/>
          <p:nvPr/>
        </p:nvSpPr>
        <p:spPr>
          <a:xfrm>
            <a:off x="571500" y="1557338"/>
            <a:ext cx="85725" cy="1498011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9" name="Text 6"/>
          <p:cNvSpPr/>
          <p:nvPr/>
        </p:nvSpPr>
        <p:spPr>
          <a:xfrm>
            <a:off x="750094" y="1700213"/>
            <a:ext cx="3536156" cy="257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Crackme 7: Hidden Logic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50094" y="1993106"/>
            <a:ext cx="3536156" cy="171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Find the secret menu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50094" y="2268141"/>
            <a:ext cx="235744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985838" y="2271713"/>
            <a:ext cx="617265" cy="1535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pdf @main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603102" y="2268141"/>
            <a:ext cx="2050256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radare2 to find a branch that isn't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50094" y="2428149"/>
            <a:ext cx="3146822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mentioned in the program's output. Look for conditional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50094" y="2428149"/>
            <a:ext cx="3500438" cy="3207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jumps (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00100" y="2591730"/>
            <a:ext cx="137182" cy="1535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je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937282" y="2588158"/>
            <a:ext cx="53578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990860" y="2591730"/>
            <a:ext cx="205773" cy="1535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jne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96634" y="2588158"/>
            <a:ext cx="2239566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 that lead to unreferenced code blocks.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50094" y="2876755"/>
            <a:ext cx="564356" cy="16430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1" name="Text 18"/>
          <p:cNvSpPr/>
          <p:nvPr/>
        </p:nvSpPr>
        <p:spPr>
          <a:xfrm>
            <a:off x="750094" y="2876755"/>
            <a:ext cx="564356" cy="164306"/>
          </a:xfrm>
          <a:prstGeom prst="rect">
            <a:avLst/>
          </a:prstGeom>
          <a:noFill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LOGIC FLOW</a:t>
            </a:r>
            <a:endParaRPr lang="en-US" sz="500" dirty="0"/>
          </a:p>
        </p:txBody>
      </p:sp>
      <p:sp>
        <p:nvSpPr>
          <p:cNvPr id="22" name="Shape 19"/>
          <p:cNvSpPr/>
          <p:nvPr/>
        </p:nvSpPr>
        <p:spPr>
          <a:xfrm>
            <a:off x="4679156" y="1557338"/>
            <a:ext cx="3893344" cy="149801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Shape 20"/>
          <p:cNvSpPr/>
          <p:nvPr/>
        </p:nvSpPr>
        <p:spPr>
          <a:xfrm>
            <a:off x="4679156" y="1557338"/>
            <a:ext cx="3893344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4" name="Shape 21"/>
          <p:cNvSpPr/>
          <p:nvPr/>
        </p:nvSpPr>
        <p:spPr>
          <a:xfrm>
            <a:off x="8565356" y="1557338"/>
            <a:ext cx="7144" cy="1498011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5" name="Shape 22"/>
          <p:cNvSpPr/>
          <p:nvPr/>
        </p:nvSpPr>
        <p:spPr>
          <a:xfrm>
            <a:off x="4679156" y="3048205"/>
            <a:ext cx="3893344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6" name="Shape 23"/>
          <p:cNvSpPr/>
          <p:nvPr/>
        </p:nvSpPr>
        <p:spPr>
          <a:xfrm>
            <a:off x="4679156" y="1557338"/>
            <a:ext cx="85725" cy="1498011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7" name="Text 24"/>
          <p:cNvSpPr/>
          <p:nvPr/>
        </p:nvSpPr>
        <p:spPr>
          <a:xfrm>
            <a:off x="4857750" y="1700213"/>
            <a:ext cx="3536156" cy="257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Crackme 8: Integer Math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857750" y="1993106"/>
            <a:ext cx="3536156" cy="171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Defeat the comparison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857750" y="2271713"/>
            <a:ext cx="3536156" cy="4800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Identify the variable type and its maximum value. Provide a specific input that causes an overflow to bypass a "must be less than" security check.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857750" y="2876755"/>
            <a:ext cx="557213" cy="16430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31" name="Text 28"/>
          <p:cNvSpPr/>
          <p:nvPr/>
        </p:nvSpPr>
        <p:spPr>
          <a:xfrm>
            <a:off x="4857750" y="2876755"/>
            <a:ext cx="557213" cy="164306"/>
          </a:xfrm>
          <a:prstGeom prst="rect">
            <a:avLst/>
          </a:prstGeom>
          <a:noFill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ARITHMETIC</a:t>
            </a:r>
            <a:endParaRPr lang="en-US" sz="500" dirty="0"/>
          </a:p>
        </p:txBody>
      </p:sp>
      <p:sp>
        <p:nvSpPr>
          <p:cNvPr id="32" name="Shape 29"/>
          <p:cNvSpPr/>
          <p:nvPr/>
        </p:nvSpPr>
        <p:spPr>
          <a:xfrm>
            <a:off x="571500" y="3255373"/>
            <a:ext cx="8001000" cy="85725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3" name="Text 30"/>
          <p:cNvSpPr/>
          <p:nvPr/>
        </p:nvSpPr>
        <p:spPr>
          <a:xfrm>
            <a:off x="714375" y="3398248"/>
            <a:ext cx="1357313" cy="1535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2C2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Commands for Lab 4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14375" y="3551839"/>
            <a:ext cx="7715250" cy="1535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r2 -d ./crackme7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14375" y="3705430"/>
            <a:ext cx="7715250" cy="1535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aaa; afl; pdf @main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14375" y="3859020"/>
            <a:ext cx="7715250" cy="1535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./crackme8 [large_value]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0" y="4368403"/>
            <a:ext cx="9144000" cy="500063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38" name="Text 35"/>
          <p:cNvSpPr/>
          <p:nvPr/>
        </p:nvSpPr>
        <p:spPr>
          <a:xfrm>
            <a:off x="0" y="4511278"/>
            <a:ext cx="9144000" cy="257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kern="0" spc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"LOGIC FLOWS WHERE THE CODE GOES — FOLLOW THE BRANCHES."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8318579" y="4463415"/>
            <a:ext cx="553641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26</a:t>
            </a:r>
            <a:endParaRPr lang="en-US" sz="3300" dirty="0"/>
          </a:p>
        </p:txBody>
      </p:sp>
      <p:sp>
        <p:nvSpPr>
          <p:cNvPr id="41" name="Text 1"/>
          <p:cNvSpPr/>
          <p:nvPr/>
        </p:nvSpPr>
        <p:spPr>
          <a:xfrm>
            <a:off x="600075" y="285750"/>
            <a:ext cx="1260872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HIDDEN INVESTIGATIONS</a:t>
            </a:r>
            <a:endParaRPr lang="en-US" sz="700" dirty="0"/>
          </a:p>
        </p:txBody>
      </p:sp>
      <p:sp>
        <p:nvSpPr>
          <p:cNvPr id="42" name="Shape 0"/>
          <p:cNvSpPr/>
          <p:nvPr/>
        </p:nvSpPr>
        <p:spPr>
          <a:xfrm>
            <a:off x="241935" y="24574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6" name="Group 5"/>
          <p:cNvGrpSpPr/>
          <p:nvPr/>
        </p:nvGrpSpPr>
        <p:grpSpPr>
          <a:xfrm rot="0">
            <a:off x="415290" y="289560"/>
            <a:ext cx="102870" cy="95250"/>
            <a:chOff x="0" y="0"/>
            <a:chExt cx="812800" cy="812800"/>
          </a:xfrm>
        </p:grpSpPr>
        <p:sp>
          <p:nvSpPr>
            <p:cNvPr id="47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  <p:sp>
        <p:nvSpPr>
          <p:cNvPr id="43" name="Text 22"/>
          <p:cNvSpPr/>
          <p:nvPr/>
        </p:nvSpPr>
        <p:spPr>
          <a:xfrm>
            <a:off x="455295" y="4940097"/>
            <a:ext cx="813249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Hiddeninvestigations.Net</a:t>
            </a:r>
            <a:endParaRPr lang="en-US" sz="600" dirty="0"/>
          </a:p>
        </p:txBody>
      </p:sp>
      <p:cxnSp>
        <p:nvCxnSpPr>
          <p:cNvPr id="44" name="Straight Connector 43"/>
          <p:cNvCxnSpPr/>
          <p:nvPr/>
        </p:nvCxnSpPr>
        <p:spPr>
          <a:xfrm flipV="1">
            <a:off x="403860" y="4897755"/>
            <a:ext cx="8425815" cy="114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4375"/>
            <a:ext cx="8001000" cy="4286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00"/>
                </a:solidFill>
                <a:latin typeface="Quicksand Bold" pitchFamily="34" charset="0"/>
                <a:ea typeface="Quicksand Bold" pitchFamily="34" charset="-122"/>
                <a:cs typeface="Quicksand Bold" pitchFamily="34" charset="-120"/>
              </a:rPr>
              <a:t>Your decision tree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143375" y="1485900"/>
            <a:ext cx="857250" cy="42862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5" name="Text 2"/>
          <p:cNvSpPr/>
          <p:nvPr/>
        </p:nvSpPr>
        <p:spPr>
          <a:xfrm>
            <a:off x="4143375" y="1485900"/>
            <a:ext cx="857250" cy="428625"/>
          </a:xfrm>
          <a:prstGeom prst="rect">
            <a:avLst/>
          </a:prstGeom>
          <a:noFill/>
        </p:spPr>
        <p:txBody>
          <a:bodyPr wrap="none" lIns="0" tIns="12750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START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64856" y="1914525"/>
            <a:ext cx="14288" cy="21431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7" name="Shape 4"/>
          <p:cNvSpPr/>
          <p:nvPr/>
        </p:nvSpPr>
        <p:spPr>
          <a:xfrm>
            <a:off x="3143250" y="2128838"/>
            <a:ext cx="2857500" cy="428625"/>
          </a:xfrm>
          <a:prstGeom prst="rect">
            <a:avLst/>
          </a:prstGeom>
          <a:solidFill>
            <a:srgbClr val="F2C2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64769" y="2243138"/>
            <a:ext cx="1414463" cy="182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Run strings. Found it?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000750" y="2343150"/>
            <a:ext cx="357188" cy="14288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0" name="Text 7"/>
          <p:cNvSpPr/>
          <p:nvPr/>
        </p:nvSpPr>
        <p:spPr>
          <a:xfrm>
            <a:off x="6072188" y="2200275"/>
            <a:ext cx="157163" cy="1250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YES</a:t>
            </a:r>
            <a:endParaRPr lang="en-US" sz="600" dirty="0"/>
          </a:p>
        </p:txBody>
      </p:sp>
      <p:sp>
        <p:nvSpPr>
          <p:cNvPr id="11" name="Shape 8"/>
          <p:cNvSpPr/>
          <p:nvPr/>
        </p:nvSpPr>
        <p:spPr>
          <a:xfrm>
            <a:off x="6357938" y="2432447"/>
            <a:ext cx="1428750" cy="428625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6357938" y="2432447"/>
            <a:ext cx="1428750" cy="428625"/>
          </a:xfrm>
          <a:prstGeom prst="rect">
            <a:avLst/>
          </a:prstGeom>
          <a:noFill/>
        </p:spPr>
        <p:txBody>
          <a:bodyPr wrap="square" lIns="0" tIns="12750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Success! (Done)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64856" y="2557463"/>
            <a:ext cx="14288" cy="21431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4" name="Text 11"/>
          <p:cNvSpPr/>
          <p:nvPr/>
        </p:nvSpPr>
        <p:spPr>
          <a:xfrm>
            <a:off x="4636294" y="2593181"/>
            <a:ext cx="132159" cy="1250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NO</a:t>
            </a:r>
            <a:endParaRPr lang="en-US" sz="600" dirty="0"/>
          </a:p>
        </p:txBody>
      </p:sp>
      <p:sp>
        <p:nvSpPr>
          <p:cNvPr id="15" name="Shape 12"/>
          <p:cNvSpPr/>
          <p:nvPr/>
        </p:nvSpPr>
        <p:spPr>
          <a:xfrm>
            <a:off x="3143250" y="2771775"/>
            <a:ext cx="2857500" cy="428625"/>
          </a:xfrm>
          <a:prstGeom prst="rect">
            <a:avLst/>
          </a:prstGeom>
          <a:solidFill>
            <a:srgbClr val="F2C2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68266" y="2886075"/>
            <a:ext cx="2607469" cy="182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Run ltrace. Does libc do the comparing?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000750" y="2986088"/>
            <a:ext cx="357188" cy="14288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8" name="Text 15"/>
          <p:cNvSpPr/>
          <p:nvPr/>
        </p:nvSpPr>
        <p:spPr>
          <a:xfrm>
            <a:off x="6072188" y="2843213"/>
            <a:ext cx="157163" cy="1250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YES</a:t>
            </a:r>
            <a:endParaRPr lang="en-US" sz="600" dirty="0"/>
          </a:p>
        </p:txBody>
      </p:sp>
      <p:sp>
        <p:nvSpPr>
          <p:cNvPr id="19" name="Shape 16"/>
          <p:cNvSpPr/>
          <p:nvPr/>
        </p:nvSpPr>
        <p:spPr>
          <a:xfrm>
            <a:off x="6357938" y="3075384"/>
            <a:ext cx="1428750" cy="428625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dash"/>
          </a:ln>
        </p:spPr>
      </p:sp>
      <p:sp>
        <p:nvSpPr>
          <p:cNvPr id="20" name="Text 17"/>
          <p:cNvSpPr/>
          <p:nvPr/>
        </p:nvSpPr>
        <p:spPr>
          <a:xfrm>
            <a:off x="6357938" y="3075384"/>
            <a:ext cx="1428750" cy="428625"/>
          </a:xfrm>
          <a:prstGeom prst="rect">
            <a:avLst/>
          </a:prstGeom>
          <a:noFill/>
        </p:spPr>
        <p:txBody>
          <a:bodyPr wrap="square" lIns="0" tIns="12750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Read RDI and RSI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64856" y="3200400"/>
            <a:ext cx="14288" cy="21431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2" name="Text 19"/>
          <p:cNvSpPr/>
          <p:nvPr/>
        </p:nvSpPr>
        <p:spPr>
          <a:xfrm>
            <a:off x="4636294" y="3236119"/>
            <a:ext cx="132159" cy="1250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NO</a:t>
            </a:r>
            <a:endParaRPr lang="en-US" sz="600" dirty="0"/>
          </a:p>
        </p:txBody>
      </p:sp>
      <p:sp>
        <p:nvSpPr>
          <p:cNvPr id="23" name="Shape 20"/>
          <p:cNvSpPr/>
          <p:nvPr/>
        </p:nvSpPr>
        <p:spPr>
          <a:xfrm>
            <a:off x="3143250" y="3414713"/>
            <a:ext cx="2857500" cy="428625"/>
          </a:xfrm>
          <a:prstGeom prst="rect">
            <a:avLst/>
          </a:prstGeom>
          <a:solidFill>
            <a:srgbClr val="F2C2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93269" y="3529013"/>
            <a:ext cx="2557463" cy="182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Disassemble. Is it an inline cmp chain?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000750" y="3629025"/>
            <a:ext cx="357188" cy="14288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6" name="Text 23"/>
          <p:cNvSpPr/>
          <p:nvPr/>
        </p:nvSpPr>
        <p:spPr>
          <a:xfrm>
            <a:off x="6072188" y="3486150"/>
            <a:ext cx="157163" cy="1250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YES</a:t>
            </a:r>
            <a:endParaRPr lang="en-US" sz="600" dirty="0"/>
          </a:p>
        </p:txBody>
      </p:sp>
      <p:sp>
        <p:nvSpPr>
          <p:cNvPr id="27" name="Shape 24"/>
          <p:cNvSpPr/>
          <p:nvPr/>
        </p:nvSpPr>
        <p:spPr>
          <a:xfrm>
            <a:off x="6357938" y="3718322"/>
            <a:ext cx="1428750" cy="428625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dash"/>
          </a:ln>
        </p:spPr>
      </p:sp>
      <p:sp>
        <p:nvSpPr>
          <p:cNvPr id="28" name="Text 25"/>
          <p:cNvSpPr/>
          <p:nvPr/>
        </p:nvSpPr>
        <p:spPr>
          <a:xfrm>
            <a:off x="6357938" y="3718322"/>
            <a:ext cx="1428750" cy="428625"/>
          </a:xfrm>
          <a:prstGeom prst="rect">
            <a:avLst/>
          </a:prstGeom>
          <a:noFill/>
        </p:spPr>
        <p:txBody>
          <a:bodyPr wrap="square" lIns="0" tIns="12750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Collect Hex Bytes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564856" y="3843338"/>
            <a:ext cx="14288" cy="21431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0" name="Text 27"/>
          <p:cNvSpPr/>
          <p:nvPr/>
        </p:nvSpPr>
        <p:spPr>
          <a:xfrm>
            <a:off x="4636294" y="3879056"/>
            <a:ext cx="132159" cy="1250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NO</a:t>
            </a:r>
            <a:endParaRPr lang="en-US" sz="600" dirty="0"/>
          </a:p>
        </p:txBody>
      </p:sp>
      <p:sp>
        <p:nvSpPr>
          <p:cNvPr id="31" name="Shape 28"/>
          <p:cNvSpPr/>
          <p:nvPr/>
        </p:nvSpPr>
        <p:spPr>
          <a:xfrm>
            <a:off x="3143250" y="4057650"/>
            <a:ext cx="2857500" cy="428625"/>
          </a:xfrm>
          <a:prstGeom prst="rect">
            <a:avLst/>
          </a:prstGeom>
          <a:solidFill>
            <a:srgbClr val="F2C2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275409" y="4171950"/>
            <a:ext cx="2593181" cy="182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Read main() flow and check arithmetic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000750" y="4271963"/>
            <a:ext cx="357188" cy="14288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4" name="Text 31"/>
          <p:cNvSpPr/>
          <p:nvPr/>
        </p:nvSpPr>
        <p:spPr>
          <a:xfrm>
            <a:off x="6072188" y="4129088"/>
            <a:ext cx="135731" cy="1250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GO</a:t>
            </a:r>
            <a:endParaRPr lang="en-US" sz="600" dirty="0"/>
          </a:p>
        </p:txBody>
      </p:sp>
      <p:sp>
        <p:nvSpPr>
          <p:cNvPr id="35" name="Shape 32"/>
          <p:cNvSpPr/>
          <p:nvPr/>
        </p:nvSpPr>
        <p:spPr>
          <a:xfrm>
            <a:off x="6357938" y="4361259"/>
            <a:ext cx="1428750" cy="428625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dash"/>
          </a:ln>
        </p:spPr>
      </p:sp>
      <p:sp>
        <p:nvSpPr>
          <p:cNvPr id="36" name="Text 33"/>
          <p:cNvSpPr/>
          <p:nvPr/>
        </p:nvSpPr>
        <p:spPr>
          <a:xfrm>
            <a:off x="6357938" y="4361259"/>
            <a:ext cx="1428750" cy="428625"/>
          </a:xfrm>
          <a:prstGeom prst="rect">
            <a:avLst/>
          </a:prstGeom>
          <a:noFill/>
        </p:spPr>
        <p:txBody>
          <a:bodyPr wrap="square" lIns="0" tIns="12750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Find the Logic Bug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8351044" y="4400550"/>
            <a:ext cx="507206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27</a:t>
            </a:r>
            <a:endParaRPr lang="en-US" sz="3300" dirty="0"/>
          </a:p>
        </p:txBody>
      </p:sp>
      <p:sp>
        <p:nvSpPr>
          <p:cNvPr id="39" name="Text 1"/>
          <p:cNvSpPr/>
          <p:nvPr/>
        </p:nvSpPr>
        <p:spPr>
          <a:xfrm>
            <a:off x="600075" y="285750"/>
            <a:ext cx="1260872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HIDDEN INVESTIGATIONS</a:t>
            </a:r>
            <a:endParaRPr lang="en-US" sz="700" dirty="0"/>
          </a:p>
        </p:txBody>
      </p:sp>
      <p:sp>
        <p:nvSpPr>
          <p:cNvPr id="40" name="Shape 0"/>
          <p:cNvSpPr/>
          <p:nvPr/>
        </p:nvSpPr>
        <p:spPr>
          <a:xfrm>
            <a:off x="241935" y="24574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6" name="Group 5"/>
          <p:cNvGrpSpPr/>
          <p:nvPr/>
        </p:nvGrpSpPr>
        <p:grpSpPr>
          <a:xfrm rot="0">
            <a:off x="415290" y="289560"/>
            <a:ext cx="102870" cy="95250"/>
            <a:chOff x="0" y="0"/>
            <a:chExt cx="812800" cy="812800"/>
          </a:xfrm>
        </p:grpSpPr>
        <p:sp>
          <p:nvSpPr>
            <p:cNvPr id="47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  <p:sp>
        <p:nvSpPr>
          <p:cNvPr id="41" name="Text 22"/>
          <p:cNvSpPr/>
          <p:nvPr/>
        </p:nvSpPr>
        <p:spPr>
          <a:xfrm>
            <a:off x="455295" y="4886757"/>
            <a:ext cx="813249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Hiddeninvestigations.Net</a:t>
            </a:r>
            <a:endParaRPr lang="en-US" sz="600" dirty="0"/>
          </a:p>
        </p:txBody>
      </p:sp>
      <p:cxnSp>
        <p:nvCxnSpPr>
          <p:cNvPr id="42" name="Straight Connector 41"/>
          <p:cNvCxnSpPr/>
          <p:nvPr/>
        </p:nvCxnSpPr>
        <p:spPr>
          <a:xfrm flipV="1">
            <a:off x="403860" y="4844415"/>
            <a:ext cx="8425815" cy="114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79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4375"/>
            <a:ext cx="8001000" cy="4286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00"/>
                </a:solidFill>
                <a:latin typeface="Quicksand Bold" pitchFamily="34" charset="0"/>
                <a:ea typeface="Quicksand Bold" pitchFamily="34" charset="-122"/>
                <a:cs typeface="Quicksand Bold" pitchFamily="34" charset="-120"/>
              </a:rPr>
              <a:t>Where to go next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557338"/>
            <a:ext cx="3893344" cy="115226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Shape 2"/>
          <p:cNvSpPr/>
          <p:nvPr/>
        </p:nvSpPr>
        <p:spPr>
          <a:xfrm>
            <a:off x="571500" y="1557338"/>
            <a:ext cx="3893344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6" name="Shape 3"/>
          <p:cNvSpPr/>
          <p:nvPr/>
        </p:nvSpPr>
        <p:spPr>
          <a:xfrm>
            <a:off x="4457700" y="1557338"/>
            <a:ext cx="7144" cy="115226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7" name="Shape 4"/>
          <p:cNvSpPr/>
          <p:nvPr/>
        </p:nvSpPr>
        <p:spPr>
          <a:xfrm>
            <a:off x="571500" y="2702458"/>
            <a:ext cx="3893344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8" name="Shape 5"/>
          <p:cNvSpPr/>
          <p:nvPr/>
        </p:nvSpPr>
        <p:spPr>
          <a:xfrm>
            <a:off x="571500" y="1557338"/>
            <a:ext cx="85725" cy="1152265"/>
          </a:xfrm>
          <a:prstGeom prst="rect">
            <a:avLst/>
          </a:prstGeom>
          <a:solidFill>
            <a:srgbClr val="F2C200"/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735931"/>
            <a:ext cx="3464719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5813" y="2071688"/>
            <a:ext cx="3464719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x86-64 Assembly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85813" y="2375297"/>
            <a:ext cx="3464719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Master the fundamental language of the CPU to understand exactly how instructions manipulate data.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679156" y="1557338"/>
            <a:ext cx="3893344" cy="115226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 9"/>
          <p:cNvSpPr/>
          <p:nvPr/>
        </p:nvSpPr>
        <p:spPr>
          <a:xfrm>
            <a:off x="4679156" y="1557338"/>
            <a:ext cx="3893344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4" name="Shape 10"/>
          <p:cNvSpPr/>
          <p:nvPr/>
        </p:nvSpPr>
        <p:spPr>
          <a:xfrm>
            <a:off x="8565356" y="1557338"/>
            <a:ext cx="7144" cy="115226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5" name="Shape 11"/>
          <p:cNvSpPr/>
          <p:nvPr/>
        </p:nvSpPr>
        <p:spPr>
          <a:xfrm>
            <a:off x="4679156" y="2702458"/>
            <a:ext cx="3893344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6" name="Shape 12"/>
          <p:cNvSpPr/>
          <p:nvPr/>
        </p:nvSpPr>
        <p:spPr>
          <a:xfrm>
            <a:off x="4679156" y="1557338"/>
            <a:ext cx="85725" cy="1152265"/>
          </a:xfrm>
          <a:prstGeom prst="rect">
            <a:avLst/>
          </a:prstGeom>
          <a:solidFill>
            <a:srgbClr val="F2C200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469" y="1735931"/>
            <a:ext cx="3464719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93469" y="2071688"/>
            <a:ext cx="3464719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 Internals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893469" y="2375297"/>
            <a:ext cx="3464719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Understand how high-level C code is structured in memory, including the stack, heap, and pointers.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71500" y="2923915"/>
            <a:ext cx="3893344" cy="115226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Shape 16"/>
          <p:cNvSpPr/>
          <p:nvPr/>
        </p:nvSpPr>
        <p:spPr>
          <a:xfrm>
            <a:off x="571500" y="2923915"/>
            <a:ext cx="3893344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2" name="Shape 17"/>
          <p:cNvSpPr/>
          <p:nvPr/>
        </p:nvSpPr>
        <p:spPr>
          <a:xfrm>
            <a:off x="4457700" y="2923915"/>
            <a:ext cx="7144" cy="115226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3" name="Shape 18"/>
          <p:cNvSpPr/>
          <p:nvPr/>
        </p:nvSpPr>
        <p:spPr>
          <a:xfrm>
            <a:off x="571500" y="4069035"/>
            <a:ext cx="3893344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4" name="Shape 19"/>
          <p:cNvSpPr/>
          <p:nvPr/>
        </p:nvSpPr>
        <p:spPr>
          <a:xfrm>
            <a:off x="571500" y="2923915"/>
            <a:ext cx="85725" cy="1152265"/>
          </a:xfrm>
          <a:prstGeom prst="rect">
            <a:avLst/>
          </a:prstGeom>
          <a:solidFill>
            <a:srgbClr val="F2C200"/>
          </a:solidFill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3102508"/>
            <a:ext cx="3464719" cy="2286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85813" y="3438265"/>
            <a:ext cx="3464719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Ghidra &amp; Decompilers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85813" y="3741874"/>
            <a:ext cx="3464719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Move beyond assembly by using professional tools to translate binary code back into readable pseudo-code.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4679156" y="2923915"/>
            <a:ext cx="3893344" cy="115226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9" name="Shape 23"/>
          <p:cNvSpPr/>
          <p:nvPr/>
        </p:nvSpPr>
        <p:spPr>
          <a:xfrm>
            <a:off x="4679156" y="2923915"/>
            <a:ext cx="3893344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0" name="Shape 24"/>
          <p:cNvSpPr/>
          <p:nvPr/>
        </p:nvSpPr>
        <p:spPr>
          <a:xfrm>
            <a:off x="8565356" y="2923915"/>
            <a:ext cx="7144" cy="115226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1" name="Shape 25"/>
          <p:cNvSpPr/>
          <p:nvPr/>
        </p:nvSpPr>
        <p:spPr>
          <a:xfrm>
            <a:off x="4679156" y="4069035"/>
            <a:ext cx="3893344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2" name="Shape 26"/>
          <p:cNvSpPr/>
          <p:nvPr/>
        </p:nvSpPr>
        <p:spPr>
          <a:xfrm>
            <a:off x="4679156" y="2923915"/>
            <a:ext cx="85725" cy="1152265"/>
          </a:xfrm>
          <a:prstGeom prst="rect">
            <a:avLst/>
          </a:prstGeom>
          <a:solidFill>
            <a:srgbClr val="F2C200"/>
          </a:solidFill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3088221"/>
            <a:ext cx="3464719" cy="2286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893469" y="3423977"/>
            <a:ext cx="3464719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More CTF Rooms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4893469" y="3727586"/>
            <a:ext cx="3464719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Practice your skills on TryHackMe, HackTheBox, and PicoCTF to encounter more complex binary challenges.</a:t>
            </a:r>
            <a:endParaRPr lang="en-US" sz="850" dirty="0"/>
          </a:p>
        </p:txBody>
      </p:sp>
      <p:sp>
        <p:nvSpPr>
          <p:cNvPr id="36" name="Shape 29"/>
          <p:cNvSpPr/>
          <p:nvPr/>
        </p:nvSpPr>
        <p:spPr>
          <a:xfrm>
            <a:off x="0" y="4261917"/>
            <a:ext cx="9144000" cy="571500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37" name="Text 30"/>
          <p:cNvSpPr/>
          <p:nvPr/>
        </p:nvSpPr>
        <p:spPr>
          <a:xfrm>
            <a:off x="0" y="4404792"/>
            <a:ext cx="9144000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STATIC FIRST. DYNAMIC WHEN STATIC GOES QUIET.</a:t>
            </a: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
</a:t>
            </a: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DISASSEMBLE WHEN NOTHING ELSE TALKS.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571500" y="4947717"/>
            <a:ext cx="8001000" cy="160734"/>
          </a:xfrm>
          <a:prstGeom prst="rect">
            <a:avLst/>
          </a:prstGeom>
          <a:noFill/>
        </p:spPr>
        <p:txBody>
          <a:bodyPr wrap="square" lIns="0" tIns="42545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Hidden Investigations | Hiddeninvestigations.Net</a:t>
            </a:r>
            <a:endParaRPr lang="en-US" sz="600" dirty="0"/>
          </a:p>
        </p:txBody>
      </p:sp>
      <p:sp>
        <p:nvSpPr>
          <p:cNvPr id="39" name="Text 32"/>
          <p:cNvSpPr/>
          <p:nvPr/>
        </p:nvSpPr>
        <p:spPr>
          <a:xfrm>
            <a:off x="8301038" y="4403601"/>
            <a:ext cx="557213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28</a:t>
            </a:r>
            <a:endParaRPr lang="en-US" sz="3300" dirty="0"/>
          </a:p>
        </p:txBody>
      </p:sp>
      <p:sp>
        <p:nvSpPr>
          <p:cNvPr id="40" name="Text 1"/>
          <p:cNvSpPr/>
          <p:nvPr/>
        </p:nvSpPr>
        <p:spPr>
          <a:xfrm>
            <a:off x="600075" y="285750"/>
            <a:ext cx="1260872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HIDDEN INVESTIGATIONS</a:t>
            </a:r>
            <a:endParaRPr lang="en-US" sz="700" dirty="0"/>
          </a:p>
        </p:txBody>
      </p:sp>
      <p:sp>
        <p:nvSpPr>
          <p:cNvPr id="41" name="Shape 0"/>
          <p:cNvSpPr/>
          <p:nvPr/>
        </p:nvSpPr>
        <p:spPr>
          <a:xfrm>
            <a:off x="241935" y="24574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6" name="Group 5"/>
          <p:cNvGrpSpPr/>
          <p:nvPr/>
        </p:nvGrpSpPr>
        <p:grpSpPr>
          <a:xfrm rot="0">
            <a:off x="415290" y="289560"/>
            <a:ext cx="102870" cy="95250"/>
            <a:chOff x="0" y="0"/>
            <a:chExt cx="812800" cy="812800"/>
          </a:xfrm>
        </p:grpSpPr>
        <p:sp>
          <p:nvSpPr>
            <p:cNvPr id="47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4784"/>
            <a:ext cx="9101138" cy="4805363"/>
          </a:xfrm>
          <a:prstGeom prst="rect">
            <a:avLst/>
          </a:prstGeom>
        </p:spPr>
      </p:pic>
      <p:sp>
        <p:nvSpPr>
          <p:cNvPr id="3" name="Rectangles 2"/>
          <p:cNvSpPr/>
          <p:nvPr/>
        </p:nvSpPr>
        <p:spPr>
          <a:xfrm>
            <a:off x="616585" y="3775710"/>
            <a:ext cx="1150620" cy="815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514350" y="319831"/>
            <a:ext cx="648008" cy="194519"/>
            <a:chOff x="0" y="0"/>
            <a:chExt cx="341337" cy="1024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1337" cy="102463"/>
            </a:xfrm>
            <a:custGeom>
              <a:avLst/>
              <a:gdLst/>
              <a:ahLst/>
              <a:cxnLst/>
              <a:rect l="l" t="t" r="r" b="b"/>
              <a:pathLst>
                <a:path w="341337" h="102463">
                  <a:moveTo>
                    <a:pt x="51231" y="0"/>
                  </a:moveTo>
                  <a:lnTo>
                    <a:pt x="290106" y="0"/>
                  </a:lnTo>
                  <a:cubicBezTo>
                    <a:pt x="303693" y="0"/>
                    <a:pt x="316724" y="5398"/>
                    <a:pt x="326332" y="15005"/>
                  </a:cubicBezTo>
                  <a:cubicBezTo>
                    <a:pt x="335940" y="24613"/>
                    <a:pt x="341337" y="37644"/>
                    <a:pt x="341337" y="51231"/>
                  </a:cubicBezTo>
                  <a:lnTo>
                    <a:pt x="341337" y="51231"/>
                  </a:lnTo>
                  <a:cubicBezTo>
                    <a:pt x="341337" y="79526"/>
                    <a:pt x="318400" y="102463"/>
                    <a:pt x="290106" y="102463"/>
                  </a:cubicBezTo>
                  <a:lnTo>
                    <a:pt x="51231" y="102463"/>
                  </a:lnTo>
                  <a:cubicBezTo>
                    <a:pt x="37644" y="102463"/>
                    <a:pt x="24613" y="97065"/>
                    <a:pt x="15005" y="87458"/>
                  </a:cubicBezTo>
                  <a:cubicBezTo>
                    <a:pt x="5398" y="77850"/>
                    <a:pt x="0" y="64819"/>
                    <a:pt x="0" y="51231"/>
                  </a:cubicBezTo>
                  <a:lnTo>
                    <a:pt x="0" y="51231"/>
                  </a:lnTo>
                  <a:cubicBezTo>
                    <a:pt x="0" y="37644"/>
                    <a:pt x="5398" y="24613"/>
                    <a:pt x="15005" y="15005"/>
                  </a:cubicBezTo>
                  <a:cubicBezTo>
                    <a:pt x="24613" y="5398"/>
                    <a:pt x="37644" y="0"/>
                    <a:pt x="51231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341337" cy="111988"/>
            </a:xfrm>
            <a:prstGeom prst="rect">
              <a:avLst/>
            </a:prstGeom>
          </p:spPr>
          <p:txBody>
            <a:bodyPr lIns="25399" tIns="25399" rIns="25399" bIns="25399" rtlCol="0" anchor="ctr"/>
            <a:lstStyle/>
            <a:p>
              <a:pPr algn="ctr">
                <a:lnSpc>
                  <a:spcPts val="2275"/>
                </a:lnSpc>
              </a:pPr>
              <a:endParaRPr sz="900"/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978512" y="346682"/>
            <a:ext cx="140817" cy="14081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25399" tIns="25399" rIns="25399" bIns="25399" rtlCol="0" anchor="ctr"/>
            <a:lstStyle/>
            <a:p>
              <a:pPr algn="ctr">
                <a:lnSpc>
                  <a:spcPts val="2275"/>
                </a:lnSpc>
              </a:pPr>
              <a:endParaRPr sz="900"/>
            </a:p>
          </p:txBody>
        </p:sp>
      </p:grpSp>
      <p:sp>
        <p:nvSpPr>
          <p:cNvPr id="8" name="AutoShape 8"/>
          <p:cNvSpPr/>
          <p:nvPr/>
        </p:nvSpPr>
        <p:spPr>
          <a:xfrm>
            <a:off x="514350" y="4633913"/>
            <a:ext cx="829304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 rot="0">
            <a:off x="1072600" y="2716208"/>
            <a:ext cx="1535129" cy="1460657"/>
            <a:chOff x="0" y="0"/>
            <a:chExt cx="962392" cy="9157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62392" cy="915704"/>
            </a:xfrm>
            <a:custGeom>
              <a:avLst/>
              <a:gdLst/>
              <a:ahLst/>
              <a:cxnLst/>
              <a:rect l="l" t="t" r="r" b="b"/>
              <a:pathLst>
                <a:path w="962392" h="915704">
                  <a:moveTo>
                    <a:pt x="85734" y="0"/>
                  </a:moveTo>
                  <a:lnTo>
                    <a:pt x="876658" y="0"/>
                  </a:lnTo>
                  <a:cubicBezTo>
                    <a:pt x="899396" y="0"/>
                    <a:pt x="921203" y="9033"/>
                    <a:pt x="937281" y="25111"/>
                  </a:cubicBezTo>
                  <a:cubicBezTo>
                    <a:pt x="953359" y="41189"/>
                    <a:pt x="962392" y="62996"/>
                    <a:pt x="962392" y="85734"/>
                  </a:cubicBezTo>
                  <a:lnTo>
                    <a:pt x="962392" y="829971"/>
                  </a:lnTo>
                  <a:cubicBezTo>
                    <a:pt x="962392" y="852709"/>
                    <a:pt x="953359" y="874515"/>
                    <a:pt x="937281" y="890594"/>
                  </a:cubicBezTo>
                  <a:cubicBezTo>
                    <a:pt x="921203" y="906672"/>
                    <a:pt x="899396" y="915704"/>
                    <a:pt x="876658" y="915704"/>
                  </a:cubicBezTo>
                  <a:lnTo>
                    <a:pt x="85734" y="915704"/>
                  </a:lnTo>
                  <a:cubicBezTo>
                    <a:pt x="62996" y="915704"/>
                    <a:pt x="41189" y="906672"/>
                    <a:pt x="25111" y="890594"/>
                  </a:cubicBezTo>
                  <a:cubicBezTo>
                    <a:pt x="9033" y="874515"/>
                    <a:pt x="0" y="852709"/>
                    <a:pt x="0" y="829971"/>
                  </a:cubicBezTo>
                  <a:lnTo>
                    <a:pt x="0" y="85734"/>
                  </a:lnTo>
                  <a:cubicBezTo>
                    <a:pt x="0" y="62996"/>
                    <a:pt x="9033" y="41189"/>
                    <a:pt x="25111" y="25111"/>
                  </a:cubicBezTo>
                  <a:cubicBezTo>
                    <a:pt x="41189" y="9033"/>
                    <a:pt x="62996" y="0"/>
                    <a:pt x="85734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62392" cy="925229"/>
            </a:xfrm>
            <a:prstGeom prst="rect">
              <a:avLst/>
            </a:prstGeom>
          </p:spPr>
          <p:txBody>
            <a:bodyPr lIns="25399" tIns="25399" rIns="25399" bIns="25399" rtlCol="0" anchor="ctr"/>
            <a:lstStyle/>
            <a:p>
              <a:pPr algn="ctr">
                <a:lnSpc>
                  <a:spcPts val="2275"/>
                </a:lnSpc>
              </a:pPr>
              <a:endParaRPr sz="9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861976" y="2311192"/>
            <a:ext cx="1650664" cy="1781291"/>
          </a:xfrm>
          <a:custGeom>
            <a:avLst/>
            <a:gdLst/>
            <a:ahLst/>
            <a:cxnLst/>
            <a:rect l="l" t="t" r="r" b="b"/>
            <a:pathLst>
              <a:path w="3301327" h="3562583">
                <a:moveTo>
                  <a:pt x="0" y="0"/>
                </a:moveTo>
                <a:lnTo>
                  <a:pt x="3301328" y="0"/>
                </a:lnTo>
                <a:lnTo>
                  <a:pt x="3301328" y="3562583"/>
                </a:lnTo>
                <a:lnTo>
                  <a:pt x="0" y="356258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868248" y="690236"/>
            <a:ext cx="5778548" cy="2508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65"/>
              </a:lnSpc>
            </a:pPr>
            <a:r>
              <a:rPr lang="en-US" sz="836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Thank You</a:t>
            </a:r>
            <a:endParaRPr lang="en-US" sz="836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96145" y="346682"/>
            <a:ext cx="1311584" cy="299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Hidden Investigations</a:t>
            </a:r>
            <a:endParaRPr lang="en-US" sz="10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03633" y="4686703"/>
            <a:ext cx="2001161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5"/>
              </a:lnSpc>
            </a:pPr>
            <a:r>
              <a:rPr lang="en-US" sz="105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Hiddeninvestigations.Net</a:t>
            </a:r>
            <a:endParaRPr lang="en-US" sz="105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112026" y="4686703"/>
            <a:ext cx="1695372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5"/>
              </a:lnSpc>
            </a:pPr>
            <a:r>
              <a:rPr lang="en-US" sz="105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hi@hiddeninvestigations.net</a:t>
            </a:r>
            <a:endParaRPr lang="en-US" sz="105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358405" y="2505167"/>
            <a:ext cx="4316254" cy="52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0"/>
              </a:lnSpc>
            </a:pPr>
            <a:r>
              <a:rPr lang="en-US" sz="176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Learn together, to build a skilled community</a:t>
            </a:r>
            <a:endParaRPr lang="en-US" sz="176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13630</Words>
  <Application>WPS Presentation</Application>
  <PresentationFormat>On-screen Show (16:9)</PresentationFormat>
  <Paragraphs>1097</Paragraphs>
  <Slides>32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64" baseType="lpstr">
      <vt:lpstr>Arial</vt:lpstr>
      <vt:lpstr>SimSun</vt:lpstr>
      <vt:lpstr>Wingdings</vt:lpstr>
      <vt:lpstr>Trebuchet MS</vt:lpstr>
      <vt:lpstr>Trebuchet MS</vt:lpstr>
      <vt:lpstr>Trebuchet MS</vt:lpstr>
      <vt:lpstr>Arial</vt:lpstr>
      <vt:lpstr>monospace</vt:lpstr>
      <vt:lpstr>Li Sirajee Sanjar Unicode</vt:lpstr>
      <vt:lpstr>monospace</vt:lpstr>
      <vt:lpstr>monospace</vt:lpstr>
      <vt:lpstr>Arial Bold</vt:lpstr>
      <vt:lpstr>Calibri</vt:lpstr>
      <vt:lpstr>Microsoft YaHei</vt:lpstr>
      <vt:lpstr>Arial Unicode MS</vt:lpstr>
      <vt:lpstr>Poppins Bold</vt:lpstr>
      <vt:lpstr>Poppins Bold</vt:lpstr>
      <vt:lpstr>Poppins Bold</vt:lpstr>
      <vt:lpstr>Poppins</vt:lpstr>
      <vt:lpstr>Poppins</vt:lpstr>
      <vt:lpstr>Poppins</vt:lpstr>
      <vt:lpstr>Courier New</vt:lpstr>
      <vt:lpstr>Courier New</vt:lpstr>
      <vt:lpstr>Courier New</vt:lpstr>
      <vt:lpstr>Quicksand Bold</vt:lpstr>
      <vt:lpstr>Quicksand Bold</vt:lpstr>
      <vt:lpstr>Quicksand Bold</vt:lpstr>
      <vt:lpstr>JetBrains Mono</vt:lpstr>
      <vt:lpstr>JetBrains Mono</vt:lpstr>
      <vt:lpstr>JetBrains Mono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WPS_1717093415</cp:lastModifiedBy>
  <cp:revision>4</cp:revision>
  <dcterms:created xsi:type="dcterms:W3CDTF">2026-08-08T09:37:00Z</dcterms:created>
  <dcterms:modified xsi:type="dcterms:W3CDTF">2026-08-08T16:48:26Z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AAEFDD4BF7714758BE9CFC894D96BA2F_12</vt:lpwstr>
  </property>
  <property fmtid="{D5CDD505-2E9C-101B-9397-08002B2CF9AE}" pid="3" name="KSOProductBuildVer">
    <vt:lpwstr>2057-12.2.0.23206</vt:lpwstr>
  </property>
</Properties>
</file>