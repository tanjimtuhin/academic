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9.pn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7.png"/><Relationship Id="rId1" Type="http://schemas.openxmlformats.org/officeDocument/2006/relationships/image" Target="../media/image4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1" Type="http://schemas.openxmlformats.org/officeDocument/2006/relationships/notesSlide" Target="../notesSlides/notesSlide2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61.jpe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" y="3048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71438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431800" y="2174875"/>
            <a:ext cx="4634865" cy="1256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Volatile Memory Forensics</a:t>
            </a:r>
            <a:endParaRPr lang="en-US" sz="3730" dirty="0"/>
          </a:p>
        </p:txBody>
      </p:sp>
      <p:sp>
        <p:nvSpPr>
          <p:cNvPr id="7" name="Text 4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705" y="1095375"/>
            <a:ext cx="3785870" cy="3613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2392877" y="714375"/>
            <a:ext cx="4358246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Class Overview &amp; Timeline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646509" y="1398389"/>
            <a:ext cx="7850981" cy="36790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Shape 4"/>
          <p:cNvSpPr/>
          <p:nvPr/>
        </p:nvSpPr>
        <p:spPr>
          <a:xfrm>
            <a:off x="646509" y="1398389"/>
            <a:ext cx="488705" cy="367903"/>
          </a:xfrm>
          <a:prstGeom prst="rect">
            <a:avLst/>
          </a:prstGeom>
          <a:solidFill>
            <a:srgbClr val="FFD700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509" y="1398389"/>
            <a:ext cx="488705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#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1135214" y="1398389"/>
            <a:ext cx="866152" cy="367903"/>
          </a:xfrm>
          <a:prstGeom prst="rect">
            <a:avLst/>
          </a:prstGeom>
          <a:solidFill>
            <a:srgbClr val="FFD700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35214" y="1398389"/>
            <a:ext cx="866152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Time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1996427" y="1398389"/>
            <a:ext cx="1252110" cy="367903"/>
          </a:xfrm>
          <a:prstGeom prst="rect">
            <a:avLst/>
          </a:prstGeom>
          <a:solidFill>
            <a:srgbClr val="FFD700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96427" y="1398389"/>
            <a:ext cx="1252110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Duration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3240405" y="1398270"/>
            <a:ext cx="4382770" cy="367665"/>
          </a:xfrm>
          <a:prstGeom prst="rect">
            <a:avLst/>
          </a:prstGeom>
          <a:solidFill>
            <a:srgbClr val="FFD700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40556" y="1398389"/>
            <a:ext cx="5256935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Topic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646509" y="1766292"/>
            <a:ext cx="7850981" cy="36790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3"/>
          <p:cNvSpPr/>
          <p:nvPr/>
        </p:nvSpPr>
        <p:spPr>
          <a:xfrm>
            <a:off x="646509" y="1766292"/>
            <a:ext cx="490184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1136693" y="1766292"/>
            <a:ext cx="856831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0:00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1993525" y="1766292"/>
            <a:ext cx="124301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min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3236537" y="1766292"/>
            <a:ext cx="526095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Introduction: What is memory? Why does it matter?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646509" y="2134195"/>
            <a:ext cx="7850981" cy="367903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21" name="Text 18"/>
          <p:cNvSpPr/>
          <p:nvPr/>
        </p:nvSpPr>
        <p:spPr>
          <a:xfrm>
            <a:off x="646509" y="2134195"/>
            <a:ext cx="490184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1136693" y="2134195"/>
            <a:ext cx="856831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0:10</a:t>
            </a:r>
            <a:endParaRPr lang="en-US" sz="940" dirty="0"/>
          </a:p>
        </p:txBody>
      </p:sp>
      <p:sp>
        <p:nvSpPr>
          <p:cNvPr id="23" name="Text 20"/>
          <p:cNvSpPr/>
          <p:nvPr/>
        </p:nvSpPr>
        <p:spPr>
          <a:xfrm>
            <a:off x="1993525" y="2134195"/>
            <a:ext cx="124301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min</a:t>
            </a:r>
            <a:endParaRPr lang="en-US" sz="940" dirty="0"/>
          </a:p>
        </p:txBody>
      </p:sp>
      <p:sp>
        <p:nvSpPr>
          <p:cNvPr id="24" name="Text 21"/>
          <p:cNvSpPr/>
          <p:nvPr/>
        </p:nvSpPr>
        <p:spPr>
          <a:xfrm>
            <a:off x="3236537" y="2134195"/>
            <a:ext cx="526095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Concept: How RAM works — beginner-friendly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646509" y="2502098"/>
            <a:ext cx="7850981" cy="36790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3"/>
          <p:cNvSpPr/>
          <p:nvPr/>
        </p:nvSpPr>
        <p:spPr>
          <a:xfrm>
            <a:off x="646509" y="2502098"/>
            <a:ext cx="490184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940" dirty="0"/>
          </a:p>
        </p:txBody>
      </p:sp>
      <p:sp>
        <p:nvSpPr>
          <p:cNvPr id="27" name="Text 24"/>
          <p:cNvSpPr/>
          <p:nvPr/>
        </p:nvSpPr>
        <p:spPr>
          <a:xfrm>
            <a:off x="1136693" y="2502098"/>
            <a:ext cx="856831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0:25</a:t>
            </a:r>
            <a:endParaRPr lang="en-US" sz="940" dirty="0"/>
          </a:p>
        </p:txBody>
      </p:sp>
      <p:sp>
        <p:nvSpPr>
          <p:cNvPr id="28" name="Text 25"/>
          <p:cNvSpPr/>
          <p:nvPr/>
        </p:nvSpPr>
        <p:spPr>
          <a:xfrm>
            <a:off x="1993525" y="2502098"/>
            <a:ext cx="124301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min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3236537" y="2502098"/>
            <a:ext cx="526095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Tool Intro: Meet Volatility — the main CTF tool</a:t>
            </a:r>
            <a:endParaRPr lang="en-US" sz="940" dirty="0"/>
          </a:p>
        </p:txBody>
      </p:sp>
      <p:sp>
        <p:nvSpPr>
          <p:cNvPr id="30" name="Shape 27"/>
          <p:cNvSpPr/>
          <p:nvPr/>
        </p:nvSpPr>
        <p:spPr>
          <a:xfrm>
            <a:off x="646509" y="2870002"/>
            <a:ext cx="7850981" cy="367903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31" name="Text 28"/>
          <p:cNvSpPr/>
          <p:nvPr/>
        </p:nvSpPr>
        <p:spPr>
          <a:xfrm>
            <a:off x="646509" y="2870002"/>
            <a:ext cx="490184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940" dirty="0"/>
          </a:p>
        </p:txBody>
      </p:sp>
      <p:sp>
        <p:nvSpPr>
          <p:cNvPr id="32" name="Text 29"/>
          <p:cNvSpPr/>
          <p:nvPr/>
        </p:nvSpPr>
        <p:spPr>
          <a:xfrm>
            <a:off x="1136693" y="2870002"/>
            <a:ext cx="856831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0:35</a:t>
            </a:r>
            <a:endParaRPr lang="en-US" sz="940" dirty="0"/>
          </a:p>
        </p:txBody>
      </p:sp>
      <p:sp>
        <p:nvSpPr>
          <p:cNvPr id="33" name="Text 30"/>
          <p:cNvSpPr/>
          <p:nvPr/>
        </p:nvSpPr>
        <p:spPr>
          <a:xfrm>
            <a:off x="1993525" y="2870002"/>
            <a:ext cx="124301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min</a:t>
            </a:r>
            <a:endParaRPr lang="en-US" sz="940" dirty="0"/>
          </a:p>
        </p:txBody>
      </p:sp>
      <p:sp>
        <p:nvSpPr>
          <p:cNvPr id="34" name="Text 31"/>
          <p:cNvSpPr/>
          <p:nvPr/>
        </p:nvSpPr>
        <p:spPr>
          <a:xfrm>
            <a:off x="3236537" y="2870002"/>
            <a:ext cx="526095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Break: Quick mental reset</a:t>
            </a:r>
            <a:endParaRPr lang="en-US" sz="940" dirty="0"/>
          </a:p>
        </p:txBody>
      </p:sp>
      <p:sp>
        <p:nvSpPr>
          <p:cNvPr id="35" name="Shape 32"/>
          <p:cNvSpPr/>
          <p:nvPr/>
        </p:nvSpPr>
        <p:spPr>
          <a:xfrm>
            <a:off x="646509" y="3237905"/>
            <a:ext cx="7850981" cy="36790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3"/>
          <p:cNvSpPr/>
          <p:nvPr/>
        </p:nvSpPr>
        <p:spPr>
          <a:xfrm>
            <a:off x="646509" y="3237905"/>
            <a:ext cx="490184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940" dirty="0"/>
          </a:p>
        </p:txBody>
      </p:sp>
      <p:sp>
        <p:nvSpPr>
          <p:cNvPr id="37" name="Text 34"/>
          <p:cNvSpPr/>
          <p:nvPr/>
        </p:nvSpPr>
        <p:spPr>
          <a:xfrm>
            <a:off x="1136693" y="3237905"/>
            <a:ext cx="856831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0:40</a:t>
            </a:r>
            <a:endParaRPr lang="en-US" sz="940" dirty="0"/>
          </a:p>
        </p:txBody>
      </p:sp>
      <p:sp>
        <p:nvSpPr>
          <p:cNvPr id="38" name="Text 35"/>
          <p:cNvSpPr/>
          <p:nvPr/>
        </p:nvSpPr>
        <p:spPr>
          <a:xfrm>
            <a:off x="1993525" y="3237905"/>
            <a:ext cx="124301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 min</a:t>
            </a:r>
            <a:endParaRPr lang="en-US" sz="940" dirty="0"/>
          </a:p>
        </p:txBody>
      </p:sp>
      <p:sp>
        <p:nvSpPr>
          <p:cNvPr id="39" name="Text 36"/>
          <p:cNvSpPr/>
          <p:nvPr/>
        </p:nvSpPr>
        <p:spPr>
          <a:xfrm>
            <a:off x="3236537" y="3237905"/>
            <a:ext cx="526095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Walkthrough: Solve a challenge together (guided)</a:t>
            </a:r>
            <a:endParaRPr lang="en-US" sz="940" dirty="0"/>
          </a:p>
        </p:txBody>
      </p:sp>
      <p:sp>
        <p:nvSpPr>
          <p:cNvPr id="40" name="Shape 37"/>
          <p:cNvSpPr/>
          <p:nvPr/>
        </p:nvSpPr>
        <p:spPr>
          <a:xfrm>
            <a:off x="646430" y="3605530"/>
            <a:ext cx="6976745" cy="367665"/>
          </a:xfrm>
          <a:prstGeom prst="rect">
            <a:avLst/>
          </a:prstGeom>
          <a:solidFill>
            <a:srgbClr val="F9F9F9"/>
          </a:solidFill>
        </p:spPr>
      </p:sp>
      <p:sp>
        <p:nvSpPr>
          <p:cNvPr id="41" name="Text 38"/>
          <p:cNvSpPr/>
          <p:nvPr/>
        </p:nvSpPr>
        <p:spPr>
          <a:xfrm>
            <a:off x="646509" y="3605808"/>
            <a:ext cx="490184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940" dirty="0"/>
          </a:p>
        </p:txBody>
      </p:sp>
      <p:sp>
        <p:nvSpPr>
          <p:cNvPr id="42" name="Text 39"/>
          <p:cNvSpPr/>
          <p:nvPr/>
        </p:nvSpPr>
        <p:spPr>
          <a:xfrm>
            <a:off x="1136693" y="3605808"/>
            <a:ext cx="856831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1:00</a:t>
            </a:r>
            <a:endParaRPr lang="en-US" sz="940" dirty="0"/>
          </a:p>
        </p:txBody>
      </p:sp>
      <p:sp>
        <p:nvSpPr>
          <p:cNvPr id="43" name="Text 40"/>
          <p:cNvSpPr/>
          <p:nvPr/>
        </p:nvSpPr>
        <p:spPr>
          <a:xfrm>
            <a:off x="1993525" y="3605808"/>
            <a:ext cx="124301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 min</a:t>
            </a:r>
            <a:endParaRPr lang="en-US" sz="940" dirty="0"/>
          </a:p>
        </p:txBody>
      </p:sp>
      <p:sp>
        <p:nvSpPr>
          <p:cNvPr id="44" name="Text 41"/>
          <p:cNvSpPr/>
          <p:nvPr/>
        </p:nvSpPr>
        <p:spPr>
          <a:xfrm>
            <a:off x="3236537" y="3605808"/>
            <a:ext cx="526095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Hands-on: Students solve independently</a:t>
            </a:r>
            <a:endParaRPr lang="en-US" sz="940" dirty="0"/>
          </a:p>
        </p:txBody>
      </p:sp>
      <p:sp>
        <p:nvSpPr>
          <p:cNvPr id="45" name="Shape 42"/>
          <p:cNvSpPr/>
          <p:nvPr/>
        </p:nvSpPr>
        <p:spPr>
          <a:xfrm>
            <a:off x="646430" y="3973830"/>
            <a:ext cx="6976745" cy="36766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Text 43"/>
          <p:cNvSpPr/>
          <p:nvPr/>
        </p:nvSpPr>
        <p:spPr>
          <a:xfrm>
            <a:off x="646509" y="3973711"/>
            <a:ext cx="490184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940" dirty="0"/>
          </a:p>
        </p:txBody>
      </p:sp>
      <p:sp>
        <p:nvSpPr>
          <p:cNvPr id="47" name="Text 44"/>
          <p:cNvSpPr/>
          <p:nvPr/>
        </p:nvSpPr>
        <p:spPr>
          <a:xfrm>
            <a:off x="1136693" y="3973711"/>
            <a:ext cx="856831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1:20</a:t>
            </a:r>
            <a:endParaRPr lang="en-US" sz="940" dirty="0"/>
          </a:p>
        </p:txBody>
      </p:sp>
      <p:sp>
        <p:nvSpPr>
          <p:cNvPr id="48" name="Text 45"/>
          <p:cNvSpPr/>
          <p:nvPr/>
        </p:nvSpPr>
        <p:spPr>
          <a:xfrm>
            <a:off x="1993525" y="3973711"/>
            <a:ext cx="124301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min</a:t>
            </a:r>
            <a:endParaRPr lang="en-US" sz="940" dirty="0"/>
          </a:p>
        </p:txBody>
      </p:sp>
      <p:sp>
        <p:nvSpPr>
          <p:cNvPr id="49" name="Text 46"/>
          <p:cNvSpPr/>
          <p:nvPr/>
        </p:nvSpPr>
        <p:spPr>
          <a:xfrm>
            <a:off x="3236537" y="3973711"/>
            <a:ext cx="5260953" cy="367903"/>
          </a:xfrm>
          <a:prstGeom prst="rect">
            <a:avLst/>
          </a:prstGeom>
          <a:noFill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Wrap-up: Debrief, next steps, and resources</a:t>
            </a:r>
            <a:endParaRPr lang="en-US" sz="940" dirty="0"/>
          </a:p>
        </p:txBody>
      </p:sp>
      <p:sp>
        <p:nvSpPr>
          <p:cNvPr id="50" name="Text 47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44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7775" dirty="0"/>
          </a:p>
        </p:txBody>
      </p:sp>
      <p:sp>
        <p:nvSpPr>
          <p:cNvPr id="5" name="Shape 2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6" name="Text 3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noFill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BLOCK 01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072147" y="832247"/>
            <a:ext cx="2999705" cy="5911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Introduction</a:t>
            </a:r>
            <a:endParaRPr lang="en-US" sz="3730" dirty="0"/>
          </a:p>
        </p:txBody>
      </p:sp>
      <p:sp>
        <p:nvSpPr>
          <p:cNvPr id="8" name="Text 5"/>
          <p:cNvSpPr/>
          <p:nvPr/>
        </p:nvSpPr>
        <p:spPr>
          <a:xfrm>
            <a:off x="2615729" y="1566267"/>
            <a:ext cx="3912543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Memory? Why Does it Matter?</a:t>
            </a:r>
            <a:endParaRPr lang="en-US" sz="1705" dirty="0"/>
          </a:p>
        </p:txBody>
      </p:sp>
      <p:sp>
        <p:nvSpPr>
          <p:cNvPr id="9" name="Shape 6"/>
          <p:cNvSpPr/>
          <p:nvPr/>
        </p:nvSpPr>
        <p:spPr>
          <a:xfrm>
            <a:off x="3675152" y="2114550"/>
            <a:ext cx="179369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0" name="Text 7"/>
          <p:cNvSpPr/>
          <p:nvPr/>
        </p:nvSpPr>
        <p:spPr>
          <a:xfrm>
            <a:off x="3675152" y="2114550"/>
            <a:ext cx="1793695" cy="260747"/>
          </a:xfrm>
          <a:prstGeom prst="rect">
            <a:avLst/>
          </a:prstGeom>
          <a:noFill/>
        </p:spPr>
        <p:txBody>
          <a:bodyPr wrap="square" lIns="212598" tIns="68072" rIns="21259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0:00 – 0:10 · 10 Minutes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1933277" y="714375"/>
            <a:ext cx="5277445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is Memory? Why it Matters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3714750" y="2430661"/>
            <a:ext cx="1714500" cy="714375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7" name="Text 4"/>
          <p:cNvSpPr/>
          <p:nvPr/>
        </p:nvSpPr>
        <p:spPr>
          <a:xfrm>
            <a:off x="3928532" y="2696766"/>
            <a:ext cx="1286935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Memory Analysis</a:t>
            </a:r>
            <a:endParaRPr lang="en-US" sz="1090" dirty="0"/>
          </a:p>
        </p:txBody>
      </p:sp>
      <p:sp>
        <p:nvSpPr>
          <p:cNvPr id="8" name="Shape 5"/>
          <p:cNvSpPr/>
          <p:nvPr/>
        </p:nvSpPr>
        <p:spPr>
          <a:xfrm>
            <a:off x="1000125" y="1537692"/>
            <a:ext cx="500063" cy="500063"/>
          </a:xfrm>
          <a:prstGeom prst="ellipse">
            <a:avLst/>
          </a:prstGeom>
          <a:solidFill>
            <a:srgbClr val="FFD700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680567"/>
            <a:ext cx="214313" cy="2143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3063" y="1537692"/>
            <a:ext cx="1714723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RAM vs Disk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1643063" y="1755577"/>
            <a:ext cx="1714723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Desk (RAM) vs Cabinet (Disk)</a:t>
            </a:r>
            <a:endParaRPr lang="en-US" sz="940" dirty="0"/>
          </a:p>
        </p:txBody>
      </p:sp>
      <p:sp>
        <p:nvSpPr>
          <p:cNvPr id="12" name="Shape 8"/>
          <p:cNvSpPr/>
          <p:nvPr/>
        </p:nvSpPr>
        <p:spPr>
          <a:xfrm>
            <a:off x="5429250" y="1537692"/>
            <a:ext cx="500063" cy="500063"/>
          </a:xfrm>
          <a:prstGeom prst="ellipse">
            <a:avLst/>
          </a:prstGeom>
          <a:solidFill>
            <a:srgbClr val="FFD700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1680567"/>
            <a:ext cx="214313" cy="2143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72188" y="1537692"/>
            <a:ext cx="1772487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The Goldmine</a:t>
            </a:r>
            <a:endParaRPr lang="en-US" sz="1090" dirty="0"/>
          </a:p>
        </p:txBody>
      </p:sp>
      <p:sp>
        <p:nvSpPr>
          <p:cNvPr id="15" name="Text 10"/>
          <p:cNvSpPr/>
          <p:nvPr/>
        </p:nvSpPr>
        <p:spPr>
          <a:xfrm>
            <a:off x="6072188" y="1755577"/>
            <a:ext cx="177248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Passwords, Keys, Connections</a:t>
            </a:r>
            <a:endParaRPr lang="en-US" sz="940" dirty="0"/>
          </a:p>
        </p:txBody>
      </p:sp>
      <p:sp>
        <p:nvSpPr>
          <p:cNvPr id="16" name="Shape 11"/>
          <p:cNvSpPr/>
          <p:nvPr/>
        </p:nvSpPr>
        <p:spPr>
          <a:xfrm>
            <a:off x="1000125" y="3537942"/>
            <a:ext cx="500063" cy="500063"/>
          </a:xfrm>
          <a:prstGeom prst="ellipse">
            <a:avLst/>
          </a:prstGeom>
          <a:solidFill>
            <a:srgbClr val="FFD700"/>
          </a:solidFill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789" y="3680817"/>
            <a:ext cx="160734" cy="2143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43063" y="3537942"/>
            <a:ext cx="1716732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Volatile</a:t>
            </a:r>
            <a:endParaRPr lang="en-US" sz="1090" dirty="0"/>
          </a:p>
        </p:txBody>
      </p:sp>
      <p:sp>
        <p:nvSpPr>
          <p:cNvPr id="19" name="Text 13"/>
          <p:cNvSpPr/>
          <p:nvPr/>
        </p:nvSpPr>
        <p:spPr>
          <a:xfrm>
            <a:off x="1643063" y="3755827"/>
            <a:ext cx="1716732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Power off = Data gone forever</a:t>
            </a:r>
            <a:endParaRPr lang="en-US" sz="940" dirty="0"/>
          </a:p>
        </p:txBody>
      </p:sp>
      <p:sp>
        <p:nvSpPr>
          <p:cNvPr id="20" name="Shape 14"/>
          <p:cNvSpPr/>
          <p:nvPr/>
        </p:nvSpPr>
        <p:spPr>
          <a:xfrm>
            <a:off x="5429250" y="3537942"/>
            <a:ext cx="500063" cy="500063"/>
          </a:xfrm>
          <a:prstGeom prst="ellipse">
            <a:avLst/>
          </a:prstGeom>
          <a:solidFill>
            <a:srgbClr val="FFD700"/>
          </a:solidFill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5520" y="3680817"/>
            <a:ext cx="187523" cy="2143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72188" y="3537942"/>
            <a:ext cx="1457911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CTF Context</a:t>
            </a:r>
            <a:endParaRPr lang="en-US" sz="1090" dirty="0"/>
          </a:p>
        </p:txBody>
      </p:sp>
      <p:sp>
        <p:nvSpPr>
          <p:cNvPr id="23" name="Text 16"/>
          <p:cNvSpPr/>
          <p:nvPr/>
        </p:nvSpPr>
        <p:spPr>
          <a:xfrm>
            <a:off x="6072188" y="3755827"/>
            <a:ext cx="1457911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Catching fileless malware</a:t>
            </a:r>
            <a:endParaRPr lang="en-US" sz="940" dirty="0"/>
          </a:p>
        </p:txBody>
      </p:sp>
      <p:sp>
        <p:nvSpPr>
          <p:cNvPr id="24" name="Shape 17"/>
          <p:cNvSpPr/>
          <p:nvPr/>
        </p:nvSpPr>
        <p:spPr>
          <a:xfrm>
            <a:off x="291465" y="4210685"/>
            <a:ext cx="7239000" cy="496570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952280"/>
            <a:ext cx="128588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77240" y="4376420"/>
            <a:ext cx="6142355" cy="1790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i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"Malware leaves no file on disk. Every attack leaves traces — packets are the footprints, memory is the scene."</a:t>
            </a:r>
            <a:endParaRPr lang="en-US" sz="940" dirty="0"/>
          </a:p>
        </p:txBody>
      </p:sp>
      <p:sp>
        <p:nvSpPr>
          <p:cNvPr id="27" name="Text 19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05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1774692" y="714375"/>
            <a:ext cx="5594617" cy="3607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22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The Hook: A Hacker's Invisible Attack</a:t>
            </a:r>
            <a:endParaRPr lang="en-US" sz="2225" dirty="0"/>
          </a:p>
        </p:txBody>
      </p:sp>
      <p:sp>
        <p:nvSpPr>
          <p:cNvPr id="6" name="Text 3"/>
          <p:cNvSpPr/>
          <p:nvPr/>
        </p:nvSpPr>
        <p:spPr>
          <a:xfrm>
            <a:off x="642938" y="1432322"/>
            <a:ext cx="4643438" cy="502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6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hacker runs malware on a victim's computer. The malware runs entirely in RAM — it never writes a single file to disk.</a:t>
            </a:r>
            <a:endParaRPr lang="en-US" sz="1160" dirty="0"/>
          </a:p>
        </p:txBody>
      </p:sp>
      <p:sp>
        <p:nvSpPr>
          <p:cNvPr id="7" name="Text 4"/>
          <p:cNvSpPr/>
          <p:nvPr/>
        </p:nvSpPr>
        <p:spPr>
          <a:xfrm>
            <a:off x="642938" y="2113824"/>
            <a:ext cx="4643438" cy="502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6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antivirus finds nothing. Disk forensics finds nothing. The system looks clean.</a:t>
            </a:r>
            <a:endParaRPr lang="en-US" sz="1160" dirty="0"/>
          </a:p>
        </p:txBody>
      </p:sp>
      <p:sp>
        <p:nvSpPr>
          <p:cNvPr id="8" name="Text 5"/>
          <p:cNvSpPr/>
          <p:nvPr/>
        </p:nvSpPr>
        <p:spPr>
          <a:xfrm>
            <a:off x="642938" y="2795327"/>
            <a:ext cx="4643438" cy="2514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But the memory? The memory remembers everything.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5643563" y="1432322"/>
            <a:ext cx="2857500" cy="229314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0" name="Shape 7"/>
          <p:cNvSpPr/>
          <p:nvPr/>
        </p:nvSpPr>
        <p:spPr>
          <a:xfrm>
            <a:off x="5857875" y="1718072"/>
            <a:ext cx="2428875" cy="31789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1" name="Text 8"/>
          <p:cNvSpPr/>
          <p:nvPr/>
        </p:nvSpPr>
        <p:spPr>
          <a:xfrm>
            <a:off x="5857875" y="1718072"/>
            <a:ext cx="2428875" cy="317897"/>
          </a:xfrm>
          <a:prstGeom prst="rect">
            <a:avLst/>
          </a:prstGeom>
          <a:noFill/>
        </p:spPr>
        <p:txBody>
          <a:bodyPr wrap="square" lIns="212598" tIns="102108" rIns="212598" bIns="1021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No files on disk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5857875" y="2178844"/>
            <a:ext cx="2428875" cy="31789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3" name="Text 10"/>
          <p:cNvSpPr/>
          <p:nvPr/>
        </p:nvSpPr>
        <p:spPr>
          <a:xfrm>
            <a:off x="5857875" y="2178844"/>
            <a:ext cx="2428875" cy="317897"/>
          </a:xfrm>
          <a:prstGeom prst="rect">
            <a:avLst/>
          </a:prstGeom>
          <a:noFill/>
        </p:spPr>
        <p:txBody>
          <a:bodyPr wrap="square" lIns="212598" tIns="102108" rIns="212598" bIns="1021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No registry entries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5857875" y="2639616"/>
            <a:ext cx="2428875" cy="31789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5" name="Text 12"/>
          <p:cNvSpPr/>
          <p:nvPr/>
        </p:nvSpPr>
        <p:spPr>
          <a:xfrm>
            <a:off x="5857875" y="2639616"/>
            <a:ext cx="2428875" cy="317897"/>
          </a:xfrm>
          <a:prstGeom prst="rect">
            <a:avLst/>
          </a:prstGeom>
          <a:noFill/>
        </p:spPr>
        <p:txBody>
          <a:bodyPr wrap="square" lIns="212598" tIns="102108" rIns="212598" bIns="1021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Invisible to AV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6138881" y="3243263"/>
            <a:ext cx="1866863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D7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BUT MEMORY KNOWS</a:t>
            </a:r>
            <a:endParaRPr lang="en-US" sz="1195" dirty="0"/>
          </a:p>
        </p:txBody>
      </p:sp>
      <p:sp>
        <p:nvSpPr>
          <p:cNvPr id="17" name="Shape 14"/>
          <p:cNvSpPr/>
          <p:nvPr/>
        </p:nvSpPr>
        <p:spPr>
          <a:xfrm>
            <a:off x="0" y="4121785"/>
            <a:ext cx="7482840" cy="45021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8" name="Text 15"/>
          <p:cNvSpPr/>
          <p:nvPr/>
        </p:nvSpPr>
        <p:spPr>
          <a:xfrm>
            <a:off x="0" y="4264819"/>
            <a:ext cx="91440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This is exactly why volatile memory forensics exists.</a:t>
            </a:r>
            <a:endParaRPr lang="en-US" sz="985" dirty="0"/>
          </a:p>
        </p:txBody>
      </p:sp>
      <p:sp>
        <p:nvSpPr>
          <p:cNvPr id="19" name="Text 16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06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1771120" y="714375"/>
            <a:ext cx="5601760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RAM vs Disk: Know the Difference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650081" y="1401961"/>
            <a:ext cx="3771900" cy="410766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7" name="Text 4"/>
          <p:cNvSpPr/>
          <p:nvPr/>
        </p:nvSpPr>
        <p:spPr>
          <a:xfrm>
            <a:off x="650081" y="1401961"/>
            <a:ext cx="3771900" cy="410766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RAM (Volatile)</a:t>
            </a:r>
            <a:endParaRPr lang="en-US" sz="1195" dirty="0"/>
          </a:p>
        </p:txBody>
      </p:sp>
      <p:sp>
        <p:nvSpPr>
          <p:cNvPr id="8" name="Shape 5"/>
          <p:cNvSpPr/>
          <p:nvPr/>
        </p:nvSpPr>
        <p:spPr>
          <a:xfrm>
            <a:off x="650081" y="1812727"/>
            <a:ext cx="3771900" cy="1785938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94" y="2027039"/>
            <a:ext cx="178594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144" y="2027039"/>
            <a:ext cx="90510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Extremely fast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4" y="2298502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0144" y="2298502"/>
            <a:ext cx="19429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Temporary — lost on power off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94" y="2569964"/>
            <a:ext cx="178594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0144" y="2569964"/>
            <a:ext cx="2017216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Holds active programs and data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394" y="2841427"/>
            <a:ext cx="178594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50144" y="2841427"/>
            <a:ext cx="2350684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Contains passwords, keys, open files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394" y="3112889"/>
            <a:ext cx="178594" cy="1428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50144" y="3112889"/>
            <a:ext cx="206465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Network connections in real time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4722019" y="1401961"/>
            <a:ext cx="3771900" cy="410766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0" name="Text 12"/>
          <p:cNvSpPr/>
          <p:nvPr/>
        </p:nvSpPr>
        <p:spPr>
          <a:xfrm>
            <a:off x="4722019" y="1401961"/>
            <a:ext cx="3771900" cy="410766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Disk (Non-Volatile)</a:t>
            </a:r>
            <a:endParaRPr lang="en-US" sz="1195" dirty="0"/>
          </a:p>
        </p:txBody>
      </p:sp>
      <p:sp>
        <p:nvSpPr>
          <p:cNvPr id="21" name="Shape 13"/>
          <p:cNvSpPr/>
          <p:nvPr/>
        </p:nvSpPr>
        <p:spPr>
          <a:xfrm>
            <a:off x="4722019" y="1812727"/>
            <a:ext cx="3771900" cy="178593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14"/>
          <p:cNvSpPr/>
          <p:nvPr/>
        </p:nvSpPr>
        <p:spPr>
          <a:xfrm>
            <a:off x="5222081" y="2027039"/>
            <a:ext cx="135005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Slower access speed</a:t>
            </a:r>
            <a:endParaRPr lang="en-US" sz="10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331" y="2298502"/>
            <a:ext cx="178594" cy="14287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22081" y="2298502"/>
            <a:ext cx="206995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Permanent — survives power off</a:t>
            </a:r>
            <a:endParaRPr lang="en-US" sz="10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6331" y="2569964"/>
            <a:ext cx="178594" cy="14287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222081" y="2569964"/>
            <a:ext cx="214418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Holds installed programs and files</a:t>
            </a:r>
            <a:endParaRPr lang="en-US" sz="10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6331" y="2841427"/>
            <a:ext cx="178594" cy="14287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222081" y="2841427"/>
            <a:ext cx="2557323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Encrypted or deleted files may hide here</a:t>
            </a:r>
            <a:endParaRPr lang="en-US" sz="105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6331" y="3112889"/>
            <a:ext cx="178594" cy="142875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222081" y="3112889"/>
            <a:ext cx="2199354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Fileless malware leaves NO traces</a:t>
            </a:r>
            <a:endParaRPr lang="en-US" sz="1050" dirty="0"/>
          </a:p>
        </p:txBody>
      </p:sp>
      <p:sp>
        <p:nvSpPr>
          <p:cNvPr id="31" name="Shape 19"/>
          <p:cNvSpPr/>
          <p:nvPr/>
        </p:nvSpPr>
        <p:spPr>
          <a:xfrm>
            <a:off x="643255" y="3891280"/>
            <a:ext cx="6780530" cy="46799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2" name="Text 20"/>
          <p:cNvSpPr/>
          <p:nvPr/>
        </p:nvSpPr>
        <p:spPr>
          <a:xfrm>
            <a:off x="786130" y="4034155"/>
            <a:ext cx="6614160" cy="191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Fileless malware lives only in RAM. Disk forensics alone will miss it completely.</a:t>
            </a:r>
            <a:endParaRPr lang="en-US" sz="1090" dirty="0"/>
          </a:p>
        </p:txBody>
      </p:sp>
      <p:sp>
        <p:nvSpPr>
          <p:cNvPr id="33" name="Text 21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484722" y="18034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07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2581070" y="714375"/>
            <a:ext cx="3981859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Lives Inside RAM?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642938" y="1394817"/>
            <a:ext cx="3857625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1531" y="1680567"/>
            <a:ext cx="428625" cy="428625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31" y="1794867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93031" y="1655564"/>
            <a:ext cx="292893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Encryption Keys</a:t>
            </a:r>
            <a:endParaRPr lang="en-US" sz="985" dirty="0"/>
          </a:p>
        </p:txBody>
      </p:sp>
      <p:sp>
        <p:nvSpPr>
          <p:cNvPr id="10" name="Text 6"/>
          <p:cNvSpPr/>
          <p:nvPr/>
        </p:nvSpPr>
        <p:spPr>
          <a:xfrm>
            <a:off x="1393031" y="1855589"/>
            <a:ext cx="2928938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Active keys used by browsers, VPNs, and apps. Disappear when closed.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4643438" y="1394817"/>
            <a:ext cx="3857625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22031" y="1680567"/>
            <a:ext cx="428625" cy="428625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31" y="1794867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93531" y="1725216"/>
            <a:ext cx="2865146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Running Processes</a:t>
            </a:r>
            <a:endParaRPr lang="en-US" sz="985" dirty="0"/>
          </a:p>
        </p:txBody>
      </p:sp>
      <p:sp>
        <p:nvSpPr>
          <p:cNvPr id="15" name="Text 10"/>
          <p:cNvSpPr/>
          <p:nvPr/>
        </p:nvSpPr>
        <p:spPr>
          <a:xfrm>
            <a:off x="5393531" y="1925241"/>
            <a:ext cx="2865146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open app and background service with its unique PID.</a:t>
            </a:r>
            <a:endParaRPr lang="en-US" sz="780" dirty="0"/>
          </a:p>
        </p:txBody>
      </p:sp>
      <p:sp>
        <p:nvSpPr>
          <p:cNvPr id="16" name="Shape 11"/>
          <p:cNvSpPr/>
          <p:nvPr/>
        </p:nvSpPr>
        <p:spPr>
          <a:xfrm>
            <a:off x="642938" y="2537817"/>
            <a:ext cx="3857625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1531" y="2823567"/>
            <a:ext cx="428625" cy="428625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28" y="2937867"/>
            <a:ext cx="250031" cy="2000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93031" y="2798564"/>
            <a:ext cx="292893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Typed Passwords</a:t>
            </a:r>
            <a:endParaRPr lang="en-US" sz="985" dirty="0"/>
          </a:p>
        </p:txBody>
      </p:sp>
      <p:sp>
        <p:nvSpPr>
          <p:cNvPr id="20" name="Text 14"/>
          <p:cNvSpPr/>
          <p:nvPr/>
        </p:nvSpPr>
        <p:spPr>
          <a:xfrm>
            <a:off x="1393031" y="2998589"/>
            <a:ext cx="2928938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Credentials entered into login forms may linger in memory buffers.</a:t>
            </a:r>
            <a:endParaRPr lang="en-US" sz="780" dirty="0"/>
          </a:p>
        </p:txBody>
      </p:sp>
      <p:sp>
        <p:nvSpPr>
          <p:cNvPr id="21" name="Shape 15"/>
          <p:cNvSpPr/>
          <p:nvPr/>
        </p:nvSpPr>
        <p:spPr>
          <a:xfrm>
            <a:off x="4643438" y="2537817"/>
            <a:ext cx="3857625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822031" y="2823567"/>
            <a:ext cx="428625" cy="428625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328" y="2937867"/>
            <a:ext cx="250031" cy="2000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93531" y="2798564"/>
            <a:ext cx="292893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Network Connections</a:t>
            </a:r>
            <a:endParaRPr lang="en-US" sz="985" dirty="0"/>
          </a:p>
        </p:txBody>
      </p:sp>
      <p:sp>
        <p:nvSpPr>
          <p:cNvPr id="25" name="Text 18"/>
          <p:cNvSpPr/>
          <p:nvPr/>
        </p:nvSpPr>
        <p:spPr>
          <a:xfrm>
            <a:off x="5393531" y="2998589"/>
            <a:ext cx="2928938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Active sockets, IP addresses, and ports currently in use by the system.</a:t>
            </a:r>
            <a:endParaRPr lang="en-US" sz="780" dirty="0"/>
          </a:p>
        </p:txBody>
      </p:sp>
      <p:sp>
        <p:nvSpPr>
          <p:cNvPr id="26" name="Shape 19"/>
          <p:cNvSpPr/>
          <p:nvPr/>
        </p:nvSpPr>
        <p:spPr>
          <a:xfrm>
            <a:off x="642938" y="3680817"/>
            <a:ext cx="3857625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21531" y="3966567"/>
            <a:ext cx="428625" cy="428625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34" y="4080867"/>
            <a:ext cx="150019" cy="20002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393031" y="4011216"/>
            <a:ext cx="277534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Clipboard Content</a:t>
            </a:r>
            <a:endParaRPr lang="en-US" sz="985" dirty="0"/>
          </a:p>
        </p:txBody>
      </p:sp>
      <p:sp>
        <p:nvSpPr>
          <p:cNvPr id="30" name="Text 22"/>
          <p:cNvSpPr/>
          <p:nvPr/>
        </p:nvSpPr>
        <p:spPr>
          <a:xfrm>
            <a:off x="1393031" y="4211241"/>
            <a:ext cx="2775347" cy="13930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Whatever was last copied — text, passwords, or file paths.</a:t>
            </a:r>
            <a:endParaRPr lang="en-US" sz="780" dirty="0"/>
          </a:p>
        </p:txBody>
      </p:sp>
      <p:sp>
        <p:nvSpPr>
          <p:cNvPr id="31" name="Shape 23"/>
          <p:cNvSpPr/>
          <p:nvPr/>
        </p:nvSpPr>
        <p:spPr>
          <a:xfrm>
            <a:off x="4643438" y="3680817"/>
            <a:ext cx="3857625" cy="10001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822031" y="3966567"/>
            <a:ext cx="428625" cy="428625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3830" y="4080867"/>
            <a:ext cx="225028" cy="2000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393531" y="3941564"/>
            <a:ext cx="292893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Malware Code</a:t>
            </a:r>
            <a:endParaRPr lang="en-US" sz="985" dirty="0"/>
          </a:p>
        </p:txBody>
      </p:sp>
      <p:sp>
        <p:nvSpPr>
          <p:cNvPr id="35" name="Text 26"/>
          <p:cNvSpPr/>
          <p:nvPr/>
        </p:nvSpPr>
        <p:spPr>
          <a:xfrm>
            <a:off x="5393531" y="4141589"/>
            <a:ext cx="2928938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Injected shellcode and running exploits with no corresponding file on disk.</a:t>
            </a:r>
            <a:endParaRPr lang="en-US" sz="780" dirty="0"/>
          </a:p>
        </p:txBody>
      </p:sp>
      <p:sp>
        <p:nvSpPr>
          <p:cNvPr id="36" name="Text 27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44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08</a:t>
            </a:r>
            <a:endParaRPr lang="en-US" sz="7775" dirty="0"/>
          </a:p>
        </p:txBody>
      </p:sp>
      <p:sp>
        <p:nvSpPr>
          <p:cNvPr id="5" name="Shape 2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6" name="Text 3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noFill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BLOCK 02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519232" y="832247"/>
            <a:ext cx="4105508" cy="5911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How RAM Works</a:t>
            </a:r>
            <a:endParaRPr lang="en-US" sz="3730" dirty="0"/>
          </a:p>
        </p:txBody>
      </p:sp>
      <p:sp>
        <p:nvSpPr>
          <p:cNvPr id="8" name="Text 5"/>
          <p:cNvSpPr/>
          <p:nvPr/>
        </p:nvSpPr>
        <p:spPr>
          <a:xfrm>
            <a:off x="3215915" y="1566267"/>
            <a:ext cx="2712169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Beginner's Mental Model</a:t>
            </a:r>
            <a:endParaRPr lang="en-US" sz="1705" dirty="0"/>
          </a:p>
        </p:txBody>
      </p:sp>
      <p:sp>
        <p:nvSpPr>
          <p:cNvPr id="9" name="Shape 6"/>
          <p:cNvSpPr/>
          <p:nvPr/>
        </p:nvSpPr>
        <p:spPr>
          <a:xfrm>
            <a:off x="3675152" y="2114550"/>
            <a:ext cx="179369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0" name="Text 7"/>
          <p:cNvSpPr/>
          <p:nvPr/>
        </p:nvSpPr>
        <p:spPr>
          <a:xfrm>
            <a:off x="3675152" y="2114550"/>
            <a:ext cx="1793695" cy="260747"/>
          </a:xfrm>
          <a:prstGeom prst="rect">
            <a:avLst/>
          </a:prstGeom>
          <a:noFill/>
        </p:spPr>
        <p:txBody>
          <a:bodyPr wrap="square" lIns="212598" tIns="68072" rIns="21259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0:10 – 0:25 · 15 Minutes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09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1517963" y="714375"/>
            <a:ext cx="6108074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How RAM Works: A Beginner's Model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464344" y="1394817"/>
            <a:ext cx="4143375" cy="2448520"/>
          </a:xfrm>
          <a:prstGeom prst="rect">
            <a:avLst/>
          </a:prstGeom>
          <a:solidFill>
            <a:srgbClr val="00000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4344" y="1394817"/>
            <a:ext cx="4143375" cy="71437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kern="0" spc="3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KERNEL SPACE</a:t>
            </a:r>
            <a:endParaRPr lang="en-US" sz="1195" dirty="0"/>
          </a:p>
        </p:txBody>
      </p:sp>
      <p:sp>
        <p:nvSpPr>
          <p:cNvPr id="8" name="Shape 5"/>
          <p:cNvSpPr/>
          <p:nvPr/>
        </p:nvSpPr>
        <p:spPr>
          <a:xfrm>
            <a:off x="464344" y="2137767"/>
            <a:ext cx="4143375" cy="1676995"/>
          </a:xfrm>
          <a:prstGeom prst="rect">
            <a:avLst/>
          </a:prstGeom>
          <a:solidFill>
            <a:srgbClr val="1A1A1A"/>
          </a:solidFill>
        </p:spPr>
      </p:sp>
      <p:sp>
        <p:nvSpPr>
          <p:cNvPr id="9" name="Shape 6"/>
          <p:cNvSpPr/>
          <p:nvPr/>
        </p:nvSpPr>
        <p:spPr>
          <a:xfrm>
            <a:off x="678656" y="2352080"/>
            <a:ext cx="3714750" cy="34468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Shape 7"/>
          <p:cNvSpPr/>
          <p:nvPr/>
        </p:nvSpPr>
        <p:spPr>
          <a:xfrm>
            <a:off x="821531" y="2437805"/>
            <a:ext cx="537567" cy="173236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1" name="Text 8"/>
          <p:cNvSpPr/>
          <p:nvPr/>
        </p:nvSpPr>
        <p:spPr>
          <a:xfrm>
            <a:off x="821531" y="2437805"/>
            <a:ext cx="537567" cy="173236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PID: 420</a:t>
            </a:r>
            <a:endParaRPr lang="en-US" sz="685" dirty="0"/>
          </a:p>
        </p:txBody>
      </p:sp>
      <p:sp>
        <p:nvSpPr>
          <p:cNvPr id="12" name="Text 9"/>
          <p:cNvSpPr/>
          <p:nvPr/>
        </p:nvSpPr>
        <p:spPr>
          <a:xfrm>
            <a:off x="1501973" y="2451199"/>
            <a:ext cx="67181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chrome.exe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78656" y="2803922"/>
            <a:ext cx="3714750" cy="34468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Shape 11"/>
          <p:cNvSpPr/>
          <p:nvPr/>
        </p:nvSpPr>
        <p:spPr>
          <a:xfrm>
            <a:off x="821531" y="2889647"/>
            <a:ext cx="593182" cy="173236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5" name="Text 12"/>
          <p:cNvSpPr/>
          <p:nvPr/>
        </p:nvSpPr>
        <p:spPr>
          <a:xfrm>
            <a:off x="821531" y="2889647"/>
            <a:ext cx="593182" cy="173236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PID: 1532</a:t>
            </a:r>
            <a:endParaRPr lang="en-US" sz="685" dirty="0"/>
          </a:p>
        </p:txBody>
      </p:sp>
      <p:sp>
        <p:nvSpPr>
          <p:cNvPr id="16" name="Text 13"/>
          <p:cNvSpPr/>
          <p:nvPr/>
        </p:nvSpPr>
        <p:spPr>
          <a:xfrm>
            <a:off x="1557589" y="2903041"/>
            <a:ext cx="678991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svchost.exe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678656" y="3255764"/>
            <a:ext cx="3714750" cy="34468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5"/>
          <p:cNvSpPr/>
          <p:nvPr/>
        </p:nvSpPr>
        <p:spPr>
          <a:xfrm>
            <a:off x="821531" y="3341489"/>
            <a:ext cx="593182" cy="173236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9" name="Text 16"/>
          <p:cNvSpPr/>
          <p:nvPr/>
        </p:nvSpPr>
        <p:spPr>
          <a:xfrm>
            <a:off x="821531" y="3341489"/>
            <a:ext cx="593182" cy="173236"/>
          </a:xfrm>
          <a:prstGeom prst="rect">
            <a:avLst/>
          </a:prstGeom>
          <a:noFill/>
        </p:spPr>
        <p:txBody>
          <a:bodyPr wrap="none" lIns="85090" tIns="34036" rIns="85090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PID: 9999</a:t>
            </a:r>
            <a:endParaRPr lang="en-US" sz="685" dirty="0"/>
          </a:p>
        </p:txBody>
      </p:sp>
      <p:sp>
        <p:nvSpPr>
          <p:cNvPr id="20" name="Text 17"/>
          <p:cNvSpPr/>
          <p:nvPr/>
        </p:nvSpPr>
        <p:spPr>
          <a:xfrm>
            <a:off x="1557589" y="3354884"/>
            <a:ext cx="1315203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FF4444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unknown_malware.exe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4964906" y="1466255"/>
            <a:ext cx="428625" cy="428625"/>
          </a:xfrm>
          <a:prstGeom prst="ellipse">
            <a:avLst/>
          </a:prstGeom>
          <a:solidFill>
            <a:srgbClr val="FFD700"/>
          </a:solidFill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203" y="1580555"/>
            <a:ext cx="250031" cy="20002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36406" y="1466255"/>
            <a:ext cx="3143250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Processes &amp; PIDs</a:t>
            </a:r>
            <a:endParaRPr lang="en-US" sz="1090" dirty="0"/>
          </a:p>
        </p:txBody>
      </p:sp>
      <p:sp>
        <p:nvSpPr>
          <p:cNvPr id="24" name="Text 20"/>
          <p:cNvSpPr/>
          <p:nvPr/>
        </p:nvSpPr>
        <p:spPr>
          <a:xfrm>
            <a:off x="5536406" y="1684139"/>
            <a:ext cx="3143250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running program is a "process" with a unique Phone Number (PID).</a:t>
            </a:r>
            <a:endParaRPr lang="en-US" sz="940" dirty="0"/>
          </a:p>
        </p:txBody>
      </p:sp>
      <p:sp>
        <p:nvSpPr>
          <p:cNvPr id="25" name="Shape 21"/>
          <p:cNvSpPr/>
          <p:nvPr/>
        </p:nvSpPr>
        <p:spPr>
          <a:xfrm>
            <a:off x="4964906" y="2294204"/>
            <a:ext cx="428625" cy="428625"/>
          </a:xfrm>
          <a:prstGeom prst="ellipse">
            <a:avLst/>
          </a:prstGeom>
          <a:solidFill>
            <a:srgbClr val="FFD700"/>
          </a:solidFill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06" y="2408504"/>
            <a:ext cx="200025" cy="2000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536406" y="2294204"/>
            <a:ext cx="2932342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Memory Layout</a:t>
            </a:r>
            <a:endParaRPr lang="en-US" sz="1090" dirty="0"/>
          </a:p>
        </p:txBody>
      </p:sp>
      <p:sp>
        <p:nvSpPr>
          <p:cNvPr id="28" name="Text 23"/>
          <p:cNvSpPr/>
          <p:nvPr/>
        </p:nvSpPr>
        <p:spPr>
          <a:xfrm>
            <a:off x="5536406" y="2512089"/>
            <a:ext cx="2932342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split: Kernel (OS Core) vs User (Your Apps).</a:t>
            </a:r>
            <a:endParaRPr lang="en-US" sz="940" dirty="0"/>
          </a:p>
        </p:txBody>
      </p:sp>
      <p:sp>
        <p:nvSpPr>
          <p:cNvPr id="29" name="Shape 24"/>
          <p:cNvSpPr/>
          <p:nvPr/>
        </p:nvSpPr>
        <p:spPr>
          <a:xfrm>
            <a:off x="4964906" y="2972860"/>
            <a:ext cx="428625" cy="428625"/>
          </a:xfrm>
          <a:prstGeom prst="ellipse">
            <a:avLst/>
          </a:prstGeom>
          <a:solidFill>
            <a:srgbClr val="FFD700"/>
          </a:solidFill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206" y="3087160"/>
            <a:ext cx="200025" cy="20002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36406" y="2972860"/>
            <a:ext cx="3143250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Data in RAM</a:t>
            </a:r>
            <a:endParaRPr lang="en-US" sz="1090" dirty="0"/>
          </a:p>
        </p:txBody>
      </p:sp>
      <p:sp>
        <p:nvSpPr>
          <p:cNvPr id="32" name="Text 26"/>
          <p:cNvSpPr/>
          <p:nvPr/>
        </p:nvSpPr>
        <p:spPr>
          <a:xfrm>
            <a:off x="5536406" y="3190745"/>
            <a:ext cx="3143250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 files, typed passwords, network sockets, and clipboard content.</a:t>
            </a:r>
            <a:endParaRPr lang="en-US" sz="940" dirty="0"/>
          </a:p>
        </p:txBody>
      </p:sp>
      <p:sp>
        <p:nvSpPr>
          <p:cNvPr id="33" name="Shape 27"/>
          <p:cNvSpPr/>
          <p:nvPr/>
        </p:nvSpPr>
        <p:spPr>
          <a:xfrm>
            <a:off x="464344" y="4018359"/>
            <a:ext cx="8215313" cy="410766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4130873"/>
            <a:ext cx="171450" cy="17145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92981" y="4150519"/>
            <a:ext cx="549895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THE SNAPSHOT: A memory dump is like a photograph of RAM at a single moment in time.</a:t>
            </a:r>
            <a:endParaRPr lang="en-US" sz="885" dirty="0"/>
          </a:p>
        </p:txBody>
      </p:sp>
      <p:sp>
        <p:nvSpPr>
          <p:cNvPr id="36" name="Text 29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" y="1524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2265629" y="714375"/>
            <a:ext cx="4612742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Kernel Space vs User Space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650081" y="1401961"/>
            <a:ext cx="3771900" cy="41076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7" name="Text 4"/>
          <p:cNvSpPr/>
          <p:nvPr/>
        </p:nvSpPr>
        <p:spPr>
          <a:xfrm>
            <a:off x="650081" y="1401961"/>
            <a:ext cx="3771900" cy="410766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KERNEL SPACE</a:t>
            </a:r>
            <a:endParaRPr lang="en-US" sz="1195" dirty="0"/>
          </a:p>
        </p:txBody>
      </p:sp>
      <p:sp>
        <p:nvSpPr>
          <p:cNvPr id="8" name="Shape 5"/>
          <p:cNvSpPr/>
          <p:nvPr/>
        </p:nvSpPr>
        <p:spPr>
          <a:xfrm>
            <a:off x="650081" y="1812727"/>
            <a:ext cx="3771900" cy="17451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864394" y="2027039"/>
            <a:ext cx="7768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■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1049238" y="2027039"/>
            <a:ext cx="1611195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operating system's core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864394" y="2314212"/>
            <a:ext cx="7768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■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049238" y="2314212"/>
            <a:ext cx="2870811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Manages hardware, memory, and CPU scheduling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864394" y="2601385"/>
            <a:ext cx="7768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■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1049238" y="2601385"/>
            <a:ext cx="209406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Processes here run with full privilege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64394" y="2888559"/>
            <a:ext cx="7768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■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1049238" y="2888559"/>
            <a:ext cx="3144562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Examples: Windows Kernel (ntoskrnl.exe), Linux kernel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864394" y="3211450"/>
            <a:ext cx="33432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CTF NOTE: Rootkits try to hide here to evade detection.</a:t>
            </a:r>
            <a:endParaRPr lang="en-US" sz="785" dirty="0"/>
          </a:p>
        </p:txBody>
      </p:sp>
      <p:sp>
        <p:nvSpPr>
          <p:cNvPr id="18" name="Shape 15"/>
          <p:cNvSpPr/>
          <p:nvPr/>
        </p:nvSpPr>
        <p:spPr>
          <a:xfrm>
            <a:off x="4722019" y="1401961"/>
            <a:ext cx="3771900" cy="410766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9" name="Text 16"/>
          <p:cNvSpPr/>
          <p:nvPr/>
        </p:nvSpPr>
        <p:spPr>
          <a:xfrm>
            <a:off x="4722019" y="1401961"/>
            <a:ext cx="3771900" cy="410766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USER SPACE</a:t>
            </a:r>
            <a:endParaRPr lang="en-US" sz="1195" dirty="0"/>
          </a:p>
        </p:txBody>
      </p:sp>
      <p:sp>
        <p:nvSpPr>
          <p:cNvPr id="20" name="Shape 17"/>
          <p:cNvSpPr/>
          <p:nvPr/>
        </p:nvSpPr>
        <p:spPr>
          <a:xfrm>
            <a:off x="4722019" y="1812727"/>
            <a:ext cx="3771900" cy="174519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8"/>
          <p:cNvSpPr/>
          <p:nvPr/>
        </p:nvSpPr>
        <p:spPr>
          <a:xfrm>
            <a:off x="4936331" y="2027039"/>
            <a:ext cx="7768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■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5121176" y="2027039"/>
            <a:ext cx="2358610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your applications and services run</a:t>
            </a:r>
            <a:endParaRPr lang="en-US" sz="940" dirty="0"/>
          </a:p>
        </p:txBody>
      </p:sp>
      <p:sp>
        <p:nvSpPr>
          <p:cNvPr id="23" name="Text 20"/>
          <p:cNvSpPr/>
          <p:nvPr/>
        </p:nvSpPr>
        <p:spPr>
          <a:xfrm>
            <a:off x="4936331" y="2314212"/>
            <a:ext cx="7768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■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5121176" y="2314212"/>
            <a:ext cx="2858756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Limited access to hardware and system resources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4936331" y="2601385"/>
            <a:ext cx="7768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■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5121176" y="2601385"/>
            <a:ext cx="2837297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Each process is isolated in its own memory space</a:t>
            </a:r>
            <a:endParaRPr lang="en-US" sz="940" dirty="0"/>
          </a:p>
        </p:txBody>
      </p:sp>
      <p:sp>
        <p:nvSpPr>
          <p:cNvPr id="27" name="Text 24"/>
          <p:cNvSpPr/>
          <p:nvPr/>
        </p:nvSpPr>
        <p:spPr>
          <a:xfrm>
            <a:off x="4936331" y="2888559"/>
            <a:ext cx="77688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■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5121176" y="2888559"/>
            <a:ext cx="264458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Examples: chrome.exe, notepad.exe, cmd.exe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4936331" y="3211450"/>
            <a:ext cx="33432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CTF NOTE: Most malware starts here before escalating.</a:t>
            </a:r>
            <a:endParaRPr lang="en-US" sz="785" dirty="0"/>
          </a:p>
        </p:txBody>
      </p:sp>
      <p:sp>
        <p:nvSpPr>
          <p:cNvPr id="30" name="Shape 27"/>
          <p:cNvSpPr/>
          <p:nvPr/>
        </p:nvSpPr>
        <p:spPr>
          <a:xfrm>
            <a:off x="643255" y="3850640"/>
            <a:ext cx="6966585" cy="45021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1" name="Text 28"/>
          <p:cNvSpPr/>
          <p:nvPr/>
        </p:nvSpPr>
        <p:spPr>
          <a:xfrm>
            <a:off x="786130" y="3993515"/>
            <a:ext cx="6689725" cy="16446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In a memory dump, you'll find BOTH spaces. Knowing which is which tells you what you're looking at.</a:t>
            </a:r>
            <a:endParaRPr lang="en-US" sz="985" dirty="0"/>
          </a:p>
        </p:txBody>
      </p:sp>
      <p:sp>
        <p:nvSpPr>
          <p:cNvPr id="32" name="Text 29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68313" y="4000500"/>
            <a:ext cx="1132787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11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2476258" y="714375"/>
            <a:ext cx="4191484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is a Memory Dump?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714375" y="1466255"/>
            <a:ext cx="2000250" cy="857250"/>
          </a:xfrm>
          <a:prstGeom prst="rect">
            <a:avLst/>
          </a:prstGeom>
          <a:solidFill>
            <a:srgbClr val="1A1A1A"/>
          </a:solidFill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671638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0707" y="1971675"/>
            <a:ext cx="1307557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Live System Running</a:t>
            </a:r>
            <a:endParaRPr lang="en-US" sz="885" dirty="0"/>
          </a:p>
        </p:txBody>
      </p:sp>
      <p:sp>
        <p:nvSpPr>
          <p:cNvPr id="9" name="Shape 5"/>
          <p:cNvSpPr/>
          <p:nvPr/>
        </p:nvSpPr>
        <p:spPr>
          <a:xfrm>
            <a:off x="2857500" y="1852017"/>
            <a:ext cx="571500" cy="85725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0" name="Shape 6"/>
          <p:cNvSpPr/>
          <p:nvPr/>
        </p:nvSpPr>
        <p:spPr>
          <a:xfrm>
            <a:off x="3571875" y="1466255"/>
            <a:ext cx="2000250" cy="857250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671638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80213" y="1971675"/>
            <a:ext cx="118354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SNAPSHOT TAKEN</a:t>
            </a:r>
            <a:endParaRPr lang="en-US" sz="885" dirty="0"/>
          </a:p>
        </p:txBody>
      </p:sp>
      <p:sp>
        <p:nvSpPr>
          <p:cNvPr id="13" name="Shape 8"/>
          <p:cNvSpPr/>
          <p:nvPr/>
        </p:nvSpPr>
        <p:spPr>
          <a:xfrm>
            <a:off x="5715000" y="1852017"/>
            <a:ext cx="571500" cy="85725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4" name="Shape 9"/>
          <p:cNvSpPr/>
          <p:nvPr/>
        </p:nvSpPr>
        <p:spPr>
          <a:xfrm>
            <a:off x="6429375" y="1466255"/>
            <a:ext cx="2000250" cy="857250"/>
          </a:xfrm>
          <a:prstGeom prst="rect">
            <a:avLst/>
          </a:prstGeom>
          <a:solidFill>
            <a:srgbClr val="1A1A1A"/>
          </a:solidFill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75" y="1671638"/>
            <a:ext cx="17145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25617" y="1971675"/>
            <a:ext cx="1407765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.raw / .vmem / .dmp file</a:t>
            </a:r>
            <a:endParaRPr lang="en-US" sz="885" dirty="0"/>
          </a:p>
        </p:txBody>
      </p:sp>
      <p:sp>
        <p:nvSpPr>
          <p:cNvPr id="17" name="Shape 11"/>
          <p:cNvSpPr/>
          <p:nvPr/>
        </p:nvSpPr>
        <p:spPr>
          <a:xfrm>
            <a:off x="642938" y="2752130"/>
            <a:ext cx="2428875" cy="13430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21531" y="2930723"/>
            <a:ext cx="1143223" cy="221456"/>
          </a:xfrm>
          <a:prstGeom prst="rect">
            <a:avLst/>
          </a:prstGeom>
          <a:noFill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The File Formats</a:t>
            </a:r>
            <a:endParaRPr lang="en-US" sz="985" dirty="0"/>
          </a:p>
        </p:txBody>
      </p:sp>
      <p:sp>
        <p:nvSpPr>
          <p:cNvPr id="19" name="Text 13"/>
          <p:cNvSpPr/>
          <p:nvPr/>
        </p:nvSpPr>
        <p:spPr>
          <a:xfrm>
            <a:off x="821531" y="3259336"/>
            <a:ext cx="2071688" cy="6429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formats include .raw, .vmem, .lime, .dmp, and .mem. All are binary snapshots of RAM contents at a specific point in time.</a:t>
            </a:r>
            <a:endParaRPr lang="en-US" sz="780" dirty="0"/>
          </a:p>
        </p:txBody>
      </p:sp>
      <p:sp>
        <p:nvSpPr>
          <p:cNvPr id="20" name="Shape 14"/>
          <p:cNvSpPr/>
          <p:nvPr/>
        </p:nvSpPr>
        <p:spPr>
          <a:xfrm>
            <a:off x="3357563" y="2752130"/>
            <a:ext cx="2428875" cy="13430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536156" y="2930723"/>
            <a:ext cx="1193369" cy="221456"/>
          </a:xfrm>
          <a:prstGeom prst="rect">
            <a:avLst/>
          </a:prstGeom>
          <a:noFill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What's Preserved</a:t>
            </a:r>
            <a:endParaRPr lang="en-US" sz="985" dirty="0"/>
          </a:p>
        </p:txBody>
      </p:sp>
      <p:sp>
        <p:nvSpPr>
          <p:cNvPr id="22" name="Text 16"/>
          <p:cNvSpPr/>
          <p:nvPr/>
        </p:nvSpPr>
        <p:spPr>
          <a:xfrm>
            <a:off x="3536156" y="3259336"/>
            <a:ext cx="2071688" cy="6429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Active processes, open file handles, network connections, encryption keys, clipboard data, and injected malicious code.</a:t>
            </a:r>
            <a:endParaRPr lang="en-US" sz="780" dirty="0"/>
          </a:p>
        </p:txBody>
      </p:sp>
      <p:sp>
        <p:nvSpPr>
          <p:cNvPr id="23" name="Shape 17"/>
          <p:cNvSpPr/>
          <p:nvPr/>
        </p:nvSpPr>
        <p:spPr>
          <a:xfrm>
            <a:off x="6072188" y="2752130"/>
            <a:ext cx="2428875" cy="1328738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250781" y="2930723"/>
            <a:ext cx="803895" cy="221456"/>
          </a:xfrm>
          <a:prstGeom prst="rect">
            <a:avLst/>
          </a:prstGeom>
          <a:noFill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What's Lost</a:t>
            </a:r>
            <a:endParaRPr lang="en-US" sz="985" dirty="0"/>
          </a:p>
        </p:txBody>
      </p:sp>
      <p:sp>
        <p:nvSpPr>
          <p:cNvPr id="25" name="Text 19"/>
          <p:cNvSpPr/>
          <p:nvPr/>
        </p:nvSpPr>
        <p:spPr>
          <a:xfrm>
            <a:off x="6250781" y="3259336"/>
            <a:ext cx="2071688" cy="4822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CPU registers (mostly), hardware state, and any data that was paged to disk or not yet written to RAM at capture time.</a:t>
            </a:r>
            <a:endParaRPr lang="en-US" sz="780" dirty="0"/>
          </a:p>
        </p:txBody>
      </p:sp>
      <p:sp>
        <p:nvSpPr>
          <p:cNvPr id="26" name="Text 20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44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12</a:t>
            </a:r>
            <a:endParaRPr lang="en-US" sz="7775" dirty="0"/>
          </a:p>
        </p:txBody>
      </p:sp>
      <p:sp>
        <p:nvSpPr>
          <p:cNvPr id="5" name="Shape 2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6" name="Text 3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noFill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BLOCK 03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861937" y="832247"/>
            <a:ext cx="3420126" cy="5911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Meet Volatility</a:t>
            </a:r>
            <a:endParaRPr lang="en-US" sz="3730" dirty="0"/>
          </a:p>
        </p:txBody>
      </p:sp>
      <p:sp>
        <p:nvSpPr>
          <p:cNvPr id="8" name="Text 5"/>
          <p:cNvSpPr/>
          <p:nvPr/>
        </p:nvSpPr>
        <p:spPr>
          <a:xfrm>
            <a:off x="2465263" y="1566267"/>
            <a:ext cx="4213473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#1 Tool for Memory Forensics in CTF</a:t>
            </a:r>
            <a:endParaRPr lang="en-US" sz="1705" dirty="0"/>
          </a:p>
        </p:txBody>
      </p:sp>
      <p:sp>
        <p:nvSpPr>
          <p:cNvPr id="9" name="Shape 6"/>
          <p:cNvSpPr/>
          <p:nvPr/>
        </p:nvSpPr>
        <p:spPr>
          <a:xfrm>
            <a:off x="3675152" y="2114550"/>
            <a:ext cx="179369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0" name="Text 7"/>
          <p:cNvSpPr/>
          <p:nvPr/>
        </p:nvSpPr>
        <p:spPr>
          <a:xfrm>
            <a:off x="3675152" y="2114550"/>
            <a:ext cx="1793695" cy="260747"/>
          </a:xfrm>
          <a:prstGeom prst="rect">
            <a:avLst/>
          </a:prstGeom>
          <a:noFill/>
        </p:spPr>
        <p:txBody>
          <a:bodyPr wrap="square" lIns="212598" tIns="68072" rIns="21259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0:25 – 0:35 · 10 Minutes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18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2466798" y="714375"/>
            <a:ext cx="4210403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The Investigation Mindset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650081" y="1401961"/>
            <a:ext cx="3771900" cy="410766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7" name="Text 4"/>
          <p:cNvSpPr/>
          <p:nvPr/>
        </p:nvSpPr>
        <p:spPr>
          <a:xfrm>
            <a:off x="650081" y="1401961"/>
            <a:ext cx="3771900" cy="410766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HOW TO THINK</a:t>
            </a:r>
            <a:endParaRPr lang="en-US" sz="1195" dirty="0"/>
          </a:p>
        </p:txBody>
      </p:sp>
      <p:sp>
        <p:nvSpPr>
          <p:cNvPr id="8" name="Shape 5"/>
          <p:cNvSpPr/>
          <p:nvPr/>
        </p:nvSpPr>
        <p:spPr>
          <a:xfrm>
            <a:off x="650081" y="1812727"/>
            <a:ext cx="3771900" cy="211455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94" y="2027039"/>
            <a:ext cx="178594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144" y="2027039"/>
            <a:ext cx="241408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Start broad — always begin with pslist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94" y="2298502"/>
            <a:ext cx="178594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50144" y="2298502"/>
            <a:ext cx="2826888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Narrow down — follow suspicious processes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94" y="2569964"/>
            <a:ext cx="178594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50144" y="2569964"/>
            <a:ext cx="2628342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Extract — pull files or strings for evidence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4" y="2841427"/>
            <a:ext cx="174743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6293" y="2841427"/>
            <a:ext cx="306137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 — write down every command you run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4" y="3277195"/>
            <a:ext cx="176445" cy="14287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47995" y="3277195"/>
            <a:ext cx="305967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Verify — confirm findings before claiming the flag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4722019" y="1401961"/>
            <a:ext cx="3771900" cy="41076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Text 12"/>
          <p:cNvSpPr/>
          <p:nvPr/>
        </p:nvSpPr>
        <p:spPr>
          <a:xfrm>
            <a:off x="4722019" y="1401961"/>
            <a:ext cx="3771900" cy="410766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TO LOOK FOR</a:t>
            </a:r>
            <a:endParaRPr lang="en-US" sz="1195" dirty="0"/>
          </a:p>
        </p:txBody>
      </p:sp>
      <p:sp>
        <p:nvSpPr>
          <p:cNvPr id="21" name="Shape 13"/>
          <p:cNvSpPr/>
          <p:nvPr/>
        </p:nvSpPr>
        <p:spPr>
          <a:xfrm>
            <a:off x="4722019" y="1812727"/>
            <a:ext cx="3771900" cy="1785938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331" y="2027039"/>
            <a:ext cx="178594" cy="1428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22081" y="2027039"/>
            <a:ext cx="160413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Unknown process names</a:t>
            </a:r>
            <a:endParaRPr lang="en-US" sz="10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331" y="2298502"/>
            <a:ext cx="178594" cy="14287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22081" y="2298502"/>
            <a:ext cx="2874801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Processes with no parent (orphan processes)</a:t>
            </a:r>
            <a:endParaRPr lang="en-US" sz="10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331" y="2569964"/>
            <a:ext cx="178594" cy="142875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22081" y="2569964"/>
            <a:ext cx="1937686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Suspicious cmdline arguments</a:t>
            </a:r>
            <a:endParaRPr lang="en-US" sz="105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331" y="2841427"/>
            <a:ext cx="178594" cy="142875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22081" y="2841427"/>
            <a:ext cx="199335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.txt or .zip files in unusual paths</a:t>
            </a:r>
            <a:endParaRPr lang="en-US" sz="105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331" y="3112889"/>
            <a:ext cx="178594" cy="142875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222081" y="3112889"/>
            <a:ext cx="256485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Processes running from temp directories</a:t>
            </a:r>
            <a:endParaRPr lang="en-US" sz="1050" dirty="0"/>
          </a:p>
        </p:txBody>
      </p:sp>
      <p:sp>
        <p:nvSpPr>
          <p:cNvPr id="32" name="Shape 19"/>
          <p:cNvSpPr/>
          <p:nvPr/>
        </p:nvSpPr>
        <p:spPr>
          <a:xfrm>
            <a:off x="642938" y="4220170"/>
            <a:ext cx="7858125" cy="46791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3" name="Text 20"/>
          <p:cNvSpPr/>
          <p:nvPr/>
        </p:nvSpPr>
        <p:spPr>
          <a:xfrm>
            <a:off x="785813" y="4363045"/>
            <a:ext cx="7572375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Say out loud: 'I'm not sure yet, let me check...' — This is exactly how real forensic analysts work.</a:t>
            </a:r>
            <a:endParaRPr lang="en-US" sz="1090" dirty="0"/>
          </a:p>
        </p:txBody>
      </p:sp>
      <p:sp>
        <p:nvSpPr>
          <p:cNvPr id="34" name="Text 21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13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1806615" y="714375"/>
            <a:ext cx="5530769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Meet Volatility: The Main CTF Tool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642938" y="1394817"/>
            <a:ext cx="3857625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1531" y="1716286"/>
            <a:ext cx="500063" cy="500063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3" y="1852017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4469" y="1716286"/>
            <a:ext cx="28575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Volatility 3 Framework</a:t>
            </a:r>
            <a:endParaRPr lang="en-US" sz="985" dirty="0"/>
          </a:p>
        </p:txBody>
      </p:sp>
      <p:sp>
        <p:nvSpPr>
          <p:cNvPr id="10" name="Text 6"/>
          <p:cNvSpPr/>
          <p:nvPr/>
        </p:nvSpPr>
        <p:spPr>
          <a:xfrm>
            <a:off x="1464469" y="1916311"/>
            <a:ext cx="2857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modern standard for memory forensics. Simpler, faster, and auto-detects OS profiles.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4643438" y="1394817"/>
            <a:ext cx="3857625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22031" y="1716286"/>
            <a:ext cx="500063" cy="500063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1852017"/>
            <a:ext cx="200025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64969" y="1716286"/>
            <a:ext cx="28575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Common Formats</a:t>
            </a:r>
            <a:endParaRPr lang="en-US" sz="985" dirty="0"/>
          </a:p>
        </p:txBody>
      </p:sp>
      <p:sp>
        <p:nvSpPr>
          <p:cNvPr id="15" name="Text 10"/>
          <p:cNvSpPr/>
          <p:nvPr/>
        </p:nvSpPr>
        <p:spPr>
          <a:xfrm>
            <a:off x="5464969" y="1916311"/>
            <a:ext cx="2857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Works with .raw, .vmem, .lime, and .dmp files found in CTF challenges.</a:t>
            </a:r>
            <a:endParaRPr lang="en-US" sz="780" dirty="0"/>
          </a:p>
        </p:txBody>
      </p:sp>
      <p:sp>
        <p:nvSpPr>
          <p:cNvPr id="16" name="Shape 11"/>
          <p:cNvSpPr/>
          <p:nvPr/>
        </p:nvSpPr>
        <p:spPr>
          <a:xfrm>
            <a:off x="642938" y="2680692"/>
            <a:ext cx="3857625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1531" y="3002161"/>
            <a:ext cx="500063" cy="500063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3" y="313789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4469" y="3002161"/>
            <a:ext cx="28575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Plugin-Based Analysis</a:t>
            </a:r>
            <a:endParaRPr lang="en-US" sz="985" dirty="0"/>
          </a:p>
        </p:txBody>
      </p:sp>
      <p:sp>
        <p:nvSpPr>
          <p:cNvPr id="20" name="Text 14"/>
          <p:cNvSpPr/>
          <p:nvPr/>
        </p:nvSpPr>
        <p:spPr>
          <a:xfrm>
            <a:off x="1464469" y="3202186"/>
            <a:ext cx="2857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Think of plugins as "X-ray lenses." Each plugin answers one specific question about the dump.</a:t>
            </a:r>
            <a:endParaRPr lang="en-US" sz="780" dirty="0"/>
          </a:p>
        </p:txBody>
      </p:sp>
      <p:sp>
        <p:nvSpPr>
          <p:cNvPr id="21" name="Shape 15"/>
          <p:cNvSpPr/>
          <p:nvPr/>
        </p:nvSpPr>
        <p:spPr>
          <a:xfrm>
            <a:off x="4643438" y="2680692"/>
            <a:ext cx="3857625" cy="1143000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822031" y="3002161"/>
            <a:ext cx="500063" cy="500063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763" y="3137892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64969" y="3002161"/>
            <a:ext cx="28575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Deep Visibility</a:t>
            </a:r>
            <a:endParaRPr lang="en-US" sz="985" dirty="0"/>
          </a:p>
        </p:txBody>
      </p:sp>
      <p:sp>
        <p:nvSpPr>
          <p:cNvPr id="25" name="Text 18"/>
          <p:cNvSpPr/>
          <p:nvPr/>
        </p:nvSpPr>
        <p:spPr>
          <a:xfrm>
            <a:off x="5464969" y="3202186"/>
            <a:ext cx="2857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Extracts processes, network connections, registry hives, and even hidden code injections.</a:t>
            </a:r>
            <a:endParaRPr lang="en-US" sz="78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4118372"/>
            <a:ext cx="128588" cy="1143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2963" y="4109442"/>
            <a:ext cx="1159966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Your First Command:</a:t>
            </a:r>
            <a:endParaRPr lang="en-US" sz="785" dirty="0"/>
          </a:p>
        </p:txBody>
      </p:sp>
      <p:sp>
        <p:nvSpPr>
          <p:cNvPr id="28" name="Shape 20"/>
          <p:cNvSpPr/>
          <p:nvPr/>
        </p:nvSpPr>
        <p:spPr>
          <a:xfrm>
            <a:off x="642938" y="4313039"/>
            <a:ext cx="7858125" cy="46255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9" name="Shape 21"/>
          <p:cNvSpPr/>
          <p:nvPr/>
        </p:nvSpPr>
        <p:spPr>
          <a:xfrm>
            <a:off x="642938" y="4313039"/>
            <a:ext cx="42863" cy="462558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30" name="Text 22"/>
          <p:cNvSpPr/>
          <p:nvPr/>
        </p:nvSpPr>
        <p:spPr>
          <a:xfrm>
            <a:off x="642938" y="4313039"/>
            <a:ext cx="7858125" cy="462558"/>
          </a:xfrm>
          <a:prstGeom prst="rect">
            <a:avLst/>
          </a:prstGeom>
          <a:noFill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60" dirty="0">
                <a:solidFill>
                  <a:srgbClr val="CC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windows.info</a:t>
            </a:r>
            <a:endParaRPr lang="en-US" sz="1160" dirty="0"/>
          </a:p>
        </p:txBody>
      </p:sp>
      <p:sp>
        <p:nvSpPr>
          <p:cNvPr id="31" name="Text 23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14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1783677" y="714375"/>
            <a:ext cx="5576646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Volatility 3: Core Plugin Reference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642938" y="1394817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5813" y="1537692"/>
            <a:ext cx="652453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8" name="Text 5"/>
          <p:cNvSpPr/>
          <p:nvPr/>
        </p:nvSpPr>
        <p:spPr>
          <a:xfrm>
            <a:off x="785813" y="1537692"/>
            <a:ext cx="652453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IMAGE INFO</a:t>
            </a:r>
            <a:endParaRPr lang="en-US" sz="585" dirty="0"/>
          </a:p>
        </p:txBody>
      </p:sp>
      <p:sp>
        <p:nvSpPr>
          <p:cNvPr id="9" name="Text 6"/>
          <p:cNvSpPr/>
          <p:nvPr/>
        </p:nvSpPr>
        <p:spPr>
          <a:xfrm>
            <a:off x="785813" y="1825228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Identify the memory image and OS info</a:t>
            </a:r>
            <a:endParaRPr lang="en-US" sz="785" dirty="0"/>
          </a:p>
        </p:txBody>
      </p:sp>
      <p:sp>
        <p:nvSpPr>
          <p:cNvPr id="10" name="Shape 7"/>
          <p:cNvSpPr/>
          <p:nvPr/>
        </p:nvSpPr>
        <p:spPr>
          <a:xfrm>
            <a:off x="785813" y="2089547"/>
            <a:ext cx="3571875" cy="23395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5813" y="2089547"/>
            <a:ext cx="3571875" cy="23395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windows.info</a:t>
            </a:r>
            <a:endParaRPr lang="en-US" sz="675" dirty="0"/>
          </a:p>
        </p:txBody>
      </p:sp>
      <p:sp>
        <p:nvSpPr>
          <p:cNvPr id="12" name="Shape 9"/>
          <p:cNvSpPr/>
          <p:nvPr/>
        </p:nvSpPr>
        <p:spPr>
          <a:xfrm>
            <a:off x="4643438" y="1394817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86313" y="1537692"/>
            <a:ext cx="676452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4" name="Text 11"/>
          <p:cNvSpPr/>
          <p:nvPr/>
        </p:nvSpPr>
        <p:spPr>
          <a:xfrm>
            <a:off x="4786313" y="1537692"/>
            <a:ext cx="676452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PROCESSES</a:t>
            </a:r>
            <a:endParaRPr lang="en-US" sz="585" dirty="0"/>
          </a:p>
        </p:txBody>
      </p:sp>
      <p:sp>
        <p:nvSpPr>
          <p:cNvPr id="15" name="Text 12"/>
          <p:cNvSpPr/>
          <p:nvPr/>
        </p:nvSpPr>
        <p:spPr>
          <a:xfrm>
            <a:off x="4786313" y="1825228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List all running processes and PIDs</a:t>
            </a:r>
            <a:endParaRPr lang="en-US" sz="785" dirty="0"/>
          </a:p>
        </p:txBody>
      </p:sp>
      <p:sp>
        <p:nvSpPr>
          <p:cNvPr id="16" name="Shape 13"/>
          <p:cNvSpPr/>
          <p:nvPr/>
        </p:nvSpPr>
        <p:spPr>
          <a:xfrm>
            <a:off x="4786313" y="2089547"/>
            <a:ext cx="3571875" cy="23395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86313" y="2089547"/>
            <a:ext cx="3571875" cy="23395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windows.pslist</a:t>
            </a:r>
            <a:endParaRPr lang="en-US" sz="675" dirty="0"/>
          </a:p>
        </p:txBody>
      </p:sp>
      <p:sp>
        <p:nvSpPr>
          <p:cNvPr id="18" name="Shape 15"/>
          <p:cNvSpPr/>
          <p:nvPr/>
        </p:nvSpPr>
        <p:spPr>
          <a:xfrm>
            <a:off x="642938" y="2609255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5813" y="2752130"/>
            <a:ext cx="819103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20" name="Text 17"/>
          <p:cNvSpPr/>
          <p:nvPr/>
        </p:nvSpPr>
        <p:spPr>
          <a:xfrm>
            <a:off x="785813" y="2752130"/>
            <a:ext cx="819103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COMMAND LINE</a:t>
            </a:r>
            <a:endParaRPr lang="en-US" sz="585" dirty="0"/>
          </a:p>
        </p:txBody>
      </p:sp>
      <p:sp>
        <p:nvSpPr>
          <p:cNvPr id="21" name="Text 18"/>
          <p:cNvSpPr/>
          <p:nvPr/>
        </p:nvSpPr>
        <p:spPr>
          <a:xfrm>
            <a:off x="785813" y="3039666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Show command-line arguments for processes</a:t>
            </a:r>
            <a:endParaRPr lang="en-US" sz="785" dirty="0"/>
          </a:p>
        </p:txBody>
      </p:sp>
      <p:sp>
        <p:nvSpPr>
          <p:cNvPr id="22" name="Shape 19"/>
          <p:cNvSpPr/>
          <p:nvPr/>
        </p:nvSpPr>
        <p:spPr>
          <a:xfrm>
            <a:off x="785813" y="3303984"/>
            <a:ext cx="3571875" cy="23395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5813" y="3303984"/>
            <a:ext cx="3571875" cy="23395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windows.cmdline</a:t>
            </a:r>
            <a:endParaRPr lang="en-US" sz="675" dirty="0"/>
          </a:p>
        </p:txBody>
      </p:sp>
      <p:sp>
        <p:nvSpPr>
          <p:cNvPr id="24" name="Shape 21"/>
          <p:cNvSpPr/>
          <p:nvPr/>
        </p:nvSpPr>
        <p:spPr>
          <a:xfrm>
            <a:off x="4657408" y="2609255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86313" y="2752130"/>
            <a:ext cx="595331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26" name="Text 23"/>
          <p:cNvSpPr/>
          <p:nvPr/>
        </p:nvSpPr>
        <p:spPr>
          <a:xfrm>
            <a:off x="4786313" y="2752130"/>
            <a:ext cx="595331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FILE SCAN</a:t>
            </a:r>
            <a:endParaRPr lang="en-US" sz="585" dirty="0"/>
          </a:p>
        </p:txBody>
      </p:sp>
      <p:sp>
        <p:nvSpPr>
          <p:cNvPr id="27" name="Text 24"/>
          <p:cNvSpPr/>
          <p:nvPr/>
        </p:nvSpPr>
        <p:spPr>
          <a:xfrm>
            <a:off x="4786313" y="3039666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Scan for files in memory (use grep for filter)</a:t>
            </a:r>
            <a:endParaRPr lang="en-US" sz="785" dirty="0"/>
          </a:p>
        </p:txBody>
      </p:sp>
      <p:sp>
        <p:nvSpPr>
          <p:cNvPr id="28" name="Shape 25"/>
          <p:cNvSpPr/>
          <p:nvPr/>
        </p:nvSpPr>
        <p:spPr>
          <a:xfrm>
            <a:off x="4786313" y="3303984"/>
            <a:ext cx="3571875" cy="23395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86313" y="3303984"/>
            <a:ext cx="3571875" cy="23395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windows.filescan</a:t>
            </a:r>
            <a:endParaRPr lang="en-US" sz="675" dirty="0"/>
          </a:p>
        </p:txBody>
      </p:sp>
      <p:sp>
        <p:nvSpPr>
          <p:cNvPr id="30" name="Shape 27"/>
          <p:cNvSpPr/>
          <p:nvPr/>
        </p:nvSpPr>
        <p:spPr>
          <a:xfrm>
            <a:off x="642938" y="3823692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85813" y="3966567"/>
            <a:ext cx="700088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32" name="Text 29"/>
          <p:cNvSpPr/>
          <p:nvPr/>
        </p:nvSpPr>
        <p:spPr>
          <a:xfrm>
            <a:off x="785813" y="3966567"/>
            <a:ext cx="700088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EXTRACTION</a:t>
            </a:r>
            <a:endParaRPr lang="en-US" sz="585" dirty="0"/>
          </a:p>
        </p:txBody>
      </p:sp>
      <p:sp>
        <p:nvSpPr>
          <p:cNvPr id="33" name="Text 30"/>
          <p:cNvSpPr/>
          <p:nvPr/>
        </p:nvSpPr>
        <p:spPr>
          <a:xfrm>
            <a:off x="785813" y="4201418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Extract/dump a file by virtual address</a:t>
            </a:r>
            <a:endParaRPr lang="en-US" sz="785" dirty="0"/>
          </a:p>
        </p:txBody>
      </p:sp>
      <p:sp>
        <p:nvSpPr>
          <p:cNvPr id="34" name="Shape 31"/>
          <p:cNvSpPr/>
          <p:nvPr/>
        </p:nvSpPr>
        <p:spPr>
          <a:xfrm>
            <a:off x="785813" y="4413052"/>
            <a:ext cx="3571875" cy="33932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5813" y="4413052"/>
            <a:ext cx="3571875" cy="33932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windows.dumpfiles --virtaddr &lt;addr&gt;</a:t>
            </a:r>
            <a:endParaRPr lang="en-US" sz="675" dirty="0"/>
          </a:p>
        </p:txBody>
      </p:sp>
      <p:sp>
        <p:nvSpPr>
          <p:cNvPr id="36" name="Shape 33"/>
          <p:cNvSpPr/>
          <p:nvPr/>
        </p:nvSpPr>
        <p:spPr>
          <a:xfrm>
            <a:off x="4643438" y="3823692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86313" y="3966567"/>
            <a:ext cx="585732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38" name="Text 35"/>
          <p:cNvSpPr/>
          <p:nvPr/>
        </p:nvSpPr>
        <p:spPr>
          <a:xfrm>
            <a:off x="4786313" y="3966567"/>
            <a:ext cx="585732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NETWORK</a:t>
            </a:r>
            <a:endParaRPr lang="en-US" sz="585" dirty="0"/>
          </a:p>
        </p:txBody>
      </p:sp>
      <p:sp>
        <p:nvSpPr>
          <p:cNvPr id="39" name="Text 36"/>
          <p:cNvSpPr/>
          <p:nvPr/>
        </p:nvSpPr>
        <p:spPr>
          <a:xfrm>
            <a:off x="4786313" y="4254103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Check active/recent network connections</a:t>
            </a:r>
            <a:endParaRPr lang="en-US" sz="785" dirty="0"/>
          </a:p>
        </p:txBody>
      </p:sp>
      <p:sp>
        <p:nvSpPr>
          <p:cNvPr id="40" name="Shape 37"/>
          <p:cNvSpPr/>
          <p:nvPr/>
        </p:nvSpPr>
        <p:spPr>
          <a:xfrm>
            <a:off x="4786313" y="4518422"/>
            <a:ext cx="3571875" cy="23395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86313" y="4518422"/>
            <a:ext cx="3571875" cy="23395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windows.netstat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44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15</a:t>
            </a:r>
            <a:endParaRPr lang="en-US" sz="7775" dirty="0"/>
          </a:p>
        </p:txBody>
      </p:sp>
      <p:sp>
        <p:nvSpPr>
          <p:cNvPr id="5" name="Shape 2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6" name="Text 3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noFill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BLOCK 04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737939" y="832247"/>
            <a:ext cx="1668094" cy="6893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435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Break</a:t>
            </a:r>
            <a:endParaRPr lang="en-US" sz="4355" dirty="0"/>
          </a:p>
        </p:txBody>
      </p:sp>
      <p:sp>
        <p:nvSpPr>
          <p:cNvPr id="8" name="Text 5"/>
          <p:cNvSpPr/>
          <p:nvPr/>
        </p:nvSpPr>
        <p:spPr>
          <a:xfrm>
            <a:off x="2901311" y="1664494"/>
            <a:ext cx="3341377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Quick Mental Reset — 5 Minutes</a:t>
            </a:r>
            <a:endParaRPr lang="en-US" sz="1705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868" y="2284214"/>
            <a:ext cx="200025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91768" y="2286000"/>
            <a:ext cx="1438656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Stretch and move</a:t>
            </a:r>
            <a:endParaRPr lang="en-US" sz="119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868" y="2627114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91768" y="2628900"/>
            <a:ext cx="2924528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Ask your top 1–2 burning questions</a:t>
            </a:r>
            <a:endParaRPr lang="en-US" sz="1195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868" y="2970014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891768" y="2971800"/>
            <a:ext cx="3703337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Make sure Volatility is ready on your machine</a:t>
            </a:r>
            <a:endParaRPr lang="en-US" sz="1195" dirty="0"/>
          </a:p>
        </p:txBody>
      </p:sp>
      <p:sp>
        <p:nvSpPr>
          <p:cNvPr id="15" name="Shape 9"/>
          <p:cNvSpPr/>
          <p:nvPr/>
        </p:nvSpPr>
        <p:spPr>
          <a:xfrm>
            <a:off x="3710899" y="3527227"/>
            <a:ext cx="1722174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6" name="Text 10"/>
          <p:cNvSpPr/>
          <p:nvPr/>
        </p:nvSpPr>
        <p:spPr>
          <a:xfrm>
            <a:off x="3710899" y="3527227"/>
            <a:ext cx="1722174" cy="260747"/>
          </a:xfrm>
          <a:prstGeom prst="rect">
            <a:avLst/>
          </a:prstGeom>
          <a:noFill/>
        </p:spPr>
        <p:txBody>
          <a:bodyPr wrap="square" lIns="212598" tIns="68072" rIns="21259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0:35 – 0:40 · 5 Minutes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44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16</a:t>
            </a:r>
            <a:endParaRPr lang="en-US" sz="7775" dirty="0"/>
          </a:p>
        </p:txBody>
      </p:sp>
      <p:sp>
        <p:nvSpPr>
          <p:cNvPr id="5" name="Shape 2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6" name="Text 3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noFill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BLOCK 05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010114" y="832247"/>
            <a:ext cx="3123772" cy="5911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Walkthrough</a:t>
            </a:r>
            <a:endParaRPr lang="en-US" sz="3730" dirty="0"/>
          </a:p>
        </p:txBody>
      </p:sp>
      <p:sp>
        <p:nvSpPr>
          <p:cNvPr id="8" name="Text 5"/>
          <p:cNvSpPr/>
          <p:nvPr/>
        </p:nvSpPr>
        <p:spPr>
          <a:xfrm>
            <a:off x="2693305" y="1566267"/>
            <a:ext cx="3757389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Solve a Challenge Together (Guided)</a:t>
            </a:r>
            <a:endParaRPr lang="en-US" sz="1705" dirty="0"/>
          </a:p>
        </p:txBody>
      </p:sp>
      <p:sp>
        <p:nvSpPr>
          <p:cNvPr id="9" name="Shape 6"/>
          <p:cNvSpPr/>
          <p:nvPr/>
        </p:nvSpPr>
        <p:spPr>
          <a:xfrm>
            <a:off x="3675152" y="2114550"/>
            <a:ext cx="179369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0" name="Text 7"/>
          <p:cNvSpPr/>
          <p:nvPr/>
        </p:nvSpPr>
        <p:spPr>
          <a:xfrm>
            <a:off x="3675152" y="2114550"/>
            <a:ext cx="1793695" cy="260747"/>
          </a:xfrm>
          <a:prstGeom prst="rect">
            <a:avLst/>
          </a:prstGeom>
          <a:noFill/>
        </p:spPr>
        <p:txBody>
          <a:bodyPr wrap="square" lIns="212598" tIns="68072" rIns="21259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0:40 – 1:00 · 20 Minutes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17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2038508" y="714375"/>
            <a:ext cx="5066984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Walkthrough: Solving Together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642938" y="1516261"/>
            <a:ext cx="428625" cy="428625"/>
          </a:xfrm>
          <a:prstGeom prst="ellipse">
            <a:avLst/>
          </a:prstGeom>
          <a:solidFill>
            <a:srgbClr val="FFD700"/>
          </a:solidFill>
        </p:spPr>
      </p:sp>
      <p:sp>
        <p:nvSpPr>
          <p:cNvPr id="7" name="Text 4"/>
          <p:cNvSpPr/>
          <p:nvPr/>
        </p:nvSpPr>
        <p:spPr>
          <a:xfrm>
            <a:off x="642938" y="1516261"/>
            <a:ext cx="428625" cy="4286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195" dirty="0"/>
          </a:p>
        </p:txBody>
      </p:sp>
      <p:sp>
        <p:nvSpPr>
          <p:cNvPr id="8" name="Text 5"/>
          <p:cNvSpPr/>
          <p:nvPr/>
        </p:nvSpPr>
        <p:spPr>
          <a:xfrm>
            <a:off x="1285875" y="1394817"/>
            <a:ext cx="7215188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pslist — Find Running Processes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1285875" y="1605558"/>
            <a:ext cx="7215188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what was active at the time of the dump.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1285875" y="1809155"/>
            <a:ext cx="1188876" cy="257175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85875" y="1809155"/>
            <a:ext cx="1188876" cy="257175"/>
          </a:xfrm>
          <a:prstGeom prst="rect">
            <a:avLst/>
          </a:prstGeom>
          <a:noFill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windows.pslist</a:t>
            </a:r>
            <a:endParaRPr lang="en-US" sz="835" dirty="0"/>
          </a:p>
        </p:txBody>
      </p:sp>
      <p:sp>
        <p:nvSpPr>
          <p:cNvPr id="12" name="Shape 9"/>
          <p:cNvSpPr/>
          <p:nvPr/>
        </p:nvSpPr>
        <p:spPr>
          <a:xfrm>
            <a:off x="642938" y="2352080"/>
            <a:ext cx="428625" cy="428625"/>
          </a:xfrm>
          <a:prstGeom prst="ellipse">
            <a:avLst/>
          </a:prstGeom>
          <a:solidFill>
            <a:srgbClr val="FFD700"/>
          </a:solidFill>
        </p:spPr>
      </p:sp>
      <p:sp>
        <p:nvSpPr>
          <p:cNvPr id="13" name="Text 10"/>
          <p:cNvSpPr/>
          <p:nvPr/>
        </p:nvSpPr>
        <p:spPr>
          <a:xfrm>
            <a:off x="642938" y="2352080"/>
            <a:ext cx="428625" cy="4286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195" dirty="0"/>
          </a:p>
        </p:txBody>
      </p:sp>
      <p:sp>
        <p:nvSpPr>
          <p:cNvPr id="14" name="Text 11"/>
          <p:cNvSpPr/>
          <p:nvPr/>
        </p:nvSpPr>
        <p:spPr>
          <a:xfrm>
            <a:off x="1285875" y="2230636"/>
            <a:ext cx="7215188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cmdline — See What Was Run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1285875" y="2441377"/>
            <a:ext cx="7215188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 command-line arguments for suspicious activity.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1285875" y="2644973"/>
            <a:ext cx="1257467" cy="257175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5875" y="2644973"/>
            <a:ext cx="1257467" cy="257175"/>
          </a:xfrm>
          <a:prstGeom prst="rect">
            <a:avLst/>
          </a:prstGeom>
          <a:noFill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windows.cmdline</a:t>
            </a:r>
            <a:endParaRPr lang="en-US" sz="835" dirty="0"/>
          </a:p>
        </p:txBody>
      </p:sp>
      <p:sp>
        <p:nvSpPr>
          <p:cNvPr id="18" name="Shape 15"/>
          <p:cNvSpPr/>
          <p:nvPr/>
        </p:nvSpPr>
        <p:spPr>
          <a:xfrm>
            <a:off x="642938" y="3187898"/>
            <a:ext cx="428625" cy="428625"/>
          </a:xfrm>
          <a:prstGeom prst="ellipse">
            <a:avLst/>
          </a:prstGeom>
          <a:solidFill>
            <a:srgbClr val="FFD700"/>
          </a:solidFill>
        </p:spPr>
      </p:sp>
      <p:sp>
        <p:nvSpPr>
          <p:cNvPr id="19" name="Text 16"/>
          <p:cNvSpPr/>
          <p:nvPr/>
        </p:nvSpPr>
        <p:spPr>
          <a:xfrm>
            <a:off x="642938" y="3187898"/>
            <a:ext cx="428625" cy="4286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195" dirty="0"/>
          </a:p>
        </p:txBody>
      </p:sp>
      <p:sp>
        <p:nvSpPr>
          <p:cNvPr id="20" name="Text 17"/>
          <p:cNvSpPr/>
          <p:nvPr/>
        </p:nvSpPr>
        <p:spPr>
          <a:xfrm>
            <a:off x="1285875" y="3066455"/>
            <a:ext cx="7215188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filescan — Find Files in Memory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1285875" y="3277195"/>
            <a:ext cx="7215188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Search for specific extensions like .txt, .zip, or .exe.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1285875" y="3480792"/>
            <a:ext cx="1326059" cy="257175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85875" y="3480792"/>
            <a:ext cx="1326059" cy="257175"/>
          </a:xfrm>
          <a:prstGeom prst="rect">
            <a:avLst/>
          </a:prstGeom>
          <a:noFill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windows.filescan</a:t>
            </a:r>
            <a:endParaRPr lang="en-US" sz="835" dirty="0"/>
          </a:p>
        </p:txBody>
      </p:sp>
      <p:sp>
        <p:nvSpPr>
          <p:cNvPr id="24" name="Shape 21"/>
          <p:cNvSpPr/>
          <p:nvPr/>
        </p:nvSpPr>
        <p:spPr>
          <a:xfrm>
            <a:off x="642938" y="4023717"/>
            <a:ext cx="428625" cy="428625"/>
          </a:xfrm>
          <a:prstGeom prst="ellipse">
            <a:avLst/>
          </a:prstGeom>
          <a:solidFill>
            <a:srgbClr val="FFD700"/>
          </a:solidFill>
        </p:spPr>
      </p:sp>
      <p:sp>
        <p:nvSpPr>
          <p:cNvPr id="25" name="Text 22"/>
          <p:cNvSpPr/>
          <p:nvPr/>
        </p:nvSpPr>
        <p:spPr>
          <a:xfrm>
            <a:off x="642938" y="4023717"/>
            <a:ext cx="428625" cy="4286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1195" dirty="0"/>
          </a:p>
        </p:txBody>
      </p:sp>
      <p:sp>
        <p:nvSpPr>
          <p:cNvPr id="26" name="Text 23"/>
          <p:cNvSpPr/>
          <p:nvPr/>
        </p:nvSpPr>
        <p:spPr>
          <a:xfrm>
            <a:off x="1285875" y="3902273"/>
            <a:ext cx="7215188" cy="1821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dumpfiles — Extract a File</a:t>
            </a:r>
            <a:endParaRPr lang="en-US" sz="1090" dirty="0"/>
          </a:p>
        </p:txBody>
      </p:sp>
      <p:sp>
        <p:nvSpPr>
          <p:cNvPr id="27" name="Text 24"/>
          <p:cNvSpPr/>
          <p:nvPr/>
        </p:nvSpPr>
        <p:spPr>
          <a:xfrm>
            <a:off x="1285875" y="4113014"/>
            <a:ext cx="7215188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Pull the suspicious file out of memory for analysis.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1285875" y="4316611"/>
            <a:ext cx="2629291" cy="257175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85875" y="4316611"/>
            <a:ext cx="2629291" cy="257175"/>
          </a:xfrm>
          <a:prstGeom prst="rect">
            <a:avLst/>
          </a:prstGeom>
          <a:noFill/>
        </p:spPr>
        <p:txBody>
          <a:bodyPr wrap="square" lIns="127508" tIns="68072" rIns="127508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windows.dumpfiles --virtaddr &lt;addr&gt;</a:t>
            </a:r>
            <a:endParaRPr lang="en-US" sz="835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3605808"/>
            <a:ext cx="171450" cy="17145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957263" y="3552230"/>
            <a:ext cx="7543800" cy="2928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i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"I don't know what's here yet, so I'll start with pslist to see what was running." — Narrate your uncertainty to teach the investigation mindset.</a:t>
            </a:r>
            <a:endParaRPr lang="en-US" sz="940" dirty="0"/>
          </a:p>
        </p:txBody>
      </p:sp>
      <p:sp>
        <p:nvSpPr>
          <p:cNvPr id="32" name="Text 28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19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1696334" y="714375"/>
            <a:ext cx="5751333" cy="3607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22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Full Walkthrough Command Sequence</a:t>
            </a:r>
            <a:endParaRPr lang="en-US" sz="2225" dirty="0"/>
          </a:p>
        </p:txBody>
      </p:sp>
      <p:sp>
        <p:nvSpPr>
          <p:cNvPr id="6" name="Text 3"/>
          <p:cNvSpPr/>
          <p:nvPr/>
        </p:nvSpPr>
        <p:spPr>
          <a:xfrm>
            <a:off x="742950" y="1289447"/>
            <a:ext cx="1535655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STEP 1 — IDENTIFY THE IMAGE</a:t>
            </a:r>
            <a:endParaRPr lang="en-US" sz="685" dirty="0"/>
          </a:p>
        </p:txBody>
      </p:sp>
      <p:sp>
        <p:nvSpPr>
          <p:cNvPr id="7" name="Shape 4"/>
          <p:cNvSpPr/>
          <p:nvPr/>
        </p:nvSpPr>
        <p:spPr>
          <a:xfrm>
            <a:off x="642938" y="1441252"/>
            <a:ext cx="7858125" cy="31789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8" name="Text 5"/>
          <p:cNvSpPr/>
          <p:nvPr/>
        </p:nvSpPr>
        <p:spPr>
          <a:xfrm>
            <a:off x="642938" y="1441252"/>
            <a:ext cx="7858125" cy="317897"/>
          </a:xfrm>
          <a:prstGeom prst="rect">
            <a:avLst/>
          </a:prstGeom>
          <a:noFill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CC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windows.info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742950" y="1866305"/>
            <a:ext cx="1582034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STEP 2 — LIST ALL PROCESSES</a:t>
            </a:r>
            <a:endParaRPr lang="en-US" sz="685" dirty="0"/>
          </a:p>
        </p:txBody>
      </p:sp>
      <p:sp>
        <p:nvSpPr>
          <p:cNvPr id="10" name="Shape 7"/>
          <p:cNvSpPr/>
          <p:nvPr/>
        </p:nvSpPr>
        <p:spPr>
          <a:xfrm>
            <a:off x="642938" y="2018109"/>
            <a:ext cx="7858125" cy="31789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1" name="Text 8"/>
          <p:cNvSpPr/>
          <p:nvPr/>
        </p:nvSpPr>
        <p:spPr>
          <a:xfrm>
            <a:off x="642938" y="2018109"/>
            <a:ext cx="7858125" cy="317897"/>
          </a:xfrm>
          <a:prstGeom prst="rect">
            <a:avLst/>
          </a:prstGeom>
          <a:noFill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CC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windows.pslist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742950" y="2443163"/>
            <a:ext cx="1737438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STEP 3 — CHECK COMMAND LINES</a:t>
            </a:r>
            <a:endParaRPr lang="en-US" sz="685" dirty="0"/>
          </a:p>
        </p:txBody>
      </p:sp>
      <p:sp>
        <p:nvSpPr>
          <p:cNvPr id="13" name="Shape 10"/>
          <p:cNvSpPr/>
          <p:nvPr/>
        </p:nvSpPr>
        <p:spPr>
          <a:xfrm>
            <a:off x="642938" y="2594967"/>
            <a:ext cx="7858125" cy="31789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Text 11"/>
          <p:cNvSpPr/>
          <p:nvPr/>
        </p:nvSpPr>
        <p:spPr>
          <a:xfrm>
            <a:off x="642938" y="2594967"/>
            <a:ext cx="7858125" cy="317897"/>
          </a:xfrm>
          <a:prstGeom prst="rect">
            <a:avLst/>
          </a:prstGeom>
          <a:noFill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CC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windows.cmdline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742950" y="3020020"/>
            <a:ext cx="1331863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STEP 4 — SCAN FOR FILES</a:t>
            </a:r>
            <a:endParaRPr lang="en-US" sz="685" dirty="0"/>
          </a:p>
        </p:txBody>
      </p:sp>
      <p:sp>
        <p:nvSpPr>
          <p:cNvPr id="16" name="Shape 13"/>
          <p:cNvSpPr/>
          <p:nvPr/>
        </p:nvSpPr>
        <p:spPr>
          <a:xfrm>
            <a:off x="642938" y="3171825"/>
            <a:ext cx="7858125" cy="31789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Text 14"/>
          <p:cNvSpPr/>
          <p:nvPr/>
        </p:nvSpPr>
        <p:spPr>
          <a:xfrm>
            <a:off x="642938" y="3171825"/>
            <a:ext cx="7858125" cy="317897"/>
          </a:xfrm>
          <a:prstGeom prst="rect">
            <a:avLst/>
          </a:prstGeom>
          <a:noFill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CC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windows.filescan | grep ".txt"</a:t>
            </a:r>
            <a:endParaRPr lang="en-US" sz="940" dirty="0"/>
          </a:p>
        </p:txBody>
      </p:sp>
      <p:sp>
        <p:nvSpPr>
          <p:cNvPr id="18" name="Text 15"/>
          <p:cNvSpPr/>
          <p:nvPr/>
        </p:nvSpPr>
        <p:spPr>
          <a:xfrm>
            <a:off x="742950" y="3596878"/>
            <a:ext cx="1442954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STEP 5 — EXTRACT THE FILE</a:t>
            </a:r>
            <a:endParaRPr lang="en-US" sz="685" dirty="0"/>
          </a:p>
        </p:txBody>
      </p:sp>
      <p:sp>
        <p:nvSpPr>
          <p:cNvPr id="19" name="Shape 16"/>
          <p:cNvSpPr/>
          <p:nvPr/>
        </p:nvSpPr>
        <p:spPr>
          <a:xfrm>
            <a:off x="642938" y="3748683"/>
            <a:ext cx="7858125" cy="317897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0" name="Text 17"/>
          <p:cNvSpPr/>
          <p:nvPr/>
        </p:nvSpPr>
        <p:spPr>
          <a:xfrm>
            <a:off x="642938" y="3748683"/>
            <a:ext cx="7858125" cy="317897"/>
          </a:xfrm>
          <a:prstGeom prst="rect">
            <a:avLst/>
          </a:prstGeom>
          <a:noFill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CC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windows.dumpfiles --virtaddr &lt;addr&gt;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20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2428959" y="714375"/>
            <a:ext cx="4286083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How to Read pslist Output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464344" y="1394817"/>
            <a:ext cx="1556724" cy="201811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7" name="Text 4"/>
          <p:cNvSpPr/>
          <p:nvPr/>
        </p:nvSpPr>
        <p:spPr>
          <a:xfrm>
            <a:off x="464344" y="1394817"/>
            <a:ext cx="1556724" cy="201811"/>
          </a:xfrm>
          <a:prstGeom prst="rect">
            <a:avLst/>
          </a:prstGeom>
          <a:noFill/>
        </p:spPr>
        <p:txBody>
          <a:bodyPr wrap="square" lIns="127508" tIns="51054" rIns="1275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YOU'RE LOOKING AT</a:t>
            </a:r>
            <a:endParaRPr lang="en-US" sz="685" dirty="0"/>
          </a:p>
        </p:txBody>
      </p:sp>
      <p:sp>
        <p:nvSpPr>
          <p:cNvPr id="8" name="Text 5"/>
          <p:cNvSpPr/>
          <p:nvPr/>
        </p:nvSpPr>
        <p:spPr>
          <a:xfrm>
            <a:off x="464344" y="1739503"/>
            <a:ext cx="3429000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PID</a:t>
            </a:r>
            <a:r>
              <a:rPr lang="en-US" sz="94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Process ID: the unique number for this process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64344" y="2005245"/>
            <a:ext cx="3429000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PPID</a:t>
            </a:r>
            <a:r>
              <a:rPr lang="en-US" sz="94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Parent PID: which process launched this one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64344" y="2270987"/>
            <a:ext cx="3429000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Name</a:t>
            </a:r>
            <a:r>
              <a:rPr lang="en-US" sz="94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The executable name (e.g., chrome.exe)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64344" y="2536729"/>
            <a:ext cx="3429000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Start Time</a:t>
            </a:r>
            <a:r>
              <a:rPr lang="en-US" sz="94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When the process began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64344" y="2802471"/>
            <a:ext cx="3429000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Offset</a:t>
            </a:r>
            <a:r>
              <a:rPr lang="en-US" sz="94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— Memory address (advanced)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464344" y="3282525"/>
            <a:ext cx="3429000" cy="645784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4" name="Shape 11"/>
          <p:cNvSpPr/>
          <p:nvPr/>
        </p:nvSpPr>
        <p:spPr>
          <a:xfrm>
            <a:off x="464344" y="3282525"/>
            <a:ext cx="42863" cy="645784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5" name="Text 12"/>
          <p:cNvSpPr/>
          <p:nvPr/>
        </p:nvSpPr>
        <p:spPr>
          <a:xfrm>
            <a:off x="607219" y="3425400"/>
            <a:ext cx="3143250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Red flags: cmd.exe launched by Word, unknown.exe, processes with PID 1 as parent</a:t>
            </a:r>
            <a:endParaRPr lang="en-US" sz="885" dirty="0"/>
          </a:p>
        </p:txBody>
      </p:sp>
      <p:sp>
        <p:nvSpPr>
          <p:cNvPr id="16" name="Shape 13"/>
          <p:cNvSpPr/>
          <p:nvPr/>
        </p:nvSpPr>
        <p:spPr>
          <a:xfrm>
            <a:off x="4250531" y="1394817"/>
            <a:ext cx="4429125" cy="2500313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64844" y="1609130"/>
            <a:ext cx="4000500" cy="207169"/>
          </a:xfrm>
          <a:prstGeom prst="rect">
            <a:avLst/>
          </a:prstGeom>
          <a:noFill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6666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Volatility 3 - pslist output</a:t>
            </a:r>
            <a:endParaRPr lang="en-US" sz="835" dirty="0"/>
          </a:p>
        </p:txBody>
      </p:sp>
      <p:sp>
        <p:nvSpPr>
          <p:cNvPr id="18" name="Text 15"/>
          <p:cNvSpPr/>
          <p:nvPr/>
        </p:nvSpPr>
        <p:spPr>
          <a:xfrm>
            <a:off x="4464844" y="1923455"/>
            <a:ext cx="4000500" cy="10285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0" dirty="0">
                <a:solidFill>
                  <a:srgbClr val="CC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PID   PPID  Name             Start
</a:t>
            </a:r>
            <a:r>
              <a:rPr lang="en-US" sz="940" dirty="0">
                <a:solidFill>
                  <a:srgbClr val="CC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     0     System           2024-01-15
</a:t>
            </a:r>
            <a:r>
              <a:rPr lang="en-US" sz="940" dirty="0">
                <a:solidFill>
                  <a:srgbClr val="CC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420   4     chrome.exe       2024-01-15
</a:t>
            </a:r>
            <a:r>
              <a:rPr lang="en-US" sz="940" dirty="0">
                <a:solidFill>
                  <a:srgbClr val="CC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1532  420   svchost.exe      2024-01-15
</a:t>
            </a:r>
            <a:r>
              <a:rPr lang="en-US" sz="940" dirty="0">
                <a:solidFill>
                  <a:srgbClr val="CCFF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9999  1532  unknown.exe  </a:t>
            </a:r>
            <a:r>
              <a:rPr lang="en-US" sz="885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◄── SUSPICIOUS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44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21</a:t>
            </a:r>
            <a:endParaRPr lang="en-US" sz="7775" dirty="0"/>
          </a:p>
        </p:txBody>
      </p:sp>
      <p:sp>
        <p:nvSpPr>
          <p:cNvPr id="5" name="Shape 2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6" name="Text 3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noFill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BLOCK 06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138450" y="832247"/>
            <a:ext cx="2867072" cy="6893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5700"/>
              </a:lnSpc>
              <a:buNone/>
            </a:pPr>
            <a:r>
              <a:rPr lang="en-US" sz="435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Hands-On</a:t>
            </a:r>
            <a:endParaRPr lang="en-US" sz="4355" dirty="0"/>
          </a:p>
        </p:txBody>
      </p:sp>
      <p:sp>
        <p:nvSpPr>
          <p:cNvPr id="8" name="Text 5"/>
          <p:cNvSpPr/>
          <p:nvPr/>
        </p:nvSpPr>
        <p:spPr>
          <a:xfrm>
            <a:off x="2411406" y="1664494"/>
            <a:ext cx="4321187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Students Solve a Challenge Independently</a:t>
            </a:r>
            <a:endParaRPr lang="en-US" sz="1705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036" y="2284214"/>
            <a:ext cx="250031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91942" y="2286000"/>
            <a:ext cx="2076822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Solo or pair work allowed</a:t>
            </a:r>
            <a:endParaRPr lang="en-US" sz="1195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036" y="2627114"/>
            <a:ext cx="250031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91942" y="2628900"/>
            <a:ext cx="2752995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Same plugins — brand new dump</a:t>
            </a:r>
            <a:endParaRPr lang="en-US" sz="1195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036" y="2970014"/>
            <a:ext cx="250031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391942" y="2971800"/>
            <a:ext cx="2315328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Hint ladder available if stuck</a:t>
            </a:r>
            <a:endParaRPr lang="en-US" sz="1195" dirty="0"/>
          </a:p>
        </p:txBody>
      </p:sp>
      <p:sp>
        <p:nvSpPr>
          <p:cNvPr id="15" name="Shape 9"/>
          <p:cNvSpPr/>
          <p:nvPr/>
        </p:nvSpPr>
        <p:spPr>
          <a:xfrm>
            <a:off x="3675152" y="3527227"/>
            <a:ext cx="179369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6" name="Text 10"/>
          <p:cNvSpPr/>
          <p:nvPr/>
        </p:nvSpPr>
        <p:spPr>
          <a:xfrm>
            <a:off x="3675152" y="3527227"/>
            <a:ext cx="1793695" cy="260747"/>
          </a:xfrm>
          <a:prstGeom prst="rect">
            <a:avLst/>
          </a:prstGeom>
          <a:noFill/>
        </p:spPr>
        <p:txBody>
          <a:bodyPr wrap="square" lIns="212598" tIns="68072" rIns="21259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1:00 – 1:20 · 20 Minutes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22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2336871" y="714375"/>
            <a:ext cx="4470257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Your Mission: Find the Flag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642938" y="1394817"/>
            <a:ext cx="7858125" cy="1218009"/>
          </a:xfrm>
          <a:prstGeom prst="rect">
            <a:avLst/>
          </a:prstGeom>
          <a:solidFill>
            <a:srgbClr val="000000"/>
          </a:solidFill>
          <a:ln w="18288">
            <a:solidFill>
              <a:srgbClr val="FFD7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7250" y="1287661"/>
            <a:ext cx="1164431" cy="187523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8" name="Text 5"/>
          <p:cNvSpPr/>
          <p:nvPr/>
        </p:nvSpPr>
        <p:spPr>
          <a:xfrm>
            <a:off x="857250" y="1287661"/>
            <a:ext cx="1164431" cy="187523"/>
          </a:xfrm>
          <a:prstGeom prst="rect">
            <a:avLst/>
          </a:prstGeom>
          <a:noFill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CHALLENGE BRIEF</a:t>
            </a:r>
            <a:endParaRPr lang="en-US" sz="685" dirty="0"/>
          </a:p>
        </p:txBody>
      </p:sp>
      <p:sp>
        <p:nvSpPr>
          <p:cNvPr id="9" name="Text 6"/>
          <p:cNvSpPr/>
          <p:nvPr/>
        </p:nvSpPr>
        <p:spPr>
          <a:xfrm>
            <a:off x="857250" y="1609130"/>
            <a:ext cx="7429500" cy="4714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6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You've been handed a memory dump from a suspected compromised machine. A secret flag has been </a:t>
            </a:r>
            <a:r>
              <a:rPr lang="en-US" sz="116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 somewhere inside. It follows the format: </a:t>
            </a:r>
            <a:r>
              <a:rPr lang="en-US" sz="109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FLAG{...}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857250" y="2223492"/>
            <a:ext cx="806741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FILE: </a:t>
            </a:r>
            <a:r>
              <a:rPr lang="en-US" sz="835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dump.raw</a:t>
            </a:r>
            <a:endParaRPr lang="en-US" sz="835" dirty="0"/>
          </a:p>
        </p:txBody>
      </p:sp>
      <p:sp>
        <p:nvSpPr>
          <p:cNvPr id="11" name="Text 8"/>
          <p:cNvSpPr/>
          <p:nvPr/>
        </p:nvSpPr>
        <p:spPr>
          <a:xfrm>
            <a:off x="1949741" y="2223492"/>
            <a:ext cx="851222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OS: </a:t>
            </a:r>
            <a:r>
              <a:rPr lang="en-US" sz="835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Windows 10</a:t>
            </a:r>
            <a:endParaRPr lang="en-US" sz="835" dirty="0"/>
          </a:p>
        </p:txBody>
      </p:sp>
      <p:sp>
        <p:nvSpPr>
          <p:cNvPr id="12" name="Text 9"/>
          <p:cNvSpPr/>
          <p:nvPr/>
        </p:nvSpPr>
        <p:spPr>
          <a:xfrm>
            <a:off x="3086714" y="2223492"/>
            <a:ext cx="1166664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DIFFICULTY: </a:t>
            </a:r>
            <a:r>
              <a:rPr lang="en-US" sz="835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Beginner</a:t>
            </a:r>
            <a:endParaRPr lang="en-US" sz="835" dirty="0"/>
          </a:p>
        </p:txBody>
      </p:sp>
      <p:sp>
        <p:nvSpPr>
          <p:cNvPr id="13" name="Text 10"/>
          <p:cNvSpPr/>
          <p:nvPr/>
        </p:nvSpPr>
        <p:spPr>
          <a:xfrm>
            <a:off x="642938" y="2855714"/>
            <a:ext cx="7858125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66666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HINT LADDER — USE IN ORDER ONLY IF STUCK AFTER 5 MINUTES</a:t>
            </a:r>
            <a:endParaRPr lang="en-US" sz="685" dirty="0"/>
          </a:p>
        </p:txBody>
      </p:sp>
      <p:sp>
        <p:nvSpPr>
          <p:cNvPr id="14" name="Shape 11"/>
          <p:cNvSpPr/>
          <p:nvPr/>
        </p:nvSpPr>
        <p:spPr>
          <a:xfrm>
            <a:off x="642938" y="3078956"/>
            <a:ext cx="2500313" cy="857250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5" name="Text 12"/>
          <p:cNvSpPr/>
          <p:nvPr/>
        </p:nvSpPr>
        <p:spPr>
          <a:xfrm>
            <a:off x="785813" y="3221831"/>
            <a:ext cx="2214563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Hint 1</a:t>
            </a:r>
            <a:endParaRPr lang="en-US" sz="785" dirty="0"/>
          </a:p>
        </p:txBody>
      </p:sp>
      <p:sp>
        <p:nvSpPr>
          <p:cNvPr id="16" name="Text 13"/>
          <p:cNvSpPr/>
          <p:nvPr/>
        </p:nvSpPr>
        <p:spPr>
          <a:xfrm>
            <a:off x="785813" y="3425428"/>
            <a:ext cx="221456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 what processes were running — start </a:t>
            </a:r>
            <a:r>
              <a:rPr lang="en-US" sz="78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with </a:t>
            </a:r>
            <a:r>
              <a:rPr lang="en-US" sz="73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pslist</a:t>
            </a:r>
            <a:r>
              <a:rPr lang="en-US" sz="78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to get the lay of the land.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321844" y="3078956"/>
            <a:ext cx="2500313" cy="857250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64719" y="3221831"/>
            <a:ext cx="2214563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Hint 2</a:t>
            </a:r>
            <a:endParaRPr lang="en-US" sz="785" dirty="0"/>
          </a:p>
        </p:txBody>
      </p:sp>
      <p:sp>
        <p:nvSpPr>
          <p:cNvPr id="19" name="Text 16"/>
          <p:cNvSpPr/>
          <p:nvPr/>
        </p:nvSpPr>
        <p:spPr>
          <a:xfrm>
            <a:off x="3464719" y="3425428"/>
            <a:ext cx="221456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Look for suspicious process names or unusual parents (orphaned processes).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6000750" y="3078956"/>
            <a:ext cx="2500313" cy="85725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1" name="Text 18"/>
          <p:cNvSpPr/>
          <p:nvPr/>
        </p:nvSpPr>
        <p:spPr>
          <a:xfrm>
            <a:off x="6143625" y="3221831"/>
            <a:ext cx="2214563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Hint 3</a:t>
            </a:r>
            <a:endParaRPr lang="en-US" sz="785" dirty="0"/>
          </a:p>
        </p:txBody>
      </p:sp>
      <p:sp>
        <p:nvSpPr>
          <p:cNvPr id="22" name="Text 19"/>
          <p:cNvSpPr/>
          <p:nvPr/>
        </p:nvSpPr>
        <p:spPr>
          <a:xfrm>
            <a:off x="6143625" y="3425428"/>
            <a:ext cx="221456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Try </a:t>
            </a:r>
            <a:r>
              <a:rPr lang="en-US" sz="73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filescan</a:t>
            </a:r>
            <a:r>
              <a:rPr lang="en-US" sz="78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and look for .txt files — then use </a:t>
            </a:r>
            <a:r>
              <a:rPr lang="en-US" sz="73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dumpfiles</a:t>
            </a:r>
            <a:r>
              <a:rPr lang="en-US" sz="78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to extract them.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5213961" y="2946797"/>
            <a:ext cx="3287102" cy="275034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13961" y="2946797"/>
            <a:ext cx="3287102" cy="275034"/>
          </a:xfrm>
          <a:prstGeom prst="rect">
            <a:avLst/>
          </a:prstGeom>
          <a:noFill/>
        </p:spPr>
        <p:txBody>
          <a:bodyPr wrap="square" lIns="170053" tIns="85090" rIns="170053" bIns="8509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🏆 Early finishers: Find the username and computer name too!</a:t>
            </a:r>
            <a:endParaRPr lang="en-US" sz="685" dirty="0"/>
          </a:p>
        </p:txBody>
      </p:sp>
      <p:sp>
        <p:nvSpPr>
          <p:cNvPr id="25" name="Text 22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23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1841274" y="714375"/>
            <a:ext cx="5461453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Instructor Guide: Circulation Tips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2837827" y="1251942"/>
            <a:ext cx="3468346" cy="246459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7" name="Text 4"/>
          <p:cNvSpPr/>
          <p:nvPr/>
        </p:nvSpPr>
        <p:spPr>
          <a:xfrm>
            <a:off x="2837827" y="1251942"/>
            <a:ext cx="3468346" cy="246459"/>
          </a:xfrm>
          <a:prstGeom prst="rect">
            <a:avLst/>
          </a:prstGeom>
          <a:noFill/>
        </p:spPr>
        <p:txBody>
          <a:bodyPr wrap="square" lIns="255143" tIns="68072" rIns="255143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FOR INSTRUCTORS — STUDENT-FACING TIPS VISIBLE</a:t>
            </a:r>
            <a:endParaRPr lang="en-US" sz="785" dirty="0"/>
          </a:p>
        </p:txBody>
      </p:sp>
      <p:sp>
        <p:nvSpPr>
          <p:cNvPr id="8" name="Shape 5"/>
          <p:cNvSpPr/>
          <p:nvPr/>
        </p:nvSpPr>
        <p:spPr>
          <a:xfrm>
            <a:off x="650081" y="1791295"/>
            <a:ext cx="3771900" cy="396478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9" name="Text 6"/>
          <p:cNvSpPr/>
          <p:nvPr/>
        </p:nvSpPr>
        <p:spPr>
          <a:xfrm>
            <a:off x="650081" y="1791295"/>
            <a:ext cx="3771900" cy="396478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WHEN TO INTERVENE</a:t>
            </a:r>
            <a:endParaRPr lang="en-US" sz="1090" dirty="0"/>
          </a:p>
        </p:txBody>
      </p:sp>
      <p:sp>
        <p:nvSpPr>
          <p:cNvPr id="10" name="Shape 7"/>
          <p:cNvSpPr/>
          <p:nvPr/>
        </p:nvSpPr>
        <p:spPr>
          <a:xfrm>
            <a:off x="650081" y="2187773"/>
            <a:ext cx="3771900" cy="175733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94" y="2402086"/>
            <a:ext cx="178594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50144" y="2402086"/>
            <a:ext cx="2158445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Let them struggle for 5–7 minutes first</a:t>
            </a:r>
            <a:endParaRPr lang="en-US" sz="94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94" y="2689259"/>
            <a:ext cx="178594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0144" y="2689259"/>
            <a:ext cx="2901702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Only step in if total frustration — not mild confusion</a:t>
            </a:r>
            <a:endParaRPr lang="en-US" sz="94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94" y="2976432"/>
            <a:ext cx="178594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50144" y="2976432"/>
            <a:ext cx="2993175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"What have you tried so far?" before giving hints</a:t>
            </a:r>
            <a:endParaRPr lang="en-US" sz="94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394" y="3263605"/>
            <a:ext cx="164669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36219" y="3263605"/>
            <a:ext cx="3071450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Encourage note-taking — what did each command return?</a:t>
            </a:r>
            <a:endParaRPr lang="en-US" sz="940" dirty="0"/>
          </a:p>
        </p:txBody>
      </p:sp>
      <p:sp>
        <p:nvSpPr>
          <p:cNvPr id="19" name="Shape 12"/>
          <p:cNvSpPr/>
          <p:nvPr/>
        </p:nvSpPr>
        <p:spPr>
          <a:xfrm>
            <a:off x="4722019" y="1791295"/>
            <a:ext cx="3771900" cy="396478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20" name="Text 13"/>
          <p:cNvSpPr/>
          <p:nvPr/>
        </p:nvSpPr>
        <p:spPr>
          <a:xfrm>
            <a:off x="4722019" y="1791295"/>
            <a:ext cx="3771900" cy="396478"/>
          </a:xfrm>
          <a:prstGeom prst="rect">
            <a:avLst/>
          </a:prstGeom>
          <a:noFill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TO WATCH FOR</a:t>
            </a:r>
            <a:endParaRPr lang="en-US" sz="1090" dirty="0"/>
          </a:p>
        </p:txBody>
      </p:sp>
      <p:sp>
        <p:nvSpPr>
          <p:cNvPr id="21" name="Shape 14"/>
          <p:cNvSpPr/>
          <p:nvPr/>
        </p:nvSpPr>
        <p:spPr>
          <a:xfrm>
            <a:off x="4722019" y="2187773"/>
            <a:ext cx="3771900" cy="175733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6331" y="2402086"/>
            <a:ext cx="178594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22081" y="2402086"/>
            <a:ext cx="2519093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Silent students who aren't typing — check in</a:t>
            </a:r>
            <a:endParaRPr lang="en-US" sz="94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331" y="2689259"/>
            <a:ext cx="178594" cy="14287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222081" y="2689259"/>
            <a:ext cx="3057525" cy="36003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Encourage peer collaboration — it's fine to help each other</a:t>
            </a:r>
            <a:endParaRPr lang="en-US" sz="94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6331" y="3156449"/>
            <a:ext cx="178594" cy="14287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22081" y="3156449"/>
            <a:ext cx="2208786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Early finishers get the bonus challenge</a:t>
            </a:r>
            <a:endParaRPr lang="en-US" sz="94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6331" y="3443622"/>
            <a:ext cx="178594" cy="142875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22081" y="3443622"/>
            <a:ext cx="2258457" cy="18001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Note common sticking points for debrief</a:t>
            </a:r>
            <a:endParaRPr lang="en-US" sz="940" dirty="0"/>
          </a:p>
        </p:txBody>
      </p:sp>
      <p:sp>
        <p:nvSpPr>
          <p:cNvPr id="30" name="Shape 19"/>
          <p:cNvSpPr/>
          <p:nvPr/>
        </p:nvSpPr>
        <p:spPr>
          <a:xfrm>
            <a:off x="642938" y="4238002"/>
            <a:ext cx="7858125" cy="450056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1" name="Text 20"/>
          <p:cNvSpPr/>
          <p:nvPr/>
        </p:nvSpPr>
        <p:spPr>
          <a:xfrm>
            <a:off x="785813" y="4380877"/>
            <a:ext cx="757237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D700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"The productive struggle IS the learning. Resist the urge to rescue them too early."</a:t>
            </a:r>
            <a:endParaRPr lang="en-US" sz="985" dirty="0"/>
          </a:p>
        </p:txBody>
      </p:sp>
      <p:sp>
        <p:nvSpPr>
          <p:cNvPr id="32" name="Text 21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44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24</a:t>
            </a:r>
            <a:endParaRPr lang="en-US" sz="7775" dirty="0"/>
          </a:p>
        </p:txBody>
      </p:sp>
      <p:sp>
        <p:nvSpPr>
          <p:cNvPr id="5" name="Shape 2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6" name="Text 3"/>
          <p:cNvSpPr/>
          <p:nvPr/>
        </p:nvSpPr>
        <p:spPr>
          <a:xfrm>
            <a:off x="4111172" y="357188"/>
            <a:ext cx="921655" cy="260747"/>
          </a:xfrm>
          <a:prstGeom prst="rect">
            <a:avLst/>
          </a:prstGeom>
          <a:noFill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BLOCK 07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3505237" y="832247"/>
            <a:ext cx="2133498" cy="59114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373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Wrap-Up</a:t>
            </a:r>
            <a:endParaRPr lang="en-US" sz="3730" dirty="0"/>
          </a:p>
        </p:txBody>
      </p:sp>
      <p:sp>
        <p:nvSpPr>
          <p:cNvPr id="8" name="Text 5"/>
          <p:cNvSpPr/>
          <p:nvPr/>
        </p:nvSpPr>
        <p:spPr>
          <a:xfrm>
            <a:off x="2894893" y="1566267"/>
            <a:ext cx="3354214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Debrief, Next Steps &amp; Resources</a:t>
            </a:r>
            <a:endParaRPr lang="en-US" sz="1705" dirty="0"/>
          </a:p>
        </p:txBody>
      </p:sp>
      <p:sp>
        <p:nvSpPr>
          <p:cNvPr id="9" name="Shape 6"/>
          <p:cNvSpPr/>
          <p:nvPr/>
        </p:nvSpPr>
        <p:spPr>
          <a:xfrm>
            <a:off x="3675152" y="2114550"/>
            <a:ext cx="1793695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0" name="Text 7"/>
          <p:cNvSpPr/>
          <p:nvPr/>
        </p:nvSpPr>
        <p:spPr>
          <a:xfrm>
            <a:off x="3675152" y="2114550"/>
            <a:ext cx="1793695" cy="260747"/>
          </a:xfrm>
          <a:prstGeom prst="rect">
            <a:avLst/>
          </a:prstGeom>
          <a:noFill/>
        </p:spPr>
        <p:txBody>
          <a:bodyPr wrap="square" lIns="212598" tIns="68072" rIns="21259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1:20 – 1:30 · 10 Minutes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25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2269313" y="714375"/>
            <a:ext cx="4605375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Quick Reference: Volatility 3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642938" y="1394817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5813" y="1537692"/>
            <a:ext cx="652453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8" name="Text 5"/>
          <p:cNvSpPr/>
          <p:nvPr/>
        </p:nvSpPr>
        <p:spPr>
          <a:xfrm>
            <a:off x="785813" y="1537692"/>
            <a:ext cx="652453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IMAGE INFO</a:t>
            </a:r>
            <a:endParaRPr lang="en-US" sz="585" dirty="0"/>
          </a:p>
        </p:txBody>
      </p:sp>
      <p:sp>
        <p:nvSpPr>
          <p:cNvPr id="9" name="Text 6"/>
          <p:cNvSpPr/>
          <p:nvPr/>
        </p:nvSpPr>
        <p:spPr>
          <a:xfrm>
            <a:off x="785813" y="1825228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Identify the memory image and OS info</a:t>
            </a:r>
            <a:endParaRPr lang="en-US" sz="785" dirty="0"/>
          </a:p>
        </p:txBody>
      </p:sp>
      <p:sp>
        <p:nvSpPr>
          <p:cNvPr id="10" name="Shape 7"/>
          <p:cNvSpPr/>
          <p:nvPr/>
        </p:nvSpPr>
        <p:spPr>
          <a:xfrm>
            <a:off x="785813" y="2089547"/>
            <a:ext cx="3571875" cy="23395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5813" y="2089547"/>
            <a:ext cx="3571875" cy="23395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windows.info</a:t>
            </a:r>
            <a:endParaRPr lang="en-US" sz="675" dirty="0"/>
          </a:p>
        </p:txBody>
      </p:sp>
      <p:sp>
        <p:nvSpPr>
          <p:cNvPr id="12" name="Shape 9"/>
          <p:cNvSpPr/>
          <p:nvPr/>
        </p:nvSpPr>
        <p:spPr>
          <a:xfrm>
            <a:off x="4643438" y="1394817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86313" y="1537692"/>
            <a:ext cx="676452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4" name="Text 11"/>
          <p:cNvSpPr/>
          <p:nvPr/>
        </p:nvSpPr>
        <p:spPr>
          <a:xfrm>
            <a:off x="4786313" y="1537692"/>
            <a:ext cx="676452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PROCESSES</a:t>
            </a:r>
            <a:endParaRPr lang="en-US" sz="585" dirty="0"/>
          </a:p>
        </p:txBody>
      </p:sp>
      <p:sp>
        <p:nvSpPr>
          <p:cNvPr id="15" name="Text 12"/>
          <p:cNvSpPr/>
          <p:nvPr/>
        </p:nvSpPr>
        <p:spPr>
          <a:xfrm>
            <a:off x="4786313" y="1825228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List all running processes and PIDs</a:t>
            </a:r>
            <a:endParaRPr lang="en-US" sz="785" dirty="0"/>
          </a:p>
        </p:txBody>
      </p:sp>
      <p:sp>
        <p:nvSpPr>
          <p:cNvPr id="16" name="Shape 13"/>
          <p:cNvSpPr/>
          <p:nvPr/>
        </p:nvSpPr>
        <p:spPr>
          <a:xfrm>
            <a:off x="4786313" y="2089547"/>
            <a:ext cx="3571875" cy="23395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86313" y="2089547"/>
            <a:ext cx="3571875" cy="23395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windows.pslist</a:t>
            </a:r>
            <a:endParaRPr lang="en-US" sz="675" dirty="0"/>
          </a:p>
        </p:txBody>
      </p:sp>
      <p:sp>
        <p:nvSpPr>
          <p:cNvPr id="18" name="Shape 15"/>
          <p:cNvSpPr/>
          <p:nvPr/>
        </p:nvSpPr>
        <p:spPr>
          <a:xfrm>
            <a:off x="642938" y="2609255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5813" y="2752130"/>
            <a:ext cx="819103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20" name="Text 17"/>
          <p:cNvSpPr/>
          <p:nvPr/>
        </p:nvSpPr>
        <p:spPr>
          <a:xfrm>
            <a:off x="785813" y="2752130"/>
            <a:ext cx="819103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COMMAND LINE</a:t>
            </a:r>
            <a:endParaRPr lang="en-US" sz="585" dirty="0"/>
          </a:p>
        </p:txBody>
      </p:sp>
      <p:sp>
        <p:nvSpPr>
          <p:cNvPr id="21" name="Text 18"/>
          <p:cNvSpPr/>
          <p:nvPr/>
        </p:nvSpPr>
        <p:spPr>
          <a:xfrm>
            <a:off x="785813" y="3039666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Show command-line arguments for processes</a:t>
            </a:r>
            <a:endParaRPr lang="en-US" sz="785" dirty="0"/>
          </a:p>
        </p:txBody>
      </p:sp>
      <p:sp>
        <p:nvSpPr>
          <p:cNvPr id="22" name="Shape 19"/>
          <p:cNvSpPr/>
          <p:nvPr/>
        </p:nvSpPr>
        <p:spPr>
          <a:xfrm>
            <a:off x="785813" y="3303984"/>
            <a:ext cx="3571875" cy="23395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5813" y="3303984"/>
            <a:ext cx="3571875" cy="23395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windows.cmdline</a:t>
            </a:r>
            <a:endParaRPr lang="en-US" sz="675" dirty="0"/>
          </a:p>
        </p:txBody>
      </p:sp>
      <p:sp>
        <p:nvSpPr>
          <p:cNvPr id="24" name="Shape 21"/>
          <p:cNvSpPr/>
          <p:nvPr/>
        </p:nvSpPr>
        <p:spPr>
          <a:xfrm>
            <a:off x="4643438" y="2609255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86313" y="2752130"/>
            <a:ext cx="595331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26" name="Text 23"/>
          <p:cNvSpPr/>
          <p:nvPr/>
        </p:nvSpPr>
        <p:spPr>
          <a:xfrm>
            <a:off x="4786313" y="2752130"/>
            <a:ext cx="595331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FILE SCAN</a:t>
            </a:r>
            <a:endParaRPr lang="en-US" sz="585" dirty="0"/>
          </a:p>
        </p:txBody>
      </p:sp>
      <p:sp>
        <p:nvSpPr>
          <p:cNvPr id="27" name="Text 24"/>
          <p:cNvSpPr/>
          <p:nvPr/>
        </p:nvSpPr>
        <p:spPr>
          <a:xfrm>
            <a:off x="4786313" y="3039666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Scan for files in memory (use grep for filter)</a:t>
            </a:r>
            <a:endParaRPr lang="en-US" sz="785" dirty="0"/>
          </a:p>
        </p:txBody>
      </p:sp>
      <p:sp>
        <p:nvSpPr>
          <p:cNvPr id="28" name="Shape 25"/>
          <p:cNvSpPr/>
          <p:nvPr/>
        </p:nvSpPr>
        <p:spPr>
          <a:xfrm>
            <a:off x="4786313" y="3303984"/>
            <a:ext cx="3571875" cy="23395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86313" y="3303984"/>
            <a:ext cx="3571875" cy="23395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windows.filescan</a:t>
            </a:r>
            <a:endParaRPr lang="en-US" sz="675" dirty="0"/>
          </a:p>
        </p:txBody>
      </p:sp>
      <p:sp>
        <p:nvSpPr>
          <p:cNvPr id="30" name="Shape 27"/>
          <p:cNvSpPr/>
          <p:nvPr/>
        </p:nvSpPr>
        <p:spPr>
          <a:xfrm>
            <a:off x="642938" y="3823692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85813" y="3966567"/>
            <a:ext cx="700088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32" name="Text 29"/>
          <p:cNvSpPr/>
          <p:nvPr/>
        </p:nvSpPr>
        <p:spPr>
          <a:xfrm>
            <a:off x="785813" y="3966567"/>
            <a:ext cx="700088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EXTRACTION</a:t>
            </a:r>
            <a:endParaRPr lang="en-US" sz="585" dirty="0"/>
          </a:p>
        </p:txBody>
      </p:sp>
      <p:sp>
        <p:nvSpPr>
          <p:cNvPr id="33" name="Text 30"/>
          <p:cNvSpPr/>
          <p:nvPr/>
        </p:nvSpPr>
        <p:spPr>
          <a:xfrm>
            <a:off x="785813" y="4201418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Extract/dump a file by virtual address</a:t>
            </a:r>
            <a:endParaRPr lang="en-US" sz="785" dirty="0"/>
          </a:p>
        </p:txBody>
      </p:sp>
      <p:sp>
        <p:nvSpPr>
          <p:cNvPr id="34" name="Shape 31"/>
          <p:cNvSpPr/>
          <p:nvPr/>
        </p:nvSpPr>
        <p:spPr>
          <a:xfrm>
            <a:off x="785813" y="4413052"/>
            <a:ext cx="3571875" cy="33932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5813" y="4413052"/>
            <a:ext cx="3571875" cy="33932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windows.dumpfiles --virtaddr &lt;addr&gt;</a:t>
            </a:r>
            <a:endParaRPr lang="en-US" sz="675" dirty="0"/>
          </a:p>
        </p:txBody>
      </p:sp>
      <p:sp>
        <p:nvSpPr>
          <p:cNvPr id="36" name="Shape 33"/>
          <p:cNvSpPr/>
          <p:nvPr/>
        </p:nvSpPr>
        <p:spPr>
          <a:xfrm>
            <a:off x="4643438" y="3823692"/>
            <a:ext cx="3857625" cy="1071563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86313" y="3966567"/>
            <a:ext cx="585732" cy="15537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38" name="Text 35"/>
          <p:cNvSpPr/>
          <p:nvPr/>
        </p:nvSpPr>
        <p:spPr>
          <a:xfrm>
            <a:off x="4786313" y="3966567"/>
            <a:ext cx="585732" cy="155377"/>
          </a:xfrm>
          <a:prstGeom prst="rect">
            <a:avLst/>
          </a:prstGeom>
          <a:noFill/>
        </p:spPr>
        <p:txBody>
          <a:bodyPr wrap="square" lIns="85090" tIns="34036" rIns="85090" bIns="34036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NETWORK</a:t>
            </a:r>
            <a:endParaRPr lang="en-US" sz="585" dirty="0"/>
          </a:p>
        </p:txBody>
      </p:sp>
      <p:sp>
        <p:nvSpPr>
          <p:cNvPr id="39" name="Text 36"/>
          <p:cNvSpPr/>
          <p:nvPr/>
        </p:nvSpPr>
        <p:spPr>
          <a:xfrm>
            <a:off x="4786313" y="4254103"/>
            <a:ext cx="3571875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Check active/recent network connections</a:t>
            </a:r>
            <a:endParaRPr lang="en-US" sz="785" dirty="0"/>
          </a:p>
        </p:txBody>
      </p:sp>
      <p:sp>
        <p:nvSpPr>
          <p:cNvPr id="40" name="Shape 37"/>
          <p:cNvSpPr/>
          <p:nvPr/>
        </p:nvSpPr>
        <p:spPr>
          <a:xfrm>
            <a:off x="4786313" y="4518422"/>
            <a:ext cx="3571875" cy="23395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786313" y="4518422"/>
            <a:ext cx="3571875" cy="23395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5" dirty="0">
                <a:solidFill>
                  <a:srgbClr val="3333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python3 vol.py -f dump.raw windows.netstat</a:t>
            </a:r>
            <a:endParaRPr lang="en-US" sz="675" dirty="0"/>
          </a:p>
        </p:txBody>
      </p:sp>
      <p:sp>
        <p:nvSpPr>
          <p:cNvPr id="42" name="Text 39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26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2009459" y="714375"/>
            <a:ext cx="5125083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Common CTF Memory Patterns</a:t>
            </a:r>
            <a:endParaRPr lang="en-US" sz="2435" dirty="0"/>
          </a:p>
        </p:txBody>
      </p:sp>
      <p:sp>
        <p:nvSpPr>
          <p:cNvPr id="6" name="Shape 3"/>
          <p:cNvSpPr/>
          <p:nvPr/>
        </p:nvSpPr>
        <p:spPr>
          <a:xfrm>
            <a:off x="625078" y="1394817"/>
            <a:ext cx="3857625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3672" y="1573411"/>
            <a:ext cx="810788" cy="187523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8" name="Text 5"/>
          <p:cNvSpPr/>
          <p:nvPr/>
        </p:nvSpPr>
        <p:spPr>
          <a:xfrm>
            <a:off x="803672" y="1573411"/>
            <a:ext cx="810788" cy="187523"/>
          </a:xfrm>
          <a:prstGeom prst="rect">
            <a:avLst/>
          </a:prstGeom>
          <a:noFill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PATTERN 01</a:t>
            </a:r>
            <a:endParaRPr lang="en-US" sz="685" dirty="0"/>
          </a:p>
        </p:txBody>
      </p:sp>
      <p:sp>
        <p:nvSpPr>
          <p:cNvPr id="9" name="Text 6"/>
          <p:cNvSpPr/>
          <p:nvPr/>
        </p:nvSpPr>
        <p:spPr>
          <a:xfrm>
            <a:off x="803672" y="1868091"/>
            <a:ext cx="3500438" cy="5339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 File in Memory:</a:t>
            </a:r>
            <a:r>
              <a:rPr lang="en-US" sz="89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 flag stored as a .txt or .zip file. Find it </a:t>
            </a:r>
            <a:r>
              <a:rPr lang="en-US" sz="89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with filescan, extract with dumpfiles.</a:t>
            </a:r>
            <a:endParaRPr lang="en-US" sz="835" dirty="0"/>
          </a:p>
        </p:txBody>
      </p:sp>
      <p:sp>
        <p:nvSpPr>
          <p:cNvPr id="10" name="Shape 7"/>
          <p:cNvSpPr/>
          <p:nvPr/>
        </p:nvSpPr>
        <p:spPr>
          <a:xfrm>
            <a:off x="803672" y="2544961"/>
            <a:ext cx="3500438" cy="24288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3672" y="2544961"/>
            <a:ext cx="3500438" cy="24288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windows.filescan | grep ".txt"</a:t>
            </a:r>
            <a:endParaRPr lang="en-US" sz="725" dirty="0"/>
          </a:p>
        </p:txBody>
      </p:sp>
      <p:sp>
        <p:nvSpPr>
          <p:cNvPr id="12" name="Shape 9"/>
          <p:cNvSpPr/>
          <p:nvPr/>
        </p:nvSpPr>
        <p:spPr>
          <a:xfrm>
            <a:off x="4661297" y="1394817"/>
            <a:ext cx="3857625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39891" y="1573411"/>
            <a:ext cx="810788" cy="187523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14" name="Text 11"/>
          <p:cNvSpPr/>
          <p:nvPr/>
        </p:nvSpPr>
        <p:spPr>
          <a:xfrm>
            <a:off x="4839891" y="1573411"/>
            <a:ext cx="810788" cy="187523"/>
          </a:xfrm>
          <a:prstGeom prst="rect">
            <a:avLst/>
          </a:prstGeom>
          <a:noFill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PATTERN 02</a:t>
            </a:r>
            <a:endParaRPr lang="en-US" sz="685" dirty="0"/>
          </a:p>
        </p:txBody>
      </p:sp>
      <p:sp>
        <p:nvSpPr>
          <p:cNvPr id="15" name="Text 12"/>
          <p:cNvSpPr/>
          <p:nvPr/>
        </p:nvSpPr>
        <p:spPr>
          <a:xfrm>
            <a:off x="4839891" y="1868091"/>
            <a:ext cx="3500438" cy="5339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Suspicious Process:</a:t>
            </a:r>
            <a:r>
              <a:rPr lang="en-US" sz="89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Malware masking as a legit process. </a:t>
            </a:r>
            <a:r>
              <a:rPr lang="en-US" sz="89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 parent PIDs with pslist — orphaned processes are red </a:t>
            </a:r>
            <a:r>
              <a:rPr lang="en-US" sz="89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flags.</a:t>
            </a:r>
            <a:endParaRPr lang="en-US" sz="835" dirty="0"/>
          </a:p>
        </p:txBody>
      </p:sp>
      <p:sp>
        <p:nvSpPr>
          <p:cNvPr id="16" name="Shape 13"/>
          <p:cNvSpPr/>
          <p:nvPr/>
        </p:nvSpPr>
        <p:spPr>
          <a:xfrm>
            <a:off x="4839891" y="2544961"/>
            <a:ext cx="3500438" cy="24288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39891" y="2544961"/>
            <a:ext cx="3500438" cy="24288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windows.pslist</a:t>
            </a:r>
            <a:endParaRPr lang="en-US" sz="725" dirty="0"/>
          </a:p>
        </p:txBody>
      </p:sp>
      <p:sp>
        <p:nvSpPr>
          <p:cNvPr id="18" name="Shape 15"/>
          <p:cNvSpPr/>
          <p:nvPr/>
        </p:nvSpPr>
        <p:spPr>
          <a:xfrm>
            <a:off x="625078" y="3145036"/>
            <a:ext cx="3857625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3672" y="3323630"/>
            <a:ext cx="810788" cy="187523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20" name="Text 17"/>
          <p:cNvSpPr/>
          <p:nvPr/>
        </p:nvSpPr>
        <p:spPr>
          <a:xfrm>
            <a:off x="803672" y="3323630"/>
            <a:ext cx="810788" cy="187523"/>
          </a:xfrm>
          <a:prstGeom prst="rect">
            <a:avLst/>
          </a:prstGeom>
          <a:noFill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PATTERN 03</a:t>
            </a:r>
            <a:endParaRPr lang="en-US" sz="685" dirty="0"/>
          </a:p>
        </p:txBody>
      </p:sp>
      <p:sp>
        <p:nvSpPr>
          <p:cNvPr id="21" name="Text 18"/>
          <p:cNvSpPr/>
          <p:nvPr/>
        </p:nvSpPr>
        <p:spPr>
          <a:xfrm>
            <a:off x="803672" y="3618309"/>
            <a:ext cx="3500438" cy="5339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Password in Strings:</a:t>
            </a:r>
            <a:r>
              <a:rPr lang="en-US" sz="89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Credentials typed or stored in memory. </a:t>
            </a:r>
            <a:r>
              <a:rPr lang="en-US" sz="89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Run strings on a dumped process or the full dump.</a:t>
            </a:r>
            <a:endParaRPr lang="en-US" sz="835" dirty="0"/>
          </a:p>
        </p:txBody>
      </p:sp>
      <p:sp>
        <p:nvSpPr>
          <p:cNvPr id="22" name="Shape 19"/>
          <p:cNvSpPr/>
          <p:nvPr/>
        </p:nvSpPr>
        <p:spPr>
          <a:xfrm>
            <a:off x="803672" y="4295180"/>
            <a:ext cx="3500438" cy="24288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3672" y="4295180"/>
            <a:ext cx="3500438" cy="24288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strings dump.raw | grep -i "flag"</a:t>
            </a:r>
            <a:endParaRPr lang="en-US" sz="725" dirty="0"/>
          </a:p>
        </p:txBody>
      </p:sp>
      <p:sp>
        <p:nvSpPr>
          <p:cNvPr id="24" name="Shape 21"/>
          <p:cNvSpPr/>
          <p:nvPr/>
        </p:nvSpPr>
        <p:spPr>
          <a:xfrm>
            <a:off x="4661297" y="3145036"/>
            <a:ext cx="3857625" cy="1571625"/>
          </a:xfrm>
          <a:prstGeom prst="rect">
            <a:avLst/>
          </a:prstGeom>
          <a:solidFill>
            <a:srgbClr val="FFFFFF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39891" y="3323630"/>
            <a:ext cx="810788" cy="187523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26" name="Text 23"/>
          <p:cNvSpPr/>
          <p:nvPr/>
        </p:nvSpPr>
        <p:spPr>
          <a:xfrm>
            <a:off x="4839891" y="3323630"/>
            <a:ext cx="810788" cy="187523"/>
          </a:xfrm>
          <a:prstGeom prst="rect">
            <a:avLst/>
          </a:prstGeom>
          <a:noFill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PATTERN 04</a:t>
            </a:r>
            <a:endParaRPr lang="en-US" sz="685" dirty="0"/>
          </a:p>
        </p:txBody>
      </p:sp>
      <p:sp>
        <p:nvSpPr>
          <p:cNvPr id="27" name="Text 24"/>
          <p:cNvSpPr/>
          <p:nvPr/>
        </p:nvSpPr>
        <p:spPr>
          <a:xfrm>
            <a:off x="4839891" y="3618309"/>
            <a:ext cx="3500438" cy="5339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5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Clipboard Flag:</a:t>
            </a:r>
            <a:r>
              <a:rPr lang="en-US" sz="89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The flag was copied to clipboard. Search </a:t>
            </a:r>
            <a:r>
              <a:rPr lang="en-US" sz="89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clipboard artifacts or use memory strings.</a:t>
            </a:r>
            <a:endParaRPr lang="en-US" sz="835" dirty="0"/>
          </a:p>
        </p:txBody>
      </p:sp>
      <p:sp>
        <p:nvSpPr>
          <p:cNvPr id="28" name="Shape 25"/>
          <p:cNvSpPr/>
          <p:nvPr/>
        </p:nvSpPr>
        <p:spPr>
          <a:xfrm>
            <a:off x="4839891" y="4295180"/>
            <a:ext cx="3500438" cy="242888"/>
          </a:xfrm>
          <a:prstGeom prst="rect">
            <a:avLst/>
          </a:prstGeom>
          <a:solidFill>
            <a:srgbClr val="F4F4F4"/>
          </a:solidFill>
          <a:ln w="9144">
            <a:solidFill>
              <a:srgbClr val="D0D0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39891" y="4295180"/>
            <a:ext cx="3500438" cy="242888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1A1A1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windows.cmdline</a:t>
            </a:r>
            <a:endParaRPr lang="en-US" sz="725" dirty="0"/>
          </a:p>
        </p:txBody>
      </p:sp>
      <p:sp>
        <p:nvSpPr>
          <p:cNvPr id="30" name="Text 27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DDDDD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27</a:t>
            </a:r>
            <a:endParaRPr lang="en-US" sz="7775" dirty="0"/>
          </a:p>
        </p:txBody>
      </p:sp>
      <p:sp>
        <p:nvSpPr>
          <p:cNvPr id="5" name="Text 2"/>
          <p:cNvSpPr/>
          <p:nvPr/>
        </p:nvSpPr>
        <p:spPr>
          <a:xfrm>
            <a:off x="1875179" y="714375"/>
            <a:ext cx="5393643" cy="3946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3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Next Steps &amp; Practice Resources</a:t>
            </a:r>
            <a:endParaRPr lang="en-US" sz="2435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394817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0125" y="1396603"/>
            <a:ext cx="1448284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Where to Practice</a:t>
            </a:r>
            <a:endParaRPr lang="en-US" sz="1195" dirty="0"/>
          </a:p>
        </p:txBody>
      </p:sp>
      <p:sp>
        <p:nvSpPr>
          <p:cNvPr id="8" name="Shape 4"/>
          <p:cNvSpPr/>
          <p:nvPr/>
        </p:nvSpPr>
        <p:spPr>
          <a:xfrm>
            <a:off x="642938" y="1809155"/>
            <a:ext cx="357188" cy="357188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34" y="1916311"/>
            <a:ext cx="178594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1809155"/>
            <a:ext cx="2865202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MemLabs</a:t>
            </a:r>
            <a:endParaRPr lang="en-US" sz="985" dirty="0"/>
          </a:p>
        </p:txBody>
      </p:sp>
      <p:sp>
        <p:nvSpPr>
          <p:cNvPr id="11" name="Text 6"/>
          <p:cNvSpPr/>
          <p:nvPr/>
        </p:nvSpPr>
        <p:spPr>
          <a:xfrm>
            <a:off x="1143000" y="2002036"/>
            <a:ext cx="2865202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beginner-friendly CTF challenges — free on GitHub</a:t>
            </a:r>
            <a:endParaRPr lang="en-US" sz="835" dirty="0"/>
          </a:p>
        </p:txBody>
      </p:sp>
      <p:sp>
        <p:nvSpPr>
          <p:cNvPr id="12" name="Shape 7"/>
          <p:cNvSpPr/>
          <p:nvPr/>
        </p:nvSpPr>
        <p:spPr>
          <a:xfrm>
            <a:off x="642938" y="2344936"/>
            <a:ext cx="357188" cy="357188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2452092"/>
            <a:ext cx="142875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344936"/>
            <a:ext cx="257934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CyberDefenders</a:t>
            </a:r>
            <a:endParaRPr lang="en-US" sz="985" dirty="0"/>
          </a:p>
        </p:txBody>
      </p:sp>
      <p:sp>
        <p:nvSpPr>
          <p:cNvPr id="15" name="Text 9"/>
          <p:cNvSpPr/>
          <p:nvPr/>
        </p:nvSpPr>
        <p:spPr>
          <a:xfrm>
            <a:off x="1143000" y="2537817"/>
            <a:ext cx="2579340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Real-world scenarios and labs — free tier available</a:t>
            </a:r>
            <a:endParaRPr lang="en-US" sz="835" dirty="0"/>
          </a:p>
        </p:txBody>
      </p:sp>
      <p:sp>
        <p:nvSpPr>
          <p:cNvPr id="16" name="Shape 10"/>
          <p:cNvSpPr/>
          <p:nvPr/>
        </p:nvSpPr>
        <p:spPr>
          <a:xfrm>
            <a:off x="642938" y="2880717"/>
            <a:ext cx="357188" cy="357188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64" y="2987873"/>
            <a:ext cx="160734" cy="1428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2880717"/>
            <a:ext cx="175993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1A1A1A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CTFtime.org</a:t>
            </a:r>
            <a:endParaRPr lang="en-US" sz="985" dirty="0"/>
          </a:p>
        </p:txBody>
      </p:sp>
      <p:sp>
        <p:nvSpPr>
          <p:cNvPr id="19" name="Text 12"/>
          <p:cNvSpPr/>
          <p:nvPr/>
        </p:nvSpPr>
        <p:spPr>
          <a:xfrm>
            <a:off x="1143000" y="3073598"/>
            <a:ext cx="1759930" cy="13215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5" dirty="0">
                <a:solidFill>
                  <a:srgbClr val="66666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Find upcoming global competitions</a:t>
            </a:r>
            <a:endParaRPr lang="en-US" sz="835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394817"/>
            <a:ext cx="200025" cy="2000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093494" y="1396603"/>
            <a:ext cx="1562221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to Learn Next</a:t>
            </a:r>
            <a:endParaRPr lang="en-US" sz="1195" dirty="0"/>
          </a:p>
        </p:txBody>
      </p:sp>
      <p:sp>
        <p:nvSpPr>
          <p:cNvPr id="22" name="Text 14"/>
          <p:cNvSpPr/>
          <p:nvPr/>
        </p:nvSpPr>
        <p:spPr>
          <a:xfrm>
            <a:off x="4979194" y="1809155"/>
            <a:ext cx="2572392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Network Connections:</a:t>
            </a: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windows.netstat</a:t>
            </a:r>
            <a:endParaRPr lang="en-US" sz="985" dirty="0"/>
          </a:p>
        </p:txBody>
      </p:sp>
      <p:sp>
        <p:nvSpPr>
          <p:cNvPr id="23" name="Text 15"/>
          <p:cNvSpPr/>
          <p:nvPr/>
        </p:nvSpPr>
        <p:spPr>
          <a:xfrm>
            <a:off x="4979194" y="2116336"/>
            <a:ext cx="2226004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Registry Analysis:</a:t>
            </a: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Hive extraction</a:t>
            </a:r>
            <a:endParaRPr lang="en-US" sz="985" dirty="0"/>
          </a:p>
        </p:txBody>
      </p:sp>
      <p:sp>
        <p:nvSpPr>
          <p:cNvPr id="24" name="Text 16"/>
          <p:cNvSpPr/>
          <p:nvPr/>
        </p:nvSpPr>
        <p:spPr>
          <a:xfrm>
            <a:off x="4979194" y="2423517"/>
            <a:ext cx="2389947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Malware Detection:</a:t>
            </a: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windows.malfind</a:t>
            </a:r>
            <a:endParaRPr lang="en-US" sz="985" dirty="0"/>
          </a:p>
        </p:txBody>
      </p:sp>
      <p:sp>
        <p:nvSpPr>
          <p:cNvPr id="25" name="Text 17"/>
          <p:cNvSpPr/>
          <p:nvPr/>
        </p:nvSpPr>
        <p:spPr>
          <a:xfrm>
            <a:off x="4979194" y="2730698"/>
            <a:ext cx="250941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 Injection:</a:t>
            </a:r>
            <a:r>
              <a:rPr lang="en-US" sz="1050" dirty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Advanced forensics</a:t>
            </a:r>
            <a:endParaRPr lang="en-US" sz="985" dirty="0"/>
          </a:p>
        </p:txBody>
      </p:sp>
      <p:sp>
        <p:nvSpPr>
          <p:cNvPr id="26" name="Shape 18"/>
          <p:cNvSpPr/>
          <p:nvPr/>
        </p:nvSpPr>
        <p:spPr>
          <a:xfrm>
            <a:off x="642938" y="3702248"/>
            <a:ext cx="7858125" cy="557213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7" name="Text 19"/>
          <p:cNvSpPr/>
          <p:nvPr/>
        </p:nvSpPr>
        <p:spPr>
          <a:xfrm>
            <a:off x="821531" y="3880842"/>
            <a:ext cx="7500938" cy="20002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"You just did real digital forensics. This is what SOC analysts and DFIR specialists do every day."</a:t>
            </a:r>
            <a:endParaRPr lang="en-US" sz="985" dirty="0"/>
          </a:p>
        </p:txBody>
      </p:sp>
      <p:sp>
        <p:nvSpPr>
          <p:cNvPr id="28" name="Text 20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1519" y="217884"/>
            <a:ext cx="1484505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Hidden Investigations</a:t>
            </a:r>
            <a:endParaRPr lang="en-US" sz="985" dirty="0"/>
          </a:p>
        </p:txBody>
      </p:sp>
      <p:sp>
        <p:nvSpPr>
          <p:cNvPr id="4" name="Text 1"/>
          <p:cNvSpPr/>
          <p:nvPr/>
        </p:nvSpPr>
        <p:spPr>
          <a:xfrm>
            <a:off x="7609182" y="4000500"/>
            <a:ext cx="1191918" cy="10715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7775" b="1" dirty="0">
                <a:solidFill>
                  <a:srgbClr val="44444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28</a:t>
            </a:r>
            <a:endParaRPr lang="en-US" sz="7775" dirty="0"/>
          </a:p>
        </p:txBody>
      </p:sp>
      <p:sp>
        <p:nvSpPr>
          <p:cNvPr id="5" name="Shape 2"/>
          <p:cNvSpPr/>
          <p:nvPr/>
        </p:nvSpPr>
        <p:spPr>
          <a:xfrm>
            <a:off x="4146919" y="357188"/>
            <a:ext cx="850162" cy="260747"/>
          </a:xfrm>
          <a:prstGeom prst="rect">
            <a:avLst/>
          </a:prstGeom>
          <a:solidFill>
            <a:srgbClr val="FFD700"/>
          </a:solidFill>
        </p:spPr>
      </p:sp>
      <p:sp>
        <p:nvSpPr>
          <p:cNvPr id="6" name="Text 3"/>
          <p:cNvSpPr/>
          <p:nvPr/>
        </p:nvSpPr>
        <p:spPr>
          <a:xfrm>
            <a:off x="4146919" y="357188"/>
            <a:ext cx="850162" cy="260747"/>
          </a:xfrm>
          <a:prstGeom prst="rect">
            <a:avLst/>
          </a:prstGeom>
          <a:noFill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THE END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736782" y="832247"/>
            <a:ext cx="3670436" cy="7893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6500"/>
              </a:lnSpc>
              <a:buNone/>
            </a:pPr>
            <a:r>
              <a:rPr lang="en-US" sz="497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You!</a:t>
            </a:r>
            <a:endParaRPr lang="en-US" sz="4975" dirty="0"/>
          </a:p>
        </p:txBody>
      </p:sp>
      <p:sp>
        <p:nvSpPr>
          <p:cNvPr id="8" name="Text 5"/>
          <p:cNvSpPr/>
          <p:nvPr/>
        </p:nvSpPr>
        <p:spPr>
          <a:xfrm>
            <a:off x="2723164" y="1764506"/>
            <a:ext cx="3697672" cy="26253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05" dirty="0">
                <a:solidFill>
                  <a:srgbClr val="CCCCC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HiddenInvestigations.Net/Resources</a:t>
            </a:r>
            <a:endParaRPr lang="en-US" sz="1705" dirty="0"/>
          </a:p>
        </p:txBody>
      </p:sp>
      <p:sp>
        <p:nvSpPr>
          <p:cNvPr id="9" name="Shape 6"/>
          <p:cNvSpPr/>
          <p:nvPr/>
        </p:nvSpPr>
        <p:spPr>
          <a:xfrm>
            <a:off x="1285875" y="2455664"/>
            <a:ext cx="3214688" cy="714375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428750" y="2634258"/>
            <a:ext cx="357188" cy="357188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2727127"/>
            <a:ext cx="128588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8813" y="2739628"/>
            <a:ext cx="105526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Volatility 3 Ready</a:t>
            </a:r>
            <a:endParaRPr lang="en-US" sz="885" dirty="0"/>
          </a:p>
        </p:txBody>
      </p:sp>
      <p:sp>
        <p:nvSpPr>
          <p:cNvPr id="13" name="Shape 9"/>
          <p:cNvSpPr/>
          <p:nvPr/>
        </p:nvSpPr>
        <p:spPr>
          <a:xfrm>
            <a:off x="4643438" y="2455664"/>
            <a:ext cx="3214688" cy="714375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786313" y="2634258"/>
            <a:ext cx="357188" cy="357188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466" y="2727127"/>
            <a:ext cx="192881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86375" y="2739628"/>
            <a:ext cx="1264862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CTF Practice Started</a:t>
            </a:r>
            <a:endParaRPr lang="en-US" sz="885" dirty="0"/>
          </a:p>
        </p:txBody>
      </p:sp>
      <p:sp>
        <p:nvSpPr>
          <p:cNvPr id="17" name="Shape 12"/>
          <p:cNvSpPr/>
          <p:nvPr/>
        </p:nvSpPr>
        <p:spPr>
          <a:xfrm>
            <a:off x="1285875" y="3312914"/>
            <a:ext cx="3214688" cy="714375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428750" y="3491508"/>
            <a:ext cx="357188" cy="357188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619" y="3584377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28813" y="3596878"/>
            <a:ext cx="1128992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Forensics Mindset</a:t>
            </a:r>
            <a:endParaRPr lang="en-US" sz="885" dirty="0"/>
          </a:p>
        </p:txBody>
      </p:sp>
      <p:sp>
        <p:nvSpPr>
          <p:cNvPr id="21" name="Shape 15"/>
          <p:cNvSpPr/>
          <p:nvPr/>
        </p:nvSpPr>
        <p:spPr>
          <a:xfrm>
            <a:off x="4643438" y="3312914"/>
            <a:ext cx="3214688" cy="714375"/>
          </a:xfrm>
          <a:prstGeom prst="rect">
            <a:avLst/>
          </a:prstGeom>
          <a:solidFill>
            <a:srgbClr val="1A1A1A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786313" y="3491508"/>
            <a:ext cx="357188" cy="357188"/>
          </a:xfrm>
          <a:prstGeom prst="rect">
            <a:avLst/>
          </a:prstGeom>
          <a:solidFill>
            <a:srgbClr val="FFD700"/>
          </a:solidFill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897" y="3584377"/>
            <a:ext cx="150019" cy="1714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86375" y="3596878"/>
            <a:ext cx="1171854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Next Steps Defined</a:t>
            </a:r>
            <a:endParaRPr lang="en-US" sz="885" dirty="0"/>
          </a:p>
        </p:txBody>
      </p:sp>
      <p:sp>
        <p:nvSpPr>
          <p:cNvPr id="25" name="Text 18"/>
          <p:cNvSpPr/>
          <p:nvPr/>
        </p:nvSpPr>
        <p:spPr>
          <a:xfrm>
            <a:off x="0" y="4782741"/>
            <a:ext cx="914400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HiddenInvestigations.Net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11803</Words>
  <Application>WPS Presentation</Application>
  <PresentationFormat>On-screen Show (16:9)</PresentationFormat>
  <Paragraphs>818</Paragraphs>
  <Slides>28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6" baseType="lpstr">
      <vt:lpstr>Arial</vt:lpstr>
      <vt:lpstr>SimSun</vt:lpstr>
      <vt:lpstr>Wingdings</vt:lpstr>
      <vt:lpstr>Arial Black</vt:lpstr>
      <vt:lpstr>Arial Black</vt:lpstr>
      <vt:lpstr>Arial Black</vt:lpstr>
      <vt:lpstr>Arial</vt:lpstr>
      <vt:lpstr>Arial</vt:lpstr>
      <vt:lpstr>Arial Bold</vt:lpstr>
      <vt:lpstr>Arial Bold</vt:lpstr>
      <vt:lpstr>Arial Bold</vt:lpstr>
      <vt:lpstr>Calibri</vt:lpstr>
      <vt:lpstr>Microsoft YaHei</vt:lpstr>
      <vt:lpstr>Arial Unicode MS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WPS_1717093415</cp:lastModifiedBy>
  <cp:revision>3</cp:revision>
  <dcterms:created xsi:type="dcterms:W3CDTF">2026-04-14T13:03:00Z</dcterms:created>
  <dcterms:modified xsi:type="dcterms:W3CDTF">2026-04-17T16:39:51Z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1A42C685011C419D8B4DAF896F595F34_12</vt:lpwstr>
  </property>
  <property fmtid="{D5CDD505-2E9C-101B-9397-08002B2CF9AE}" pid="3" name="KSOProductBuildVer">
    <vt:lpwstr>2057-12.2.0.23202</vt:lpwstr>
  </property>
</Properties>
</file>