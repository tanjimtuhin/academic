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75" r:id="rId11"/>
    <p:sldId id="263" r:id="rId12"/>
    <p:sldId id="276" r:id="rId13"/>
    <p:sldId id="264" r:id="rId14"/>
    <p:sldId id="277" r:id="rId15"/>
    <p:sldId id="265" r:id="rId16"/>
    <p:sldId id="278" r:id="rId17"/>
    <p:sldId id="266" r:id="rId18"/>
    <p:sldId id="279" r:id="rId19"/>
    <p:sldId id="267" r:id="rId20"/>
    <p:sldId id="280" r:id="rId21"/>
    <p:sldId id="268" r:id="rId22"/>
    <p:sldId id="281" r:id="rId23"/>
    <p:sldId id="269" r:id="rId24"/>
    <p:sldId id="282" r:id="rId25"/>
    <p:sldId id="270" r:id="rId26"/>
    <p:sldId id="283" r:id="rId27"/>
    <p:sldId id="271" r:id="rId28"/>
    <p:sldId id="272" r:id="rId29"/>
    <p:sldId id="273" r:id="rId30"/>
    <p:sldId id="285" r:id="rId31"/>
    <p:sldId id="286" r:id="rId3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bridging the gap between high-level attack narratives and granular technical details. The Cyber Kill Chain, developed by Lockheed Martin, gives us the "story" of an attack—the journey from the first scouted port to the final data theft. However, the MITRE ATT&amp;CK framework takes it a step further by showing us exactly how those stages are executed. In the case of WannaCry, we saw the Kill Chain in action, but ATT&amp;CK allows us to pinpoint the specific exploitation of remote services (T1210) and the final encryption for impact (T1486). Remember: Kill Chain is the story, ATT&amp;CK is the action. Next, we'll explore the foundational patterns that feed into ATT&amp;CK.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deeper into the "how," we look at CAPEC. If ATT&amp;CK is the finished dish we find at a crime scene, CAPEC is the recipe book the attacker used to cook it. For instance, when APT29 targeted SolarWinds, they didn't just "do" spearphishing. They followed a specific pattern of credential theft. By studying CAPEC, we can understand the common blueprints of attacks before they even happen. This allows our developers to build security into the "kitchen" itself, making it harder for any recipe to succeed. Now, let's examine the underlying vulnerabilities that attackers exploit.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truly defend, we must understand the vulnerabilities beneath the surface. Think of it this way: a CWE is a "bad lock design" in general. A CVE is a "broken lock on a specific apartment door." And the ATT&amp;CK technique is the "burglar entering" through that broken lock. In the 2017 Equifax breach, a specific CVE in Apache Struts—caused by the weakness of improper input validation (CWE-20)—allowed attackers to use the technique of exploiting a public-facing application (T1190). By addressing the CWE, we don't just fix one door; we fix the design of all locks. But how do we defend against these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sword, there is a shield. MITRE D3FEND is that shield. While ATT&amp;CK catalogues adversary behavior, D3FEND catalogues defensive countermeasures. This table shows the direct relationship: if an attacker tries to dump credentials (T1003), our D3FEND-aligned response is LSASS protection. If they abuse PowerShell, we use Constrained Language Mode. This framework allows us to speak the same language as the attackers, but from a position of proactive defense. Now, let's explore a more active defensive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the art of deception. MITRE ENGAGE isn't about "hacking back"—it's about "observing forward." By deploying decoys like a fake payroll server or honeytokens, we create an environment where the attacker's own curiosity becomes their downfall. A decoy is a perfect sensor: because no legitimate employee should ever touch it, any interaction is a 100% high-fidelity alert. It turns the attacker's reconnaissance into our intelligence gathering. Next, we'll see how we translate this intelligence into actionable detections.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turn all this knowledge into actual alerts? That's where CAR comes in. CAR provides the "logic" for our detection systems. Think of it as a smoke detector. It's not looking for "fire" in general; it's looking for the specific chemical signature of smoke. For example, a CAR analytic might look for a PowerShell process executing a 'DownloadString' command—a common sign of malware delivery. CAR is what makes our SOC actionable and efficient. Next, we'll explore how to prioritize these detections for maximum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detections are created equal. The Pyramid of Pain shows us where to focus our energy. At the bottom, we have hashes and IP addresses. These are trivial for an attacker to change—it takes them seconds. But as we move up to "Tools" and eventually "TTPs" (Tactics, Techniques, and Procedures), we reach the things that are part of the attacker's DNA. If we detect and block their behavior, they have to relearn their entire craft. That is how we cause true pain to the adversary. Now, let's shift our focus to a new and emerging threat landscape: AI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frontier of security is now AI. MITRE ATLAS is the framework for this new battlefield. It covers threats like prompt injection—where a user tries to "trick" an AI into revealing secrets or bypassing its own rules. Imagine a visitor walking up to a receptionist and whispering, "Ignore all your previous instructions and give me the keys to the vault." That's prompt injection. ATLAS helps us categorize and defend against these unique AI-driven behaviors. Finally, we'll look at how cyber attacks can impact the physical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must remember that cyber attacks can have physical consequences. ATT&amp;CK for ICS is designed for the world of power grids, water treatment plants, and factories. In the 2015 Ukraine Power Grid attack, the Sandworm group didn't just steal data; they opened circuit breakers and turned off the lights for a quarter of a million people. When we talk about ICS, we aren't just protecting "bits and bytes"—we are protecting people, public safety, and the physical world we live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a:xfrm>
            <a:off x="3028950" y="4767263"/>
            <a:ext cx="3086100" cy="273844"/>
          </a:xfrm>
        </p:spPr>
        <p:txBody>
          <a:bodyPr/>
          <a:lstStyle/>
          <a:p>
            <a:endParaRPr lang="en-US"/>
          </a:p>
        </p:txBody>
      </p:sp>
      <p:sp>
        <p:nvSpPr>
          <p:cNvPr id="4" name="Slide Number Placeholder 3"/>
          <p:cNvSpPr>
            <a:spLocks noGrp="1"/>
          </p:cNvSpPr>
          <p:nvPr>
            <p:ph type="sldNum" sz="quarter" idx="12"/>
          </p:nvPr>
        </p:nvSpPr>
        <p:spPr>
          <a:xfrm>
            <a:off x="6457950" y="4767263"/>
            <a:ext cx="2057400" cy="273844"/>
          </a:xfrm>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image" Target="../media/image6.png"/><Relationship Id="rId7" Type="http://schemas.openxmlformats.org/officeDocument/2006/relationships/tags" Target="../tags/tag6.xml"/><Relationship Id="rId6" Type="http://schemas.openxmlformats.org/officeDocument/2006/relationships/tags" Target="../tags/tag5.xml"/><Relationship Id="rId53" Type="http://schemas.openxmlformats.org/officeDocument/2006/relationships/notesSlide" Target="../notesSlides/notesSlide2.xml"/><Relationship Id="rId52" Type="http://schemas.openxmlformats.org/officeDocument/2006/relationships/slideLayout" Target="../slideLayouts/slideLayout1.xml"/><Relationship Id="rId51" Type="http://schemas.openxmlformats.org/officeDocument/2006/relationships/tags" Target="../tags/tag45.xml"/><Relationship Id="rId50" Type="http://schemas.openxmlformats.org/officeDocument/2006/relationships/tags" Target="../tags/tag44.xml"/><Relationship Id="rId5" Type="http://schemas.openxmlformats.org/officeDocument/2006/relationships/tags" Target="../tags/tag4.xml"/><Relationship Id="rId49" Type="http://schemas.openxmlformats.org/officeDocument/2006/relationships/tags" Target="../tags/tag43.xml"/><Relationship Id="rId48" Type="http://schemas.openxmlformats.org/officeDocument/2006/relationships/image" Target="../media/image10.png"/><Relationship Id="rId47" Type="http://schemas.openxmlformats.org/officeDocument/2006/relationships/tags" Target="../tags/tag42.xml"/><Relationship Id="rId46" Type="http://schemas.openxmlformats.org/officeDocument/2006/relationships/tags" Target="../tags/tag41.xml"/><Relationship Id="rId45" Type="http://schemas.openxmlformats.org/officeDocument/2006/relationships/tags" Target="../tags/tag40.xml"/><Relationship Id="rId44" Type="http://schemas.openxmlformats.org/officeDocument/2006/relationships/tags" Target="../tags/tag39.xml"/><Relationship Id="rId43" Type="http://schemas.openxmlformats.org/officeDocument/2006/relationships/tags" Target="../tags/tag38.xml"/><Relationship Id="rId42" Type="http://schemas.openxmlformats.org/officeDocument/2006/relationships/tags" Target="../tags/tag37.xml"/><Relationship Id="rId41" Type="http://schemas.openxmlformats.org/officeDocument/2006/relationships/tags" Target="../tags/tag36.xml"/><Relationship Id="rId40" Type="http://schemas.openxmlformats.org/officeDocument/2006/relationships/tags" Target="../tags/tag35.xml"/><Relationship Id="rId4" Type="http://schemas.openxmlformats.org/officeDocument/2006/relationships/tags" Target="../tags/tag3.xml"/><Relationship Id="rId39" Type="http://schemas.openxmlformats.org/officeDocument/2006/relationships/tags" Target="../tags/tag34.xml"/><Relationship Id="rId38" Type="http://schemas.openxmlformats.org/officeDocument/2006/relationships/image" Target="../media/image9.png"/><Relationship Id="rId37" Type="http://schemas.openxmlformats.org/officeDocument/2006/relationships/tags" Target="../tags/tag33.xml"/><Relationship Id="rId36" Type="http://schemas.openxmlformats.org/officeDocument/2006/relationships/tags" Target="../tags/tag32.xml"/><Relationship Id="rId35" Type="http://schemas.openxmlformats.org/officeDocument/2006/relationships/tags" Target="../tags/tag31.xml"/><Relationship Id="rId34" Type="http://schemas.openxmlformats.org/officeDocument/2006/relationships/tags" Target="../tags/tag30.xml"/><Relationship Id="rId33" Type="http://schemas.openxmlformats.org/officeDocument/2006/relationships/tags" Target="../tags/tag29.xml"/><Relationship Id="rId32" Type="http://schemas.openxmlformats.org/officeDocument/2006/relationships/tags" Target="../tags/tag28.xml"/><Relationship Id="rId31" Type="http://schemas.openxmlformats.org/officeDocument/2006/relationships/tags" Target="../tags/tag27.xml"/><Relationship Id="rId30" Type="http://schemas.openxmlformats.org/officeDocument/2006/relationships/tags" Target="../tags/tag26.xml"/><Relationship Id="rId3" Type="http://schemas.openxmlformats.org/officeDocument/2006/relationships/tags" Target="../tags/tag2.xml"/><Relationship Id="rId29" Type="http://schemas.openxmlformats.org/officeDocument/2006/relationships/tags" Target="../tags/tag25.xml"/><Relationship Id="rId28" Type="http://schemas.openxmlformats.org/officeDocument/2006/relationships/image" Target="../media/image8.png"/><Relationship Id="rId27" Type="http://schemas.openxmlformats.org/officeDocument/2006/relationships/tags" Target="../tags/tag24.xml"/><Relationship Id="rId26" Type="http://schemas.openxmlformats.org/officeDocument/2006/relationships/tags" Target="../tags/tag23.xml"/><Relationship Id="rId25" Type="http://schemas.openxmlformats.org/officeDocument/2006/relationships/tags" Target="../tags/tag22.xml"/><Relationship Id="rId24" Type="http://schemas.openxmlformats.org/officeDocument/2006/relationships/tags" Target="../tags/tag21.xml"/><Relationship Id="rId23" Type="http://schemas.openxmlformats.org/officeDocument/2006/relationships/tags" Target="../tags/tag20.xml"/><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tags" Target="../tags/tag1.xml"/><Relationship Id="rId19" Type="http://schemas.openxmlformats.org/officeDocument/2006/relationships/tags" Target="../tags/tag16.xml"/><Relationship Id="rId18" Type="http://schemas.openxmlformats.org/officeDocument/2006/relationships/image" Target="../media/image7.png"/><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0" Type="http://schemas.openxmlformats.org/officeDocument/2006/relationships/notesSlide" Target="../notesSlides/notesSlide3.xml"/><Relationship Id="rId1" Type="http://schemas.openxmlformats.org/officeDocument/2006/relationships/image" Target="../media/image11.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2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6.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xml"/><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35.png"/><Relationship Id="rId1" Type="http://schemas.openxmlformats.org/officeDocument/2006/relationships/image" Target="../media/image34.jpe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2.jpe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49.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50.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52.png"/><Relationship Id="rId1" Type="http://schemas.openxmlformats.org/officeDocument/2006/relationships/image" Target="../media/image51.jpe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60.png"/><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0" Type="http://schemas.openxmlformats.org/officeDocument/2006/relationships/notesSlide" Target="../notesSlides/notesSlide16.xml"/><Relationship Id="rId1" Type="http://schemas.openxmlformats.org/officeDocument/2006/relationships/image" Target="../media/image53.jpe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1.xml"/><Relationship Id="rId7" Type="http://schemas.openxmlformats.org/officeDocument/2006/relationships/image" Target="../media/image67.png"/><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jpe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5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74.png"/><Relationship Id="rId1" Type="http://schemas.openxmlformats.org/officeDocument/2006/relationships/image" Target="../media/image7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75.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77.png"/><Relationship Id="rId1" Type="http://schemas.openxmlformats.org/officeDocument/2006/relationships/image" Target="../media/image76.jpe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0" Type="http://schemas.openxmlformats.org/officeDocument/2006/relationships/notesSlide" Target="../notesSlides/notesSlide22.xml"/><Relationship Id="rId1" Type="http://schemas.openxmlformats.org/officeDocument/2006/relationships/image" Target="../media/image53.jpe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85.jpeg"/></Relationships>
</file>

<file path=ppt/slides/_rels/slide24.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48.png"/><Relationship Id="rId7" Type="http://schemas.openxmlformats.org/officeDocument/2006/relationships/image" Target="../media/image94.png"/><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90.png"/><Relationship Id="rId2" Type="http://schemas.openxmlformats.org/officeDocument/2006/relationships/image" Target="../media/image89.png"/><Relationship Id="rId13" Type="http://schemas.openxmlformats.org/officeDocument/2006/relationships/notesSlide" Target="../notesSlides/notesSlide24.xml"/><Relationship Id="rId12" Type="http://schemas.openxmlformats.org/officeDocument/2006/relationships/slideLayout" Target="../slideLayouts/slideLayout1.xml"/><Relationship Id="rId11" Type="http://schemas.openxmlformats.org/officeDocument/2006/relationships/image" Target="../media/image96.png"/><Relationship Id="rId10" Type="http://schemas.openxmlformats.org/officeDocument/2006/relationships/image" Target="../media/image47.png"/><Relationship Id="rId1" Type="http://schemas.openxmlformats.org/officeDocument/2006/relationships/image" Target="../media/image88.jpe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image" Target="../media/image97.jpeg"/></Relationships>
</file>

<file path=ppt/slides/_rels/slide26.xml.rels><?xml version="1.0" encoding="UTF-8" standalone="yes"?>
<Relationships xmlns="http://schemas.openxmlformats.org/package/2006/relationships"><Relationship Id="rId9" Type="http://schemas.openxmlformats.org/officeDocument/2006/relationships/image" Target="../media/image111.png"/><Relationship Id="rId8" Type="http://schemas.openxmlformats.org/officeDocument/2006/relationships/image" Target="../media/image110.png"/><Relationship Id="rId7" Type="http://schemas.openxmlformats.org/officeDocument/2006/relationships/image" Target="../media/image109.png"/><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 Id="rId3" Type="http://schemas.openxmlformats.org/officeDocument/2006/relationships/image" Target="../media/image105.png"/><Relationship Id="rId2" Type="http://schemas.openxmlformats.org/officeDocument/2006/relationships/image" Target="../media/image104.png"/><Relationship Id="rId11" Type="http://schemas.openxmlformats.org/officeDocument/2006/relationships/notesSlide" Target="../notesSlides/notesSlide26.xml"/><Relationship Id="rId10" Type="http://schemas.openxmlformats.org/officeDocument/2006/relationships/slideLayout" Target="../slideLayouts/slideLayout1.xml"/><Relationship Id="rId1" Type="http://schemas.openxmlformats.org/officeDocument/2006/relationships/image" Target="../media/image10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294805"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53670"/>
          </a:xfrm>
          <a:prstGeom prst="rect">
            <a:avLst/>
          </a:prstGeom>
          <a:noFill/>
        </p:spPr>
        <p:txBody>
          <a:bodyPr wrap="square" lIns="0" tIns="0" rIns="0" bIns="0" rtlCol="0" anchor="t">
            <a:spAutoFit/>
          </a:bodyPr>
          <a:lstStyle/>
          <a:p>
            <a:pPr marL="0" indent="0" algn="ctr">
              <a:buNone/>
            </a:pPr>
            <a:r>
              <a:rPr lang="en-US" sz="1000" dirty="0">
                <a:solidFill>
                  <a:srgbClr val="000000"/>
                </a:solidFill>
                <a:latin typeface="Inter" pitchFamily="34" charset="0"/>
                <a:ea typeface="Inter" pitchFamily="34" charset="-122"/>
                <a:cs typeface="Inter" pitchFamily="34" charset="-120"/>
              </a:rPr>
              <a:t>Hiddeninvestigations.Net</a:t>
            </a:r>
            <a:endParaRPr lang="en-US" sz="1000" dirty="0"/>
          </a:p>
        </p:txBody>
      </p:sp>
      <p:sp>
        <p:nvSpPr>
          <p:cNvPr id="7" name="Text 4"/>
          <p:cNvSpPr/>
          <p:nvPr/>
        </p:nvSpPr>
        <p:spPr>
          <a:xfrm>
            <a:off x="171450" y="1225550"/>
            <a:ext cx="5360670" cy="1605915"/>
          </a:xfrm>
          <a:prstGeom prst="rect">
            <a:avLst/>
          </a:prstGeom>
          <a:noFill/>
        </p:spPr>
        <p:txBody>
          <a:bodyPr wrap="square" lIns="0" tIns="0" rIns="0" bIns="0" rtlCol="0" anchor="t">
            <a:spAutoFit/>
          </a:bodyPr>
          <a:lstStyle/>
          <a:p>
            <a:pPr marL="0" indent="0" algn="l">
              <a:lnSpc>
                <a:spcPct val="80000"/>
              </a:lnSpc>
              <a:buNone/>
            </a:pPr>
            <a:r>
              <a:rPr lang="en-US" altLang="en-GB" sz="4350" b="1" dirty="0">
                <a:sym typeface="+mn-ea"/>
              </a:rPr>
              <a:t>MITRE and the Cybersecurity Framework </a:t>
            </a:r>
            <a:r>
              <a:rPr lang="en-US" altLang="en-GB" sz="4000" b="1" dirty="0">
                <a:sym typeface="+mn-ea"/>
              </a:rPr>
              <a:t>Ecosystem</a:t>
            </a:r>
            <a:endParaRPr lang="en-US" altLang="en-GB" sz="4000" b="1" dirty="0">
              <a:sym typeface="+mn-ea"/>
            </a:endParaRPr>
          </a:p>
        </p:txBody>
      </p:sp>
      <p:sp>
        <p:nvSpPr>
          <p:cNvPr id="8" name="Text 5"/>
          <p:cNvSpPr/>
          <p:nvPr/>
        </p:nvSpPr>
        <p:spPr>
          <a:xfrm>
            <a:off x="215265" y="2823845"/>
            <a:ext cx="4358640" cy="260985"/>
          </a:xfrm>
          <a:prstGeom prst="rect">
            <a:avLst/>
          </a:prstGeom>
          <a:noFill/>
        </p:spPr>
        <p:txBody>
          <a:bodyPr wrap="square" lIns="0" tIns="0" rIns="0" bIns="0" rtlCol="0" anchor="t">
            <a:spAutoFit/>
          </a:bodyPr>
          <a:lstStyle/>
          <a:p>
            <a:pPr marL="0" indent="0" algn="l">
              <a:buNone/>
            </a:pPr>
            <a:r>
              <a:rPr lang="en-US" altLang="en-GB" sz="1700" dirty="0"/>
              <a:t>From Attack to Defense</a:t>
            </a:r>
            <a:endParaRPr lang="en-US" altLang="en-GB" sz="1700" dirty="0"/>
          </a:p>
        </p:txBody>
      </p:sp>
      <p:sp>
        <p:nvSpPr>
          <p:cNvPr id="9" name="Text 6"/>
          <p:cNvSpPr/>
          <p:nvPr/>
        </p:nvSpPr>
        <p:spPr>
          <a:xfrm>
            <a:off x="0" y="3369171"/>
            <a:ext cx="6400800" cy="153670"/>
          </a:xfrm>
          <a:prstGeom prst="rect">
            <a:avLst/>
          </a:prstGeom>
          <a:noFill/>
        </p:spPr>
        <p:txBody>
          <a:bodyPr wrap="square" lIns="0" tIns="0" rIns="0" bIns="0" rtlCol="0" anchor="t">
            <a:spAutoFit/>
          </a:bodyPr>
          <a:lstStyle/>
          <a:p>
            <a:pPr marL="0" indent="0" algn="ctr">
              <a:buNone/>
            </a:pPr>
            <a:r>
              <a:rPr lang="en-US" sz="1000" b="1" dirty="0">
                <a:solidFill>
                  <a:srgbClr val="000000"/>
                </a:solidFill>
                <a:latin typeface="Inter Bold" pitchFamily="34" charset="0"/>
                <a:ea typeface="Inter Bold" pitchFamily="34" charset="-122"/>
                <a:cs typeface="Inter Bold" pitchFamily="34" charset="-120"/>
              </a:rPr>
              <a:t>MD. Tanjim Mahmud Tuhin</a:t>
            </a:r>
            <a:endParaRPr lang="en-US" sz="1000" dirty="0"/>
          </a:p>
        </p:txBody>
      </p:sp>
      <p:sp>
        <p:nvSpPr>
          <p:cNvPr id="10" name="Text 7"/>
          <p:cNvSpPr/>
          <p:nvPr/>
        </p:nvSpPr>
        <p:spPr>
          <a:xfrm>
            <a:off x="0" y="3578126"/>
            <a:ext cx="6400800" cy="161290"/>
          </a:xfrm>
          <a:prstGeom prst="rect">
            <a:avLst/>
          </a:prstGeom>
          <a:noFill/>
        </p:spPr>
        <p:txBody>
          <a:bodyPr wrap="square" lIns="0" tIns="0" rIns="0" bIns="0" rtlCol="0" anchor="t">
            <a:spAutoFit/>
          </a:bodyPr>
          <a:lstStyle/>
          <a:p>
            <a:pPr marL="0" indent="0" algn="ctr">
              <a:buNone/>
            </a:pPr>
            <a:r>
              <a:rPr lang="en-US" sz="1050" dirty="0"/>
              <a:t>19 June, 2026</a:t>
            </a:r>
            <a:endParaRPr lang="en-US" sz="1050" dirty="0"/>
          </a:p>
        </p:txBody>
      </p:sp>
      <p:grpSp>
        <p:nvGrpSpPr>
          <p:cNvPr id="28" name="Group 8"/>
          <p:cNvGrpSpPr/>
          <p:nvPr/>
        </p:nvGrpSpPr>
        <p:grpSpPr>
          <a:xfrm rot="0">
            <a:off x="6606540" y="273685"/>
            <a:ext cx="2376805" cy="2390140"/>
            <a:chOff x="0" y="0"/>
            <a:chExt cx="812800" cy="812800"/>
          </a:xfrm>
        </p:grpSpPr>
        <p:sp>
          <p:nvSpPr>
            <p:cNvPr id="2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
              <a:stretch>
                <a:fillRect/>
              </a:stretch>
            </a:blipFill>
          </p:spPr>
        </p:sp>
      </p:grpSp>
      <p:grpSp>
        <p:nvGrpSpPr>
          <p:cNvPr id="30" name="Group 10"/>
          <p:cNvGrpSpPr/>
          <p:nvPr/>
        </p:nvGrpSpPr>
        <p:grpSpPr>
          <a:xfrm rot="0">
            <a:off x="5273675" y="1960880"/>
            <a:ext cx="1856105" cy="1893570"/>
            <a:chOff x="0" y="0"/>
            <a:chExt cx="1066226" cy="1081304"/>
          </a:xfrm>
        </p:grpSpPr>
        <p:sp>
          <p:nvSpPr>
            <p:cNvPr id="31" name="Freeform 11"/>
            <p:cNvSpPr/>
            <p:nvPr/>
          </p:nvSpPr>
          <p:spPr>
            <a:xfrm>
              <a:off x="0" y="0"/>
              <a:ext cx="1066226" cy="1081304"/>
            </a:xfrm>
            <a:custGeom>
              <a:avLst/>
              <a:gdLst/>
              <a:ahLst/>
              <a:cxnLst/>
              <a:rect l="l" t="t" r="r" b="b"/>
              <a:pathLst>
                <a:path w="1066226" h="1081304">
                  <a:moveTo>
                    <a:pt x="65021" y="0"/>
                  </a:moveTo>
                  <a:lnTo>
                    <a:pt x="1001206" y="0"/>
                  </a:lnTo>
                  <a:cubicBezTo>
                    <a:pt x="1037116" y="0"/>
                    <a:pt x="1066226" y="29111"/>
                    <a:pt x="1066226" y="65021"/>
                  </a:cubicBezTo>
                  <a:lnTo>
                    <a:pt x="1066226" y="1016284"/>
                  </a:lnTo>
                  <a:cubicBezTo>
                    <a:pt x="1066226" y="1052194"/>
                    <a:pt x="1037116" y="1081304"/>
                    <a:pt x="1001206" y="1081304"/>
                  </a:cubicBezTo>
                  <a:lnTo>
                    <a:pt x="65021" y="1081304"/>
                  </a:lnTo>
                  <a:cubicBezTo>
                    <a:pt x="29111" y="1081304"/>
                    <a:pt x="0" y="1052194"/>
                    <a:pt x="0" y="1016284"/>
                  </a:cubicBezTo>
                  <a:lnTo>
                    <a:pt x="0" y="65021"/>
                  </a:lnTo>
                  <a:cubicBezTo>
                    <a:pt x="0" y="29111"/>
                    <a:pt x="29111" y="0"/>
                    <a:pt x="65021" y="0"/>
                  </a:cubicBezTo>
                  <a:close/>
                </a:path>
              </a:pathLst>
            </a:custGeom>
            <a:solidFill>
              <a:srgbClr val="FFDE59"/>
            </a:solidFill>
          </p:spPr>
        </p:sp>
        <p:sp>
          <p:nvSpPr>
            <p:cNvPr id="32" name="TextBox 12"/>
            <p:cNvSpPr txBox="1"/>
            <p:nvPr/>
          </p:nvSpPr>
          <p:spPr>
            <a:xfrm>
              <a:off x="0" y="-9525"/>
              <a:ext cx="1066226" cy="1090829"/>
            </a:xfrm>
            <a:prstGeom prst="rect">
              <a:avLst/>
            </a:prstGeom>
            <a:solidFill>
              <a:schemeClr val="accent4">
                <a:lumMod val="60000"/>
                <a:lumOff val="40000"/>
              </a:schemeClr>
            </a:solidFill>
          </p:spPr>
          <p:txBody>
            <a:bodyPr lIns="50800" tIns="50800" rIns="50800" bIns="50800" rtlCol="0" anchor="ctr"/>
            <a:lstStyle/>
            <a:p>
              <a:pPr algn="ctr">
                <a:lnSpc>
                  <a:spcPts val="2275"/>
                </a:lnSpc>
              </a:pPr>
              <a:endParaRPr>
                <a:highlight>
                  <a:srgbClr val="FFFF00"/>
                </a:highlight>
              </a:endParaRPr>
            </a:p>
          </p:txBody>
        </p:sp>
      </p:grpSp>
      <p:sp>
        <p:nvSpPr>
          <p:cNvPr id="34" name="Freeform 15"/>
          <p:cNvSpPr/>
          <p:nvPr/>
        </p:nvSpPr>
        <p:spPr>
          <a:xfrm>
            <a:off x="6812280" y="2108200"/>
            <a:ext cx="118745" cy="119380"/>
          </a:xfrm>
          <a:custGeom>
            <a:avLst/>
            <a:gdLst/>
            <a:ahLst/>
            <a:cxnLst/>
            <a:rect l="l" t="t" r="r" b="b"/>
            <a:pathLst>
              <a:path w="258036" h="258036">
                <a:moveTo>
                  <a:pt x="0" y="0"/>
                </a:moveTo>
                <a:lnTo>
                  <a:pt x="258036" y="0"/>
                </a:lnTo>
                <a:lnTo>
                  <a:pt x="258036" y="258036"/>
                </a:lnTo>
                <a:lnTo>
                  <a:pt x="0" y="2580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5" name="Freeform 16"/>
          <p:cNvSpPr/>
          <p:nvPr/>
        </p:nvSpPr>
        <p:spPr>
          <a:xfrm>
            <a:off x="4982845" y="1558925"/>
            <a:ext cx="1539875" cy="1670685"/>
          </a:xfrm>
          <a:custGeom>
            <a:avLst/>
            <a:gdLst/>
            <a:ahLst/>
            <a:cxnLst/>
            <a:rect l="l" t="t" r="r" b="b"/>
            <a:pathLst>
              <a:path w="3356866" h="3622517">
                <a:moveTo>
                  <a:pt x="0" y="0"/>
                </a:moveTo>
                <a:lnTo>
                  <a:pt x="3356866" y="0"/>
                </a:lnTo>
                <a:lnTo>
                  <a:pt x="3356866" y="3622517"/>
                </a:lnTo>
                <a:lnTo>
                  <a:pt x="0" y="3622517"/>
                </a:lnTo>
                <a:lnTo>
                  <a:pt x="0" y="0"/>
                </a:lnTo>
                <a:close/>
              </a:path>
            </a:pathLst>
          </a:custGeom>
          <a:blipFill>
            <a:blip r:embed="rId4"/>
            <a:stretch>
              <a:fillRect/>
            </a:stretch>
          </a:blipFill>
        </p:spPr>
      </p:sp>
      <p:cxnSp>
        <p:nvCxnSpPr>
          <p:cNvPr id="6" name="Straight Connector 5"/>
          <p:cNvCxnSpPr/>
          <p:nvPr/>
        </p:nvCxnSpPr>
        <p:spPr>
          <a:xfrm>
            <a:off x="11430" y="4742180"/>
            <a:ext cx="913257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236744" y="4018359"/>
            <a:ext cx="621506" cy="553641"/>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02</a:t>
            </a:r>
            <a:endParaRPr lang="en-US" sz="3300" dirty="0"/>
          </a:p>
        </p:txBody>
      </p:sp>
      <p:sp>
        <p:nvSpPr>
          <p:cNvPr id="7" name="Text 4"/>
          <p:cNvSpPr/>
          <p:nvPr/>
        </p:nvSpPr>
        <p:spPr>
          <a:xfrm>
            <a:off x="428625" y="714375"/>
            <a:ext cx="8286750" cy="414338"/>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Black" pitchFamily="34" charset="0"/>
                <a:ea typeface="Inter Black" pitchFamily="34" charset="-122"/>
                <a:cs typeface="Inter Black" pitchFamily="34" charset="-120"/>
              </a:rPr>
              <a:t>These Are Not Gaming Usernames.</a:t>
            </a:r>
            <a:endParaRPr lang="en-US" sz="2450" dirty="0"/>
          </a:p>
        </p:txBody>
      </p:sp>
      <p:sp>
        <p:nvSpPr>
          <p:cNvPr id="8" name="Text 5"/>
          <p:cNvSpPr/>
          <p:nvPr/>
        </p:nvSpPr>
        <p:spPr>
          <a:xfrm>
            <a:off x="428625" y="1164431"/>
            <a:ext cx="8286750" cy="207169"/>
          </a:xfrm>
          <a:prstGeom prst="rect">
            <a:avLst/>
          </a:prstGeom>
          <a:noFill/>
        </p:spPr>
        <p:txBody>
          <a:bodyPr wrap="square" lIns="0" tIns="0" rIns="0" bIns="0" rtlCol="0" anchor="t">
            <a:spAutoFit/>
          </a:bodyPr>
          <a:lstStyle/>
          <a:p>
            <a:pPr marL="0" indent="0" algn="l">
              <a:buNone/>
            </a:pPr>
            <a:r>
              <a:rPr lang="en-US" sz="1250" dirty="0">
                <a:solidFill>
                  <a:srgbClr val="333333"/>
                </a:solidFill>
                <a:latin typeface="Inter" pitchFamily="34" charset="0"/>
                <a:ea typeface="Inter" pitchFamily="34" charset="-122"/>
                <a:cs typeface="Inter" pitchFamily="34" charset="-120"/>
              </a:rPr>
              <a:t>They are the most dangerous hacker groups on the planet.</a:t>
            </a:r>
            <a:endParaRPr lang="en-US" sz="1250" dirty="0"/>
          </a:p>
        </p:txBody>
      </p:sp>
      <p:sp>
        <p:nvSpPr>
          <p:cNvPr id="9" name="Shape 6"/>
          <p:cNvSpPr/>
          <p:nvPr>
            <p:custDataLst>
              <p:tags r:id="rId2"/>
            </p:custDataLst>
          </p:nvPr>
        </p:nvSpPr>
        <p:spPr>
          <a:xfrm>
            <a:off x="428625" y="1657350"/>
            <a:ext cx="1543050" cy="2000250"/>
          </a:xfrm>
          <a:prstGeom prst="rect">
            <a:avLst/>
          </a:prstGeom>
          <a:solidFill>
            <a:srgbClr val="FFFFFF"/>
          </a:solidFill>
        </p:spPr>
      </p:sp>
      <p:sp>
        <p:nvSpPr>
          <p:cNvPr id="10" name="Shape 7"/>
          <p:cNvSpPr/>
          <p:nvPr>
            <p:custDataLst>
              <p:tags r:id="rId3"/>
            </p:custDataLst>
          </p:nvPr>
        </p:nvSpPr>
        <p:spPr>
          <a:xfrm>
            <a:off x="428625" y="1657350"/>
            <a:ext cx="1543050" cy="28575"/>
          </a:xfrm>
          <a:prstGeom prst="rect">
            <a:avLst/>
          </a:prstGeom>
          <a:solidFill>
            <a:srgbClr val="F5C518"/>
          </a:solidFill>
        </p:spPr>
      </p:sp>
      <p:sp>
        <p:nvSpPr>
          <p:cNvPr id="11" name="Shape 8"/>
          <p:cNvSpPr/>
          <p:nvPr>
            <p:custDataLst>
              <p:tags r:id="rId4"/>
            </p:custDataLst>
          </p:nvPr>
        </p:nvSpPr>
        <p:spPr>
          <a:xfrm>
            <a:off x="1964531" y="1657350"/>
            <a:ext cx="7144" cy="2000250"/>
          </a:xfrm>
          <a:prstGeom prst="rect">
            <a:avLst/>
          </a:prstGeom>
          <a:solidFill>
            <a:srgbClr val="EEEEEE"/>
          </a:solidFill>
        </p:spPr>
      </p:sp>
      <p:sp>
        <p:nvSpPr>
          <p:cNvPr id="12" name="Shape 9"/>
          <p:cNvSpPr/>
          <p:nvPr>
            <p:custDataLst>
              <p:tags r:id="rId5"/>
            </p:custDataLst>
          </p:nvPr>
        </p:nvSpPr>
        <p:spPr>
          <a:xfrm>
            <a:off x="428625" y="3650456"/>
            <a:ext cx="1543050" cy="7144"/>
          </a:xfrm>
          <a:prstGeom prst="rect">
            <a:avLst/>
          </a:prstGeom>
          <a:solidFill>
            <a:srgbClr val="EEEEEE"/>
          </a:solidFill>
        </p:spPr>
      </p:sp>
      <p:sp>
        <p:nvSpPr>
          <p:cNvPr id="13" name="Shape 10"/>
          <p:cNvSpPr/>
          <p:nvPr>
            <p:custDataLst>
              <p:tags r:id="rId6"/>
            </p:custDataLst>
          </p:nvPr>
        </p:nvSpPr>
        <p:spPr>
          <a:xfrm>
            <a:off x="428625" y="1657350"/>
            <a:ext cx="7144" cy="2000250"/>
          </a:xfrm>
          <a:prstGeom prst="rect">
            <a:avLst/>
          </a:prstGeom>
          <a:solidFill>
            <a:srgbClr val="EEEEEE"/>
          </a:solidFill>
        </p:spPr>
      </p:sp>
      <p:pic>
        <p:nvPicPr>
          <p:cNvPr id="14" name="Image 1" descr="preencoded.png"/>
          <p:cNvPicPr>
            <a:picLocks noChangeAspect="1"/>
          </p:cNvPicPr>
          <p:nvPr>
            <p:custDataLst>
              <p:tags r:id="rId7"/>
            </p:custDataLst>
          </p:nvPr>
        </p:nvPicPr>
        <p:blipFill>
          <a:blip r:embed="rId8"/>
          <a:stretch>
            <a:fillRect/>
          </a:stretch>
        </p:blipFill>
        <p:spPr>
          <a:xfrm>
            <a:off x="1728062" y="1800225"/>
            <a:ext cx="125016" cy="142875"/>
          </a:xfrm>
          <a:prstGeom prst="rect">
            <a:avLst/>
          </a:prstGeom>
        </p:spPr>
      </p:pic>
      <p:sp>
        <p:nvSpPr>
          <p:cNvPr id="15" name="Text 11"/>
          <p:cNvSpPr/>
          <p:nvPr>
            <p:custDataLst>
              <p:tags r:id="rId9"/>
            </p:custDataLst>
          </p:nvPr>
        </p:nvSpPr>
        <p:spPr>
          <a:xfrm>
            <a:off x="535781" y="1800225"/>
            <a:ext cx="1317296" cy="173236"/>
          </a:xfrm>
          <a:prstGeom prst="rect">
            <a:avLst/>
          </a:prstGeom>
          <a:noFill/>
        </p:spPr>
        <p:txBody>
          <a:bodyPr wrap="square" lIns="0" tIns="0" rIns="255143" bIns="0" rtlCol="0" anchor="t">
            <a:spAutoFit/>
          </a:bodyPr>
          <a:lstStyle/>
          <a:p>
            <a:pPr marL="0" indent="0" algn="l">
              <a:buNone/>
            </a:pPr>
            <a:r>
              <a:rPr lang="en-US" sz="1000" b="1" dirty="0">
                <a:solidFill>
                  <a:srgbClr val="000000"/>
                </a:solidFill>
                <a:latin typeface="Inter Bold" pitchFamily="34" charset="0"/>
                <a:ea typeface="Inter Bold" pitchFamily="34" charset="-122"/>
                <a:cs typeface="Inter Bold" pitchFamily="34" charset="-120"/>
              </a:rPr>
              <a:t>Lazarus Group</a:t>
            </a:r>
            <a:endParaRPr lang="en-US" sz="1000" dirty="0"/>
          </a:p>
        </p:txBody>
      </p:sp>
      <p:sp>
        <p:nvSpPr>
          <p:cNvPr id="16" name="Text 12"/>
          <p:cNvSpPr/>
          <p:nvPr>
            <p:custDataLst>
              <p:tags r:id="rId10"/>
            </p:custDataLst>
          </p:nvPr>
        </p:nvSpPr>
        <p:spPr>
          <a:xfrm>
            <a:off x="535781" y="2009180"/>
            <a:ext cx="1317296" cy="121444"/>
          </a:xfrm>
          <a:prstGeom prst="rect">
            <a:avLst/>
          </a:prstGeom>
          <a:noFill/>
        </p:spPr>
        <p:txBody>
          <a:bodyPr wrap="square" lIns="0" tIns="0" rIns="0" bIns="0" rtlCol="0" anchor="t">
            <a:spAutoFit/>
          </a:bodyPr>
          <a:lstStyle/>
          <a:p>
            <a:pPr marL="0" indent="0" algn="l">
              <a:buNone/>
            </a:pPr>
            <a:r>
              <a:rPr lang="en-US" sz="750" kern="0" spc="1" dirty="0">
                <a:solidFill>
                  <a:srgbClr val="666666"/>
                </a:solidFill>
                <a:latin typeface="Inter" pitchFamily="34" charset="0"/>
                <a:ea typeface="Inter" pitchFamily="34" charset="-122"/>
                <a:cs typeface="Inter" pitchFamily="34" charset="-120"/>
              </a:rPr>
              <a:t>NORTH KOREA</a:t>
            </a:r>
            <a:endParaRPr lang="en-US" sz="750" dirty="0"/>
          </a:p>
        </p:txBody>
      </p:sp>
      <p:sp>
        <p:nvSpPr>
          <p:cNvPr id="17" name="Text 13"/>
          <p:cNvSpPr/>
          <p:nvPr>
            <p:custDataLst>
              <p:tags r:id="rId11"/>
            </p:custDataLst>
          </p:nvPr>
        </p:nvSpPr>
        <p:spPr>
          <a:xfrm>
            <a:off x="535781" y="2237780"/>
            <a:ext cx="1317296" cy="696516"/>
          </a:xfrm>
          <a:prstGeom prst="rect">
            <a:avLst/>
          </a:prstGeom>
          <a:noFill/>
        </p:spPr>
        <p:txBody>
          <a:bodyPr wrap="square" lIns="0" tIns="0" rIns="0" bIns="0" rtlCol="0" anchor="t">
            <a:spAutoFit/>
          </a:bodyPr>
          <a:lstStyle/>
          <a:p>
            <a:pPr marL="0" indent="0" algn="l">
              <a:lnSpc>
                <a:spcPct val="120000"/>
              </a:lnSpc>
              <a:buNone/>
            </a:pPr>
            <a:r>
              <a:rPr lang="en-US" sz="650" dirty="0">
                <a:solidFill>
                  <a:srgbClr val="333333"/>
                </a:solidFill>
                <a:latin typeface="Inter" pitchFamily="34" charset="0"/>
                <a:ea typeface="Inter" pitchFamily="34" charset="-122"/>
                <a:cs typeface="Inter" pitchFamily="34" charset="-120"/>
              </a:rPr>
              <a:t>Stole $81 million from Bangladesh Bank. Hacked Sony Pictures. Deployed WannaCry ransomware affecting 150 countries.</a:t>
            </a:r>
            <a:endParaRPr lang="en-US" sz="650" dirty="0"/>
          </a:p>
        </p:txBody>
      </p:sp>
      <p:sp>
        <p:nvSpPr>
          <p:cNvPr id="18" name="Shape 14"/>
          <p:cNvSpPr/>
          <p:nvPr>
            <p:custDataLst>
              <p:tags r:id="rId12"/>
            </p:custDataLst>
          </p:nvPr>
        </p:nvSpPr>
        <p:spPr>
          <a:xfrm>
            <a:off x="2103109" y="1657350"/>
            <a:ext cx="1545896" cy="2000250"/>
          </a:xfrm>
          <a:prstGeom prst="rect">
            <a:avLst/>
          </a:prstGeom>
          <a:solidFill>
            <a:srgbClr val="FFFFFF"/>
          </a:solidFill>
        </p:spPr>
      </p:sp>
      <p:sp>
        <p:nvSpPr>
          <p:cNvPr id="19" name="Shape 15"/>
          <p:cNvSpPr/>
          <p:nvPr>
            <p:custDataLst>
              <p:tags r:id="rId13"/>
            </p:custDataLst>
          </p:nvPr>
        </p:nvSpPr>
        <p:spPr>
          <a:xfrm>
            <a:off x="2103109" y="1657350"/>
            <a:ext cx="1545896" cy="28575"/>
          </a:xfrm>
          <a:prstGeom prst="rect">
            <a:avLst/>
          </a:prstGeom>
          <a:solidFill>
            <a:srgbClr val="F5C518"/>
          </a:solidFill>
        </p:spPr>
      </p:sp>
      <p:sp>
        <p:nvSpPr>
          <p:cNvPr id="20" name="Shape 16"/>
          <p:cNvSpPr/>
          <p:nvPr>
            <p:custDataLst>
              <p:tags r:id="rId14"/>
            </p:custDataLst>
          </p:nvPr>
        </p:nvSpPr>
        <p:spPr>
          <a:xfrm>
            <a:off x="3641861" y="1657350"/>
            <a:ext cx="7144" cy="2000250"/>
          </a:xfrm>
          <a:prstGeom prst="rect">
            <a:avLst/>
          </a:prstGeom>
          <a:solidFill>
            <a:srgbClr val="EEEEEE"/>
          </a:solidFill>
        </p:spPr>
      </p:sp>
      <p:sp>
        <p:nvSpPr>
          <p:cNvPr id="21" name="Shape 17"/>
          <p:cNvSpPr/>
          <p:nvPr>
            <p:custDataLst>
              <p:tags r:id="rId15"/>
            </p:custDataLst>
          </p:nvPr>
        </p:nvSpPr>
        <p:spPr>
          <a:xfrm>
            <a:off x="2103109" y="3650456"/>
            <a:ext cx="1545896" cy="7144"/>
          </a:xfrm>
          <a:prstGeom prst="rect">
            <a:avLst/>
          </a:prstGeom>
          <a:solidFill>
            <a:srgbClr val="EEEEEE"/>
          </a:solidFill>
        </p:spPr>
      </p:sp>
      <p:sp>
        <p:nvSpPr>
          <p:cNvPr id="22" name="Shape 18"/>
          <p:cNvSpPr/>
          <p:nvPr>
            <p:custDataLst>
              <p:tags r:id="rId16"/>
            </p:custDataLst>
          </p:nvPr>
        </p:nvSpPr>
        <p:spPr>
          <a:xfrm>
            <a:off x="2103109" y="1657350"/>
            <a:ext cx="7144" cy="2000250"/>
          </a:xfrm>
          <a:prstGeom prst="rect">
            <a:avLst/>
          </a:prstGeom>
          <a:solidFill>
            <a:srgbClr val="EEEEEE"/>
          </a:solidFill>
        </p:spPr>
      </p:sp>
      <p:pic>
        <p:nvPicPr>
          <p:cNvPr id="23" name="Image 2" descr="preencoded.png"/>
          <p:cNvPicPr>
            <a:picLocks noChangeAspect="1"/>
          </p:cNvPicPr>
          <p:nvPr>
            <p:custDataLst>
              <p:tags r:id="rId17"/>
            </p:custDataLst>
          </p:nvPr>
        </p:nvPicPr>
        <p:blipFill>
          <a:blip r:embed="rId18"/>
          <a:stretch>
            <a:fillRect/>
          </a:stretch>
        </p:blipFill>
        <p:spPr>
          <a:xfrm>
            <a:off x="3408294" y="1800225"/>
            <a:ext cx="125016" cy="142875"/>
          </a:xfrm>
          <a:prstGeom prst="rect">
            <a:avLst/>
          </a:prstGeom>
        </p:spPr>
      </p:pic>
      <p:sp>
        <p:nvSpPr>
          <p:cNvPr id="24" name="Text 19"/>
          <p:cNvSpPr/>
          <p:nvPr>
            <p:custDataLst>
              <p:tags r:id="rId19"/>
            </p:custDataLst>
          </p:nvPr>
        </p:nvSpPr>
        <p:spPr>
          <a:xfrm>
            <a:off x="2213139" y="1800225"/>
            <a:ext cx="1320171" cy="173236"/>
          </a:xfrm>
          <a:prstGeom prst="rect">
            <a:avLst/>
          </a:prstGeom>
          <a:noFill/>
        </p:spPr>
        <p:txBody>
          <a:bodyPr wrap="square" lIns="0" tIns="0" rIns="255143" bIns="0" rtlCol="0" anchor="t">
            <a:spAutoFit/>
          </a:bodyPr>
          <a:lstStyle/>
          <a:p>
            <a:pPr marL="0" indent="0" algn="l">
              <a:buNone/>
            </a:pPr>
            <a:r>
              <a:rPr lang="en-US" sz="1000" b="1" dirty="0">
                <a:solidFill>
                  <a:srgbClr val="000000"/>
                </a:solidFill>
                <a:latin typeface="Inter Bold" pitchFamily="34" charset="0"/>
                <a:ea typeface="Inter Bold" pitchFamily="34" charset="-122"/>
                <a:cs typeface="Inter Bold" pitchFamily="34" charset="-120"/>
              </a:rPr>
              <a:t>Cozy Bear</a:t>
            </a:r>
            <a:endParaRPr lang="en-US" sz="1000" dirty="0"/>
          </a:p>
        </p:txBody>
      </p:sp>
      <p:sp>
        <p:nvSpPr>
          <p:cNvPr id="25" name="Text 20"/>
          <p:cNvSpPr/>
          <p:nvPr>
            <p:custDataLst>
              <p:tags r:id="rId20"/>
            </p:custDataLst>
          </p:nvPr>
        </p:nvSpPr>
        <p:spPr>
          <a:xfrm>
            <a:off x="2213139" y="2009180"/>
            <a:ext cx="1320171" cy="121444"/>
          </a:xfrm>
          <a:prstGeom prst="rect">
            <a:avLst/>
          </a:prstGeom>
          <a:noFill/>
        </p:spPr>
        <p:txBody>
          <a:bodyPr wrap="square" lIns="0" tIns="0" rIns="0" bIns="0" rtlCol="0" anchor="t">
            <a:spAutoFit/>
          </a:bodyPr>
          <a:lstStyle/>
          <a:p>
            <a:pPr marL="0" indent="0" algn="l">
              <a:buNone/>
            </a:pPr>
            <a:r>
              <a:rPr lang="en-US" sz="750" kern="0" spc="1" dirty="0">
                <a:solidFill>
                  <a:srgbClr val="666666"/>
                </a:solidFill>
                <a:latin typeface="Inter" pitchFamily="34" charset="0"/>
                <a:ea typeface="Inter" pitchFamily="34" charset="-122"/>
                <a:cs typeface="Inter" pitchFamily="34" charset="-120"/>
              </a:rPr>
              <a:t>RUSSIA</a:t>
            </a:r>
            <a:endParaRPr lang="en-US" sz="750" dirty="0"/>
          </a:p>
        </p:txBody>
      </p:sp>
      <p:sp>
        <p:nvSpPr>
          <p:cNvPr id="26" name="Text 21"/>
          <p:cNvSpPr/>
          <p:nvPr>
            <p:custDataLst>
              <p:tags r:id="rId21"/>
            </p:custDataLst>
          </p:nvPr>
        </p:nvSpPr>
        <p:spPr>
          <a:xfrm>
            <a:off x="2213139" y="2237780"/>
            <a:ext cx="1320171" cy="696516"/>
          </a:xfrm>
          <a:prstGeom prst="rect">
            <a:avLst/>
          </a:prstGeom>
          <a:noFill/>
        </p:spPr>
        <p:txBody>
          <a:bodyPr wrap="square" lIns="0" tIns="0" rIns="0" bIns="0" rtlCol="0" anchor="t">
            <a:spAutoFit/>
          </a:bodyPr>
          <a:lstStyle/>
          <a:p>
            <a:pPr marL="0" indent="0" algn="l">
              <a:lnSpc>
                <a:spcPct val="120000"/>
              </a:lnSpc>
              <a:buNone/>
            </a:pPr>
            <a:r>
              <a:rPr lang="en-US" sz="650" dirty="0">
                <a:solidFill>
                  <a:srgbClr val="333333"/>
                </a:solidFill>
                <a:latin typeface="Inter" pitchFamily="34" charset="0"/>
                <a:ea typeface="Inter" pitchFamily="34" charset="-122"/>
                <a:cs typeface="Inter" pitchFamily="34" charset="-120"/>
              </a:rPr>
              <a:t>Hacked US DNC. Infiltrated SolarWinds supply chain. Spied on US government agencies for 9 months undetected.</a:t>
            </a:r>
            <a:endParaRPr lang="en-US" sz="650" dirty="0"/>
          </a:p>
        </p:txBody>
      </p:sp>
      <p:sp>
        <p:nvSpPr>
          <p:cNvPr id="27" name="Shape 22"/>
          <p:cNvSpPr/>
          <p:nvPr>
            <p:custDataLst>
              <p:tags r:id="rId22"/>
            </p:custDataLst>
          </p:nvPr>
        </p:nvSpPr>
        <p:spPr>
          <a:xfrm>
            <a:off x="3783341" y="1657350"/>
            <a:ext cx="1548771" cy="2000250"/>
          </a:xfrm>
          <a:prstGeom prst="rect">
            <a:avLst/>
          </a:prstGeom>
          <a:solidFill>
            <a:srgbClr val="FFFFFF"/>
          </a:solidFill>
        </p:spPr>
      </p:sp>
      <p:sp>
        <p:nvSpPr>
          <p:cNvPr id="28" name="Shape 23"/>
          <p:cNvSpPr/>
          <p:nvPr>
            <p:custDataLst>
              <p:tags r:id="rId23"/>
            </p:custDataLst>
          </p:nvPr>
        </p:nvSpPr>
        <p:spPr>
          <a:xfrm>
            <a:off x="3783341" y="1657350"/>
            <a:ext cx="1548771" cy="28575"/>
          </a:xfrm>
          <a:prstGeom prst="rect">
            <a:avLst/>
          </a:prstGeom>
          <a:solidFill>
            <a:srgbClr val="F5C518"/>
          </a:solidFill>
        </p:spPr>
      </p:sp>
      <p:sp>
        <p:nvSpPr>
          <p:cNvPr id="29" name="Shape 24"/>
          <p:cNvSpPr/>
          <p:nvPr>
            <p:custDataLst>
              <p:tags r:id="rId24"/>
            </p:custDataLst>
          </p:nvPr>
        </p:nvSpPr>
        <p:spPr>
          <a:xfrm>
            <a:off x="5324968" y="1657350"/>
            <a:ext cx="7144" cy="2000250"/>
          </a:xfrm>
          <a:prstGeom prst="rect">
            <a:avLst/>
          </a:prstGeom>
          <a:solidFill>
            <a:srgbClr val="EEEEEE"/>
          </a:solidFill>
        </p:spPr>
      </p:sp>
      <p:sp>
        <p:nvSpPr>
          <p:cNvPr id="30" name="Shape 25"/>
          <p:cNvSpPr/>
          <p:nvPr>
            <p:custDataLst>
              <p:tags r:id="rId25"/>
            </p:custDataLst>
          </p:nvPr>
        </p:nvSpPr>
        <p:spPr>
          <a:xfrm>
            <a:off x="3783341" y="3650456"/>
            <a:ext cx="1548771" cy="7144"/>
          </a:xfrm>
          <a:prstGeom prst="rect">
            <a:avLst/>
          </a:prstGeom>
          <a:solidFill>
            <a:srgbClr val="EEEEEE"/>
          </a:solidFill>
        </p:spPr>
      </p:sp>
      <p:sp>
        <p:nvSpPr>
          <p:cNvPr id="31" name="Shape 26"/>
          <p:cNvSpPr/>
          <p:nvPr>
            <p:custDataLst>
              <p:tags r:id="rId26"/>
            </p:custDataLst>
          </p:nvPr>
        </p:nvSpPr>
        <p:spPr>
          <a:xfrm>
            <a:off x="3783341" y="1657350"/>
            <a:ext cx="7144" cy="2000250"/>
          </a:xfrm>
          <a:prstGeom prst="rect">
            <a:avLst/>
          </a:prstGeom>
          <a:solidFill>
            <a:srgbClr val="EEEEEE"/>
          </a:solidFill>
        </p:spPr>
      </p:sp>
      <p:pic>
        <p:nvPicPr>
          <p:cNvPr id="32" name="Image 3" descr="preencoded.png"/>
          <p:cNvPicPr>
            <a:picLocks noChangeAspect="1"/>
          </p:cNvPicPr>
          <p:nvPr>
            <p:custDataLst>
              <p:tags r:id="rId27"/>
            </p:custDataLst>
          </p:nvPr>
        </p:nvPicPr>
        <p:blipFill>
          <a:blip r:embed="rId28"/>
          <a:stretch>
            <a:fillRect/>
          </a:stretch>
        </p:blipFill>
        <p:spPr>
          <a:xfrm>
            <a:off x="5112051" y="1800225"/>
            <a:ext cx="107156" cy="142875"/>
          </a:xfrm>
          <a:prstGeom prst="rect">
            <a:avLst/>
          </a:prstGeom>
        </p:spPr>
      </p:pic>
      <p:sp>
        <p:nvSpPr>
          <p:cNvPr id="33" name="Text 27"/>
          <p:cNvSpPr/>
          <p:nvPr>
            <p:custDataLst>
              <p:tags r:id="rId29"/>
            </p:custDataLst>
          </p:nvPr>
        </p:nvSpPr>
        <p:spPr>
          <a:xfrm>
            <a:off x="3896190" y="1800225"/>
            <a:ext cx="1323017" cy="173236"/>
          </a:xfrm>
          <a:prstGeom prst="rect">
            <a:avLst/>
          </a:prstGeom>
          <a:noFill/>
        </p:spPr>
        <p:txBody>
          <a:bodyPr wrap="square" lIns="0" tIns="0" rIns="255143" bIns="0" rtlCol="0" anchor="t">
            <a:spAutoFit/>
          </a:bodyPr>
          <a:lstStyle/>
          <a:p>
            <a:pPr marL="0" indent="0" algn="l">
              <a:buNone/>
            </a:pPr>
            <a:r>
              <a:rPr lang="en-US" sz="1000" b="1" dirty="0">
                <a:solidFill>
                  <a:srgbClr val="000000"/>
                </a:solidFill>
                <a:latin typeface="Inter Bold" pitchFamily="34" charset="0"/>
                <a:ea typeface="Inter Bold" pitchFamily="34" charset="-122"/>
                <a:cs typeface="Inter Bold" pitchFamily="34" charset="-120"/>
              </a:rPr>
              <a:t>Fancy Bear</a:t>
            </a:r>
            <a:endParaRPr lang="en-US" sz="1000" dirty="0"/>
          </a:p>
        </p:txBody>
      </p:sp>
      <p:sp>
        <p:nvSpPr>
          <p:cNvPr id="34" name="Text 28"/>
          <p:cNvSpPr/>
          <p:nvPr>
            <p:custDataLst>
              <p:tags r:id="rId30"/>
            </p:custDataLst>
          </p:nvPr>
        </p:nvSpPr>
        <p:spPr>
          <a:xfrm>
            <a:off x="3896190" y="2009180"/>
            <a:ext cx="1323017" cy="121444"/>
          </a:xfrm>
          <a:prstGeom prst="rect">
            <a:avLst/>
          </a:prstGeom>
          <a:noFill/>
        </p:spPr>
        <p:txBody>
          <a:bodyPr wrap="square" lIns="0" tIns="0" rIns="0" bIns="0" rtlCol="0" anchor="t">
            <a:spAutoFit/>
          </a:bodyPr>
          <a:lstStyle/>
          <a:p>
            <a:pPr marL="0" indent="0" algn="l">
              <a:buNone/>
            </a:pPr>
            <a:r>
              <a:rPr lang="en-US" sz="750" kern="0" spc="1" dirty="0">
                <a:solidFill>
                  <a:srgbClr val="666666"/>
                </a:solidFill>
                <a:latin typeface="Inter" pitchFamily="34" charset="0"/>
                <a:ea typeface="Inter" pitchFamily="34" charset="-122"/>
                <a:cs typeface="Inter" pitchFamily="34" charset="-120"/>
              </a:rPr>
              <a:t>RUSSIA</a:t>
            </a:r>
            <a:endParaRPr lang="en-US" sz="750" dirty="0"/>
          </a:p>
        </p:txBody>
      </p:sp>
      <p:sp>
        <p:nvSpPr>
          <p:cNvPr id="35" name="Text 29"/>
          <p:cNvSpPr/>
          <p:nvPr>
            <p:custDataLst>
              <p:tags r:id="rId31"/>
            </p:custDataLst>
          </p:nvPr>
        </p:nvSpPr>
        <p:spPr>
          <a:xfrm>
            <a:off x="3896190" y="2237780"/>
            <a:ext cx="1323017" cy="696516"/>
          </a:xfrm>
          <a:prstGeom prst="rect">
            <a:avLst/>
          </a:prstGeom>
          <a:noFill/>
        </p:spPr>
        <p:txBody>
          <a:bodyPr wrap="square" lIns="0" tIns="0" rIns="0" bIns="0" rtlCol="0" anchor="t">
            <a:spAutoFit/>
          </a:bodyPr>
          <a:lstStyle/>
          <a:p>
            <a:pPr marL="0" indent="0" algn="l">
              <a:lnSpc>
                <a:spcPct val="120000"/>
              </a:lnSpc>
              <a:buNone/>
            </a:pPr>
            <a:r>
              <a:rPr lang="en-US" sz="650" dirty="0">
                <a:solidFill>
                  <a:srgbClr val="333333"/>
                </a:solidFill>
                <a:latin typeface="Inter" pitchFamily="34" charset="0"/>
                <a:ea typeface="Inter" pitchFamily="34" charset="-122"/>
                <a:cs typeface="Inter" pitchFamily="34" charset="-120"/>
              </a:rPr>
              <a:t>Interfered in US 2016 presidential election. Hacked French presidential campaign. Targeted NATO systems.</a:t>
            </a:r>
            <a:endParaRPr lang="en-US" sz="650" dirty="0"/>
          </a:p>
        </p:txBody>
      </p:sp>
      <p:sp>
        <p:nvSpPr>
          <p:cNvPr id="36" name="Shape 30"/>
          <p:cNvSpPr/>
          <p:nvPr>
            <p:custDataLst>
              <p:tags r:id="rId32"/>
            </p:custDataLst>
          </p:nvPr>
        </p:nvSpPr>
        <p:spPr>
          <a:xfrm>
            <a:off x="5469238" y="1664335"/>
            <a:ext cx="1551617" cy="2000250"/>
          </a:xfrm>
          <a:prstGeom prst="rect">
            <a:avLst/>
          </a:prstGeom>
          <a:solidFill>
            <a:srgbClr val="FFFFFF"/>
          </a:solidFill>
        </p:spPr>
      </p:sp>
      <p:sp>
        <p:nvSpPr>
          <p:cNvPr id="37" name="Shape 31"/>
          <p:cNvSpPr/>
          <p:nvPr>
            <p:custDataLst>
              <p:tags r:id="rId33"/>
            </p:custDataLst>
          </p:nvPr>
        </p:nvSpPr>
        <p:spPr>
          <a:xfrm>
            <a:off x="5469238" y="1657350"/>
            <a:ext cx="1551617" cy="28575"/>
          </a:xfrm>
          <a:prstGeom prst="rect">
            <a:avLst/>
          </a:prstGeom>
          <a:solidFill>
            <a:srgbClr val="F5C518"/>
          </a:solidFill>
        </p:spPr>
      </p:sp>
      <p:sp>
        <p:nvSpPr>
          <p:cNvPr id="38" name="Shape 32"/>
          <p:cNvSpPr/>
          <p:nvPr>
            <p:custDataLst>
              <p:tags r:id="rId34"/>
            </p:custDataLst>
          </p:nvPr>
        </p:nvSpPr>
        <p:spPr>
          <a:xfrm>
            <a:off x="7013711" y="1657350"/>
            <a:ext cx="7144" cy="2000250"/>
          </a:xfrm>
          <a:prstGeom prst="rect">
            <a:avLst/>
          </a:prstGeom>
          <a:solidFill>
            <a:srgbClr val="EEEEEE"/>
          </a:solidFill>
        </p:spPr>
      </p:sp>
      <p:sp>
        <p:nvSpPr>
          <p:cNvPr id="39" name="Shape 33"/>
          <p:cNvSpPr/>
          <p:nvPr>
            <p:custDataLst>
              <p:tags r:id="rId35"/>
            </p:custDataLst>
          </p:nvPr>
        </p:nvSpPr>
        <p:spPr>
          <a:xfrm>
            <a:off x="5469238" y="3650456"/>
            <a:ext cx="1551617" cy="7144"/>
          </a:xfrm>
          <a:prstGeom prst="rect">
            <a:avLst/>
          </a:prstGeom>
          <a:solidFill>
            <a:srgbClr val="EEEEEE"/>
          </a:solidFill>
        </p:spPr>
      </p:sp>
      <p:sp>
        <p:nvSpPr>
          <p:cNvPr id="40" name="Shape 34"/>
          <p:cNvSpPr/>
          <p:nvPr>
            <p:custDataLst>
              <p:tags r:id="rId36"/>
            </p:custDataLst>
          </p:nvPr>
        </p:nvSpPr>
        <p:spPr>
          <a:xfrm>
            <a:off x="5469238" y="1657350"/>
            <a:ext cx="7144" cy="2000250"/>
          </a:xfrm>
          <a:prstGeom prst="rect">
            <a:avLst/>
          </a:prstGeom>
          <a:solidFill>
            <a:srgbClr val="EEEEEE"/>
          </a:solidFill>
        </p:spPr>
      </p:sp>
      <p:pic>
        <p:nvPicPr>
          <p:cNvPr id="41" name="Image 4" descr="preencoded.png"/>
          <p:cNvPicPr>
            <a:picLocks noChangeAspect="1"/>
          </p:cNvPicPr>
          <p:nvPr>
            <p:custDataLst>
              <p:tags r:id="rId37"/>
            </p:custDataLst>
          </p:nvPr>
        </p:nvPicPr>
        <p:blipFill>
          <a:blip r:embed="rId38"/>
          <a:stretch>
            <a:fillRect/>
          </a:stretch>
        </p:blipFill>
        <p:spPr>
          <a:xfrm>
            <a:off x="6750174" y="1800225"/>
            <a:ext cx="160734" cy="142875"/>
          </a:xfrm>
          <a:prstGeom prst="rect">
            <a:avLst/>
          </a:prstGeom>
        </p:spPr>
      </p:pic>
      <p:sp>
        <p:nvSpPr>
          <p:cNvPr id="42" name="Text 35"/>
          <p:cNvSpPr/>
          <p:nvPr>
            <p:custDataLst>
              <p:tags r:id="rId39"/>
            </p:custDataLst>
          </p:nvPr>
        </p:nvSpPr>
        <p:spPr>
          <a:xfrm>
            <a:off x="5585017" y="1800225"/>
            <a:ext cx="1325891" cy="173236"/>
          </a:xfrm>
          <a:prstGeom prst="rect">
            <a:avLst/>
          </a:prstGeom>
          <a:noFill/>
        </p:spPr>
        <p:txBody>
          <a:bodyPr wrap="square" lIns="0" tIns="0" rIns="255143" bIns="0" rtlCol="0" anchor="t">
            <a:spAutoFit/>
          </a:bodyPr>
          <a:lstStyle/>
          <a:p>
            <a:pPr marL="0" indent="0" algn="l">
              <a:buNone/>
            </a:pPr>
            <a:r>
              <a:rPr lang="en-US" sz="1000" b="1" dirty="0">
                <a:solidFill>
                  <a:srgbClr val="000000"/>
                </a:solidFill>
                <a:latin typeface="Inter Bold" pitchFamily="34" charset="0"/>
                <a:ea typeface="Inter Bold" pitchFamily="34" charset="-122"/>
                <a:cs typeface="Inter Bold" pitchFamily="34" charset="-120"/>
              </a:rPr>
              <a:t>Sandworm</a:t>
            </a:r>
            <a:endParaRPr lang="en-US" sz="1000" dirty="0"/>
          </a:p>
        </p:txBody>
      </p:sp>
      <p:sp>
        <p:nvSpPr>
          <p:cNvPr id="43" name="Text 36"/>
          <p:cNvSpPr/>
          <p:nvPr>
            <p:custDataLst>
              <p:tags r:id="rId40"/>
            </p:custDataLst>
          </p:nvPr>
        </p:nvSpPr>
        <p:spPr>
          <a:xfrm>
            <a:off x="5585017" y="2009180"/>
            <a:ext cx="1325891" cy="121444"/>
          </a:xfrm>
          <a:prstGeom prst="rect">
            <a:avLst/>
          </a:prstGeom>
          <a:noFill/>
        </p:spPr>
        <p:txBody>
          <a:bodyPr wrap="square" lIns="0" tIns="0" rIns="0" bIns="0" rtlCol="0" anchor="t">
            <a:spAutoFit/>
          </a:bodyPr>
          <a:lstStyle/>
          <a:p>
            <a:pPr marL="0" indent="0" algn="l">
              <a:buNone/>
            </a:pPr>
            <a:r>
              <a:rPr lang="en-US" sz="750" kern="0" spc="1" dirty="0">
                <a:solidFill>
                  <a:srgbClr val="666666"/>
                </a:solidFill>
                <a:latin typeface="Inter" pitchFamily="34" charset="0"/>
                <a:ea typeface="Inter" pitchFamily="34" charset="-122"/>
                <a:cs typeface="Inter" pitchFamily="34" charset="-120"/>
              </a:rPr>
              <a:t>RUSSIA</a:t>
            </a:r>
            <a:endParaRPr lang="en-US" sz="750" dirty="0"/>
          </a:p>
        </p:txBody>
      </p:sp>
      <p:sp>
        <p:nvSpPr>
          <p:cNvPr id="44" name="Text 37"/>
          <p:cNvSpPr/>
          <p:nvPr>
            <p:custDataLst>
              <p:tags r:id="rId41"/>
            </p:custDataLst>
          </p:nvPr>
        </p:nvSpPr>
        <p:spPr>
          <a:xfrm>
            <a:off x="5585017" y="2237780"/>
            <a:ext cx="1325891" cy="557213"/>
          </a:xfrm>
          <a:prstGeom prst="rect">
            <a:avLst/>
          </a:prstGeom>
          <a:noFill/>
        </p:spPr>
        <p:txBody>
          <a:bodyPr wrap="square" lIns="0" tIns="0" rIns="0" bIns="0" rtlCol="0" anchor="t">
            <a:spAutoFit/>
          </a:bodyPr>
          <a:lstStyle/>
          <a:p>
            <a:pPr marL="0" indent="0" algn="l">
              <a:lnSpc>
                <a:spcPct val="120000"/>
              </a:lnSpc>
              <a:buNone/>
            </a:pPr>
            <a:r>
              <a:rPr lang="en-US" sz="650" dirty="0">
                <a:solidFill>
                  <a:srgbClr val="333333"/>
                </a:solidFill>
                <a:latin typeface="Inter" pitchFamily="34" charset="0"/>
                <a:ea typeface="Inter" pitchFamily="34" charset="-122"/>
                <a:cs typeface="Inter" pitchFamily="34" charset="-120"/>
              </a:rPr>
              <a:t>Cut electricity to 230,000 Ukrainians. Deployed NotPetya causing $10 billion in global damage.</a:t>
            </a:r>
            <a:endParaRPr lang="en-US" sz="650" dirty="0"/>
          </a:p>
        </p:txBody>
      </p:sp>
      <p:sp>
        <p:nvSpPr>
          <p:cNvPr id="45" name="Shape 38"/>
          <p:cNvSpPr/>
          <p:nvPr>
            <p:custDataLst>
              <p:tags r:id="rId42"/>
            </p:custDataLst>
          </p:nvPr>
        </p:nvSpPr>
        <p:spPr>
          <a:xfrm>
            <a:off x="7160940" y="1657350"/>
            <a:ext cx="1554491" cy="2000250"/>
          </a:xfrm>
          <a:prstGeom prst="rect">
            <a:avLst/>
          </a:prstGeom>
          <a:solidFill>
            <a:srgbClr val="FFFFFF"/>
          </a:solidFill>
        </p:spPr>
      </p:sp>
      <p:sp>
        <p:nvSpPr>
          <p:cNvPr id="46" name="Shape 39"/>
          <p:cNvSpPr/>
          <p:nvPr>
            <p:custDataLst>
              <p:tags r:id="rId43"/>
            </p:custDataLst>
          </p:nvPr>
        </p:nvSpPr>
        <p:spPr>
          <a:xfrm>
            <a:off x="7160940" y="1657350"/>
            <a:ext cx="1554491" cy="28575"/>
          </a:xfrm>
          <a:prstGeom prst="rect">
            <a:avLst/>
          </a:prstGeom>
          <a:solidFill>
            <a:srgbClr val="F5C518"/>
          </a:solidFill>
        </p:spPr>
      </p:sp>
      <p:sp>
        <p:nvSpPr>
          <p:cNvPr id="47" name="Shape 40"/>
          <p:cNvSpPr/>
          <p:nvPr>
            <p:custDataLst>
              <p:tags r:id="rId44"/>
            </p:custDataLst>
          </p:nvPr>
        </p:nvSpPr>
        <p:spPr>
          <a:xfrm>
            <a:off x="8708287" y="1657350"/>
            <a:ext cx="7144" cy="2000250"/>
          </a:xfrm>
          <a:prstGeom prst="rect">
            <a:avLst/>
          </a:prstGeom>
          <a:solidFill>
            <a:srgbClr val="EEEEEE"/>
          </a:solidFill>
        </p:spPr>
      </p:sp>
      <p:sp>
        <p:nvSpPr>
          <p:cNvPr id="48" name="Shape 41"/>
          <p:cNvSpPr/>
          <p:nvPr>
            <p:custDataLst>
              <p:tags r:id="rId45"/>
            </p:custDataLst>
          </p:nvPr>
        </p:nvSpPr>
        <p:spPr>
          <a:xfrm>
            <a:off x="7160940" y="3650456"/>
            <a:ext cx="1554491" cy="7144"/>
          </a:xfrm>
          <a:prstGeom prst="rect">
            <a:avLst/>
          </a:prstGeom>
          <a:solidFill>
            <a:srgbClr val="EEEEEE"/>
          </a:solidFill>
        </p:spPr>
      </p:sp>
      <p:sp>
        <p:nvSpPr>
          <p:cNvPr id="49" name="Shape 42"/>
          <p:cNvSpPr/>
          <p:nvPr>
            <p:custDataLst>
              <p:tags r:id="rId46"/>
            </p:custDataLst>
          </p:nvPr>
        </p:nvSpPr>
        <p:spPr>
          <a:xfrm>
            <a:off x="7160940" y="1657350"/>
            <a:ext cx="7144" cy="2000250"/>
          </a:xfrm>
          <a:prstGeom prst="rect">
            <a:avLst/>
          </a:prstGeom>
          <a:solidFill>
            <a:srgbClr val="EEEEEE"/>
          </a:solidFill>
        </p:spPr>
      </p:sp>
      <p:pic>
        <p:nvPicPr>
          <p:cNvPr id="50" name="Image 5" descr="preencoded.png"/>
          <p:cNvPicPr>
            <a:picLocks noChangeAspect="1"/>
          </p:cNvPicPr>
          <p:nvPr>
            <p:custDataLst>
              <p:tags r:id="rId47"/>
            </p:custDataLst>
          </p:nvPr>
        </p:nvPicPr>
        <p:blipFill>
          <a:blip r:embed="rId48"/>
          <a:stretch>
            <a:fillRect/>
          </a:stretch>
        </p:blipFill>
        <p:spPr>
          <a:xfrm>
            <a:off x="8429625" y="1800225"/>
            <a:ext cx="178594" cy="142875"/>
          </a:xfrm>
          <a:prstGeom prst="rect">
            <a:avLst/>
          </a:prstGeom>
        </p:spPr>
      </p:pic>
      <p:sp>
        <p:nvSpPr>
          <p:cNvPr id="51" name="Text 43"/>
          <p:cNvSpPr/>
          <p:nvPr>
            <p:custDataLst>
              <p:tags r:id="rId49"/>
            </p:custDataLst>
          </p:nvPr>
        </p:nvSpPr>
        <p:spPr>
          <a:xfrm>
            <a:off x="7279481" y="1800225"/>
            <a:ext cx="1328738" cy="173236"/>
          </a:xfrm>
          <a:prstGeom prst="rect">
            <a:avLst/>
          </a:prstGeom>
          <a:noFill/>
        </p:spPr>
        <p:txBody>
          <a:bodyPr wrap="square" lIns="0" tIns="0" rIns="255143" bIns="0" rtlCol="0" anchor="t">
            <a:spAutoFit/>
          </a:bodyPr>
          <a:lstStyle/>
          <a:p>
            <a:pPr marL="0" indent="0" algn="l">
              <a:buNone/>
            </a:pPr>
            <a:r>
              <a:rPr lang="en-US" sz="1000" b="1" dirty="0">
                <a:solidFill>
                  <a:srgbClr val="000000"/>
                </a:solidFill>
                <a:latin typeface="Inter Bold" pitchFamily="34" charset="0"/>
                <a:ea typeface="Inter Bold" pitchFamily="34" charset="-122"/>
                <a:cs typeface="Inter Bold" pitchFamily="34" charset="-120"/>
              </a:rPr>
              <a:t>APT41</a:t>
            </a:r>
            <a:endParaRPr lang="en-US" sz="1000" dirty="0"/>
          </a:p>
        </p:txBody>
      </p:sp>
      <p:sp>
        <p:nvSpPr>
          <p:cNvPr id="52" name="Text 44"/>
          <p:cNvSpPr/>
          <p:nvPr>
            <p:custDataLst>
              <p:tags r:id="rId50"/>
            </p:custDataLst>
          </p:nvPr>
        </p:nvSpPr>
        <p:spPr>
          <a:xfrm>
            <a:off x="7279481" y="2009180"/>
            <a:ext cx="1328738" cy="121444"/>
          </a:xfrm>
          <a:prstGeom prst="rect">
            <a:avLst/>
          </a:prstGeom>
          <a:noFill/>
        </p:spPr>
        <p:txBody>
          <a:bodyPr wrap="square" lIns="0" tIns="0" rIns="0" bIns="0" rtlCol="0" anchor="t">
            <a:spAutoFit/>
          </a:bodyPr>
          <a:lstStyle/>
          <a:p>
            <a:pPr marL="0" indent="0" algn="l">
              <a:buNone/>
            </a:pPr>
            <a:r>
              <a:rPr lang="en-US" sz="750" kern="0" spc="1" dirty="0">
                <a:solidFill>
                  <a:srgbClr val="666666"/>
                </a:solidFill>
                <a:latin typeface="Inter" pitchFamily="34" charset="0"/>
                <a:ea typeface="Inter" pitchFamily="34" charset="-122"/>
                <a:cs typeface="Inter" pitchFamily="34" charset="-120"/>
              </a:rPr>
              <a:t>CHINA</a:t>
            </a:r>
            <a:endParaRPr lang="en-US" sz="750" dirty="0"/>
          </a:p>
        </p:txBody>
      </p:sp>
      <p:sp>
        <p:nvSpPr>
          <p:cNvPr id="53" name="Text 45"/>
          <p:cNvSpPr/>
          <p:nvPr>
            <p:custDataLst>
              <p:tags r:id="rId51"/>
            </p:custDataLst>
          </p:nvPr>
        </p:nvSpPr>
        <p:spPr>
          <a:xfrm>
            <a:off x="7279481" y="2237780"/>
            <a:ext cx="1328738" cy="557213"/>
          </a:xfrm>
          <a:prstGeom prst="rect">
            <a:avLst/>
          </a:prstGeom>
          <a:noFill/>
        </p:spPr>
        <p:txBody>
          <a:bodyPr wrap="square" lIns="0" tIns="0" rIns="0" bIns="0" rtlCol="0" anchor="t">
            <a:spAutoFit/>
          </a:bodyPr>
          <a:lstStyle/>
          <a:p>
            <a:pPr marL="0" indent="0" algn="l">
              <a:lnSpc>
                <a:spcPct val="120000"/>
              </a:lnSpc>
              <a:buNone/>
            </a:pPr>
            <a:r>
              <a:rPr lang="en-US" sz="650" dirty="0">
                <a:solidFill>
                  <a:srgbClr val="333333"/>
                </a:solidFill>
                <a:latin typeface="Inter" pitchFamily="34" charset="0"/>
                <a:ea typeface="Inter" pitchFamily="34" charset="-122"/>
                <a:cs typeface="Inter" pitchFamily="34" charset="-120"/>
              </a:rPr>
              <a:t>Conducts state espionage and cybercrime for profit. Hit healthcare, telecoms, and defense sectors globally.</a:t>
            </a:r>
            <a:endParaRPr lang="en-US" sz="650" dirty="0"/>
          </a:p>
        </p:txBody>
      </p:sp>
      <p:sp>
        <p:nvSpPr>
          <p:cNvPr id="54" name="Shape 46"/>
          <p:cNvSpPr/>
          <p:nvPr/>
        </p:nvSpPr>
        <p:spPr>
          <a:xfrm>
            <a:off x="428625" y="3943350"/>
            <a:ext cx="7404100" cy="369570"/>
          </a:xfrm>
          <a:prstGeom prst="rect">
            <a:avLst/>
          </a:prstGeom>
          <a:solidFill>
            <a:srgbClr val="F5C518"/>
          </a:solidFill>
        </p:spPr>
      </p:sp>
      <p:sp>
        <p:nvSpPr>
          <p:cNvPr id="55" name="Text 47"/>
          <p:cNvSpPr/>
          <p:nvPr/>
        </p:nvSpPr>
        <p:spPr>
          <a:xfrm>
            <a:off x="428625" y="3943350"/>
            <a:ext cx="7404100" cy="392430"/>
          </a:xfrm>
          <a:prstGeom prst="rect">
            <a:avLst/>
          </a:prstGeom>
          <a:noFill/>
        </p:spPr>
        <p:txBody>
          <a:bodyPr wrap="square" lIns="170053" tIns="127508" rIns="170053" bIns="127508" rtlCol="0" anchor="t">
            <a:spAutoFit/>
          </a:bodyPr>
          <a:lstStyle/>
          <a:p>
            <a:pPr marL="0" indent="0" algn="ctr">
              <a:buNone/>
            </a:pPr>
            <a:r>
              <a:rPr lang="en-US" sz="900" b="1" dirty="0">
                <a:solidFill>
                  <a:srgbClr val="000000"/>
                </a:solidFill>
                <a:latin typeface="Inter Bold" pitchFamily="34" charset="0"/>
                <a:ea typeface="Inter Bold" pitchFamily="34" charset="-122"/>
                <a:cs typeface="Inter Bold" pitchFamily="34" charset="-120"/>
              </a:rPr>
              <a:t>All of them use the same techniques. MITRE ATT&amp;CK documents every single one.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227814" y="4018359"/>
            <a:ext cx="630436" cy="553641"/>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03</a:t>
            </a:r>
            <a:endParaRPr lang="en-US" sz="3300" dirty="0"/>
          </a:p>
        </p:txBody>
      </p:sp>
      <p:sp>
        <p:nvSpPr>
          <p:cNvPr id="7" name="Text 4"/>
          <p:cNvSpPr/>
          <p:nvPr/>
        </p:nvSpPr>
        <p:spPr>
          <a:xfrm>
            <a:off x="428625" y="714375"/>
            <a:ext cx="8286750" cy="364331"/>
          </a:xfrm>
          <a:prstGeom prst="rect">
            <a:avLst/>
          </a:prstGeom>
          <a:noFill/>
        </p:spPr>
        <p:txBody>
          <a:bodyPr wrap="square" lIns="0" tIns="0" rIns="0" bIns="0" rtlCol="0" anchor="t">
            <a:spAutoFit/>
          </a:bodyPr>
          <a:lstStyle/>
          <a:p>
            <a:pPr marL="0" indent="0" algn="l">
              <a:buNone/>
            </a:pPr>
            <a:r>
              <a:rPr lang="en-US" sz="2100" b="1" dirty="0">
                <a:solidFill>
                  <a:srgbClr val="000000"/>
                </a:solidFill>
                <a:latin typeface="Inter Black" pitchFamily="34" charset="0"/>
                <a:ea typeface="Inter Black" pitchFamily="34" charset="-122"/>
                <a:cs typeface="Inter Black" pitchFamily="34" charset="-120"/>
              </a:rPr>
              <a:t>Follow a Hacker for 7 Days.</a:t>
            </a:r>
            <a:endParaRPr lang="en-US" sz="2100" dirty="0"/>
          </a:p>
        </p:txBody>
      </p:sp>
      <p:sp>
        <p:nvSpPr>
          <p:cNvPr id="8" name="Text 5"/>
          <p:cNvSpPr/>
          <p:nvPr/>
        </p:nvSpPr>
        <p:spPr>
          <a:xfrm>
            <a:off x="428625" y="1114425"/>
            <a:ext cx="8286750" cy="173236"/>
          </a:xfrm>
          <a:prstGeom prst="rect">
            <a:avLst/>
          </a:prstGeom>
          <a:noFill/>
        </p:spPr>
        <p:txBody>
          <a:bodyPr wrap="square" lIns="0" tIns="0" rIns="0" bIns="0" rtlCol="0" anchor="t">
            <a:spAutoFit/>
          </a:bodyPr>
          <a:lstStyle/>
          <a:p>
            <a:pPr marL="0" indent="0" algn="l">
              <a:buNone/>
            </a:pPr>
            <a:r>
              <a:rPr lang="en-US" sz="1050" dirty="0">
                <a:solidFill>
                  <a:srgbClr val="333333"/>
                </a:solidFill>
                <a:latin typeface="Inter" pitchFamily="34" charset="0"/>
                <a:ea typeface="Inter" pitchFamily="34" charset="-122"/>
                <a:cs typeface="Inter" pitchFamily="34" charset="-120"/>
              </a:rPr>
              <a:t>This is not a movie. This happened to a real company.</a:t>
            </a:r>
            <a:endParaRPr lang="en-US" sz="1050" dirty="0"/>
          </a:p>
        </p:txBody>
      </p:sp>
      <p:sp>
        <p:nvSpPr>
          <p:cNvPr id="9" name="Shape 6"/>
          <p:cNvSpPr/>
          <p:nvPr/>
        </p:nvSpPr>
        <p:spPr>
          <a:xfrm>
            <a:off x="714375" y="1487686"/>
            <a:ext cx="300038" cy="300038"/>
          </a:xfrm>
          <a:prstGeom prst="ellipse">
            <a:avLst/>
          </a:prstGeom>
          <a:solidFill>
            <a:srgbClr val="F5C518"/>
          </a:solidFill>
        </p:spPr>
      </p:sp>
      <p:sp>
        <p:nvSpPr>
          <p:cNvPr id="10" name="Text 7"/>
          <p:cNvSpPr/>
          <p:nvPr/>
        </p:nvSpPr>
        <p:spPr>
          <a:xfrm>
            <a:off x="714375" y="1487686"/>
            <a:ext cx="300038" cy="300038"/>
          </a:xfrm>
          <a:prstGeom prst="rect">
            <a:avLst/>
          </a:prstGeom>
          <a:noFill/>
        </p:spPr>
        <p:txBody>
          <a:bodyPr wrap="none" lIns="0" tIns="0" rIns="0" bIns="0" rtlCol="0" anchor="ctr">
            <a:spAutoFit/>
          </a:bodyPr>
          <a:lstStyle/>
          <a:p>
            <a:pPr marL="0" indent="0" algn="ctr">
              <a:buNone/>
            </a:pPr>
            <a:r>
              <a:rPr lang="en-US" sz="900" b="1" dirty="0">
                <a:solidFill>
                  <a:srgbClr val="000000"/>
                </a:solidFill>
                <a:latin typeface="Inter Black" pitchFamily="34" charset="0"/>
                <a:ea typeface="Inter Black" pitchFamily="34" charset="-122"/>
                <a:cs typeface="Inter Black" pitchFamily="34" charset="-120"/>
              </a:rPr>
              <a:t>1</a:t>
            </a:r>
            <a:endParaRPr lang="en-US" sz="900" dirty="0"/>
          </a:p>
        </p:txBody>
      </p:sp>
      <p:pic>
        <p:nvPicPr>
          <p:cNvPr id="11" name="Image 1" descr="preencoded.png"/>
          <p:cNvPicPr>
            <a:picLocks noChangeAspect="1"/>
          </p:cNvPicPr>
          <p:nvPr/>
        </p:nvPicPr>
        <p:blipFill>
          <a:blip r:embed="rId2"/>
          <a:stretch>
            <a:fillRect/>
          </a:stretch>
        </p:blipFill>
        <p:spPr>
          <a:xfrm>
            <a:off x="1157288" y="1559123"/>
            <a:ext cx="214313" cy="142875"/>
          </a:xfrm>
          <a:prstGeom prst="rect">
            <a:avLst/>
          </a:prstGeom>
        </p:spPr>
      </p:pic>
      <p:sp>
        <p:nvSpPr>
          <p:cNvPr id="12" name="Text 8"/>
          <p:cNvSpPr/>
          <p:nvPr/>
        </p:nvSpPr>
        <p:spPr>
          <a:xfrm>
            <a:off x="1478756" y="1523405"/>
            <a:ext cx="4704159"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Recon</a:t>
            </a:r>
            <a:endParaRPr lang="en-US" sz="900" dirty="0"/>
          </a:p>
        </p:txBody>
      </p:sp>
      <p:sp>
        <p:nvSpPr>
          <p:cNvPr id="13" name="Text 9"/>
          <p:cNvSpPr/>
          <p:nvPr/>
        </p:nvSpPr>
        <p:spPr>
          <a:xfrm>
            <a:off x="1478756" y="1693069"/>
            <a:ext cx="4704159" cy="140001"/>
          </a:xfrm>
          <a:prstGeom prst="rect">
            <a:avLst/>
          </a:prstGeom>
          <a:noFill/>
        </p:spPr>
        <p:txBody>
          <a:bodyPr wrap="none" lIns="0" tIns="0" rIns="0" bIns="0" rtlCol="0" anchor="t">
            <a:spAutoFit/>
          </a:bodyPr>
          <a:lstStyle/>
          <a:p>
            <a:pPr marL="0" indent="0" algn="l">
              <a:lnSpc>
                <a:spcPct val="112000"/>
              </a:lnSpc>
              <a:buNone/>
            </a:pPr>
            <a:r>
              <a:rPr lang="en-US" sz="750" dirty="0">
                <a:solidFill>
                  <a:srgbClr val="666666"/>
                </a:solidFill>
                <a:latin typeface="Inter" pitchFamily="34" charset="0"/>
                <a:ea typeface="Inter" pitchFamily="34" charset="-122"/>
                <a:cs typeface="Inter" pitchFamily="34" charset="-120"/>
              </a:rPr>
              <a:t>Attacker finds IT manager on LinkedIn. Learns name, title, and email format in 20 minutes. Cost: $0.</a:t>
            </a:r>
            <a:endParaRPr lang="en-US" sz="750" dirty="0"/>
          </a:p>
        </p:txBody>
      </p:sp>
      <p:sp>
        <p:nvSpPr>
          <p:cNvPr id="14" name="Shape 10"/>
          <p:cNvSpPr/>
          <p:nvPr/>
        </p:nvSpPr>
        <p:spPr>
          <a:xfrm>
            <a:off x="714375" y="1890220"/>
            <a:ext cx="300038" cy="300038"/>
          </a:xfrm>
          <a:prstGeom prst="ellipse">
            <a:avLst/>
          </a:prstGeom>
          <a:solidFill>
            <a:srgbClr val="F5C518"/>
          </a:solidFill>
        </p:spPr>
      </p:sp>
      <p:sp>
        <p:nvSpPr>
          <p:cNvPr id="15" name="Text 11"/>
          <p:cNvSpPr/>
          <p:nvPr/>
        </p:nvSpPr>
        <p:spPr>
          <a:xfrm>
            <a:off x="714375" y="1890220"/>
            <a:ext cx="300038" cy="300038"/>
          </a:xfrm>
          <a:prstGeom prst="rect">
            <a:avLst/>
          </a:prstGeom>
          <a:noFill/>
        </p:spPr>
        <p:txBody>
          <a:bodyPr wrap="none" lIns="0" tIns="0" rIns="0" bIns="0" rtlCol="0" anchor="ctr">
            <a:spAutoFit/>
          </a:bodyPr>
          <a:lstStyle/>
          <a:p>
            <a:pPr marL="0" indent="0" algn="ctr">
              <a:buNone/>
            </a:pPr>
            <a:r>
              <a:rPr lang="en-US" sz="900" b="1" dirty="0">
                <a:solidFill>
                  <a:srgbClr val="000000"/>
                </a:solidFill>
                <a:latin typeface="Inter Black" pitchFamily="34" charset="0"/>
                <a:ea typeface="Inter Black" pitchFamily="34" charset="-122"/>
                <a:cs typeface="Inter Black" pitchFamily="34" charset="-120"/>
              </a:rPr>
              <a:t>2</a:t>
            </a:r>
            <a:endParaRPr lang="en-US" sz="900" dirty="0"/>
          </a:p>
        </p:txBody>
      </p:sp>
      <p:pic>
        <p:nvPicPr>
          <p:cNvPr id="16" name="Image 2" descr="preencoded.png"/>
          <p:cNvPicPr>
            <a:picLocks noChangeAspect="1"/>
          </p:cNvPicPr>
          <p:nvPr/>
        </p:nvPicPr>
        <p:blipFill>
          <a:blip r:embed="rId3"/>
          <a:stretch>
            <a:fillRect/>
          </a:stretch>
        </p:blipFill>
        <p:spPr>
          <a:xfrm>
            <a:off x="1157288" y="1961657"/>
            <a:ext cx="214313" cy="142875"/>
          </a:xfrm>
          <a:prstGeom prst="rect">
            <a:avLst/>
          </a:prstGeom>
        </p:spPr>
      </p:pic>
      <p:sp>
        <p:nvSpPr>
          <p:cNvPr id="17" name="Text 12"/>
          <p:cNvSpPr/>
          <p:nvPr/>
        </p:nvSpPr>
        <p:spPr>
          <a:xfrm>
            <a:off x="1478756" y="1925938"/>
            <a:ext cx="478988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Weaponization</a:t>
            </a:r>
            <a:endParaRPr lang="en-US" sz="900" dirty="0"/>
          </a:p>
        </p:txBody>
      </p:sp>
      <p:sp>
        <p:nvSpPr>
          <p:cNvPr id="18" name="Text 13"/>
          <p:cNvSpPr/>
          <p:nvPr/>
        </p:nvSpPr>
        <p:spPr>
          <a:xfrm>
            <a:off x="1478756" y="2095602"/>
            <a:ext cx="4789884" cy="140001"/>
          </a:xfrm>
          <a:prstGeom prst="rect">
            <a:avLst/>
          </a:prstGeom>
          <a:noFill/>
        </p:spPr>
        <p:txBody>
          <a:bodyPr wrap="none" lIns="0" tIns="0" rIns="0" bIns="0" rtlCol="0" anchor="t">
            <a:spAutoFit/>
          </a:bodyPr>
          <a:lstStyle/>
          <a:p>
            <a:pPr marL="0" indent="0" algn="l">
              <a:lnSpc>
                <a:spcPct val="112000"/>
              </a:lnSpc>
              <a:buNone/>
            </a:pPr>
            <a:r>
              <a:rPr lang="en-US" sz="750" dirty="0">
                <a:solidFill>
                  <a:srgbClr val="666666"/>
                </a:solidFill>
                <a:latin typeface="Inter" pitchFamily="34" charset="0"/>
                <a:ea typeface="Inter" pitchFamily="34" charset="-122"/>
                <a:cs typeface="Inter" pitchFamily="34" charset="-120"/>
              </a:rPr>
              <a:t>A fake job offer PDF crafted overnight. Looks like a real LinkedIn recruiter email with hidden malware.</a:t>
            </a:r>
            <a:endParaRPr lang="en-US" sz="750" dirty="0"/>
          </a:p>
        </p:txBody>
      </p:sp>
      <p:sp>
        <p:nvSpPr>
          <p:cNvPr id="19" name="Shape 14"/>
          <p:cNvSpPr/>
          <p:nvPr/>
        </p:nvSpPr>
        <p:spPr>
          <a:xfrm>
            <a:off x="714375" y="2292753"/>
            <a:ext cx="300038" cy="300038"/>
          </a:xfrm>
          <a:prstGeom prst="ellipse">
            <a:avLst/>
          </a:prstGeom>
          <a:solidFill>
            <a:srgbClr val="F5C518"/>
          </a:solidFill>
        </p:spPr>
      </p:sp>
      <p:sp>
        <p:nvSpPr>
          <p:cNvPr id="20" name="Text 15"/>
          <p:cNvSpPr/>
          <p:nvPr/>
        </p:nvSpPr>
        <p:spPr>
          <a:xfrm>
            <a:off x="714375" y="2292753"/>
            <a:ext cx="300038" cy="300038"/>
          </a:xfrm>
          <a:prstGeom prst="rect">
            <a:avLst/>
          </a:prstGeom>
          <a:noFill/>
        </p:spPr>
        <p:txBody>
          <a:bodyPr wrap="none" lIns="0" tIns="0" rIns="0" bIns="0" rtlCol="0" anchor="ctr">
            <a:spAutoFit/>
          </a:bodyPr>
          <a:lstStyle/>
          <a:p>
            <a:pPr marL="0" indent="0" algn="ctr">
              <a:buNone/>
            </a:pPr>
            <a:r>
              <a:rPr lang="en-US" sz="900" b="1" dirty="0">
                <a:solidFill>
                  <a:srgbClr val="000000"/>
                </a:solidFill>
                <a:latin typeface="Inter Black" pitchFamily="34" charset="0"/>
                <a:ea typeface="Inter Black" pitchFamily="34" charset="-122"/>
                <a:cs typeface="Inter Black" pitchFamily="34" charset="-120"/>
              </a:rPr>
              <a:t>3</a:t>
            </a:r>
            <a:endParaRPr lang="en-US" sz="900" dirty="0"/>
          </a:p>
        </p:txBody>
      </p:sp>
      <p:pic>
        <p:nvPicPr>
          <p:cNvPr id="21" name="Image 3" descr="preencoded.png"/>
          <p:cNvPicPr>
            <a:picLocks noChangeAspect="1"/>
          </p:cNvPicPr>
          <p:nvPr/>
        </p:nvPicPr>
        <p:blipFill>
          <a:blip r:embed="rId4"/>
          <a:stretch>
            <a:fillRect/>
          </a:stretch>
        </p:blipFill>
        <p:spPr>
          <a:xfrm>
            <a:off x="1157288" y="2364191"/>
            <a:ext cx="214313" cy="142875"/>
          </a:xfrm>
          <a:prstGeom prst="rect">
            <a:avLst/>
          </a:prstGeom>
        </p:spPr>
      </p:pic>
      <p:sp>
        <p:nvSpPr>
          <p:cNvPr id="22" name="Text 16"/>
          <p:cNvSpPr/>
          <p:nvPr/>
        </p:nvSpPr>
        <p:spPr>
          <a:xfrm>
            <a:off x="1478756" y="2328472"/>
            <a:ext cx="417909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Delivery</a:t>
            </a:r>
            <a:endParaRPr lang="en-US" sz="900" dirty="0"/>
          </a:p>
        </p:txBody>
      </p:sp>
      <p:sp>
        <p:nvSpPr>
          <p:cNvPr id="23" name="Text 17"/>
          <p:cNvSpPr/>
          <p:nvPr/>
        </p:nvSpPr>
        <p:spPr>
          <a:xfrm>
            <a:off x="1478756" y="2498136"/>
            <a:ext cx="4179094" cy="140001"/>
          </a:xfrm>
          <a:prstGeom prst="rect">
            <a:avLst/>
          </a:prstGeom>
          <a:noFill/>
        </p:spPr>
        <p:txBody>
          <a:bodyPr wrap="none" lIns="0" tIns="0" rIns="0" bIns="0" rtlCol="0" anchor="t">
            <a:spAutoFit/>
          </a:bodyPr>
          <a:lstStyle/>
          <a:p>
            <a:pPr marL="0" indent="0" algn="l">
              <a:lnSpc>
                <a:spcPct val="112000"/>
              </a:lnSpc>
              <a:buNone/>
            </a:pPr>
            <a:r>
              <a:rPr lang="en-US" sz="750" dirty="0">
                <a:solidFill>
                  <a:srgbClr val="666666"/>
                </a:solidFill>
                <a:latin typeface="Inter" pitchFamily="34" charset="0"/>
                <a:ea typeface="Inter" pitchFamily="34" charset="-122"/>
                <a:cs typeface="Inter" pitchFamily="34" charset="-120"/>
              </a:rPr>
              <a:t>Email sent at 9:02 AM Monday. Subject: "Exciting Senior Role — Your Profile Stood Out."</a:t>
            </a:r>
            <a:endParaRPr lang="en-US" sz="750" dirty="0"/>
          </a:p>
        </p:txBody>
      </p:sp>
      <p:sp>
        <p:nvSpPr>
          <p:cNvPr id="24" name="Shape 18"/>
          <p:cNvSpPr/>
          <p:nvPr/>
        </p:nvSpPr>
        <p:spPr>
          <a:xfrm>
            <a:off x="714375" y="2695287"/>
            <a:ext cx="300038" cy="300038"/>
          </a:xfrm>
          <a:prstGeom prst="ellipse">
            <a:avLst/>
          </a:prstGeom>
          <a:solidFill>
            <a:srgbClr val="F5C518"/>
          </a:solidFill>
        </p:spPr>
      </p:sp>
      <p:sp>
        <p:nvSpPr>
          <p:cNvPr id="25" name="Text 19"/>
          <p:cNvSpPr/>
          <p:nvPr/>
        </p:nvSpPr>
        <p:spPr>
          <a:xfrm>
            <a:off x="714375" y="2695287"/>
            <a:ext cx="300038" cy="300038"/>
          </a:xfrm>
          <a:prstGeom prst="rect">
            <a:avLst/>
          </a:prstGeom>
          <a:noFill/>
        </p:spPr>
        <p:txBody>
          <a:bodyPr wrap="none" lIns="0" tIns="0" rIns="0" bIns="0" rtlCol="0" anchor="ctr">
            <a:spAutoFit/>
          </a:bodyPr>
          <a:lstStyle/>
          <a:p>
            <a:pPr marL="0" indent="0" algn="ctr">
              <a:buNone/>
            </a:pPr>
            <a:r>
              <a:rPr lang="en-US" sz="900" b="1" dirty="0">
                <a:solidFill>
                  <a:srgbClr val="000000"/>
                </a:solidFill>
                <a:latin typeface="Inter Black" pitchFamily="34" charset="0"/>
                <a:ea typeface="Inter Black" pitchFamily="34" charset="-122"/>
                <a:cs typeface="Inter Black" pitchFamily="34" charset="-120"/>
              </a:rPr>
              <a:t>4</a:t>
            </a:r>
            <a:endParaRPr lang="en-US" sz="900" dirty="0"/>
          </a:p>
        </p:txBody>
      </p:sp>
      <p:pic>
        <p:nvPicPr>
          <p:cNvPr id="26" name="Image 4" descr="preencoded.png"/>
          <p:cNvPicPr>
            <a:picLocks noChangeAspect="1"/>
          </p:cNvPicPr>
          <p:nvPr/>
        </p:nvPicPr>
        <p:blipFill>
          <a:blip r:embed="rId5"/>
          <a:stretch>
            <a:fillRect/>
          </a:stretch>
        </p:blipFill>
        <p:spPr>
          <a:xfrm>
            <a:off x="1157288" y="2766724"/>
            <a:ext cx="214313" cy="142875"/>
          </a:xfrm>
          <a:prstGeom prst="rect">
            <a:avLst/>
          </a:prstGeom>
        </p:spPr>
      </p:pic>
      <p:sp>
        <p:nvSpPr>
          <p:cNvPr id="27" name="Text 20"/>
          <p:cNvSpPr/>
          <p:nvPr/>
        </p:nvSpPr>
        <p:spPr>
          <a:xfrm>
            <a:off x="1478756" y="2731005"/>
            <a:ext cx="526494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Exploitation</a:t>
            </a:r>
            <a:endParaRPr lang="en-US" sz="900" dirty="0"/>
          </a:p>
        </p:txBody>
      </p:sp>
      <p:sp>
        <p:nvSpPr>
          <p:cNvPr id="28" name="Text 21"/>
          <p:cNvSpPr/>
          <p:nvPr/>
        </p:nvSpPr>
        <p:spPr>
          <a:xfrm>
            <a:off x="1478756" y="2900669"/>
            <a:ext cx="5264944" cy="140001"/>
          </a:xfrm>
          <a:prstGeom prst="rect">
            <a:avLst/>
          </a:prstGeom>
          <a:noFill/>
        </p:spPr>
        <p:txBody>
          <a:bodyPr wrap="none" lIns="0" tIns="0" rIns="0" bIns="0" rtlCol="0" anchor="t">
            <a:spAutoFit/>
          </a:bodyPr>
          <a:lstStyle/>
          <a:p>
            <a:pPr marL="0" indent="0" algn="l">
              <a:lnSpc>
                <a:spcPct val="112000"/>
              </a:lnSpc>
              <a:buNone/>
            </a:pPr>
            <a:r>
              <a:rPr lang="en-US" sz="750" dirty="0">
                <a:solidFill>
                  <a:srgbClr val="666666"/>
                </a:solidFill>
                <a:latin typeface="Inter" pitchFamily="34" charset="0"/>
                <a:ea typeface="Inter" pitchFamily="34" charset="-122"/>
                <a:cs typeface="Inter" pitchFamily="34" charset="-120"/>
              </a:rPr>
              <a:t>IT manager opens PDF at 9:17 AM. Malware executes silently. He sees nothing wrong. Everything looks normal.</a:t>
            </a:r>
            <a:endParaRPr lang="en-US" sz="750" dirty="0"/>
          </a:p>
        </p:txBody>
      </p:sp>
      <p:sp>
        <p:nvSpPr>
          <p:cNvPr id="29" name="Shape 22"/>
          <p:cNvSpPr/>
          <p:nvPr/>
        </p:nvSpPr>
        <p:spPr>
          <a:xfrm>
            <a:off x="714375" y="3097820"/>
            <a:ext cx="300038" cy="300038"/>
          </a:xfrm>
          <a:prstGeom prst="ellipse">
            <a:avLst/>
          </a:prstGeom>
          <a:solidFill>
            <a:srgbClr val="F5C518"/>
          </a:solidFill>
        </p:spPr>
      </p:sp>
      <p:sp>
        <p:nvSpPr>
          <p:cNvPr id="30" name="Text 23"/>
          <p:cNvSpPr/>
          <p:nvPr/>
        </p:nvSpPr>
        <p:spPr>
          <a:xfrm>
            <a:off x="714375" y="3097820"/>
            <a:ext cx="300038" cy="300038"/>
          </a:xfrm>
          <a:prstGeom prst="rect">
            <a:avLst/>
          </a:prstGeom>
          <a:noFill/>
        </p:spPr>
        <p:txBody>
          <a:bodyPr wrap="none" lIns="0" tIns="0" rIns="0" bIns="0" rtlCol="0" anchor="ctr">
            <a:spAutoFit/>
          </a:bodyPr>
          <a:lstStyle/>
          <a:p>
            <a:pPr marL="0" indent="0" algn="ctr">
              <a:buNone/>
            </a:pPr>
            <a:r>
              <a:rPr lang="en-US" sz="900" b="1" dirty="0">
                <a:solidFill>
                  <a:srgbClr val="000000"/>
                </a:solidFill>
                <a:latin typeface="Inter Black" pitchFamily="34" charset="0"/>
                <a:ea typeface="Inter Black" pitchFamily="34" charset="-122"/>
                <a:cs typeface="Inter Black" pitchFamily="34" charset="-120"/>
              </a:rPr>
              <a:t>5</a:t>
            </a:r>
            <a:endParaRPr lang="en-US" sz="900" dirty="0"/>
          </a:p>
        </p:txBody>
      </p:sp>
      <p:pic>
        <p:nvPicPr>
          <p:cNvPr id="31" name="Image 5" descr="preencoded.png"/>
          <p:cNvPicPr>
            <a:picLocks noChangeAspect="1"/>
          </p:cNvPicPr>
          <p:nvPr/>
        </p:nvPicPr>
        <p:blipFill>
          <a:blip r:embed="rId6"/>
          <a:stretch>
            <a:fillRect/>
          </a:stretch>
        </p:blipFill>
        <p:spPr>
          <a:xfrm>
            <a:off x="1184077" y="3183545"/>
            <a:ext cx="160734" cy="142875"/>
          </a:xfrm>
          <a:prstGeom prst="rect">
            <a:avLst/>
          </a:prstGeom>
        </p:spPr>
      </p:pic>
      <p:sp>
        <p:nvSpPr>
          <p:cNvPr id="32" name="Text 24"/>
          <p:cNvSpPr/>
          <p:nvPr/>
        </p:nvSpPr>
        <p:spPr>
          <a:xfrm>
            <a:off x="1478756" y="3133539"/>
            <a:ext cx="4939903"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Persistence</a:t>
            </a:r>
            <a:endParaRPr lang="en-US" sz="900" dirty="0"/>
          </a:p>
        </p:txBody>
      </p:sp>
      <p:sp>
        <p:nvSpPr>
          <p:cNvPr id="33" name="Text 25"/>
          <p:cNvSpPr/>
          <p:nvPr/>
        </p:nvSpPr>
        <p:spPr>
          <a:xfrm>
            <a:off x="1478756" y="3303203"/>
            <a:ext cx="4939903" cy="140001"/>
          </a:xfrm>
          <a:prstGeom prst="rect">
            <a:avLst/>
          </a:prstGeom>
          <a:noFill/>
        </p:spPr>
        <p:txBody>
          <a:bodyPr wrap="none" lIns="0" tIns="0" rIns="0" bIns="0" rtlCol="0" anchor="t">
            <a:spAutoFit/>
          </a:bodyPr>
          <a:lstStyle/>
          <a:p>
            <a:pPr marL="0" indent="0" algn="l">
              <a:lnSpc>
                <a:spcPct val="112000"/>
              </a:lnSpc>
              <a:buNone/>
            </a:pPr>
            <a:r>
              <a:rPr lang="en-US" sz="750" dirty="0">
                <a:solidFill>
                  <a:srgbClr val="666666"/>
                </a:solidFill>
                <a:latin typeface="Inter" pitchFamily="34" charset="0"/>
                <a:ea typeface="Inter" pitchFamily="34" charset="-122"/>
                <a:cs typeface="Inter" pitchFamily="34" charset="-120"/>
              </a:rPr>
              <a:t>Backdoor plants itself in Windows startup folder. Survives every reboot. Attacker has permanent access.</a:t>
            </a:r>
            <a:endParaRPr lang="en-US" sz="750" dirty="0"/>
          </a:p>
        </p:txBody>
      </p:sp>
      <p:sp>
        <p:nvSpPr>
          <p:cNvPr id="34" name="Shape 26"/>
          <p:cNvSpPr/>
          <p:nvPr/>
        </p:nvSpPr>
        <p:spPr>
          <a:xfrm>
            <a:off x="714375" y="3500354"/>
            <a:ext cx="300038" cy="300038"/>
          </a:xfrm>
          <a:prstGeom prst="ellipse">
            <a:avLst/>
          </a:prstGeom>
          <a:solidFill>
            <a:srgbClr val="F5C518"/>
          </a:solidFill>
        </p:spPr>
      </p:sp>
      <p:sp>
        <p:nvSpPr>
          <p:cNvPr id="35" name="Text 27"/>
          <p:cNvSpPr/>
          <p:nvPr/>
        </p:nvSpPr>
        <p:spPr>
          <a:xfrm>
            <a:off x="714375" y="3500354"/>
            <a:ext cx="300038" cy="300038"/>
          </a:xfrm>
          <a:prstGeom prst="rect">
            <a:avLst/>
          </a:prstGeom>
          <a:noFill/>
        </p:spPr>
        <p:txBody>
          <a:bodyPr wrap="none" lIns="0" tIns="0" rIns="0" bIns="0" rtlCol="0" anchor="ctr">
            <a:spAutoFit/>
          </a:bodyPr>
          <a:lstStyle/>
          <a:p>
            <a:pPr marL="0" indent="0" algn="ctr">
              <a:buNone/>
            </a:pPr>
            <a:r>
              <a:rPr lang="en-US" sz="900" b="1" dirty="0">
                <a:solidFill>
                  <a:srgbClr val="000000"/>
                </a:solidFill>
                <a:latin typeface="Inter Black" pitchFamily="34" charset="0"/>
                <a:ea typeface="Inter Black" pitchFamily="34" charset="-122"/>
                <a:cs typeface="Inter Black" pitchFamily="34" charset="-120"/>
              </a:rPr>
              <a:t>6</a:t>
            </a:r>
            <a:endParaRPr lang="en-US" sz="900" dirty="0"/>
          </a:p>
        </p:txBody>
      </p:sp>
      <p:pic>
        <p:nvPicPr>
          <p:cNvPr id="36" name="Image 6" descr="preencoded.png"/>
          <p:cNvPicPr>
            <a:picLocks noChangeAspect="1"/>
          </p:cNvPicPr>
          <p:nvPr/>
        </p:nvPicPr>
        <p:blipFill>
          <a:blip r:embed="rId7"/>
          <a:stretch>
            <a:fillRect/>
          </a:stretch>
        </p:blipFill>
        <p:spPr>
          <a:xfrm>
            <a:off x="1157288" y="3571791"/>
            <a:ext cx="214313" cy="142875"/>
          </a:xfrm>
          <a:prstGeom prst="rect">
            <a:avLst/>
          </a:prstGeom>
        </p:spPr>
      </p:pic>
      <p:sp>
        <p:nvSpPr>
          <p:cNvPr id="37" name="Text 28"/>
          <p:cNvSpPr/>
          <p:nvPr/>
        </p:nvSpPr>
        <p:spPr>
          <a:xfrm>
            <a:off x="1478756" y="3536073"/>
            <a:ext cx="4707731"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Lateral Movement</a:t>
            </a:r>
            <a:endParaRPr lang="en-US" sz="900" dirty="0"/>
          </a:p>
        </p:txBody>
      </p:sp>
      <p:sp>
        <p:nvSpPr>
          <p:cNvPr id="38" name="Text 29"/>
          <p:cNvSpPr/>
          <p:nvPr/>
        </p:nvSpPr>
        <p:spPr>
          <a:xfrm>
            <a:off x="1478756" y="3705737"/>
            <a:ext cx="4707731" cy="140001"/>
          </a:xfrm>
          <a:prstGeom prst="rect">
            <a:avLst/>
          </a:prstGeom>
          <a:noFill/>
        </p:spPr>
        <p:txBody>
          <a:bodyPr wrap="none" lIns="0" tIns="0" rIns="0" bIns="0" rtlCol="0" anchor="t">
            <a:spAutoFit/>
          </a:bodyPr>
          <a:lstStyle/>
          <a:p>
            <a:pPr marL="0" indent="0" algn="l">
              <a:lnSpc>
                <a:spcPct val="112000"/>
              </a:lnSpc>
              <a:buNone/>
            </a:pPr>
            <a:r>
              <a:rPr lang="en-US" sz="750" dirty="0">
                <a:solidFill>
                  <a:srgbClr val="666666"/>
                </a:solidFill>
                <a:latin typeface="Inter" pitchFamily="34" charset="0"/>
                <a:ea typeface="Inter" pitchFamily="34" charset="-122"/>
                <a:cs typeface="Inter" pitchFamily="34" charset="-120"/>
              </a:rPr>
              <a:t>Attacker moves from IT manager's PC to finance server, then HR database, then CEO email archive.</a:t>
            </a:r>
            <a:endParaRPr lang="en-US" sz="750" dirty="0"/>
          </a:p>
        </p:txBody>
      </p:sp>
      <p:sp>
        <p:nvSpPr>
          <p:cNvPr id="39" name="Shape 30"/>
          <p:cNvSpPr/>
          <p:nvPr/>
        </p:nvSpPr>
        <p:spPr>
          <a:xfrm>
            <a:off x="714375" y="3902887"/>
            <a:ext cx="300038" cy="300038"/>
          </a:xfrm>
          <a:prstGeom prst="ellipse">
            <a:avLst/>
          </a:prstGeom>
          <a:solidFill>
            <a:srgbClr val="F5C518"/>
          </a:solidFill>
        </p:spPr>
      </p:sp>
      <p:sp>
        <p:nvSpPr>
          <p:cNvPr id="40" name="Text 31"/>
          <p:cNvSpPr/>
          <p:nvPr/>
        </p:nvSpPr>
        <p:spPr>
          <a:xfrm>
            <a:off x="714375" y="3902887"/>
            <a:ext cx="300038" cy="300038"/>
          </a:xfrm>
          <a:prstGeom prst="rect">
            <a:avLst/>
          </a:prstGeom>
          <a:noFill/>
        </p:spPr>
        <p:txBody>
          <a:bodyPr wrap="none" lIns="0" tIns="0" rIns="0" bIns="0" rtlCol="0" anchor="ctr">
            <a:spAutoFit/>
          </a:bodyPr>
          <a:lstStyle/>
          <a:p>
            <a:pPr marL="0" indent="0" algn="ctr">
              <a:buNone/>
            </a:pPr>
            <a:r>
              <a:rPr lang="en-US" sz="900" b="1" dirty="0">
                <a:solidFill>
                  <a:srgbClr val="000000"/>
                </a:solidFill>
                <a:latin typeface="Inter Black" pitchFamily="34" charset="0"/>
                <a:ea typeface="Inter Black" pitchFamily="34" charset="-122"/>
                <a:cs typeface="Inter Black" pitchFamily="34" charset="-120"/>
              </a:rPr>
              <a:t>7</a:t>
            </a:r>
            <a:endParaRPr lang="en-US" sz="900" dirty="0"/>
          </a:p>
        </p:txBody>
      </p:sp>
      <p:pic>
        <p:nvPicPr>
          <p:cNvPr id="41" name="Image 7" descr="preencoded.png"/>
          <p:cNvPicPr>
            <a:picLocks noChangeAspect="1"/>
          </p:cNvPicPr>
          <p:nvPr/>
        </p:nvPicPr>
        <p:blipFill>
          <a:blip r:embed="rId8"/>
          <a:stretch>
            <a:fillRect/>
          </a:stretch>
        </p:blipFill>
        <p:spPr>
          <a:xfrm>
            <a:off x="1157288" y="3974325"/>
            <a:ext cx="214313" cy="142875"/>
          </a:xfrm>
          <a:prstGeom prst="rect">
            <a:avLst/>
          </a:prstGeom>
        </p:spPr>
      </p:pic>
      <p:sp>
        <p:nvSpPr>
          <p:cNvPr id="42" name="Text 32"/>
          <p:cNvSpPr/>
          <p:nvPr/>
        </p:nvSpPr>
        <p:spPr>
          <a:xfrm>
            <a:off x="1478756" y="3938606"/>
            <a:ext cx="4716661"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Exfiltration</a:t>
            </a:r>
            <a:endParaRPr lang="en-US" sz="900" dirty="0"/>
          </a:p>
        </p:txBody>
      </p:sp>
      <p:sp>
        <p:nvSpPr>
          <p:cNvPr id="43" name="Text 33"/>
          <p:cNvSpPr/>
          <p:nvPr/>
        </p:nvSpPr>
        <p:spPr>
          <a:xfrm>
            <a:off x="1478756" y="4108270"/>
            <a:ext cx="4716661" cy="140001"/>
          </a:xfrm>
          <a:prstGeom prst="rect">
            <a:avLst/>
          </a:prstGeom>
          <a:noFill/>
        </p:spPr>
        <p:txBody>
          <a:bodyPr wrap="none" lIns="0" tIns="0" rIns="0" bIns="0" rtlCol="0" anchor="t">
            <a:spAutoFit/>
          </a:bodyPr>
          <a:lstStyle/>
          <a:p>
            <a:pPr marL="0" indent="0" algn="l">
              <a:lnSpc>
                <a:spcPct val="112000"/>
              </a:lnSpc>
              <a:buNone/>
            </a:pPr>
            <a:r>
              <a:rPr lang="en-US" sz="750" dirty="0">
                <a:solidFill>
                  <a:srgbClr val="666666"/>
                </a:solidFill>
                <a:latin typeface="Inter" pitchFamily="34" charset="0"/>
                <a:ea typeface="Inter" pitchFamily="34" charset="-122"/>
                <a:cs typeface="Inter" pitchFamily="34" charset="-120"/>
              </a:rPr>
              <a:t>47 gigabytes of customer data leave the network silently. Company discovers breach 3 weeks later.</a:t>
            </a:r>
            <a:endParaRPr lang="en-US" sz="750" dirty="0"/>
          </a:p>
        </p:txBody>
      </p:sp>
      <p:sp>
        <p:nvSpPr>
          <p:cNvPr id="44" name="Text 34"/>
          <p:cNvSpPr/>
          <p:nvPr/>
        </p:nvSpPr>
        <p:spPr>
          <a:xfrm>
            <a:off x="2912864" y="4333996"/>
            <a:ext cx="3318272" cy="383977"/>
          </a:xfrm>
          <a:prstGeom prst="rect">
            <a:avLst/>
          </a:prstGeom>
          <a:noFill/>
        </p:spPr>
        <p:txBody>
          <a:bodyPr wrap="square" lIns="170053" tIns="127508" rIns="170053" bIns="127508" rtlCol="0" anchor="t">
            <a:spAutoFit/>
          </a:bodyPr>
          <a:lstStyle/>
          <a:p>
            <a:pPr marL="0" indent="0" algn="ctr">
              <a:buNone/>
            </a:pPr>
            <a:r>
              <a:rPr lang="en-US" sz="900" b="1" i="1" dirty="0">
                <a:solidFill>
                  <a:srgbClr val="000000"/>
                </a:solidFill>
                <a:latin typeface="Inter Bold" pitchFamily="34" charset="0"/>
                <a:ea typeface="Inter Bold" pitchFamily="34" charset="-122"/>
                <a:cs typeface="Inter Bold" pitchFamily="34" charset="-120"/>
              </a:rPr>
              <a:t>"The IT manager still does not know it was him."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211741" y="4018359"/>
            <a:ext cx="646509" cy="553641"/>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04</a:t>
            </a:r>
            <a:endParaRPr lang="en-US" sz="3300" dirty="0"/>
          </a:p>
        </p:txBody>
      </p:sp>
      <p:sp>
        <p:nvSpPr>
          <p:cNvPr id="7" name="Text 4"/>
          <p:cNvSpPr/>
          <p:nvPr/>
        </p:nvSpPr>
        <p:spPr>
          <a:xfrm>
            <a:off x="571500" y="714375"/>
            <a:ext cx="8001000" cy="414338"/>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Black" pitchFamily="34" charset="0"/>
                <a:ea typeface="Inter Black" pitchFamily="34" charset="-122"/>
                <a:cs typeface="Inter Black" pitchFamily="34" charset="-120"/>
              </a:rPr>
              <a:t>Before MITRE, Defenders Were Blind.</a:t>
            </a:r>
            <a:endParaRPr lang="en-US" sz="2450" dirty="0"/>
          </a:p>
        </p:txBody>
      </p:sp>
      <p:pic>
        <p:nvPicPr>
          <p:cNvPr id="8" name="Image 1" descr="preencoded.png"/>
          <p:cNvPicPr>
            <a:picLocks noChangeAspect="1"/>
          </p:cNvPicPr>
          <p:nvPr/>
        </p:nvPicPr>
        <p:blipFill>
          <a:blip r:embed="rId2"/>
          <a:stretch>
            <a:fillRect/>
          </a:stretch>
        </p:blipFill>
        <p:spPr>
          <a:xfrm>
            <a:off x="571500" y="1414463"/>
            <a:ext cx="285750" cy="228600"/>
          </a:xfrm>
          <a:prstGeom prst="rect">
            <a:avLst/>
          </a:prstGeom>
        </p:spPr>
      </p:pic>
      <p:sp>
        <p:nvSpPr>
          <p:cNvPr id="9" name="Text 5"/>
          <p:cNvSpPr/>
          <p:nvPr/>
        </p:nvSpPr>
        <p:spPr>
          <a:xfrm>
            <a:off x="571500" y="1785938"/>
            <a:ext cx="2476509" cy="189309"/>
          </a:xfrm>
          <a:prstGeom prst="rect">
            <a:avLst/>
          </a:prstGeom>
          <a:noFill/>
        </p:spPr>
        <p:txBody>
          <a:bodyPr wrap="square" lIns="0" tIns="0" rIns="0" bIns="0" rtlCol="0" anchor="t">
            <a:spAutoFit/>
          </a:bodyPr>
          <a:lstStyle/>
          <a:p>
            <a:pPr marL="0" indent="0" algn="l">
              <a:buNone/>
            </a:pPr>
            <a:r>
              <a:rPr lang="en-US" sz="1100" b="1" kern="0" spc="1" dirty="0">
                <a:solidFill>
                  <a:srgbClr val="000000"/>
                </a:solidFill>
                <a:latin typeface="Inter Bold" pitchFamily="34" charset="0"/>
                <a:ea typeface="Inter Bold" pitchFamily="34" charset="-122"/>
                <a:cs typeface="Inter Bold" pitchFamily="34" charset="-120"/>
              </a:rPr>
              <a:t>BEFORE 2013</a:t>
            </a:r>
            <a:endParaRPr lang="en-US" sz="1100" dirty="0"/>
          </a:p>
        </p:txBody>
      </p:sp>
      <p:sp>
        <p:nvSpPr>
          <p:cNvPr id="10" name="Text 6"/>
          <p:cNvSpPr/>
          <p:nvPr/>
        </p:nvSpPr>
        <p:spPr>
          <a:xfrm>
            <a:off x="571500" y="2082403"/>
            <a:ext cx="2476509" cy="685800"/>
          </a:xfrm>
          <a:prstGeom prst="rect">
            <a:avLst/>
          </a:prstGeom>
          <a:noFill/>
        </p:spPr>
        <p:txBody>
          <a:bodyPr wrap="square" lIns="0" tIns="0" rIns="0" bIns="0" rtlCol="0" anchor="t">
            <a:spAutoFit/>
          </a:bodyPr>
          <a:lstStyle/>
          <a:p>
            <a:pPr marL="0" indent="0" algn="l">
              <a:lnSpc>
                <a:spcPct val="128000"/>
              </a:lnSpc>
              <a:buNone/>
            </a:pPr>
            <a:r>
              <a:rPr lang="en-US" sz="800" dirty="0">
                <a:solidFill>
                  <a:srgbClr val="333333"/>
                </a:solidFill>
                <a:latin typeface="Inter" pitchFamily="34" charset="0"/>
                <a:ea typeface="Inter" pitchFamily="34" charset="-122"/>
                <a:cs typeface="Inter" pitchFamily="34" charset="-120"/>
              </a:rPr>
              <a:t>Every company described the same attack with different names. No shared language. A technique called "Pass the Hash" had 14 different names across 14 vendors.</a:t>
            </a:r>
            <a:endParaRPr lang="en-US" sz="800" dirty="0"/>
          </a:p>
        </p:txBody>
      </p:sp>
      <p:sp>
        <p:nvSpPr>
          <p:cNvPr id="11" name="Shape 7"/>
          <p:cNvSpPr/>
          <p:nvPr/>
        </p:nvSpPr>
        <p:spPr>
          <a:xfrm>
            <a:off x="3183741" y="1549803"/>
            <a:ext cx="7144" cy="1082976"/>
          </a:xfrm>
          <a:prstGeom prst="rect">
            <a:avLst/>
          </a:prstGeom>
          <a:solidFill>
            <a:srgbClr val="000000"/>
          </a:solidFill>
        </p:spPr>
      </p:sp>
      <p:pic>
        <p:nvPicPr>
          <p:cNvPr id="12" name="Image 2" descr="preencoded.png"/>
          <p:cNvPicPr>
            <a:picLocks noChangeAspect="1"/>
          </p:cNvPicPr>
          <p:nvPr/>
        </p:nvPicPr>
        <p:blipFill>
          <a:blip r:embed="rId3"/>
          <a:stretch>
            <a:fillRect/>
          </a:stretch>
        </p:blipFill>
        <p:spPr>
          <a:xfrm>
            <a:off x="3333759" y="1414463"/>
            <a:ext cx="228600" cy="228600"/>
          </a:xfrm>
          <a:prstGeom prst="rect">
            <a:avLst/>
          </a:prstGeom>
        </p:spPr>
      </p:pic>
      <p:sp>
        <p:nvSpPr>
          <p:cNvPr id="13" name="Text 8"/>
          <p:cNvSpPr/>
          <p:nvPr/>
        </p:nvSpPr>
        <p:spPr>
          <a:xfrm>
            <a:off x="3333759" y="1785938"/>
            <a:ext cx="2476509" cy="189309"/>
          </a:xfrm>
          <a:prstGeom prst="rect">
            <a:avLst/>
          </a:prstGeom>
          <a:noFill/>
        </p:spPr>
        <p:txBody>
          <a:bodyPr wrap="square" lIns="0" tIns="0" rIns="0" bIns="0" rtlCol="0" anchor="t">
            <a:spAutoFit/>
          </a:bodyPr>
          <a:lstStyle/>
          <a:p>
            <a:pPr marL="0" indent="0" algn="l">
              <a:buNone/>
            </a:pPr>
            <a:r>
              <a:rPr lang="en-US" sz="1100" b="1" kern="0" spc="1" dirty="0">
                <a:solidFill>
                  <a:srgbClr val="000000"/>
                </a:solidFill>
                <a:latin typeface="Inter Bold" pitchFamily="34" charset="0"/>
                <a:ea typeface="Inter Bold" pitchFamily="34" charset="-122"/>
                <a:cs typeface="Inter Bold" pitchFamily="34" charset="-120"/>
              </a:rPr>
              <a:t>THE PROBLEM</a:t>
            </a:r>
            <a:endParaRPr lang="en-US" sz="1100" dirty="0"/>
          </a:p>
        </p:txBody>
      </p:sp>
      <p:sp>
        <p:nvSpPr>
          <p:cNvPr id="14" name="Text 9"/>
          <p:cNvSpPr/>
          <p:nvPr/>
        </p:nvSpPr>
        <p:spPr>
          <a:xfrm>
            <a:off x="3333759" y="2082403"/>
            <a:ext cx="2476509" cy="685800"/>
          </a:xfrm>
          <a:prstGeom prst="rect">
            <a:avLst/>
          </a:prstGeom>
          <a:noFill/>
        </p:spPr>
        <p:txBody>
          <a:bodyPr wrap="square" lIns="0" tIns="0" rIns="0" bIns="0" rtlCol="0" anchor="t">
            <a:spAutoFit/>
          </a:bodyPr>
          <a:lstStyle/>
          <a:p>
            <a:pPr marL="0" indent="0" algn="l">
              <a:lnSpc>
                <a:spcPct val="128000"/>
              </a:lnSpc>
              <a:buNone/>
            </a:pPr>
            <a:r>
              <a:rPr lang="en-US" sz="800" dirty="0">
                <a:solidFill>
                  <a:srgbClr val="333333"/>
                </a:solidFill>
                <a:latin typeface="Inter" pitchFamily="34" charset="0"/>
                <a:ea typeface="Inter" pitchFamily="34" charset="-122"/>
                <a:cs typeface="Inter" pitchFamily="34" charset="-120"/>
              </a:rPr>
              <a:t>One attack, zero coordination. When an attacker hit 50 companies, each investigated independently, wasting billions duplicating work and building separate defenses.</a:t>
            </a:r>
            <a:endParaRPr lang="en-US" sz="800" dirty="0"/>
          </a:p>
        </p:txBody>
      </p:sp>
      <p:sp>
        <p:nvSpPr>
          <p:cNvPr id="15" name="Shape 10"/>
          <p:cNvSpPr/>
          <p:nvPr/>
        </p:nvSpPr>
        <p:spPr>
          <a:xfrm>
            <a:off x="5946000" y="1549803"/>
            <a:ext cx="7144" cy="1082976"/>
          </a:xfrm>
          <a:prstGeom prst="rect">
            <a:avLst/>
          </a:prstGeom>
          <a:solidFill>
            <a:srgbClr val="000000"/>
          </a:solidFill>
        </p:spPr>
      </p:sp>
      <p:pic>
        <p:nvPicPr>
          <p:cNvPr id="16" name="Image 3" descr="preencoded.png"/>
          <p:cNvPicPr>
            <a:picLocks noChangeAspect="1"/>
          </p:cNvPicPr>
          <p:nvPr/>
        </p:nvPicPr>
        <p:blipFill>
          <a:blip r:embed="rId4"/>
          <a:stretch>
            <a:fillRect/>
          </a:stretch>
        </p:blipFill>
        <p:spPr>
          <a:xfrm>
            <a:off x="6096019" y="1414463"/>
            <a:ext cx="228600" cy="228600"/>
          </a:xfrm>
          <a:prstGeom prst="rect">
            <a:avLst/>
          </a:prstGeom>
        </p:spPr>
      </p:pic>
      <p:sp>
        <p:nvSpPr>
          <p:cNvPr id="17" name="Text 11"/>
          <p:cNvSpPr/>
          <p:nvPr/>
        </p:nvSpPr>
        <p:spPr>
          <a:xfrm>
            <a:off x="6096019" y="1785938"/>
            <a:ext cx="2476509" cy="189309"/>
          </a:xfrm>
          <a:prstGeom prst="rect">
            <a:avLst/>
          </a:prstGeom>
          <a:noFill/>
        </p:spPr>
        <p:txBody>
          <a:bodyPr wrap="square" lIns="0" tIns="0" rIns="0" bIns="0" rtlCol="0" anchor="t">
            <a:spAutoFit/>
          </a:bodyPr>
          <a:lstStyle/>
          <a:p>
            <a:pPr marL="0" indent="0" algn="l">
              <a:buNone/>
            </a:pPr>
            <a:r>
              <a:rPr lang="en-US" sz="1100" b="1" kern="0" spc="1" dirty="0">
                <a:solidFill>
                  <a:srgbClr val="000000"/>
                </a:solidFill>
                <a:latin typeface="Inter Bold" pitchFamily="34" charset="0"/>
                <a:ea typeface="Inter Bold" pitchFamily="34" charset="-122"/>
                <a:cs typeface="Inter Bold" pitchFamily="34" charset="-120"/>
              </a:rPr>
              <a:t>AFTER ATT&amp;CK</a:t>
            </a:r>
            <a:endParaRPr lang="en-US" sz="1100" dirty="0"/>
          </a:p>
        </p:txBody>
      </p:sp>
      <p:sp>
        <p:nvSpPr>
          <p:cNvPr id="18" name="Text 12"/>
          <p:cNvSpPr/>
          <p:nvPr/>
        </p:nvSpPr>
        <p:spPr>
          <a:xfrm>
            <a:off x="6096019" y="2082403"/>
            <a:ext cx="2476509" cy="685800"/>
          </a:xfrm>
          <a:prstGeom prst="rect">
            <a:avLst/>
          </a:prstGeom>
          <a:noFill/>
        </p:spPr>
        <p:txBody>
          <a:bodyPr wrap="square" lIns="0" tIns="0" rIns="0" bIns="0" rtlCol="0" anchor="t">
            <a:spAutoFit/>
          </a:bodyPr>
          <a:lstStyle/>
          <a:p>
            <a:pPr marL="0" indent="0" algn="l">
              <a:lnSpc>
                <a:spcPct val="128000"/>
              </a:lnSpc>
              <a:buNone/>
            </a:pPr>
            <a:r>
              <a:rPr lang="en-US" sz="800" dirty="0">
                <a:solidFill>
                  <a:srgbClr val="333333"/>
                </a:solidFill>
                <a:latin typeface="Inter" pitchFamily="34" charset="0"/>
                <a:ea typeface="Inter" pitchFamily="34" charset="-122"/>
                <a:cs typeface="Inter" pitchFamily="34" charset="-120"/>
              </a:rPr>
              <a:t>One universal dictionary for attacker behavior. Same technique name everywhere. FBI, NSA, and banks in 140 countries now speak the same language.</a:t>
            </a:r>
            <a:endParaRPr lang="en-US" sz="800" dirty="0"/>
          </a:p>
        </p:txBody>
      </p:sp>
      <p:sp>
        <p:nvSpPr>
          <p:cNvPr id="19" name="Text 13"/>
          <p:cNvSpPr/>
          <p:nvPr/>
        </p:nvSpPr>
        <p:spPr>
          <a:xfrm>
            <a:off x="571500" y="3353991"/>
            <a:ext cx="2666991" cy="414338"/>
          </a:xfrm>
          <a:prstGeom prst="rect">
            <a:avLst/>
          </a:prstGeom>
          <a:noFill/>
        </p:spPr>
        <p:txBody>
          <a:bodyPr wrap="square" lIns="0" tIns="0" rIns="0" bIns="0" rtlCol="0" anchor="t">
            <a:spAutoFit/>
          </a:bodyPr>
          <a:lstStyle/>
          <a:p>
            <a:pPr marL="0" indent="0" algn="ctr">
              <a:buNone/>
            </a:pPr>
            <a:r>
              <a:rPr lang="en-US" sz="2450" b="1" dirty="0">
                <a:solidFill>
                  <a:srgbClr val="F5C518"/>
                </a:solidFill>
                <a:latin typeface="Inter Black" pitchFamily="34" charset="0"/>
                <a:ea typeface="Inter Black" pitchFamily="34" charset="-122"/>
                <a:cs typeface="Inter Black" pitchFamily="34" charset="-120"/>
              </a:rPr>
              <a:t>14,000+</a:t>
            </a:r>
            <a:endParaRPr lang="en-US" sz="2450" dirty="0"/>
          </a:p>
        </p:txBody>
      </p:sp>
      <p:sp>
        <p:nvSpPr>
          <p:cNvPr id="20" name="Text 14"/>
          <p:cNvSpPr/>
          <p:nvPr/>
        </p:nvSpPr>
        <p:spPr>
          <a:xfrm>
            <a:off x="571500" y="3804047"/>
            <a:ext cx="2666991" cy="121444"/>
          </a:xfrm>
          <a:prstGeom prst="rect">
            <a:avLst/>
          </a:prstGeom>
          <a:noFill/>
        </p:spPr>
        <p:txBody>
          <a:bodyPr wrap="square" lIns="0" tIns="0" rIns="0" bIns="0" rtlCol="0" anchor="t">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ORGANIZATIONS GLOBALLY</a:t>
            </a:r>
            <a:endParaRPr lang="en-US" sz="700" dirty="0"/>
          </a:p>
        </p:txBody>
      </p:sp>
      <p:sp>
        <p:nvSpPr>
          <p:cNvPr id="21" name="Text 15"/>
          <p:cNvSpPr/>
          <p:nvPr/>
        </p:nvSpPr>
        <p:spPr>
          <a:xfrm>
            <a:off x="3238491" y="3353991"/>
            <a:ext cx="2666991" cy="414338"/>
          </a:xfrm>
          <a:prstGeom prst="rect">
            <a:avLst/>
          </a:prstGeom>
          <a:noFill/>
        </p:spPr>
        <p:txBody>
          <a:bodyPr wrap="square" lIns="0" tIns="0" rIns="0" bIns="0" rtlCol="0" anchor="t">
            <a:spAutoFit/>
          </a:bodyPr>
          <a:lstStyle/>
          <a:p>
            <a:pPr marL="0" indent="0" algn="ctr">
              <a:buNone/>
            </a:pPr>
            <a:r>
              <a:rPr lang="en-US" sz="2450" b="1" dirty="0">
                <a:solidFill>
                  <a:srgbClr val="F5C518"/>
                </a:solidFill>
                <a:latin typeface="Inter Black" pitchFamily="34" charset="0"/>
                <a:ea typeface="Inter Black" pitchFamily="34" charset="-122"/>
                <a:cs typeface="Inter Black" pitchFamily="34" charset="-120"/>
              </a:rPr>
              <a:t>140+</a:t>
            </a:r>
            <a:endParaRPr lang="en-US" sz="2450" dirty="0"/>
          </a:p>
        </p:txBody>
      </p:sp>
      <p:sp>
        <p:nvSpPr>
          <p:cNvPr id="22" name="Text 16"/>
          <p:cNvSpPr/>
          <p:nvPr/>
        </p:nvSpPr>
        <p:spPr>
          <a:xfrm>
            <a:off x="3238491" y="3804047"/>
            <a:ext cx="2666991" cy="121444"/>
          </a:xfrm>
          <a:prstGeom prst="rect">
            <a:avLst/>
          </a:prstGeom>
          <a:noFill/>
        </p:spPr>
        <p:txBody>
          <a:bodyPr wrap="square" lIns="0" tIns="0" rIns="0" bIns="0" rtlCol="0" anchor="t">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COUNTRIES REACHED</a:t>
            </a:r>
            <a:endParaRPr lang="en-US" sz="700" dirty="0"/>
          </a:p>
        </p:txBody>
      </p:sp>
      <p:sp>
        <p:nvSpPr>
          <p:cNvPr id="23" name="Text 17"/>
          <p:cNvSpPr/>
          <p:nvPr/>
        </p:nvSpPr>
        <p:spPr>
          <a:xfrm>
            <a:off x="5905481" y="3353991"/>
            <a:ext cx="2666991" cy="414338"/>
          </a:xfrm>
          <a:prstGeom prst="rect">
            <a:avLst/>
          </a:prstGeom>
          <a:noFill/>
        </p:spPr>
        <p:txBody>
          <a:bodyPr wrap="square" lIns="0" tIns="0" rIns="0" bIns="0" rtlCol="0" anchor="t">
            <a:spAutoFit/>
          </a:bodyPr>
          <a:lstStyle/>
          <a:p>
            <a:pPr marL="0" indent="0" algn="ctr">
              <a:buNone/>
            </a:pPr>
            <a:r>
              <a:rPr lang="en-US" sz="2450" b="1" dirty="0">
                <a:solidFill>
                  <a:srgbClr val="F5C518"/>
                </a:solidFill>
                <a:latin typeface="Inter Black" pitchFamily="34" charset="0"/>
                <a:ea typeface="Inter Black" pitchFamily="34" charset="-122"/>
                <a:cs typeface="Inter Black" pitchFamily="34" charset="-120"/>
              </a:rPr>
              <a:t>100%</a:t>
            </a:r>
            <a:endParaRPr lang="en-US" sz="2450" dirty="0"/>
          </a:p>
        </p:txBody>
      </p:sp>
      <p:sp>
        <p:nvSpPr>
          <p:cNvPr id="24" name="Text 18"/>
          <p:cNvSpPr/>
          <p:nvPr/>
        </p:nvSpPr>
        <p:spPr>
          <a:xfrm>
            <a:off x="5905481" y="3804047"/>
            <a:ext cx="2666991" cy="121444"/>
          </a:xfrm>
          <a:prstGeom prst="rect">
            <a:avLst/>
          </a:prstGeom>
          <a:noFill/>
        </p:spPr>
        <p:txBody>
          <a:bodyPr wrap="square" lIns="0" tIns="0" rIns="0" bIns="0" rtlCol="0" anchor="t">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INDUSTRY STANDARD</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236744" y="4018359"/>
            <a:ext cx="621506" cy="553641"/>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05</a:t>
            </a:r>
            <a:endParaRPr lang="en-US" sz="3300" dirty="0"/>
          </a:p>
        </p:txBody>
      </p:sp>
      <p:sp>
        <p:nvSpPr>
          <p:cNvPr id="7" name="Text 4"/>
          <p:cNvSpPr/>
          <p:nvPr/>
        </p:nvSpPr>
        <p:spPr>
          <a:xfrm>
            <a:off x="428625" y="714375"/>
            <a:ext cx="8286750" cy="364331"/>
          </a:xfrm>
          <a:prstGeom prst="rect">
            <a:avLst/>
          </a:prstGeom>
          <a:noFill/>
        </p:spPr>
        <p:txBody>
          <a:bodyPr wrap="square" lIns="0" tIns="0" rIns="0" bIns="0" rtlCol="0" anchor="t">
            <a:spAutoFit/>
          </a:bodyPr>
          <a:lstStyle/>
          <a:p>
            <a:pPr marL="0" indent="0" algn="l">
              <a:buNone/>
            </a:pPr>
            <a:r>
              <a:rPr lang="en-US" sz="2100" b="1" dirty="0">
                <a:solidFill>
                  <a:srgbClr val="000000"/>
                </a:solidFill>
                <a:latin typeface="Inter Black" pitchFamily="34" charset="0"/>
                <a:ea typeface="Inter Black" pitchFamily="34" charset="-122"/>
                <a:cs typeface="Inter Black" pitchFamily="34" charset="-120"/>
              </a:rPr>
              <a:t>ATT&amp;CK: The Core Engine</a:t>
            </a:r>
            <a:endParaRPr lang="en-US" sz="2100" dirty="0"/>
          </a:p>
        </p:txBody>
      </p:sp>
      <p:sp>
        <p:nvSpPr>
          <p:cNvPr id="8" name="Text 5"/>
          <p:cNvSpPr/>
          <p:nvPr/>
        </p:nvSpPr>
        <p:spPr>
          <a:xfrm>
            <a:off x="428625" y="1114425"/>
            <a:ext cx="8286750" cy="173236"/>
          </a:xfrm>
          <a:prstGeom prst="rect">
            <a:avLst/>
          </a:prstGeom>
          <a:noFill/>
        </p:spPr>
        <p:txBody>
          <a:bodyPr wrap="square" lIns="0" tIns="0" rIns="0" bIns="0" rtlCol="0" anchor="t">
            <a:spAutoFit/>
          </a:bodyPr>
          <a:lstStyle/>
          <a:p>
            <a:pPr marL="0" indent="0" algn="l">
              <a:buNone/>
            </a:pPr>
            <a:r>
              <a:rPr lang="en-US" sz="1000" b="1" kern="0" spc="1" dirty="0">
                <a:solidFill>
                  <a:srgbClr val="F5C518"/>
                </a:solidFill>
                <a:latin typeface="Inter Bold" pitchFamily="34" charset="0"/>
                <a:ea typeface="Inter Bold" pitchFamily="34" charset="-122"/>
                <a:cs typeface="Inter Bold" pitchFamily="34" charset="-120"/>
              </a:rPr>
              <a:t>ADVERSARIAL TACTICS, TECHNIQUES, AND COMMON KNOWLEDGE</a:t>
            </a:r>
            <a:endParaRPr lang="en-US" sz="1000" dirty="0"/>
          </a:p>
        </p:txBody>
      </p:sp>
      <p:sp>
        <p:nvSpPr>
          <p:cNvPr id="9" name="Shape 6"/>
          <p:cNvSpPr/>
          <p:nvPr/>
        </p:nvSpPr>
        <p:spPr>
          <a:xfrm>
            <a:off x="428625" y="1501973"/>
            <a:ext cx="1671638" cy="1571625"/>
          </a:xfrm>
          <a:prstGeom prst="rect">
            <a:avLst/>
          </a:prstGeom>
          <a:solidFill>
            <a:srgbClr val="FFFFFF"/>
          </a:solidFill>
        </p:spPr>
      </p:sp>
      <p:sp>
        <p:nvSpPr>
          <p:cNvPr id="10" name="Shape 7"/>
          <p:cNvSpPr/>
          <p:nvPr/>
        </p:nvSpPr>
        <p:spPr>
          <a:xfrm>
            <a:off x="428625" y="1501973"/>
            <a:ext cx="1671638" cy="42863"/>
          </a:xfrm>
          <a:prstGeom prst="rect">
            <a:avLst/>
          </a:prstGeom>
          <a:solidFill>
            <a:srgbClr val="F5C518"/>
          </a:solidFill>
        </p:spPr>
      </p:sp>
      <p:sp>
        <p:nvSpPr>
          <p:cNvPr id="11" name="Shape 8"/>
          <p:cNvSpPr/>
          <p:nvPr/>
        </p:nvSpPr>
        <p:spPr>
          <a:xfrm>
            <a:off x="2093119" y="1501973"/>
            <a:ext cx="7144" cy="1571625"/>
          </a:xfrm>
          <a:prstGeom prst="rect">
            <a:avLst/>
          </a:prstGeom>
          <a:solidFill>
            <a:srgbClr val="EEEEEE"/>
          </a:solidFill>
        </p:spPr>
      </p:sp>
      <p:sp>
        <p:nvSpPr>
          <p:cNvPr id="12" name="Shape 9"/>
          <p:cNvSpPr/>
          <p:nvPr/>
        </p:nvSpPr>
        <p:spPr>
          <a:xfrm>
            <a:off x="428625" y="3066455"/>
            <a:ext cx="1671638" cy="7144"/>
          </a:xfrm>
          <a:prstGeom prst="rect">
            <a:avLst/>
          </a:prstGeom>
          <a:solidFill>
            <a:srgbClr val="EEEEEE"/>
          </a:solidFill>
        </p:spPr>
      </p:sp>
      <p:sp>
        <p:nvSpPr>
          <p:cNvPr id="13" name="Shape 10"/>
          <p:cNvSpPr/>
          <p:nvPr/>
        </p:nvSpPr>
        <p:spPr>
          <a:xfrm>
            <a:off x="428625" y="1501973"/>
            <a:ext cx="7144" cy="1571625"/>
          </a:xfrm>
          <a:prstGeom prst="rect">
            <a:avLst/>
          </a:prstGeom>
          <a:solidFill>
            <a:srgbClr val="EEEEEE"/>
          </a:solidFill>
        </p:spPr>
      </p:sp>
      <p:sp>
        <p:nvSpPr>
          <p:cNvPr id="14" name="Text 11"/>
          <p:cNvSpPr/>
          <p:nvPr/>
        </p:nvSpPr>
        <p:spPr>
          <a:xfrm>
            <a:off x="535781" y="1609130"/>
            <a:ext cx="1447809"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Tactics</a:t>
            </a:r>
            <a:endParaRPr lang="en-US" sz="900" dirty="0"/>
          </a:p>
        </p:txBody>
      </p:sp>
      <p:sp>
        <p:nvSpPr>
          <p:cNvPr id="15" name="Text 12"/>
          <p:cNvSpPr/>
          <p:nvPr/>
        </p:nvSpPr>
        <p:spPr>
          <a:xfrm>
            <a:off x="535781" y="1821656"/>
            <a:ext cx="1447809" cy="119993"/>
          </a:xfrm>
          <a:prstGeom prst="rect">
            <a:avLst/>
          </a:prstGeom>
          <a:noFill/>
        </p:spPr>
        <p:txBody>
          <a:bodyPr wrap="none" lIns="0" tIns="0" rIns="0" bIns="0" rtlCol="0" anchor="t">
            <a:spAutoFit/>
          </a:bodyPr>
          <a:lstStyle/>
          <a:p>
            <a:pPr marL="0" indent="0" algn="l">
              <a:lnSpc>
                <a:spcPct val="96000"/>
              </a:lnSpc>
              <a:buNone/>
            </a:pPr>
            <a:r>
              <a:rPr lang="en-US" sz="700" b="1" dirty="0">
                <a:solidFill>
                  <a:srgbClr val="000000"/>
                </a:solidFill>
                <a:latin typeface="Inter Bold" pitchFamily="34" charset="0"/>
                <a:ea typeface="Inter Bold" pitchFamily="34" charset="-122"/>
                <a:cs typeface="Inter Bold" pitchFamily="34" charset="-120"/>
              </a:rPr>
              <a:t>The WHY</a:t>
            </a:r>
            <a:endParaRPr lang="en-US" sz="700" dirty="0"/>
          </a:p>
        </p:txBody>
      </p:sp>
      <p:sp>
        <p:nvSpPr>
          <p:cNvPr id="16" name="Text 13"/>
          <p:cNvSpPr/>
          <p:nvPr/>
        </p:nvSpPr>
        <p:spPr>
          <a:xfrm>
            <a:off x="535781" y="2013086"/>
            <a:ext cx="1447809" cy="650053"/>
          </a:xfrm>
          <a:prstGeom prst="rect">
            <a:avLst/>
          </a:prstGeom>
          <a:noFill/>
        </p:spPr>
        <p:txBody>
          <a:bodyPr wrap="square" lIns="0" tIns="0" rIns="0" bIns="0" rtlCol="0" anchor="t">
            <a:spAutoFit/>
          </a:bodyPr>
          <a:lstStyle/>
          <a:p>
            <a:pPr marL="0" indent="0" algn="l">
              <a:lnSpc>
                <a:spcPct val="112000"/>
              </a:lnSpc>
              <a:buNone/>
            </a:pPr>
            <a:r>
              <a:rPr lang="en-US" sz="650" dirty="0">
                <a:solidFill>
                  <a:srgbClr val="333333"/>
                </a:solidFill>
                <a:latin typeface="Inter" pitchFamily="34" charset="0"/>
                <a:ea typeface="Inter" pitchFamily="34" charset="-122"/>
                <a:cs typeface="Inter" pitchFamily="34" charset="-120"/>
              </a:rPr>
              <a:t>The attacker's strategic goal. </a:t>
            </a:r>
            <a:r>
              <a:rPr lang="en-US" sz="650" dirty="0">
                <a:solidFill>
                  <a:srgbClr val="333333"/>
                </a:solidFill>
                <a:latin typeface="Inter" pitchFamily="34" charset="0"/>
                <a:ea typeface="Inter" pitchFamily="34" charset="-122"/>
                <a:cs typeface="Inter" pitchFamily="34" charset="-120"/>
              </a:rPr>
              <a:t>MITRE defines 14 Tactics </a:t>
            </a:r>
            <a:r>
              <a:rPr lang="en-US" sz="650" dirty="0">
                <a:solidFill>
                  <a:srgbClr val="333333"/>
                </a:solidFill>
                <a:latin typeface="Inter" pitchFamily="34" charset="0"/>
                <a:ea typeface="Inter" pitchFamily="34" charset="-122"/>
                <a:cs typeface="Inter" pitchFamily="34" charset="-120"/>
              </a:rPr>
              <a:t>covering the full lifecycle. </a:t>
            </a:r>
            <a:r>
              <a:rPr lang="en-US" sz="650" dirty="0">
                <a:solidFill>
                  <a:srgbClr val="333333"/>
                </a:solidFill>
                <a:latin typeface="Inter" pitchFamily="34" charset="0"/>
                <a:ea typeface="Inter" pitchFamily="34" charset="-122"/>
                <a:cs typeface="Inter" pitchFamily="34" charset="-120"/>
              </a:rPr>
              <a:t>
</a:t>
            </a:r>
            <a:r>
              <a:rPr lang="en-US" sz="650" b="1" dirty="0">
                <a:solidFill>
                  <a:srgbClr val="333333"/>
                </a:solidFill>
                <a:latin typeface="Inter Bold" pitchFamily="34" charset="0"/>
                <a:ea typeface="Inter Bold" pitchFamily="34" charset="-122"/>
                <a:cs typeface="Inter Bold" pitchFamily="34" charset="-120"/>
              </a:rPr>
              <a:t>Example:</a:t>
            </a:r>
            <a:r>
              <a:rPr lang="en-US" sz="650" dirty="0">
                <a:solidFill>
                  <a:srgbClr val="333333"/>
                </a:solidFill>
                <a:latin typeface="Inter" pitchFamily="34" charset="0"/>
                <a:ea typeface="Inter" pitchFamily="34" charset="-122"/>
                <a:cs typeface="Inter" pitchFamily="34" charset="-120"/>
              </a:rPr>
              <a:t> TA0001 Initial Access.</a:t>
            </a:r>
            <a:endParaRPr lang="en-US" sz="650" dirty="0"/>
          </a:p>
        </p:txBody>
      </p:sp>
      <p:sp>
        <p:nvSpPr>
          <p:cNvPr id="17" name="Shape 14"/>
          <p:cNvSpPr/>
          <p:nvPr/>
        </p:nvSpPr>
        <p:spPr>
          <a:xfrm>
            <a:off x="2197903" y="1501973"/>
            <a:ext cx="1676409" cy="1571625"/>
          </a:xfrm>
          <a:prstGeom prst="rect">
            <a:avLst/>
          </a:prstGeom>
          <a:solidFill>
            <a:srgbClr val="FFFFFF"/>
          </a:solidFill>
        </p:spPr>
      </p:sp>
      <p:sp>
        <p:nvSpPr>
          <p:cNvPr id="18" name="Shape 15"/>
          <p:cNvSpPr/>
          <p:nvPr/>
        </p:nvSpPr>
        <p:spPr>
          <a:xfrm>
            <a:off x="2197903" y="1501973"/>
            <a:ext cx="1676409" cy="42863"/>
          </a:xfrm>
          <a:prstGeom prst="rect">
            <a:avLst/>
          </a:prstGeom>
          <a:solidFill>
            <a:srgbClr val="F5C518"/>
          </a:solidFill>
        </p:spPr>
      </p:sp>
      <p:sp>
        <p:nvSpPr>
          <p:cNvPr id="19" name="Shape 16"/>
          <p:cNvSpPr/>
          <p:nvPr/>
        </p:nvSpPr>
        <p:spPr>
          <a:xfrm>
            <a:off x="3867169" y="1501973"/>
            <a:ext cx="7144" cy="1571625"/>
          </a:xfrm>
          <a:prstGeom prst="rect">
            <a:avLst/>
          </a:prstGeom>
          <a:solidFill>
            <a:srgbClr val="EEEEEE"/>
          </a:solidFill>
        </p:spPr>
      </p:sp>
      <p:sp>
        <p:nvSpPr>
          <p:cNvPr id="20" name="Shape 17"/>
          <p:cNvSpPr/>
          <p:nvPr/>
        </p:nvSpPr>
        <p:spPr>
          <a:xfrm>
            <a:off x="2197903" y="3066455"/>
            <a:ext cx="1676409" cy="7144"/>
          </a:xfrm>
          <a:prstGeom prst="rect">
            <a:avLst/>
          </a:prstGeom>
          <a:solidFill>
            <a:srgbClr val="EEEEEE"/>
          </a:solidFill>
        </p:spPr>
      </p:sp>
      <p:sp>
        <p:nvSpPr>
          <p:cNvPr id="21" name="Shape 18"/>
          <p:cNvSpPr/>
          <p:nvPr/>
        </p:nvSpPr>
        <p:spPr>
          <a:xfrm>
            <a:off x="2197903" y="1501973"/>
            <a:ext cx="7144" cy="1571625"/>
          </a:xfrm>
          <a:prstGeom prst="rect">
            <a:avLst/>
          </a:prstGeom>
          <a:solidFill>
            <a:srgbClr val="EEEEEE"/>
          </a:solidFill>
        </p:spPr>
      </p:sp>
      <p:sp>
        <p:nvSpPr>
          <p:cNvPr id="22" name="Text 19"/>
          <p:cNvSpPr/>
          <p:nvPr/>
        </p:nvSpPr>
        <p:spPr>
          <a:xfrm>
            <a:off x="2309803" y="1609130"/>
            <a:ext cx="1452553"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Techniques</a:t>
            </a:r>
            <a:endParaRPr lang="en-US" sz="900" dirty="0"/>
          </a:p>
        </p:txBody>
      </p:sp>
      <p:sp>
        <p:nvSpPr>
          <p:cNvPr id="23" name="Text 20"/>
          <p:cNvSpPr/>
          <p:nvPr/>
        </p:nvSpPr>
        <p:spPr>
          <a:xfrm>
            <a:off x="2309803" y="1821656"/>
            <a:ext cx="1452553" cy="119993"/>
          </a:xfrm>
          <a:prstGeom prst="rect">
            <a:avLst/>
          </a:prstGeom>
          <a:noFill/>
        </p:spPr>
        <p:txBody>
          <a:bodyPr wrap="none" lIns="0" tIns="0" rIns="0" bIns="0" rtlCol="0" anchor="t">
            <a:spAutoFit/>
          </a:bodyPr>
          <a:lstStyle/>
          <a:p>
            <a:pPr marL="0" indent="0" algn="l">
              <a:lnSpc>
                <a:spcPct val="96000"/>
              </a:lnSpc>
              <a:buNone/>
            </a:pPr>
            <a:r>
              <a:rPr lang="en-US" sz="700" b="1" dirty="0">
                <a:solidFill>
                  <a:srgbClr val="000000"/>
                </a:solidFill>
                <a:latin typeface="Inter Bold" pitchFamily="34" charset="0"/>
                <a:ea typeface="Inter Bold" pitchFamily="34" charset="-122"/>
                <a:cs typeface="Inter Bold" pitchFamily="34" charset="-120"/>
              </a:rPr>
              <a:t>The HOW</a:t>
            </a:r>
            <a:endParaRPr lang="en-US" sz="700" dirty="0"/>
          </a:p>
        </p:txBody>
      </p:sp>
      <p:sp>
        <p:nvSpPr>
          <p:cNvPr id="24" name="Text 21"/>
          <p:cNvSpPr/>
          <p:nvPr/>
        </p:nvSpPr>
        <p:spPr>
          <a:xfrm>
            <a:off x="2309803" y="2013086"/>
            <a:ext cx="1452553" cy="780064"/>
          </a:xfrm>
          <a:prstGeom prst="rect">
            <a:avLst/>
          </a:prstGeom>
          <a:noFill/>
        </p:spPr>
        <p:txBody>
          <a:bodyPr wrap="square" lIns="0" tIns="0" rIns="0" bIns="0" rtlCol="0" anchor="t">
            <a:spAutoFit/>
          </a:bodyPr>
          <a:lstStyle/>
          <a:p>
            <a:pPr marL="0" indent="0" algn="l">
              <a:lnSpc>
                <a:spcPct val="112000"/>
              </a:lnSpc>
              <a:buNone/>
            </a:pPr>
            <a:r>
              <a:rPr lang="en-US" sz="650" dirty="0">
                <a:solidFill>
                  <a:srgbClr val="333333"/>
                </a:solidFill>
                <a:latin typeface="Inter" pitchFamily="34" charset="0"/>
                <a:ea typeface="Inter" pitchFamily="34" charset="-122"/>
                <a:cs typeface="Inter" pitchFamily="34" charset="-120"/>
              </a:rPr>
              <a:t>The specific method used to </a:t>
            </a:r>
            <a:r>
              <a:rPr lang="en-US" sz="650" dirty="0">
                <a:solidFill>
                  <a:srgbClr val="333333"/>
                </a:solidFill>
                <a:latin typeface="Inter" pitchFamily="34" charset="0"/>
                <a:ea typeface="Inter" pitchFamily="34" charset="-122"/>
                <a:cs typeface="Inter" pitchFamily="34" charset="-120"/>
              </a:rPr>
              <a:t>achieve a tactic. Documents </a:t>
            </a:r>
            <a:r>
              <a:rPr lang="en-US" sz="650" dirty="0">
                <a:solidFill>
                  <a:srgbClr val="333333"/>
                </a:solidFill>
                <a:latin typeface="Inter" pitchFamily="34" charset="0"/>
                <a:ea typeface="Inter" pitchFamily="34" charset="-122"/>
                <a:cs typeface="Inter" pitchFamily="34" charset="-120"/>
              </a:rPr>
              <a:t>200+ techniques. </a:t>
            </a:r>
            <a:r>
              <a:rPr lang="en-US" sz="650" dirty="0">
                <a:solidFill>
                  <a:srgbClr val="333333"/>
                </a:solidFill>
                <a:latin typeface="Inter" pitchFamily="34" charset="0"/>
                <a:ea typeface="Inter" pitchFamily="34" charset="-122"/>
                <a:cs typeface="Inter" pitchFamily="34" charset="-120"/>
              </a:rPr>
              <a:t>
</a:t>
            </a:r>
            <a:r>
              <a:rPr lang="en-US" sz="650" b="1" dirty="0">
                <a:solidFill>
                  <a:srgbClr val="333333"/>
                </a:solidFill>
                <a:latin typeface="Inter Bold" pitchFamily="34" charset="0"/>
                <a:ea typeface="Inter Bold" pitchFamily="34" charset="-122"/>
                <a:cs typeface="Inter Bold" pitchFamily="34" charset="-120"/>
              </a:rPr>
              <a:t>Example:</a:t>
            </a:r>
            <a:r>
              <a:rPr lang="en-US" sz="650" dirty="0">
                <a:solidFill>
                  <a:srgbClr val="333333"/>
                </a:solidFill>
                <a:latin typeface="Inter" pitchFamily="34" charset="0"/>
                <a:ea typeface="Inter" pitchFamily="34" charset="-122"/>
                <a:cs typeface="Inter" pitchFamily="34" charset="-120"/>
              </a:rPr>
              <a:t> T1566.001 </a:t>
            </a:r>
            <a:r>
              <a:rPr lang="en-US" sz="650" dirty="0">
                <a:solidFill>
                  <a:srgbClr val="333333"/>
                </a:solidFill>
                <a:latin typeface="Inter" pitchFamily="34" charset="0"/>
                <a:ea typeface="Inter" pitchFamily="34" charset="-122"/>
                <a:cs typeface="Inter" pitchFamily="34" charset="-120"/>
              </a:rPr>
              <a:t>Spearphishing Attachment.</a:t>
            </a:r>
            <a:endParaRPr lang="en-US" sz="650" dirty="0"/>
          </a:p>
        </p:txBody>
      </p:sp>
      <p:sp>
        <p:nvSpPr>
          <p:cNvPr id="25" name="Shape 22"/>
          <p:cNvSpPr/>
          <p:nvPr/>
        </p:nvSpPr>
        <p:spPr>
          <a:xfrm>
            <a:off x="3976669" y="1501973"/>
            <a:ext cx="1681153" cy="1571625"/>
          </a:xfrm>
          <a:prstGeom prst="rect">
            <a:avLst/>
          </a:prstGeom>
          <a:solidFill>
            <a:srgbClr val="FFFFFF"/>
          </a:solidFill>
        </p:spPr>
      </p:sp>
      <p:sp>
        <p:nvSpPr>
          <p:cNvPr id="26" name="Shape 23"/>
          <p:cNvSpPr/>
          <p:nvPr/>
        </p:nvSpPr>
        <p:spPr>
          <a:xfrm>
            <a:off x="3976669" y="1501973"/>
            <a:ext cx="1681153" cy="42863"/>
          </a:xfrm>
          <a:prstGeom prst="rect">
            <a:avLst/>
          </a:prstGeom>
          <a:solidFill>
            <a:srgbClr val="F5C518"/>
          </a:solidFill>
        </p:spPr>
      </p:sp>
      <p:sp>
        <p:nvSpPr>
          <p:cNvPr id="27" name="Shape 24"/>
          <p:cNvSpPr/>
          <p:nvPr/>
        </p:nvSpPr>
        <p:spPr>
          <a:xfrm>
            <a:off x="5650678" y="1501973"/>
            <a:ext cx="7144" cy="1571625"/>
          </a:xfrm>
          <a:prstGeom prst="rect">
            <a:avLst/>
          </a:prstGeom>
          <a:solidFill>
            <a:srgbClr val="EEEEEE"/>
          </a:solidFill>
        </p:spPr>
      </p:sp>
      <p:sp>
        <p:nvSpPr>
          <p:cNvPr id="28" name="Shape 25"/>
          <p:cNvSpPr/>
          <p:nvPr/>
        </p:nvSpPr>
        <p:spPr>
          <a:xfrm>
            <a:off x="3976669" y="3066455"/>
            <a:ext cx="1681153" cy="7144"/>
          </a:xfrm>
          <a:prstGeom prst="rect">
            <a:avLst/>
          </a:prstGeom>
          <a:solidFill>
            <a:srgbClr val="EEEEEE"/>
          </a:solidFill>
        </p:spPr>
      </p:sp>
      <p:sp>
        <p:nvSpPr>
          <p:cNvPr id="29" name="Shape 26"/>
          <p:cNvSpPr/>
          <p:nvPr/>
        </p:nvSpPr>
        <p:spPr>
          <a:xfrm>
            <a:off x="3976669" y="1501973"/>
            <a:ext cx="7144" cy="1571625"/>
          </a:xfrm>
          <a:prstGeom prst="rect">
            <a:avLst/>
          </a:prstGeom>
          <a:solidFill>
            <a:srgbClr val="EEEEEE"/>
          </a:solidFill>
        </p:spPr>
      </p:sp>
      <p:sp>
        <p:nvSpPr>
          <p:cNvPr id="30" name="Text 27"/>
          <p:cNvSpPr/>
          <p:nvPr/>
        </p:nvSpPr>
        <p:spPr>
          <a:xfrm>
            <a:off x="4093369" y="1609130"/>
            <a:ext cx="1457325"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Procedures</a:t>
            </a:r>
            <a:endParaRPr lang="en-US" sz="900" dirty="0"/>
          </a:p>
        </p:txBody>
      </p:sp>
      <p:sp>
        <p:nvSpPr>
          <p:cNvPr id="31" name="Text 28"/>
          <p:cNvSpPr/>
          <p:nvPr/>
        </p:nvSpPr>
        <p:spPr>
          <a:xfrm>
            <a:off x="4093369" y="1821656"/>
            <a:ext cx="1457325" cy="119993"/>
          </a:xfrm>
          <a:prstGeom prst="rect">
            <a:avLst/>
          </a:prstGeom>
          <a:noFill/>
        </p:spPr>
        <p:txBody>
          <a:bodyPr wrap="none" lIns="0" tIns="0" rIns="0" bIns="0" rtlCol="0" anchor="t">
            <a:spAutoFit/>
          </a:bodyPr>
          <a:lstStyle/>
          <a:p>
            <a:pPr marL="0" indent="0" algn="l">
              <a:lnSpc>
                <a:spcPct val="96000"/>
              </a:lnSpc>
              <a:buNone/>
            </a:pPr>
            <a:r>
              <a:rPr lang="en-US" sz="700" b="1" dirty="0">
                <a:solidFill>
                  <a:srgbClr val="000000"/>
                </a:solidFill>
                <a:latin typeface="Inter Bold" pitchFamily="34" charset="0"/>
                <a:ea typeface="Inter Bold" pitchFamily="34" charset="-122"/>
                <a:cs typeface="Inter Bold" pitchFamily="34" charset="-120"/>
              </a:rPr>
              <a:t>The WHO &amp; EXACTLY HOW</a:t>
            </a:r>
            <a:endParaRPr lang="en-US" sz="700" dirty="0"/>
          </a:p>
        </p:txBody>
      </p:sp>
      <p:sp>
        <p:nvSpPr>
          <p:cNvPr id="32" name="Text 29"/>
          <p:cNvSpPr/>
          <p:nvPr/>
        </p:nvSpPr>
        <p:spPr>
          <a:xfrm>
            <a:off x="4093369" y="2013086"/>
            <a:ext cx="1457325" cy="650053"/>
          </a:xfrm>
          <a:prstGeom prst="rect">
            <a:avLst/>
          </a:prstGeom>
          <a:noFill/>
        </p:spPr>
        <p:txBody>
          <a:bodyPr wrap="square" lIns="0" tIns="0" rIns="0" bIns="0" rtlCol="0" anchor="t">
            <a:spAutoFit/>
          </a:bodyPr>
          <a:lstStyle/>
          <a:p>
            <a:pPr marL="0" indent="0" algn="l">
              <a:lnSpc>
                <a:spcPct val="112000"/>
              </a:lnSpc>
              <a:buNone/>
            </a:pPr>
            <a:r>
              <a:rPr lang="en-US" sz="650" dirty="0">
                <a:solidFill>
                  <a:srgbClr val="333333"/>
                </a:solidFill>
                <a:latin typeface="Inter" pitchFamily="34" charset="0"/>
                <a:ea typeface="Inter" pitchFamily="34" charset="-122"/>
                <a:cs typeface="Inter" pitchFamily="34" charset="-120"/>
              </a:rPr>
              <a:t>The specific implementation by </a:t>
            </a:r>
            <a:r>
              <a:rPr lang="en-US" sz="650" dirty="0">
                <a:solidFill>
                  <a:srgbClr val="333333"/>
                </a:solidFill>
                <a:latin typeface="Inter" pitchFamily="34" charset="0"/>
                <a:ea typeface="Inter" pitchFamily="34" charset="-122"/>
                <a:cs typeface="Inter" pitchFamily="34" charset="-120"/>
              </a:rPr>
              <a:t>a real threat group. </a:t>
            </a:r>
            <a:r>
              <a:rPr lang="en-US" sz="650" dirty="0">
                <a:solidFill>
                  <a:srgbClr val="333333"/>
                </a:solidFill>
                <a:latin typeface="Inter" pitchFamily="34" charset="0"/>
                <a:ea typeface="Inter" pitchFamily="34" charset="-122"/>
                <a:cs typeface="Inter" pitchFamily="34" charset="-120"/>
              </a:rPr>
              <a:t>
</a:t>
            </a:r>
            <a:r>
              <a:rPr lang="en-US" sz="650" b="1" dirty="0">
                <a:solidFill>
                  <a:srgbClr val="333333"/>
                </a:solidFill>
                <a:latin typeface="Inter Bold" pitchFamily="34" charset="0"/>
                <a:ea typeface="Inter Bold" pitchFamily="34" charset="-122"/>
                <a:cs typeface="Inter Bold" pitchFamily="34" charset="-120"/>
              </a:rPr>
              <a:t>Example:</a:t>
            </a:r>
            <a:r>
              <a:rPr lang="en-US" sz="650" dirty="0">
                <a:solidFill>
                  <a:srgbClr val="333333"/>
                </a:solidFill>
                <a:latin typeface="Inter" pitchFamily="34" charset="0"/>
                <a:ea typeface="Inter" pitchFamily="34" charset="-122"/>
                <a:cs typeface="Inter" pitchFamily="34" charset="-120"/>
              </a:rPr>
              <a:t> Lazarus Group </a:t>
            </a:r>
            <a:r>
              <a:rPr lang="en-US" sz="650" dirty="0">
                <a:solidFill>
                  <a:srgbClr val="333333"/>
                </a:solidFill>
                <a:latin typeface="Inter" pitchFamily="34" charset="0"/>
                <a:ea typeface="Inter" pitchFamily="34" charset="-122"/>
                <a:cs typeface="Inter" pitchFamily="34" charset="-120"/>
              </a:rPr>
              <a:t>sending fake PDF job offers.</a:t>
            </a:r>
            <a:endParaRPr lang="en-US" sz="650" dirty="0"/>
          </a:p>
        </p:txBody>
      </p:sp>
      <p:sp>
        <p:nvSpPr>
          <p:cNvPr id="33" name="Shape 30"/>
          <p:cNvSpPr/>
          <p:nvPr/>
        </p:nvSpPr>
        <p:spPr>
          <a:xfrm>
            <a:off x="428625" y="3252192"/>
            <a:ext cx="5229225" cy="678656"/>
          </a:xfrm>
          <a:prstGeom prst="rect">
            <a:avLst/>
          </a:prstGeom>
          <a:solidFill>
            <a:srgbClr val="F5C518"/>
          </a:solidFill>
        </p:spPr>
      </p:sp>
      <p:pic>
        <p:nvPicPr>
          <p:cNvPr id="34" name="Image 1" descr="preencoded.png"/>
          <p:cNvPicPr>
            <a:picLocks noChangeAspect="1"/>
          </p:cNvPicPr>
          <p:nvPr/>
        </p:nvPicPr>
        <p:blipFill>
          <a:blip r:embed="rId2"/>
          <a:stretch>
            <a:fillRect/>
          </a:stretch>
        </p:blipFill>
        <p:spPr>
          <a:xfrm>
            <a:off x="571500" y="3477220"/>
            <a:ext cx="228600" cy="228600"/>
          </a:xfrm>
          <a:prstGeom prst="rect">
            <a:avLst/>
          </a:prstGeom>
        </p:spPr>
      </p:pic>
      <p:sp>
        <p:nvSpPr>
          <p:cNvPr id="35" name="Text 31"/>
          <p:cNvSpPr/>
          <p:nvPr/>
        </p:nvSpPr>
        <p:spPr>
          <a:xfrm>
            <a:off x="942975" y="3359348"/>
            <a:ext cx="4572000" cy="150019"/>
          </a:xfrm>
          <a:prstGeom prst="rect">
            <a:avLst/>
          </a:prstGeom>
          <a:noFill/>
        </p:spPr>
        <p:txBody>
          <a:bodyPr wrap="none" lIns="0" tIns="0" rIns="0" bIns="0" rtlCol="0" anchor="t">
            <a:spAutoFit/>
          </a:bodyPr>
          <a:lstStyle/>
          <a:p>
            <a:pPr marL="0" indent="0" algn="l">
              <a:lnSpc>
                <a:spcPct val="112000"/>
              </a:lnSpc>
              <a:buNone/>
            </a:pPr>
            <a:r>
              <a:rPr lang="en-US" sz="750" b="1" dirty="0">
                <a:solidFill>
                  <a:srgbClr val="000000"/>
                </a:solidFill>
                <a:latin typeface="Inter Black" pitchFamily="34" charset="0"/>
                <a:ea typeface="Inter Black" pitchFamily="34" charset="-122"/>
                <a:cs typeface="Inter Black" pitchFamily="34" charset="-120"/>
              </a:rPr>
              <a:t>THE BASKETBALL ANALOGY</a:t>
            </a:r>
            <a:endParaRPr lang="en-US" sz="750" dirty="0"/>
          </a:p>
        </p:txBody>
      </p:sp>
      <p:sp>
        <p:nvSpPr>
          <p:cNvPr id="36" name="Text 32"/>
          <p:cNvSpPr/>
          <p:nvPr/>
        </p:nvSpPr>
        <p:spPr>
          <a:xfrm>
            <a:off x="942975" y="3534370"/>
            <a:ext cx="355402" cy="128588"/>
          </a:xfrm>
          <a:prstGeom prst="rect">
            <a:avLst/>
          </a:prstGeom>
          <a:noFill/>
        </p:spPr>
        <p:txBody>
          <a:bodyPr wrap="none" lIns="0" tIns="0" rIns="0" bIns="0" rtlCol="0" anchor="t">
            <a:spAutoFit/>
          </a:bodyPr>
          <a:lstStyle/>
          <a:p>
            <a:pPr marL="0" indent="0" algn="l">
              <a:lnSpc>
                <a:spcPct val="112000"/>
              </a:lnSpc>
              <a:buNone/>
            </a:pPr>
            <a:r>
              <a:rPr lang="en-US" sz="750" b="1" dirty="0">
                <a:solidFill>
                  <a:srgbClr val="000000"/>
                </a:solidFill>
                <a:latin typeface="Inter Bold" pitchFamily="34" charset="0"/>
                <a:ea typeface="Inter Bold" pitchFamily="34" charset="-122"/>
                <a:cs typeface="Inter Bold" pitchFamily="34" charset="-120"/>
              </a:rPr>
              <a:t>Tactic:</a:t>
            </a:r>
            <a:endParaRPr lang="en-US" sz="750" dirty="0"/>
          </a:p>
        </p:txBody>
      </p:sp>
      <p:sp>
        <p:nvSpPr>
          <p:cNvPr id="37" name="Text 33"/>
          <p:cNvSpPr/>
          <p:nvPr/>
        </p:nvSpPr>
        <p:spPr>
          <a:xfrm>
            <a:off x="1298377" y="3534370"/>
            <a:ext cx="1228725" cy="128588"/>
          </a:xfrm>
          <a:prstGeom prst="rect">
            <a:avLst/>
          </a:prstGeom>
          <a:noFill/>
        </p:spPr>
        <p:txBody>
          <a:bodyPr wrap="none" lIns="0" tIns="0" rIns="0" bIns="0" rtlCol="0" anchor="t">
            <a:spAutoFit/>
          </a:bodyPr>
          <a:lstStyle/>
          <a:p>
            <a:pPr marL="0" indent="0" algn="l">
              <a:lnSpc>
                <a:spcPct val="112000"/>
              </a:lnSpc>
              <a:buNone/>
            </a:pPr>
            <a:r>
              <a:rPr lang="en-US" sz="800" dirty="0">
                <a:solidFill>
                  <a:srgbClr val="000000"/>
                </a:solidFill>
                <a:latin typeface="Inter" pitchFamily="34" charset="0"/>
                <a:ea typeface="Inter" pitchFamily="34" charset="-122"/>
                <a:cs typeface="Inter" pitchFamily="34" charset="-120"/>
              </a:rPr>
              <a:t>Score a basket (Goal) |</a:t>
            </a:r>
            <a:endParaRPr lang="en-US" sz="800" dirty="0"/>
          </a:p>
        </p:txBody>
      </p:sp>
      <p:sp>
        <p:nvSpPr>
          <p:cNvPr id="38" name="Text 34"/>
          <p:cNvSpPr/>
          <p:nvPr/>
        </p:nvSpPr>
        <p:spPr>
          <a:xfrm>
            <a:off x="2527102" y="3534370"/>
            <a:ext cx="584002" cy="128588"/>
          </a:xfrm>
          <a:prstGeom prst="rect">
            <a:avLst/>
          </a:prstGeom>
          <a:noFill/>
        </p:spPr>
        <p:txBody>
          <a:bodyPr wrap="none" lIns="0" tIns="0" rIns="0" bIns="0" rtlCol="0" anchor="t">
            <a:spAutoFit/>
          </a:bodyPr>
          <a:lstStyle/>
          <a:p>
            <a:pPr marL="0" indent="0" algn="l">
              <a:lnSpc>
                <a:spcPct val="112000"/>
              </a:lnSpc>
              <a:buNone/>
            </a:pPr>
            <a:r>
              <a:rPr lang="en-US" sz="750" b="1" dirty="0">
                <a:solidFill>
                  <a:srgbClr val="000000"/>
                </a:solidFill>
                <a:latin typeface="Inter Bold" pitchFamily="34" charset="0"/>
                <a:ea typeface="Inter Bold" pitchFamily="34" charset="-122"/>
                <a:cs typeface="Inter Bold" pitchFamily="34" charset="-120"/>
              </a:rPr>
              <a:t>Technique:</a:t>
            </a:r>
            <a:endParaRPr lang="en-US" sz="750" dirty="0"/>
          </a:p>
        </p:txBody>
      </p:sp>
      <p:sp>
        <p:nvSpPr>
          <p:cNvPr id="39" name="Text 35"/>
          <p:cNvSpPr/>
          <p:nvPr/>
        </p:nvSpPr>
        <p:spPr>
          <a:xfrm>
            <a:off x="3111103" y="3534370"/>
            <a:ext cx="1571625" cy="128588"/>
          </a:xfrm>
          <a:prstGeom prst="rect">
            <a:avLst/>
          </a:prstGeom>
          <a:noFill/>
        </p:spPr>
        <p:txBody>
          <a:bodyPr wrap="none" lIns="0" tIns="0" rIns="0" bIns="0" rtlCol="0" anchor="t">
            <a:spAutoFit/>
          </a:bodyPr>
          <a:lstStyle/>
          <a:p>
            <a:pPr marL="0" indent="0" algn="l">
              <a:lnSpc>
                <a:spcPct val="112000"/>
              </a:lnSpc>
              <a:buNone/>
            </a:pPr>
            <a:r>
              <a:rPr lang="en-US" sz="800" dirty="0">
                <a:solidFill>
                  <a:srgbClr val="000000"/>
                </a:solidFill>
                <a:latin typeface="Inter" pitchFamily="34" charset="0"/>
                <a:ea typeface="Inter" pitchFamily="34" charset="-122"/>
                <a:cs typeface="Inter" pitchFamily="34" charset="-120"/>
              </a:rPr>
              <a:t>Layup or 3-pointer (Method) |</a:t>
            </a:r>
            <a:endParaRPr lang="en-US" sz="800" dirty="0"/>
          </a:p>
        </p:txBody>
      </p:sp>
      <p:sp>
        <p:nvSpPr>
          <p:cNvPr id="40" name="Text 36"/>
          <p:cNvSpPr/>
          <p:nvPr/>
        </p:nvSpPr>
        <p:spPr>
          <a:xfrm>
            <a:off x="4682728" y="3534370"/>
            <a:ext cx="578644" cy="128588"/>
          </a:xfrm>
          <a:prstGeom prst="rect">
            <a:avLst/>
          </a:prstGeom>
          <a:noFill/>
        </p:spPr>
        <p:txBody>
          <a:bodyPr wrap="none" lIns="0" tIns="0" rIns="0" bIns="0" rtlCol="0" anchor="t">
            <a:spAutoFit/>
          </a:bodyPr>
          <a:lstStyle/>
          <a:p>
            <a:pPr marL="0" indent="0" algn="l">
              <a:lnSpc>
                <a:spcPct val="112000"/>
              </a:lnSpc>
              <a:buNone/>
            </a:pPr>
            <a:r>
              <a:rPr lang="en-US" sz="750" b="1" dirty="0">
                <a:solidFill>
                  <a:srgbClr val="000000"/>
                </a:solidFill>
                <a:latin typeface="Inter Bold" pitchFamily="34" charset="0"/>
                <a:ea typeface="Inter Bold" pitchFamily="34" charset="-122"/>
                <a:cs typeface="Inter Bold" pitchFamily="34" charset="-120"/>
              </a:rPr>
              <a:t>Procedure:</a:t>
            </a:r>
            <a:endParaRPr lang="en-US" sz="750" dirty="0"/>
          </a:p>
        </p:txBody>
      </p:sp>
      <p:sp>
        <p:nvSpPr>
          <p:cNvPr id="41" name="Text 37"/>
          <p:cNvSpPr/>
          <p:nvPr/>
        </p:nvSpPr>
        <p:spPr>
          <a:xfrm>
            <a:off x="942975" y="3684389"/>
            <a:ext cx="2821781" cy="128588"/>
          </a:xfrm>
          <a:prstGeom prst="rect">
            <a:avLst/>
          </a:prstGeom>
          <a:noFill/>
        </p:spPr>
        <p:txBody>
          <a:bodyPr wrap="none" lIns="0" tIns="0" rIns="0" bIns="0" rtlCol="0" anchor="t">
            <a:spAutoFit/>
          </a:bodyPr>
          <a:lstStyle/>
          <a:p>
            <a:pPr marL="0" indent="0" algn="l">
              <a:lnSpc>
                <a:spcPct val="112000"/>
              </a:lnSpc>
              <a:buNone/>
            </a:pPr>
            <a:r>
              <a:rPr lang="en-US" sz="800" dirty="0">
                <a:solidFill>
                  <a:srgbClr val="000000"/>
                </a:solidFill>
                <a:latin typeface="Inter" pitchFamily="34" charset="0"/>
                <a:ea typeface="Inter" pitchFamily="34" charset="-122"/>
                <a:cs typeface="Inter" pitchFamily="34" charset="-120"/>
              </a:rPr>
              <a:t>LeBron's signature move in a specific game (Execution)</a:t>
            </a:r>
            <a:endParaRPr lang="en-US" sz="800" dirty="0"/>
          </a:p>
        </p:txBody>
      </p:sp>
      <p:sp>
        <p:nvSpPr>
          <p:cNvPr id="42" name="Shape 38"/>
          <p:cNvSpPr/>
          <p:nvPr/>
        </p:nvSpPr>
        <p:spPr>
          <a:xfrm>
            <a:off x="5872163" y="1501973"/>
            <a:ext cx="2843213" cy="2100263"/>
          </a:xfrm>
          <a:prstGeom prst="rect">
            <a:avLst/>
          </a:prstGeom>
          <a:solidFill>
            <a:srgbClr val="F9F9F9"/>
          </a:solidFill>
          <a:ln w="9144">
            <a:solidFill>
              <a:srgbClr val="EEEEEE"/>
            </a:solidFill>
            <a:prstDash val="solid"/>
          </a:ln>
        </p:spPr>
      </p:sp>
      <p:sp>
        <p:nvSpPr>
          <p:cNvPr id="43" name="Text 39"/>
          <p:cNvSpPr/>
          <p:nvPr/>
        </p:nvSpPr>
        <p:spPr>
          <a:xfrm>
            <a:off x="5988834" y="1644848"/>
            <a:ext cx="2619384" cy="121444"/>
          </a:xfrm>
          <a:prstGeom prst="rect">
            <a:avLst/>
          </a:prstGeom>
          <a:noFill/>
        </p:spPr>
        <p:txBody>
          <a:bodyPr wrap="square" lIns="0" tIns="0" rIns="0" bIns="0" rtlCol="0" anchor="t">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ATT&amp;CK MATRIX PREVIEW</a:t>
            </a:r>
            <a:endParaRPr lang="en-US" sz="700" dirty="0"/>
          </a:p>
        </p:txBody>
      </p:sp>
      <p:sp>
        <p:nvSpPr>
          <p:cNvPr id="44" name="Shape 40"/>
          <p:cNvSpPr/>
          <p:nvPr/>
        </p:nvSpPr>
        <p:spPr>
          <a:xfrm>
            <a:off x="5988834" y="1873448"/>
            <a:ext cx="849297" cy="285750"/>
          </a:xfrm>
          <a:prstGeom prst="rect">
            <a:avLst/>
          </a:prstGeom>
          <a:solidFill>
            <a:srgbClr val="F5C518"/>
          </a:solidFill>
          <a:ln w="9144">
            <a:solidFill>
              <a:srgbClr val="F5C518"/>
            </a:solidFill>
            <a:prstDash val="solid"/>
          </a:ln>
        </p:spPr>
      </p:sp>
      <p:sp>
        <p:nvSpPr>
          <p:cNvPr id="45" name="Text 41"/>
          <p:cNvSpPr/>
          <p:nvPr/>
        </p:nvSpPr>
        <p:spPr>
          <a:xfrm>
            <a:off x="5988834" y="1873448"/>
            <a:ext cx="849297" cy="285750"/>
          </a:xfrm>
          <a:prstGeom prst="rect">
            <a:avLst/>
          </a:prstGeom>
          <a:noFill/>
        </p:spPr>
        <p:txBody>
          <a:bodyPr wrap="none" lIns="17018" tIns="17018" rIns="17018" bIns="17018" rtlCol="0" anchor="ctr">
            <a:spAutoFit/>
          </a:bodyPr>
          <a:lstStyle/>
          <a:p>
            <a:pPr marL="0" indent="0" algn="ctr">
              <a:buNone/>
            </a:pPr>
            <a:r>
              <a:rPr lang="en-US" sz="500" b="1" dirty="0">
                <a:solidFill>
                  <a:srgbClr val="000000"/>
                </a:solidFill>
                <a:latin typeface="Inter Bold" pitchFamily="34" charset="0"/>
                <a:ea typeface="Inter Bold" pitchFamily="34" charset="-122"/>
                <a:cs typeface="Inter Bold" pitchFamily="34" charset="-120"/>
              </a:rPr>
              <a:t>Recon</a:t>
            </a:r>
            <a:endParaRPr lang="en-US" sz="500" dirty="0"/>
          </a:p>
        </p:txBody>
      </p:sp>
      <p:sp>
        <p:nvSpPr>
          <p:cNvPr id="46" name="Shape 42"/>
          <p:cNvSpPr/>
          <p:nvPr/>
        </p:nvSpPr>
        <p:spPr>
          <a:xfrm>
            <a:off x="6873850" y="1873448"/>
            <a:ext cx="849325" cy="285750"/>
          </a:xfrm>
          <a:prstGeom prst="rect">
            <a:avLst/>
          </a:prstGeom>
          <a:solidFill>
            <a:srgbClr val="FFFFFF"/>
          </a:solidFill>
          <a:ln w="9144">
            <a:solidFill>
              <a:srgbClr val="DDDDDD"/>
            </a:solidFill>
            <a:prstDash val="solid"/>
          </a:ln>
        </p:spPr>
      </p:sp>
      <p:sp>
        <p:nvSpPr>
          <p:cNvPr id="47" name="Text 43"/>
          <p:cNvSpPr/>
          <p:nvPr/>
        </p:nvSpPr>
        <p:spPr>
          <a:xfrm>
            <a:off x="6873850" y="1873448"/>
            <a:ext cx="849325" cy="285750"/>
          </a:xfrm>
          <a:prstGeom prst="rect">
            <a:avLst/>
          </a:prstGeom>
          <a:noFill/>
        </p:spPr>
        <p:txBody>
          <a:bodyPr wrap="none" lIns="17018" tIns="17018" rIns="17018" bIns="17018" rtlCol="0" anchor="ctr">
            <a:spAutoFit/>
          </a:bodyPr>
          <a:lstStyle/>
          <a:p>
            <a:pPr marL="0" indent="0" algn="ctr">
              <a:buNone/>
            </a:pPr>
            <a:r>
              <a:rPr lang="en-US" sz="500" dirty="0">
                <a:solidFill>
                  <a:srgbClr val="000000"/>
                </a:solidFill>
                <a:latin typeface="Inter" pitchFamily="34" charset="0"/>
                <a:ea typeface="Inter" pitchFamily="34" charset="-122"/>
                <a:cs typeface="Inter" pitchFamily="34" charset="-120"/>
              </a:rPr>
              <a:t>Resource</a:t>
            </a:r>
            <a:endParaRPr lang="en-US" sz="500" dirty="0"/>
          </a:p>
        </p:txBody>
      </p:sp>
      <p:sp>
        <p:nvSpPr>
          <p:cNvPr id="48" name="Shape 44"/>
          <p:cNvSpPr/>
          <p:nvPr/>
        </p:nvSpPr>
        <p:spPr>
          <a:xfrm>
            <a:off x="7758894" y="1873448"/>
            <a:ext cx="849297" cy="285750"/>
          </a:xfrm>
          <a:prstGeom prst="rect">
            <a:avLst/>
          </a:prstGeom>
          <a:solidFill>
            <a:srgbClr val="F5C518"/>
          </a:solidFill>
          <a:ln w="9144">
            <a:solidFill>
              <a:srgbClr val="F5C518"/>
            </a:solidFill>
            <a:prstDash val="solid"/>
          </a:ln>
        </p:spPr>
      </p:sp>
      <p:sp>
        <p:nvSpPr>
          <p:cNvPr id="49" name="Text 45"/>
          <p:cNvSpPr/>
          <p:nvPr/>
        </p:nvSpPr>
        <p:spPr>
          <a:xfrm>
            <a:off x="7758894" y="1873448"/>
            <a:ext cx="849297" cy="285750"/>
          </a:xfrm>
          <a:prstGeom prst="rect">
            <a:avLst/>
          </a:prstGeom>
          <a:noFill/>
        </p:spPr>
        <p:txBody>
          <a:bodyPr wrap="none" lIns="17018" tIns="17018" rIns="17018" bIns="17018" rtlCol="0" anchor="ctr">
            <a:spAutoFit/>
          </a:bodyPr>
          <a:lstStyle/>
          <a:p>
            <a:pPr marL="0" indent="0" algn="ctr">
              <a:buNone/>
            </a:pPr>
            <a:r>
              <a:rPr lang="en-US" sz="500" b="1" dirty="0">
                <a:solidFill>
                  <a:srgbClr val="000000"/>
                </a:solidFill>
                <a:latin typeface="Inter Bold" pitchFamily="34" charset="0"/>
                <a:ea typeface="Inter Bold" pitchFamily="34" charset="-122"/>
                <a:cs typeface="Inter Bold" pitchFamily="34" charset="-120"/>
              </a:rPr>
              <a:t>Initial Access</a:t>
            </a:r>
            <a:endParaRPr lang="en-US" sz="500" dirty="0"/>
          </a:p>
        </p:txBody>
      </p:sp>
      <p:sp>
        <p:nvSpPr>
          <p:cNvPr id="50" name="Shape 46"/>
          <p:cNvSpPr/>
          <p:nvPr/>
        </p:nvSpPr>
        <p:spPr>
          <a:xfrm>
            <a:off x="5988834" y="2194917"/>
            <a:ext cx="849297" cy="285750"/>
          </a:xfrm>
          <a:prstGeom prst="rect">
            <a:avLst/>
          </a:prstGeom>
          <a:solidFill>
            <a:srgbClr val="FFFFFF"/>
          </a:solidFill>
          <a:ln w="9144">
            <a:solidFill>
              <a:srgbClr val="DDDDDD"/>
            </a:solidFill>
            <a:prstDash val="solid"/>
          </a:ln>
        </p:spPr>
      </p:sp>
      <p:sp>
        <p:nvSpPr>
          <p:cNvPr id="51" name="Text 47"/>
          <p:cNvSpPr/>
          <p:nvPr/>
        </p:nvSpPr>
        <p:spPr>
          <a:xfrm>
            <a:off x="5988834" y="2194917"/>
            <a:ext cx="849297" cy="285750"/>
          </a:xfrm>
          <a:prstGeom prst="rect">
            <a:avLst/>
          </a:prstGeom>
          <a:noFill/>
        </p:spPr>
        <p:txBody>
          <a:bodyPr wrap="none" lIns="17018" tIns="17018" rIns="17018" bIns="17018" rtlCol="0" anchor="ctr">
            <a:spAutoFit/>
          </a:bodyPr>
          <a:lstStyle/>
          <a:p>
            <a:pPr marL="0" indent="0" algn="ctr">
              <a:buNone/>
            </a:pPr>
            <a:r>
              <a:rPr lang="en-US" sz="500" dirty="0">
                <a:solidFill>
                  <a:srgbClr val="000000"/>
                </a:solidFill>
                <a:latin typeface="Inter" pitchFamily="34" charset="0"/>
                <a:ea typeface="Inter" pitchFamily="34" charset="-122"/>
                <a:cs typeface="Inter" pitchFamily="34" charset="-120"/>
              </a:rPr>
              <a:t>Execution</a:t>
            </a:r>
            <a:endParaRPr lang="en-US" sz="500" dirty="0"/>
          </a:p>
        </p:txBody>
      </p:sp>
      <p:sp>
        <p:nvSpPr>
          <p:cNvPr id="52" name="Shape 48"/>
          <p:cNvSpPr/>
          <p:nvPr/>
        </p:nvSpPr>
        <p:spPr>
          <a:xfrm>
            <a:off x="6873850" y="2194917"/>
            <a:ext cx="849325" cy="285750"/>
          </a:xfrm>
          <a:prstGeom prst="rect">
            <a:avLst/>
          </a:prstGeom>
          <a:solidFill>
            <a:srgbClr val="F5C518"/>
          </a:solidFill>
          <a:ln w="9144">
            <a:solidFill>
              <a:srgbClr val="F5C518"/>
            </a:solidFill>
            <a:prstDash val="solid"/>
          </a:ln>
        </p:spPr>
      </p:sp>
      <p:sp>
        <p:nvSpPr>
          <p:cNvPr id="53" name="Text 49"/>
          <p:cNvSpPr/>
          <p:nvPr/>
        </p:nvSpPr>
        <p:spPr>
          <a:xfrm>
            <a:off x="6873850" y="2194917"/>
            <a:ext cx="849325" cy="285750"/>
          </a:xfrm>
          <a:prstGeom prst="rect">
            <a:avLst/>
          </a:prstGeom>
          <a:noFill/>
        </p:spPr>
        <p:txBody>
          <a:bodyPr wrap="none" lIns="17018" tIns="17018" rIns="17018" bIns="17018" rtlCol="0" anchor="ctr">
            <a:spAutoFit/>
          </a:bodyPr>
          <a:lstStyle/>
          <a:p>
            <a:pPr marL="0" indent="0" algn="ctr">
              <a:buNone/>
            </a:pPr>
            <a:r>
              <a:rPr lang="en-US" sz="500" b="1" dirty="0">
                <a:solidFill>
                  <a:srgbClr val="000000"/>
                </a:solidFill>
                <a:latin typeface="Inter Bold" pitchFamily="34" charset="0"/>
                <a:ea typeface="Inter Bold" pitchFamily="34" charset="-122"/>
                <a:cs typeface="Inter Bold" pitchFamily="34" charset="-120"/>
              </a:rPr>
              <a:t>Persistence</a:t>
            </a:r>
            <a:endParaRPr lang="en-US" sz="500" dirty="0"/>
          </a:p>
        </p:txBody>
      </p:sp>
      <p:sp>
        <p:nvSpPr>
          <p:cNvPr id="54" name="Shape 50"/>
          <p:cNvSpPr/>
          <p:nvPr/>
        </p:nvSpPr>
        <p:spPr>
          <a:xfrm>
            <a:off x="7758894" y="2194917"/>
            <a:ext cx="849297" cy="285750"/>
          </a:xfrm>
          <a:prstGeom prst="rect">
            <a:avLst/>
          </a:prstGeom>
          <a:solidFill>
            <a:srgbClr val="FFFFFF"/>
          </a:solidFill>
          <a:ln w="9144">
            <a:solidFill>
              <a:srgbClr val="DDDDDD"/>
            </a:solidFill>
            <a:prstDash val="solid"/>
          </a:ln>
        </p:spPr>
      </p:sp>
      <p:sp>
        <p:nvSpPr>
          <p:cNvPr id="55" name="Text 51"/>
          <p:cNvSpPr/>
          <p:nvPr/>
        </p:nvSpPr>
        <p:spPr>
          <a:xfrm>
            <a:off x="7758894" y="2194917"/>
            <a:ext cx="849297" cy="285750"/>
          </a:xfrm>
          <a:prstGeom prst="rect">
            <a:avLst/>
          </a:prstGeom>
          <a:noFill/>
        </p:spPr>
        <p:txBody>
          <a:bodyPr wrap="none" lIns="17018" tIns="17018" rIns="17018" bIns="17018" rtlCol="0" anchor="ctr">
            <a:spAutoFit/>
          </a:bodyPr>
          <a:lstStyle/>
          <a:p>
            <a:pPr marL="0" indent="0" algn="ctr">
              <a:buNone/>
            </a:pPr>
            <a:r>
              <a:rPr lang="en-US" sz="500" dirty="0">
                <a:solidFill>
                  <a:srgbClr val="000000"/>
                </a:solidFill>
                <a:latin typeface="Inter" pitchFamily="34" charset="0"/>
                <a:ea typeface="Inter" pitchFamily="34" charset="-122"/>
                <a:cs typeface="Inter" pitchFamily="34" charset="-120"/>
              </a:rPr>
              <a:t>Privilege</a:t>
            </a:r>
            <a:endParaRPr lang="en-US" sz="500" dirty="0"/>
          </a:p>
        </p:txBody>
      </p:sp>
      <p:sp>
        <p:nvSpPr>
          <p:cNvPr id="56" name="Shape 52"/>
          <p:cNvSpPr/>
          <p:nvPr/>
        </p:nvSpPr>
        <p:spPr>
          <a:xfrm>
            <a:off x="5988834" y="2516386"/>
            <a:ext cx="849297" cy="285750"/>
          </a:xfrm>
          <a:prstGeom prst="rect">
            <a:avLst/>
          </a:prstGeom>
          <a:solidFill>
            <a:srgbClr val="FFFFFF"/>
          </a:solidFill>
          <a:ln w="9144">
            <a:solidFill>
              <a:srgbClr val="DDDDDD"/>
            </a:solidFill>
            <a:prstDash val="solid"/>
          </a:ln>
        </p:spPr>
      </p:sp>
      <p:sp>
        <p:nvSpPr>
          <p:cNvPr id="57" name="Text 53"/>
          <p:cNvSpPr/>
          <p:nvPr/>
        </p:nvSpPr>
        <p:spPr>
          <a:xfrm>
            <a:off x="5988834" y="2516386"/>
            <a:ext cx="849297" cy="285750"/>
          </a:xfrm>
          <a:prstGeom prst="rect">
            <a:avLst/>
          </a:prstGeom>
          <a:noFill/>
        </p:spPr>
        <p:txBody>
          <a:bodyPr wrap="none" lIns="17018" tIns="17018" rIns="17018" bIns="17018" rtlCol="0" anchor="ctr">
            <a:spAutoFit/>
          </a:bodyPr>
          <a:lstStyle/>
          <a:p>
            <a:pPr marL="0" indent="0" algn="ctr">
              <a:buNone/>
            </a:pPr>
            <a:r>
              <a:rPr lang="en-US" sz="500" dirty="0">
                <a:solidFill>
                  <a:srgbClr val="000000"/>
                </a:solidFill>
                <a:latin typeface="Inter" pitchFamily="34" charset="0"/>
                <a:ea typeface="Inter" pitchFamily="34" charset="-122"/>
                <a:cs typeface="Inter" pitchFamily="34" charset="-120"/>
              </a:rPr>
              <a:t>Defense</a:t>
            </a:r>
            <a:endParaRPr lang="en-US" sz="500" dirty="0"/>
          </a:p>
        </p:txBody>
      </p:sp>
      <p:sp>
        <p:nvSpPr>
          <p:cNvPr id="58" name="Shape 54"/>
          <p:cNvSpPr/>
          <p:nvPr/>
        </p:nvSpPr>
        <p:spPr>
          <a:xfrm>
            <a:off x="6873850" y="2516386"/>
            <a:ext cx="849325" cy="285750"/>
          </a:xfrm>
          <a:prstGeom prst="rect">
            <a:avLst/>
          </a:prstGeom>
          <a:solidFill>
            <a:srgbClr val="F5C518"/>
          </a:solidFill>
          <a:ln w="9144">
            <a:solidFill>
              <a:srgbClr val="F5C518"/>
            </a:solidFill>
            <a:prstDash val="solid"/>
          </a:ln>
        </p:spPr>
      </p:sp>
      <p:sp>
        <p:nvSpPr>
          <p:cNvPr id="59" name="Text 55"/>
          <p:cNvSpPr/>
          <p:nvPr/>
        </p:nvSpPr>
        <p:spPr>
          <a:xfrm>
            <a:off x="6873850" y="2516386"/>
            <a:ext cx="849325" cy="285750"/>
          </a:xfrm>
          <a:prstGeom prst="rect">
            <a:avLst/>
          </a:prstGeom>
          <a:noFill/>
        </p:spPr>
        <p:txBody>
          <a:bodyPr wrap="none" lIns="17018" tIns="17018" rIns="17018" bIns="17018" rtlCol="0" anchor="ctr">
            <a:spAutoFit/>
          </a:bodyPr>
          <a:lstStyle/>
          <a:p>
            <a:pPr marL="0" indent="0" algn="ctr">
              <a:buNone/>
            </a:pPr>
            <a:r>
              <a:rPr lang="en-US" sz="500" b="1" dirty="0">
                <a:solidFill>
                  <a:srgbClr val="000000"/>
                </a:solidFill>
                <a:latin typeface="Inter Bold" pitchFamily="34" charset="0"/>
                <a:ea typeface="Inter Bold" pitchFamily="34" charset="-122"/>
                <a:cs typeface="Inter Bold" pitchFamily="34" charset="-120"/>
              </a:rPr>
              <a:t>Credential</a:t>
            </a:r>
            <a:endParaRPr lang="en-US" sz="500" dirty="0"/>
          </a:p>
        </p:txBody>
      </p:sp>
      <p:sp>
        <p:nvSpPr>
          <p:cNvPr id="60" name="Shape 56"/>
          <p:cNvSpPr/>
          <p:nvPr/>
        </p:nvSpPr>
        <p:spPr>
          <a:xfrm>
            <a:off x="7758894" y="2516386"/>
            <a:ext cx="849297" cy="285750"/>
          </a:xfrm>
          <a:prstGeom prst="rect">
            <a:avLst/>
          </a:prstGeom>
          <a:solidFill>
            <a:srgbClr val="FFFFFF"/>
          </a:solidFill>
          <a:ln w="9144">
            <a:solidFill>
              <a:srgbClr val="DDDDDD"/>
            </a:solidFill>
            <a:prstDash val="solid"/>
          </a:ln>
        </p:spPr>
      </p:sp>
      <p:sp>
        <p:nvSpPr>
          <p:cNvPr id="61" name="Text 57"/>
          <p:cNvSpPr/>
          <p:nvPr/>
        </p:nvSpPr>
        <p:spPr>
          <a:xfrm>
            <a:off x="7758894" y="2516386"/>
            <a:ext cx="849297" cy="285750"/>
          </a:xfrm>
          <a:prstGeom prst="rect">
            <a:avLst/>
          </a:prstGeom>
          <a:noFill/>
        </p:spPr>
        <p:txBody>
          <a:bodyPr wrap="none" lIns="17018" tIns="17018" rIns="17018" bIns="17018" rtlCol="0" anchor="ctr">
            <a:spAutoFit/>
          </a:bodyPr>
          <a:lstStyle/>
          <a:p>
            <a:pPr marL="0" indent="0" algn="ctr">
              <a:buNone/>
            </a:pPr>
            <a:r>
              <a:rPr lang="en-US" sz="500" dirty="0">
                <a:solidFill>
                  <a:srgbClr val="000000"/>
                </a:solidFill>
                <a:latin typeface="Inter" pitchFamily="34" charset="0"/>
                <a:ea typeface="Inter" pitchFamily="34" charset="-122"/>
                <a:cs typeface="Inter" pitchFamily="34" charset="-120"/>
              </a:rPr>
              <a:t>Discovery</a:t>
            </a:r>
            <a:endParaRPr lang="en-US" sz="500" dirty="0"/>
          </a:p>
        </p:txBody>
      </p:sp>
      <p:sp>
        <p:nvSpPr>
          <p:cNvPr id="62" name="Shape 58"/>
          <p:cNvSpPr/>
          <p:nvPr/>
        </p:nvSpPr>
        <p:spPr>
          <a:xfrm>
            <a:off x="5988834" y="2837855"/>
            <a:ext cx="849297" cy="285750"/>
          </a:xfrm>
          <a:prstGeom prst="rect">
            <a:avLst/>
          </a:prstGeom>
          <a:solidFill>
            <a:srgbClr val="F5C518"/>
          </a:solidFill>
          <a:ln w="9144">
            <a:solidFill>
              <a:srgbClr val="F5C518"/>
            </a:solidFill>
            <a:prstDash val="solid"/>
          </a:ln>
        </p:spPr>
      </p:sp>
      <p:sp>
        <p:nvSpPr>
          <p:cNvPr id="63" name="Text 59"/>
          <p:cNvSpPr/>
          <p:nvPr/>
        </p:nvSpPr>
        <p:spPr>
          <a:xfrm>
            <a:off x="5988834" y="2837855"/>
            <a:ext cx="849297" cy="285750"/>
          </a:xfrm>
          <a:prstGeom prst="rect">
            <a:avLst/>
          </a:prstGeom>
          <a:noFill/>
        </p:spPr>
        <p:txBody>
          <a:bodyPr wrap="none" lIns="17018" tIns="17018" rIns="17018" bIns="17018" rtlCol="0" anchor="ctr">
            <a:spAutoFit/>
          </a:bodyPr>
          <a:lstStyle/>
          <a:p>
            <a:pPr marL="0" indent="0" algn="ctr">
              <a:buNone/>
            </a:pPr>
            <a:r>
              <a:rPr lang="en-US" sz="500" b="1" dirty="0">
                <a:solidFill>
                  <a:srgbClr val="000000"/>
                </a:solidFill>
                <a:latin typeface="Inter Bold" pitchFamily="34" charset="0"/>
                <a:ea typeface="Inter Bold" pitchFamily="34" charset="-122"/>
                <a:cs typeface="Inter Bold" pitchFamily="34" charset="-120"/>
              </a:rPr>
              <a:t>Lateral</a:t>
            </a:r>
            <a:endParaRPr lang="en-US" sz="500" dirty="0"/>
          </a:p>
        </p:txBody>
      </p:sp>
      <p:sp>
        <p:nvSpPr>
          <p:cNvPr id="64" name="Shape 60"/>
          <p:cNvSpPr/>
          <p:nvPr/>
        </p:nvSpPr>
        <p:spPr>
          <a:xfrm>
            <a:off x="6873850" y="2837855"/>
            <a:ext cx="849325" cy="285750"/>
          </a:xfrm>
          <a:prstGeom prst="rect">
            <a:avLst/>
          </a:prstGeom>
          <a:solidFill>
            <a:srgbClr val="FFFFFF"/>
          </a:solidFill>
          <a:ln w="9144">
            <a:solidFill>
              <a:srgbClr val="DDDDDD"/>
            </a:solidFill>
            <a:prstDash val="solid"/>
          </a:ln>
        </p:spPr>
      </p:sp>
      <p:sp>
        <p:nvSpPr>
          <p:cNvPr id="65" name="Text 61"/>
          <p:cNvSpPr/>
          <p:nvPr/>
        </p:nvSpPr>
        <p:spPr>
          <a:xfrm>
            <a:off x="6873850" y="2837855"/>
            <a:ext cx="849325" cy="285750"/>
          </a:xfrm>
          <a:prstGeom prst="rect">
            <a:avLst/>
          </a:prstGeom>
          <a:noFill/>
        </p:spPr>
        <p:txBody>
          <a:bodyPr wrap="none" lIns="17018" tIns="17018" rIns="17018" bIns="17018" rtlCol="0" anchor="ctr">
            <a:spAutoFit/>
          </a:bodyPr>
          <a:lstStyle/>
          <a:p>
            <a:pPr marL="0" indent="0" algn="ctr">
              <a:buNone/>
            </a:pPr>
            <a:r>
              <a:rPr lang="en-US" sz="500" dirty="0">
                <a:solidFill>
                  <a:srgbClr val="000000"/>
                </a:solidFill>
                <a:latin typeface="Inter" pitchFamily="34" charset="0"/>
                <a:ea typeface="Inter" pitchFamily="34" charset="-122"/>
                <a:cs typeface="Inter" pitchFamily="34" charset="-120"/>
              </a:rPr>
              <a:t>Collection</a:t>
            </a:r>
            <a:endParaRPr lang="en-US" sz="500" dirty="0"/>
          </a:p>
        </p:txBody>
      </p:sp>
      <p:sp>
        <p:nvSpPr>
          <p:cNvPr id="66" name="Shape 62"/>
          <p:cNvSpPr/>
          <p:nvPr/>
        </p:nvSpPr>
        <p:spPr>
          <a:xfrm>
            <a:off x="7758894" y="2837855"/>
            <a:ext cx="849297" cy="285750"/>
          </a:xfrm>
          <a:prstGeom prst="rect">
            <a:avLst/>
          </a:prstGeom>
          <a:solidFill>
            <a:srgbClr val="F5C518"/>
          </a:solidFill>
          <a:ln w="9144">
            <a:solidFill>
              <a:srgbClr val="F5C518"/>
            </a:solidFill>
            <a:prstDash val="solid"/>
          </a:ln>
        </p:spPr>
      </p:sp>
      <p:sp>
        <p:nvSpPr>
          <p:cNvPr id="67" name="Text 63"/>
          <p:cNvSpPr/>
          <p:nvPr/>
        </p:nvSpPr>
        <p:spPr>
          <a:xfrm>
            <a:off x="7758894" y="2837855"/>
            <a:ext cx="849297" cy="285750"/>
          </a:xfrm>
          <a:prstGeom prst="rect">
            <a:avLst/>
          </a:prstGeom>
          <a:noFill/>
        </p:spPr>
        <p:txBody>
          <a:bodyPr wrap="none" lIns="17018" tIns="17018" rIns="17018" bIns="17018" rtlCol="0" anchor="ctr">
            <a:spAutoFit/>
          </a:bodyPr>
          <a:lstStyle/>
          <a:p>
            <a:pPr marL="0" indent="0" algn="ctr">
              <a:buNone/>
            </a:pPr>
            <a:r>
              <a:rPr lang="en-US" sz="500" b="1" dirty="0">
                <a:solidFill>
                  <a:srgbClr val="000000"/>
                </a:solidFill>
                <a:latin typeface="Inter Bold" pitchFamily="34" charset="0"/>
                <a:ea typeface="Inter Bold" pitchFamily="34" charset="-122"/>
                <a:cs typeface="Inter Bold" pitchFamily="34" charset="-120"/>
              </a:rPr>
              <a:t>C2</a:t>
            </a:r>
            <a:endParaRPr lang="en-US" sz="500" dirty="0"/>
          </a:p>
        </p:txBody>
      </p:sp>
      <p:sp>
        <p:nvSpPr>
          <p:cNvPr id="68" name="Shape 64"/>
          <p:cNvSpPr/>
          <p:nvPr/>
        </p:nvSpPr>
        <p:spPr>
          <a:xfrm>
            <a:off x="5988834" y="3159323"/>
            <a:ext cx="849297" cy="285750"/>
          </a:xfrm>
          <a:prstGeom prst="rect">
            <a:avLst/>
          </a:prstGeom>
          <a:solidFill>
            <a:srgbClr val="FFFFFF"/>
          </a:solidFill>
          <a:ln w="9144">
            <a:solidFill>
              <a:srgbClr val="DDDDDD"/>
            </a:solidFill>
            <a:prstDash val="solid"/>
          </a:ln>
        </p:spPr>
      </p:sp>
      <p:sp>
        <p:nvSpPr>
          <p:cNvPr id="69" name="Text 65"/>
          <p:cNvSpPr/>
          <p:nvPr/>
        </p:nvSpPr>
        <p:spPr>
          <a:xfrm>
            <a:off x="5988834" y="3159323"/>
            <a:ext cx="849297" cy="285750"/>
          </a:xfrm>
          <a:prstGeom prst="rect">
            <a:avLst/>
          </a:prstGeom>
          <a:noFill/>
        </p:spPr>
        <p:txBody>
          <a:bodyPr wrap="none" lIns="17018" tIns="17018" rIns="17018" bIns="17018" rtlCol="0" anchor="ctr">
            <a:spAutoFit/>
          </a:bodyPr>
          <a:lstStyle/>
          <a:p>
            <a:pPr marL="0" indent="0" algn="ctr">
              <a:buNone/>
            </a:pPr>
            <a:r>
              <a:rPr lang="en-US" sz="500" dirty="0">
                <a:solidFill>
                  <a:srgbClr val="000000"/>
                </a:solidFill>
                <a:latin typeface="Inter" pitchFamily="34" charset="0"/>
                <a:ea typeface="Inter" pitchFamily="34" charset="-122"/>
                <a:cs typeface="Inter" pitchFamily="34" charset="-120"/>
              </a:rPr>
              <a:t>Exfiltration</a:t>
            </a:r>
            <a:endParaRPr lang="en-US" sz="500" dirty="0"/>
          </a:p>
        </p:txBody>
      </p:sp>
      <p:sp>
        <p:nvSpPr>
          <p:cNvPr id="70" name="Shape 66"/>
          <p:cNvSpPr/>
          <p:nvPr/>
        </p:nvSpPr>
        <p:spPr>
          <a:xfrm>
            <a:off x="6873850" y="3159323"/>
            <a:ext cx="849325" cy="285750"/>
          </a:xfrm>
          <a:prstGeom prst="rect">
            <a:avLst/>
          </a:prstGeom>
          <a:solidFill>
            <a:srgbClr val="F5C518"/>
          </a:solidFill>
          <a:ln w="9144">
            <a:solidFill>
              <a:srgbClr val="F5C518"/>
            </a:solidFill>
            <a:prstDash val="solid"/>
          </a:ln>
        </p:spPr>
      </p:sp>
      <p:sp>
        <p:nvSpPr>
          <p:cNvPr id="71" name="Text 67"/>
          <p:cNvSpPr/>
          <p:nvPr/>
        </p:nvSpPr>
        <p:spPr>
          <a:xfrm>
            <a:off x="6873850" y="3159323"/>
            <a:ext cx="849325" cy="285750"/>
          </a:xfrm>
          <a:prstGeom prst="rect">
            <a:avLst/>
          </a:prstGeom>
          <a:noFill/>
        </p:spPr>
        <p:txBody>
          <a:bodyPr wrap="none" lIns="17018" tIns="17018" rIns="17018" bIns="17018" rtlCol="0" anchor="ctr">
            <a:spAutoFit/>
          </a:bodyPr>
          <a:lstStyle/>
          <a:p>
            <a:pPr marL="0" indent="0" algn="ctr">
              <a:buNone/>
            </a:pPr>
            <a:r>
              <a:rPr lang="en-US" sz="500" b="1" dirty="0">
                <a:solidFill>
                  <a:srgbClr val="000000"/>
                </a:solidFill>
                <a:latin typeface="Inter Bold" pitchFamily="34" charset="0"/>
                <a:ea typeface="Inter Bold" pitchFamily="34" charset="-122"/>
                <a:cs typeface="Inter Bold" pitchFamily="34" charset="-120"/>
              </a:rPr>
              <a:t>Impact</a:t>
            </a:r>
            <a:endParaRPr lang="en-US" sz="500" dirty="0"/>
          </a:p>
        </p:txBody>
      </p:sp>
      <p:sp>
        <p:nvSpPr>
          <p:cNvPr id="72" name="Shape 68"/>
          <p:cNvSpPr/>
          <p:nvPr/>
        </p:nvSpPr>
        <p:spPr>
          <a:xfrm>
            <a:off x="7758894" y="3159323"/>
            <a:ext cx="849297" cy="285750"/>
          </a:xfrm>
          <a:prstGeom prst="rect">
            <a:avLst/>
          </a:prstGeom>
          <a:solidFill>
            <a:srgbClr val="FFFFFF"/>
          </a:solidFill>
          <a:ln w="9144">
            <a:solidFill>
              <a:srgbClr val="DDDDDD"/>
            </a:solidFill>
            <a:prstDash val="solid"/>
          </a:ln>
        </p:spPr>
      </p:sp>
      <p:sp>
        <p:nvSpPr>
          <p:cNvPr id="73" name="Text 69"/>
          <p:cNvSpPr/>
          <p:nvPr/>
        </p:nvSpPr>
        <p:spPr>
          <a:xfrm>
            <a:off x="7758894" y="3159323"/>
            <a:ext cx="849297" cy="285750"/>
          </a:xfrm>
          <a:prstGeom prst="rect">
            <a:avLst/>
          </a:prstGeom>
          <a:noFill/>
        </p:spPr>
        <p:txBody>
          <a:bodyPr wrap="none" lIns="17018" tIns="17018" rIns="17018" bIns="17018" rtlCol="0" anchor="ctr">
            <a:spAutoFit/>
          </a:bodyPr>
          <a:lstStyle/>
          <a:p>
            <a:pPr marL="0" indent="0" algn="ctr">
              <a:buNone/>
            </a:pPr>
            <a:r>
              <a:rPr lang="en-US" sz="500" dirty="0">
                <a:solidFill>
                  <a:srgbClr val="000000"/>
                </a:solidFill>
                <a:latin typeface="Inter" pitchFamily="34" charset="0"/>
                <a:ea typeface="Inter" pitchFamily="34" charset="-122"/>
                <a:cs typeface="Inter" pitchFamily="34" charset="-120"/>
              </a:rPr>
              <a:t>...</a:t>
            </a:r>
            <a:endParaRPr lang="en-US" sz="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224242" y="4018359"/>
            <a:ext cx="634008" cy="553641"/>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06</a:t>
            </a:r>
            <a:endParaRPr lang="en-US" sz="3300" dirty="0"/>
          </a:p>
        </p:txBody>
      </p:sp>
      <p:sp>
        <p:nvSpPr>
          <p:cNvPr id="7" name="Text 4"/>
          <p:cNvSpPr/>
          <p:nvPr/>
        </p:nvSpPr>
        <p:spPr>
          <a:xfrm>
            <a:off x="428625" y="714375"/>
            <a:ext cx="8286750" cy="364331"/>
          </a:xfrm>
          <a:prstGeom prst="rect">
            <a:avLst/>
          </a:prstGeom>
          <a:noFill/>
        </p:spPr>
        <p:txBody>
          <a:bodyPr wrap="square" lIns="0" tIns="0" rIns="0" bIns="0" rtlCol="0" anchor="t">
            <a:spAutoFit/>
          </a:bodyPr>
          <a:lstStyle/>
          <a:p>
            <a:pPr marL="0" indent="0" algn="l">
              <a:buNone/>
            </a:pPr>
            <a:r>
              <a:rPr lang="en-US" sz="2100" b="1" dirty="0">
                <a:solidFill>
                  <a:srgbClr val="000000"/>
                </a:solidFill>
                <a:latin typeface="Inter Black" pitchFamily="34" charset="0"/>
                <a:ea typeface="Inter Black" pitchFamily="34" charset="-122"/>
                <a:cs typeface="Inter Black" pitchFamily="34" charset="-120"/>
              </a:rPr>
              <a:t>Remember the 7 Days? Let's Name Them Properly.</a:t>
            </a:r>
            <a:endParaRPr lang="en-US" sz="2100" dirty="0"/>
          </a:p>
        </p:txBody>
      </p:sp>
      <p:sp>
        <p:nvSpPr>
          <p:cNvPr id="8" name="Text 5"/>
          <p:cNvSpPr/>
          <p:nvPr/>
        </p:nvSpPr>
        <p:spPr>
          <a:xfrm>
            <a:off x="428625" y="1293019"/>
            <a:ext cx="3314700" cy="155377"/>
          </a:xfrm>
          <a:prstGeom prst="rect">
            <a:avLst/>
          </a:prstGeom>
          <a:noFill/>
        </p:spPr>
        <p:txBody>
          <a:bodyPr wrap="square" lIns="0" tIns="0" rIns="0" bIns="0" rtlCol="0" anchor="t">
            <a:spAutoFit/>
          </a:bodyPr>
          <a:lstStyle/>
          <a:p>
            <a:pPr marL="0" indent="0" algn="l">
              <a:buNone/>
            </a:pPr>
            <a:r>
              <a:rPr lang="en-US" sz="900" b="1" kern="0" spc="1" dirty="0">
                <a:solidFill>
                  <a:srgbClr val="000000"/>
                </a:solidFill>
                <a:latin typeface="Inter Black" pitchFamily="34" charset="0"/>
                <a:ea typeface="Inter Black" pitchFamily="34" charset="-122"/>
                <a:cs typeface="Inter Black" pitchFamily="34" charset="-120"/>
              </a:rPr>
              <a:t>THE STORY</a:t>
            </a:r>
            <a:endParaRPr lang="en-US" sz="900" dirty="0"/>
          </a:p>
        </p:txBody>
      </p:sp>
      <p:sp>
        <p:nvSpPr>
          <p:cNvPr id="9" name="Text 6"/>
          <p:cNvSpPr/>
          <p:nvPr/>
        </p:nvSpPr>
        <p:spPr>
          <a:xfrm>
            <a:off x="4572000" y="1293019"/>
            <a:ext cx="4143375" cy="155377"/>
          </a:xfrm>
          <a:prstGeom prst="rect">
            <a:avLst/>
          </a:prstGeom>
          <a:noFill/>
        </p:spPr>
        <p:txBody>
          <a:bodyPr wrap="square" lIns="0" tIns="0" rIns="0" bIns="0" rtlCol="0" anchor="t">
            <a:spAutoFit/>
          </a:bodyPr>
          <a:lstStyle/>
          <a:p>
            <a:pPr marL="0" indent="0" algn="l">
              <a:buNone/>
            </a:pPr>
            <a:r>
              <a:rPr lang="en-US" sz="900" b="1" kern="0" spc="1" dirty="0">
                <a:solidFill>
                  <a:srgbClr val="000000"/>
                </a:solidFill>
                <a:latin typeface="Inter Black" pitchFamily="34" charset="0"/>
                <a:ea typeface="Inter Black" pitchFamily="34" charset="-122"/>
                <a:cs typeface="Inter Black" pitchFamily="34" charset="-120"/>
              </a:rPr>
              <a:t>THE ATT&amp;CK NAME</a:t>
            </a:r>
            <a:endParaRPr lang="en-US" sz="900" dirty="0"/>
          </a:p>
        </p:txBody>
      </p:sp>
      <p:sp>
        <p:nvSpPr>
          <p:cNvPr id="10" name="Shape 7"/>
          <p:cNvSpPr/>
          <p:nvPr/>
        </p:nvSpPr>
        <p:spPr>
          <a:xfrm>
            <a:off x="428625" y="1641277"/>
            <a:ext cx="8286750" cy="350044"/>
          </a:xfrm>
          <a:prstGeom prst="rect">
            <a:avLst/>
          </a:prstGeom>
          <a:solidFill>
            <a:srgbClr val="F9F9F9"/>
          </a:solidFill>
        </p:spPr>
      </p:sp>
      <p:sp>
        <p:nvSpPr>
          <p:cNvPr id="11" name="Shape 8"/>
          <p:cNvSpPr/>
          <p:nvPr/>
        </p:nvSpPr>
        <p:spPr>
          <a:xfrm>
            <a:off x="428625" y="1984177"/>
            <a:ext cx="8286750" cy="7144"/>
          </a:xfrm>
          <a:prstGeom prst="rect">
            <a:avLst/>
          </a:prstGeom>
          <a:solidFill>
            <a:srgbClr val="EEEEEE"/>
          </a:solidFill>
        </p:spPr>
      </p:sp>
      <p:sp>
        <p:nvSpPr>
          <p:cNvPr id="12" name="Shape 9"/>
          <p:cNvSpPr/>
          <p:nvPr/>
        </p:nvSpPr>
        <p:spPr>
          <a:xfrm>
            <a:off x="428625" y="1712714"/>
            <a:ext cx="200025" cy="200025"/>
          </a:xfrm>
          <a:prstGeom prst="ellipse">
            <a:avLst/>
          </a:prstGeom>
          <a:solidFill>
            <a:srgbClr val="F5C518"/>
          </a:solidFill>
        </p:spPr>
      </p:sp>
      <p:sp>
        <p:nvSpPr>
          <p:cNvPr id="13" name="Text 10"/>
          <p:cNvSpPr/>
          <p:nvPr/>
        </p:nvSpPr>
        <p:spPr>
          <a:xfrm>
            <a:off x="428625" y="1712714"/>
            <a:ext cx="200025" cy="2000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lack" pitchFamily="34" charset="0"/>
                <a:ea typeface="Inter Black" pitchFamily="34" charset="-122"/>
                <a:cs typeface="Inter Black" pitchFamily="34" charset="-120"/>
              </a:rPr>
              <a:t>1</a:t>
            </a:r>
            <a:endParaRPr lang="en-US" sz="700" dirty="0"/>
          </a:p>
        </p:txBody>
      </p:sp>
      <p:sp>
        <p:nvSpPr>
          <p:cNvPr id="14" name="Text 11"/>
          <p:cNvSpPr/>
          <p:nvPr/>
        </p:nvSpPr>
        <p:spPr>
          <a:xfrm>
            <a:off x="700088" y="1743968"/>
            <a:ext cx="350044"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Recon</a:t>
            </a:r>
            <a:endParaRPr lang="en-US" sz="800" dirty="0"/>
          </a:p>
        </p:txBody>
      </p:sp>
      <p:pic>
        <p:nvPicPr>
          <p:cNvPr id="15" name="Image 1" descr="preencoded.png"/>
          <p:cNvPicPr>
            <a:picLocks noChangeAspect="1"/>
          </p:cNvPicPr>
          <p:nvPr/>
        </p:nvPicPr>
        <p:blipFill>
          <a:blip r:embed="rId2"/>
          <a:stretch>
            <a:fillRect/>
          </a:stretch>
        </p:blipFill>
        <p:spPr>
          <a:xfrm>
            <a:off x="4093369" y="1743075"/>
            <a:ext cx="128588" cy="128588"/>
          </a:xfrm>
          <a:prstGeom prst="rect">
            <a:avLst/>
          </a:prstGeom>
        </p:spPr>
      </p:pic>
      <p:sp>
        <p:nvSpPr>
          <p:cNvPr id="16" name="Text 12"/>
          <p:cNvSpPr/>
          <p:nvPr/>
        </p:nvSpPr>
        <p:spPr>
          <a:xfrm>
            <a:off x="4572000" y="1770757"/>
            <a:ext cx="323255" cy="105370"/>
          </a:xfrm>
          <a:prstGeom prst="rect">
            <a:avLst/>
          </a:prstGeom>
          <a:noFill/>
        </p:spPr>
        <p:txBody>
          <a:bodyPr wrap="none" lIns="0" tIns="0" rIns="0" bIns="0" rtlCol="0" anchor="t">
            <a:spAutoFit/>
          </a:bodyPr>
          <a:lstStyle/>
          <a:p>
            <a:pPr marL="0" indent="0" algn="l">
              <a:buNone/>
            </a:pPr>
            <a:r>
              <a:rPr lang="en-US" sz="600" dirty="0">
                <a:solidFill>
                  <a:srgbClr val="888888"/>
                </a:solidFill>
                <a:latin typeface="Inter" pitchFamily="34" charset="0"/>
                <a:ea typeface="Inter" pitchFamily="34" charset="-122"/>
                <a:cs typeface="Inter" pitchFamily="34" charset="-120"/>
              </a:rPr>
              <a:t>TA0043</a:t>
            </a:r>
            <a:endParaRPr lang="en-US" sz="600" dirty="0"/>
          </a:p>
        </p:txBody>
      </p:sp>
      <p:sp>
        <p:nvSpPr>
          <p:cNvPr id="17" name="Text 13"/>
          <p:cNvSpPr/>
          <p:nvPr/>
        </p:nvSpPr>
        <p:spPr>
          <a:xfrm>
            <a:off x="4980980" y="1743968"/>
            <a:ext cx="332184" cy="137517"/>
          </a:xfrm>
          <a:prstGeom prst="rect">
            <a:avLst/>
          </a:prstGeom>
          <a:noFill/>
        </p:spPr>
        <p:txBody>
          <a:bodyPr wrap="none" lIns="0" tIns="0" rIns="0" bIns="0" rtlCol="0" anchor="t">
            <a:spAutoFit/>
          </a:bodyPr>
          <a:lstStyle/>
          <a:p>
            <a:pPr marL="0" indent="0" algn="l">
              <a:buNone/>
            </a:pPr>
            <a:r>
              <a:rPr lang="en-US" sz="800" b="1" dirty="0">
                <a:solidFill>
                  <a:srgbClr val="F5C518"/>
                </a:solidFill>
                <a:latin typeface="Inter Black" pitchFamily="34" charset="0"/>
                <a:ea typeface="Inter Black" pitchFamily="34" charset="-122"/>
                <a:cs typeface="Inter Black" pitchFamily="34" charset="-120"/>
              </a:rPr>
              <a:t>T1591</a:t>
            </a:r>
            <a:endParaRPr lang="en-US" sz="800" dirty="0"/>
          </a:p>
        </p:txBody>
      </p:sp>
      <p:sp>
        <p:nvSpPr>
          <p:cNvPr id="18" name="Text 14"/>
          <p:cNvSpPr/>
          <p:nvPr/>
        </p:nvSpPr>
        <p:spPr>
          <a:xfrm>
            <a:off x="5398889" y="1743968"/>
            <a:ext cx="1664494"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Gather Victim Org Information</a:t>
            </a:r>
            <a:endParaRPr lang="en-US" sz="800" dirty="0"/>
          </a:p>
        </p:txBody>
      </p:sp>
      <p:sp>
        <p:nvSpPr>
          <p:cNvPr id="19" name="Shape 15"/>
          <p:cNvSpPr/>
          <p:nvPr/>
        </p:nvSpPr>
        <p:spPr>
          <a:xfrm>
            <a:off x="428625" y="2055614"/>
            <a:ext cx="200025" cy="200025"/>
          </a:xfrm>
          <a:prstGeom prst="ellipse">
            <a:avLst/>
          </a:prstGeom>
          <a:solidFill>
            <a:srgbClr val="F5C518"/>
          </a:solidFill>
        </p:spPr>
      </p:sp>
      <p:sp>
        <p:nvSpPr>
          <p:cNvPr id="20" name="Text 16"/>
          <p:cNvSpPr/>
          <p:nvPr/>
        </p:nvSpPr>
        <p:spPr>
          <a:xfrm>
            <a:off x="428625" y="2055614"/>
            <a:ext cx="200025" cy="2000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lack" pitchFamily="34" charset="0"/>
                <a:ea typeface="Inter Black" pitchFamily="34" charset="-122"/>
                <a:cs typeface="Inter Black" pitchFamily="34" charset="-120"/>
              </a:rPr>
              <a:t>2</a:t>
            </a:r>
            <a:endParaRPr lang="en-US" sz="700" dirty="0"/>
          </a:p>
        </p:txBody>
      </p:sp>
      <p:sp>
        <p:nvSpPr>
          <p:cNvPr id="21" name="Text 17"/>
          <p:cNvSpPr/>
          <p:nvPr/>
        </p:nvSpPr>
        <p:spPr>
          <a:xfrm>
            <a:off x="700088" y="2086868"/>
            <a:ext cx="835819"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Weaponization</a:t>
            </a:r>
            <a:endParaRPr lang="en-US" sz="800" dirty="0"/>
          </a:p>
        </p:txBody>
      </p:sp>
      <p:pic>
        <p:nvPicPr>
          <p:cNvPr id="22" name="Image 2" descr="preencoded.png"/>
          <p:cNvPicPr>
            <a:picLocks noChangeAspect="1"/>
          </p:cNvPicPr>
          <p:nvPr/>
        </p:nvPicPr>
        <p:blipFill>
          <a:blip r:embed="rId2"/>
          <a:stretch>
            <a:fillRect/>
          </a:stretch>
        </p:blipFill>
        <p:spPr>
          <a:xfrm>
            <a:off x="4093369" y="2085975"/>
            <a:ext cx="128588" cy="128588"/>
          </a:xfrm>
          <a:prstGeom prst="rect">
            <a:avLst/>
          </a:prstGeom>
        </p:spPr>
      </p:pic>
      <p:sp>
        <p:nvSpPr>
          <p:cNvPr id="23" name="Text 18"/>
          <p:cNvSpPr/>
          <p:nvPr/>
        </p:nvSpPr>
        <p:spPr>
          <a:xfrm>
            <a:off x="4572000" y="2113657"/>
            <a:ext cx="303609" cy="105370"/>
          </a:xfrm>
          <a:prstGeom prst="rect">
            <a:avLst/>
          </a:prstGeom>
          <a:noFill/>
        </p:spPr>
        <p:txBody>
          <a:bodyPr wrap="none" lIns="0" tIns="0" rIns="0" bIns="0" rtlCol="0" anchor="t">
            <a:spAutoFit/>
          </a:bodyPr>
          <a:lstStyle/>
          <a:p>
            <a:pPr marL="0" indent="0" algn="l">
              <a:buNone/>
            </a:pPr>
            <a:r>
              <a:rPr lang="en-US" sz="600" dirty="0">
                <a:solidFill>
                  <a:srgbClr val="888888"/>
                </a:solidFill>
                <a:latin typeface="Inter" pitchFamily="34" charset="0"/>
                <a:ea typeface="Inter" pitchFamily="34" charset="-122"/>
                <a:cs typeface="Inter" pitchFamily="34" charset="-120"/>
              </a:rPr>
              <a:t>TA0001</a:t>
            </a:r>
            <a:endParaRPr lang="en-US" sz="600" dirty="0"/>
          </a:p>
        </p:txBody>
      </p:sp>
      <p:sp>
        <p:nvSpPr>
          <p:cNvPr id="24" name="Text 19"/>
          <p:cNvSpPr/>
          <p:nvPr/>
        </p:nvSpPr>
        <p:spPr>
          <a:xfrm>
            <a:off x="4961334" y="2086868"/>
            <a:ext cx="357188" cy="137517"/>
          </a:xfrm>
          <a:prstGeom prst="rect">
            <a:avLst/>
          </a:prstGeom>
          <a:noFill/>
        </p:spPr>
        <p:txBody>
          <a:bodyPr wrap="none" lIns="0" tIns="0" rIns="0" bIns="0" rtlCol="0" anchor="t">
            <a:spAutoFit/>
          </a:bodyPr>
          <a:lstStyle/>
          <a:p>
            <a:pPr marL="0" indent="0" algn="l">
              <a:buNone/>
            </a:pPr>
            <a:r>
              <a:rPr lang="en-US" sz="800" b="1" dirty="0">
                <a:solidFill>
                  <a:srgbClr val="F5C518"/>
                </a:solidFill>
                <a:latin typeface="Inter Black" pitchFamily="34" charset="0"/>
                <a:ea typeface="Inter Black" pitchFamily="34" charset="-122"/>
                <a:cs typeface="Inter Black" pitchFamily="34" charset="-120"/>
              </a:rPr>
              <a:t>T1566</a:t>
            </a:r>
            <a:endParaRPr lang="en-US" sz="800" dirty="0"/>
          </a:p>
        </p:txBody>
      </p:sp>
      <p:sp>
        <p:nvSpPr>
          <p:cNvPr id="25" name="Text 20"/>
          <p:cNvSpPr/>
          <p:nvPr/>
        </p:nvSpPr>
        <p:spPr>
          <a:xfrm>
            <a:off x="5404247" y="2086868"/>
            <a:ext cx="483989"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Phishing</a:t>
            </a:r>
            <a:endParaRPr lang="en-US" sz="800" dirty="0"/>
          </a:p>
        </p:txBody>
      </p:sp>
      <p:sp>
        <p:nvSpPr>
          <p:cNvPr id="26" name="Shape 21"/>
          <p:cNvSpPr/>
          <p:nvPr/>
        </p:nvSpPr>
        <p:spPr>
          <a:xfrm>
            <a:off x="428625" y="2334220"/>
            <a:ext cx="8286750" cy="350044"/>
          </a:xfrm>
          <a:prstGeom prst="rect">
            <a:avLst/>
          </a:prstGeom>
          <a:solidFill>
            <a:srgbClr val="F9F9F9"/>
          </a:solidFill>
        </p:spPr>
      </p:sp>
      <p:sp>
        <p:nvSpPr>
          <p:cNvPr id="27" name="Shape 22"/>
          <p:cNvSpPr/>
          <p:nvPr/>
        </p:nvSpPr>
        <p:spPr>
          <a:xfrm>
            <a:off x="428625" y="2677120"/>
            <a:ext cx="8286750" cy="7144"/>
          </a:xfrm>
          <a:prstGeom prst="rect">
            <a:avLst/>
          </a:prstGeom>
          <a:solidFill>
            <a:srgbClr val="EEEEEE"/>
          </a:solidFill>
        </p:spPr>
      </p:sp>
      <p:sp>
        <p:nvSpPr>
          <p:cNvPr id="28" name="Shape 23"/>
          <p:cNvSpPr/>
          <p:nvPr/>
        </p:nvSpPr>
        <p:spPr>
          <a:xfrm>
            <a:off x="428625" y="2405658"/>
            <a:ext cx="200025" cy="200025"/>
          </a:xfrm>
          <a:prstGeom prst="ellipse">
            <a:avLst/>
          </a:prstGeom>
          <a:solidFill>
            <a:srgbClr val="F5C518"/>
          </a:solidFill>
        </p:spPr>
      </p:sp>
      <p:sp>
        <p:nvSpPr>
          <p:cNvPr id="29" name="Text 24"/>
          <p:cNvSpPr/>
          <p:nvPr/>
        </p:nvSpPr>
        <p:spPr>
          <a:xfrm>
            <a:off x="428625" y="2405658"/>
            <a:ext cx="200025" cy="2000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lack" pitchFamily="34" charset="0"/>
                <a:ea typeface="Inter Black" pitchFamily="34" charset="-122"/>
                <a:cs typeface="Inter Black" pitchFamily="34" charset="-120"/>
              </a:rPr>
              <a:t>3</a:t>
            </a:r>
            <a:endParaRPr lang="en-US" sz="700" dirty="0"/>
          </a:p>
        </p:txBody>
      </p:sp>
      <p:sp>
        <p:nvSpPr>
          <p:cNvPr id="30" name="Text 25"/>
          <p:cNvSpPr/>
          <p:nvPr/>
        </p:nvSpPr>
        <p:spPr>
          <a:xfrm>
            <a:off x="700088" y="2436912"/>
            <a:ext cx="462558"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Delivery</a:t>
            </a:r>
            <a:endParaRPr lang="en-US" sz="800" dirty="0"/>
          </a:p>
        </p:txBody>
      </p:sp>
      <p:pic>
        <p:nvPicPr>
          <p:cNvPr id="31" name="Image 3" descr="preencoded.png"/>
          <p:cNvPicPr>
            <a:picLocks noChangeAspect="1"/>
          </p:cNvPicPr>
          <p:nvPr/>
        </p:nvPicPr>
        <p:blipFill>
          <a:blip r:embed="rId2"/>
          <a:stretch>
            <a:fillRect/>
          </a:stretch>
        </p:blipFill>
        <p:spPr>
          <a:xfrm>
            <a:off x="4093369" y="2436019"/>
            <a:ext cx="128588" cy="128588"/>
          </a:xfrm>
          <a:prstGeom prst="rect">
            <a:avLst/>
          </a:prstGeom>
        </p:spPr>
      </p:pic>
      <p:sp>
        <p:nvSpPr>
          <p:cNvPr id="32" name="Text 26"/>
          <p:cNvSpPr/>
          <p:nvPr/>
        </p:nvSpPr>
        <p:spPr>
          <a:xfrm>
            <a:off x="4572000" y="2463701"/>
            <a:ext cx="303609" cy="105370"/>
          </a:xfrm>
          <a:prstGeom prst="rect">
            <a:avLst/>
          </a:prstGeom>
          <a:noFill/>
        </p:spPr>
        <p:txBody>
          <a:bodyPr wrap="none" lIns="0" tIns="0" rIns="0" bIns="0" rtlCol="0" anchor="t">
            <a:spAutoFit/>
          </a:bodyPr>
          <a:lstStyle/>
          <a:p>
            <a:pPr marL="0" indent="0" algn="l">
              <a:buNone/>
            </a:pPr>
            <a:r>
              <a:rPr lang="en-US" sz="600" dirty="0">
                <a:solidFill>
                  <a:srgbClr val="888888"/>
                </a:solidFill>
                <a:latin typeface="Inter" pitchFamily="34" charset="0"/>
                <a:ea typeface="Inter" pitchFamily="34" charset="-122"/>
                <a:cs typeface="Inter" pitchFamily="34" charset="-120"/>
              </a:rPr>
              <a:t>TA0001</a:t>
            </a:r>
            <a:endParaRPr lang="en-US" sz="600" dirty="0"/>
          </a:p>
        </p:txBody>
      </p:sp>
      <p:sp>
        <p:nvSpPr>
          <p:cNvPr id="33" name="Text 27"/>
          <p:cNvSpPr/>
          <p:nvPr/>
        </p:nvSpPr>
        <p:spPr>
          <a:xfrm>
            <a:off x="4961334" y="2436912"/>
            <a:ext cx="609005" cy="137517"/>
          </a:xfrm>
          <a:prstGeom prst="rect">
            <a:avLst/>
          </a:prstGeom>
          <a:noFill/>
        </p:spPr>
        <p:txBody>
          <a:bodyPr wrap="none" lIns="0" tIns="0" rIns="0" bIns="0" rtlCol="0" anchor="t">
            <a:spAutoFit/>
          </a:bodyPr>
          <a:lstStyle/>
          <a:p>
            <a:pPr marL="0" indent="0" algn="l">
              <a:buNone/>
            </a:pPr>
            <a:r>
              <a:rPr lang="en-US" sz="800" b="1" dirty="0">
                <a:solidFill>
                  <a:srgbClr val="F5C518"/>
                </a:solidFill>
                <a:latin typeface="Inter Black" pitchFamily="34" charset="0"/>
                <a:ea typeface="Inter Black" pitchFamily="34" charset="-122"/>
                <a:cs typeface="Inter Black" pitchFamily="34" charset="-120"/>
              </a:rPr>
              <a:t>T1566.001</a:t>
            </a:r>
            <a:endParaRPr lang="en-US" sz="800" dirty="0"/>
          </a:p>
        </p:txBody>
      </p:sp>
      <p:sp>
        <p:nvSpPr>
          <p:cNvPr id="34" name="Text 28"/>
          <p:cNvSpPr/>
          <p:nvPr/>
        </p:nvSpPr>
        <p:spPr>
          <a:xfrm>
            <a:off x="5656064" y="2436912"/>
            <a:ext cx="1489472"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Spearphishing Attachment</a:t>
            </a:r>
            <a:endParaRPr lang="en-US" sz="800" dirty="0"/>
          </a:p>
        </p:txBody>
      </p:sp>
      <p:sp>
        <p:nvSpPr>
          <p:cNvPr id="35" name="Shape 29"/>
          <p:cNvSpPr/>
          <p:nvPr/>
        </p:nvSpPr>
        <p:spPr>
          <a:xfrm>
            <a:off x="428625" y="2748558"/>
            <a:ext cx="200025" cy="200025"/>
          </a:xfrm>
          <a:prstGeom prst="ellipse">
            <a:avLst/>
          </a:prstGeom>
          <a:solidFill>
            <a:srgbClr val="F5C518"/>
          </a:solidFill>
        </p:spPr>
      </p:sp>
      <p:sp>
        <p:nvSpPr>
          <p:cNvPr id="36" name="Text 30"/>
          <p:cNvSpPr/>
          <p:nvPr/>
        </p:nvSpPr>
        <p:spPr>
          <a:xfrm>
            <a:off x="428625" y="2748558"/>
            <a:ext cx="200025" cy="2000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lack" pitchFamily="34" charset="0"/>
                <a:ea typeface="Inter Black" pitchFamily="34" charset="-122"/>
                <a:cs typeface="Inter Black" pitchFamily="34" charset="-120"/>
              </a:rPr>
              <a:t>4</a:t>
            </a:r>
            <a:endParaRPr lang="en-US" sz="700" dirty="0"/>
          </a:p>
        </p:txBody>
      </p:sp>
      <p:sp>
        <p:nvSpPr>
          <p:cNvPr id="37" name="Text 31"/>
          <p:cNvSpPr/>
          <p:nvPr/>
        </p:nvSpPr>
        <p:spPr>
          <a:xfrm>
            <a:off x="700088" y="2779812"/>
            <a:ext cx="657225"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Exploitation</a:t>
            </a:r>
            <a:endParaRPr lang="en-US" sz="800" dirty="0"/>
          </a:p>
        </p:txBody>
      </p:sp>
      <p:pic>
        <p:nvPicPr>
          <p:cNvPr id="38" name="Image 4" descr="preencoded.png"/>
          <p:cNvPicPr>
            <a:picLocks noChangeAspect="1"/>
          </p:cNvPicPr>
          <p:nvPr/>
        </p:nvPicPr>
        <p:blipFill>
          <a:blip r:embed="rId2"/>
          <a:stretch>
            <a:fillRect/>
          </a:stretch>
        </p:blipFill>
        <p:spPr>
          <a:xfrm>
            <a:off x="4093369" y="2778919"/>
            <a:ext cx="128588" cy="128588"/>
          </a:xfrm>
          <a:prstGeom prst="rect">
            <a:avLst/>
          </a:prstGeom>
        </p:spPr>
      </p:pic>
      <p:sp>
        <p:nvSpPr>
          <p:cNvPr id="39" name="Text 32"/>
          <p:cNvSpPr/>
          <p:nvPr/>
        </p:nvSpPr>
        <p:spPr>
          <a:xfrm>
            <a:off x="4572000" y="2806601"/>
            <a:ext cx="319683" cy="105370"/>
          </a:xfrm>
          <a:prstGeom prst="rect">
            <a:avLst/>
          </a:prstGeom>
          <a:noFill/>
        </p:spPr>
        <p:txBody>
          <a:bodyPr wrap="none" lIns="0" tIns="0" rIns="0" bIns="0" rtlCol="0" anchor="t">
            <a:spAutoFit/>
          </a:bodyPr>
          <a:lstStyle/>
          <a:p>
            <a:pPr marL="0" indent="0" algn="l">
              <a:buNone/>
            </a:pPr>
            <a:r>
              <a:rPr lang="en-US" sz="600" dirty="0">
                <a:solidFill>
                  <a:srgbClr val="888888"/>
                </a:solidFill>
                <a:latin typeface="Inter" pitchFamily="34" charset="0"/>
                <a:ea typeface="Inter" pitchFamily="34" charset="-122"/>
                <a:cs typeface="Inter" pitchFamily="34" charset="-120"/>
              </a:rPr>
              <a:t>TA0002</a:t>
            </a:r>
            <a:endParaRPr lang="en-US" sz="600" dirty="0"/>
          </a:p>
        </p:txBody>
      </p:sp>
      <p:sp>
        <p:nvSpPr>
          <p:cNvPr id="40" name="Text 33"/>
          <p:cNvSpPr/>
          <p:nvPr/>
        </p:nvSpPr>
        <p:spPr>
          <a:xfrm>
            <a:off x="4977408" y="2779812"/>
            <a:ext cx="639366" cy="137517"/>
          </a:xfrm>
          <a:prstGeom prst="rect">
            <a:avLst/>
          </a:prstGeom>
          <a:noFill/>
        </p:spPr>
        <p:txBody>
          <a:bodyPr wrap="none" lIns="0" tIns="0" rIns="0" bIns="0" rtlCol="0" anchor="t">
            <a:spAutoFit/>
          </a:bodyPr>
          <a:lstStyle/>
          <a:p>
            <a:pPr marL="0" indent="0" algn="l">
              <a:buNone/>
            </a:pPr>
            <a:r>
              <a:rPr lang="en-US" sz="800" b="1" dirty="0">
                <a:solidFill>
                  <a:srgbClr val="F5C518"/>
                </a:solidFill>
                <a:latin typeface="Inter Black" pitchFamily="34" charset="0"/>
                <a:ea typeface="Inter Black" pitchFamily="34" charset="-122"/>
                <a:cs typeface="Inter Black" pitchFamily="34" charset="-120"/>
              </a:rPr>
              <a:t>T1204.002</a:t>
            </a:r>
            <a:endParaRPr lang="en-US" sz="800" dirty="0"/>
          </a:p>
        </p:txBody>
      </p:sp>
      <p:sp>
        <p:nvSpPr>
          <p:cNvPr id="41" name="Text 34"/>
          <p:cNvSpPr/>
          <p:nvPr/>
        </p:nvSpPr>
        <p:spPr>
          <a:xfrm>
            <a:off x="5702498" y="2779812"/>
            <a:ext cx="1668066"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User Execution: Malicious File</a:t>
            </a:r>
            <a:endParaRPr lang="en-US" sz="800" dirty="0"/>
          </a:p>
        </p:txBody>
      </p:sp>
      <p:sp>
        <p:nvSpPr>
          <p:cNvPr id="42" name="Shape 35"/>
          <p:cNvSpPr/>
          <p:nvPr/>
        </p:nvSpPr>
        <p:spPr>
          <a:xfrm>
            <a:off x="428625" y="3027164"/>
            <a:ext cx="8286750" cy="350044"/>
          </a:xfrm>
          <a:prstGeom prst="rect">
            <a:avLst/>
          </a:prstGeom>
          <a:solidFill>
            <a:srgbClr val="F9F9F9"/>
          </a:solidFill>
        </p:spPr>
      </p:sp>
      <p:sp>
        <p:nvSpPr>
          <p:cNvPr id="43" name="Shape 36"/>
          <p:cNvSpPr/>
          <p:nvPr/>
        </p:nvSpPr>
        <p:spPr>
          <a:xfrm>
            <a:off x="428625" y="3370064"/>
            <a:ext cx="8286750" cy="7144"/>
          </a:xfrm>
          <a:prstGeom prst="rect">
            <a:avLst/>
          </a:prstGeom>
          <a:solidFill>
            <a:srgbClr val="EEEEEE"/>
          </a:solidFill>
        </p:spPr>
      </p:sp>
      <p:sp>
        <p:nvSpPr>
          <p:cNvPr id="44" name="Shape 37"/>
          <p:cNvSpPr/>
          <p:nvPr/>
        </p:nvSpPr>
        <p:spPr>
          <a:xfrm>
            <a:off x="428625" y="3098602"/>
            <a:ext cx="200025" cy="200025"/>
          </a:xfrm>
          <a:prstGeom prst="ellipse">
            <a:avLst/>
          </a:prstGeom>
          <a:solidFill>
            <a:srgbClr val="F5C518"/>
          </a:solidFill>
        </p:spPr>
      </p:sp>
      <p:sp>
        <p:nvSpPr>
          <p:cNvPr id="45" name="Text 38"/>
          <p:cNvSpPr/>
          <p:nvPr/>
        </p:nvSpPr>
        <p:spPr>
          <a:xfrm>
            <a:off x="428625" y="3098602"/>
            <a:ext cx="200025" cy="2000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lack" pitchFamily="34" charset="0"/>
                <a:ea typeface="Inter Black" pitchFamily="34" charset="-122"/>
                <a:cs typeface="Inter Black" pitchFamily="34" charset="-120"/>
              </a:rPr>
              <a:t>5</a:t>
            </a:r>
            <a:endParaRPr lang="en-US" sz="700" dirty="0"/>
          </a:p>
        </p:txBody>
      </p:sp>
      <p:sp>
        <p:nvSpPr>
          <p:cNvPr id="46" name="Text 39"/>
          <p:cNvSpPr/>
          <p:nvPr/>
        </p:nvSpPr>
        <p:spPr>
          <a:xfrm>
            <a:off x="700088" y="3129855"/>
            <a:ext cx="659011"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Persistence</a:t>
            </a:r>
            <a:endParaRPr lang="en-US" sz="800" dirty="0"/>
          </a:p>
        </p:txBody>
      </p:sp>
      <p:pic>
        <p:nvPicPr>
          <p:cNvPr id="47" name="Image 5" descr="preencoded.png"/>
          <p:cNvPicPr>
            <a:picLocks noChangeAspect="1"/>
          </p:cNvPicPr>
          <p:nvPr/>
        </p:nvPicPr>
        <p:blipFill>
          <a:blip r:embed="rId2"/>
          <a:stretch>
            <a:fillRect/>
          </a:stretch>
        </p:blipFill>
        <p:spPr>
          <a:xfrm>
            <a:off x="4093369" y="3128963"/>
            <a:ext cx="128588" cy="128588"/>
          </a:xfrm>
          <a:prstGeom prst="rect">
            <a:avLst/>
          </a:prstGeom>
        </p:spPr>
      </p:pic>
      <p:sp>
        <p:nvSpPr>
          <p:cNvPr id="48" name="Text 40"/>
          <p:cNvSpPr/>
          <p:nvPr/>
        </p:nvSpPr>
        <p:spPr>
          <a:xfrm>
            <a:off x="4572000" y="3156645"/>
            <a:ext cx="321469" cy="105370"/>
          </a:xfrm>
          <a:prstGeom prst="rect">
            <a:avLst/>
          </a:prstGeom>
          <a:noFill/>
        </p:spPr>
        <p:txBody>
          <a:bodyPr wrap="none" lIns="0" tIns="0" rIns="0" bIns="0" rtlCol="0" anchor="t">
            <a:spAutoFit/>
          </a:bodyPr>
          <a:lstStyle/>
          <a:p>
            <a:pPr marL="0" indent="0" algn="l">
              <a:buNone/>
            </a:pPr>
            <a:r>
              <a:rPr lang="en-US" sz="600" dirty="0">
                <a:solidFill>
                  <a:srgbClr val="888888"/>
                </a:solidFill>
                <a:latin typeface="Inter" pitchFamily="34" charset="0"/>
                <a:ea typeface="Inter" pitchFamily="34" charset="-122"/>
                <a:cs typeface="Inter" pitchFamily="34" charset="-120"/>
              </a:rPr>
              <a:t>TA0003</a:t>
            </a:r>
            <a:endParaRPr lang="en-US" sz="600" dirty="0"/>
          </a:p>
        </p:txBody>
      </p:sp>
      <p:sp>
        <p:nvSpPr>
          <p:cNvPr id="49" name="Text 41"/>
          <p:cNvSpPr/>
          <p:nvPr/>
        </p:nvSpPr>
        <p:spPr>
          <a:xfrm>
            <a:off x="4979194" y="3129855"/>
            <a:ext cx="592931" cy="137517"/>
          </a:xfrm>
          <a:prstGeom prst="rect">
            <a:avLst/>
          </a:prstGeom>
          <a:noFill/>
        </p:spPr>
        <p:txBody>
          <a:bodyPr wrap="none" lIns="0" tIns="0" rIns="0" bIns="0" rtlCol="0" anchor="t">
            <a:spAutoFit/>
          </a:bodyPr>
          <a:lstStyle/>
          <a:p>
            <a:pPr marL="0" indent="0" algn="l">
              <a:buNone/>
            </a:pPr>
            <a:r>
              <a:rPr lang="en-US" sz="800" b="1" dirty="0">
                <a:solidFill>
                  <a:srgbClr val="F5C518"/>
                </a:solidFill>
                <a:latin typeface="Inter Black" pitchFamily="34" charset="0"/>
                <a:ea typeface="Inter Black" pitchFamily="34" charset="-122"/>
                <a:cs typeface="Inter Black" pitchFamily="34" charset="-120"/>
              </a:rPr>
              <a:t>T1547.001</a:t>
            </a:r>
            <a:endParaRPr lang="en-US" sz="800" dirty="0"/>
          </a:p>
        </p:txBody>
      </p:sp>
      <p:sp>
        <p:nvSpPr>
          <p:cNvPr id="50" name="Text 42"/>
          <p:cNvSpPr/>
          <p:nvPr/>
        </p:nvSpPr>
        <p:spPr>
          <a:xfrm>
            <a:off x="5657850" y="3129855"/>
            <a:ext cx="1762720"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Boot Logon Autostart Execution</a:t>
            </a:r>
            <a:endParaRPr lang="en-US" sz="800" dirty="0"/>
          </a:p>
        </p:txBody>
      </p:sp>
      <p:sp>
        <p:nvSpPr>
          <p:cNvPr id="51" name="Shape 43"/>
          <p:cNvSpPr/>
          <p:nvPr/>
        </p:nvSpPr>
        <p:spPr>
          <a:xfrm>
            <a:off x="428625" y="3441502"/>
            <a:ext cx="200025" cy="200025"/>
          </a:xfrm>
          <a:prstGeom prst="ellipse">
            <a:avLst/>
          </a:prstGeom>
          <a:solidFill>
            <a:srgbClr val="F5C518"/>
          </a:solidFill>
        </p:spPr>
      </p:sp>
      <p:sp>
        <p:nvSpPr>
          <p:cNvPr id="52" name="Text 44"/>
          <p:cNvSpPr/>
          <p:nvPr/>
        </p:nvSpPr>
        <p:spPr>
          <a:xfrm>
            <a:off x="428625" y="3441502"/>
            <a:ext cx="200025" cy="2000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lack" pitchFamily="34" charset="0"/>
                <a:ea typeface="Inter Black" pitchFamily="34" charset="-122"/>
                <a:cs typeface="Inter Black" pitchFamily="34" charset="-120"/>
              </a:rPr>
              <a:t>6</a:t>
            </a:r>
            <a:endParaRPr lang="en-US" sz="700" dirty="0"/>
          </a:p>
        </p:txBody>
      </p:sp>
      <p:sp>
        <p:nvSpPr>
          <p:cNvPr id="53" name="Text 45"/>
          <p:cNvSpPr/>
          <p:nvPr/>
        </p:nvSpPr>
        <p:spPr>
          <a:xfrm>
            <a:off x="700088" y="3472755"/>
            <a:ext cx="998339"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Lateral Movement</a:t>
            </a:r>
            <a:endParaRPr lang="en-US" sz="800" dirty="0"/>
          </a:p>
        </p:txBody>
      </p:sp>
      <p:pic>
        <p:nvPicPr>
          <p:cNvPr id="54" name="Image 6" descr="preencoded.png"/>
          <p:cNvPicPr>
            <a:picLocks noChangeAspect="1"/>
          </p:cNvPicPr>
          <p:nvPr/>
        </p:nvPicPr>
        <p:blipFill>
          <a:blip r:embed="rId2"/>
          <a:stretch>
            <a:fillRect/>
          </a:stretch>
        </p:blipFill>
        <p:spPr>
          <a:xfrm>
            <a:off x="4093369" y="3471863"/>
            <a:ext cx="128588" cy="128588"/>
          </a:xfrm>
          <a:prstGeom prst="rect">
            <a:avLst/>
          </a:prstGeom>
        </p:spPr>
      </p:pic>
      <p:sp>
        <p:nvSpPr>
          <p:cNvPr id="55" name="Text 46"/>
          <p:cNvSpPr/>
          <p:nvPr/>
        </p:nvSpPr>
        <p:spPr>
          <a:xfrm>
            <a:off x="4572000" y="3499545"/>
            <a:ext cx="321469" cy="105370"/>
          </a:xfrm>
          <a:prstGeom prst="rect">
            <a:avLst/>
          </a:prstGeom>
          <a:noFill/>
        </p:spPr>
        <p:txBody>
          <a:bodyPr wrap="none" lIns="0" tIns="0" rIns="0" bIns="0" rtlCol="0" anchor="t">
            <a:spAutoFit/>
          </a:bodyPr>
          <a:lstStyle/>
          <a:p>
            <a:pPr marL="0" indent="0" algn="l">
              <a:buNone/>
            </a:pPr>
            <a:r>
              <a:rPr lang="en-US" sz="600" dirty="0">
                <a:solidFill>
                  <a:srgbClr val="888888"/>
                </a:solidFill>
                <a:latin typeface="Inter" pitchFamily="34" charset="0"/>
                <a:ea typeface="Inter" pitchFamily="34" charset="-122"/>
                <a:cs typeface="Inter" pitchFamily="34" charset="-120"/>
              </a:rPr>
              <a:t>TA0008</a:t>
            </a:r>
            <a:endParaRPr lang="en-US" sz="600" dirty="0"/>
          </a:p>
        </p:txBody>
      </p:sp>
      <p:sp>
        <p:nvSpPr>
          <p:cNvPr id="56" name="Text 47"/>
          <p:cNvSpPr/>
          <p:nvPr/>
        </p:nvSpPr>
        <p:spPr>
          <a:xfrm>
            <a:off x="4979194" y="3472755"/>
            <a:ext cx="337542" cy="137517"/>
          </a:xfrm>
          <a:prstGeom prst="rect">
            <a:avLst/>
          </a:prstGeom>
          <a:noFill/>
        </p:spPr>
        <p:txBody>
          <a:bodyPr wrap="none" lIns="0" tIns="0" rIns="0" bIns="0" rtlCol="0" anchor="t">
            <a:spAutoFit/>
          </a:bodyPr>
          <a:lstStyle/>
          <a:p>
            <a:pPr marL="0" indent="0" algn="l">
              <a:buNone/>
            </a:pPr>
            <a:r>
              <a:rPr lang="en-US" sz="800" b="1" dirty="0">
                <a:solidFill>
                  <a:srgbClr val="F5C518"/>
                </a:solidFill>
                <a:latin typeface="Inter Black" pitchFamily="34" charset="0"/>
                <a:ea typeface="Inter Black" pitchFamily="34" charset="-122"/>
                <a:cs typeface="Inter Black" pitchFamily="34" charset="-120"/>
              </a:rPr>
              <a:t>T1021</a:t>
            </a:r>
            <a:endParaRPr lang="en-US" sz="800" dirty="0"/>
          </a:p>
        </p:txBody>
      </p:sp>
      <p:sp>
        <p:nvSpPr>
          <p:cNvPr id="57" name="Text 48"/>
          <p:cNvSpPr/>
          <p:nvPr/>
        </p:nvSpPr>
        <p:spPr>
          <a:xfrm>
            <a:off x="5402461" y="3472755"/>
            <a:ext cx="937617"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Remote Services</a:t>
            </a:r>
            <a:endParaRPr lang="en-US" sz="800" dirty="0"/>
          </a:p>
        </p:txBody>
      </p:sp>
      <p:sp>
        <p:nvSpPr>
          <p:cNvPr id="58" name="Shape 49"/>
          <p:cNvSpPr/>
          <p:nvPr/>
        </p:nvSpPr>
        <p:spPr>
          <a:xfrm>
            <a:off x="428625" y="3720108"/>
            <a:ext cx="8286750" cy="350044"/>
          </a:xfrm>
          <a:prstGeom prst="rect">
            <a:avLst/>
          </a:prstGeom>
          <a:solidFill>
            <a:srgbClr val="F9F9F9"/>
          </a:solidFill>
        </p:spPr>
      </p:sp>
      <p:sp>
        <p:nvSpPr>
          <p:cNvPr id="59" name="Shape 50"/>
          <p:cNvSpPr/>
          <p:nvPr/>
        </p:nvSpPr>
        <p:spPr>
          <a:xfrm>
            <a:off x="428625" y="4063008"/>
            <a:ext cx="8286750" cy="7144"/>
          </a:xfrm>
          <a:prstGeom prst="rect">
            <a:avLst/>
          </a:prstGeom>
          <a:solidFill>
            <a:srgbClr val="EEEEEE"/>
          </a:solidFill>
        </p:spPr>
      </p:sp>
      <p:sp>
        <p:nvSpPr>
          <p:cNvPr id="60" name="Shape 51"/>
          <p:cNvSpPr/>
          <p:nvPr/>
        </p:nvSpPr>
        <p:spPr>
          <a:xfrm>
            <a:off x="428625" y="3791545"/>
            <a:ext cx="200025" cy="200025"/>
          </a:xfrm>
          <a:prstGeom prst="ellipse">
            <a:avLst/>
          </a:prstGeom>
          <a:solidFill>
            <a:srgbClr val="F5C518"/>
          </a:solidFill>
        </p:spPr>
      </p:sp>
      <p:sp>
        <p:nvSpPr>
          <p:cNvPr id="61" name="Text 52"/>
          <p:cNvSpPr/>
          <p:nvPr/>
        </p:nvSpPr>
        <p:spPr>
          <a:xfrm>
            <a:off x="428625" y="3791545"/>
            <a:ext cx="200025" cy="2000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lack" pitchFamily="34" charset="0"/>
                <a:ea typeface="Inter Black" pitchFamily="34" charset="-122"/>
                <a:cs typeface="Inter Black" pitchFamily="34" charset="-120"/>
              </a:rPr>
              <a:t>7</a:t>
            </a:r>
            <a:endParaRPr lang="en-US" sz="700" dirty="0"/>
          </a:p>
        </p:txBody>
      </p:sp>
      <p:sp>
        <p:nvSpPr>
          <p:cNvPr id="62" name="Text 53"/>
          <p:cNvSpPr/>
          <p:nvPr/>
        </p:nvSpPr>
        <p:spPr>
          <a:xfrm>
            <a:off x="700088" y="3822799"/>
            <a:ext cx="610791"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Exfiltration</a:t>
            </a:r>
            <a:endParaRPr lang="en-US" sz="800" dirty="0"/>
          </a:p>
        </p:txBody>
      </p:sp>
      <p:pic>
        <p:nvPicPr>
          <p:cNvPr id="63" name="Image 7" descr="preencoded.png"/>
          <p:cNvPicPr>
            <a:picLocks noChangeAspect="1"/>
          </p:cNvPicPr>
          <p:nvPr/>
        </p:nvPicPr>
        <p:blipFill>
          <a:blip r:embed="rId2"/>
          <a:stretch>
            <a:fillRect/>
          </a:stretch>
        </p:blipFill>
        <p:spPr>
          <a:xfrm>
            <a:off x="4093369" y="3821906"/>
            <a:ext cx="128588" cy="128588"/>
          </a:xfrm>
          <a:prstGeom prst="rect">
            <a:avLst/>
          </a:prstGeom>
        </p:spPr>
      </p:pic>
      <p:sp>
        <p:nvSpPr>
          <p:cNvPr id="64" name="Text 54"/>
          <p:cNvSpPr/>
          <p:nvPr/>
        </p:nvSpPr>
        <p:spPr>
          <a:xfrm>
            <a:off x="4572000" y="3849588"/>
            <a:ext cx="303609" cy="105370"/>
          </a:xfrm>
          <a:prstGeom prst="rect">
            <a:avLst/>
          </a:prstGeom>
          <a:noFill/>
        </p:spPr>
        <p:txBody>
          <a:bodyPr wrap="none" lIns="0" tIns="0" rIns="0" bIns="0" rtlCol="0" anchor="t">
            <a:spAutoFit/>
          </a:bodyPr>
          <a:lstStyle/>
          <a:p>
            <a:pPr marL="0" indent="0" algn="l">
              <a:buNone/>
            </a:pPr>
            <a:r>
              <a:rPr lang="en-US" sz="600" dirty="0">
                <a:solidFill>
                  <a:srgbClr val="888888"/>
                </a:solidFill>
                <a:latin typeface="Inter" pitchFamily="34" charset="0"/>
                <a:ea typeface="Inter" pitchFamily="34" charset="-122"/>
                <a:cs typeface="Inter" pitchFamily="34" charset="-120"/>
              </a:rPr>
              <a:t>TA0010</a:t>
            </a:r>
            <a:endParaRPr lang="en-US" sz="600" dirty="0"/>
          </a:p>
        </p:txBody>
      </p:sp>
      <p:sp>
        <p:nvSpPr>
          <p:cNvPr id="65" name="Text 55"/>
          <p:cNvSpPr/>
          <p:nvPr/>
        </p:nvSpPr>
        <p:spPr>
          <a:xfrm>
            <a:off x="4961334" y="3822799"/>
            <a:ext cx="339328" cy="137517"/>
          </a:xfrm>
          <a:prstGeom prst="rect">
            <a:avLst/>
          </a:prstGeom>
          <a:noFill/>
        </p:spPr>
        <p:txBody>
          <a:bodyPr wrap="none" lIns="0" tIns="0" rIns="0" bIns="0" rtlCol="0" anchor="t">
            <a:spAutoFit/>
          </a:bodyPr>
          <a:lstStyle/>
          <a:p>
            <a:pPr marL="0" indent="0" algn="l">
              <a:buNone/>
            </a:pPr>
            <a:r>
              <a:rPr lang="en-US" sz="800" b="1" dirty="0">
                <a:solidFill>
                  <a:srgbClr val="F5C518"/>
                </a:solidFill>
                <a:latin typeface="Inter Black" pitchFamily="34" charset="0"/>
                <a:ea typeface="Inter Black" pitchFamily="34" charset="-122"/>
                <a:cs typeface="Inter Black" pitchFamily="34" charset="-120"/>
              </a:rPr>
              <a:t>T1041</a:t>
            </a:r>
            <a:endParaRPr lang="en-US" sz="800" dirty="0"/>
          </a:p>
        </p:txBody>
      </p:sp>
      <p:sp>
        <p:nvSpPr>
          <p:cNvPr id="66" name="Text 56"/>
          <p:cNvSpPr/>
          <p:nvPr/>
        </p:nvSpPr>
        <p:spPr>
          <a:xfrm>
            <a:off x="5386388" y="3822799"/>
            <a:ext cx="1576983"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Exfiltration Over C2 Channel</a:t>
            </a:r>
            <a:endParaRPr lang="en-US" sz="800" dirty="0"/>
          </a:p>
        </p:txBody>
      </p:sp>
      <p:sp>
        <p:nvSpPr>
          <p:cNvPr id="67" name="Text 57"/>
          <p:cNvSpPr/>
          <p:nvPr/>
        </p:nvSpPr>
        <p:spPr>
          <a:xfrm>
            <a:off x="1651992" y="4277320"/>
            <a:ext cx="5840016" cy="383977"/>
          </a:xfrm>
          <a:prstGeom prst="rect">
            <a:avLst/>
          </a:prstGeom>
          <a:noFill/>
        </p:spPr>
        <p:txBody>
          <a:bodyPr wrap="square" lIns="255143" tIns="127508" rIns="255143" bIns="127508" rtlCol="0" anchor="t">
            <a:spAutoFit/>
          </a:bodyPr>
          <a:lstStyle/>
          <a:p>
            <a:pPr marL="0" indent="0" algn="ctr">
              <a:buNone/>
            </a:pPr>
            <a:r>
              <a:rPr lang="en-US" sz="900" b="1" i="1" dirty="0">
                <a:solidFill>
                  <a:srgbClr val="000000"/>
                </a:solidFill>
                <a:latin typeface="Inter Bold" pitchFamily="34" charset="0"/>
                <a:ea typeface="Inter Bold" pitchFamily="34" charset="-122"/>
                <a:cs typeface="Inter Bold" pitchFamily="34" charset="-120"/>
              </a:rPr>
              <a:t>"ATT&amp;CK did not create new knowledge. It named what attackers were already doing."</a:t>
            </a:r>
            <a:endParaRPr lang="en-US" sz="900" dirty="0"/>
          </a:p>
        </p:txBody>
      </p:sp>
      <p:sp>
        <p:nvSpPr>
          <p:cNvPr id="68" name="Oval 67"/>
          <p:cNvSpPr/>
          <p:nvPr/>
        </p:nvSpPr>
        <p:spPr>
          <a:xfrm>
            <a:off x="563245"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270677" y="4025979"/>
            <a:ext cx="587573" cy="553641"/>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07</a:t>
            </a:r>
            <a:endParaRPr lang="en-US" sz="3300" dirty="0"/>
          </a:p>
        </p:txBody>
      </p:sp>
      <p:sp>
        <p:nvSpPr>
          <p:cNvPr id="7" name="Text 4"/>
          <p:cNvSpPr/>
          <p:nvPr/>
        </p:nvSpPr>
        <p:spPr>
          <a:xfrm>
            <a:off x="428625" y="714375"/>
            <a:ext cx="8286750" cy="364331"/>
          </a:xfrm>
          <a:prstGeom prst="rect">
            <a:avLst/>
          </a:prstGeom>
          <a:noFill/>
        </p:spPr>
        <p:txBody>
          <a:bodyPr wrap="square" lIns="0" tIns="0" rIns="0" bIns="0" rtlCol="0" anchor="t">
            <a:spAutoFit/>
          </a:bodyPr>
          <a:lstStyle/>
          <a:p>
            <a:pPr marL="0" indent="0" algn="ctr">
              <a:buNone/>
            </a:pPr>
            <a:r>
              <a:rPr lang="en-US" sz="2100" b="1" dirty="0">
                <a:solidFill>
                  <a:srgbClr val="000000"/>
                </a:solidFill>
                <a:latin typeface="Inter Black" pitchFamily="34" charset="0"/>
                <a:ea typeface="Inter Black" pitchFamily="34" charset="-122"/>
                <a:cs typeface="Inter Black" pitchFamily="34" charset="-120"/>
              </a:rPr>
              <a:t>One Center. Every Tool Around It.</a:t>
            </a:r>
            <a:endParaRPr lang="en-US" sz="2100" dirty="0"/>
          </a:p>
        </p:txBody>
      </p:sp>
      <p:sp>
        <p:nvSpPr>
          <p:cNvPr id="8" name="Text 5"/>
          <p:cNvSpPr/>
          <p:nvPr/>
        </p:nvSpPr>
        <p:spPr>
          <a:xfrm>
            <a:off x="1318737" y="1435894"/>
            <a:ext cx="720090" cy="153670"/>
          </a:xfrm>
          <a:prstGeom prst="rect">
            <a:avLst/>
          </a:prstGeom>
          <a:noFill/>
        </p:spPr>
        <p:txBody>
          <a:bodyPr wrap="none" lIns="0" tIns="0" rIns="0" bIns="0" rtlCol="0" anchor="t">
            <a:spAutoFit/>
          </a:bodyPr>
          <a:lstStyle/>
          <a:p>
            <a:pPr marL="0" indent="0" algn="ctr">
              <a:buNone/>
            </a:pPr>
            <a:r>
              <a:rPr lang="en-US" sz="1000" b="1" kern="0" spc="1" dirty="0">
                <a:solidFill>
                  <a:srgbClr val="666666"/>
                </a:solidFill>
                <a:latin typeface="Inter Bold" pitchFamily="34" charset="0"/>
                <a:ea typeface="Inter Bold" pitchFamily="34" charset="-122"/>
                <a:cs typeface="Inter Bold" pitchFamily="34" charset="-120"/>
              </a:rPr>
              <a:t>ATTACK SIDE</a:t>
            </a:r>
            <a:endParaRPr lang="en-US" sz="1000" dirty="0"/>
          </a:p>
        </p:txBody>
      </p:sp>
      <p:sp>
        <p:nvSpPr>
          <p:cNvPr id="9" name="Text 6"/>
          <p:cNvSpPr/>
          <p:nvPr/>
        </p:nvSpPr>
        <p:spPr>
          <a:xfrm>
            <a:off x="7050465" y="1435894"/>
            <a:ext cx="784860" cy="153670"/>
          </a:xfrm>
          <a:prstGeom prst="rect">
            <a:avLst/>
          </a:prstGeom>
          <a:noFill/>
        </p:spPr>
        <p:txBody>
          <a:bodyPr wrap="none" lIns="0" tIns="0" rIns="0" bIns="0" rtlCol="0" anchor="t">
            <a:spAutoFit/>
          </a:bodyPr>
          <a:lstStyle/>
          <a:p>
            <a:pPr marL="0" indent="0" algn="ctr">
              <a:buNone/>
            </a:pPr>
            <a:r>
              <a:rPr lang="en-US" sz="1000" b="1" kern="0" spc="1" dirty="0">
                <a:solidFill>
                  <a:srgbClr val="666666"/>
                </a:solidFill>
                <a:latin typeface="Inter Bold" pitchFamily="34" charset="0"/>
                <a:ea typeface="Inter Bold" pitchFamily="34" charset="-122"/>
                <a:cs typeface="Inter Bold" pitchFamily="34" charset="-120"/>
              </a:rPr>
              <a:t>DEFENSE SIDE</a:t>
            </a:r>
            <a:endParaRPr lang="en-US" sz="1000" dirty="0"/>
          </a:p>
        </p:txBody>
      </p:sp>
      <p:sp>
        <p:nvSpPr>
          <p:cNvPr id="10" name="Text 7"/>
          <p:cNvSpPr/>
          <p:nvPr/>
        </p:nvSpPr>
        <p:spPr>
          <a:xfrm>
            <a:off x="3982086" y="3618706"/>
            <a:ext cx="1179830" cy="153670"/>
          </a:xfrm>
          <a:prstGeom prst="rect">
            <a:avLst/>
          </a:prstGeom>
          <a:noFill/>
        </p:spPr>
        <p:txBody>
          <a:bodyPr wrap="none" lIns="0" tIns="0" rIns="0" bIns="0" rtlCol="0" anchor="t">
            <a:spAutoFit/>
          </a:bodyPr>
          <a:lstStyle/>
          <a:p>
            <a:pPr marL="0" indent="0" algn="ctr">
              <a:buNone/>
            </a:pPr>
            <a:r>
              <a:rPr lang="en-US" sz="1000" b="1" kern="0" spc="1" dirty="0">
                <a:solidFill>
                  <a:srgbClr val="666666"/>
                </a:solidFill>
                <a:latin typeface="Inter Bold" pitchFamily="34" charset="0"/>
                <a:ea typeface="Inter Bold" pitchFamily="34" charset="-122"/>
                <a:cs typeface="Inter Bold" pitchFamily="34" charset="-120"/>
              </a:rPr>
              <a:t>EXTENDED DOMAINS</a:t>
            </a:r>
            <a:endParaRPr lang="en-US" sz="1000" dirty="0"/>
          </a:p>
        </p:txBody>
      </p:sp>
      <p:sp>
        <p:nvSpPr>
          <p:cNvPr id="11" name="Shape 8"/>
          <p:cNvSpPr/>
          <p:nvPr/>
        </p:nvSpPr>
        <p:spPr>
          <a:xfrm>
            <a:off x="3222625" y="2245360"/>
            <a:ext cx="2696210" cy="976630"/>
          </a:xfrm>
          <a:prstGeom prst="rect">
            <a:avLst/>
          </a:prstGeom>
          <a:solidFill>
            <a:srgbClr val="F5C518"/>
          </a:solidFill>
          <a:ln w="18288">
            <a:solidFill>
              <a:srgbClr val="000000"/>
            </a:solidFill>
            <a:prstDash val="solid"/>
          </a:ln>
        </p:spPr>
      </p:sp>
      <p:sp>
        <p:nvSpPr>
          <p:cNvPr id="12" name="Text 9"/>
          <p:cNvSpPr/>
          <p:nvPr/>
        </p:nvSpPr>
        <p:spPr>
          <a:xfrm>
            <a:off x="3872865" y="2432526"/>
            <a:ext cx="1398270" cy="492125"/>
          </a:xfrm>
          <a:prstGeom prst="rect">
            <a:avLst/>
          </a:prstGeom>
          <a:noFill/>
        </p:spPr>
        <p:txBody>
          <a:bodyPr wrap="none" lIns="0" tIns="0" rIns="0" bIns="0" rtlCol="0" anchor="t">
            <a:spAutoFit/>
          </a:bodyPr>
          <a:lstStyle/>
          <a:p>
            <a:pPr marL="0" indent="0" algn="ctr">
              <a:buNone/>
            </a:pPr>
            <a:r>
              <a:rPr lang="en-US" sz="3200" b="1" dirty="0">
                <a:solidFill>
                  <a:srgbClr val="000000"/>
                </a:solidFill>
                <a:latin typeface="Inter Black" pitchFamily="34" charset="0"/>
                <a:ea typeface="Inter Black" pitchFamily="34" charset="-122"/>
                <a:cs typeface="Inter Black" pitchFamily="34" charset="-120"/>
              </a:rPr>
              <a:t>ATT&amp;CK</a:t>
            </a:r>
            <a:endParaRPr lang="en-US" sz="3200" dirty="0"/>
          </a:p>
        </p:txBody>
      </p:sp>
      <p:sp>
        <p:nvSpPr>
          <p:cNvPr id="13" name="Text 10"/>
          <p:cNvSpPr/>
          <p:nvPr/>
        </p:nvSpPr>
        <p:spPr>
          <a:xfrm>
            <a:off x="4222116" y="2871788"/>
            <a:ext cx="699770" cy="215265"/>
          </a:xfrm>
          <a:prstGeom prst="rect">
            <a:avLst/>
          </a:prstGeom>
          <a:noFill/>
        </p:spPr>
        <p:txBody>
          <a:bodyPr wrap="none" lIns="0" tIns="0" rIns="0" bIns="0" rtlCol="0" anchor="t">
            <a:spAutoFit/>
          </a:bodyPr>
          <a:lstStyle/>
          <a:p>
            <a:pPr marL="0" indent="0" algn="ctr">
              <a:buNone/>
            </a:pPr>
            <a:r>
              <a:rPr lang="en-US" sz="1400" b="1" dirty="0">
                <a:solidFill>
                  <a:srgbClr val="000000"/>
                </a:solidFill>
                <a:latin typeface="Inter Bold" pitchFamily="34" charset="0"/>
                <a:ea typeface="Inter Bold" pitchFamily="34" charset="-122"/>
                <a:cs typeface="Inter Bold" pitchFamily="34" charset="-120"/>
              </a:rPr>
              <a:t>THE HUB</a:t>
            </a:r>
            <a:endParaRPr lang="en-US" sz="1400" dirty="0"/>
          </a:p>
        </p:txBody>
      </p:sp>
      <p:sp>
        <p:nvSpPr>
          <p:cNvPr id="14" name="Shape 11"/>
          <p:cNvSpPr/>
          <p:nvPr/>
        </p:nvSpPr>
        <p:spPr>
          <a:xfrm>
            <a:off x="1357313" y="1650206"/>
            <a:ext cx="1143000" cy="428625"/>
          </a:xfrm>
          <a:prstGeom prst="rect">
            <a:avLst/>
          </a:prstGeom>
          <a:solidFill>
            <a:srgbClr val="FFFFFF"/>
          </a:solidFill>
          <a:ln w="9144">
            <a:solidFill>
              <a:srgbClr val="000000"/>
            </a:solidFill>
            <a:prstDash val="solid"/>
          </a:ln>
        </p:spPr>
      </p:sp>
      <p:sp>
        <p:nvSpPr>
          <p:cNvPr id="15" name="Text 12"/>
          <p:cNvSpPr/>
          <p:nvPr/>
        </p:nvSpPr>
        <p:spPr>
          <a:xfrm>
            <a:off x="1357313" y="1650206"/>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Cyber Kill Chain</a:t>
            </a:r>
            <a:endParaRPr lang="en-US" sz="700" dirty="0"/>
          </a:p>
        </p:txBody>
      </p:sp>
      <p:sp>
        <p:nvSpPr>
          <p:cNvPr id="16" name="Shape 13"/>
          <p:cNvSpPr/>
          <p:nvPr/>
        </p:nvSpPr>
        <p:spPr>
          <a:xfrm>
            <a:off x="1357313" y="2221706"/>
            <a:ext cx="1143000" cy="428625"/>
          </a:xfrm>
          <a:prstGeom prst="rect">
            <a:avLst/>
          </a:prstGeom>
          <a:solidFill>
            <a:srgbClr val="FFFFFF"/>
          </a:solidFill>
          <a:ln w="9144">
            <a:solidFill>
              <a:srgbClr val="000000"/>
            </a:solidFill>
            <a:prstDash val="solid"/>
          </a:ln>
        </p:spPr>
      </p:sp>
      <p:sp>
        <p:nvSpPr>
          <p:cNvPr id="17" name="Text 14"/>
          <p:cNvSpPr/>
          <p:nvPr/>
        </p:nvSpPr>
        <p:spPr>
          <a:xfrm>
            <a:off x="1357313" y="2221706"/>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Unified Kill Chain</a:t>
            </a:r>
            <a:endParaRPr lang="en-US" sz="700" dirty="0"/>
          </a:p>
        </p:txBody>
      </p:sp>
      <p:sp>
        <p:nvSpPr>
          <p:cNvPr id="18" name="Shape 15"/>
          <p:cNvSpPr/>
          <p:nvPr/>
        </p:nvSpPr>
        <p:spPr>
          <a:xfrm>
            <a:off x="1357313" y="2793206"/>
            <a:ext cx="1143000" cy="428625"/>
          </a:xfrm>
          <a:prstGeom prst="rect">
            <a:avLst/>
          </a:prstGeom>
          <a:solidFill>
            <a:srgbClr val="FFFFFF"/>
          </a:solidFill>
          <a:ln w="9144">
            <a:solidFill>
              <a:srgbClr val="000000"/>
            </a:solidFill>
            <a:prstDash val="solid"/>
          </a:ln>
        </p:spPr>
      </p:sp>
      <p:sp>
        <p:nvSpPr>
          <p:cNvPr id="19" name="Text 16"/>
          <p:cNvSpPr/>
          <p:nvPr/>
        </p:nvSpPr>
        <p:spPr>
          <a:xfrm>
            <a:off x="1357313" y="2793206"/>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CAPEC</a:t>
            </a:r>
            <a:endParaRPr lang="en-US" sz="700" dirty="0"/>
          </a:p>
        </p:txBody>
      </p:sp>
      <p:sp>
        <p:nvSpPr>
          <p:cNvPr id="20" name="Shape 17"/>
          <p:cNvSpPr/>
          <p:nvPr/>
        </p:nvSpPr>
        <p:spPr>
          <a:xfrm>
            <a:off x="1357313" y="3364706"/>
            <a:ext cx="1143000" cy="428625"/>
          </a:xfrm>
          <a:prstGeom prst="rect">
            <a:avLst/>
          </a:prstGeom>
          <a:solidFill>
            <a:srgbClr val="FFFFFF"/>
          </a:solidFill>
          <a:ln w="9144">
            <a:solidFill>
              <a:srgbClr val="000000"/>
            </a:solidFill>
            <a:prstDash val="solid"/>
          </a:ln>
        </p:spPr>
      </p:sp>
      <p:sp>
        <p:nvSpPr>
          <p:cNvPr id="21" name="Text 18"/>
          <p:cNvSpPr/>
          <p:nvPr/>
        </p:nvSpPr>
        <p:spPr>
          <a:xfrm>
            <a:off x="1357313" y="3364706"/>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CVE / CWE</a:t>
            </a:r>
            <a:endParaRPr lang="en-US" sz="700" dirty="0"/>
          </a:p>
        </p:txBody>
      </p:sp>
      <p:sp>
        <p:nvSpPr>
          <p:cNvPr id="23" name="Shape 20"/>
          <p:cNvSpPr/>
          <p:nvPr/>
        </p:nvSpPr>
        <p:spPr>
          <a:xfrm>
            <a:off x="2500313" y="2436019"/>
            <a:ext cx="714375" cy="14288"/>
          </a:xfrm>
          <a:prstGeom prst="rect">
            <a:avLst/>
          </a:prstGeom>
          <a:solidFill>
            <a:srgbClr val="000000"/>
          </a:solidFill>
        </p:spPr>
      </p:sp>
      <p:sp>
        <p:nvSpPr>
          <p:cNvPr id="24" name="Shape 21"/>
          <p:cNvSpPr/>
          <p:nvPr/>
        </p:nvSpPr>
        <p:spPr>
          <a:xfrm>
            <a:off x="2500313" y="3007519"/>
            <a:ext cx="714375" cy="14288"/>
          </a:xfrm>
          <a:prstGeom prst="rect">
            <a:avLst/>
          </a:prstGeom>
          <a:solidFill>
            <a:srgbClr val="000000"/>
          </a:solidFill>
        </p:spPr>
      </p:sp>
      <p:sp>
        <p:nvSpPr>
          <p:cNvPr id="26" name="Shape 23"/>
          <p:cNvSpPr/>
          <p:nvPr/>
        </p:nvSpPr>
        <p:spPr>
          <a:xfrm>
            <a:off x="6643688" y="1650206"/>
            <a:ext cx="1143000" cy="428625"/>
          </a:xfrm>
          <a:prstGeom prst="rect">
            <a:avLst/>
          </a:prstGeom>
          <a:solidFill>
            <a:srgbClr val="FFFFFF"/>
          </a:solidFill>
          <a:ln w="9144">
            <a:solidFill>
              <a:srgbClr val="000000"/>
            </a:solidFill>
            <a:prstDash val="solid"/>
          </a:ln>
        </p:spPr>
      </p:sp>
      <p:sp>
        <p:nvSpPr>
          <p:cNvPr id="27" name="Text 24"/>
          <p:cNvSpPr/>
          <p:nvPr/>
        </p:nvSpPr>
        <p:spPr>
          <a:xfrm>
            <a:off x="6643688" y="1650206"/>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D3FEND</a:t>
            </a:r>
            <a:endParaRPr lang="en-US" sz="700" dirty="0"/>
          </a:p>
        </p:txBody>
      </p:sp>
      <p:sp>
        <p:nvSpPr>
          <p:cNvPr id="28" name="Shape 25"/>
          <p:cNvSpPr/>
          <p:nvPr/>
        </p:nvSpPr>
        <p:spPr>
          <a:xfrm>
            <a:off x="6643688" y="2221706"/>
            <a:ext cx="1143000" cy="428625"/>
          </a:xfrm>
          <a:prstGeom prst="rect">
            <a:avLst/>
          </a:prstGeom>
          <a:solidFill>
            <a:srgbClr val="FFFFFF"/>
          </a:solidFill>
          <a:ln w="9144">
            <a:solidFill>
              <a:srgbClr val="000000"/>
            </a:solidFill>
            <a:prstDash val="solid"/>
          </a:ln>
        </p:spPr>
      </p:sp>
      <p:sp>
        <p:nvSpPr>
          <p:cNvPr id="29" name="Text 26"/>
          <p:cNvSpPr/>
          <p:nvPr/>
        </p:nvSpPr>
        <p:spPr>
          <a:xfrm>
            <a:off x="6643688" y="2221706"/>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ENGAGE</a:t>
            </a:r>
            <a:endParaRPr lang="en-US" sz="700" dirty="0"/>
          </a:p>
        </p:txBody>
      </p:sp>
      <p:sp>
        <p:nvSpPr>
          <p:cNvPr id="30" name="Shape 27"/>
          <p:cNvSpPr/>
          <p:nvPr/>
        </p:nvSpPr>
        <p:spPr>
          <a:xfrm>
            <a:off x="6643688" y="2793206"/>
            <a:ext cx="1143000" cy="428625"/>
          </a:xfrm>
          <a:prstGeom prst="rect">
            <a:avLst/>
          </a:prstGeom>
          <a:solidFill>
            <a:srgbClr val="FFFFFF"/>
          </a:solidFill>
          <a:ln w="9144">
            <a:solidFill>
              <a:srgbClr val="000000"/>
            </a:solidFill>
            <a:prstDash val="solid"/>
          </a:ln>
        </p:spPr>
      </p:sp>
      <p:sp>
        <p:nvSpPr>
          <p:cNvPr id="31" name="Text 28"/>
          <p:cNvSpPr/>
          <p:nvPr/>
        </p:nvSpPr>
        <p:spPr>
          <a:xfrm>
            <a:off x="6643688" y="2793206"/>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CAR</a:t>
            </a:r>
            <a:endParaRPr lang="en-US" sz="700" dirty="0"/>
          </a:p>
        </p:txBody>
      </p:sp>
      <p:sp>
        <p:nvSpPr>
          <p:cNvPr id="32" name="Shape 29"/>
          <p:cNvSpPr/>
          <p:nvPr/>
        </p:nvSpPr>
        <p:spPr>
          <a:xfrm>
            <a:off x="6643688" y="3364706"/>
            <a:ext cx="1143000" cy="428625"/>
          </a:xfrm>
          <a:prstGeom prst="rect">
            <a:avLst/>
          </a:prstGeom>
          <a:solidFill>
            <a:srgbClr val="FFFFFF"/>
          </a:solidFill>
          <a:ln w="9144">
            <a:solidFill>
              <a:srgbClr val="000000"/>
            </a:solidFill>
            <a:prstDash val="solid"/>
          </a:ln>
        </p:spPr>
      </p:sp>
      <p:sp>
        <p:nvSpPr>
          <p:cNvPr id="33" name="Text 30"/>
          <p:cNvSpPr/>
          <p:nvPr/>
        </p:nvSpPr>
        <p:spPr>
          <a:xfrm>
            <a:off x="6643688" y="3364706"/>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Pyramid of Pain</a:t>
            </a:r>
            <a:endParaRPr lang="en-US" sz="700" dirty="0"/>
          </a:p>
        </p:txBody>
      </p:sp>
      <p:sp>
        <p:nvSpPr>
          <p:cNvPr id="35" name="Shape 32"/>
          <p:cNvSpPr/>
          <p:nvPr/>
        </p:nvSpPr>
        <p:spPr>
          <a:xfrm rot="10800000">
            <a:off x="5929313" y="2436019"/>
            <a:ext cx="714375" cy="14288"/>
          </a:xfrm>
          <a:prstGeom prst="rect">
            <a:avLst/>
          </a:prstGeom>
          <a:solidFill>
            <a:srgbClr val="000000"/>
          </a:solidFill>
        </p:spPr>
      </p:sp>
      <p:sp>
        <p:nvSpPr>
          <p:cNvPr id="36" name="Shape 33"/>
          <p:cNvSpPr/>
          <p:nvPr/>
        </p:nvSpPr>
        <p:spPr>
          <a:xfrm rot="10800000">
            <a:off x="5929313" y="3007519"/>
            <a:ext cx="714375" cy="14288"/>
          </a:xfrm>
          <a:prstGeom prst="rect">
            <a:avLst/>
          </a:prstGeom>
          <a:solidFill>
            <a:srgbClr val="000000"/>
          </a:solidFill>
        </p:spPr>
      </p:sp>
      <p:sp>
        <p:nvSpPr>
          <p:cNvPr id="38" name="Shape 35"/>
          <p:cNvSpPr/>
          <p:nvPr/>
        </p:nvSpPr>
        <p:spPr>
          <a:xfrm>
            <a:off x="3143250" y="3950176"/>
            <a:ext cx="1143000" cy="428625"/>
          </a:xfrm>
          <a:prstGeom prst="rect">
            <a:avLst/>
          </a:prstGeom>
          <a:solidFill>
            <a:srgbClr val="FFFFFF"/>
          </a:solidFill>
          <a:ln w="9144">
            <a:solidFill>
              <a:srgbClr val="000000"/>
            </a:solidFill>
            <a:prstDash val="solid"/>
          </a:ln>
        </p:spPr>
      </p:sp>
      <p:sp>
        <p:nvSpPr>
          <p:cNvPr id="39" name="Text 36"/>
          <p:cNvSpPr/>
          <p:nvPr/>
        </p:nvSpPr>
        <p:spPr>
          <a:xfrm>
            <a:off x="3143250" y="3947001"/>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MITRE ATLAS (AI)</a:t>
            </a:r>
            <a:endParaRPr lang="en-US" sz="700" dirty="0"/>
          </a:p>
        </p:txBody>
      </p:sp>
      <p:sp>
        <p:nvSpPr>
          <p:cNvPr id="40" name="Shape 37"/>
          <p:cNvSpPr/>
          <p:nvPr/>
        </p:nvSpPr>
        <p:spPr>
          <a:xfrm>
            <a:off x="4857750" y="3953986"/>
            <a:ext cx="1143000" cy="428625"/>
          </a:xfrm>
          <a:prstGeom prst="rect">
            <a:avLst/>
          </a:prstGeom>
          <a:solidFill>
            <a:srgbClr val="FFFFFF"/>
          </a:solidFill>
          <a:ln w="9144">
            <a:solidFill>
              <a:srgbClr val="000000"/>
            </a:solidFill>
            <a:prstDash val="solid"/>
          </a:ln>
        </p:spPr>
      </p:sp>
      <p:sp>
        <p:nvSpPr>
          <p:cNvPr id="41" name="Text 38"/>
          <p:cNvSpPr/>
          <p:nvPr/>
        </p:nvSpPr>
        <p:spPr>
          <a:xfrm>
            <a:off x="4857750" y="3953986"/>
            <a:ext cx="1143000" cy="428625"/>
          </a:xfrm>
          <a:prstGeom prst="rect">
            <a:avLst/>
          </a:prstGeom>
          <a:noFill/>
        </p:spPr>
        <p:txBody>
          <a:bodyPr wrap="none" lIns="0" tIns="0" rIns="0" bIns="0" rtlCol="0" anchor="ctr">
            <a:spAutoFit/>
          </a:bodyPr>
          <a:lstStyle/>
          <a:p>
            <a:pPr marL="0" indent="0" algn="ctr">
              <a:buNone/>
            </a:pPr>
            <a:r>
              <a:rPr lang="en-US" sz="700" b="1" dirty="0">
                <a:solidFill>
                  <a:srgbClr val="000000"/>
                </a:solidFill>
                <a:latin typeface="Inter Bold" pitchFamily="34" charset="0"/>
                <a:ea typeface="Inter Bold" pitchFamily="34" charset="-122"/>
                <a:cs typeface="Inter Bold" pitchFamily="34" charset="-120"/>
              </a:rPr>
              <a:t>ATT&amp;CK for ICS</a:t>
            </a:r>
            <a:endParaRPr lang="en-US" sz="700" dirty="0"/>
          </a:p>
        </p:txBody>
      </p:sp>
      <p:sp>
        <p:nvSpPr>
          <p:cNvPr id="42" name="Text 39"/>
          <p:cNvSpPr/>
          <p:nvPr/>
        </p:nvSpPr>
        <p:spPr>
          <a:xfrm>
            <a:off x="428625" y="4507706"/>
            <a:ext cx="8286750" cy="137517"/>
          </a:xfrm>
          <a:prstGeom prst="rect">
            <a:avLst/>
          </a:prstGeom>
          <a:noFill/>
        </p:spPr>
        <p:txBody>
          <a:bodyPr wrap="square" lIns="0" tIns="0" rIns="0" bIns="0" rtlCol="0" anchor="t">
            <a:spAutoFit/>
          </a:bodyPr>
          <a:lstStyle/>
          <a:p>
            <a:pPr marL="0" indent="0" algn="ctr">
              <a:buNone/>
            </a:pPr>
            <a:r>
              <a:rPr lang="en-US" sz="850" i="1" dirty="0">
                <a:solidFill>
                  <a:srgbClr val="333333"/>
                </a:solidFill>
                <a:latin typeface="Inter" pitchFamily="34" charset="0"/>
                <a:ea typeface="Inter" pitchFamily="34" charset="-122"/>
                <a:cs typeface="Inter" pitchFamily="34" charset="-120"/>
              </a:rPr>
              <a:t>Everything from this point in the seminar lives on this map. We will visit every single box.</a:t>
            </a:r>
            <a:endParaRPr lang="en-US" sz="850" dirty="0"/>
          </a:p>
        </p:txBody>
      </p:sp>
      <p:cxnSp>
        <p:nvCxnSpPr>
          <p:cNvPr id="44" name="Elbow Connector 43"/>
          <p:cNvCxnSpPr>
            <a:stCxn id="15" idx="3"/>
          </p:cNvCxnSpPr>
          <p:nvPr/>
        </p:nvCxnSpPr>
        <p:spPr>
          <a:xfrm>
            <a:off x="2500630" y="1864360"/>
            <a:ext cx="721995" cy="381000"/>
          </a:xfrm>
          <a:prstGeom prst="bentConnector3">
            <a:avLst>
              <a:gd name="adj1" fmla="val 5004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5" name="Elbow Connector 44"/>
          <p:cNvCxnSpPr>
            <a:stCxn id="21" idx="3"/>
          </p:cNvCxnSpPr>
          <p:nvPr/>
        </p:nvCxnSpPr>
        <p:spPr>
          <a:xfrm flipV="1">
            <a:off x="2500630" y="3221990"/>
            <a:ext cx="714375" cy="356870"/>
          </a:xfrm>
          <a:prstGeom prst="bentConnector3">
            <a:avLst>
              <a:gd name="adj1" fmla="val 50044"/>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6" name="Elbow Connector 45"/>
          <p:cNvCxnSpPr>
            <a:stCxn id="27" idx="1"/>
          </p:cNvCxnSpPr>
          <p:nvPr/>
        </p:nvCxnSpPr>
        <p:spPr>
          <a:xfrm rot="10800000" flipV="1">
            <a:off x="5928995" y="1864360"/>
            <a:ext cx="714375" cy="381000"/>
          </a:xfrm>
          <a:prstGeom prst="bentConnector3">
            <a:avLst>
              <a:gd name="adj1" fmla="val 49956"/>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7" name="Elbow Connector 46"/>
          <p:cNvCxnSpPr/>
          <p:nvPr/>
        </p:nvCxnSpPr>
        <p:spPr>
          <a:xfrm rot="10800000">
            <a:off x="5918200" y="3221990"/>
            <a:ext cx="714375" cy="344170"/>
          </a:xfrm>
          <a:prstGeom prst="bentConnector3">
            <a:avLst>
              <a:gd name="adj1" fmla="val 49956"/>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48" name="Rounded Rectangle 47"/>
          <p:cNvSpPr/>
          <p:nvPr/>
        </p:nvSpPr>
        <p:spPr>
          <a:xfrm>
            <a:off x="3068955" y="1757680"/>
            <a:ext cx="283210" cy="21399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49" name="Rounded Rectangle 48"/>
          <p:cNvSpPr/>
          <p:nvPr/>
        </p:nvSpPr>
        <p:spPr>
          <a:xfrm>
            <a:off x="5823585" y="1757680"/>
            <a:ext cx="283210" cy="21399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0" name="Rounded Rectangle 49"/>
          <p:cNvSpPr/>
          <p:nvPr/>
        </p:nvSpPr>
        <p:spPr>
          <a:xfrm>
            <a:off x="3068955" y="3472180"/>
            <a:ext cx="283210" cy="21399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1" name="Rounded Rectangle 50"/>
          <p:cNvSpPr/>
          <p:nvPr/>
        </p:nvSpPr>
        <p:spPr>
          <a:xfrm>
            <a:off x="5778500" y="3472180"/>
            <a:ext cx="283210" cy="21399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22" name="Oval 21"/>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6985" y="6985"/>
            <a:ext cx="9144000" cy="5143500"/>
          </a:xfrm>
          <a:prstGeom prst="rect">
            <a:avLst/>
          </a:prstGeom>
        </p:spPr>
      </p:pic>
      <p:sp>
        <p:nvSpPr>
          <p:cNvPr id="4" name="Shape 0"/>
          <p:cNvSpPr/>
          <p:nvPr/>
        </p:nvSpPr>
        <p:spPr>
          <a:xfrm>
            <a:off x="437515" y="307975"/>
            <a:ext cx="571500" cy="228600"/>
          </a:xfrm>
          <a:prstGeom prst="roundRect">
            <a:avLst/>
          </a:prstGeom>
          <a:solidFill>
            <a:srgbClr val="FACC15"/>
          </a:solidFill>
        </p:spPr>
      </p:sp>
      <p:sp>
        <p:nvSpPr>
          <p:cNvPr id="5" name="Text 1"/>
          <p:cNvSpPr/>
          <p:nvPr/>
        </p:nvSpPr>
        <p:spPr>
          <a:xfrm>
            <a:off x="1107281" y="322362"/>
            <a:ext cx="1310878" cy="155377"/>
          </a:xfrm>
          <a:prstGeom prst="rect">
            <a:avLst/>
          </a:prstGeom>
          <a:noFill/>
        </p:spPr>
        <p:txBody>
          <a:bodyPr wrap="square" lIns="0" tIns="0" rIns="0" bIns="0" rtlCol="0" anchor="t">
            <a:spAutoFit/>
          </a:bodyPr>
          <a:lstStyle/>
          <a:p>
            <a:pPr marL="0" indent="0" algn="l">
              <a:buNone/>
            </a:pPr>
            <a:r>
              <a:rPr lang="en-US" sz="950" dirty="0">
                <a:solidFill>
                  <a:srgbClr val="000000"/>
                </a:solidFill>
                <a:latin typeface="Inter" pitchFamily="34" charset="0"/>
                <a:ea typeface="Inter" pitchFamily="34" charset="-122"/>
                <a:cs typeface="Inter" pitchFamily="34" charset="-120"/>
              </a:rPr>
              <a:t>Hidden Investigations</a:t>
            </a:r>
            <a:endParaRPr lang="en-US" sz="950" dirty="0"/>
          </a:p>
        </p:txBody>
      </p:sp>
      <p:sp>
        <p:nvSpPr>
          <p:cNvPr id="6" name="Text 2"/>
          <p:cNvSpPr/>
          <p:nvPr/>
        </p:nvSpPr>
        <p:spPr>
          <a:xfrm>
            <a:off x="428625" y="857250"/>
            <a:ext cx="5715000" cy="828675"/>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ExtraBold" pitchFamily="34" charset="0"/>
                <a:ea typeface="Inter ExtraBold" pitchFamily="34" charset="-122"/>
                <a:cs typeface="Inter ExtraBold" pitchFamily="34" charset="-120"/>
              </a:rPr>
              <a:t>Cyber Kill Chain → </a:t>
            </a:r>
            <a:r>
              <a:rPr lang="en-US" sz="2450" b="1" dirty="0">
                <a:solidFill>
                  <a:srgbClr val="000000"/>
                </a:solidFill>
                <a:latin typeface="Inter ExtraBold" pitchFamily="34" charset="0"/>
                <a:ea typeface="Inter ExtraBold" pitchFamily="34" charset="-122"/>
                <a:cs typeface="Inter ExtraBold" pitchFamily="34" charset="-120"/>
              </a:rPr>
              <a:t>
</a:t>
            </a:r>
            <a:r>
              <a:rPr lang="en-US" sz="2450" b="1" dirty="0">
                <a:solidFill>
                  <a:srgbClr val="000000"/>
                </a:solidFill>
                <a:latin typeface="Inter ExtraBold" pitchFamily="34" charset="0"/>
                <a:ea typeface="Inter ExtraBold" pitchFamily="34" charset="-122"/>
                <a:cs typeface="Inter ExtraBold" pitchFamily="34" charset="-120"/>
              </a:rPr>
              <a:t>Mapping to MITRE ATT&amp;CK</a:t>
            </a:r>
            <a:endParaRPr lang="en-US" sz="2450" dirty="0"/>
          </a:p>
        </p:txBody>
      </p:sp>
      <p:sp>
        <p:nvSpPr>
          <p:cNvPr id="7" name="Text 3"/>
          <p:cNvSpPr/>
          <p:nvPr/>
        </p:nvSpPr>
        <p:spPr>
          <a:xfrm>
            <a:off x="428625" y="2043113"/>
            <a:ext cx="3071813" cy="189309"/>
          </a:xfrm>
          <a:prstGeom prst="rect">
            <a:avLst/>
          </a:prstGeom>
          <a:noFill/>
        </p:spPr>
        <p:txBody>
          <a:bodyPr wrap="square" lIns="0" tIns="0" rIns="0" bIns="0" rtlCol="0" anchor="t">
            <a:spAutoFit/>
          </a:bodyPr>
          <a:lstStyle/>
          <a:p>
            <a:pPr marL="0" indent="0" algn="l">
              <a:buNone/>
            </a:pPr>
            <a:r>
              <a:rPr lang="en-US" sz="1100" dirty="0">
                <a:solidFill>
                  <a:srgbClr val="000000"/>
                </a:solidFill>
                <a:latin typeface="Inter SemiBold" pitchFamily="34" charset="0"/>
                <a:ea typeface="Inter SemiBold" pitchFamily="34" charset="-122"/>
                <a:cs typeface="Inter SemiBold" pitchFamily="34" charset="-120"/>
              </a:rPr>
              <a:t>What is it?</a:t>
            </a:r>
            <a:endParaRPr lang="en-US" sz="1100" dirty="0"/>
          </a:p>
        </p:txBody>
      </p:sp>
      <p:sp>
        <p:nvSpPr>
          <p:cNvPr id="8" name="Text 4"/>
          <p:cNvSpPr/>
          <p:nvPr/>
        </p:nvSpPr>
        <p:spPr>
          <a:xfrm>
            <a:off x="428625" y="2303859"/>
            <a:ext cx="3071813" cy="578644"/>
          </a:xfrm>
          <a:prstGeom prst="rect">
            <a:avLst/>
          </a:prstGeom>
          <a:noFill/>
        </p:spPr>
        <p:txBody>
          <a:bodyPr wrap="square" lIns="0" tIns="0" rIns="0" bIns="0" rtlCol="0" anchor="t">
            <a:spAutoFit/>
          </a:bodyPr>
          <a:lstStyle/>
          <a:p>
            <a:pPr marL="0" indent="0" algn="l">
              <a:lnSpc>
                <a:spcPct val="120000"/>
              </a:lnSpc>
              <a:buNone/>
            </a:pPr>
            <a:r>
              <a:rPr lang="en-US" sz="950" dirty="0">
                <a:solidFill>
                  <a:srgbClr val="333333"/>
                </a:solidFill>
                <a:latin typeface="Inter" pitchFamily="34" charset="0"/>
                <a:ea typeface="Inter" pitchFamily="34" charset="-122"/>
                <a:cs typeface="Inter" pitchFamily="34" charset="-120"/>
              </a:rPr>
              <a:t>The Kill Chain shows the </a:t>
            </a:r>
            <a:r>
              <a:rPr lang="en-US" sz="900" b="1" dirty="0">
                <a:solidFill>
                  <a:srgbClr val="333333"/>
                </a:solidFill>
                <a:latin typeface="Inter ExtraBold" pitchFamily="34" charset="0"/>
                <a:ea typeface="Inter ExtraBold" pitchFamily="34" charset="-122"/>
                <a:cs typeface="Inter ExtraBold" pitchFamily="34" charset="-120"/>
              </a:rPr>
              <a:t>attack journey</a:t>
            </a:r>
            <a:r>
              <a:rPr lang="en-US" sz="950" dirty="0">
                <a:solidFill>
                  <a:srgbClr val="333333"/>
                </a:solidFill>
                <a:latin typeface="Inter" pitchFamily="34" charset="0"/>
                <a:ea typeface="Inter" pitchFamily="34" charset="-122"/>
                <a:cs typeface="Inter" pitchFamily="34" charset="-120"/>
              </a:rPr>
              <a:t>. ATT&amp;CK </a:t>
            </a:r>
            <a:r>
              <a:rPr lang="en-US" sz="950" dirty="0">
                <a:solidFill>
                  <a:srgbClr val="333333"/>
                </a:solidFill>
                <a:latin typeface="Inter" pitchFamily="34" charset="0"/>
                <a:ea typeface="Inter" pitchFamily="34" charset="-122"/>
                <a:cs typeface="Inter" pitchFamily="34" charset="-120"/>
              </a:rPr>
              <a:t>shows exactly </a:t>
            </a:r>
            <a:r>
              <a:rPr lang="en-US" sz="900" b="1" dirty="0">
                <a:solidFill>
                  <a:srgbClr val="333333"/>
                </a:solidFill>
                <a:latin typeface="Inter ExtraBold" pitchFamily="34" charset="0"/>
                <a:ea typeface="Inter ExtraBold" pitchFamily="34" charset="-122"/>
                <a:cs typeface="Inter ExtraBold" pitchFamily="34" charset="-120"/>
              </a:rPr>
              <a:t>what</a:t>
            </a:r>
            <a:r>
              <a:rPr lang="en-US" sz="950" dirty="0">
                <a:solidFill>
                  <a:srgbClr val="333333"/>
                </a:solidFill>
                <a:latin typeface="Inter" pitchFamily="34" charset="0"/>
                <a:ea typeface="Inter" pitchFamily="34" charset="-122"/>
                <a:cs typeface="Inter" pitchFamily="34" charset="-120"/>
              </a:rPr>
              <a:t> the attacker did at each </a:t>
            </a:r>
            <a:r>
              <a:rPr lang="en-US" sz="950" dirty="0">
                <a:solidFill>
                  <a:srgbClr val="333333"/>
                </a:solidFill>
                <a:latin typeface="Inter" pitchFamily="34" charset="0"/>
                <a:ea typeface="Inter" pitchFamily="34" charset="-122"/>
                <a:cs typeface="Inter" pitchFamily="34" charset="-120"/>
              </a:rPr>
              <a:t>stage.</a:t>
            </a:r>
            <a:endParaRPr lang="en-US" sz="950" dirty="0"/>
          </a:p>
        </p:txBody>
      </p:sp>
      <p:sp>
        <p:nvSpPr>
          <p:cNvPr id="9" name="Text 5"/>
          <p:cNvSpPr/>
          <p:nvPr/>
        </p:nvSpPr>
        <p:spPr>
          <a:xfrm>
            <a:off x="3786188" y="2043113"/>
            <a:ext cx="3071813" cy="189309"/>
          </a:xfrm>
          <a:prstGeom prst="rect">
            <a:avLst/>
          </a:prstGeom>
          <a:noFill/>
        </p:spPr>
        <p:txBody>
          <a:bodyPr wrap="square" lIns="0" tIns="0" rIns="0" bIns="0" rtlCol="0" anchor="t">
            <a:spAutoFit/>
          </a:bodyPr>
          <a:lstStyle/>
          <a:p>
            <a:pPr marL="0" indent="0" algn="l">
              <a:buNone/>
            </a:pPr>
            <a:r>
              <a:rPr lang="en-US" sz="1100" dirty="0">
                <a:solidFill>
                  <a:srgbClr val="000000"/>
                </a:solidFill>
                <a:latin typeface="Inter SemiBold" pitchFamily="34" charset="0"/>
                <a:ea typeface="Inter SemiBold" pitchFamily="34" charset="-122"/>
                <a:cs typeface="Inter SemiBold" pitchFamily="34" charset="-120"/>
              </a:rPr>
              <a:t>Real-World Example</a:t>
            </a:r>
            <a:endParaRPr lang="en-US" sz="1100" dirty="0"/>
          </a:p>
        </p:txBody>
      </p:sp>
      <p:sp>
        <p:nvSpPr>
          <p:cNvPr id="10" name="Text 6"/>
          <p:cNvSpPr/>
          <p:nvPr/>
        </p:nvSpPr>
        <p:spPr>
          <a:xfrm>
            <a:off x="3786188" y="2303859"/>
            <a:ext cx="3071813" cy="385763"/>
          </a:xfrm>
          <a:prstGeom prst="rect">
            <a:avLst/>
          </a:prstGeom>
          <a:noFill/>
        </p:spPr>
        <p:txBody>
          <a:bodyPr wrap="square" lIns="0" tIns="0" rIns="0" bIns="0" rtlCol="0" anchor="t">
            <a:spAutoFit/>
          </a:bodyPr>
          <a:lstStyle/>
          <a:p>
            <a:pPr marL="0" indent="0" algn="l">
              <a:lnSpc>
                <a:spcPct val="120000"/>
              </a:lnSpc>
              <a:buNone/>
            </a:pPr>
            <a:r>
              <a:rPr lang="en-US" sz="900" b="1" dirty="0">
                <a:solidFill>
                  <a:srgbClr val="333333"/>
                </a:solidFill>
                <a:latin typeface="Inter ExtraBold" pitchFamily="34" charset="0"/>
                <a:ea typeface="Inter ExtraBold" pitchFamily="34" charset="-122"/>
                <a:cs typeface="Inter ExtraBold" pitchFamily="34" charset="-120"/>
              </a:rPr>
              <a:t>WannaCry (2017)</a:t>
            </a:r>
            <a:r>
              <a:rPr lang="en-US" sz="950" dirty="0">
                <a:solidFill>
                  <a:srgbClr val="333333"/>
                </a:solidFill>
                <a:latin typeface="Inter" pitchFamily="34" charset="0"/>
                <a:ea typeface="Inter" pitchFamily="34" charset="-122"/>
                <a:cs typeface="Inter" pitchFamily="34" charset="-120"/>
              </a:rPr>
              <a:t>: A global ransomware attack </a:t>
            </a:r>
            <a:r>
              <a:rPr lang="en-US" sz="950" dirty="0">
                <a:solidFill>
                  <a:srgbClr val="333333"/>
                </a:solidFill>
                <a:latin typeface="Inter" pitchFamily="34" charset="0"/>
                <a:ea typeface="Inter" pitchFamily="34" charset="-122"/>
                <a:cs typeface="Inter" pitchFamily="34" charset="-120"/>
              </a:rPr>
              <a:t>that exploited specific SMB vulnerabilities.</a:t>
            </a:r>
            <a:endParaRPr lang="en-US" sz="900" dirty="0"/>
          </a:p>
        </p:txBody>
      </p:sp>
      <p:sp>
        <p:nvSpPr>
          <p:cNvPr id="11" name="Shape 7"/>
          <p:cNvSpPr/>
          <p:nvPr/>
        </p:nvSpPr>
        <p:spPr>
          <a:xfrm>
            <a:off x="678656" y="3395960"/>
            <a:ext cx="357188" cy="357188"/>
          </a:xfrm>
          <a:prstGeom prst="ellipse">
            <a:avLst/>
          </a:prstGeom>
          <a:solidFill>
            <a:srgbClr val="FACC15"/>
          </a:solidFill>
        </p:spPr>
      </p:sp>
      <p:pic>
        <p:nvPicPr>
          <p:cNvPr id="12" name="Image 1" descr="preencoded.png"/>
          <p:cNvPicPr>
            <a:picLocks noChangeAspect="1"/>
          </p:cNvPicPr>
          <p:nvPr/>
        </p:nvPicPr>
        <p:blipFill>
          <a:blip r:embed="rId2"/>
          <a:stretch>
            <a:fillRect/>
          </a:stretch>
        </p:blipFill>
        <p:spPr>
          <a:xfrm>
            <a:off x="785813" y="3503116"/>
            <a:ext cx="142875" cy="142875"/>
          </a:xfrm>
          <a:prstGeom prst="rect">
            <a:avLst/>
          </a:prstGeom>
        </p:spPr>
      </p:pic>
      <p:sp>
        <p:nvSpPr>
          <p:cNvPr id="13" name="Text 8"/>
          <p:cNvSpPr/>
          <p:nvPr/>
        </p:nvSpPr>
        <p:spPr>
          <a:xfrm>
            <a:off x="705445" y="3824585"/>
            <a:ext cx="303609" cy="121444"/>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Recon</a:t>
            </a:r>
            <a:endParaRPr lang="en-US" sz="700" dirty="0"/>
          </a:p>
        </p:txBody>
      </p:sp>
      <p:sp>
        <p:nvSpPr>
          <p:cNvPr id="14" name="Shape 9"/>
          <p:cNvSpPr/>
          <p:nvPr/>
        </p:nvSpPr>
        <p:spPr>
          <a:xfrm>
            <a:off x="1793081" y="3395960"/>
            <a:ext cx="357188" cy="357188"/>
          </a:xfrm>
          <a:prstGeom prst="ellipse">
            <a:avLst/>
          </a:prstGeom>
          <a:solidFill>
            <a:srgbClr val="FACC15"/>
          </a:solidFill>
        </p:spPr>
      </p:sp>
      <p:pic>
        <p:nvPicPr>
          <p:cNvPr id="15" name="Image 2" descr="preencoded.png"/>
          <p:cNvPicPr>
            <a:picLocks noChangeAspect="1"/>
          </p:cNvPicPr>
          <p:nvPr/>
        </p:nvPicPr>
        <p:blipFill>
          <a:blip r:embed="rId3"/>
          <a:stretch>
            <a:fillRect/>
          </a:stretch>
        </p:blipFill>
        <p:spPr>
          <a:xfrm>
            <a:off x="1900238" y="3503116"/>
            <a:ext cx="142875" cy="142875"/>
          </a:xfrm>
          <a:prstGeom prst="rect">
            <a:avLst/>
          </a:prstGeom>
        </p:spPr>
      </p:pic>
      <p:sp>
        <p:nvSpPr>
          <p:cNvPr id="16" name="Text 10"/>
          <p:cNvSpPr/>
          <p:nvPr/>
        </p:nvSpPr>
        <p:spPr>
          <a:xfrm>
            <a:off x="1771650" y="3824585"/>
            <a:ext cx="400050" cy="121444"/>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Delivery</a:t>
            </a:r>
            <a:endParaRPr lang="en-US" sz="700" dirty="0"/>
          </a:p>
        </p:txBody>
      </p:sp>
      <p:sp>
        <p:nvSpPr>
          <p:cNvPr id="17" name="Shape 11"/>
          <p:cNvSpPr/>
          <p:nvPr/>
        </p:nvSpPr>
        <p:spPr>
          <a:xfrm>
            <a:off x="2907506" y="3311128"/>
            <a:ext cx="357188" cy="357188"/>
          </a:xfrm>
          <a:prstGeom prst="ellipse">
            <a:avLst/>
          </a:prstGeom>
          <a:solidFill>
            <a:srgbClr val="FACC15"/>
          </a:solidFill>
        </p:spPr>
      </p:sp>
      <p:pic>
        <p:nvPicPr>
          <p:cNvPr id="18" name="Image 3" descr="preencoded.png"/>
          <p:cNvPicPr>
            <a:picLocks noChangeAspect="1"/>
          </p:cNvPicPr>
          <p:nvPr/>
        </p:nvPicPr>
        <p:blipFill>
          <a:blip r:embed="rId4"/>
          <a:stretch>
            <a:fillRect/>
          </a:stretch>
        </p:blipFill>
        <p:spPr>
          <a:xfrm>
            <a:off x="3014663" y="3418284"/>
            <a:ext cx="142875" cy="142875"/>
          </a:xfrm>
          <a:prstGeom prst="rect">
            <a:avLst/>
          </a:prstGeom>
        </p:spPr>
      </p:pic>
      <p:sp>
        <p:nvSpPr>
          <p:cNvPr id="19" name="Text 12"/>
          <p:cNvSpPr/>
          <p:nvPr/>
        </p:nvSpPr>
        <p:spPr>
          <a:xfrm>
            <a:off x="2920901" y="3739753"/>
            <a:ext cx="330398" cy="121444"/>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Exploit</a:t>
            </a:r>
            <a:endParaRPr lang="en-US" sz="700" dirty="0"/>
          </a:p>
        </p:txBody>
      </p:sp>
      <p:sp>
        <p:nvSpPr>
          <p:cNvPr id="20" name="Shape 13"/>
          <p:cNvSpPr/>
          <p:nvPr/>
        </p:nvSpPr>
        <p:spPr>
          <a:xfrm>
            <a:off x="2927152" y="3896916"/>
            <a:ext cx="317897" cy="133945"/>
          </a:xfrm>
          <a:prstGeom prst="rect">
            <a:avLst/>
          </a:prstGeom>
          <a:solidFill>
            <a:srgbClr val="000000"/>
          </a:solidFill>
        </p:spPr>
      </p:sp>
      <p:sp>
        <p:nvSpPr>
          <p:cNvPr id="21" name="Text 14"/>
          <p:cNvSpPr/>
          <p:nvPr/>
        </p:nvSpPr>
        <p:spPr>
          <a:xfrm>
            <a:off x="2927152" y="3896916"/>
            <a:ext cx="317897" cy="133945"/>
          </a:xfrm>
          <a:prstGeom prst="rect">
            <a:avLst/>
          </a:prstGeom>
          <a:noFill/>
        </p:spPr>
        <p:txBody>
          <a:bodyPr wrap="none" lIns="51054" tIns="17018" rIns="51054" bIns="17018" rtlCol="0" anchor="t">
            <a:spAutoFit/>
          </a:bodyPr>
          <a:lstStyle/>
          <a:p>
            <a:pPr marL="0" indent="0" algn="ctr">
              <a:buNone/>
            </a:pPr>
            <a:r>
              <a:rPr lang="en-US" sz="600" dirty="0">
                <a:solidFill>
                  <a:srgbClr val="FFFFFF"/>
                </a:solidFill>
                <a:latin typeface="Inter" pitchFamily="34" charset="0"/>
                <a:ea typeface="Inter" pitchFamily="34" charset="-122"/>
                <a:cs typeface="Inter" pitchFamily="34" charset="-120"/>
              </a:rPr>
              <a:t>T1210</a:t>
            </a:r>
            <a:endParaRPr lang="en-US" sz="600" dirty="0"/>
          </a:p>
        </p:txBody>
      </p:sp>
      <p:sp>
        <p:nvSpPr>
          <p:cNvPr id="22" name="Shape 15"/>
          <p:cNvSpPr/>
          <p:nvPr/>
        </p:nvSpPr>
        <p:spPr>
          <a:xfrm>
            <a:off x="4021931" y="3395960"/>
            <a:ext cx="357188" cy="357188"/>
          </a:xfrm>
          <a:prstGeom prst="ellipse">
            <a:avLst/>
          </a:prstGeom>
          <a:solidFill>
            <a:srgbClr val="FACC15"/>
          </a:solidFill>
        </p:spPr>
      </p:sp>
      <p:pic>
        <p:nvPicPr>
          <p:cNvPr id="23" name="Image 4" descr="preencoded.png"/>
          <p:cNvPicPr>
            <a:picLocks noChangeAspect="1"/>
          </p:cNvPicPr>
          <p:nvPr/>
        </p:nvPicPr>
        <p:blipFill>
          <a:blip r:embed="rId5"/>
          <a:stretch>
            <a:fillRect/>
          </a:stretch>
        </p:blipFill>
        <p:spPr>
          <a:xfrm>
            <a:off x="4129088" y="3503116"/>
            <a:ext cx="142875" cy="142875"/>
          </a:xfrm>
          <a:prstGeom prst="rect">
            <a:avLst/>
          </a:prstGeom>
        </p:spPr>
      </p:pic>
      <p:sp>
        <p:nvSpPr>
          <p:cNvPr id="24" name="Text 16"/>
          <p:cNvSpPr/>
          <p:nvPr/>
        </p:nvSpPr>
        <p:spPr>
          <a:xfrm>
            <a:off x="4054971" y="3824585"/>
            <a:ext cx="291108" cy="121444"/>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Install</a:t>
            </a:r>
            <a:endParaRPr lang="en-US" sz="700" dirty="0"/>
          </a:p>
        </p:txBody>
      </p:sp>
      <p:sp>
        <p:nvSpPr>
          <p:cNvPr id="25" name="Shape 17"/>
          <p:cNvSpPr/>
          <p:nvPr/>
        </p:nvSpPr>
        <p:spPr>
          <a:xfrm>
            <a:off x="5136356" y="3395960"/>
            <a:ext cx="357188" cy="357188"/>
          </a:xfrm>
          <a:prstGeom prst="ellipse">
            <a:avLst/>
          </a:prstGeom>
          <a:solidFill>
            <a:srgbClr val="FACC15"/>
          </a:solidFill>
        </p:spPr>
      </p:sp>
      <p:pic>
        <p:nvPicPr>
          <p:cNvPr id="26" name="Image 5" descr="preencoded.png"/>
          <p:cNvPicPr>
            <a:picLocks noChangeAspect="1"/>
          </p:cNvPicPr>
          <p:nvPr/>
        </p:nvPicPr>
        <p:blipFill>
          <a:blip r:embed="rId6"/>
          <a:stretch>
            <a:fillRect/>
          </a:stretch>
        </p:blipFill>
        <p:spPr>
          <a:xfrm>
            <a:off x="5234583" y="3503116"/>
            <a:ext cx="160734" cy="142875"/>
          </a:xfrm>
          <a:prstGeom prst="rect">
            <a:avLst/>
          </a:prstGeom>
        </p:spPr>
      </p:pic>
      <p:sp>
        <p:nvSpPr>
          <p:cNvPr id="27" name="Text 18"/>
          <p:cNvSpPr/>
          <p:nvPr/>
        </p:nvSpPr>
        <p:spPr>
          <a:xfrm>
            <a:off x="5247084" y="3824585"/>
            <a:ext cx="135731" cy="121444"/>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C2</a:t>
            </a:r>
            <a:endParaRPr lang="en-US" sz="700" dirty="0"/>
          </a:p>
        </p:txBody>
      </p:sp>
      <p:sp>
        <p:nvSpPr>
          <p:cNvPr id="28" name="Shape 19"/>
          <p:cNvSpPr/>
          <p:nvPr/>
        </p:nvSpPr>
        <p:spPr>
          <a:xfrm>
            <a:off x="6250781" y="3311128"/>
            <a:ext cx="357188" cy="357188"/>
          </a:xfrm>
          <a:prstGeom prst="ellipse">
            <a:avLst/>
          </a:prstGeom>
          <a:solidFill>
            <a:srgbClr val="FACC15"/>
          </a:solidFill>
        </p:spPr>
      </p:sp>
      <p:pic>
        <p:nvPicPr>
          <p:cNvPr id="29" name="Image 6" descr="preencoded.png"/>
          <p:cNvPicPr>
            <a:picLocks noChangeAspect="1"/>
          </p:cNvPicPr>
          <p:nvPr/>
        </p:nvPicPr>
        <p:blipFill>
          <a:blip r:embed="rId7"/>
          <a:stretch>
            <a:fillRect/>
          </a:stretch>
        </p:blipFill>
        <p:spPr>
          <a:xfrm>
            <a:off x="6366867" y="3418284"/>
            <a:ext cx="125016" cy="142875"/>
          </a:xfrm>
          <a:prstGeom prst="rect">
            <a:avLst/>
          </a:prstGeom>
        </p:spPr>
      </p:pic>
      <p:sp>
        <p:nvSpPr>
          <p:cNvPr id="30" name="Text 20"/>
          <p:cNvSpPr/>
          <p:nvPr/>
        </p:nvSpPr>
        <p:spPr>
          <a:xfrm>
            <a:off x="6262390" y="3739753"/>
            <a:ext cx="333970" cy="121444"/>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Impact</a:t>
            </a:r>
            <a:endParaRPr lang="en-US" sz="700" dirty="0"/>
          </a:p>
        </p:txBody>
      </p:sp>
      <p:sp>
        <p:nvSpPr>
          <p:cNvPr id="31" name="Shape 21"/>
          <p:cNvSpPr/>
          <p:nvPr/>
        </p:nvSpPr>
        <p:spPr>
          <a:xfrm>
            <a:off x="6259711" y="3896916"/>
            <a:ext cx="339328" cy="133945"/>
          </a:xfrm>
          <a:prstGeom prst="rect">
            <a:avLst/>
          </a:prstGeom>
          <a:solidFill>
            <a:srgbClr val="000000"/>
          </a:solidFill>
        </p:spPr>
      </p:sp>
      <p:sp>
        <p:nvSpPr>
          <p:cNvPr id="32" name="Text 22"/>
          <p:cNvSpPr/>
          <p:nvPr/>
        </p:nvSpPr>
        <p:spPr>
          <a:xfrm>
            <a:off x="6259711" y="3896916"/>
            <a:ext cx="339328" cy="133945"/>
          </a:xfrm>
          <a:prstGeom prst="rect">
            <a:avLst/>
          </a:prstGeom>
          <a:noFill/>
        </p:spPr>
        <p:txBody>
          <a:bodyPr wrap="none" lIns="51054" tIns="17018" rIns="51054" bIns="17018" rtlCol="0" anchor="t">
            <a:spAutoFit/>
          </a:bodyPr>
          <a:lstStyle/>
          <a:p>
            <a:pPr marL="0" indent="0" algn="ctr">
              <a:buNone/>
            </a:pPr>
            <a:r>
              <a:rPr lang="en-US" sz="600" dirty="0">
                <a:solidFill>
                  <a:srgbClr val="FFFFFF"/>
                </a:solidFill>
                <a:latin typeface="Inter" pitchFamily="34" charset="0"/>
                <a:ea typeface="Inter" pitchFamily="34" charset="-122"/>
                <a:cs typeface="Inter" pitchFamily="34" charset="-120"/>
              </a:rPr>
              <a:t>T1486</a:t>
            </a:r>
            <a:endParaRPr lang="en-US" sz="600" dirty="0"/>
          </a:p>
        </p:txBody>
      </p:sp>
      <p:sp>
        <p:nvSpPr>
          <p:cNvPr id="33" name="Shape 23"/>
          <p:cNvSpPr/>
          <p:nvPr/>
        </p:nvSpPr>
        <p:spPr>
          <a:xfrm>
            <a:off x="428625" y="4289306"/>
            <a:ext cx="6429375" cy="280392"/>
          </a:xfrm>
          <a:prstGeom prst="rect">
            <a:avLst/>
          </a:prstGeom>
          <a:solidFill>
            <a:srgbClr val="000000"/>
          </a:solidFill>
        </p:spPr>
      </p:sp>
      <p:sp>
        <p:nvSpPr>
          <p:cNvPr id="34" name="Text 24"/>
          <p:cNvSpPr/>
          <p:nvPr/>
        </p:nvSpPr>
        <p:spPr>
          <a:xfrm>
            <a:off x="428625" y="4289306"/>
            <a:ext cx="6429375" cy="280392"/>
          </a:xfrm>
          <a:prstGeom prst="rect">
            <a:avLst/>
          </a:prstGeom>
          <a:noFill/>
        </p:spPr>
        <p:txBody>
          <a:bodyPr wrap="square" lIns="170053" tIns="85090" rIns="170053" bIns="85090" rtlCol="0" anchor="t">
            <a:spAutoFit/>
          </a:bodyPr>
          <a:lstStyle/>
          <a:p>
            <a:pPr marL="0" indent="0" algn="l">
              <a:buNone/>
            </a:pPr>
            <a:r>
              <a:rPr lang="en-US" sz="800" dirty="0">
                <a:solidFill>
                  <a:srgbClr val="FFFFFF"/>
                </a:solidFill>
                <a:latin typeface="Inter SemiBold" pitchFamily="34" charset="0"/>
                <a:ea typeface="Inter SemiBold" pitchFamily="34" charset="-122"/>
                <a:cs typeface="Inter SemiBold" pitchFamily="34" charset="-120"/>
              </a:rPr>
              <a:t>Key Takeaway: Kill Chain = Story | ATT&amp;CK = Detailed Actions</a:t>
            </a:r>
            <a:endParaRPr lang="en-US" sz="800" dirty="0"/>
          </a:p>
        </p:txBody>
      </p:sp>
      <p:sp>
        <p:nvSpPr>
          <p:cNvPr id="35" name="Text 25"/>
          <p:cNvSpPr/>
          <p:nvPr/>
        </p:nvSpPr>
        <p:spPr>
          <a:xfrm>
            <a:off x="428625" y="4702373"/>
            <a:ext cx="8286750" cy="155377"/>
          </a:xfrm>
          <a:prstGeom prst="rect">
            <a:avLst/>
          </a:prstGeom>
          <a:noFill/>
        </p:spPr>
        <p:txBody>
          <a:bodyPr wrap="square" lIns="0" tIns="0" rIns="0" bIns="0" rtlCol="0" anchor="t">
            <a:spAutoFit/>
          </a:bodyPr>
          <a:lstStyle/>
          <a:p>
            <a:pPr marL="0" indent="0" algn="ctr">
              <a:buNone/>
            </a:pPr>
            <a:r>
              <a:rPr lang="en-US" sz="950" dirty="0">
                <a:solidFill>
                  <a:srgbClr val="000000"/>
                </a:solidFill>
                <a:latin typeface="Inter" pitchFamily="34" charset="0"/>
                <a:ea typeface="Inter" pitchFamily="34" charset="-122"/>
                <a:cs typeface="Inter" pitchFamily="34" charset="-120"/>
              </a:rPr>
              <a:t>Hiddeninvestigations.Net</a:t>
            </a:r>
            <a:endParaRPr lang="en-US" sz="950" dirty="0"/>
          </a:p>
        </p:txBody>
      </p:sp>
      <p:sp>
        <p:nvSpPr>
          <p:cNvPr id="2" name="Text 3"/>
          <p:cNvSpPr/>
          <p:nvPr/>
        </p:nvSpPr>
        <p:spPr>
          <a:xfrm>
            <a:off x="8270677" y="401835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08</a:t>
            </a:r>
            <a:endParaRPr lang="en-US" sz="3300" dirty="0"/>
          </a:p>
        </p:txBody>
      </p:sp>
      <p:sp>
        <p:nvSpPr>
          <p:cNvPr id="36" name="Oval 35"/>
          <p:cNvSpPr/>
          <p:nvPr/>
        </p:nvSpPr>
        <p:spPr>
          <a:xfrm>
            <a:off x="835660" y="36703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6985"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222456" y="401835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09</a:t>
            </a:r>
            <a:endParaRPr lang="en-US" sz="3300" dirty="0"/>
          </a:p>
        </p:txBody>
      </p:sp>
      <p:sp>
        <p:nvSpPr>
          <p:cNvPr id="7" name="Text 4"/>
          <p:cNvSpPr/>
          <p:nvPr/>
        </p:nvSpPr>
        <p:spPr>
          <a:xfrm>
            <a:off x="428625" y="714375"/>
            <a:ext cx="8286750" cy="364331"/>
          </a:xfrm>
          <a:prstGeom prst="rect">
            <a:avLst/>
          </a:prstGeom>
          <a:noFill/>
        </p:spPr>
        <p:txBody>
          <a:bodyPr wrap="square" lIns="0" tIns="0" rIns="0" bIns="0" rtlCol="0" anchor="t">
            <a:spAutoFit/>
          </a:bodyPr>
          <a:lstStyle/>
          <a:p>
            <a:pPr marL="0" indent="0" algn="l">
              <a:buNone/>
            </a:pPr>
            <a:r>
              <a:rPr lang="en-US" sz="2100" b="1" dirty="0">
                <a:solidFill>
                  <a:srgbClr val="000000"/>
                </a:solidFill>
                <a:latin typeface="Inter Black" pitchFamily="34" charset="0"/>
                <a:ea typeface="Inter Black" pitchFamily="34" charset="-122"/>
                <a:cs typeface="Inter Black" pitchFamily="34" charset="-120"/>
              </a:rPr>
              <a:t>The Original Blueprint of Every Cyberattack.</a:t>
            </a:r>
            <a:endParaRPr lang="en-US" sz="2100" dirty="0"/>
          </a:p>
        </p:txBody>
      </p:sp>
      <p:sp>
        <p:nvSpPr>
          <p:cNvPr id="8" name="Shape 5"/>
          <p:cNvSpPr/>
          <p:nvPr/>
        </p:nvSpPr>
        <p:spPr>
          <a:xfrm>
            <a:off x="607219" y="1293019"/>
            <a:ext cx="357188" cy="357188"/>
          </a:xfrm>
          <a:prstGeom prst="ellipse">
            <a:avLst/>
          </a:prstGeom>
          <a:solidFill>
            <a:srgbClr val="F5C518"/>
          </a:solidFill>
        </p:spPr>
      </p:sp>
      <p:sp>
        <p:nvSpPr>
          <p:cNvPr id="9" name="Text 6"/>
          <p:cNvSpPr/>
          <p:nvPr/>
        </p:nvSpPr>
        <p:spPr>
          <a:xfrm>
            <a:off x="607219" y="1293019"/>
            <a:ext cx="357188" cy="357188"/>
          </a:xfrm>
          <a:prstGeom prst="rect">
            <a:avLst/>
          </a:prstGeom>
          <a:noFill/>
        </p:spPr>
        <p:txBody>
          <a:bodyPr wrap="none" lIns="0" tIns="0" rIns="0" bIns="0" rtlCol="0" anchor="ctr">
            <a:spAutoFit/>
          </a:bodyPr>
          <a:lstStyle/>
          <a:p>
            <a:pPr marL="0" indent="0" algn="ctr">
              <a:buNone/>
            </a:pPr>
            <a:r>
              <a:rPr lang="en-US" sz="1000" b="1" dirty="0">
                <a:solidFill>
                  <a:srgbClr val="000000"/>
                </a:solidFill>
                <a:latin typeface="Inter Black" pitchFamily="34" charset="0"/>
                <a:ea typeface="Inter Black" pitchFamily="34" charset="-122"/>
                <a:cs typeface="Inter Black" pitchFamily="34" charset="-120"/>
              </a:rPr>
              <a:t>1</a:t>
            </a:r>
            <a:endParaRPr lang="en-US" sz="1000" dirty="0"/>
          </a:p>
        </p:txBody>
      </p:sp>
      <p:sp>
        <p:nvSpPr>
          <p:cNvPr id="10" name="Text 7"/>
          <p:cNvSpPr/>
          <p:nvPr/>
        </p:nvSpPr>
        <p:spPr>
          <a:xfrm>
            <a:off x="633115" y="1721644"/>
            <a:ext cx="305395" cy="102859"/>
          </a:xfrm>
          <a:prstGeom prst="rect">
            <a:avLst/>
          </a:prstGeom>
          <a:noFill/>
        </p:spPr>
        <p:txBody>
          <a:bodyPr wrap="none" lIns="0" tIns="0" rIns="0" bIns="0" rtlCol="0" anchor="t">
            <a:spAutoFit/>
          </a:bodyPr>
          <a:lstStyle/>
          <a:p>
            <a:pPr marL="0" indent="0" algn="ctr">
              <a:lnSpc>
                <a:spcPct val="96000"/>
              </a:lnSpc>
              <a:buNone/>
            </a:pPr>
            <a:r>
              <a:rPr lang="en-US" sz="600" b="1" dirty="0">
                <a:solidFill>
                  <a:srgbClr val="000000"/>
                </a:solidFill>
                <a:latin typeface="Inter Bold" pitchFamily="34" charset="0"/>
                <a:ea typeface="Inter Bold" pitchFamily="34" charset="-122"/>
                <a:cs typeface="Inter Bold" pitchFamily="34" charset="-120"/>
              </a:rPr>
              <a:t>RECON</a:t>
            </a:r>
            <a:endParaRPr lang="en-US" sz="600" dirty="0"/>
          </a:p>
        </p:txBody>
      </p:sp>
      <p:sp>
        <p:nvSpPr>
          <p:cNvPr id="11" name="Shape 8"/>
          <p:cNvSpPr/>
          <p:nvPr/>
        </p:nvSpPr>
        <p:spPr>
          <a:xfrm>
            <a:off x="1143000" y="1426601"/>
            <a:ext cx="55559" cy="14288"/>
          </a:xfrm>
          <a:prstGeom prst="rect">
            <a:avLst/>
          </a:prstGeom>
          <a:solidFill>
            <a:srgbClr val="000000"/>
          </a:solidFill>
        </p:spPr>
      </p:sp>
      <p:sp>
        <p:nvSpPr>
          <p:cNvPr id="12" name="Shape 9"/>
          <p:cNvSpPr/>
          <p:nvPr/>
        </p:nvSpPr>
        <p:spPr>
          <a:xfrm>
            <a:off x="1377153" y="1293019"/>
            <a:ext cx="357188" cy="357188"/>
          </a:xfrm>
          <a:prstGeom prst="ellipse">
            <a:avLst/>
          </a:prstGeom>
          <a:solidFill>
            <a:srgbClr val="F5C518"/>
          </a:solidFill>
        </p:spPr>
      </p:sp>
      <p:sp>
        <p:nvSpPr>
          <p:cNvPr id="13" name="Text 10"/>
          <p:cNvSpPr/>
          <p:nvPr/>
        </p:nvSpPr>
        <p:spPr>
          <a:xfrm>
            <a:off x="1377153" y="1293019"/>
            <a:ext cx="357188" cy="357188"/>
          </a:xfrm>
          <a:prstGeom prst="rect">
            <a:avLst/>
          </a:prstGeom>
          <a:noFill/>
        </p:spPr>
        <p:txBody>
          <a:bodyPr wrap="none" lIns="0" tIns="0" rIns="0" bIns="0" rtlCol="0" anchor="ctr">
            <a:spAutoFit/>
          </a:bodyPr>
          <a:lstStyle/>
          <a:p>
            <a:pPr marL="0" indent="0" algn="ctr">
              <a:buNone/>
            </a:pPr>
            <a:r>
              <a:rPr lang="en-US" sz="1000" b="1" dirty="0">
                <a:solidFill>
                  <a:srgbClr val="000000"/>
                </a:solidFill>
                <a:latin typeface="Inter Black" pitchFamily="34" charset="0"/>
                <a:ea typeface="Inter Black" pitchFamily="34" charset="-122"/>
                <a:cs typeface="Inter Black" pitchFamily="34" charset="-120"/>
              </a:rPr>
              <a:t>2</a:t>
            </a:r>
            <a:endParaRPr lang="en-US" sz="1000" dirty="0"/>
          </a:p>
        </p:txBody>
      </p:sp>
      <p:sp>
        <p:nvSpPr>
          <p:cNvPr id="14" name="Text 11"/>
          <p:cNvSpPr/>
          <p:nvPr/>
        </p:nvSpPr>
        <p:spPr>
          <a:xfrm>
            <a:off x="1293214" y="1721644"/>
            <a:ext cx="525066" cy="102859"/>
          </a:xfrm>
          <a:prstGeom prst="rect">
            <a:avLst/>
          </a:prstGeom>
          <a:noFill/>
        </p:spPr>
        <p:txBody>
          <a:bodyPr wrap="none" lIns="0" tIns="0" rIns="0" bIns="0" rtlCol="0" anchor="t">
            <a:spAutoFit/>
          </a:bodyPr>
          <a:lstStyle/>
          <a:p>
            <a:pPr marL="0" indent="0" algn="ctr">
              <a:lnSpc>
                <a:spcPct val="96000"/>
              </a:lnSpc>
              <a:buNone/>
            </a:pPr>
            <a:r>
              <a:rPr lang="en-US" sz="600" b="1" dirty="0">
                <a:solidFill>
                  <a:srgbClr val="000000"/>
                </a:solidFill>
                <a:latin typeface="Inter Bold" pitchFamily="34" charset="0"/>
                <a:ea typeface="Inter Bold" pitchFamily="34" charset="-122"/>
                <a:cs typeface="Inter Bold" pitchFamily="34" charset="-120"/>
              </a:rPr>
              <a:t>WEAPONIZE</a:t>
            </a:r>
            <a:endParaRPr lang="en-US" sz="600" dirty="0"/>
          </a:p>
        </p:txBody>
      </p:sp>
      <p:sp>
        <p:nvSpPr>
          <p:cNvPr id="15" name="Shape 12"/>
          <p:cNvSpPr/>
          <p:nvPr/>
        </p:nvSpPr>
        <p:spPr>
          <a:xfrm>
            <a:off x="1912934" y="1426601"/>
            <a:ext cx="55559" cy="14288"/>
          </a:xfrm>
          <a:prstGeom prst="rect">
            <a:avLst/>
          </a:prstGeom>
          <a:solidFill>
            <a:srgbClr val="000000"/>
          </a:solidFill>
        </p:spPr>
      </p:sp>
      <p:sp>
        <p:nvSpPr>
          <p:cNvPr id="16" name="Shape 13"/>
          <p:cNvSpPr/>
          <p:nvPr/>
        </p:nvSpPr>
        <p:spPr>
          <a:xfrm>
            <a:off x="2147088" y="1293019"/>
            <a:ext cx="357188" cy="357188"/>
          </a:xfrm>
          <a:prstGeom prst="ellipse">
            <a:avLst/>
          </a:prstGeom>
          <a:solidFill>
            <a:srgbClr val="F5C518"/>
          </a:solidFill>
        </p:spPr>
      </p:sp>
      <p:sp>
        <p:nvSpPr>
          <p:cNvPr id="17" name="Text 14"/>
          <p:cNvSpPr/>
          <p:nvPr/>
        </p:nvSpPr>
        <p:spPr>
          <a:xfrm>
            <a:off x="2147088" y="1293019"/>
            <a:ext cx="357188" cy="357188"/>
          </a:xfrm>
          <a:prstGeom prst="rect">
            <a:avLst/>
          </a:prstGeom>
          <a:noFill/>
        </p:spPr>
        <p:txBody>
          <a:bodyPr wrap="none" lIns="0" tIns="0" rIns="0" bIns="0" rtlCol="0" anchor="ctr">
            <a:spAutoFit/>
          </a:bodyPr>
          <a:lstStyle/>
          <a:p>
            <a:pPr marL="0" indent="0" algn="ctr">
              <a:buNone/>
            </a:pPr>
            <a:r>
              <a:rPr lang="en-US" sz="1000" b="1" dirty="0">
                <a:solidFill>
                  <a:srgbClr val="000000"/>
                </a:solidFill>
                <a:latin typeface="Inter Black" pitchFamily="34" charset="0"/>
                <a:ea typeface="Inter Black" pitchFamily="34" charset="-122"/>
                <a:cs typeface="Inter Black" pitchFamily="34" charset="-120"/>
              </a:rPr>
              <a:t>3</a:t>
            </a:r>
            <a:endParaRPr lang="en-US" sz="1000" dirty="0"/>
          </a:p>
        </p:txBody>
      </p:sp>
      <p:sp>
        <p:nvSpPr>
          <p:cNvPr id="18" name="Text 15"/>
          <p:cNvSpPr/>
          <p:nvPr/>
        </p:nvSpPr>
        <p:spPr>
          <a:xfrm>
            <a:off x="2115834" y="1721644"/>
            <a:ext cx="419695" cy="102859"/>
          </a:xfrm>
          <a:prstGeom prst="rect">
            <a:avLst/>
          </a:prstGeom>
          <a:noFill/>
        </p:spPr>
        <p:txBody>
          <a:bodyPr wrap="none" lIns="0" tIns="0" rIns="0" bIns="0" rtlCol="0" anchor="t">
            <a:spAutoFit/>
          </a:bodyPr>
          <a:lstStyle/>
          <a:p>
            <a:pPr marL="0" indent="0" algn="ctr">
              <a:lnSpc>
                <a:spcPct val="96000"/>
              </a:lnSpc>
              <a:buNone/>
            </a:pPr>
            <a:r>
              <a:rPr lang="en-US" sz="600" b="1" dirty="0">
                <a:solidFill>
                  <a:srgbClr val="000000"/>
                </a:solidFill>
                <a:latin typeface="Inter Bold" pitchFamily="34" charset="0"/>
                <a:ea typeface="Inter Bold" pitchFamily="34" charset="-122"/>
                <a:cs typeface="Inter Bold" pitchFamily="34" charset="-120"/>
              </a:rPr>
              <a:t>DELIVERY</a:t>
            </a:r>
            <a:endParaRPr lang="en-US" sz="600" dirty="0"/>
          </a:p>
        </p:txBody>
      </p:sp>
      <p:sp>
        <p:nvSpPr>
          <p:cNvPr id="19" name="Shape 16"/>
          <p:cNvSpPr/>
          <p:nvPr/>
        </p:nvSpPr>
        <p:spPr>
          <a:xfrm>
            <a:off x="2682869" y="1426601"/>
            <a:ext cx="55559" cy="14288"/>
          </a:xfrm>
          <a:prstGeom prst="rect">
            <a:avLst/>
          </a:prstGeom>
          <a:solidFill>
            <a:srgbClr val="000000"/>
          </a:solidFill>
        </p:spPr>
      </p:sp>
      <p:sp>
        <p:nvSpPr>
          <p:cNvPr id="20" name="Shape 17"/>
          <p:cNvSpPr/>
          <p:nvPr/>
        </p:nvSpPr>
        <p:spPr>
          <a:xfrm>
            <a:off x="2917022" y="1293019"/>
            <a:ext cx="357188" cy="357188"/>
          </a:xfrm>
          <a:prstGeom prst="ellipse">
            <a:avLst/>
          </a:prstGeom>
          <a:solidFill>
            <a:srgbClr val="F5C518"/>
          </a:solidFill>
        </p:spPr>
      </p:sp>
      <p:sp>
        <p:nvSpPr>
          <p:cNvPr id="21" name="Text 18"/>
          <p:cNvSpPr/>
          <p:nvPr/>
        </p:nvSpPr>
        <p:spPr>
          <a:xfrm>
            <a:off x="2917022" y="1293019"/>
            <a:ext cx="357188" cy="357188"/>
          </a:xfrm>
          <a:prstGeom prst="rect">
            <a:avLst/>
          </a:prstGeom>
          <a:noFill/>
        </p:spPr>
        <p:txBody>
          <a:bodyPr wrap="none" lIns="0" tIns="0" rIns="0" bIns="0" rtlCol="0" anchor="ctr">
            <a:spAutoFit/>
          </a:bodyPr>
          <a:lstStyle/>
          <a:p>
            <a:pPr marL="0" indent="0" algn="ctr">
              <a:buNone/>
            </a:pPr>
            <a:r>
              <a:rPr lang="en-US" sz="1000" b="1" dirty="0">
                <a:solidFill>
                  <a:srgbClr val="000000"/>
                </a:solidFill>
                <a:latin typeface="Inter Black" pitchFamily="34" charset="0"/>
                <a:ea typeface="Inter Black" pitchFamily="34" charset="-122"/>
                <a:cs typeface="Inter Black" pitchFamily="34" charset="-120"/>
              </a:rPr>
              <a:t>4</a:t>
            </a:r>
            <a:endParaRPr lang="en-US" sz="1000" dirty="0"/>
          </a:p>
        </p:txBody>
      </p:sp>
      <p:sp>
        <p:nvSpPr>
          <p:cNvPr id="22" name="Text 19"/>
          <p:cNvSpPr/>
          <p:nvPr/>
        </p:nvSpPr>
        <p:spPr>
          <a:xfrm>
            <a:off x="2914343" y="1721644"/>
            <a:ext cx="362545" cy="102859"/>
          </a:xfrm>
          <a:prstGeom prst="rect">
            <a:avLst/>
          </a:prstGeom>
          <a:noFill/>
        </p:spPr>
        <p:txBody>
          <a:bodyPr wrap="none" lIns="0" tIns="0" rIns="0" bIns="0" rtlCol="0" anchor="t">
            <a:spAutoFit/>
          </a:bodyPr>
          <a:lstStyle/>
          <a:p>
            <a:pPr marL="0" indent="0" algn="ctr">
              <a:lnSpc>
                <a:spcPct val="96000"/>
              </a:lnSpc>
              <a:buNone/>
            </a:pPr>
            <a:r>
              <a:rPr lang="en-US" sz="600" b="1" dirty="0">
                <a:solidFill>
                  <a:srgbClr val="000000"/>
                </a:solidFill>
                <a:latin typeface="Inter Bold" pitchFamily="34" charset="0"/>
                <a:ea typeface="Inter Bold" pitchFamily="34" charset="-122"/>
                <a:cs typeface="Inter Bold" pitchFamily="34" charset="-120"/>
              </a:rPr>
              <a:t>EXPLOIT</a:t>
            </a:r>
            <a:endParaRPr lang="en-US" sz="600" dirty="0"/>
          </a:p>
        </p:txBody>
      </p:sp>
      <p:sp>
        <p:nvSpPr>
          <p:cNvPr id="23" name="Shape 20"/>
          <p:cNvSpPr/>
          <p:nvPr/>
        </p:nvSpPr>
        <p:spPr>
          <a:xfrm>
            <a:off x="3452803" y="1426601"/>
            <a:ext cx="55559" cy="14288"/>
          </a:xfrm>
          <a:prstGeom prst="rect">
            <a:avLst/>
          </a:prstGeom>
          <a:solidFill>
            <a:srgbClr val="000000"/>
          </a:solidFill>
        </p:spPr>
      </p:sp>
      <p:sp>
        <p:nvSpPr>
          <p:cNvPr id="24" name="Shape 21"/>
          <p:cNvSpPr/>
          <p:nvPr/>
        </p:nvSpPr>
        <p:spPr>
          <a:xfrm>
            <a:off x="3686956" y="1293019"/>
            <a:ext cx="357188" cy="357188"/>
          </a:xfrm>
          <a:prstGeom prst="ellipse">
            <a:avLst/>
          </a:prstGeom>
          <a:solidFill>
            <a:srgbClr val="F5C518"/>
          </a:solidFill>
        </p:spPr>
      </p:sp>
      <p:sp>
        <p:nvSpPr>
          <p:cNvPr id="25" name="Text 22"/>
          <p:cNvSpPr/>
          <p:nvPr/>
        </p:nvSpPr>
        <p:spPr>
          <a:xfrm>
            <a:off x="3686956" y="1293019"/>
            <a:ext cx="357188" cy="357188"/>
          </a:xfrm>
          <a:prstGeom prst="rect">
            <a:avLst/>
          </a:prstGeom>
          <a:noFill/>
        </p:spPr>
        <p:txBody>
          <a:bodyPr wrap="none" lIns="0" tIns="0" rIns="0" bIns="0" rtlCol="0" anchor="ctr">
            <a:spAutoFit/>
          </a:bodyPr>
          <a:lstStyle/>
          <a:p>
            <a:pPr marL="0" indent="0" algn="ctr">
              <a:buNone/>
            </a:pPr>
            <a:r>
              <a:rPr lang="en-US" sz="1000" b="1" dirty="0">
                <a:solidFill>
                  <a:srgbClr val="000000"/>
                </a:solidFill>
                <a:latin typeface="Inter Black" pitchFamily="34" charset="0"/>
                <a:ea typeface="Inter Black" pitchFamily="34" charset="-122"/>
                <a:cs typeface="Inter Black" pitchFamily="34" charset="-120"/>
              </a:rPr>
              <a:t>5</a:t>
            </a:r>
            <a:endParaRPr lang="en-US" sz="1000" dirty="0"/>
          </a:p>
        </p:txBody>
      </p:sp>
      <p:sp>
        <p:nvSpPr>
          <p:cNvPr id="26" name="Text 23"/>
          <p:cNvSpPr/>
          <p:nvPr/>
        </p:nvSpPr>
        <p:spPr>
          <a:xfrm>
            <a:off x="3687849" y="1721644"/>
            <a:ext cx="355402" cy="102859"/>
          </a:xfrm>
          <a:prstGeom prst="rect">
            <a:avLst/>
          </a:prstGeom>
          <a:noFill/>
        </p:spPr>
        <p:txBody>
          <a:bodyPr wrap="none" lIns="0" tIns="0" rIns="0" bIns="0" rtlCol="0" anchor="t">
            <a:spAutoFit/>
          </a:bodyPr>
          <a:lstStyle/>
          <a:p>
            <a:pPr marL="0" indent="0" algn="ctr">
              <a:lnSpc>
                <a:spcPct val="96000"/>
              </a:lnSpc>
              <a:buNone/>
            </a:pPr>
            <a:r>
              <a:rPr lang="en-US" sz="600" b="1" dirty="0">
                <a:solidFill>
                  <a:srgbClr val="000000"/>
                </a:solidFill>
                <a:latin typeface="Inter Bold" pitchFamily="34" charset="0"/>
                <a:ea typeface="Inter Bold" pitchFamily="34" charset="-122"/>
                <a:cs typeface="Inter Bold" pitchFamily="34" charset="-120"/>
              </a:rPr>
              <a:t>INSTALL</a:t>
            </a:r>
            <a:endParaRPr lang="en-US" sz="600" dirty="0"/>
          </a:p>
        </p:txBody>
      </p:sp>
      <p:sp>
        <p:nvSpPr>
          <p:cNvPr id="27" name="Shape 24"/>
          <p:cNvSpPr/>
          <p:nvPr/>
        </p:nvSpPr>
        <p:spPr>
          <a:xfrm>
            <a:off x="4222738" y="1426601"/>
            <a:ext cx="55559" cy="14288"/>
          </a:xfrm>
          <a:prstGeom prst="rect">
            <a:avLst/>
          </a:prstGeom>
          <a:solidFill>
            <a:srgbClr val="000000"/>
          </a:solidFill>
        </p:spPr>
      </p:sp>
      <p:sp>
        <p:nvSpPr>
          <p:cNvPr id="28" name="Shape 25"/>
          <p:cNvSpPr/>
          <p:nvPr/>
        </p:nvSpPr>
        <p:spPr>
          <a:xfrm>
            <a:off x="4456891" y="1293019"/>
            <a:ext cx="357188" cy="357188"/>
          </a:xfrm>
          <a:prstGeom prst="ellipse">
            <a:avLst/>
          </a:prstGeom>
          <a:solidFill>
            <a:srgbClr val="F5C518"/>
          </a:solidFill>
        </p:spPr>
      </p:sp>
      <p:sp>
        <p:nvSpPr>
          <p:cNvPr id="29" name="Text 26"/>
          <p:cNvSpPr/>
          <p:nvPr/>
        </p:nvSpPr>
        <p:spPr>
          <a:xfrm>
            <a:off x="4456891" y="1293019"/>
            <a:ext cx="357188" cy="357188"/>
          </a:xfrm>
          <a:prstGeom prst="rect">
            <a:avLst/>
          </a:prstGeom>
          <a:noFill/>
        </p:spPr>
        <p:txBody>
          <a:bodyPr wrap="none" lIns="0" tIns="0" rIns="0" bIns="0" rtlCol="0" anchor="ctr">
            <a:spAutoFit/>
          </a:bodyPr>
          <a:lstStyle/>
          <a:p>
            <a:pPr marL="0" indent="0" algn="ctr">
              <a:buNone/>
            </a:pPr>
            <a:r>
              <a:rPr lang="en-US" sz="1000" b="1" dirty="0">
                <a:solidFill>
                  <a:srgbClr val="000000"/>
                </a:solidFill>
                <a:latin typeface="Inter Black" pitchFamily="34" charset="0"/>
                <a:ea typeface="Inter Black" pitchFamily="34" charset="-122"/>
                <a:cs typeface="Inter Black" pitchFamily="34" charset="-120"/>
              </a:rPr>
              <a:t>6</a:t>
            </a:r>
            <a:endParaRPr lang="en-US" sz="1000" dirty="0"/>
          </a:p>
        </p:txBody>
      </p:sp>
      <p:sp>
        <p:nvSpPr>
          <p:cNvPr id="30" name="Text 27"/>
          <p:cNvSpPr/>
          <p:nvPr/>
        </p:nvSpPr>
        <p:spPr>
          <a:xfrm>
            <a:off x="4576549" y="1721644"/>
            <a:ext cx="117872" cy="102859"/>
          </a:xfrm>
          <a:prstGeom prst="rect">
            <a:avLst/>
          </a:prstGeom>
          <a:noFill/>
        </p:spPr>
        <p:txBody>
          <a:bodyPr wrap="none" lIns="0" tIns="0" rIns="0" bIns="0" rtlCol="0" anchor="t">
            <a:spAutoFit/>
          </a:bodyPr>
          <a:lstStyle/>
          <a:p>
            <a:pPr marL="0" indent="0" algn="ctr">
              <a:lnSpc>
                <a:spcPct val="96000"/>
              </a:lnSpc>
              <a:buNone/>
            </a:pPr>
            <a:r>
              <a:rPr lang="en-US" sz="600" b="1" dirty="0">
                <a:solidFill>
                  <a:srgbClr val="000000"/>
                </a:solidFill>
                <a:latin typeface="Inter Bold" pitchFamily="34" charset="0"/>
                <a:ea typeface="Inter Bold" pitchFamily="34" charset="-122"/>
                <a:cs typeface="Inter Bold" pitchFamily="34" charset="-120"/>
              </a:rPr>
              <a:t>C2</a:t>
            </a:r>
            <a:endParaRPr lang="en-US" sz="600" dirty="0"/>
          </a:p>
        </p:txBody>
      </p:sp>
      <p:sp>
        <p:nvSpPr>
          <p:cNvPr id="31" name="Shape 28"/>
          <p:cNvSpPr/>
          <p:nvPr/>
        </p:nvSpPr>
        <p:spPr>
          <a:xfrm>
            <a:off x="4992672" y="1426601"/>
            <a:ext cx="55559" cy="14288"/>
          </a:xfrm>
          <a:prstGeom prst="rect">
            <a:avLst/>
          </a:prstGeom>
          <a:solidFill>
            <a:srgbClr val="000000"/>
          </a:solidFill>
        </p:spPr>
      </p:sp>
      <p:sp>
        <p:nvSpPr>
          <p:cNvPr id="32" name="Shape 29"/>
          <p:cNvSpPr/>
          <p:nvPr/>
        </p:nvSpPr>
        <p:spPr>
          <a:xfrm>
            <a:off x="5226825" y="1293019"/>
            <a:ext cx="357188" cy="357188"/>
          </a:xfrm>
          <a:prstGeom prst="ellipse">
            <a:avLst/>
          </a:prstGeom>
          <a:solidFill>
            <a:srgbClr val="F5C518"/>
          </a:solidFill>
        </p:spPr>
      </p:sp>
      <p:sp>
        <p:nvSpPr>
          <p:cNvPr id="33" name="Text 30"/>
          <p:cNvSpPr/>
          <p:nvPr/>
        </p:nvSpPr>
        <p:spPr>
          <a:xfrm>
            <a:off x="5226825" y="1293019"/>
            <a:ext cx="357188" cy="357188"/>
          </a:xfrm>
          <a:prstGeom prst="rect">
            <a:avLst/>
          </a:prstGeom>
          <a:noFill/>
        </p:spPr>
        <p:txBody>
          <a:bodyPr wrap="none" lIns="0" tIns="0" rIns="0" bIns="0" rtlCol="0" anchor="ctr">
            <a:spAutoFit/>
          </a:bodyPr>
          <a:lstStyle/>
          <a:p>
            <a:pPr marL="0" indent="0" algn="ctr">
              <a:buNone/>
            </a:pPr>
            <a:r>
              <a:rPr lang="en-US" sz="1000" b="1" dirty="0">
                <a:solidFill>
                  <a:srgbClr val="000000"/>
                </a:solidFill>
                <a:latin typeface="Inter Black" pitchFamily="34" charset="0"/>
                <a:ea typeface="Inter Black" pitchFamily="34" charset="-122"/>
                <a:cs typeface="Inter Black" pitchFamily="34" charset="-120"/>
              </a:rPr>
              <a:t>7</a:t>
            </a:r>
            <a:endParaRPr lang="en-US" sz="1000" dirty="0"/>
          </a:p>
        </p:txBody>
      </p:sp>
      <p:sp>
        <p:nvSpPr>
          <p:cNvPr id="34" name="Text 31"/>
          <p:cNvSpPr/>
          <p:nvPr/>
        </p:nvSpPr>
        <p:spPr>
          <a:xfrm>
            <a:off x="5208966" y="1721644"/>
            <a:ext cx="392906" cy="102859"/>
          </a:xfrm>
          <a:prstGeom prst="rect">
            <a:avLst/>
          </a:prstGeom>
          <a:noFill/>
        </p:spPr>
        <p:txBody>
          <a:bodyPr wrap="none" lIns="0" tIns="0" rIns="0" bIns="0" rtlCol="0" anchor="t">
            <a:spAutoFit/>
          </a:bodyPr>
          <a:lstStyle/>
          <a:p>
            <a:pPr marL="0" indent="0" algn="ctr">
              <a:lnSpc>
                <a:spcPct val="96000"/>
              </a:lnSpc>
              <a:buNone/>
            </a:pPr>
            <a:r>
              <a:rPr lang="en-US" sz="600" b="1" dirty="0">
                <a:solidFill>
                  <a:srgbClr val="000000"/>
                </a:solidFill>
                <a:latin typeface="Inter Bold" pitchFamily="34" charset="0"/>
                <a:ea typeface="Inter Bold" pitchFamily="34" charset="-122"/>
                <a:cs typeface="Inter Bold" pitchFamily="34" charset="-120"/>
              </a:rPr>
              <a:t>ACTIONS</a:t>
            </a:r>
            <a:endParaRPr lang="en-US" sz="600" dirty="0"/>
          </a:p>
        </p:txBody>
      </p:sp>
      <p:sp>
        <p:nvSpPr>
          <p:cNvPr id="35" name="Text 32"/>
          <p:cNvSpPr/>
          <p:nvPr/>
        </p:nvSpPr>
        <p:spPr>
          <a:xfrm>
            <a:off x="585788" y="2253128"/>
            <a:ext cx="5176847" cy="121444"/>
          </a:xfrm>
          <a:prstGeom prst="rect">
            <a:avLst/>
          </a:prstGeom>
          <a:noFill/>
        </p:spPr>
        <p:txBody>
          <a:bodyPr wrap="square" lIns="0" tIns="0" rIns="0" bIns="0" rtlCol="0" anchor="t">
            <a:spAutoFit/>
          </a:bodyPr>
          <a:lstStyle/>
          <a:p>
            <a:pPr marL="0" indent="0" algn="l">
              <a:buNone/>
            </a:pPr>
            <a:r>
              <a:rPr lang="en-US" sz="700" b="1" dirty="0">
                <a:solidFill>
                  <a:srgbClr val="666666"/>
                </a:solidFill>
                <a:latin typeface="Inter Bold" pitchFamily="34" charset="0"/>
                <a:ea typeface="Inter Bold" pitchFamily="34" charset="-122"/>
                <a:cs typeface="Inter Bold" pitchFamily="34" charset="-120"/>
              </a:rPr>
              <a:t>Kill Chain Stage 3 (Delivery) expands into ATT&amp;CK:</a:t>
            </a:r>
            <a:endParaRPr lang="en-US" sz="700" dirty="0"/>
          </a:p>
        </p:txBody>
      </p:sp>
      <p:sp>
        <p:nvSpPr>
          <p:cNvPr id="36" name="Shape 33"/>
          <p:cNvSpPr/>
          <p:nvPr/>
        </p:nvSpPr>
        <p:spPr>
          <a:xfrm>
            <a:off x="585788" y="2446009"/>
            <a:ext cx="1476970" cy="162520"/>
          </a:xfrm>
          <a:prstGeom prst="rect">
            <a:avLst/>
          </a:prstGeom>
          <a:solidFill>
            <a:srgbClr val="EEEEEE"/>
          </a:solidFill>
        </p:spPr>
      </p:sp>
      <p:sp>
        <p:nvSpPr>
          <p:cNvPr id="37" name="Text 34"/>
          <p:cNvSpPr/>
          <p:nvPr/>
        </p:nvSpPr>
        <p:spPr>
          <a:xfrm>
            <a:off x="585788" y="2446009"/>
            <a:ext cx="1476970" cy="162520"/>
          </a:xfrm>
          <a:prstGeom prst="rect">
            <a:avLst/>
          </a:prstGeom>
          <a:noFill/>
        </p:spPr>
        <p:txBody>
          <a:bodyPr wrap="square" lIns="68072" tIns="34036" rIns="68072" bIns="34036" rtlCol="0" anchor="t">
            <a:spAutoFit/>
          </a:bodyPr>
          <a:lstStyle/>
          <a:p>
            <a:pPr marL="0" indent="0" algn="l">
              <a:buNone/>
            </a:pPr>
            <a:r>
              <a:rPr lang="en-US" sz="600" b="1" dirty="0">
                <a:solidFill>
                  <a:srgbClr val="000000"/>
                </a:solidFill>
                <a:latin typeface="Inter Bold" pitchFamily="34" charset="0"/>
                <a:ea typeface="Inter Bold" pitchFamily="34" charset="-122"/>
                <a:cs typeface="Inter Bold" pitchFamily="34" charset="-120"/>
              </a:rPr>
              <a:t>T1566.001 Phishing: Attachment</a:t>
            </a:r>
            <a:endParaRPr lang="en-US" sz="600" dirty="0"/>
          </a:p>
        </p:txBody>
      </p:sp>
      <p:sp>
        <p:nvSpPr>
          <p:cNvPr id="38" name="Shape 35"/>
          <p:cNvSpPr/>
          <p:nvPr/>
        </p:nvSpPr>
        <p:spPr>
          <a:xfrm>
            <a:off x="2134195" y="2446009"/>
            <a:ext cx="1173361" cy="162520"/>
          </a:xfrm>
          <a:prstGeom prst="rect">
            <a:avLst/>
          </a:prstGeom>
          <a:solidFill>
            <a:srgbClr val="EEEEEE"/>
          </a:solidFill>
        </p:spPr>
      </p:sp>
      <p:sp>
        <p:nvSpPr>
          <p:cNvPr id="39" name="Text 36"/>
          <p:cNvSpPr/>
          <p:nvPr/>
        </p:nvSpPr>
        <p:spPr>
          <a:xfrm>
            <a:off x="2134195" y="2446009"/>
            <a:ext cx="1173361" cy="162520"/>
          </a:xfrm>
          <a:prstGeom prst="rect">
            <a:avLst/>
          </a:prstGeom>
          <a:noFill/>
        </p:spPr>
        <p:txBody>
          <a:bodyPr wrap="none" lIns="68072" tIns="34036" rIns="68072" bIns="34036" rtlCol="0" anchor="t">
            <a:spAutoFit/>
          </a:bodyPr>
          <a:lstStyle/>
          <a:p>
            <a:pPr marL="0" indent="0" algn="l">
              <a:buNone/>
            </a:pPr>
            <a:r>
              <a:rPr lang="en-US" sz="600" b="1" dirty="0">
                <a:solidFill>
                  <a:srgbClr val="000000"/>
                </a:solidFill>
                <a:latin typeface="Inter Bold" pitchFamily="34" charset="0"/>
                <a:ea typeface="Inter Bold" pitchFamily="34" charset="-122"/>
                <a:cs typeface="Inter Bold" pitchFamily="34" charset="-120"/>
              </a:rPr>
              <a:t>T1566.002 Phishing: Link</a:t>
            </a:r>
            <a:endParaRPr lang="en-US" sz="600" dirty="0"/>
          </a:p>
        </p:txBody>
      </p:sp>
      <p:sp>
        <p:nvSpPr>
          <p:cNvPr id="40" name="Shape 37"/>
          <p:cNvSpPr/>
          <p:nvPr/>
        </p:nvSpPr>
        <p:spPr>
          <a:xfrm>
            <a:off x="3378994" y="2446009"/>
            <a:ext cx="1428750" cy="162520"/>
          </a:xfrm>
          <a:prstGeom prst="rect">
            <a:avLst/>
          </a:prstGeom>
          <a:solidFill>
            <a:srgbClr val="EEEEEE"/>
          </a:solidFill>
        </p:spPr>
      </p:sp>
      <p:sp>
        <p:nvSpPr>
          <p:cNvPr id="41" name="Text 38"/>
          <p:cNvSpPr/>
          <p:nvPr/>
        </p:nvSpPr>
        <p:spPr>
          <a:xfrm>
            <a:off x="3378994" y="2446009"/>
            <a:ext cx="1428750" cy="162520"/>
          </a:xfrm>
          <a:prstGeom prst="rect">
            <a:avLst/>
          </a:prstGeom>
          <a:noFill/>
        </p:spPr>
        <p:txBody>
          <a:bodyPr wrap="square" lIns="68072" tIns="34036" rIns="68072" bIns="34036" rtlCol="0" anchor="t">
            <a:spAutoFit/>
          </a:bodyPr>
          <a:lstStyle/>
          <a:p>
            <a:pPr marL="0" indent="0" algn="l">
              <a:buNone/>
            </a:pPr>
            <a:r>
              <a:rPr lang="en-US" sz="600" b="1" dirty="0">
                <a:solidFill>
                  <a:srgbClr val="000000"/>
                </a:solidFill>
                <a:latin typeface="Inter Bold" pitchFamily="34" charset="0"/>
                <a:ea typeface="Inter Bold" pitchFamily="34" charset="-122"/>
                <a:cs typeface="Inter Bold" pitchFamily="34" charset="-120"/>
              </a:rPr>
              <a:t>T1204.001 User Execution: Link</a:t>
            </a:r>
            <a:endParaRPr lang="en-US" sz="600" dirty="0"/>
          </a:p>
        </p:txBody>
      </p:sp>
      <p:sp>
        <p:nvSpPr>
          <p:cNvPr id="42" name="Shape 39"/>
          <p:cNvSpPr/>
          <p:nvPr/>
        </p:nvSpPr>
        <p:spPr>
          <a:xfrm>
            <a:off x="585788" y="2679967"/>
            <a:ext cx="1298377" cy="162520"/>
          </a:xfrm>
          <a:prstGeom prst="rect">
            <a:avLst/>
          </a:prstGeom>
          <a:solidFill>
            <a:srgbClr val="EEEEEE"/>
          </a:solidFill>
        </p:spPr>
      </p:sp>
      <p:sp>
        <p:nvSpPr>
          <p:cNvPr id="43" name="Text 40"/>
          <p:cNvSpPr/>
          <p:nvPr/>
        </p:nvSpPr>
        <p:spPr>
          <a:xfrm>
            <a:off x="585788" y="2679967"/>
            <a:ext cx="1298377" cy="162520"/>
          </a:xfrm>
          <a:prstGeom prst="rect">
            <a:avLst/>
          </a:prstGeom>
          <a:noFill/>
        </p:spPr>
        <p:txBody>
          <a:bodyPr wrap="square" lIns="68072" tIns="34036" rIns="68072" bIns="34036" rtlCol="0" anchor="t">
            <a:spAutoFit/>
          </a:bodyPr>
          <a:lstStyle/>
          <a:p>
            <a:pPr marL="0" indent="0" algn="l">
              <a:buNone/>
            </a:pPr>
            <a:r>
              <a:rPr lang="en-US" sz="600" b="1" dirty="0">
                <a:solidFill>
                  <a:srgbClr val="000000"/>
                </a:solidFill>
                <a:latin typeface="Inter Bold" pitchFamily="34" charset="0"/>
                <a:ea typeface="Inter Bold" pitchFamily="34" charset="-122"/>
                <a:cs typeface="Inter Bold" pitchFamily="34" charset="-120"/>
              </a:rPr>
              <a:t>T1189 Drive-by Compromise</a:t>
            </a:r>
            <a:endParaRPr lang="en-US" sz="600" dirty="0"/>
          </a:p>
        </p:txBody>
      </p:sp>
      <p:sp>
        <p:nvSpPr>
          <p:cNvPr id="44" name="Shape 41"/>
          <p:cNvSpPr/>
          <p:nvPr/>
        </p:nvSpPr>
        <p:spPr>
          <a:xfrm>
            <a:off x="6048384" y="1293019"/>
            <a:ext cx="2666991" cy="2001282"/>
          </a:xfrm>
          <a:prstGeom prst="rect">
            <a:avLst/>
          </a:prstGeom>
          <a:solidFill>
            <a:srgbClr val="FFFFFF"/>
          </a:solidFill>
          <a:ln w="9144">
            <a:solidFill>
              <a:srgbClr val="000000"/>
            </a:solidFill>
            <a:prstDash val="solid"/>
          </a:ln>
        </p:spPr>
      </p:sp>
      <p:pic>
        <p:nvPicPr>
          <p:cNvPr id="45" name="Image 1" descr="preencoded.png"/>
          <p:cNvPicPr>
            <a:picLocks noChangeAspect="1"/>
          </p:cNvPicPr>
          <p:nvPr/>
        </p:nvPicPr>
        <p:blipFill>
          <a:blip r:embed="rId2"/>
          <a:stretch>
            <a:fillRect/>
          </a:stretch>
        </p:blipFill>
        <p:spPr>
          <a:xfrm>
            <a:off x="6191259" y="1435894"/>
            <a:ext cx="171450" cy="171450"/>
          </a:xfrm>
          <a:prstGeom prst="rect">
            <a:avLst/>
          </a:prstGeom>
        </p:spPr>
      </p:pic>
      <p:sp>
        <p:nvSpPr>
          <p:cNvPr id="46" name="Text 42"/>
          <p:cNvSpPr/>
          <p:nvPr/>
        </p:nvSpPr>
        <p:spPr>
          <a:xfrm>
            <a:off x="6191259" y="1678781"/>
            <a:ext cx="2381241"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SOLARWINDS 2020</a:t>
            </a:r>
            <a:endParaRPr lang="en-US" sz="900" dirty="0"/>
          </a:p>
        </p:txBody>
      </p:sp>
      <p:sp>
        <p:nvSpPr>
          <p:cNvPr id="47" name="Text 43"/>
          <p:cNvSpPr/>
          <p:nvPr/>
        </p:nvSpPr>
        <p:spPr>
          <a:xfrm>
            <a:off x="6191259" y="1941314"/>
            <a:ext cx="2381241" cy="130011"/>
          </a:xfrm>
          <a:prstGeom prst="rect">
            <a:avLst/>
          </a:prstGeom>
          <a:noFill/>
        </p:spPr>
        <p:txBody>
          <a:bodyPr wrap="none" lIns="0" tIns="0" rIns="0" bIns="0" rtlCol="0" anchor="t">
            <a:spAutoFit/>
          </a:bodyPr>
          <a:lstStyle/>
          <a:p>
            <a:pPr marL="0" indent="0" algn="l">
              <a:lnSpc>
                <a:spcPct val="112000"/>
              </a:lnSpc>
              <a:buNone/>
            </a:pPr>
            <a:r>
              <a:rPr lang="en-US" sz="650" b="1" dirty="0">
                <a:solidFill>
                  <a:srgbClr val="000000"/>
                </a:solidFill>
                <a:latin typeface="Inter Bold" pitchFamily="34" charset="0"/>
                <a:ea typeface="Inter Bold" pitchFamily="34" charset="-122"/>
                <a:cs typeface="Inter Bold" pitchFamily="34" charset="-120"/>
              </a:rPr>
              <a:t>Recon:</a:t>
            </a:r>
            <a:r>
              <a:rPr lang="en-US" sz="650" dirty="0">
                <a:solidFill>
                  <a:srgbClr val="000000"/>
                </a:solidFill>
                <a:latin typeface="Inter" pitchFamily="34" charset="0"/>
                <a:ea typeface="Inter" pitchFamily="34" charset="-122"/>
                <a:cs typeface="Inter" pitchFamily="34" charset="-120"/>
              </a:rPr>
              <a:t> Studied software build pipelines for months.</a:t>
            </a:r>
            <a:endParaRPr lang="en-US" sz="650" dirty="0"/>
          </a:p>
        </p:txBody>
      </p:sp>
      <p:sp>
        <p:nvSpPr>
          <p:cNvPr id="48" name="Text 44"/>
          <p:cNvSpPr/>
          <p:nvPr/>
        </p:nvSpPr>
        <p:spPr>
          <a:xfrm>
            <a:off x="6191259" y="2142762"/>
            <a:ext cx="2381241" cy="260021"/>
          </a:xfrm>
          <a:prstGeom prst="rect">
            <a:avLst/>
          </a:prstGeom>
          <a:noFill/>
        </p:spPr>
        <p:txBody>
          <a:bodyPr wrap="square" lIns="0" tIns="0" rIns="0" bIns="0" rtlCol="0" anchor="t">
            <a:spAutoFit/>
          </a:bodyPr>
          <a:lstStyle/>
          <a:p>
            <a:pPr marL="0" indent="0" algn="l">
              <a:lnSpc>
                <a:spcPct val="112000"/>
              </a:lnSpc>
              <a:buNone/>
            </a:pPr>
            <a:r>
              <a:rPr lang="en-US" sz="650" b="1" dirty="0">
                <a:solidFill>
                  <a:srgbClr val="000000"/>
                </a:solidFill>
                <a:latin typeface="Inter Bold" pitchFamily="34" charset="0"/>
                <a:ea typeface="Inter Bold" pitchFamily="34" charset="-122"/>
                <a:cs typeface="Inter Bold" pitchFamily="34" charset="-120"/>
              </a:rPr>
              <a:t>Weaponize:</a:t>
            </a:r>
            <a:r>
              <a:rPr lang="en-US" sz="650" dirty="0">
                <a:solidFill>
                  <a:srgbClr val="000000"/>
                </a:solidFill>
                <a:latin typeface="Inter" pitchFamily="34" charset="0"/>
                <a:ea typeface="Inter" pitchFamily="34" charset="-122"/>
                <a:cs typeface="Inter" pitchFamily="34" charset="-120"/>
              </a:rPr>
              <a:t> Injected SUNBURST code into Orion </a:t>
            </a:r>
            <a:r>
              <a:rPr lang="en-US" sz="650" dirty="0">
                <a:solidFill>
                  <a:srgbClr val="000000"/>
                </a:solidFill>
                <a:latin typeface="Inter" pitchFamily="34" charset="0"/>
                <a:ea typeface="Inter" pitchFamily="34" charset="-122"/>
                <a:cs typeface="Inter" pitchFamily="34" charset="-120"/>
              </a:rPr>
              <a:t>updates.</a:t>
            </a:r>
            <a:endParaRPr lang="en-US" sz="650" dirty="0"/>
          </a:p>
        </p:txBody>
      </p:sp>
      <p:sp>
        <p:nvSpPr>
          <p:cNvPr id="49" name="Text 45"/>
          <p:cNvSpPr/>
          <p:nvPr/>
        </p:nvSpPr>
        <p:spPr>
          <a:xfrm>
            <a:off x="6191259" y="2474221"/>
            <a:ext cx="2381241" cy="260021"/>
          </a:xfrm>
          <a:prstGeom prst="rect">
            <a:avLst/>
          </a:prstGeom>
          <a:noFill/>
        </p:spPr>
        <p:txBody>
          <a:bodyPr wrap="square" lIns="0" tIns="0" rIns="0" bIns="0" rtlCol="0" anchor="t">
            <a:spAutoFit/>
          </a:bodyPr>
          <a:lstStyle/>
          <a:p>
            <a:pPr marL="0" indent="0" algn="l">
              <a:lnSpc>
                <a:spcPct val="112000"/>
              </a:lnSpc>
              <a:buNone/>
            </a:pPr>
            <a:r>
              <a:rPr lang="en-US" sz="650" b="1" dirty="0">
                <a:solidFill>
                  <a:srgbClr val="000000"/>
                </a:solidFill>
                <a:latin typeface="Inter Bold" pitchFamily="34" charset="0"/>
                <a:ea typeface="Inter Bold" pitchFamily="34" charset="-122"/>
                <a:cs typeface="Inter Bold" pitchFamily="34" charset="-120"/>
              </a:rPr>
              <a:t>Delivery:</a:t>
            </a:r>
            <a:r>
              <a:rPr lang="en-US" sz="650" dirty="0">
                <a:solidFill>
                  <a:srgbClr val="000000"/>
                </a:solidFill>
                <a:latin typeface="Inter" pitchFamily="34" charset="0"/>
                <a:ea typeface="Inter" pitchFamily="34" charset="-122"/>
                <a:cs typeface="Inter" pitchFamily="34" charset="-120"/>
              </a:rPr>
              <a:t> 18,000 orgs downloaded the poisoned </a:t>
            </a:r>
            <a:r>
              <a:rPr lang="en-US" sz="650" dirty="0">
                <a:solidFill>
                  <a:srgbClr val="000000"/>
                </a:solidFill>
                <a:latin typeface="Inter" pitchFamily="34" charset="0"/>
                <a:ea typeface="Inter" pitchFamily="34" charset="-122"/>
                <a:cs typeface="Inter" pitchFamily="34" charset="-120"/>
              </a:rPr>
              <a:t>update.</a:t>
            </a:r>
            <a:endParaRPr lang="en-US" sz="650" dirty="0"/>
          </a:p>
        </p:txBody>
      </p:sp>
      <p:sp>
        <p:nvSpPr>
          <p:cNvPr id="50" name="Text 46"/>
          <p:cNvSpPr/>
          <p:nvPr/>
        </p:nvSpPr>
        <p:spPr>
          <a:xfrm>
            <a:off x="6191259" y="2805680"/>
            <a:ext cx="2381241" cy="260021"/>
          </a:xfrm>
          <a:prstGeom prst="rect">
            <a:avLst/>
          </a:prstGeom>
          <a:noFill/>
        </p:spPr>
        <p:txBody>
          <a:bodyPr wrap="square" lIns="0" tIns="0" rIns="0" bIns="0" rtlCol="0" anchor="t">
            <a:spAutoFit/>
          </a:bodyPr>
          <a:lstStyle/>
          <a:p>
            <a:pPr marL="0" indent="0" algn="l">
              <a:lnSpc>
                <a:spcPct val="112000"/>
              </a:lnSpc>
              <a:buNone/>
            </a:pPr>
            <a:r>
              <a:rPr lang="en-US" sz="650" b="1" dirty="0">
                <a:solidFill>
                  <a:srgbClr val="000000"/>
                </a:solidFill>
                <a:latin typeface="Inter Bold" pitchFamily="34" charset="0"/>
                <a:ea typeface="Inter Bold" pitchFamily="34" charset="-122"/>
                <a:cs typeface="Inter Bold" pitchFamily="34" charset="-120"/>
              </a:rPr>
              <a:t>Outcome:</a:t>
            </a:r>
            <a:r>
              <a:rPr lang="en-US" sz="650" dirty="0">
                <a:solidFill>
                  <a:srgbClr val="000000"/>
                </a:solidFill>
                <a:latin typeface="Inter" pitchFamily="34" charset="0"/>
                <a:ea typeface="Inter" pitchFamily="34" charset="-122"/>
                <a:cs typeface="Inter" pitchFamily="34" charset="-120"/>
              </a:rPr>
              <a:t> 9 months of silent access to US </a:t>
            </a:r>
            <a:r>
              <a:rPr lang="en-US" sz="650" dirty="0">
                <a:solidFill>
                  <a:srgbClr val="000000"/>
                </a:solidFill>
                <a:latin typeface="Inter" pitchFamily="34" charset="0"/>
                <a:ea typeface="Inter" pitchFamily="34" charset="-122"/>
                <a:cs typeface="Inter" pitchFamily="34" charset="-120"/>
              </a:rPr>
              <a:t>government.</a:t>
            </a:r>
            <a:endParaRPr lang="en-US" sz="650" dirty="0"/>
          </a:p>
        </p:txBody>
      </p:sp>
      <p:sp>
        <p:nvSpPr>
          <p:cNvPr id="51" name="Shape 47"/>
          <p:cNvSpPr/>
          <p:nvPr/>
        </p:nvSpPr>
        <p:spPr>
          <a:xfrm>
            <a:off x="428625" y="4059555"/>
            <a:ext cx="7793990" cy="369570"/>
          </a:xfrm>
          <a:prstGeom prst="rect">
            <a:avLst/>
          </a:prstGeom>
          <a:solidFill>
            <a:srgbClr val="F5C518"/>
          </a:solidFill>
        </p:spPr>
      </p:sp>
      <p:sp>
        <p:nvSpPr>
          <p:cNvPr id="52" name="Text 48"/>
          <p:cNvSpPr/>
          <p:nvPr/>
        </p:nvSpPr>
        <p:spPr>
          <a:xfrm>
            <a:off x="428625" y="4059436"/>
            <a:ext cx="8286750" cy="369689"/>
          </a:xfrm>
          <a:prstGeom prst="rect">
            <a:avLst/>
          </a:prstGeom>
          <a:noFill/>
        </p:spPr>
        <p:txBody>
          <a:bodyPr wrap="square" lIns="255143" tIns="127508" rIns="255143" bIns="127508" rtlCol="0" anchor="t">
            <a:spAutoFit/>
          </a:bodyPr>
          <a:lstStyle/>
          <a:p>
            <a:pPr marL="0" indent="0" algn="ctr">
              <a:buNone/>
            </a:pPr>
            <a:r>
              <a:rPr lang="en-US" sz="900" b="1" dirty="0">
                <a:solidFill>
                  <a:srgbClr val="000000"/>
                </a:solidFill>
                <a:latin typeface="Inter Bold" pitchFamily="34" charset="0"/>
                <a:ea typeface="Inter Bold" pitchFamily="34" charset="-122"/>
                <a:cs typeface="Inter Bold" pitchFamily="34" charset="-120"/>
              </a:rPr>
              <a:t>Kill Chain is the chapter headings of a crime novel. ATT&amp;CK is every sentence written inside each chapter.</a:t>
            </a:r>
            <a:endParaRPr lang="en-US" sz="900" dirty="0"/>
          </a:p>
        </p:txBody>
      </p:sp>
      <p:sp>
        <p:nvSpPr>
          <p:cNvPr id="53" name="Oval 52"/>
          <p:cNvSpPr/>
          <p:nvPr/>
        </p:nvSpPr>
        <p:spPr>
          <a:xfrm>
            <a:off x="570230"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6985" y="0"/>
            <a:ext cx="9144000" cy="5241727"/>
          </a:xfrm>
          <a:prstGeom prst="rect">
            <a:avLst/>
          </a:prstGeom>
        </p:spPr>
      </p:pic>
      <p:sp>
        <p:nvSpPr>
          <p:cNvPr id="4" name="Shape 0"/>
          <p:cNvSpPr/>
          <p:nvPr/>
        </p:nvSpPr>
        <p:spPr>
          <a:xfrm>
            <a:off x="428625" y="285750"/>
            <a:ext cx="571500" cy="228600"/>
          </a:xfrm>
          <a:prstGeom prst="roundRect">
            <a:avLst/>
          </a:prstGeom>
          <a:solidFill>
            <a:srgbClr val="FACC15"/>
          </a:solidFill>
        </p:spPr>
      </p:sp>
      <p:sp>
        <p:nvSpPr>
          <p:cNvPr id="5" name="Text 1"/>
          <p:cNvSpPr/>
          <p:nvPr/>
        </p:nvSpPr>
        <p:spPr>
          <a:xfrm>
            <a:off x="1107281" y="322362"/>
            <a:ext cx="1310878" cy="155377"/>
          </a:xfrm>
          <a:prstGeom prst="rect">
            <a:avLst/>
          </a:prstGeom>
          <a:noFill/>
        </p:spPr>
        <p:txBody>
          <a:bodyPr wrap="square" lIns="0" tIns="0" rIns="0" bIns="0" rtlCol="0" anchor="t">
            <a:spAutoFit/>
          </a:bodyPr>
          <a:lstStyle/>
          <a:p>
            <a:pPr marL="0" indent="0" algn="l">
              <a:buNone/>
            </a:pPr>
            <a:r>
              <a:rPr lang="en-US" sz="950" dirty="0">
                <a:solidFill>
                  <a:srgbClr val="000000"/>
                </a:solidFill>
                <a:latin typeface="Inter" pitchFamily="34" charset="0"/>
                <a:ea typeface="Inter" pitchFamily="34" charset="-122"/>
                <a:cs typeface="Inter" pitchFamily="34" charset="-120"/>
              </a:rPr>
              <a:t>Hidden Investigations</a:t>
            </a:r>
            <a:endParaRPr lang="en-US" sz="950" dirty="0"/>
          </a:p>
        </p:txBody>
      </p:sp>
      <p:sp>
        <p:nvSpPr>
          <p:cNvPr id="6" name="Text 2"/>
          <p:cNvSpPr/>
          <p:nvPr/>
        </p:nvSpPr>
        <p:spPr>
          <a:xfrm>
            <a:off x="428625" y="857250"/>
            <a:ext cx="7143750" cy="828675"/>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ExtraBold" pitchFamily="34" charset="0"/>
                <a:ea typeface="Inter ExtraBold" pitchFamily="34" charset="-122"/>
                <a:cs typeface="Inter ExtraBold" pitchFamily="34" charset="-120"/>
              </a:rPr>
              <a:t>CAPEC → Attack Patterns Feeding ATT&amp;CK</a:t>
            </a:r>
            <a:endParaRPr lang="en-US" sz="2450" dirty="0"/>
          </a:p>
        </p:txBody>
      </p:sp>
      <p:sp>
        <p:nvSpPr>
          <p:cNvPr id="7" name="Text 3"/>
          <p:cNvSpPr/>
          <p:nvPr/>
        </p:nvSpPr>
        <p:spPr>
          <a:xfrm>
            <a:off x="428625" y="1900238"/>
            <a:ext cx="3357563"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What is it?</a:t>
            </a:r>
            <a:endParaRPr lang="en-US" sz="1200" dirty="0"/>
          </a:p>
        </p:txBody>
      </p:sp>
      <p:sp>
        <p:nvSpPr>
          <p:cNvPr id="8" name="Text 4"/>
          <p:cNvSpPr/>
          <p:nvPr/>
        </p:nvSpPr>
        <p:spPr>
          <a:xfrm>
            <a:off x="428625" y="2214563"/>
            <a:ext cx="3357563" cy="411435"/>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CAPEC describes common </a:t>
            </a:r>
            <a:r>
              <a:rPr lang="en-US" sz="900" b="1" dirty="0">
                <a:solidFill>
                  <a:srgbClr val="333333"/>
                </a:solidFill>
                <a:latin typeface="Inter ExtraBold" pitchFamily="34" charset="0"/>
                <a:ea typeface="Inter ExtraBold" pitchFamily="34" charset="-122"/>
                <a:cs typeface="Inter ExtraBold" pitchFamily="34" charset="-120"/>
              </a:rPr>
              <a:t>attack recipes</a:t>
            </a:r>
            <a:r>
              <a:rPr lang="en-US" sz="950" dirty="0">
                <a:solidFill>
                  <a:srgbClr val="333333"/>
                </a:solidFill>
                <a:latin typeface="Inter" pitchFamily="34" charset="0"/>
                <a:ea typeface="Inter" pitchFamily="34" charset="-122"/>
                <a:cs typeface="Inter" pitchFamily="34" charset="-120"/>
              </a:rPr>
              <a:t>. It focuses </a:t>
            </a:r>
            <a:r>
              <a:rPr lang="en-US" sz="950" dirty="0">
                <a:solidFill>
                  <a:srgbClr val="333333"/>
                </a:solidFill>
                <a:latin typeface="Inter" pitchFamily="34" charset="0"/>
                <a:ea typeface="Inter" pitchFamily="34" charset="-122"/>
                <a:cs typeface="Inter" pitchFamily="34" charset="-120"/>
              </a:rPr>
              <a:t>on how an adversary exploits weaknesses.</a:t>
            </a:r>
            <a:endParaRPr lang="en-US" sz="950" dirty="0"/>
          </a:p>
        </p:txBody>
      </p:sp>
      <p:sp>
        <p:nvSpPr>
          <p:cNvPr id="9" name="Text 5"/>
          <p:cNvSpPr/>
          <p:nvPr/>
        </p:nvSpPr>
        <p:spPr>
          <a:xfrm>
            <a:off x="428625" y="2804592"/>
            <a:ext cx="3357563"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Why does it matter?</a:t>
            </a:r>
            <a:endParaRPr lang="en-US" sz="1200" dirty="0"/>
          </a:p>
        </p:txBody>
      </p:sp>
      <p:sp>
        <p:nvSpPr>
          <p:cNvPr id="10" name="Text 6"/>
          <p:cNvSpPr/>
          <p:nvPr/>
        </p:nvSpPr>
        <p:spPr>
          <a:xfrm>
            <a:off x="428625" y="3118917"/>
            <a:ext cx="3357563" cy="411435"/>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Understanding the "recipe" helps developers build resilience before an attack is even observed.</a:t>
            </a:r>
            <a:endParaRPr lang="en-US" sz="950" dirty="0"/>
          </a:p>
        </p:txBody>
      </p:sp>
      <p:sp>
        <p:nvSpPr>
          <p:cNvPr id="11" name="Shape 7"/>
          <p:cNvSpPr/>
          <p:nvPr/>
        </p:nvSpPr>
        <p:spPr>
          <a:xfrm>
            <a:off x="428625" y="3600361"/>
            <a:ext cx="3357563" cy="626864"/>
          </a:xfrm>
          <a:prstGeom prst="rect">
            <a:avLst/>
          </a:prstGeom>
          <a:solidFill>
            <a:srgbClr val="E5E7EB"/>
          </a:solidFill>
        </p:spPr>
      </p:sp>
      <p:sp>
        <p:nvSpPr>
          <p:cNvPr id="12" name="Text 8"/>
          <p:cNvSpPr/>
          <p:nvPr/>
        </p:nvSpPr>
        <p:spPr>
          <a:xfrm>
            <a:off x="428625" y="3572421"/>
            <a:ext cx="3357563" cy="626864"/>
          </a:xfrm>
          <a:prstGeom prst="rect">
            <a:avLst/>
          </a:prstGeom>
          <a:noFill/>
        </p:spPr>
        <p:txBody>
          <a:bodyPr wrap="square" lIns="212598" tIns="127508" rIns="212598" bIns="127508"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Real-World Example: SolarWinds</a:t>
            </a:r>
            <a:r>
              <a:rPr lang="en-US" sz="850" dirty="0">
                <a:solidFill>
                  <a:srgbClr val="333333"/>
                </a:solidFill>
                <a:latin typeface="Inter" pitchFamily="34" charset="0"/>
                <a:ea typeface="Inter" pitchFamily="34" charset="-122"/>
                <a:cs typeface="Inter" pitchFamily="34" charset="-120"/>
              </a:rPr>
              <a:t>
</a:t>
            </a:r>
            <a:r>
              <a:rPr lang="en-US" sz="850" dirty="0">
                <a:solidFill>
                  <a:srgbClr val="333333"/>
                </a:solidFill>
                <a:latin typeface="Inter" pitchFamily="34" charset="0"/>
                <a:ea typeface="Inter" pitchFamily="34" charset="-122"/>
                <a:cs typeface="Inter" pitchFamily="34" charset="-120"/>
              </a:rPr>
              <a:t>APT29 used a CAPEC-style phishing pattern to initiate </a:t>
            </a:r>
            <a:r>
              <a:rPr lang="en-US" sz="850" dirty="0">
                <a:solidFill>
                  <a:srgbClr val="333333"/>
                </a:solidFill>
                <a:latin typeface="Inter" pitchFamily="34" charset="0"/>
                <a:ea typeface="Inter" pitchFamily="34" charset="-122"/>
                <a:cs typeface="Inter" pitchFamily="34" charset="-120"/>
              </a:rPr>
              <a:t>spearphishing (ATT&amp;CK T1566).</a:t>
            </a:r>
            <a:endParaRPr lang="en-US" sz="850" dirty="0"/>
          </a:p>
        </p:txBody>
      </p:sp>
      <p:sp>
        <p:nvSpPr>
          <p:cNvPr id="13" name="Shape 9"/>
          <p:cNvSpPr/>
          <p:nvPr/>
        </p:nvSpPr>
        <p:spPr>
          <a:xfrm>
            <a:off x="4214813" y="1900238"/>
            <a:ext cx="3357563" cy="2775347"/>
          </a:xfrm>
          <a:prstGeom prst="rect">
            <a:avLst/>
          </a:prstGeom>
          <a:solidFill>
            <a:srgbClr val="F9FAFB"/>
          </a:solidFill>
        </p:spPr>
      </p:sp>
      <p:sp>
        <p:nvSpPr>
          <p:cNvPr id="14" name="Shape 10"/>
          <p:cNvSpPr/>
          <p:nvPr/>
        </p:nvSpPr>
        <p:spPr>
          <a:xfrm>
            <a:off x="4429125" y="2114550"/>
            <a:ext cx="428625" cy="428625"/>
          </a:xfrm>
          <a:prstGeom prst="rect">
            <a:avLst/>
          </a:prstGeom>
          <a:solidFill>
            <a:srgbClr val="FACC15"/>
          </a:solidFill>
        </p:spPr>
      </p:sp>
      <p:pic>
        <p:nvPicPr>
          <p:cNvPr id="15" name="Image 1" descr="preencoded.png"/>
          <p:cNvPicPr>
            <a:picLocks noChangeAspect="1"/>
          </p:cNvPicPr>
          <p:nvPr/>
        </p:nvPicPr>
        <p:blipFill>
          <a:blip r:embed="rId2"/>
          <a:stretch>
            <a:fillRect/>
          </a:stretch>
        </p:blipFill>
        <p:spPr>
          <a:xfrm>
            <a:off x="4546997" y="2243138"/>
            <a:ext cx="192881" cy="171450"/>
          </a:xfrm>
          <a:prstGeom prst="rect">
            <a:avLst/>
          </a:prstGeom>
        </p:spPr>
      </p:pic>
      <p:sp>
        <p:nvSpPr>
          <p:cNvPr id="16" name="Text 11"/>
          <p:cNvSpPr/>
          <p:nvPr/>
        </p:nvSpPr>
        <p:spPr>
          <a:xfrm>
            <a:off x="5000625" y="2173486"/>
            <a:ext cx="1902023" cy="173236"/>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Inter ExtraBold" pitchFamily="34" charset="0"/>
                <a:ea typeface="Inter ExtraBold" pitchFamily="34" charset="-122"/>
                <a:cs typeface="Inter ExtraBold" pitchFamily="34" charset="-120"/>
              </a:rPr>
              <a:t>CAPEC Pattern</a:t>
            </a:r>
            <a:endParaRPr lang="en-US" sz="1000" dirty="0"/>
          </a:p>
        </p:txBody>
      </p:sp>
      <p:sp>
        <p:nvSpPr>
          <p:cNvPr id="17" name="Text 12"/>
          <p:cNvSpPr/>
          <p:nvPr/>
        </p:nvSpPr>
        <p:spPr>
          <a:xfrm>
            <a:off x="5000625" y="2346722"/>
            <a:ext cx="1902023" cy="137517"/>
          </a:xfrm>
          <a:prstGeom prst="rect">
            <a:avLst/>
          </a:prstGeom>
          <a:noFill/>
        </p:spPr>
        <p:txBody>
          <a:bodyPr wrap="square" lIns="0" tIns="0" rIns="0" bIns="0" rtlCol="0" anchor="t">
            <a:spAutoFit/>
          </a:bodyPr>
          <a:lstStyle/>
          <a:p>
            <a:pPr marL="0" indent="0" algn="l">
              <a:buNone/>
            </a:pPr>
            <a:r>
              <a:rPr lang="en-US" sz="850" dirty="0">
                <a:solidFill>
                  <a:srgbClr val="666666"/>
                </a:solidFill>
                <a:latin typeface="Inter" pitchFamily="34" charset="0"/>
                <a:ea typeface="Inter" pitchFamily="34" charset="-122"/>
                <a:cs typeface="Inter" pitchFamily="34" charset="-120"/>
              </a:rPr>
              <a:t>The Recipe: Phishing Email Method</a:t>
            </a:r>
            <a:endParaRPr lang="en-US" sz="850" dirty="0"/>
          </a:p>
        </p:txBody>
      </p:sp>
      <p:pic>
        <p:nvPicPr>
          <p:cNvPr id="18" name="Image 2" descr="preencoded.png"/>
          <p:cNvPicPr>
            <a:picLocks noChangeAspect="1"/>
          </p:cNvPicPr>
          <p:nvPr/>
        </p:nvPicPr>
        <p:blipFill>
          <a:blip r:embed="rId3"/>
          <a:stretch>
            <a:fillRect/>
          </a:stretch>
        </p:blipFill>
        <p:spPr>
          <a:xfrm>
            <a:off x="5840016" y="2736056"/>
            <a:ext cx="107156" cy="142875"/>
          </a:xfrm>
          <a:prstGeom prst="rect">
            <a:avLst/>
          </a:prstGeom>
        </p:spPr>
      </p:pic>
      <p:sp>
        <p:nvSpPr>
          <p:cNvPr id="19" name="Shape 13"/>
          <p:cNvSpPr/>
          <p:nvPr/>
        </p:nvSpPr>
        <p:spPr>
          <a:xfrm>
            <a:off x="4429125" y="3073598"/>
            <a:ext cx="428625" cy="428625"/>
          </a:xfrm>
          <a:prstGeom prst="rect">
            <a:avLst/>
          </a:prstGeom>
          <a:solidFill>
            <a:srgbClr val="FACC15"/>
          </a:solidFill>
        </p:spPr>
      </p:sp>
      <p:pic>
        <p:nvPicPr>
          <p:cNvPr id="20" name="Image 3" descr="preencoded.png"/>
          <p:cNvPicPr>
            <a:picLocks noChangeAspect="1"/>
          </p:cNvPicPr>
          <p:nvPr/>
        </p:nvPicPr>
        <p:blipFill>
          <a:blip r:embed="rId4"/>
          <a:stretch>
            <a:fillRect/>
          </a:stretch>
        </p:blipFill>
        <p:spPr>
          <a:xfrm>
            <a:off x="4568428" y="3202186"/>
            <a:ext cx="150019" cy="171450"/>
          </a:xfrm>
          <a:prstGeom prst="rect">
            <a:avLst/>
          </a:prstGeom>
        </p:spPr>
      </p:pic>
      <p:sp>
        <p:nvSpPr>
          <p:cNvPr id="21" name="Text 14"/>
          <p:cNvSpPr/>
          <p:nvPr/>
        </p:nvSpPr>
        <p:spPr>
          <a:xfrm>
            <a:off x="5000625" y="3132534"/>
            <a:ext cx="2327077" cy="173236"/>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Inter ExtraBold" pitchFamily="34" charset="0"/>
                <a:ea typeface="Inter ExtraBold" pitchFamily="34" charset="-122"/>
                <a:cs typeface="Inter ExtraBold" pitchFamily="34" charset="-120"/>
              </a:rPr>
              <a:t>ATT&amp;CK Technique</a:t>
            </a:r>
            <a:endParaRPr lang="en-US" sz="1000" dirty="0"/>
          </a:p>
        </p:txBody>
      </p:sp>
      <p:sp>
        <p:nvSpPr>
          <p:cNvPr id="22" name="Text 15"/>
          <p:cNvSpPr/>
          <p:nvPr/>
        </p:nvSpPr>
        <p:spPr>
          <a:xfrm>
            <a:off x="5000625" y="3305770"/>
            <a:ext cx="2327077" cy="137517"/>
          </a:xfrm>
          <a:prstGeom prst="rect">
            <a:avLst/>
          </a:prstGeom>
          <a:noFill/>
        </p:spPr>
        <p:txBody>
          <a:bodyPr wrap="square" lIns="0" tIns="0" rIns="0" bIns="0" rtlCol="0" anchor="t">
            <a:spAutoFit/>
          </a:bodyPr>
          <a:lstStyle/>
          <a:p>
            <a:pPr marL="0" indent="0" algn="l">
              <a:buNone/>
            </a:pPr>
            <a:r>
              <a:rPr lang="en-US" sz="850" dirty="0">
                <a:solidFill>
                  <a:srgbClr val="666666"/>
                </a:solidFill>
                <a:latin typeface="Inter" pitchFamily="34" charset="0"/>
                <a:ea typeface="Inter" pitchFamily="34" charset="-122"/>
                <a:cs typeface="Inter" pitchFamily="34" charset="-120"/>
              </a:rPr>
              <a:t>The Dish: Observed Spearphishing (T1566)</a:t>
            </a:r>
            <a:endParaRPr lang="en-US" sz="850" dirty="0"/>
          </a:p>
        </p:txBody>
      </p:sp>
      <p:pic>
        <p:nvPicPr>
          <p:cNvPr id="23" name="Image 4" descr="preencoded.png"/>
          <p:cNvPicPr>
            <a:picLocks noChangeAspect="1"/>
          </p:cNvPicPr>
          <p:nvPr/>
        </p:nvPicPr>
        <p:blipFill>
          <a:blip r:embed="rId5"/>
          <a:stretch>
            <a:fillRect/>
          </a:stretch>
        </p:blipFill>
        <p:spPr>
          <a:xfrm>
            <a:off x="5840016" y="3695105"/>
            <a:ext cx="107156" cy="142875"/>
          </a:xfrm>
          <a:prstGeom prst="rect">
            <a:avLst/>
          </a:prstGeom>
        </p:spPr>
      </p:pic>
      <p:sp>
        <p:nvSpPr>
          <p:cNvPr id="24" name="Shape 16"/>
          <p:cNvSpPr/>
          <p:nvPr/>
        </p:nvSpPr>
        <p:spPr>
          <a:xfrm>
            <a:off x="4429125" y="4032647"/>
            <a:ext cx="428625" cy="428625"/>
          </a:xfrm>
          <a:prstGeom prst="rect">
            <a:avLst/>
          </a:prstGeom>
          <a:solidFill>
            <a:srgbClr val="FACC15"/>
          </a:solidFill>
        </p:spPr>
      </p:sp>
      <p:pic>
        <p:nvPicPr>
          <p:cNvPr id="25" name="Image 5" descr="preencoded.png"/>
          <p:cNvPicPr>
            <a:picLocks noChangeAspect="1"/>
          </p:cNvPicPr>
          <p:nvPr/>
        </p:nvPicPr>
        <p:blipFill>
          <a:blip r:embed="rId6"/>
          <a:stretch>
            <a:fillRect/>
          </a:stretch>
        </p:blipFill>
        <p:spPr>
          <a:xfrm>
            <a:off x="4546997" y="4161234"/>
            <a:ext cx="192881" cy="171450"/>
          </a:xfrm>
          <a:prstGeom prst="rect">
            <a:avLst/>
          </a:prstGeom>
        </p:spPr>
      </p:pic>
      <p:sp>
        <p:nvSpPr>
          <p:cNvPr id="26" name="Text 17"/>
          <p:cNvSpPr/>
          <p:nvPr/>
        </p:nvSpPr>
        <p:spPr>
          <a:xfrm>
            <a:off x="5000625" y="4091583"/>
            <a:ext cx="1425178" cy="173236"/>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Inter ExtraBold" pitchFamily="34" charset="0"/>
                <a:ea typeface="Inter ExtraBold" pitchFamily="34" charset="-122"/>
                <a:cs typeface="Inter ExtraBold" pitchFamily="34" charset="-120"/>
              </a:rPr>
              <a:t>Result</a:t>
            </a:r>
            <a:endParaRPr lang="en-US" sz="1000" dirty="0"/>
          </a:p>
        </p:txBody>
      </p:sp>
      <p:sp>
        <p:nvSpPr>
          <p:cNvPr id="27" name="Text 18"/>
          <p:cNvSpPr/>
          <p:nvPr/>
        </p:nvSpPr>
        <p:spPr>
          <a:xfrm>
            <a:off x="5000625" y="4264819"/>
            <a:ext cx="1425178" cy="137517"/>
          </a:xfrm>
          <a:prstGeom prst="rect">
            <a:avLst/>
          </a:prstGeom>
          <a:noFill/>
        </p:spPr>
        <p:txBody>
          <a:bodyPr wrap="square" lIns="0" tIns="0" rIns="0" bIns="0" rtlCol="0" anchor="t">
            <a:spAutoFit/>
          </a:bodyPr>
          <a:lstStyle/>
          <a:p>
            <a:pPr marL="0" indent="0" algn="l">
              <a:buNone/>
            </a:pPr>
            <a:r>
              <a:rPr lang="en-US" sz="850" dirty="0">
                <a:solidFill>
                  <a:srgbClr val="666666"/>
                </a:solidFill>
                <a:latin typeface="Inter" pitchFamily="34" charset="0"/>
                <a:ea typeface="Inter" pitchFamily="34" charset="-122"/>
                <a:cs typeface="Inter" pitchFamily="34" charset="-120"/>
              </a:rPr>
              <a:t>Outcome: Credential Theft</a:t>
            </a:r>
            <a:endParaRPr lang="en-US" sz="850" dirty="0"/>
          </a:p>
        </p:txBody>
      </p:sp>
      <p:sp>
        <p:nvSpPr>
          <p:cNvPr id="28" name="Shape 19"/>
          <p:cNvSpPr/>
          <p:nvPr/>
        </p:nvSpPr>
        <p:spPr>
          <a:xfrm>
            <a:off x="428625" y="4416425"/>
            <a:ext cx="3663315" cy="280670"/>
          </a:xfrm>
          <a:prstGeom prst="rect">
            <a:avLst/>
          </a:prstGeom>
          <a:solidFill>
            <a:srgbClr val="000000"/>
          </a:solidFill>
        </p:spPr>
      </p:sp>
      <p:sp>
        <p:nvSpPr>
          <p:cNvPr id="29" name="Text 20"/>
          <p:cNvSpPr/>
          <p:nvPr/>
        </p:nvSpPr>
        <p:spPr>
          <a:xfrm>
            <a:off x="344170" y="4416425"/>
            <a:ext cx="3526155" cy="292735"/>
          </a:xfrm>
          <a:prstGeom prst="rect">
            <a:avLst/>
          </a:prstGeom>
          <a:noFill/>
        </p:spPr>
        <p:txBody>
          <a:bodyPr wrap="square" lIns="170053" tIns="85090" rIns="170053" bIns="85090" rtlCol="0" anchor="t">
            <a:spAutoFit/>
          </a:bodyPr>
          <a:lstStyle/>
          <a:p>
            <a:pPr marL="0" indent="0" algn="l">
              <a:buNone/>
            </a:pPr>
            <a:r>
              <a:rPr lang="en-US" sz="800" dirty="0">
                <a:solidFill>
                  <a:srgbClr val="FFFFFF"/>
                </a:solidFill>
                <a:latin typeface="Inter SemiBold" pitchFamily="34" charset="0"/>
                <a:ea typeface="Inter SemiBold" pitchFamily="34" charset="-122"/>
                <a:cs typeface="Inter SemiBold" pitchFamily="34" charset="-120"/>
              </a:rPr>
              <a:t>Key Takeaway: CAPEC = Recipe Book | ATT&amp;CK = Finished Dish</a:t>
            </a:r>
            <a:endParaRPr lang="en-US" sz="800" dirty="0"/>
          </a:p>
        </p:txBody>
      </p:sp>
      <p:sp>
        <p:nvSpPr>
          <p:cNvPr id="30" name="Text 21"/>
          <p:cNvSpPr/>
          <p:nvPr/>
        </p:nvSpPr>
        <p:spPr>
          <a:xfrm>
            <a:off x="1875790" y="4800600"/>
            <a:ext cx="4759325" cy="214630"/>
          </a:xfrm>
          <a:prstGeom prst="rect">
            <a:avLst/>
          </a:prstGeom>
          <a:noFill/>
        </p:spPr>
        <p:txBody>
          <a:bodyPr wrap="square" lIns="0" tIns="0" rIns="0" bIns="0" rtlCol="0" anchor="t">
            <a:noAutofit/>
          </a:bodyPr>
          <a:lstStyle/>
          <a:p>
            <a:pPr marL="0" indent="0" algn="ctr">
              <a:buNone/>
            </a:pPr>
            <a:r>
              <a:rPr lang="en-US" sz="950" dirty="0">
                <a:solidFill>
                  <a:srgbClr val="000000"/>
                </a:solidFill>
                <a:latin typeface="Inter" pitchFamily="34" charset="0"/>
                <a:ea typeface="Inter" pitchFamily="34" charset="-122"/>
                <a:cs typeface="Inter" pitchFamily="34" charset="-120"/>
              </a:rPr>
              <a:t>Hiddeninvestigations.Net</a:t>
            </a:r>
            <a:endParaRPr lang="en-US" sz="950" dirty="0"/>
          </a:p>
        </p:txBody>
      </p:sp>
      <p:sp>
        <p:nvSpPr>
          <p:cNvPr id="2" name="Text 3"/>
          <p:cNvSpPr/>
          <p:nvPr/>
        </p:nvSpPr>
        <p:spPr>
          <a:xfrm>
            <a:off x="8270677" y="401835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10</a:t>
            </a:r>
            <a:endParaRPr lang="en-US" sz="3300" dirty="0"/>
          </a:p>
        </p:txBody>
      </p:sp>
      <p:sp>
        <p:nvSpPr>
          <p:cNvPr id="31" name="Oval 30"/>
          <p:cNvSpPr/>
          <p:nvPr/>
        </p:nvSpPr>
        <p:spPr>
          <a:xfrm>
            <a:off x="835660"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3970" y="6985"/>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418552" y="50045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11</a:t>
            </a:r>
            <a:endParaRPr lang="en-US" sz="3300" dirty="0"/>
          </a:p>
        </p:txBody>
      </p:sp>
      <p:sp>
        <p:nvSpPr>
          <p:cNvPr id="7" name="Text 4"/>
          <p:cNvSpPr/>
          <p:nvPr/>
        </p:nvSpPr>
        <p:spPr>
          <a:xfrm>
            <a:off x="428625" y="714375"/>
            <a:ext cx="7853045" cy="322580"/>
          </a:xfrm>
          <a:prstGeom prst="rect">
            <a:avLst/>
          </a:prstGeom>
          <a:noFill/>
        </p:spPr>
        <p:txBody>
          <a:bodyPr wrap="square" lIns="0" tIns="0" rIns="0" bIns="0" rtlCol="0" anchor="t">
            <a:spAutoFit/>
          </a:bodyPr>
          <a:lstStyle/>
          <a:p>
            <a:pPr marL="0" indent="0" algn="l">
              <a:buNone/>
            </a:pPr>
            <a:r>
              <a:rPr lang="en-US" sz="2100" b="1" dirty="0">
                <a:solidFill>
                  <a:srgbClr val="000000"/>
                </a:solidFill>
                <a:latin typeface="Inter Black" pitchFamily="34" charset="0"/>
                <a:ea typeface="Inter Black" pitchFamily="34" charset="-122"/>
                <a:cs typeface="Inter Black" pitchFamily="34" charset="-120"/>
              </a:rPr>
              <a:t>Every Attack Has a Pattern. CAPEC Is the Pattern Library.</a:t>
            </a:r>
            <a:endParaRPr lang="en-US" sz="2100" dirty="0"/>
          </a:p>
        </p:txBody>
      </p:sp>
      <p:sp>
        <p:nvSpPr>
          <p:cNvPr id="8" name="Text 5"/>
          <p:cNvSpPr/>
          <p:nvPr/>
        </p:nvSpPr>
        <p:spPr>
          <a:xfrm>
            <a:off x="578644" y="1914525"/>
            <a:ext cx="2343150" cy="207169"/>
          </a:xfrm>
          <a:prstGeom prst="rect">
            <a:avLst/>
          </a:prstGeom>
          <a:noFill/>
        </p:spPr>
        <p:txBody>
          <a:bodyPr wrap="square" lIns="0" tIns="0" rIns="0" bIns="0" rtlCol="0" anchor="t">
            <a:spAutoFit/>
          </a:bodyPr>
          <a:lstStyle/>
          <a:p>
            <a:pPr marL="0" indent="0" algn="l">
              <a:buNone/>
            </a:pPr>
            <a:r>
              <a:rPr lang="en-US" sz="1200" b="1" dirty="0">
                <a:solidFill>
                  <a:srgbClr val="F5C518"/>
                </a:solidFill>
                <a:latin typeface="Inter Black" pitchFamily="34" charset="0"/>
                <a:ea typeface="Inter Black" pitchFamily="34" charset="-122"/>
                <a:cs typeface="Inter Black" pitchFamily="34" charset="-120"/>
              </a:rPr>
              <a:t>CAPEC-66</a:t>
            </a:r>
            <a:endParaRPr lang="en-US" sz="1200" dirty="0"/>
          </a:p>
        </p:txBody>
      </p:sp>
      <p:sp>
        <p:nvSpPr>
          <p:cNvPr id="9" name="Text 6"/>
          <p:cNvSpPr/>
          <p:nvPr/>
        </p:nvSpPr>
        <p:spPr>
          <a:xfrm>
            <a:off x="578644" y="2193131"/>
            <a:ext cx="2343150" cy="171450"/>
          </a:xfrm>
          <a:prstGeom prst="rect">
            <a:avLst/>
          </a:prstGeom>
          <a:noFill/>
        </p:spPr>
        <p:txBody>
          <a:bodyPr wrap="none" lIns="0" tIns="0" rIns="0" bIns="0" rtlCol="0" anchor="t">
            <a:spAutoFit/>
          </a:bodyPr>
          <a:lstStyle/>
          <a:p>
            <a:pPr marL="0" indent="0" algn="l">
              <a:lnSpc>
                <a:spcPct val="96000"/>
              </a:lnSpc>
              <a:buNone/>
            </a:pPr>
            <a:r>
              <a:rPr lang="en-US" sz="1000" b="1" dirty="0">
                <a:solidFill>
                  <a:srgbClr val="000000"/>
                </a:solidFill>
                <a:latin typeface="Inter Bold" pitchFamily="34" charset="0"/>
                <a:ea typeface="Inter Bold" pitchFamily="34" charset="-122"/>
                <a:cs typeface="Inter Bold" pitchFamily="34" charset="-120"/>
              </a:rPr>
              <a:t>SQL Injection</a:t>
            </a:r>
            <a:endParaRPr lang="en-US" sz="1000" dirty="0"/>
          </a:p>
        </p:txBody>
      </p:sp>
      <p:sp>
        <p:nvSpPr>
          <p:cNvPr id="10" name="Text 7"/>
          <p:cNvSpPr/>
          <p:nvPr/>
        </p:nvSpPr>
        <p:spPr>
          <a:xfrm>
            <a:off x="578644" y="2471738"/>
            <a:ext cx="2343150" cy="450056"/>
          </a:xfrm>
          <a:prstGeom prst="rect">
            <a:avLst/>
          </a:prstGeom>
          <a:noFill/>
        </p:spPr>
        <p:txBody>
          <a:bodyPr wrap="square" lIns="0" tIns="0" rIns="0" bIns="0" rtlCol="0" anchor="t">
            <a:spAutoFit/>
          </a:bodyPr>
          <a:lstStyle/>
          <a:p>
            <a:pPr marL="0" indent="0" algn="l">
              <a:lnSpc>
                <a:spcPct val="120000"/>
              </a:lnSpc>
              <a:buNone/>
            </a:pPr>
            <a:r>
              <a:rPr lang="en-US" sz="750" dirty="0">
                <a:solidFill>
                  <a:srgbClr val="333333"/>
                </a:solidFill>
                <a:latin typeface="Inter" pitchFamily="34" charset="0"/>
                <a:ea typeface="Inter" pitchFamily="34" charset="-122"/>
                <a:cs typeface="Inter" pitchFamily="34" charset="-120"/>
              </a:rPr>
              <a:t>Attacker inserts malicious database queries through input fields to steal data or execute commands.</a:t>
            </a:r>
            <a:endParaRPr lang="en-US" sz="750" dirty="0"/>
          </a:p>
        </p:txBody>
      </p:sp>
      <p:sp>
        <p:nvSpPr>
          <p:cNvPr id="11" name="Text 8"/>
          <p:cNvSpPr/>
          <p:nvPr/>
        </p:nvSpPr>
        <p:spPr>
          <a:xfrm>
            <a:off x="578644" y="3028950"/>
            <a:ext cx="2343150" cy="303609"/>
          </a:xfrm>
          <a:prstGeom prst="rect">
            <a:avLst/>
          </a:prstGeom>
          <a:noFill/>
        </p:spPr>
        <p:txBody>
          <a:bodyPr wrap="square" lIns="0" tIns="85090" rIns="0" bIns="0" rtlCol="0" anchor="t">
            <a:spAutoFit/>
          </a:bodyPr>
          <a:lstStyle/>
          <a:p>
            <a:pPr marL="0" indent="0" algn="l">
              <a:buNone/>
            </a:pPr>
            <a:r>
              <a:rPr lang="en-US" sz="650" i="1" dirty="0">
                <a:solidFill>
                  <a:srgbClr val="666666"/>
                </a:solidFill>
                <a:latin typeface="Inter" pitchFamily="34" charset="0"/>
                <a:ea typeface="Inter" pitchFamily="34" charset="-122"/>
                <a:cs typeface="Inter" pitchFamily="34" charset="-120"/>
              </a:rPr>
              <a:t>Used in the 2013 Yahoo breach exposing 3 billion user accounts.</a:t>
            </a:r>
            <a:endParaRPr lang="en-US" sz="650" dirty="0"/>
          </a:p>
        </p:txBody>
      </p:sp>
      <p:sp>
        <p:nvSpPr>
          <p:cNvPr id="12" name="Text 9"/>
          <p:cNvSpPr/>
          <p:nvPr/>
        </p:nvSpPr>
        <p:spPr>
          <a:xfrm>
            <a:off x="3400425" y="1914525"/>
            <a:ext cx="2343150" cy="207169"/>
          </a:xfrm>
          <a:prstGeom prst="rect">
            <a:avLst/>
          </a:prstGeom>
          <a:noFill/>
        </p:spPr>
        <p:txBody>
          <a:bodyPr wrap="square" lIns="0" tIns="0" rIns="0" bIns="0" rtlCol="0" anchor="t">
            <a:spAutoFit/>
          </a:bodyPr>
          <a:lstStyle/>
          <a:p>
            <a:pPr marL="0" indent="0" algn="l">
              <a:buNone/>
            </a:pPr>
            <a:r>
              <a:rPr lang="en-US" sz="1200" b="1" dirty="0">
                <a:solidFill>
                  <a:srgbClr val="F5C518"/>
                </a:solidFill>
                <a:latin typeface="Inter Black" pitchFamily="34" charset="0"/>
                <a:ea typeface="Inter Black" pitchFamily="34" charset="-122"/>
                <a:cs typeface="Inter Black" pitchFamily="34" charset="-120"/>
              </a:rPr>
              <a:t>CAPEC-98</a:t>
            </a:r>
            <a:endParaRPr lang="en-US" sz="1200" dirty="0"/>
          </a:p>
        </p:txBody>
      </p:sp>
      <p:sp>
        <p:nvSpPr>
          <p:cNvPr id="13" name="Text 10"/>
          <p:cNvSpPr/>
          <p:nvPr/>
        </p:nvSpPr>
        <p:spPr>
          <a:xfrm>
            <a:off x="3400425" y="2193131"/>
            <a:ext cx="2343150" cy="171450"/>
          </a:xfrm>
          <a:prstGeom prst="rect">
            <a:avLst/>
          </a:prstGeom>
          <a:noFill/>
        </p:spPr>
        <p:txBody>
          <a:bodyPr wrap="none" lIns="0" tIns="0" rIns="0" bIns="0" rtlCol="0" anchor="t">
            <a:spAutoFit/>
          </a:bodyPr>
          <a:lstStyle/>
          <a:p>
            <a:pPr marL="0" indent="0" algn="l">
              <a:lnSpc>
                <a:spcPct val="96000"/>
              </a:lnSpc>
              <a:buNone/>
            </a:pPr>
            <a:r>
              <a:rPr lang="en-US" sz="1000" b="1" dirty="0">
                <a:solidFill>
                  <a:srgbClr val="000000"/>
                </a:solidFill>
                <a:latin typeface="Inter Bold" pitchFamily="34" charset="0"/>
                <a:ea typeface="Inter Bold" pitchFamily="34" charset="-122"/>
                <a:cs typeface="Inter Bold" pitchFamily="34" charset="-120"/>
              </a:rPr>
              <a:t>Phishing</a:t>
            </a:r>
            <a:endParaRPr lang="en-US" sz="1000" dirty="0"/>
          </a:p>
        </p:txBody>
      </p:sp>
      <p:sp>
        <p:nvSpPr>
          <p:cNvPr id="14" name="Text 11"/>
          <p:cNvSpPr/>
          <p:nvPr/>
        </p:nvSpPr>
        <p:spPr>
          <a:xfrm>
            <a:off x="3400425" y="2471738"/>
            <a:ext cx="2343150" cy="450056"/>
          </a:xfrm>
          <a:prstGeom prst="rect">
            <a:avLst/>
          </a:prstGeom>
          <a:noFill/>
        </p:spPr>
        <p:txBody>
          <a:bodyPr wrap="square" lIns="0" tIns="0" rIns="0" bIns="0" rtlCol="0" anchor="t">
            <a:spAutoFit/>
          </a:bodyPr>
          <a:lstStyle/>
          <a:p>
            <a:pPr marL="0" indent="0" algn="l">
              <a:lnSpc>
                <a:spcPct val="120000"/>
              </a:lnSpc>
              <a:buNone/>
            </a:pPr>
            <a:r>
              <a:rPr lang="en-US" sz="750" dirty="0">
                <a:solidFill>
                  <a:srgbClr val="333333"/>
                </a:solidFill>
                <a:latin typeface="Inter" pitchFamily="34" charset="0"/>
                <a:ea typeface="Inter" pitchFamily="34" charset="-122"/>
                <a:cs typeface="Inter" pitchFamily="34" charset="-120"/>
              </a:rPr>
              <a:t>Psychologically deceptive communication designed to manipulate humans into harmful actions.</a:t>
            </a:r>
            <a:endParaRPr lang="en-US" sz="750" dirty="0"/>
          </a:p>
        </p:txBody>
      </p:sp>
      <p:sp>
        <p:nvSpPr>
          <p:cNvPr id="15" name="Text 12"/>
          <p:cNvSpPr/>
          <p:nvPr/>
        </p:nvSpPr>
        <p:spPr>
          <a:xfrm>
            <a:off x="3400425" y="3028950"/>
            <a:ext cx="2343150" cy="303609"/>
          </a:xfrm>
          <a:prstGeom prst="rect">
            <a:avLst/>
          </a:prstGeom>
          <a:noFill/>
        </p:spPr>
        <p:txBody>
          <a:bodyPr wrap="square" lIns="0" tIns="85090" rIns="0" bIns="0" rtlCol="0" anchor="t">
            <a:spAutoFit/>
          </a:bodyPr>
          <a:lstStyle/>
          <a:p>
            <a:pPr marL="0" indent="0" algn="l">
              <a:buNone/>
            </a:pPr>
            <a:r>
              <a:rPr lang="en-US" sz="650" i="1" dirty="0">
                <a:solidFill>
                  <a:srgbClr val="666666"/>
                </a:solidFill>
                <a:latin typeface="Inter" pitchFamily="34" charset="0"/>
                <a:ea typeface="Inter" pitchFamily="34" charset="-122"/>
                <a:cs typeface="Inter" pitchFamily="34" charset="-120"/>
              </a:rPr>
              <a:t>Foundational pattern underlying 91% of all cyberattacks globally.</a:t>
            </a:r>
            <a:endParaRPr lang="en-US" sz="650" dirty="0"/>
          </a:p>
        </p:txBody>
      </p:sp>
      <p:sp>
        <p:nvSpPr>
          <p:cNvPr id="16" name="Text 13"/>
          <p:cNvSpPr/>
          <p:nvPr/>
        </p:nvSpPr>
        <p:spPr>
          <a:xfrm>
            <a:off x="6222206" y="1914525"/>
            <a:ext cx="2343150" cy="207169"/>
          </a:xfrm>
          <a:prstGeom prst="rect">
            <a:avLst/>
          </a:prstGeom>
          <a:noFill/>
        </p:spPr>
        <p:txBody>
          <a:bodyPr wrap="square" lIns="0" tIns="0" rIns="0" bIns="0" rtlCol="0" anchor="t">
            <a:spAutoFit/>
          </a:bodyPr>
          <a:lstStyle/>
          <a:p>
            <a:pPr marL="0" indent="0" algn="l">
              <a:buNone/>
            </a:pPr>
            <a:r>
              <a:rPr lang="en-US" sz="1200" b="1" dirty="0">
                <a:solidFill>
                  <a:srgbClr val="F5C518"/>
                </a:solidFill>
                <a:latin typeface="Inter Black" pitchFamily="34" charset="0"/>
                <a:ea typeface="Inter Black" pitchFamily="34" charset="-122"/>
                <a:cs typeface="Inter Black" pitchFamily="34" charset="-120"/>
              </a:rPr>
              <a:t>CAPEC-560</a:t>
            </a:r>
            <a:endParaRPr lang="en-US" sz="1200" dirty="0"/>
          </a:p>
        </p:txBody>
      </p:sp>
      <p:sp>
        <p:nvSpPr>
          <p:cNvPr id="17" name="Text 14"/>
          <p:cNvSpPr/>
          <p:nvPr/>
        </p:nvSpPr>
        <p:spPr>
          <a:xfrm>
            <a:off x="6222206" y="2193131"/>
            <a:ext cx="2343150" cy="342900"/>
          </a:xfrm>
          <a:prstGeom prst="rect">
            <a:avLst/>
          </a:prstGeom>
          <a:noFill/>
        </p:spPr>
        <p:txBody>
          <a:bodyPr wrap="square" lIns="0" tIns="0" rIns="0" bIns="0" rtlCol="0" anchor="t">
            <a:spAutoFit/>
          </a:bodyPr>
          <a:lstStyle/>
          <a:p>
            <a:pPr marL="0" indent="0" algn="l">
              <a:lnSpc>
                <a:spcPct val="96000"/>
              </a:lnSpc>
              <a:buNone/>
            </a:pPr>
            <a:r>
              <a:rPr lang="en-US" sz="1000" b="1" dirty="0">
                <a:solidFill>
                  <a:srgbClr val="000000"/>
                </a:solidFill>
                <a:latin typeface="Inter Bold" pitchFamily="34" charset="0"/>
                <a:ea typeface="Inter Bold" pitchFamily="34" charset="-122"/>
                <a:cs typeface="Inter Bold" pitchFamily="34" charset="-120"/>
              </a:rPr>
              <a:t>Use of Known Domain Credentials</a:t>
            </a:r>
            <a:endParaRPr lang="en-US" sz="1000" dirty="0"/>
          </a:p>
        </p:txBody>
      </p:sp>
      <p:sp>
        <p:nvSpPr>
          <p:cNvPr id="18" name="Text 15"/>
          <p:cNvSpPr/>
          <p:nvPr/>
        </p:nvSpPr>
        <p:spPr>
          <a:xfrm>
            <a:off x="6222206" y="2643188"/>
            <a:ext cx="2343150" cy="300038"/>
          </a:xfrm>
          <a:prstGeom prst="rect">
            <a:avLst/>
          </a:prstGeom>
          <a:noFill/>
        </p:spPr>
        <p:txBody>
          <a:bodyPr wrap="square" lIns="0" tIns="0" rIns="0" bIns="0" rtlCol="0" anchor="t">
            <a:spAutoFit/>
          </a:bodyPr>
          <a:lstStyle/>
          <a:p>
            <a:pPr marL="0" indent="0" algn="l">
              <a:lnSpc>
                <a:spcPct val="120000"/>
              </a:lnSpc>
              <a:buNone/>
            </a:pPr>
            <a:r>
              <a:rPr lang="en-US" sz="750" dirty="0">
                <a:solidFill>
                  <a:srgbClr val="333333"/>
                </a:solidFill>
                <a:latin typeface="Inter" pitchFamily="34" charset="0"/>
                <a:ea typeface="Inter" pitchFamily="34" charset="-122"/>
                <a:cs typeface="Inter" pitchFamily="34" charset="-120"/>
              </a:rPr>
              <a:t>Attacker uses legitimately obtained credentials to traverse a network without triggering alerts.</a:t>
            </a:r>
            <a:endParaRPr lang="en-US" sz="750" dirty="0"/>
          </a:p>
        </p:txBody>
      </p:sp>
      <p:sp>
        <p:nvSpPr>
          <p:cNvPr id="19" name="Text 16"/>
          <p:cNvSpPr/>
          <p:nvPr/>
        </p:nvSpPr>
        <p:spPr>
          <a:xfrm>
            <a:off x="6222206" y="3050381"/>
            <a:ext cx="2343150" cy="303609"/>
          </a:xfrm>
          <a:prstGeom prst="rect">
            <a:avLst/>
          </a:prstGeom>
          <a:noFill/>
        </p:spPr>
        <p:txBody>
          <a:bodyPr wrap="square" lIns="0" tIns="85090" rIns="0" bIns="0" rtlCol="0" anchor="t">
            <a:spAutoFit/>
          </a:bodyPr>
          <a:lstStyle/>
          <a:p>
            <a:pPr marL="0" indent="0" algn="l">
              <a:buNone/>
            </a:pPr>
            <a:r>
              <a:rPr lang="en-US" sz="650" i="1" dirty="0">
                <a:solidFill>
                  <a:srgbClr val="666666"/>
                </a:solidFill>
                <a:latin typeface="Inter" pitchFamily="34" charset="0"/>
                <a:ea typeface="Inter" pitchFamily="34" charset="-122"/>
                <a:cs typeface="Inter" pitchFamily="34" charset="-120"/>
              </a:rPr>
              <a:t>Used by Lazarus Group in the Bangladesh Bank $81 million heist.</a:t>
            </a:r>
            <a:endParaRPr lang="en-US" sz="650" dirty="0"/>
          </a:p>
        </p:txBody>
      </p:sp>
      <p:sp>
        <p:nvSpPr>
          <p:cNvPr id="20" name="Text 17"/>
          <p:cNvSpPr/>
          <p:nvPr/>
        </p:nvSpPr>
        <p:spPr>
          <a:xfrm>
            <a:off x="519430" y="4275937"/>
            <a:ext cx="840105" cy="385445"/>
          </a:xfrm>
          <a:prstGeom prst="rect">
            <a:avLst/>
          </a:prstGeom>
          <a:noFill/>
        </p:spPr>
        <p:txBody>
          <a:bodyPr wrap="none" lIns="170053" tIns="85090" rIns="170053" bIns="85090" rtlCol="0" anchor="t">
            <a:spAutoFit/>
          </a:bodyPr>
          <a:lstStyle/>
          <a:p>
            <a:pPr marL="0" indent="0" algn="l">
              <a:buNone/>
            </a:pPr>
            <a:r>
              <a:rPr lang="en-US" sz="1400" b="1" dirty="0">
                <a:solidFill>
                  <a:srgbClr val="000000"/>
                </a:solidFill>
                <a:latin typeface="Inter Black" pitchFamily="34" charset="0"/>
                <a:ea typeface="Inter Black" pitchFamily="34" charset="-122"/>
                <a:cs typeface="Inter Black" pitchFamily="34" charset="-120"/>
              </a:rPr>
              <a:t>CAPEC</a:t>
            </a:r>
            <a:endParaRPr lang="en-US" sz="1400" dirty="0"/>
          </a:p>
        </p:txBody>
      </p:sp>
      <p:sp>
        <p:nvSpPr>
          <p:cNvPr id="21" name="Text 18"/>
          <p:cNvSpPr/>
          <p:nvPr/>
        </p:nvSpPr>
        <p:spPr>
          <a:xfrm>
            <a:off x="1505545" y="4326043"/>
            <a:ext cx="915035" cy="138430"/>
          </a:xfrm>
          <a:prstGeom prst="rect">
            <a:avLst/>
          </a:prstGeom>
          <a:noFill/>
        </p:spPr>
        <p:txBody>
          <a:bodyPr wrap="none" lIns="0" tIns="0" rIns="0" bIns="0" rtlCol="0" anchor="t">
            <a:spAutoFit/>
          </a:bodyPr>
          <a:lstStyle/>
          <a:p>
            <a:pPr marL="0" indent="0" algn="l">
              <a:buNone/>
            </a:pPr>
            <a:r>
              <a:rPr lang="en-US" sz="900" i="1" dirty="0">
                <a:solidFill>
                  <a:srgbClr val="666666"/>
                </a:solidFill>
                <a:latin typeface="Inter" pitchFamily="34" charset="0"/>
                <a:ea typeface="Inter" pitchFamily="34" charset="-122"/>
                <a:cs typeface="Inter" pitchFamily="34" charset="-120"/>
              </a:rPr>
              <a:t>conceptual parent</a:t>
            </a:r>
            <a:endParaRPr lang="en-US" sz="900" dirty="0"/>
          </a:p>
        </p:txBody>
      </p:sp>
      <p:sp>
        <p:nvSpPr>
          <p:cNvPr id="22" name="Shape 19"/>
          <p:cNvSpPr/>
          <p:nvPr/>
        </p:nvSpPr>
        <p:spPr>
          <a:xfrm>
            <a:off x="1514475" y="4467132"/>
            <a:ext cx="714375" cy="14288"/>
          </a:xfrm>
          <a:prstGeom prst="rect">
            <a:avLst/>
          </a:prstGeom>
          <a:solidFill>
            <a:srgbClr val="000000"/>
          </a:solidFill>
        </p:spPr>
      </p:sp>
      <p:sp>
        <p:nvSpPr>
          <p:cNvPr id="23" name="Text 20"/>
          <p:cNvSpPr/>
          <p:nvPr/>
        </p:nvSpPr>
        <p:spPr>
          <a:xfrm>
            <a:off x="1311513" y="4489198"/>
            <a:ext cx="1201420" cy="122555"/>
          </a:xfrm>
          <a:prstGeom prst="rect">
            <a:avLst/>
          </a:prstGeom>
          <a:noFill/>
        </p:spPr>
        <p:txBody>
          <a:bodyPr wrap="none" lIns="0" tIns="0" rIns="0" bIns="0" rtlCol="0" anchor="t">
            <a:spAutoFit/>
          </a:bodyPr>
          <a:lstStyle/>
          <a:p>
            <a:pPr marL="0" indent="0" algn="l">
              <a:buNone/>
            </a:pPr>
            <a:r>
              <a:rPr lang="en-US" sz="800" i="1" dirty="0">
                <a:solidFill>
                  <a:srgbClr val="666666"/>
                </a:solidFill>
                <a:latin typeface="Inter" pitchFamily="34" charset="0"/>
                <a:ea typeface="Inter" pitchFamily="34" charset="-122"/>
                <a:cs typeface="Inter" pitchFamily="34" charset="-120"/>
              </a:rPr>
              <a:t>real-world implementation</a:t>
            </a:r>
            <a:endParaRPr lang="en-US" sz="800" dirty="0"/>
          </a:p>
        </p:txBody>
      </p:sp>
      <p:sp>
        <p:nvSpPr>
          <p:cNvPr id="24" name="Shape 21"/>
          <p:cNvSpPr/>
          <p:nvPr/>
        </p:nvSpPr>
        <p:spPr>
          <a:xfrm>
            <a:off x="2546747" y="4310862"/>
            <a:ext cx="859036" cy="326827"/>
          </a:xfrm>
          <a:prstGeom prst="rect">
            <a:avLst/>
          </a:prstGeom>
          <a:solidFill>
            <a:srgbClr val="F5C518"/>
          </a:solidFill>
          <a:ln w="18288">
            <a:solidFill>
              <a:srgbClr val="000000"/>
            </a:solidFill>
            <a:prstDash val="solid"/>
          </a:ln>
        </p:spPr>
      </p:sp>
      <p:sp>
        <p:nvSpPr>
          <p:cNvPr id="25" name="Text 22"/>
          <p:cNvSpPr/>
          <p:nvPr/>
        </p:nvSpPr>
        <p:spPr>
          <a:xfrm>
            <a:off x="2498090" y="4283075"/>
            <a:ext cx="858520" cy="340360"/>
          </a:xfrm>
          <a:prstGeom prst="rect">
            <a:avLst/>
          </a:prstGeom>
          <a:noFill/>
        </p:spPr>
        <p:txBody>
          <a:bodyPr wrap="none" lIns="170053" tIns="85090" rIns="170053" bIns="85090" rtlCol="0" anchor="t">
            <a:noAutofit/>
          </a:bodyPr>
          <a:lstStyle/>
          <a:p>
            <a:pPr marL="0" indent="0" algn="l">
              <a:buNone/>
            </a:pPr>
            <a:r>
              <a:rPr lang="en-US" sz="1400" b="1" dirty="0">
                <a:solidFill>
                  <a:srgbClr val="000000"/>
                </a:solidFill>
                <a:latin typeface="Inter Black" pitchFamily="34" charset="0"/>
                <a:ea typeface="Inter Black" pitchFamily="34" charset="-122"/>
                <a:cs typeface="Inter Black" pitchFamily="34" charset="-120"/>
              </a:rPr>
              <a:t>ATT&amp;CK</a:t>
            </a:r>
            <a:endParaRPr lang="en-US" sz="1400" dirty="0"/>
          </a:p>
        </p:txBody>
      </p:sp>
      <p:sp>
        <p:nvSpPr>
          <p:cNvPr id="26" name="Shape 23"/>
          <p:cNvSpPr/>
          <p:nvPr/>
        </p:nvSpPr>
        <p:spPr>
          <a:xfrm>
            <a:off x="5857875" y="3928745"/>
            <a:ext cx="2857500" cy="694339"/>
          </a:xfrm>
          <a:prstGeom prst="rect">
            <a:avLst/>
          </a:prstGeom>
          <a:solidFill>
            <a:srgbClr val="F5C518"/>
          </a:solidFill>
        </p:spPr>
      </p:sp>
      <p:sp>
        <p:nvSpPr>
          <p:cNvPr id="27" name="Text 24"/>
          <p:cNvSpPr/>
          <p:nvPr/>
        </p:nvSpPr>
        <p:spPr>
          <a:xfrm>
            <a:off x="5857875" y="3928745"/>
            <a:ext cx="2857500" cy="694339"/>
          </a:xfrm>
          <a:prstGeom prst="rect">
            <a:avLst/>
          </a:prstGeom>
          <a:noFill/>
        </p:spPr>
        <p:txBody>
          <a:bodyPr wrap="square" lIns="170053" tIns="127508" rIns="170053" bIns="127508" rtlCol="0" anchor="t">
            <a:spAutoFit/>
          </a:bodyPr>
          <a:lstStyle/>
          <a:p>
            <a:pPr marL="0" indent="0" algn="l">
              <a:lnSpc>
                <a:spcPct val="112000"/>
              </a:lnSpc>
              <a:buNone/>
            </a:pPr>
            <a:r>
              <a:rPr lang="en-US" sz="800" b="1" dirty="0">
                <a:solidFill>
                  <a:srgbClr val="000000"/>
                </a:solidFill>
                <a:latin typeface="Inter Bold" pitchFamily="34" charset="0"/>
                <a:ea typeface="Inter Bold" pitchFamily="34" charset="-122"/>
                <a:cs typeface="Inter Bold" pitchFamily="34" charset="-120"/>
              </a:rPr>
              <a:t>CAPEC is the criminology textbook explaining how bank robberies work. ATT&amp;CK is the detective's case file from a specific robbery.</a:t>
            </a:r>
            <a:endParaRPr lang="en-US" sz="800" dirty="0"/>
          </a:p>
        </p:txBody>
      </p:sp>
      <p:sp>
        <p:nvSpPr>
          <p:cNvPr id="28" name="Oval 27"/>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6985" y="0"/>
            <a:ext cx="9144000" cy="5463406"/>
          </a:xfrm>
          <a:prstGeom prst="rect">
            <a:avLst/>
          </a:prstGeom>
        </p:spPr>
      </p:pic>
      <p:sp>
        <p:nvSpPr>
          <p:cNvPr id="4" name="Shape 0"/>
          <p:cNvSpPr/>
          <p:nvPr/>
        </p:nvSpPr>
        <p:spPr>
          <a:xfrm>
            <a:off x="428625" y="285750"/>
            <a:ext cx="571500" cy="228600"/>
          </a:xfrm>
          <a:prstGeom prst="roundRect">
            <a:avLst/>
          </a:prstGeom>
          <a:solidFill>
            <a:srgbClr val="FACC15"/>
          </a:solidFill>
        </p:spPr>
      </p:sp>
      <p:sp>
        <p:nvSpPr>
          <p:cNvPr id="5" name="Text 1"/>
          <p:cNvSpPr/>
          <p:nvPr/>
        </p:nvSpPr>
        <p:spPr>
          <a:xfrm>
            <a:off x="1107281" y="322362"/>
            <a:ext cx="1310878" cy="155377"/>
          </a:xfrm>
          <a:prstGeom prst="rect">
            <a:avLst/>
          </a:prstGeom>
          <a:noFill/>
        </p:spPr>
        <p:txBody>
          <a:bodyPr wrap="square" lIns="0" tIns="0" rIns="0" bIns="0" rtlCol="0" anchor="t">
            <a:spAutoFit/>
          </a:bodyPr>
          <a:lstStyle/>
          <a:p>
            <a:pPr marL="0" indent="0" algn="l">
              <a:buNone/>
            </a:pPr>
            <a:r>
              <a:rPr lang="en-US" sz="950" dirty="0">
                <a:solidFill>
                  <a:srgbClr val="000000"/>
                </a:solidFill>
                <a:latin typeface="Inter" pitchFamily="34" charset="0"/>
                <a:ea typeface="Inter" pitchFamily="34" charset="-122"/>
                <a:cs typeface="Inter" pitchFamily="34" charset="-120"/>
              </a:rPr>
              <a:t>Hidden Investigations</a:t>
            </a:r>
            <a:endParaRPr lang="en-US" sz="950" dirty="0"/>
          </a:p>
        </p:txBody>
      </p:sp>
      <p:sp>
        <p:nvSpPr>
          <p:cNvPr id="6" name="Text 2"/>
          <p:cNvSpPr/>
          <p:nvPr/>
        </p:nvSpPr>
        <p:spPr>
          <a:xfrm>
            <a:off x="428625" y="857250"/>
            <a:ext cx="7143750" cy="414338"/>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ExtraBold" pitchFamily="34" charset="0"/>
                <a:ea typeface="Inter ExtraBold" pitchFamily="34" charset="-122"/>
                <a:cs typeface="Inter ExtraBold" pitchFamily="34" charset="-120"/>
              </a:rPr>
              <a:t>CVE/CWE → Vulnerability Layer</a:t>
            </a:r>
            <a:endParaRPr lang="en-US" sz="2450" dirty="0"/>
          </a:p>
        </p:txBody>
      </p:sp>
      <p:sp>
        <p:nvSpPr>
          <p:cNvPr id="7" name="Text 3"/>
          <p:cNvSpPr/>
          <p:nvPr/>
        </p:nvSpPr>
        <p:spPr>
          <a:xfrm>
            <a:off x="428625" y="1485900"/>
            <a:ext cx="3052307" cy="207169"/>
          </a:xfrm>
          <a:prstGeom prst="rect">
            <a:avLst/>
          </a:prstGeom>
          <a:noFill/>
        </p:spPr>
        <p:txBody>
          <a:bodyPr wrap="square" lIns="0" tIns="0" rIns="0" bIns="0" rtlCol="0" anchor="t">
            <a:spAutoFit/>
          </a:bodyPr>
          <a:lstStyle/>
          <a:p>
            <a:pPr marL="0" indent="0" algn="l">
              <a:buNone/>
            </a:pPr>
            <a:r>
              <a:rPr lang="en-US" sz="1200" dirty="0">
                <a:solidFill>
                  <a:srgbClr val="333333"/>
                </a:solidFill>
                <a:latin typeface="Inter SemiBold" pitchFamily="34" charset="0"/>
                <a:ea typeface="Inter SemiBold" pitchFamily="34" charset="-122"/>
                <a:cs typeface="Inter SemiBold" pitchFamily="34" charset="-120"/>
              </a:rPr>
              <a:t>What is it?</a:t>
            </a:r>
            <a:endParaRPr lang="en-US" sz="1200" dirty="0"/>
          </a:p>
        </p:txBody>
      </p:sp>
      <p:sp>
        <p:nvSpPr>
          <p:cNvPr id="8" name="Text 4"/>
          <p:cNvSpPr/>
          <p:nvPr/>
        </p:nvSpPr>
        <p:spPr>
          <a:xfrm>
            <a:off x="428625" y="1800225"/>
            <a:ext cx="3052307" cy="617153"/>
          </a:xfrm>
          <a:prstGeom prst="rect">
            <a:avLst/>
          </a:prstGeom>
          <a:noFill/>
        </p:spPr>
        <p:txBody>
          <a:bodyPr wrap="square" lIns="0" tIns="0" rIns="0" bIns="0" rtlCol="0" anchor="t">
            <a:spAutoFit/>
          </a:bodyPr>
          <a:lstStyle/>
          <a:p>
            <a:pPr marL="0" indent="0" algn="l">
              <a:lnSpc>
                <a:spcPct val="128000"/>
              </a:lnSpc>
              <a:buNone/>
            </a:pPr>
            <a:r>
              <a:rPr lang="en-US" sz="900" b="1" dirty="0">
                <a:solidFill>
                  <a:srgbClr val="333333"/>
                </a:solidFill>
                <a:latin typeface="Inter ExtraBold" pitchFamily="34" charset="0"/>
                <a:ea typeface="Inter ExtraBold" pitchFamily="34" charset="-122"/>
                <a:cs typeface="Inter ExtraBold" pitchFamily="34" charset="-120"/>
              </a:rPr>
              <a:t>CWE</a:t>
            </a:r>
            <a:r>
              <a:rPr lang="en-US" sz="950" dirty="0">
                <a:solidFill>
                  <a:srgbClr val="333333"/>
                </a:solidFill>
                <a:latin typeface="Inter" pitchFamily="34" charset="0"/>
                <a:ea typeface="Inter" pitchFamily="34" charset="-122"/>
                <a:cs typeface="Inter" pitchFamily="34" charset="-120"/>
              </a:rPr>
              <a:t> identifies types of flaws. </a:t>
            </a:r>
            <a:r>
              <a:rPr lang="en-US" sz="900" b="1" dirty="0">
                <a:solidFill>
                  <a:srgbClr val="333333"/>
                </a:solidFill>
                <a:latin typeface="Inter ExtraBold" pitchFamily="34" charset="0"/>
                <a:ea typeface="Inter ExtraBold" pitchFamily="34" charset="-122"/>
                <a:cs typeface="Inter ExtraBold" pitchFamily="34" charset="-120"/>
              </a:rPr>
              <a:t>CVE</a:t>
            </a:r>
            <a:r>
              <a:rPr lang="en-US" sz="950" dirty="0">
                <a:solidFill>
                  <a:srgbClr val="333333"/>
                </a:solidFill>
                <a:latin typeface="Inter" pitchFamily="34" charset="0"/>
                <a:ea typeface="Inter" pitchFamily="34" charset="-122"/>
                <a:cs typeface="Inter" pitchFamily="34" charset="-120"/>
              </a:rPr>
              <a:t> identifies </a:t>
            </a:r>
            <a:r>
              <a:rPr lang="en-US" sz="950" dirty="0">
                <a:solidFill>
                  <a:srgbClr val="333333"/>
                </a:solidFill>
                <a:latin typeface="Inter" pitchFamily="34" charset="0"/>
                <a:ea typeface="Inter" pitchFamily="34" charset="-122"/>
                <a:cs typeface="Inter" pitchFamily="34" charset="-120"/>
              </a:rPr>
              <a:t>specific instances. </a:t>
            </a:r>
            <a:r>
              <a:rPr lang="en-US" sz="900" b="1" dirty="0">
                <a:solidFill>
                  <a:srgbClr val="333333"/>
                </a:solidFill>
                <a:latin typeface="Inter ExtraBold" pitchFamily="34" charset="0"/>
                <a:ea typeface="Inter ExtraBold" pitchFamily="34" charset="-122"/>
                <a:cs typeface="Inter ExtraBold" pitchFamily="34" charset="-120"/>
              </a:rPr>
              <a:t>ATT&amp;CK</a:t>
            </a:r>
            <a:r>
              <a:rPr lang="en-US" sz="950" dirty="0">
                <a:solidFill>
                  <a:srgbClr val="333333"/>
                </a:solidFill>
                <a:latin typeface="Inter" pitchFamily="34" charset="0"/>
                <a:ea typeface="Inter" pitchFamily="34" charset="-122"/>
                <a:cs typeface="Inter" pitchFamily="34" charset="-120"/>
              </a:rPr>
              <a:t> identifies the exploit </a:t>
            </a:r>
            <a:r>
              <a:rPr lang="en-US" sz="950" dirty="0">
                <a:solidFill>
                  <a:srgbClr val="333333"/>
                </a:solidFill>
                <a:latin typeface="Inter" pitchFamily="34" charset="0"/>
                <a:ea typeface="Inter" pitchFamily="34" charset="-122"/>
                <a:cs typeface="Inter" pitchFamily="34" charset="-120"/>
              </a:rPr>
              <a:t>method.</a:t>
            </a:r>
            <a:endParaRPr lang="en-US" sz="900" dirty="0"/>
          </a:p>
        </p:txBody>
      </p:sp>
      <p:sp>
        <p:nvSpPr>
          <p:cNvPr id="9" name="Text 5"/>
          <p:cNvSpPr/>
          <p:nvPr/>
        </p:nvSpPr>
        <p:spPr>
          <a:xfrm>
            <a:off x="428625" y="2595972"/>
            <a:ext cx="3052307" cy="207169"/>
          </a:xfrm>
          <a:prstGeom prst="rect">
            <a:avLst/>
          </a:prstGeom>
          <a:noFill/>
        </p:spPr>
        <p:txBody>
          <a:bodyPr wrap="square" lIns="0" tIns="0" rIns="0" bIns="0" rtlCol="0" anchor="t">
            <a:spAutoFit/>
          </a:bodyPr>
          <a:lstStyle/>
          <a:p>
            <a:pPr marL="0" indent="0" algn="l">
              <a:buNone/>
            </a:pPr>
            <a:r>
              <a:rPr lang="en-US" sz="1200" dirty="0">
                <a:solidFill>
                  <a:srgbClr val="333333"/>
                </a:solidFill>
                <a:latin typeface="Inter SemiBold" pitchFamily="34" charset="0"/>
                <a:ea typeface="Inter SemiBold" pitchFamily="34" charset="-122"/>
                <a:cs typeface="Inter SemiBold" pitchFamily="34" charset="-120"/>
              </a:rPr>
              <a:t>Real-World Example</a:t>
            </a:r>
            <a:endParaRPr lang="en-US" sz="1200" dirty="0"/>
          </a:p>
        </p:txBody>
      </p:sp>
      <p:sp>
        <p:nvSpPr>
          <p:cNvPr id="10" name="Text 6"/>
          <p:cNvSpPr/>
          <p:nvPr/>
        </p:nvSpPr>
        <p:spPr>
          <a:xfrm>
            <a:off x="428625" y="2910297"/>
            <a:ext cx="3052307" cy="617153"/>
          </a:xfrm>
          <a:prstGeom prst="rect">
            <a:avLst/>
          </a:prstGeom>
          <a:noFill/>
        </p:spPr>
        <p:txBody>
          <a:bodyPr wrap="square" lIns="0" tIns="0" rIns="0" bIns="0" rtlCol="0" anchor="t">
            <a:spAutoFit/>
          </a:bodyPr>
          <a:lstStyle/>
          <a:p>
            <a:pPr marL="0" indent="0" algn="l">
              <a:lnSpc>
                <a:spcPct val="128000"/>
              </a:lnSpc>
              <a:buNone/>
            </a:pPr>
            <a:r>
              <a:rPr lang="en-US" sz="900" b="1" dirty="0">
                <a:solidFill>
                  <a:srgbClr val="333333"/>
                </a:solidFill>
                <a:latin typeface="Inter ExtraBold" pitchFamily="34" charset="0"/>
                <a:ea typeface="Inter ExtraBold" pitchFamily="34" charset="-122"/>
                <a:cs typeface="Inter ExtraBold" pitchFamily="34" charset="-120"/>
              </a:rPr>
              <a:t>Equifax Breach (2017)</a:t>
            </a:r>
            <a:r>
              <a:rPr lang="en-US" sz="950" dirty="0">
                <a:solidFill>
                  <a:srgbClr val="333333"/>
                </a:solidFill>
                <a:latin typeface="Inter" pitchFamily="34" charset="0"/>
                <a:ea typeface="Inter" pitchFamily="34" charset="-122"/>
                <a:cs typeface="Inter" pitchFamily="34" charset="-120"/>
              </a:rPr>
              <a:t>: A specific vulnerability in </a:t>
            </a:r>
            <a:r>
              <a:rPr lang="en-US" sz="950" dirty="0">
                <a:solidFill>
                  <a:srgbClr val="333333"/>
                </a:solidFill>
                <a:latin typeface="Inter" pitchFamily="34" charset="0"/>
                <a:ea typeface="Inter" pitchFamily="34" charset="-122"/>
                <a:cs typeface="Inter" pitchFamily="34" charset="-120"/>
              </a:rPr>
              <a:t>Apache Struts enabled attackers to compromise </a:t>
            </a:r>
            <a:r>
              <a:rPr lang="en-US" sz="950" dirty="0">
                <a:solidFill>
                  <a:srgbClr val="333333"/>
                </a:solidFill>
                <a:latin typeface="Inter" pitchFamily="34" charset="0"/>
                <a:ea typeface="Inter" pitchFamily="34" charset="-122"/>
                <a:cs typeface="Inter" pitchFamily="34" charset="-120"/>
              </a:rPr>
              <a:t>millions of records.</a:t>
            </a:r>
            <a:endParaRPr lang="en-US" sz="900" dirty="0"/>
          </a:p>
        </p:txBody>
      </p:sp>
      <p:sp>
        <p:nvSpPr>
          <p:cNvPr id="11" name="Shape 7"/>
          <p:cNvSpPr/>
          <p:nvPr/>
        </p:nvSpPr>
        <p:spPr>
          <a:xfrm>
            <a:off x="428625" y="3813200"/>
            <a:ext cx="922186" cy="1084064"/>
          </a:xfrm>
          <a:prstGeom prst="rect">
            <a:avLst/>
          </a:prstGeom>
          <a:solidFill>
            <a:srgbClr val="FFFFFF"/>
          </a:solidFill>
          <a:ln w="9144">
            <a:solidFill>
              <a:srgbClr val="E5E7EB"/>
            </a:solidFill>
            <a:prstDash val="solid"/>
          </a:ln>
        </p:spPr>
      </p:sp>
      <p:pic>
        <p:nvPicPr>
          <p:cNvPr id="12" name="Image 1" descr="preencoded.png"/>
          <p:cNvPicPr>
            <a:picLocks noChangeAspect="1"/>
          </p:cNvPicPr>
          <p:nvPr/>
        </p:nvPicPr>
        <p:blipFill>
          <a:blip r:embed="rId2"/>
          <a:stretch>
            <a:fillRect/>
          </a:stretch>
        </p:blipFill>
        <p:spPr>
          <a:xfrm>
            <a:off x="775404" y="3956075"/>
            <a:ext cx="228600" cy="228600"/>
          </a:xfrm>
          <a:prstGeom prst="rect">
            <a:avLst/>
          </a:prstGeom>
        </p:spPr>
      </p:pic>
      <p:sp>
        <p:nvSpPr>
          <p:cNvPr id="13" name="Text 8"/>
          <p:cNvSpPr/>
          <p:nvPr/>
        </p:nvSpPr>
        <p:spPr>
          <a:xfrm>
            <a:off x="571500" y="4291831"/>
            <a:ext cx="636436" cy="137517"/>
          </a:xfrm>
          <a:prstGeom prst="rect">
            <a:avLst/>
          </a:prstGeom>
          <a:noFill/>
        </p:spPr>
        <p:txBody>
          <a:bodyPr wrap="none" lIns="0" tIns="0" rIns="0" bIns="0" rtlCol="0" anchor="t">
            <a:spAutoFit/>
          </a:bodyPr>
          <a:lstStyle/>
          <a:p>
            <a:pPr marL="0" indent="0" algn="ctr">
              <a:buNone/>
            </a:pPr>
            <a:r>
              <a:rPr lang="en-US" sz="800" b="1" dirty="0">
                <a:solidFill>
                  <a:srgbClr val="333333"/>
                </a:solidFill>
                <a:latin typeface="Inter ExtraBold" pitchFamily="34" charset="0"/>
                <a:ea typeface="Inter ExtraBold" pitchFamily="34" charset="-122"/>
                <a:cs typeface="Inter ExtraBold" pitchFamily="34" charset="-120"/>
              </a:rPr>
              <a:t>CWE</a:t>
            </a:r>
            <a:endParaRPr lang="en-US" sz="800" dirty="0"/>
          </a:p>
        </p:txBody>
      </p:sp>
      <p:sp>
        <p:nvSpPr>
          <p:cNvPr id="14" name="Text 9"/>
          <p:cNvSpPr/>
          <p:nvPr/>
        </p:nvSpPr>
        <p:spPr>
          <a:xfrm>
            <a:off x="638780" y="4465067"/>
            <a:ext cx="501848" cy="137517"/>
          </a:xfrm>
          <a:prstGeom prst="rect">
            <a:avLst/>
          </a:prstGeom>
          <a:noFill/>
        </p:spPr>
        <p:txBody>
          <a:bodyPr wrap="none" lIns="0" tIns="0" rIns="0" bIns="0" rtlCol="0" anchor="t">
            <a:spAutoFit/>
          </a:bodyPr>
          <a:lstStyle/>
          <a:p>
            <a:pPr marL="0" indent="0" algn="ctr">
              <a:buNone/>
            </a:pPr>
            <a:r>
              <a:rPr lang="en-US" sz="850" dirty="0">
                <a:solidFill>
                  <a:srgbClr val="333333"/>
                </a:solidFill>
                <a:latin typeface="Inter" pitchFamily="34" charset="0"/>
                <a:ea typeface="Inter" pitchFamily="34" charset="-122"/>
                <a:cs typeface="Inter" pitchFamily="34" charset="-120"/>
              </a:rPr>
              <a:t>Bad Lock</a:t>
            </a:r>
            <a:endParaRPr lang="en-US" sz="850" dirty="0"/>
          </a:p>
        </p:txBody>
      </p:sp>
      <p:sp>
        <p:nvSpPr>
          <p:cNvPr id="15" name="Text 10"/>
          <p:cNvSpPr/>
          <p:nvPr/>
        </p:nvSpPr>
        <p:spPr>
          <a:xfrm>
            <a:off x="702180" y="4602584"/>
            <a:ext cx="375047" cy="137517"/>
          </a:xfrm>
          <a:prstGeom prst="rect">
            <a:avLst/>
          </a:prstGeom>
          <a:noFill/>
        </p:spPr>
        <p:txBody>
          <a:bodyPr wrap="none" lIns="0" tIns="0" rIns="0" bIns="0" rtlCol="0" anchor="t">
            <a:spAutoFit/>
          </a:bodyPr>
          <a:lstStyle/>
          <a:p>
            <a:pPr marL="0" indent="0" algn="ctr">
              <a:buNone/>
            </a:pPr>
            <a:r>
              <a:rPr lang="en-US" sz="850" dirty="0">
                <a:solidFill>
                  <a:srgbClr val="333333"/>
                </a:solidFill>
                <a:latin typeface="Inter" pitchFamily="34" charset="0"/>
                <a:ea typeface="Inter" pitchFamily="34" charset="-122"/>
                <a:cs typeface="Inter" pitchFamily="34" charset="-120"/>
              </a:rPr>
              <a:t>Design</a:t>
            </a:r>
            <a:endParaRPr lang="en-US" sz="850" dirty="0"/>
          </a:p>
        </p:txBody>
      </p:sp>
      <p:sp>
        <p:nvSpPr>
          <p:cNvPr id="16" name="Shape 11"/>
          <p:cNvSpPr/>
          <p:nvPr/>
        </p:nvSpPr>
        <p:spPr>
          <a:xfrm>
            <a:off x="1493686" y="3813200"/>
            <a:ext cx="922186" cy="1084064"/>
          </a:xfrm>
          <a:prstGeom prst="rect">
            <a:avLst/>
          </a:prstGeom>
          <a:solidFill>
            <a:srgbClr val="FFFFFF"/>
          </a:solidFill>
          <a:ln w="9144">
            <a:solidFill>
              <a:srgbClr val="E5E7EB"/>
            </a:solidFill>
            <a:prstDash val="solid"/>
          </a:ln>
        </p:spPr>
      </p:sp>
      <p:pic>
        <p:nvPicPr>
          <p:cNvPr id="17" name="Image 2" descr="preencoded.png"/>
          <p:cNvPicPr>
            <a:picLocks noChangeAspect="1"/>
          </p:cNvPicPr>
          <p:nvPr/>
        </p:nvPicPr>
        <p:blipFill>
          <a:blip r:embed="rId3"/>
          <a:stretch>
            <a:fillRect/>
          </a:stretch>
        </p:blipFill>
        <p:spPr>
          <a:xfrm>
            <a:off x="1826177" y="3956075"/>
            <a:ext cx="257175" cy="228600"/>
          </a:xfrm>
          <a:prstGeom prst="rect">
            <a:avLst/>
          </a:prstGeom>
        </p:spPr>
      </p:pic>
      <p:sp>
        <p:nvSpPr>
          <p:cNvPr id="18" name="Text 12"/>
          <p:cNvSpPr/>
          <p:nvPr/>
        </p:nvSpPr>
        <p:spPr>
          <a:xfrm>
            <a:off x="1636561" y="4291831"/>
            <a:ext cx="636436" cy="137517"/>
          </a:xfrm>
          <a:prstGeom prst="rect">
            <a:avLst/>
          </a:prstGeom>
          <a:noFill/>
        </p:spPr>
        <p:txBody>
          <a:bodyPr wrap="none" lIns="0" tIns="0" rIns="0" bIns="0" rtlCol="0" anchor="t">
            <a:spAutoFit/>
          </a:bodyPr>
          <a:lstStyle/>
          <a:p>
            <a:pPr marL="0" indent="0" algn="ctr">
              <a:buNone/>
            </a:pPr>
            <a:r>
              <a:rPr lang="en-US" sz="800" b="1" dirty="0">
                <a:solidFill>
                  <a:srgbClr val="333333"/>
                </a:solidFill>
                <a:latin typeface="Inter ExtraBold" pitchFamily="34" charset="0"/>
                <a:ea typeface="Inter ExtraBold" pitchFamily="34" charset="-122"/>
                <a:cs typeface="Inter ExtraBold" pitchFamily="34" charset="-120"/>
              </a:rPr>
              <a:t>CVE</a:t>
            </a:r>
            <a:endParaRPr lang="en-US" sz="800" dirty="0"/>
          </a:p>
        </p:txBody>
      </p:sp>
      <p:sp>
        <p:nvSpPr>
          <p:cNvPr id="19" name="Text 13"/>
          <p:cNvSpPr/>
          <p:nvPr/>
        </p:nvSpPr>
        <p:spPr>
          <a:xfrm>
            <a:off x="1765455" y="4465067"/>
            <a:ext cx="378619" cy="137517"/>
          </a:xfrm>
          <a:prstGeom prst="rect">
            <a:avLst/>
          </a:prstGeom>
          <a:noFill/>
        </p:spPr>
        <p:txBody>
          <a:bodyPr wrap="none" lIns="0" tIns="0" rIns="0" bIns="0" rtlCol="0" anchor="t">
            <a:spAutoFit/>
          </a:bodyPr>
          <a:lstStyle/>
          <a:p>
            <a:pPr marL="0" indent="0" algn="ctr">
              <a:buNone/>
            </a:pPr>
            <a:r>
              <a:rPr lang="en-US" sz="850" dirty="0">
                <a:solidFill>
                  <a:srgbClr val="333333"/>
                </a:solidFill>
                <a:latin typeface="Inter" pitchFamily="34" charset="0"/>
                <a:ea typeface="Inter" pitchFamily="34" charset="-122"/>
                <a:cs typeface="Inter" pitchFamily="34" charset="-120"/>
              </a:rPr>
              <a:t>Broken</a:t>
            </a:r>
            <a:endParaRPr lang="en-US" sz="850" dirty="0"/>
          </a:p>
        </p:txBody>
      </p:sp>
      <p:sp>
        <p:nvSpPr>
          <p:cNvPr id="20" name="Text 14"/>
          <p:cNvSpPr/>
          <p:nvPr/>
        </p:nvSpPr>
        <p:spPr>
          <a:xfrm>
            <a:off x="1824391" y="4602584"/>
            <a:ext cx="260747" cy="137517"/>
          </a:xfrm>
          <a:prstGeom prst="rect">
            <a:avLst/>
          </a:prstGeom>
          <a:noFill/>
        </p:spPr>
        <p:txBody>
          <a:bodyPr wrap="none" lIns="0" tIns="0" rIns="0" bIns="0" rtlCol="0" anchor="t">
            <a:spAutoFit/>
          </a:bodyPr>
          <a:lstStyle/>
          <a:p>
            <a:pPr marL="0" indent="0" algn="ctr">
              <a:buNone/>
            </a:pPr>
            <a:r>
              <a:rPr lang="en-US" sz="850" dirty="0">
                <a:solidFill>
                  <a:srgbClr val="333333"/>
                </a:solidFill>
                <a:latin typeface="Inter" pitchFamily="34" charset="0"/>
                <a:ea typeface="Inter" pitchFamily="34" charset="-122"/>
                <a:cs typeface="Inter" pitchFamily="34" charset="-120"/>
              </a:rPr>
              <a:t>Lock</a:t>
            </a:r>
            <a:endParaRPr lang="en-US" sz="850" dirty="0"/>
          </a:p>
        </p:txBody>
      </p:sp>
      <p:sp>
        <p:nvSpPr>
          <p:cNvPr id="21" name="Shape 15"/>
          <p:cNvSpPr/>
          <p:nvPr/>
        </p:nvSpPr>
        <p:spPr>
          <a:xfrm>
            <a:off x="2558746" y="3813200"/>
            <a:ext cx="922186" cy="1084064"/>
          </a:xfrm>
          <a:prstGeom prst="rect">
            <a:avLst/>
          </a:prstGeom>
          <a:solidFill>
            <a:srgbClr val="FFFFFF"/>
          </a:solidFill>
          <a:ln w="9144">
            <a:solidFill>
              <a:srgbClr val="E5E7EB"/>
            </a:solidFill>
            <a:prstDash val="solid"/>
          </a:ln>
        </p:spPr>
      </p:sp>
      <p:pic>
        <p:nvPicPr>
          <p:cNvPr id="22" name="Image 3" descr="preencoded.png"/>
          <p:cNvPicPr>
            <a:picLocks noChangeAspect="1"/>
          </p:cNvPicPr>
          <p:nvPr/>
        </p:nvPicPr>
        <p:blipFill>
          <a:blip r:embed="rId4"/>
          <a:stretch>
            <a:fillRect/>
          </a:stretch>
        </p:blipFill>
        <p:spPr>
          <a:xfrm>
            <a:off x="2891237" y="3956075"/>
            <a:ext cx="257175" cy="228600"/>
          </a:xfrm>
          <a:prstGeom prst="rect">
            <a:avLst/>
          </a:prstGeom>
        </p:spPr>
      </p:pic>
      <p:sp>
        <p:nvSpPr>
          <p:cNvPr id="23" name="Text 16"/>
          <p:cNvSpPr/>
          <p:nvPr/>
        </p:nvSpPr>
        <p:spPr>
          <a:xfrm>
            <a:off x="2701621" y="4291831"/>
            <a:ext cx="636436" cy="137517"/>
          </a:xfrm>
          <a:prstGeom prst="rect">
            <a:avLst/>
          </a:prstGeom>
          <a:noFill/>
        </p:spPr>
        <p:txBody>
          <a:bodyPr wrap="none" lIns="0" tIns="0" rIns="0" bIns="0" rtlCol="0" anchor="t">
            <a:spAutoFit/>
          </a:bodyPr>
          <a:lstStyle/>
          <a:p>
            <a:pPr marL="0" indent="0" algn="ctr">
              <a:buNone/>
            </a:pPr>
            <a:r>
              <a:rPr lang="en-US" sz="800" b="1" dirty="0">
                <a:solidFill>
                  <a:srgbClr val="333333"/>
                </a:solidFill>
                <a:latin typeface="Inter ExtraBold" pitchFamily="34" charset="0"/>
                <a:ea typeface="Inter ExtraBold" pitchFamily="34" charset="-122"/>
                <a:cs typeface="Inter ExtraBold" pitchFamily="34" charset="-120"/>
              </a:rPr>
              <a:t>ATT&amp;CK</a:t>
            </a:r>
            <a:endParaRPr lang="en-US" sz="800" dirty="0"/>
          </a:p>
        </p:txBody>
      </p:sp>
      <p:sp>
        <p:nvSpPr>
          <p:cNvPr id="24" name="Text 17"/>
          <p:cNvSpPr/>
          <p:nvPr/>
        </p:nvSpPr>
        <p:spPr>
          <a:xfrm>
            <a:off x="2825158" y="4465067"/>
            <a:ext cx="389334" cy="137517"/>
          </a:xfrm>
          <a:prstGeom prst="rect">
            <a:avLst/>
          </a:prstGeom>
          <a:noFill/>
        </p:spPr>
        <p:txBody>
          <a:bodyPr wrap="none" lIns="0" tIns="0" rIns="0" bIns="0" rtlCol="0" anchor="t">
            <a:spAutoFit/>
          </a:bodyPr>
          <a:lstStyle/>
          <a:p>
            <a:pPr marL="0" indent="0" algn="ctr">
              <a:buNone/>
            </a:pPr>
            <a:r>
              <a:rPr lang="en-US" sz="850" dirty="0">
                <a:solidFill>
                  <a:srgbClr val="333333"/>
                </a:solidFill>
                <a:latin typeface="Inter" pitchFamily="34" charset="0"/>
                <a:ea typeface="Inter" pitchFamily="34" charset="-122"/>
                <a:cs typeface="Inter" pitchFamily="34" charset="-120"/>
              </a:rPr>
              <a:t>Burglar</a:t>
            </a:r>
            <a:endParaRPr lang="en-US" sz="850" dirty="0"/>
          </a:p>
        </p:txBody>
      </p:sp>
      <p:sp>
        <p:nvSpPr>
          <p:cNvPr id="25" name="Text 18"/>
          <p:cNvSpPr/>
          <p:nvPr/>
        </p:nvSpPr>
        <p:spPr>
          <a:xfrm>
            <a:off x="2878736" y="4602584"/>
            <a:ext cx="282178" cy="137517"/>
          </a:xfrm>
          <a:prstGeom prst="rect">
            <a:avLst/>
          </a:prstGeom>
          <a:noFill/>
        </p:spPr>
        <p:txBody>
          <a:bodyPr wrap="none" lIns="0" tIns="0" rIns="0" bIns="0" rtlCol="0" anchor="t">
            <a:spAutoFit/>
          </a:bodyPr>
          <a:lstStyle/>
          <a:p>
            <a:pPr marL="0" indent="0" algn="ctr">
              <a:buNone/>
            </a:pPr>
            <a:r>
              <a:rPr lang="en-US" sz="850" dirty="0">
                <a:solidFill>
                  <a:srgbClr val="333333"/>
                </a:solidFill>
                <a:latin typeface="Inter" pitchFamily="34" charset="0"/>
                <a:ea typeface="Inter" pitchFamily="34" charset="-122"/>
                <a:cs typeface="Inter" pitchFamily="34" charset="-120"/>
              </a:rPr>
              <a:t>Entry</a:t>
            </a:r>
            <a:endParaRPr lang="en-US" sz="850" dirty="0"/>
          </a:p>
        </p:txBody>
      </p:sp>
      <p:sp>
        <p:nvSpPr>
          <p:cNvPr id="26" name="Shape 19"/>
          <p:cNvSpPr/>
          <p:nvPr/>
        </p:nvSpPr>
        <p:spPr>
          <a:xfrm>
            <a:off x="3909557" y="1485900"/>
            <a:ext cx="3662818" cy="596503"/>
          </a:xfrm>
          <a:prstGeom prst="rect">
            <a:avLst/>
          </a:prstGeom>
          <a:solidFill>
            <a:srgbClr val="F9FAFB"/>
          </a:solidFill>
        </p:spPr>
      </p:sp>
      <p:sp>
        <p:nvSpPr>
          <p:cNvPr id="27" name="Text 20"/>
          <p:cNvSpPr/>
          <p:nvPr/>
        </p:nvSpPr>
        <p:spPr>
          <a:xfrm>
            <a:off x="4052432" y="1723430"/>
            <a:ext cx="714375" cy="121444"/>
          </a:xfrm>
          <a:prstGeom prst="rect">
            <a:avLst/>
          </a:prstGeom>
          <a:noFill/>
        </p:spPr>
        <p:txBody>
          <a:bodyPr wrap="none" lIns="0" tIns="0" rIns="0" bIns="0" rtlCol="0" anchor="t">
            <a:spAutoFit/>
          </a:bodyPr>
          <a:lstStyle/>
          <a:p>
            <a:pPr marL="0" indent="0" algn="l">
              <a:buNone/>
            </a:pPr>
            <a:r>
              <a:rPr lang="en-US" sz="700" b="1" dirty="0">
                <a:solidFill>
                  <a:srgbClr val="000000"/>
                </a:solidFill>
                <a:latin typeface="Inter ExtraBold" pitchFamily="34" charset="0"/>
                <a:ea typeface="Inter ExtraBold" pitchFamily="34" charset="-122"/>
                <a:cs typeface="Inter ExtraBold" pitchFamily="34" charset="-120"/>
              </a:rPr>
              <a:t>WEAKNESS</a:t>
            </a:r>
            <a:endParaRPr lang="en-US" sz="700" dirty="0"/>
          </a:p>
        </p:txBody>
      </p:sp>
      <p:sp>
        <p:nvSpPr>
          <p:cNvPr id="28" name="Text 21"/>
          <p:cNvSpPr/>
          <p:nvPr/>
        </p:nvSpPr>
        <p:spPr>
          <a:xfrm>
            <a:off x="4909682" y="1628775"/>
            <a:ext cx="2519818" cy="173236"/>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Inter ExtraBold" pitchFamily="34" charset="0"/>
                <a:ea typeface="Inter ExtraBold" pitchFamily="34" charset="-122"/>
                <a:cs typeface="Inter ExtraBold" pitchFamily="34" charset="-120"/>
              </a:rPr>
              <a:t>CWE-20</a:t>
            </a:r>
            <a:endParaRPr lang="en-US" sz="1000" dirty="0"/>
          </a:p>
        </p:txBody>
      </p:sp>
      <p:sp>
        <p:nvSpPr>
          <p:cNvPr id="29" name="Text 22"/>
          <p:cNvSpPr/>
          <p:nvPr/>
        </p:nvSpPr>
        <p:spPr>
          <a:xfrm>
            <a:off x="4909682" y="1802011"/>
            <a:ext cx="1355527" cy="137517"/>
          </a:xfrm>
          <a:prstGeom prst="rect">
            <a:avLst/>
          </a:prstGeom>
          <a:noFill/>
        </p:spPr>
        <p:txBody>
          <a:bodyPr wrap="square" lIns="0" tIns="0" rIns="0" bIns="0" rtlCol="0" anchor="t">
            <a:spAutoFit/>
          </a:bodyPr>
          <a:lstStyle/>
          <a:p>
            <a:pPr marL="0" indent="0" algn="l">
              <a:buNone/>
            </a:pPr>
            <a:r>
              <a:rPr lang="en-US" sz="850" dirty="0">
                <a:solidFill>
                  <a:srgbClr val="666666"/>
                </a:solidFill>
                <a:latin typeface="Inter" pitchFamily="34" charset="0"/>
                <a:ea typeface="Inter" pitchFamily="34" charset="-122"/>
                <a:cs typeface="Inter" pitchFamily="34" charset="-120"/>
              </a:rPr>
              <a:t>Improper Input Validation</a:t>
            </a:r>
            <a:endParaRPr lang="en-US" sz="850" dirty="0"/>
          </a:p>
        </p:txBody>
      </p:sp>
      <p:pic>
        <p:nvPicPr>
          <p:cNvPr id="30" name="Image 4" descr="preencoded.png"/>
          <p:cNvPicPr>
            <a:picLocks noChangeAspect="1"/>
          </p:cNvPicPr>
          <p:nvPr/>
        </p:nvPicPr>
        <p:blipFill>
          <a:blip r:embed="rId5"/>
          <a:stretch>
            <a:fillRect/>
          </a:stretch>
        </p:blipFill>
        <p:spPr>
          <a:xfrm>
            <a:off x="5698089" y="2200275"/>
            <a:ext cx="85725" cy="114300"/>
          </a:xfrm>
          <a:prstGeom prst="rect">
            <a:avLst/>
          </a:prstGeom>
        </p:spPr>
      </p:pic>
      <p:sp>
        <p:nvSpPr>
          <p:cNvPr id="31" name="Shape 23"/>
          <p:cNvSpPr/>
          <p:nvPr/>
        </p:nvSpPr>
        <p:spPr>
          <a:xfrm>
            <a:off x="3909557" y="2434233"/>
            <a:ext cx="3662818" cy="596503"/>
          </a:xfrm>
          <a:prstGeom prst="rect">
            <a:avLst/>
          </a:prstGeom>
          <a:solidFill>
            <a:srgbClr val="F9FAFB"/>
          </a:solidFill>
        </p:spPr>
      </p:sp>
      <p:sp>
        <p:nvSpPr>
          <p:cNvPr id="32" name="Text 24"/>
          <p:cNvSpPr/>
          <p:nvPr/>
        </p:nvSpPr>
        <p:spPr>
          <a:xfrm>
            <a:off x="4052432" y="2671763"/>
            <a:ext cx="714375" cy="121444"/>
          </a:xfrm>
          <a:prstGeom prst="rect">
            <a:avLst/>
          </a:prstGeom>
          <a:noFill/>
        </p:spPr>
        <p:txBody>
          <a:bodyPr wrap="none" lIns="0" tIns="0" rIns="0" bIns="0" rtlCol="0" anchor="t">
            <a:spAutoFit/>
          </a:bodyPr>
          <a:lstStyle/>
          <a:p>
            <a:pPr marL="0" indent="0" algn="l">
              <a:buNone/>
            </a:pPr>
            <a:r>
              <a:rPr lang="en-US" sz="700" b="1" dirty="0">
                <a:solidFill>
                  <a:srgbClr val="000000"/>
                </a:solidFill>
                <a:latin typeface="Inter ExtraBold" pitchFamily="34" charset="0"/>
                <a:ea typeface="Inter ExtraBold" pitchFamily="34" charset="-122"/>
                <a:cs typeface="Inter ExtraBold" pitchFamily="34" charset="-120"/>
              </a:rPr>
              <a:t>EXPOSURE</a:t>
            </a:r>
            <a:endParaRPr lang="en-US" sz="700" dirty="0"/>
          </a:p>
        </p:txBody>
      </p:sp>
      <p:sp>
        <p:nvSpPr>
          <p:cNvPr id="33" name="Text 25"/>
          <p:cNvSpPr/>
          <p:nvPr/>
        </p:nvSpPr>
        <p:spPr>
          <a:xfrm>
            <a:off x="4909682" y="2577108"/>
            <a:ext cx="2519818" cy="173236"/>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Inter ExtraBold" pitchFamily="34" charset="0"/>
                <a:ea typeface="Inter ExtraBold" pitchFamily="34" charset="-122"/>
                <a:cs typeface="Inter ExtraBold" pitchFamily="34" charset="-120"/>
              </a:rPr>
              <a:t>CVE-2017-5638</a:t>
            </a:r>
            <a:endParaRPr lang="en-US" sz="1000" dirty="0"/>
          </a:p>
        </p:txBody>
      </p:sp>
      <p:sp>
        <p:nvSpPr>
          <p:cNvPr id="34" name="Text 26"/>
          <p:cNvSpPr/>
          <p:nvPr/>
        </p:nvSpPr>
        <p:spPr>
          <a:xfrm>
            <a:off x="4909682" y="2750344"/>
            <a:ext cx="1471613" cy="137517"/>
          </a:xfrm>
          <a:prstGeom prst="rect">
            <a:avLst/>
          </a:prstGeom>
          <a:noFill/>
        </p:spPr>
        <p:txBody>
          <a:bodyPr wrap="square" lIns="0" tIns="0" rIns="0" bIns="0" rtlCol="0" anchor="t">
            <a:spAutoFit/>
          </a:bodyPr>
          <a:lstStyle/>
          <a:p>
            <a:pPr marL="0" indent="0" algn="l">
              <a:buNone/>
            </a:pPr>
            <a:r>
              <a:rPr lang="en-US" sz="850" dirty="0">
                <a:solidFill>
                  <a:srgbClr val="666666"/>
                </a:solidFill>
                <a:latin typeface="Inter" pitchFamily="34" charset="0"/>
                <a:ea typeface="Inter" pitchFamily="34" charset="-122"/>
                <a:cs typeface="Inter" pitchFamily="34" charset="-120"/>
              </a:rPr>
              <a:t>Apache Struts Vulnerability</a:t>
            </a:r>
            <a:endParaRPr lang="en-US" sz="850" dirty="0"/>
          </a:p>
        </p:txBody>
      </p:sp>
      <p:pic>
        <p:nvPicPr>
          <p:cNvPr id="35" name="Image 5" descr="preencoded.png"/>
          <p:cNvPicPr>
            <a:picLocks noChangeAspect="1"/>
          </p:cNvPicPr>
          <p:nvPr/>
        </p:nvPicPr>
        <p:blipFill>
          <a:blip r:embed="rId6"/>
          <a:stretch>
            <a:fillRect/>
          </a:stretch>
        </p:blipFill>
        <p:spPr>
          <a:xfrm>
            <a:off x="5698089" y="3148608"/>
            <a:ext cx="85725" cy="114300"/>
          </a:xfrm>
          <a:prstGeom prst="rect">
            <a:avLst/>
          </a:prstGeom>
        </p:spPr>
      </p:pic>
      <p:sp>
        <p:nvSpPr>
          <p:cNvPr id="36" name="Shape 27"/>
          <p:cNvSpPr/>
          <p:nvPr/>
        </p:nvSpPr>
        <p:spPr>
          <a:xfrm>
            <a:off x="3909557" y="3382566"/>
            <a:ext cx="3662818" cy="596503"/>
          </a:xfrm>
          <a:prstGeom prst="rect">
            <a:avLst/>
          </a:prstGeom>
          <a:solidFill>
            <a:srgbClr val="F9FAFB"/>
          </a:solidFill>
        </p:spPr>
      </p:sp>
      <p:sp>
        <p:nvSpPr>
          <p:cNvPr id="37" name="Text 28"/>
          <p:cNvSpPr/>
          <p:nvPr/>
        </p:nvSpPr>
        <p:spPr>
          <a:xfrm>
            <a:off x="4052432" y="3620095"/>
            <a:ext cx="714375" cy="121444"/>
          </a:xfrm>
          <a:prstGeom prst="rect">
            <a:avLst/>
          </a:prstGeom>
          <a:noFill/>
        </p:spPr>
        <p:txBody>
          <a:bodyPr wrap="none" lIns="0" tIns="0" rIns="0" bIns="0" rtlCol="0" anchor="t">
            <a:spAutoFit/>
          </a:bodyPr>
          <a:lstStyle/>
          <a:p>
            <a:pPr marL="0" indent="0" algn="l">
              <a:buNone/>
            </a:pPr>
            <a:r>
              <a:rPr lang="en-US" sz="700" b="1" dirty="0">
                <a:solidFill>
                  <a:srgbClr val="000000"/>
                </a:solidFill>
                <a:latin typeface="Inter ExtraBold" pitchFamily="34" charset="0"/>
                <a:ea typeface="Inter ExtraBold" pitchFamily="34" charset="-122"/>
                <a:cs typeface="Inter ExtraBold" pitchFamily="34" charset="-120"/>
              </a:rPr>
              <a:t>TECHNIQUE</a:t>
            </a:r>
            <a:endParaRPr lang="en-US" sz="700" dirty="0"/>
          </a:p>
        </p:txBody>
      </p:sp>
      <p:sp>
        <p:nvSpPr>
          <p:cNvPr id="38" name="Text 29"/>
          <p:cNvSpPr/>
          <p:nvPr/>
        </p:nvSpPr>
        <p:spPr>
          <a:xfrm>
            <a:off x="4909682" y="3525441"/>
            <a:ext cx="2519818" cy="173236"/>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Inter ExtraBold" pitchFamily="34" charset="0"/>
                <a:ea typeface="Inter ExtraBold" pitchFamily="34" charset="-122"/>
                <a:cs typeface="Inter ExtraBold" pitchFamily="34" charset="-120"/>
              </a:rPr>
              <a:t>ATT&amp;CK T1190</a:t>
            </a:r>
            <a:endParaRPr lang="en-US" sz="1000" dirty="0"/>
          </a:p>
        </p:txBody>
      </p:sp>
      <p:sp>
        <p:nvSpPr>
          <p:cNvPr id="39" name="Text 30"/>
          <p:cNvSpPr/>
          <p:nvPr/>
        </p:nvSpPr>
        <p:spPr>
          <a:xfrm>
            <a:off x="4909682" y="3698677"/>
            <a:ext cx="1782366" cy="137517"/>
          </a:xfrm>
          <a:prstGeom prst="rect">
            <a:avLst/>
          </a:prstGeom>
          <a:noFill/>
        </p:spPr>
        <p:txBody>
          <a:bodyPr wrap="square" lIns="0" tIns="0" rIns="0" bIns="0" rtlCol="0" anchor="t">
            <a:spAutoFit/>
          </a:bodyPr>
          <a:lstStyle/>
          <a:p>
            <a:pPr marL="0" indent="0" algn="l">
              <a:buNone/>
            </a:pPr>
            <a:r>
              <a:rPr lang="en-US" sz="850" dirty="0">
                <a:solidFill>
                  <a:srgbClr val="666666"/>
                </a:solidFill>
                <a:latin typeface="Inter" pitchFamily="34" charset="0"/>
                <a:ea typeface="Inter" pitchFamily="34" charset="-122"/>
                <a:cs typeface="Inter" pitchFamily="34" charset="-120"/>
              </a:rPr>
              <a:t>Exploit Public-Facing Application</a:t>
            </a:r>
            <a:endParaRPr lang="en-US" sz="850" dirty="0"/>
          </a:p>
        </p:txBody>
      </p:sp>
      <p:sp>
        <p:nvSpPr>
          <p:cNvPr id="40" name="Shape 31"/>
          <p:cNvSpPr/>
          <p:nvPr/>
        </p:nvSpPr>
        <p:spPr>
          <a:xfrm>
            <a:off x="4611370" y="4602306"/>
            <a:ext cx="4104084" cy="280392"/>
          </a:xfrm>
          <a:prstGeom prst="rect">
            <a:avLst/>
          </a:prstGeom>
          <a:solidFill>
            <a:srgbClr val="000000"/>
          </a:solidFill>
        </p:spPr>
      </p:sp>
      <p:sp>
        <p:nvSpPr>
          <p:cNvPr id="41" name="Text 32"/>
          <p:cNvSpPr/>
          <p:nvPr/>
        </p:nvSpPr>
        <p:spPr>
          <a:xfrm>
            <a:off x="4611370" y="4611196"/>
            <a:ext cx="4104084" cy="280392"/>
          </a:xfrm>
          <a:prstGeom prst="rect">
            <a:avLst/>
          </a:prstGeom>
          <a:noFill/>
        </p:spPr>
        <p:txBody>
          <a:bodyPr wrap="square" lIns="170053" tIns="85090" rIns="170053" bIns="85090" rtlCol="0" anchor="t">
            <a:spAutoFit/>
          </a:bodyPr>
          <a:lstStyle/>
          <a:p>
            <a:pPr marL="0" indent="0" algn="l">
              <a:buNone/>
            </a:pPr>
            <a:r>
              <a:rPr lang="en-US" sz="800" dirty="0">
                <a:solidFill>
                  <a:srgbClr val="FFFFFF"/>
                </a:solidFill>
                <a:latin typeface="Inter SemiBold" pitchFamily="34" charset="0"/>
                <a:ea typeface="Inter SemiBold" pitchFamily="34" charset="-122"/>
                <a:cs typeface="Inter SemiBold" pitchFamily="34" charset="-120"/>
              </a:rPr>
              <a:t>Key Takeaway: CWE causes CVEs; CVEs enable ATT&amp;CK techniques.</a:t>
            </a:r>
            <a:endParaRPr lang="en-US" sz="800" dirty="0"/>
          </a:p>
        </p:txBody>
      </p:sp>
      <p:sp>
        <p:nvSpPr>
          <p:cNvPr id="42" name="Text 33"/>
          <p:cNvSpPr/>
          <p:nvPr/>
        </p:nvSpPr>
        <p:spPr>
          <a:xfrm>
            <a:off x="428625" y="5007992"/>
            <a:ext cx="8286750" cy="155377"/>
          </a:xfrm>
          <a:prstGeom prst="rect">
            <a:avLst/>
          </a:prstGeom>
          <a:noFill/>
        </p:spPr>
        <p:txBody>
          <a:bodyPr wrap="square" lIns="0" tIns="0" rIns="0" bIns="0" rtlCol="0" anchor="t">
            <a:spAutoFit/>
          </a:bodyPr>
          <a:lstStyle/>
          <a:p>
            <a:pPr marL="0" indent="0" algn="ctr">
              <a:buNone/>
            </a:pPr>
            <a:r>
              <a:rPr lang="en-US" sz="950" dirty="0">
                <a:solidFill>
                  <a:srgbClr val="000000"/>
                </a:solidFill>
                <a:latin typeface="Inter" pitchFamily="34" charset="0"/>
                <a:ea typeface="Inter" pitchFamily="34" charset="-122"/>
                <a:cs typeface="Inter" pitchFamily="34" charset="-120"/>
              </a:rPr>
              <a:t>Hiddeninvestigations.Net</a:t>
            </a:r>
            <a:endParaRPr lang="en-US" sz="950" dirty="0"/>
          </a:p>
        </p:txBody>
      </p:sp>
      <p:sp>
        <p:nvSpPr>
          <p:cNvPr id="2" name="Text 3"/>
          <p:cNvSpPr/>
          <p:nvPr/>
        </p:nvSpPr>
        <p:spPr>
          <a:xfrm>
            <a:off x="8270677" y="401835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12</a:t>
            </a:r>
            <a:endParaRPr lang="en-US" sz="3300" dirty="0"/>
          </a:p>
        </p:txBody>
      </p:sp>
      <p:sp>
        <p:nvSpPr>
          <p:cNvPr id="43" name="Oval 42"/>
          <p:cNvSpPr/>
          <p:nvPr/>
        </p:nvSpPr>
        <p:spPr>
          <a:xfrm>
            <a:off x="842645"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6985" y="2794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326041" y="4018359"/>
            <a:ext cx="433705"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13</a:t>
            </a:r>
            <a:endParaRPr lang="en-US" sz="3300" dirty="0"/>
          </a:p>
        </p:txBody>
      </p:sp>
      <p:sp>
        <p:nvSpPr>
          <p:cNvPr id="7" name="Text 4"/>
          <p:cNvSpPr/>
          <p:nvPr/>
        </p:nvSpPr>
        <p:spPr>
          <a:xfrm>
            <a:off x="428625" y="714375"/>
            <a:ext cx="8286750" cy="364331"/>
          </a:xfrm>
          <a:prstGeom prst="rect">
            <a:avLst/>
          </a:prstGeom>
          <a:noFill/>
        </p:spPr>
        <p:txBody>
          <a:bodyPr wrap="square" lIns="0" tIns="0" rIns="0" bIns="0" rtlCol="0" anchor="t">
            <a:spAutoFit/>
          </a:bodyPr>
          <a:lstStyle/>
          <a:p>
            <a:pPr marL="0" indent="0" algn="l">
              <a:buNone/>
            </a:pPr>
            <a:r>
              <a:rPr lang="en-US" sz="2100" b="1" dirty="0">
                <a:solidFill>
                  <a:srgbClr val="000000"/>
                </a:solidFill>
                <a:latin typeface="Inter Black" pitchFamily="34" charset="0"/>
                <a:ea typeface="Inter Black" pitchFamily="34" charset="-122"/>
                <a:cs typeface="Inter Black" pitchFamily="34" charset="-120"/>
              </a:rPr>
              <a:t>Every Lock Has a Weakness. CVE Gives It a Name.</a:t>
            </a:r>
            <a:endParaRPr lang="en-US" sz="2100" dirty="0"/>
          </a:p>
        </p:txBody>
      </p:sp>
      <p:sp>
        <p:nvSpPr>
          <p:cNvPr id="8" name="Shape 5"/>
          <p:cNvSpPr/>
          <p:nvPr/>
        </p:nvSpPr>
        <p:spPr>
          <a:xfrm>
            <a:off x="428625" y="1293019"/>
            <a:ext cx="3929063" cy="1064419"/>
          </a:xfrm>
          <a:prstGeom prst="rect">
            <a:avLst/>
          </a:prstGeom>
          <a:solidFill>
            <a:srgbClr val="FFFFFF"/>
          </a:solidFill>
        </p:spPr>
      </p:sp>
      <p:sp>
        <p:nvSpPr>
          <p:cNvPr id="9" name="Shape 6"/>
          <p:cNvSpPr/>
          <p:nvPr/>
        </p:nvSpPr>
        <p:spPr>
          <a:xfrm>
            <a:off x="428625" y="1293019"/>
            <a:ext cx="3929063" cy="42863"/>
          </a:xfrm>
          <a:prstGeom prst="rect">
            <a:avLst/>
          </a:prstGeom>
          <a:solidFill>
            <a:srgbClr val="F5C518"/>
          </a:solidFill>
        </p:spPr>
      </p:sp>
      <p:sp>
        <p:nvSpPr>
          <p:cNvPr id="10" name="Shape 7"/>
          <p:cNvSpPr/>
          <p:nvPr/>
        </p:nvSpPr>
        <p:spPr>
          <a:xfrm>
            <a:off x="4350544" y="1293019"/>
            <a:ext cx="7144" cy="1064419"/>
          </a:xfrm>
          <a:prstGeom prst="rect">
            <a:avLst/>
          </a:prstGeom>
          <a:solidFill>
            <a:srgbClr val="EEEEEE"/>
          </a:solidFill>
        </p:spPr>
      </p:sp>
      <p:sp>
        <p:nvSpPr>
          <p:cNvPr id="11" name="Shape 8"/>
          <p:cNvSpPr/>
          <p:nvPr/>
        </p:nvSpPr>
        <p:spPr>
          <a:xfrm>
            <a:off x="428625" y="2350294"/>
            <a:ext cx="3929063" cy="7144"/>
          </a:xfrm>
          <a:prstGeom prst="rect">
            <a:avLst/>
          </a:prstGeom>
          <a:solidFill>
            <a:srgbClr val="EEEEEE"/>
          </a:solidFill>
        </p:spPr>
      </p:sp>
      <p:sp>
        <p:nvSpPr>
          <p:cNvPr id="12" name="Shape 9"/>
          <p:cNvSpPr/>
          <p:nvPr/>
        </p:nvSpPr>
        <p:spPr>
          <a:xfrm>
            <a:off x="428625" y="1293019"/>
            <a:ext cx="7144" cy="1064419"/>
          </a:xfrm>
          <a:prstGeom prst="rect">
            <a:avLst/>
          </a:prstGeom>
          <a:solidFill>
            <a:srgbClr val="EEEEEE"/>
          </a:solidFill>
        </p:spPr>
      </p:sp>
      <p:sp>
        <p:nvSpPr>
          <p:cNvPr id="13" name="Text 10"/>
          <p:cNvSpPr/>
          <p:nvPr/>
        </p:nvSpPr>
        <p:spPr>
          <a:xfrm>
            <a:off x="571500" y="1435894"/>
            <a:ext cx="3636169" cy="207169"/>
          </a:xfrm>
          <a:prstGeom prst="rect">
            <a:avLst/>
          </a:prstGeom>
          <a:noFill/>
        </p:spPr>
        <p:txBody>
          <a:bodyPr wrap="square" lIns="0" tIns="0" rIns="0" bIns="0" rtlCol="0" anchor="t">
            <a:spAutoFit/>
          </a:bodyPr>
          <a:lstStyle/>
          <a:p>
            <a:pPr marL="0" indent="0" algn="l">
              <a:buNone/>
            </a:pPr>
            <a:r>
              <a:rPr lang="en-US" sz="1200" b="1" dirty="0">
                <a:solidFill>
                  <a:srgbClr val="000000"/>
                </a:solidFill>
                <a:latin typeface="Inter Black" pitchFamily="34" charset="0"/>
                <a:ea typeface="Inter Black" pitchFamily="34" charset="-122"/>
                <a:cs typeface="Inter Black" pitchFamily="34" charset="-120"/>
              </a:rPr>
              <a:t>CVE</a:t>
            </a:r>
            <a:endParaRPr lang="en-US" sz="1200" dirty="0"/>
          </a:p>
        </p:txBody>
      </p:sp>
      <p:sp>
        <p:nvSpPr>
          <p:cNvPr id="14" name="Text 11"/>
          <p:cNvSpPr/>
          <p:nvPr/>
        </p:nvSpPr>
        <p:spPr>
          <a:xfrm>
            <a:off x="571500" y="1714500"/>
            <a:ext cx="3636169" cy="300038"/>
          </a:xfrm>
          <a:prstGeom prst="rect">
            <a:avLst/>
          </a:prstGeom>
          <a:noFill/>
        </p:spPr>
        <p:txBody>
          <a:bodyPr wrap="square" lIns="0" tIns="0" rIns="0" bIns="0" rtlCol="0" anchor="t">
            <a:spAutoFit/>
          </a:bodyPr>
          <a:lstStyle/>
          <a:p>
            <a:pPr marL="0" indent="0" algn="l">
              <a:lnSpc>
                <a:spcPct val="120000"/>
              </a:lnSpc>
              <a:buNone/>
            </a:pPr>
            <a:r>
              <a:rPr lang="en-US" sz="700" b="1" dirty="0">
                <a:solidFill>
                  <a:srgbClr val="333333"/>
                </a:solidFill>
                <a:latin typeface="Inter Bold" pitchFamily="34" charset="0"/>
                <a:ea typeface="Inter Bold" pitchFamily="34" charset="-122"/>
                <a:cs typeface="Inter Bold" pitchFamily="34" charset="-120"/>
              </a:rPr>
              <a:t>Common Vulnerabilities and Exposures.</a:t>
            </a:r>
            <a:r>
              <a:rPr lang="en-US" sz="750" dirty="0">
                <a:solidFill>
                  <a:srgbClr val="333333"/>
                </a:solidFill>
                <a:latin typeface="Inter" pitchFamily="34" charset="0"/>
                <a:ea typeface="Inter" pitchFamily="34" charset="-122"/>
                <a:cs typeface="Inter" pitchFamily="34" charset="-120"/>
              </a:rPr>
              <a:t> A universal dictionary of known, </a:t>
            </a:r>
            <a:r>
              <a:rPr lang="en-US" sz="750" dirty="0">
                <a:solidFill>
                  <a:srgbClr val="333333"/>
                </a:solidFill>
                <a:latin typeface="Inter" pitchFamily="34" charset="0"/>
                <a:ea typeface="Inter" pitchFamily="34" charset="-122"/>
                <a:cs typeface="Inter" pitchFamily="34" charset="-120"/>
              </a:rPr>
              <a:t>confirmed security flaws in specific products. Format: CVE-YEAR-NUMBER.</a:t>
            </a:r>
            <a:endParaRPr lang="en-US" sz="750" dirty="0"/>
          </a:p>
        </p:txBody>
      </p:sp>
      <p:sp>
        <p:nvSpPr>
          <p:cNvPr id="15" name="Shape 12"/>
          <p:cNvSpPr/>
          <p:nvPr/>
        </p:nvSpPr>
        <p:spPr>
          <a:xfrm>
            <a:off x="4429125" y="1752005"/>
            <a:ext cx="285750" cy="14288"/>
          </a:xfrm>
          <a:prstGeom prst="rect">
            <a:avLst/>
          </a:prstGeom>
          <a:solidFill>
            <a:srgbClr val="000000"/>
          </a:solidFill>
        </p:spPr>
      </p:sp>
      <p:sp>
        <p:nvSpPr>
          <p:cNvPr id="16" name="Text 13"/>
          <p:cNvSpPr/>
          <p:nvPr/>
        </p:nvSpPr>
        <p:spPr>
          <a:xfrm>
            <a:off x="3983534" y="1802011"/>
            <a:ext cx="1176933" cy="96441"/>
          </a:xfrm>
          <a:prstGeom prst="rect">
            <a:avLst/>
          </a:prstGeom>
          <a:noFill/>
        </p:spPr>
        <p:txBody>
          <a:bodyPr wrap="none" lIns="0" tIns="0" rIns="0" bIns="0" rtlCol="0" anchor="t">
            <a:spAutoFit/>
          </a:bodyPr>
          <a:lstStyle/>
          <a:p>
            <a:pPr marL="0" indent="0" algn="l">
              <a:buNone/>
            </a:pPr>
            <a:r>
              <a:rPr lang="en-US" sz="550" b="1" i="1" dirty="0">
                <a:solidFill>
                  <a:srgbClr val="666666"/>
                </a:solidFill>
                <a:latin typeface="Inter Bold" pitchFamily="34" charset="0"/>
                <a:ea typeface="Inter Bold" pitchFamily="34" charset="-122"/>
                <a:cs typeface="Inter Bold" pitchFamily="34" charset="-120"/>
              </a:rPr>
              <a:t>root cause → specific instance</a:t>
            </a:r>
            <a:endParaRPr lang="en-US" sz="550" dirty="0"/>
          </a:p>
        </p:txBody>
      </p:sp>
      <p:sp>
        <p:nvSpPr>
          <p:cNvPr id="17" name="Shape 14"/>
          <p:cNvSpPr/>
          <p:nvPr/>
        </p:nvSpPr>
        <p:spPr>
          <a:xfrm>
            <a:off x="4779169" y="1293019"/>
            <a:ext cx="3936206" cy="1064419"/>
          </a:xfrm>
          <a:prstGeom prst="rect">
            <a:avLst/>
          </a:prstGeom>
          <a:solidFill>
            <a:srgbClr val="FFFFFF"/>
          </a:solidFill>
        </p:spPr>
      </p:sp>
      <p:sp>
        <p:nvSpPr>
          <p:cNvPr id="18" name="Shape 15"/>
          <p:cNvSpPr/>
          <p:nvPr/>
        </p:nvSpPr>
        <p:spPr>
          <a:xfrm>
            <a:off x="4779169" y="1293019"/>
            <a:ext cx="3936206" cy="42863"/>
          </a:xfrm>
          <a:prstGeom prst="rect">
            <a:avLst/>
          </a:prstGeom>
          <a:solidFill>
            <a:srgbClr val="F5C518"/>
          </a:solidFill>
        </p:spPr>
      </p:sp>
      <p:sp>
        <p:nvSpPr>
          <p:cNvPr id="19" name="Shape 16"/>
          <p:cNvSpPr/>
          <p:nvPr/>
        </p:nvSpPr>
        <p:spPr>
          <a:xfrm>
            <a:off x="8708231" y="1293019"/>
            <a:ext cx="7144" cy="1064419"/>
          </a:xfrm>
          <a:prstGeom prst="rect">
            <a:avLst/>
          </a:prstGeom>
          <a:solidFill>
            <a:srgbClr val="EEEEEE"/>
          </a:solidFill>
        </p:spPr>
      </p:sp>
      <p:sp>
        <p:nvSpPr>
          <p:cNvPr id="20" name="Shape 17"/>
          <p:cNvSpPr/>
          <p:nvPr/>
        </p:nvSpPr>
        <p:spPr>
          <a:xfrm>
            <a:off x="4779169" y="2350294"/>
            <a:ext cx="3936206" cy="7144"/>
          </a:xfrm>
          <a:prstGeom prst="rect">
            <a:avLst/>
          </a:prstGeom>
          <a:solidFill>
            <a:srgbClr val="EEEEEE"/>
          </a:solidFill>
        </p:spPr>
      </p:sp>
      <p:sp>
        <p:nvSpPr>
          <p:cNvPr id="21" name="Shape 18"/>
          <p:cNvSpPr/>
          <p:nvPr/>
        </p:nvSpPr>
        <p:spPr>
          <a:xfrm>
            <a:off x="4779169" y="1293019"/>
            <a:ext cx="7144" cy="1064419"/>
          </a:xfrm>
          <a:prstGeom prst="rect">
            <a:avLst/>
          </a:prstGeom>
          <a:solidFill>
            <a:srgbClr val="EEEEEE"/>
          </a:solidFill>
        </p:spPr>
      </p:sp>
      <p:sp>
        <p:nvSpPr>
          <p:cNvPr id="22" name="Text 19"/>
          <p:cNvSpPr/>
          <p:nvPr/>
        </p:nvSpPr>
        <p:spPr>
          <a:xfrm>
            <a:off x="4929188" y="1435894"/>
            <a:ext cx="3643313" cy="207169"/>
          </a:xfrm>
          <a:prstGeom prst="rect">
            <a:avLst/>
          </a:prstGeom>
          <a:noFill/>
        </p:spPr>
        <p:txBody>
          <a:bodyPr wrap="square" lIns="0" tIns="0" rIns="0" bIns="0" rtlCol="0" anchor="t">
            <a:spAutoFit/>
          </a:bodyPr>
          <a:lstStyle/>
          <a:p>
            <a:pPr marL="0" indent="0" algn="l">
              <a:buNone/>
            </a:pPr>
            <a:r>
              <a:rPr lang="en-US" sz="1200" b="1" dirty="0">
                <a:solidFill>
                  <a:srgbClr val="000000"/>
                </a:solidFill>
                <a:latin typeface="Inter Black" pitchFamily="34" charset="0"/>
                <a:ea typeface="Inter Black" pitchFamily="34" charset="-122"/>
                <a:cs typeface="Inter Black" pitchFamily="34" charset="-120"/>
              </a:rPr>
              <a:t>CWE</a:t>
            </a:r>
            <a:endParaRPr lang="en-US" sz="1200" dirty="0"/>
          </a:p>
        </p:txBody>
      </p:sp>
      <p:sp>
        <p:nvSpPr>
          <p:cNvPr id="23" name="Text 20"/>
          <p:cNvSpPr/>
          <p:nvPr/>
        </p:nvSpPr>
        <p:spPr>
          <a:xfrm>
            <a:off x="4929188" y="1714500"/>
            <a:ext cx="3643313" cy="450056"/>
          </a:xfrm>
          <a:prstGeom prst="rect">
            <a:avLst/>
          </a:prstGeom>
          <a:noFill/>
        </p:spPr>
        <p:txBody>
          <a:bodyPr wrap="square" lIns="0" tIns="0" rIns="0" bIns="0" rtlCol="0" anchor="t">
            <a:spAutoFit/>
          </a:bodyPr>
          <a:lstStyle/>
          <a:p>
            <a:pPr marL="0" indent="0" algn="l">
              <a:lnSpc>
                <a:spcPct val="120000"/>
              </a:lnSpc>
              <a:buNone/>
            </a:pPr>
            <a:r>
              <a:rPr lang="en-US" sz="700" b="1" dirty="0">
                <a:solidFill>
                  <a:srgbClr val="333333"/>
                </a:solidFill>
                <a:latin typeface="Inter Bold" pitchFamily="34" charset="0"/>
                <a:ea typeface="Inter Bold" pitchFamily="34" charset="-122"/>
                <a:cs typeface="Inter Bold" pitchFamily="34" charset="-120"/>
              </a:rPr>
              <a:t>Common Weakness Enumeration.</a:t>
            </a:r>
            <a:r>
              <a:rPr lang="en-US" sz="750" dirty="0">
                <a:solidFill>
                  <a:srgbClr val="333333"/>
                </a:solidFill>
                <a:latin typeface="Inter" pitchFamily="34" charset="0"/>
                <a:ea typeface="Inter" pitchFamily="34" charset="-122"/>
                <a:cs typeface="Inter" pitchFamily="34" charset="-120"/>
              </a:rPr>
              <a:t> Categorizes the fundamental types of </a:t>
            </a:r>
            <a:r>
              <a:rPr lang="en-US" sz="750" dirty="0">
                <a:solidFill>
                  <a:srgbClr val="333333"/>
                </a:solidFill>
                <a:latin typeface="Inter" pitchFamily="34" charset="0"/>
                <a:ea typeface="Inter" pitchFamily="34" charset="-122"/>
                <a:cs typeface="Inter" pitchFamily="34" charset="-120"/>
              </a:rPr>
              <a:t>coding mistakes (e.g., CWE-89 SQL Injection) that cause vulnerabilities to </a:t>
            </a:r>
            <a:r>
              <a:rPr lang="en-US" sz="750" dirty="0">
                <a:solidFill>
                  <a:srgbClr val="333333"/>
                </a:solidFill>
                <a:latin typeface="Inter" pitchFamily="34" charset="0"/>
                <a:ea typeface="Inter" pitchFamily="34" charset="-122"/>
                <a:cs typeface="Inter" pitchFamily="34" charset="-120"/>
              </a:rPr>
              <a:t>exist.</a:t>
            </a:r>
            <a:endParaRPr lang="en-US" sz="750" dirty="0"/>
          </a:p>
        </p:txBody>
      </p:sp>
      <p:sp>
        <p:nvSpPr>
          <p:cNvPr id="24" name="Shape 21"/>
          <p:cNvSpPr/>
          <p:nvPr/>
        </p:nvSpPr>
        <p:spPr>
          <a:xfrm>
            <a:off x="428625" y="2593181"/>
            <a:ext cx="8286750" cy="1210866"/>
          </a:xfrm>
          <a:prstGeom prst="rect">
            <a:avLst/>
          </a:prstGeom>
          <a:solidFill>
            <a:srgbClr val="F9F9F9"/>
          </a:solidFill>
          <a:ln w="9144">
            <a:solidFill>
              <a:srgbClr val="000000"/>
            </a:solidFill>
            <a:prstDash val="solid"/>
          </a:ln>
        </p:spPr>
      </p:sp>
      <p:sp>
        <p:nvSpPr>
          <p:cNvPr id="25" name="Text 22"/>
          <p:cNvSpPr/>
          <p:nvPr/>
        </p:nvSpPr>
        <p:spPr>
          <a:xfrm>
            <a:off x="642938" y="2844105"/>
            <a:ext cx="4991109" cy="173236"/>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Inter Black" pitchFamily="34" charset="0"/>
                <a:ea typeface="Inter Black" pitchFamily="34" charset="-122"/>
                <a:cs typeface="Inter Black" pitchFamily="34" charset="-120"/>
              </a:rPr>
              <a:t>Log4Shell: CVE-2021-44228</a:t>
            </a:r>
            <a:endParaRPr lang="en-US" sz="1000" dirty="0"/>
          </a:p>
        </p:txBody>
      </p:sp>
      <p:sp>
        <p:nvSpPr>
          <p:cNvPr id="26" name="Text 23"/>
          <p:cNvSpPr/>
          <p:nvPr/>
        </p:nvSpPr>
        <p:spPr>
          <a:xfrm>
            <a:off x="642938" y="3088779"/>
            <a:ext cx="4991109" cy="450056"/>
          </a:xfrm>
          <a:prstGeom prst="rect">
            <a:avLst/>
          </a:prstGeom>
          <a:noFill/>
        </p:spPr>
        <p:txBody>
          <a:bodyPr wrap="square" lIns="0" tIns="0" rIns="0" bIns="0" rtlCol="0" anchor="t">
            <a:spAutoFit/>
          </a:bodyPr>
          <a:lstStyle/>
          <a:p>
            <a:pPr marL="0" indent="0" algn="l">
              <a:lnSpc>
                <a:spcPct val="120000"/>
              </a:lnSpc>
              <a:buNone/>
            </a:pPr>
            <a:r>
              <a:rPr lang="en-US" sz="750" dirty="0">
                <a:solidFill>
                  <a:srgbClr val="333333"/>
                </a:solidFill>
                <a:latin typeface="Inter" pitchFamily="34" charset="0"/>
                <a:ea typeface="Inter" pitchFamily="34" charset="-122"/>
                <a:cs typeface="Inter" pitchFamily="34" charset="-120"/>
              </a:rPr>
              <a:t>A flaw in the Log4j Java library embedded in millions of systems (Apple, Tesla, AWS). One text string allowed attackers to execute remote code without credentials. Over 100 million systems were vulnerable worldwide.</a:t>
            </a:r>
            <a:endParaRPr lang="en-US" sz="750" dirty="0"/>
          </a:p>
        </p:txBody>
      </p:sp>
      <p:sp>
        <p:nvSpPr>
          <p:cNvPr id="27" name="Text 24"/>
          <p:cNvSpPr/>
          <p:nvPr/>
        </p:nvSpPr>
        <p:spPr>
          <a:xfrm>
            <a:off x="6005522" y="2771775"/>
            <a:ext cx="2495541" cy="207169"/>
          </a:xfrm>
          <a:prstGeom prst="rect">
            <a:avLst/>
          </a:prstGeom>
          <a:noFill/>
        </p:spPr>
        <p:txBody>
          <a:bodyPr wrap="square" lIns="0" tIns="0" rIns="0" bIns="0" rtlCol="0" anchor="t">
            <a:spAutoFit/>
          </a:bodyPr>
          <a:lstStyle/>
          <a:p>
            <a:pPr marL="0" indent="0" algn="l">
              <a:buNone/>
            </a:pPr>
            <a:r>
              <a:rPr lang="en-US" sz="1200" b="1" dirty="0">
                <a:solidFill>
                  <a:srgbClr val="F5C518"/>
                </a:solidFill>
                <a:latin typeface="Inter Black" pitchFamily="34" charset="0"/>
                <a:ea typeface="Inter Black" pitchFamily="34" charset="-122"/>
                <a:cs typeface="Inter Black" pitchFamily="34" charset="-120"/>
              </a:rPr>
              <a:t>2 HOURS</a:t>
            </a:r>
            <a:endParaRPr lang="en-US" sz="1200" dirty="0"/>
          </a:p>
        </p:txBody>
      </p:sp>
      <p:sp>
        <p:nvSpPr>
          <p:cNvPr id="28" name="Text 25"/>
          <p:cNvSpPr/>
          <p:nvPr/>
        </p:nvSpPr>
        <p:spPr>
          <a:xfrm>
            <a:off x="6005522" y="2978944"/>
            <a:ext cx="2495541" cy="105370"/>
          </a:xfrm>
          <a:prstGeom prst="rect">
            <a:avLst/>
          </a:prstGeom>
          <a:noFill/>
        </p:spPr>
        <p:txBody>
          <a:bodyPr wrap="square" lIns="0" tIns="0" rIns="0" bIns="0" rtlCol="0" anchor="t">
            <a:spAutoFit/>
          </a:bodyPr>
          <a:lstStyle/>
          <a:p>
            <a:pPr marL="0" indent="0" algn="l">
              <a:buNone/>
            </a:pPr>
            <a:r>
              <a:rPr lang="en-US" sz="600" b="1" dirty="0">
                <a:solidFill>
                  <a:srgbClr val="000000"/>
                </a:solidFill>
                <a:latin typeface="Inter Bold" pitchFamily="34" charset="0"/>
                <a:ea typeface="Inter Bold" pitchFamily="34" charset="-122"/>
                <a:cs typeface="Inter Bold" pitchFamily="34" charset="-120"/>
              </a:rPr>
              <a:t>FIRST EXPLOIT AFTER DISCLOSURE</a:t>
            </a:r>
            <a:endParaRPr lang="en-US" sz="600" dirty="0"/>
          </a:p>
        </p:txBody>
      </p:sp>
      <p:sp>
        <p:nvSpPr>
          <p:cNvPr id="29" name="Text 26"/>
          <p:cNvSpPr/>
          <p:nvPr/>
        </p:nvSpPr>
        <p:spPr>
          <a:xfrm>
            <a:off x="6005522" y="3191470"/>
            <a:ext cx="2495541" cy="207169"/>
          </a:xfrm>
          <a:prstGeom prst="rect">
            <a:avLst/>
          </a:prstGeom>
          <a:noFill/>
        </p:spPr>
        <p:txBody>
          <a:bodyPr wrap="square" lIns="0" tIns="0" rIns="0" bIns="0" rtlCol="0" anchor="t">
            <a:spAutoFit/>
          </a:bodyPr>
          <a:lstStyle/>
          <a:p>
            <a:pPr marL="0" indent="0" algn="l">
              <a:buNone/>
            </a:pPr>
            <a:r>
              <a:rPr lang="en-US" sz="1200" b="1" dirty="0">
                <a:solidFill>
                  <a:srgbClr val="F5C518"/>
                </a:solidFill>
                <a:latin typeface="Inter Black" pitchFamily="34" charset="0"/>
                <a:ea typeface="Inter Black" pitchFamily="34" charset="-122"/>
                <a:cs typeface="Inter Black" pitchFamily="34" charset="-120"/>
              </a:rPr>
              <a:t>24 HOURS</a:t>
            </a:r>
            <a:endParaRPr lang="en-US" sz="1200" dirty="0"/>
          </a:p>
        </p:txBody>
      </p:sp>
      <p:sp>
        <p:nvSpPr>
          <p:cNvPr id="30" name="Text 27"/>
          <p:cNvSpPr/>
          <p:nvPr/>
        </p:nvSpPr>
        <p:spPr>
          <a:xfrm>
            <a:off x="6005522" y="3398639"/>
            <a:ext cx="2495541" cy="105370"/>
          </a:xfrm>
          <a:prstGeom prst="rect">
            <a:avLst/>
          </a:prstGeom>
          <a:noFill/>
        </p:spPr>
        <p:txBody>
          <a:bodyPr wrap="square" lIns="0" tIns="0" rIns="0" bIns="0" rtlCol="0" anchor="t">
            <a:spAutoFit/>
          </a:bodyPr>
          <a:lstStyle/>
          <a:p>
            <a:pPr marL="0" indent="0" algn="l">
              <a:buNone/>
            </a:pPr>
            <a:r>
              <a:rPr lang="en-US" sz="600" b="1" dirty="0">
                <a:solidFill>
                  <a:srgbClr val="000000"/>
                </a:solidFill>
                <a:latin typeface="Inter Bold" pitchFamily="34" charset="0"/>
                <a:ea typeface="Inter Bold" pitchFamily="34" charset="-122"/>
                <a:cs typeface="Inter Bold" pitchFamily="34" charset="-120"/>
              </a:rPr>
              <a:t>NATION-STATE MASS EXPLOITATION</a:t>
            </a:r>
            <a:endParaRPr lang="en-US" sz="600" dirty="0"/>
          </a:p>
        </p:txBody>
      </p:sp>
      <p:sp>
        <p:nvSpPr>
          <p:cNvPr id="31" name="Text 28"/>
          <p:cNvSpPr/>
          <p:nvPr/>
        </p:nvSpPr>
        <p:spPr>
          <a:xfrm>
            <a:off x="2367260" y="3996928"/>
            <a:ext cx="2237780" cy="121444"/>
          </a:xfrm>
          <a:prstGeom prst="rect">
            <a:avLst/>
          </a:prstGeom>
          <a:noFill/>
        </p:spPr>
        <p:txBody>
          <a:bodyPr wrap="square" lIns="0" tIns="0" rIns="0" bIns="0" rtlCol="0" anchor="t">
            <a:spAutoFit/>
          </a:bodyPr>
          <a:lstStyle/>
          <a:p>
            <a:pPr marL="0" indent="0" algn="l">
              <a:buNone/>
            </a:pPr>
            <a:r>
              <a:rPr lang="en-US" sz="700" b="1" dirty="0">
                <a:solidFill>
                  <a:srgbClr val="000000"/>
                </a:solidFill>
                <a:latin typeface="Inter Bold" pitchFamily="34" charset="0"/>
                <a:ea typeface="Inter Bold" pitchFamily="34" charset="-122"/>
                <a:cs typeface="Inter Bold" pitchFamily="34" charset="-120"/>
              </a:rPr>
              <a:t>CVE-2021-44228 maps to ATT&amp;CK Technique</a:t>
            </a:r>
            <a:endParaRPr lang="en-US" sz="700" dirty="0"/>
          </a:p>
        </p:txBody>
      </p:sp>
      <p:sp>
        <p:nvSpPr>
          <p:cNvPr id="32" name="Shape 29"/>
          <p:cNvSpPr/>
          <p:nvPr/>
        </p:nvSpPr>
        <p:spPr>
          <a:xfrm>
            <a:off x="4712196" y="3968353"/>
            <a:ext cx="2064544" cy="178594"/>
          </a:xfrm>
          <a:prstGeom prst="rect">
            <a:avLst/>
          </a:prstGeom>
          <a:solidFill>
            <a:srgbClr val="F5C518"/>
          </a:solidFill>
        </p:spPr>
      </p:sp>
      <p:sp>
        <p:nvSpPr>
          <p:cNvPr id="33" name="Text 30"/>
          <p:cNvSpPr/>
          <p:nvPr/>
        </p:nvSpPr>
        <p:spPr>
          <a:xfrm>
            <a:off x="4712196" y="3968353"/>
            <a:ext cx="2064544" cy="178594"/>
          </a:xfrm>
          <a:prstGeom prst="rect">
            <a:avLst/>
          </a:prstGeom>
          <a:noFill/>
        </p:spPr>
        <p:txBody>
          <a:bodyPr wrap="square" lIns="85090" tIns="34036" rIns="85090" bIns="34036" rtlCol="0" anchor="t">
            <a:spAutoFit/>
          </a:bodyPr>
          <a:lstStyle/>
          <a:p>
            <a:pPr marL="0" indent="0" algn="l">
              <a:buNone/>
            </a:pPr>
            <a:r>
              <a:rPr lang="en-US" sz="700" b="1" dirty="0">
                <a:solidFill>
                  <a:srgbClr val="000000"/>
                </a:solidFill>
                <a:latin typeface="Inter Bold" pitchFamily="34" charset="0"/>
                <a:ea typeface="Inter Bold" pitchFamily="34" charset="-122"/>
                <a:cs typeface="Inter Bold" pitchFamily="34" charset="-120"/>
              </a:rPr>
              <a:t>T1190 Exploit Public-Facing Application</a:t>
            </a:r>
            <a:endParaRPr lang="en-US" sz="700" dirty="0"/>
          </a:p>
        </p:txBody>
      </p:sp>
      <p:sp>
        <p:nvSpPr>
          <p:cNvPr id="34" name="Oval 33"/>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6985"/>
            <a:ext cx="9144000" cy="5405475"/>
          </a:xfrm>
          <a:prstGeom prst="rect">
            <a:avLst/>
          </a:prstGeom>
        </p:spPr>
      </p:pic>
      <p:sp>
        <p:nvSpPr>
          <p:cNvPr id="4" name="Shape 0"/>
          <p:cNvSpPr/>
          <p:nvPr/>
        </p:nvSpPr>
        <p:spPr>
          <a:xfrm>
            <a:off x="428625" y="285750"/>
            <a:ext cx="571500" cy="228600"/>
          </a:xfrm>
          <a:prstGeom prst="roundRect">
            <a:avLst/>
          </a:prstGeom>
          <a:solidFill>
            <a:srgbClr val="FACC15"/>
          </a:solidFill>
        </p:spPr>
      </p:sp>
      <p:sp>
        <p:nvSpPr>
          <p:cNvPr id="5" name="Text 1"/>
          <p:cNvSpPr/>
          <p:nvPr/>
        </p:nvSpPr>
        <p:spPr>
          <a:xfrm>
            <a:off x="1107281" y="322362"/>
            <a:ext cx="1310878" cy="155377"/>
          </a:xfrm>
          <a:prstGeom prst="rect">
            <a:avLst/>
          </a:prstGeom>
          <a:noFill/>
        </p:spPr>
        <p:txBody>
          <a:bodyPr wrap="square" lIns="0" tIns="0" rIns="0" bIns="0" rtlCol="0" anchor="t">
            <a:spAutoFit/>
          </a:bodyPr>
          <a:lstStyle/>
          <a:p>
            <a:pPr marL="0" indent="0" algn="l">
              <a:buNone/>
            </a:pPr>
            <a:r>
              <a:rPr lang="en-US" sz="950" dirty="0">
                <a:solidFill>
                  <a:srgbClr val="000000"/>
                </a:solidFill>
                <a:latin typeface="Inter" pitchFamily="34" charset="0"/>
                <a:ea typeface="Inter" pitchFamily="34" charset="-122"/>
                <a:cs typeface="Inter" pitchFamily="34" charset="-120"/>
              </a:rPr>
              <a:t>Hidden Investigations</a:t>
            </a:r>
            <a:endParaRPr lang="en-US" sz="950" dirty="0"/>
          </a:p>
        </p:txBody>
      </p:sp>
      <p:sp>
        <p:nvSpPr>
          <p:cNvPr id="6" name="Text 2"/>
          <p:cNvSpPr/>
          <p:nvPr/>
        </p:nvSpPr>
        <p:spPr>
          <a:xfrm>
            <a:off x="428625" y="857250"/>
            <a:ext cx="7143750" cy="828675"/>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ExtraBold" pitchFamily="34" charset="0"/>
                <a:ea typeface="Inter ExtraBold" pitchFamily="34" charset="-122"/>
                <a:cs typeface="Inter ExtraBold" pitchFamily="34" charset="-120"/>
              </a:rPr>
              <a:t>D3FEND → MITRE's Defensive Counterpart</a:t>
            </a:r>
            <a:endParaRPr lang="en-US" sz="2450" dirty="0"/>
          </a:p>
        </p:txBody>
      </p:sp>
      <p:sp>
        <p:nvSpPr>
          <p:cNvPr id="7" name="Text 3"/>
          <p:cNvSpPr/>
          <p:nvPr/>
        </p:nvSpPr>
        <p:spPr>
          <a:xfrm>
            <a:off x="428625" y="1900238"/>
            <a:ext cx="3052307"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What is it?</a:t>
            </a:r>
            <a:endParaRPr lang="en-US" sz="1200" dirty="0"/>
          </a:p>
        </p:txBody>
      </p:sp>
      <p:sp>
        <p:nvSpPr>
          <p:cNvPr id="8" name="Text 4"/>
          <p:cNvSpPr/>
          <p:nvPr/>
        </p:nvSpPr>
        <p:spPr>
          <a:xfrm>
            <a:off x="428625" y="2214563"/>
            <a:ext cx="3052307" cy="617153"/>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MITRE D3FEND is a knowledge graph of </a:t>
            </a:r>
            <a:r>
              <a:rPr lang="en-US" sz="900" b="1" dirty="0">
                <a:solidFill>
                  <a:srgbClr val="333333"/>
                </a:solidFill>
                <a:latin typeface="Inter ExtraBold" pitchFamily="34" charset="0"/>
                <a:ea typeface="Inter ExtraBold" pitchFamily="34" charset="-122"/>
                <a:cs typeface="Inter ExtraBold" pitchFamily="34" charset="-120"/>
              </a:rPr>
              <a:t>countermeasure techniques</a:t>
            </a:r>
            <a:r>
              <a:rPr lang="en-US" sz="950" dirty="0">
                <a:solidFill>
                  <a:srgbClr val="333333"/>
                </a:solidFill>
                <a:latin typeface="Inter" pitchFamily="34" charset="0"/>
                <a:ea typeface="Inter" pitchFamily="34" charset="-122"/>
                <a:cs typeface="Inter" pitchFamily="34" charset="-120"/>
              </a:rPr>
              <a:t>. It serves as the </a:t>
            </a:r>
            <a:r>
              <a:rPr lang="en-US" sz="950" dirty="0">
                <a:solidFill>
                  <a:srgbClr val="333333"/>
                </a:solidFill>
                <a:latin typeface="Inter" pitchFamily="34" charset="0"/>
                <a:ea typeface="Inter" pitchFamily="34" charset="-122"/>
                <a:cs typeface="Inter" pitchFamily="34" charset="-120"/>
              </a:rPr>
              <a:t>defensive mirror to ATT&amp;CK.</a:t>
            </a:r>
            <a:endParaRPr lang="en-US" sz="950" dirty="0"/>
          </a:p>
        </p:txBody>
      </p:sp>
      <p:sp>
        <p:nvSpPr>
          <p:cNvPr id="9" name="Text 5"/>
          <p:cNvSpPr/>
          <p:nvPr/>
        </p:nvSpPr>
        <p:spPr>
          <a:xfrm>
            <a:off x="428625" y="2917441"/>
            <a:ext cx="3052307"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Why does it matter?</a:t>
            </a:r>
            <a:endParaRPr lang="en-US" sz="1200" dirty="0"/>
          </a:p>
        </p:txBody>
      </p:sp>
      <p:sp>
        <p:nvSpPr>
          <p:cNvPr id="10" name="Text 6"/>
          <p:cNvSpPr/>
          <p:nvPr/>
        </p:nvSpPr>
        <p:spPr>
          <a:xfrm>
            <a:off x="428625" y="3231766"/>
            <a:ext cx="3052307" cy="617153"/>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It provides a standardized vocabulary for architects to map security controls directly against threats.</a:t>
            </a:r>
            <a:endParaRPr lang="en-US" sz="950" dirty="0"/>
          </a:p>
        </p:txBody>
      </p:sp>
      <p:sp>
        <p:nvSpPr>
          <p:cNvPr id="11" name="Shape 7"/>
          <p:cNvSpPr/>
          <p:nvPr/>
        </p:nvSpPr>
        <p:spPr>
          <a:xfrm>
            <a:off x="428625" y="3934460"/>
            <a:ext cx="3052445" cy="888365"/>
          </a:xfrm>
          <a:prstGeom prst="rect">
            <a:avLst/>
          </a:prstGeom>
          <a:solidFill>
            <a:srgbClr val="F9FAFB"/>
          </a:solidFill>
        </p:spPr>
      </p:sp>
      <p:sp>
        <p:nvSpPr>
          <p:cNvPr id="12" name="Shape 8"/>
          <p:cNvSpPr/>
          <p:nvPr/>
        </p:nvSpPr>
        <p:spPr>
          <a:xfrm>
            <a:off x="361950" y="3934460"/>
            <a:ext cx="76200" cy="873760"/>
          </a:xfrm>
          <a:prstGeom prst="rect">
            <a:avLst/>
          </a:prstGeom>
          <a:solidFill>
            <a:srgbClr val="FACC15"/>
          </a:solidFill>
        </p:spPr>
      </p:sp>
      <p:sp>
        <p:nvSpPr>
          <p:cNvPr id="13" name="Text 9"/>
          <p:cNvSpPr/>
          <p:nvPr/>
        </p:nvSpPr>
        <p:spPr>
          <a:xfrm>
            <a:off x="514350" y="4020369"/>
            <a:ext cx="2880857" cy="173236"/>
          </a:xfrm>
          <a:prstGeom prst="rect">
            <a:avLst/>
          </a:prstGeom>
          <a:noFill/>
        </p:spPr>
        <p:txBody>
          <a:bodyPr wrap="square" lIns="0" tIns="0" rIns="0" bIns="0" rtlCol="0" anchor="t">
            <a:spAutoFit/>
          </a:bodyPr>
          <a:lstStyle/>
          <a:p>
            <a:pPr marL="0" indent="0" algn="l">
              <a:buNone/>
            </a:pPr>
            <a:r>
              <a:rPr lang="en-US" sz="1000" b="1" dirty="0">
                <a:solidFill>
                  <a:srgbClr val="000000"/>
                </a:solidFill>
                <a:latin typeface="Inter ExtraBold" pitchFamily="34" charset="0"/>
                <a:ea typeface="Inter ExtraBold" pitchFamily="34" charset="-122"/>
                <a:cs typeface="Inter ExtraBold" pitchFamily="34" charset="-120"/>
              </a:rPr>
              <a:t>Real-World Example</a:t>
            </a:r>
            <a:endParaRPr lang="en-US" sz="1000" dirty="0"/>
          </a:p>
        </p:txBody>
      </p:sp>
      <p:sp>
        <p:nvSpPr>
          <p:cNvPr id="14" name="Text 10"/>
          <p:cNvSpPr/>
          <p:nvPr/>
        </p:nvSpPr>
        <p:spPr>
          <a:xfrm>
            <a:off x="514350" y="4250754"/>
            <a:ext cx="2880857" cy="617153"/>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Defending against </a:t>
            </a:r>
            <a:r>
              <a:rPr lang="en-US" sz="900" b="1" dirty="0">
                <a:solidFill>
                  <a:srgbClr val="333333"/>
                </a:solidFill>
                <a:latin typeface="Inter ExtraBold" pitchFamily="34" charset="0"/>
                <a:ea typeface="Inter ExtraBold" pitchFamily="34" charset="-122"/>
                <a:cs typeface="Inter ExtraBold" pitchFamily="34" charset="-120"/>
              </a:rPr>
              <a:t>Mimikatz</a:t>
            </a:r>
            <a:r>
              <a:rPr lang="en-US" sz="950" dirty="0">
                <a:solidFill>
                  <a:srgbClr val="333333"/>
                </a:solidFill>
                <a:latin typeface="Inter" pitchFamily="34" charset="0"/>
                <a:ea typeface="Inter" pitchFamily="34" charset="-122"/>
                <a:cs typeface="Inter" pitchFamily="34" charset="-120"/>
              </a:rPr>
              <a:t>: Using D3FEND's </a:t>
            </a:r>
            <a:r>
              <a:rPr lang="en-US" sz="950" dirty="0">
                <a:solidFill>
                  <a:srgbClr val="333333"/>
                </a:solidFill>
                <a:latin typeface="Inter" pitchFamily="34" charset="0"/>
                <a:ea typeface="Inter" pitchFamily="34" charset="-122"/>
                <a:cs typeface="Inter" pitchFamily="34" charset="-120"/>
              </a:rPr>
              <a:t>"LSASS Protection" to counter ATT&amp;CK's </a:t>
            </a:r>
            <a:r>
              <a:rPr lang="en-US" sz="950" dirty="0">
                <a:solidFill>
                  <a:srgbClr val="333333"/>
                </a:solidFill>
                <a:latin typeface="Inter" pitchFamily="34" charset="0"/>
                <a:ea typeface="Inter" pitchFamily="34" charset="-122"/>
                <a:cs typeface="Inter" pitchFamily="34" charset="-120"/>
              </a:rPr>
              <a:t>"Credential Dumping".</a:t>
            </a:r>
            <a:endParaRPr lang="en-US" sz="950" dirty="0"/>
          </a:p>
        </p:txBody>
      </p:sp>
      <p:sp>
        <p:nvSpPr>
          <p:cNvPr id="15" name="Shape 11"/>
          <p:cNvSpPr/>
          <p:nvPr/>
        </p:nvSpPr>
        <p:spPr>
          <a:xfrm>
            <a:off x="3909557" y="1971675"/>
            <a:ext cx="1808513" cy="446484"/>
          </a:xfrm>
          <a:prstGeom prst="rect">
            <a:avLst/>
          </a:prstGeom>
          <a:solidFill>
            <a:srgbClr val="000000"/>
          </a:solidFill>
        </p:spPr>
      </p:sp>
      <p:sp>
        <p:nvSpPr>
          <p:cNvPr id="16" name="Text 12"/>
          <p:cNvSpPr/>
          <p:nvPr/>
        </p:nvSpPr>
        <p:spPr>
          <a:xfrm>
            <a:off x="3909557" y="1971675"/>
            <a:ext cx="1808513" cy="446484"/>
          </a:xfrm>
          <a:prstGeom prst="rect">
            <a:avLst/>
          </a:prstGeom>
          <a:noFill/>
        </p:spPr>
        <p:txBody>
          <a:bodyPr wrap="square" lIns="102108" tIns="102108" rIns="102108" bIns="102108" rtlCol="0" anchor="ctr">
            <a:spAutoFit/>
          </a:bodyPr>
          <a:lstStyle/>
          <a:p>
            <a:pPr marL="0" indent="0" algn="l">
              <a:buNone/>
            </a:pPr>
            <a:r>
              <a:rPr lang="en-US" sz="800" kern="0" spc="1" dirty="0">
                <a:solidFill>
                  <a:srgbClr val="FFFFFF"/>
                </a:solidFill>
                <a:latin typeface="Inter SemiBold" pitchFamily="34" charset="0"/>
                <a:ea typeface="Inter SemiBold" pitchFamily="34" charset="-122"/>
                <a:cs typeface="Inter SemiBold" pitchFamily="34" charset="-120"/>
              </a:rPr>
              <a:t>ATT&amp;CK TECHNIQUE</a:t>
            </a:r>
            <a:endParaRPr lang="en-US" sz="800" dirty="0"/>
          </a:p>
        </p:txBody>
      </p:sp>
      <p:sp>
        <p:nvSpPr>
          <p:cNvPr id="17" name="Shape 13"/>
          <p:cNvSpPr/>
          <p:nvPr/>
        </p:nvSpPr>
        <p:spPr>
          <a:xfrm>
            <a:off x="5718070" y="1971675"/>
            <a:ext cx="1854305" cy="446484"/>
          </a:xfrm>
          <a:prstGeom prst="rect">
            <a:avLst/>
          </a:prstGeom>
          <a:solidFill>
            <a:srgbClr val="000000"/>
          </a:solidFill>
        </p:spPr>
      </p:sp>
      <p:sp>
        <p:nvSpPr>
          <p:cNvPr id="18" name="Text 14"/>
          <p:cNvSpPr/>
          <p:nvPr/>
        </p:nvSpPr>
        <p:spPr>
          <a:xfrm>
            <a:off x="5718070" y="1971675"/>
            <a:ext cx="1854305" cy="446484"/>
          </a:xfrm>
          <a:prstGeom prst="rect">
            <a:avLst/>
          </a:prstGeom>
          <a:noFill/>
        </p:spPr>
        <p:txBody>
          <a:bodyPr wrap="square" lIns="102108" tIns="102108" rIns="102108" bIns="102108" rtlCol="0" anchor="ctr">
            <a:spAutoFit/>
          </a:bodyPr>
          <a:lstStyle/>
          <a:p>
            <a:pPr marL="0" indent="0" algn="l">
              <a:buNone/>
            </a:pPr>
            <a:r>
              <a:rPr lang="en-US" sz="800" kern="0" spc="1" dirty="0">
                <a:solidFill>
                  <a:srgbClr val="FFFFFF"/>
                </a:solidFill>
                <a:latin typeface="Inter SemiBold" pitchFamily="34" charset="0"/>
                <a:ea typeface="Inter SemiBold" pitchFamily="34" charset="-122"/>
                <a:cs typeface="Inter SemiBold" pitchFamily="34" charset="-120"/>
              </a:rPr>
              <a:t>D3FEND COUNTERMEASURE</a:t>
            </a:r>
            <a:endParaRPr lang="en-US" sz="800" dirty="0"/>
          </a:p>
        </p:txBody>
      </p:sp>
      <p:sp>
        <p:nvSpPr>
          <p:cNvPr id="19" name="Text 15"/>
          <p:cNvSpPr/>
          <p:nvPr/>
        </p:nvSpPr>
        <p:spPr>
          <a:xfrm>
            <a:off x="3995282" y="2503884"/>
            <a:ext cx="358973"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T1003</a:t>
            </a:r>
            <a:endParaRPr lang="en-US" sz="800" dirty="0"/>
          </a:p>
        </p:txBody>
      </p:sp>
      <p:sp>
        <p:nvSpPr>
          <p:cNvPr id="20" name="Text 16"/>
          <p:cNvSpPr/>
          <p:nvPr/>
        </p:nvSpPr>
        <p:spPr>
          <a:xfrm>
            <a:off x="4411405" y="2503884"/>
            <a:ext cx="1103709" cy="137517"/>
          </a:xfrm>
          <a:prstGeom prst="rect">
            <a:avLst/>
          </a:prstGeom>
          <a:noFill/>
        </p:spPr>
        <p:txBody>
          <a:bodyPr wrap="non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Credential Dumping</a:t>
            </a:r>
            <a:endParaRPr lang="en-US" sz="850" dirty="0"/>
          </a:p>
        </p:txBody>
      </p:sp>
      <p:sp>
        <p:nvSpPr>
          <p:cNvPr id="21" name="Text 17"/>
          <p:cNvSpPr/>
          <p:nvPr/>
        </p:nvSpPr>
        <p:spPr>
          <a:xfrm>
            <a:off x="5718070" y="2418159"/>
            <a:ext cx="1854305" cy="312539"/>
          </a:xfrm>
          <a:prstGeom prst="rect">
            <a:avLst/>
          </a:prstGeom>
          <a:noFill/>
        </p:spPr>
        <p:txBody>
          <a:bodyPr wrap="square" lIns="102108" tIns="102108" rIns="102108" bIns="102108" rtlCol="0" anchor="ctr">
            <a:spAutoFit/>
          </a:bodyPr>
          <a:lstStyle/>
          <a:p>
            <a:pPr marL="0" indent="0" algn="l">
              <a:buNone/>
            </a:pPr>
            <a:r>
              <a:rPr lang="en-US" sz="850" dirty="0">
                <a:solidFill>
                  <a:srgbClr val="333333"/>
                </a:solidFill>
                <a:latin typeface="Inter" pitchFamily="34" charset="0"/>
                <a:ea typeface="Inter" pitchFamily="34" charset="-122"/>
                <a:cs typeface="Inter" pitchFamily="34" charset="-120"/>
              </a:rPr>
              <a:t>LSASS Protection</a:t>
            </a:r>
            <a:endParaRPr lang="en-US" sz="850" dirty="0"/>
          </a:p>
        </p:txBody>
      </p:sp>
      <p:sp>
        <p:nvSpPr>
          <p:cNvPr id="22" name="Shape 18"/>
          <p:cNvSpPr/>
          <p:nvPr/>
        </p:nvSpPr>
        <p:spPr>
          <a:xfrm>
            <a:off x="3909557" y="2730698"/>
            <a:ext cx="3662818" cy="316111"/>
          </a:xfrm>
          <a:prstGeom prst="rect">
            <a:avLst/>
          </a:prstGeom>
          <a:solidFill>
            <a:srgbClr val="F9FAFB"/>
          </a:solidFill>
        </p:spPr>
      </p:sp>
      <p:sp>
        <p:nvSpPr>
          <p:cNvPr id="23" name="Text 19"/>
          <p:cNvSpPr/>
          <p:nvPr/>
        </p:nvSpPr>
        <p:spPr>
          <a:xfrm>
            <a:off x="3995282" y="2819995"/>
            <a:ext cx="353616"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T1059</a:t>
            </a:r>
            <a:endParaRPr lang="en-US" sz="800" dirty="0"/>
          </a:p>
        </p:txBody>
      </p:sp>
      <p:sp>
        <p:nvSpPr>
          <p:cNvPr id="24" name="Text 20"/>
          <p:cNvSpPr/>
          <p:nvPr/>
        </p:nvSpPr>
        <p:spPr>
          <a:xfrm>
            <a:off x="4406047" y="2819995"/>
            <a:ext cx="1010841" cy="137517"/>
          </a:xfrm>
          <a:prstGeom prst="rect">
            <a:avLst/>
          </a:prstGeom>
          <a:noFill/>
        </p:spPr>
        <p:txBody>
          <a:bodyPr wrap="non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PowerShell Abuse</a:t>
            </a:r>
            <a:endParaRPr lang="en-US" sz="850" dirty="0"/>
          </a:p>
        </p:txBody>
      </p:sp>
      <p:sp>
        <p:nvSpPr>
          <p:cNvPr id="25" name="Text 21"/>
          <p:cNvSpPr/>
          <p:nvPr/>
        </p:nvSpPr>
        <p:spPr>
          <a:xfrm>
            <a:off x="5718070" y="2730698"/>
            <a:ext cx="1854305" cy="316111"/>
          </a:xfrm>
          <a:prstGeom prst="rect">
            <a:avLst/>
          </a:prstGeom>
          <a:noFill/>
        </p:spPr>
        <p:txBody>
          <a:bodyPr wrap="square" lIns="102108" tIns="102108" rIns="102108" bIns="102108" rtlCol="0" anchor="ctr">
            <a:spAutoFit/>
          </a:bodyPr>
          <a:lstStyle/>
          <a:p>
            <a:pPr marL="0" indent="0" algn="l">
              <a:buNone/>
            </a:pPr>
            <a:r>
              <a:rPr lang="en-US" sz="850" dirty="0">
                <a:solidFill>
                  <a:srgbClr val="333333"/>
                </a:solidFill>
                <a:latin typeface="Inter" pitchFamily="34" charset="0"/>
                <a:ea typeface="Inter" pitchFamily="34" charset="-122"/>
                <a:cs typeface="Inter" pitchFamily="34" charset="-120"/>
              </a:rPr>
              <a:t>Constrained Language Mode</a:t>
            </a:r>
            <a:endParaRPr lang="en-US" sz="850" dirty="0"/>
          </a:p>
        </p:txBody>
      </p:sp>
      <p:sp>
        <p:nvSpPr>
          <p:cNvPr id="26" name="Text 22"/>
          <p:cNvSpPr/>
          <p:nvPr/>
        </p:nvSpPr>
        <p:spPr>
          <a:xfrm>
            <a:off x="3995282" y="3136106"/>
            <a:ext cx="326827"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T1133</a:t>
            </a:r>
            <a:endParaRPr lang="en-US" sz="800" dirty="0"/>
          </a:p>
        </p:txBody>
      </p:sp>
      <p:sp>
        <p:nvSpPr>
          <p:cNvPr id="27" name="Text 23"/>
          <p:cNvSpPr/>
          <p:nvPr/>
        </p:nvSpPr>
        <p:spPr>
          <a:xfrm>
            <a:off x="3995282" y="3136106"/>
            <a:ext cx="1294805" cy="275034"/>
          </a:xfrm>
          <a:prstGeom prst="rect">
            <a:avLst/>
          </a:prstGeom>
          <a:noFill/>
        </p:spPr>
        <p:txBody>
          <a:bodyPr wrap="squar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External Remote Services</a:t>
            </a:r>
            <a:endParaRPr lang="en-US" sz="850" dirty="0"/>
          </a:p>
        </p:txBody>
      </p:sp>
      <p:sp>
        <p:nvSpPr>
          <p:cNvPr id="28" name="Text 24"/>
          <p:cNvSpPr/>
          <p:nvPr/>
        </p:nvSpPr>
        <p:spPr>
          <a:xfrm>
            <a:off x="5718070" y="3046809"/>
            <a:ext cx="1854305" cy="453628"/>
          </a:xfrm>
          <a:prstGeom prst="rect">
            <a:avLst/>
          </a:prstGeom>
          <a:noFill/>
        </p:spPr>
        <p:txBody>
          <a:bodyPr wrap="square" lIns="102108" tIns="102108" rIns="102108" bIns="102108" rtlCol="0" anchor="ctr">
            <a:spAutoFit/>
          </a:bodyPr>
          <a:lstStyle/>
          <a:p>
            <a:pPr marL="0" indent="0" algn="l">
              <a:buNone/>
            </a:pPr>
            <a:r>
              <a:rPr lang="en-US" sz="850" dirty="0">
                <a:solidFill>
                  <a:srgbClr val="333333"/>
                </a:solidFill>
                <a:latin typeface="Inter" pitchFamily="34" charset="0"/>
                <a:ea typeface="Inter" pitchFamily="34" charset="-122"/>
                <a:cs typeface="Inter" pitchFamily="34" charset="-120"/>
              </a:rPr>
              <a:t>MFA + Network Segmentation</a:t>
            </a:r>
            <a:endParaRPr lang="en-US" sz="850" dirty="0"/>
          </a:p>
        </p:txBody>
      </p:sp>
      <p:sp>
        <p:nvSpPr>
          <p:cNvPr id="29" name="Shape 25"/>
          <p:cNvSpPr/>
          <p:nvPr/>
        </p:nvSpPr>
        <p:spPr>
          <a:xfrm>
            <a:off x="3909557" y="3500438"/>
            <a:ext cx="3662818" cy="316111"/>
          </a:xfrm>
          <a:prstGeom prst="rect">
            <a:avLst/>
          </a:prstGeom>
          <a:solidFill>
            <a:srgbClr val="F9FAFB"/>
          </a:solidFill>
        </p:spPr>
      </p:sp>
      <p:sp>
        <p:nvSpPr>
          <p:cNvPr id="30" name="Text 26"/>
          <p:cNvSpPr/>
          <p:nvPr/>
        </p:nvSpPr>
        <p:spPr>
          <a:xfrm>
            <a:off x="3995282" y="3589734"/>
            <a:ext cx="350044"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T1566</a:t>
            </a:r>
            <a:endParaRPr lang="en-US" sz="800" dirty="0"/>
          </a:p>
        </p:txBody>
      </p:sp>
      <p:sp>
        <p:nvSpPr>
          <p:cNvPr id="31" name="Text 27"/>
          <p:cNvSpPr/>
          <p:nvPr/>
        </p:nvSpPr>
        <p:spPr>
          <a:xfrm>
            <a:off x="4402475" y="3589734"/>
            <a:ext cx="496491" cy="137517"/>
          </a:xfrm>
          <a:prstGeom prst="rect">
            <a:avLst/>
          </a:prstGeom>
          <a:noFill/>
        </p:spPr>
        <p:txBody>
          <a:bodyPr wrap="non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Phishing</a:t>
            </a:r>
            <a:endParaRPr lang="en-US" sz="850" dirty="0"/>
          </a:p>
        </p:txBody>
      </p:sp>
      <p:sp>
        <p:nvSpPr>
          <p:cNvPr id="32" name="Text 28"/>
          <p:cNvSpPr/>
          <p:nvPr/>
        </p:nvSpPr>
        <p:spPr>
          <a:xfrm>
            <a:off x="5718070" y="3500438"/>
            <a:ext cx="1854305" cy="316111"/>
          </a:xfrm>
          <a:prstGeom prst="rect">
            <a:avLst/>
          </a:prstGeom>
          <a:noFill/>
        </p:spPr>
        <p:txBody>
          <a:bodyPr wrap="square" lIns="102108" tIns="102108" rIns="102108" bIns="102108" rtlCol="0" anchor="ctr">
            <a:spAutoFit/>
          </a:bodyPr>
          <a:lstStyle/>
          <a:p>
            <a:pPr marL="0" indent="0" algn="l">
              <a:buNone/>
            </a:pPr>
            <a:r>
              <a:rPr lang="en-US" sz="850" dirty="0">
                <a:solidFill>
                  <a:srgbClr val="333333"/>
                </a:solidFill>
                <a:latin typeface="Inter" pitchFamily="34" charset="0"/>
                <a:ea typeface="Inter" pitchFamily="34" charset="-122"/>
                <a:cs typeface="Inter" pitchFamily="34" charset="-120"/>
              </a:rPr>
              <a:t>Message Authenticity Analysis</a:t>
            </a:r>
            <a:endParaRPr lang="en-US" sz="850" dirty="0"/>
          </a:p>
        </p:txBody>
      </p:sp>
      <p:sp>
        <p:nvSpPr>
          <p:cNvPr id="33" name="Shape 29"/>
          <p:cNvSpPr/>
          <p:nvPr/>
        </p:nvSpPr>
        <p:spPr>
          <a:xfrm>
            <a:off x="4427220" y="4530723"/>
            <a:ext cx="4288036" cy="280392"/>
          </a:xfrm>
          <a:prstGeom prst="rect">
            <a:avLst/>
          </a:prstGeom>
          <a:solidFill>
            <a:srgbClr val="000000"/>
          </a:solidFill>
        </p:spPr>
      </p:sp>
      <p:sp>
        <p:nvSpPr>
          <p:cNvPr id="34" name="Text 30"/>
          <p:cNvSpPr/>
          <p:nvPr/>
        </p:nvSpPr>
        <p:spPr>
          <a:xfrm>
            <a:off x="4402455" y="4542788"/>
            <a:ext cx="4288036" cy="280392"/>
          </a:xfrm>
          <a:prstGeom prst="rect">
            <a:avLst/>
          </a:prstGeom>
          <a:noFill/>
        </p:spPr>
        <p:txBody>
          <a:bodyPr wrap="square" lIns="170053" tIns="85090" rIns="170053" bIns="85090" rtlCol="0" anchor="t">
            <a:spAutoFit/>
          </a:bodyPr>
          <a:lstStyle/>
          <a:p>
            <a:pPr marL="0" indent="0" algn="l">
              <a:buNone/>
            </a:pPr>
            <a:r>
              <a:rPr lang="en-US" sz="800" dirty="0">
                <a:solidFill>
                  <a:srgbClr val="FFFFFF"/>
                </a:solidFill>
                <a:latin typeface="Inter SemiBold" pitchFamily="34" charset="0"/>
                <a:ea typeface="Inter SemiBold" pitchFamily="34" charset="-122"/>
                <a:cs typeface="Inter SemiBold" pitchFamily="34" charset="-120"/>
              </a:rPr>
              <a:t>Key Takeaway: ATT&amp;CK describes attacks | D3FEND describes defenses</a:t>
            </a:r>
            <a:endParaRPr lang="en-US" sz="800" dirty="0"/>
          </a:p>
        </p:txBody>
      </p:sp>
      <p:sp>
        <p:nvSpPr>
          <p:cNvPr id="35" name="Text 31"/>
          <p:cNvSpPr/>
          <p:nvPr/>
        </p:nvSpPr>
        <p:spPr>
          <a:xfrm>
            <a:off x="428625" y="4964348"/>
            <a:ext cx="8286750" cy="155377"/>
          </a:xfrm>
          <a:prstGeom prst="rect">
            <a:avLst/>
          </a:prstGeom>
          <a:noFill/>
        </p:spPr>
        <p:txBody>
          <a:bodyPr wrap="square" lIns="0" tIns="0" rIns="0" bIns="0" rtlCol="0" anchor="t">
            <a:spAutoFit/>
          </a:bodyPr>
          <a:lstStyle/>
          <a:p>
            <a:pPr marL="0" indent="0" algn="ctr">
              <a:buNone/>
            </a:pPr>
            <a:r>
              <a:rPr lang="en-US" sz="950" dirty="0">
                <a:solidFill>
                  <a:srgbClr val="000000"/>
                </a:solidFill>
                <a:latin typeface="Inter" pitchFamily="34" charset="0"/>
                <a:ea typeface="Inter" pitchFamily="34" charset="-122"/>
                <a:cs typeface="Inter" pitchFamily="34" charset="-120"/>
              </a:rPr>
              <a:t>Hiddeninvestigations.Net</a:t>
            </a:r>
            <a:endParaRPr lang="en-US" sz="950" dirty="0"/>
          </a:p>
        </p:txBody>
      </p:sp>
      <p:sp>
        <p:nvSpPr>
          <p:cNvPr id="2" name="Text 3"/>
          <p:cNvSpPr/>
          <p:nvPr/>
        </p:nvSpPr>
        <p:spPr>
          <a:xfrm>
            <a:off x="8270677" y="401835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14</a:t>
            </a:r>
            <a:endParaRPr lang="en-US" sz="3300" dirty="0"/>
          </a:p>
        </p:txBody>
      </p:sp>
      <p:sp>
        <p:nvSpPr>
          <p:cNvPr id="36" name="Oval 35"/>
          <p:cNvSpPr/>
          <p:nvPr/>
        </p:nvSpPr>
        <p:spPr>
          <a:xfrm>
            <a:off x="842645"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397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398828" y="470614"/>
            <a:ext cx="432435"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15</a:t>
            </a:r>
            <a:endParaRPr lang="en-US" sz="3300" dirty="0"/>
          </a:p>
        </p:txBody>
      </p:sp>
      <p:sp>
        <p:nvSpPr>
          <p:cNvPr id="7" name="Text 4"/>
          <p:cNvSpPr/>
          <p:nvPr/>
        </p:nvSpPr>
        <p:spPr>
          <a:xfrm>
            <a:off x="428625" y="714375"/>
            <a:ext cx="8286750" cy="364331"/>
          </a:xfrm>
          <a:prstGeom prst="rect">
            <a:avLst/>
          </a:prstGeom>
          <a:noFill/>
        </p:spPr>
        <p:txBody>
          <a:bodyPr wrap="square" lIns="0" tIns="0" rIns="0" bIns="0" rtlCol="0" anchor="t">
            <a:spAutoFit/>
          </a:bodyPr>
          <a:lstStyle/>
          <a:p>
            <a:pPr marL="0" indent="0" algn="l">
              <a:buNone/>
            </a:pPr>
            <a:r>
              <a:rPr lang="en-US" sz="2100" b="1" dirty="0">
                <a:solidFill>
                  <a:srgbClr val="000000"/>
                </a:solidFill>
                <a:latin typeface="Inter Black" pitchFamily="34" charset="0"/>
                <a:ea typeface="Inter Black" pitchFamily="34" charset="-122"/>
                <a:cs typeface="Inter Black" pitchFamily="34" charset="-120"/>
              </a:rPr>
              <a:t>For Every Attack Technique, MITRE Built a Defense.</a:t>
            </a:r>
            <a:endParaRPr lang="en-US" sz="2100" dirty="0"/>
          </a:p>
        </p:txBody>
      </p:sp>
      <p:sp>
        <p:nvSpPr>
          <p:cNvPr id="8" name="Text 5"/>
          <p:cNvSpPr/>
          <p:nvPr/>
        </p:nvSpPr>
        <p:spPr>
          <a:xfrm>
            <a:off x="428625" y="1293019"/>
            <a:ext cx="3714750" cy="121444"/>
          </a:xfrm>
          <a:prstGeom prst="rect">
            <a:avLst/>
          </a:prstGeom>
          <a:noFill/>
        </p:spPr>
        <p:txBody>
          <a:bodyPr wrap="square" lIns="0" tIns="0" rIns="0" bIns="0" rtlCol="0" anchor="t">
            <a:spAutoFit/>
          </a:bodyPr>
          <a:lstStyle/>
          <a:p>
            <a:pPr marL="0" indent="0" algn="l">
              <a:buNone/>
            </a:pPr>
            <a:r>
              <a:rPr lang="en-US" sz="700" b="1" kern="0" spc="1" dirty="0">
                <a:solidFill>
                  <a:srgbClr val="666666"/>
                </a:solidFill>
                <a:latin typeface="Inter Black" pitchFamily="34" charset="0"/>
                <a:ea typeface="Inter Black" pitchFamily="34" charset="-122"/>
                <a:cs typeface="Inter Black" pitchFamily="34" charset="-120"/>
              </a:rPr>
              <a:t>ATT&amp;CK TECHNIQUE</a:t>
            </a:r>
            <a:endParaRPr lang="en-US" sz="700" dirty="0"/>
          </a:p>
        </p:txBody>
      </p:sp>
      <p:sp>
        <p:nvSpPr>
          <p:cNvPr id="9" name="Text 6"/>
          <p:cNvSpPr/>
          <p:nvPr/>
        </p:nvSpPr>
        <p:spPr>
          <a:xfrm>
            <a:off x="578644" y="1678781"/>
            <a:ext cx="3450431" cy="105370"/>
          </a:xfrm>
          <a:prstGeom prst="rect">
            <a:avLst/>
          </a:prstGeom>
          <a:noFill/>
        </p:spPr>
        <p:txBody>
          <a:bodyPr wrap="square" lIns="0" tIns="0" rIns="0" bIns="0" rtlCol="0" anchor="t">
            <a:spAutoFit/>
          </a:bodyPr>
          <a:lstStyle/>
          <a:p>
            <a:pPr marL="0" indent="0" algn="l">
              <a:buNone/>
            </a:pPr>
            <a:r>
              <a:rPr lang="en-US" sz="600" b="1" dirty="0">
                <a:solidFill>
                  <a:srgbClr val="F5C518"/>
                </a:solidFill>
                <a:latin typeface="Inter Bold" pitchFamily="34" charset="0"/>
                <a:ea typeface="Inter Bold" pitchFamily="34" charset="-122"/>
                <a:cs typeface="Inter Bold" pitchFamily="34" charset="-120"/>
              </a:rPr>
              <a:t>T1566</a:t>
            </a:r>
            <a:endParaRPr lang="en-US" sz="600" dirty="0"/>
          </a:p>
        </p:txBody>
      </p:sp>
      <p:sp>
        <p:nvSpPr>
          <p:cNvPr id="10" name="Text 7"/>
          <p:cNvSpPr/>
          <p:nvPr/>
        </p:nvSpPr>
        <p:spPr>
          <a:xfrm>
            <a:off x="578644" y="1798439"/>
            <a:ext cx="3450431"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Phishing</a:t>
            </a:r>
            <a:endParaRPr lang="en-US" sz="800" dirty="0"/>
          </a:p>
        </p:txBody>
      </p:sp>
      <p:sp>
        <p:nvSpPr>
          <p:cNvPr id="11" name="Text 8"/>
          <p:cNvSpPr/>
          <p:nvPr/>
        </p:nvSpPr>
        <p:spPr>
          <a:xfrm>
            <a:off x="578644" y="2321719"/>
            <a:ext cx="3450431" cy="105370"/>
          </a:xfrm>
          <a:prstGeom prst="rect">
            <a:avLst/>
          </a:prstGeom>
          <a:noFill/>
        </p:spPr>
        <p:txBody>
          <a:bodyPr wrap="square" lIns="0" tIns="0" rIns="0" bIns="0" rtlCol="0" anchor="t">
            <a:spAutoFit/>
          </a:bodyPr>
          <a:lstStyle/>
          <a:p>
            <a:pPr marL="0" indent="0" algn="l">
              <a:buNone/>
            </a:pPr>
            <a:r>
              <a:rPr lang="en-US" sz="600" b="1" dirty="0">
                <a:solidFill>
                  <a:srgbClr val="F5C518"/>
                </a:solidFill>
                <a:latin typeface="Inter Bold" pitchFamily="34" charset="0"/>
                <a:ea typeface="Inter Bold" pitchFamily="34" charset="-122"/>
                <a:cs typeface="Inter Bold" pitchFamily="34" charset="-120"/>
              </a:rPr>
              <a:t>T1078</a:t>
            </a:r>
            <a:endParaRPr lang="en-US" sz="600" dirty="0"/>
          </a:p>
        </p:txBody>
      </p:sp>
      <p:sp>
        <p:nvSpPr>
          <p:cNvPr id="12" name="Text 9"/>
          <p:cNvSpPr/>
          <p:nvPr/>
        </p:nvSpPr>
        <p:spPr>
          <a:xfrm>
            <a:off x="578644" y="2441377"/>
            <a:ext cx="3450431"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Valid Accounts</a:t>
            </a:r>
            <a:endParaRPr lang="en-US" sz="800" dirty="0"/>
          </a:p>
        </p:txBody>
      </p:sp>
      <p:sp>
        <p:nvSpPr>
          <p:cNvPr id="13" name="Text 10"/>
          <p:cNvSpPr/>
          <p:nvPr/>
        </p:nvSpPr>
        <p:spPr>
          <a:xfrm>
            <a:off x="578644" y="2964656"/>
            <a:ext cx="3450431" cy="105370"/>
          </a:xfrm>
          <a:prstGeom prst="rect">
            <a:avLst/>
          </a:prstGeom>
          <a:noFill/>
        </p:spPr>
        <p:txBody>
          <a:bodyPr wrap="square" lIns="0" tIns="0" rIns="0" bIns="0" rtlCol="0" anchor="t">
            <a:spAutoFit/>
          </a:bodyPr>
          <a:lstStyle/>
          <a:p>
            <a:pPr marL="0" indent="0" algn="l">
              <a:buNone/>
            </a:pPr>
            <a:r>
              <a:rPr lang="en-US" sz="600" b="1" dirty="0">
                <a:solidFill>
                  <a:srgbClr val="F5C518"/>
                </a:solidFill>
                <a:latin typeface="Inter Bold" pitchFamily="34" charset="0"/>
                <a:ea typeface="Inter Bold" pitchFamily="34" charset="-122"/>
                <a:cs typeface="Inter Bold" pitchFamily="34" charset="-120"/>
              </a:rPr>
              <a:t>T1041</a:t>
            </a:r>
            <a:endParaRPr lang="en-US" sz="600" dirty="0"/>
          </a:p>
        </p:txBody>
      </p:sp>
      <p:sp>
        <p:nvSpPr>
          <p:cNvPr id="14" name="Text 11"/>
          <p:cNvSpPr/>
          <p:nvPr/>
        </p:nvSpPr>
        <p:spPr>
          <a:xfrm>
            <a:off x="578644" y="3084314"/>
            <a:ext cx="3450431"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Exfiltration Over C2</a:t>
            </a:r>
            <a:endParaRPr lang="en-US" sz="800" dirty="0"/>
          </a:p>
        </p:txBody>
      </p:sp>
      <p:sp>
        <p:nvSpPr>
          <p:cNvPr id="15" name="Shape 12"/>
          <p:cNvSpPr/>
          <p:nvPr/>
        </p:nvSpPr>
        <p:spPr>
          <a:xfrm>
            <a:off x="4229100" y="1797546"/>
            <a:ext cx="685800" cy="144661"/>
          </a:xfrm>
          <a:prstGeom prst="rect">
            <a:avLst/>
          </a:prstGeom>
          <a:solidFill>
            <a:srgbClr val="F5C518"/>
          </a:solidFill>
        </p:spPr>
      </p:sp>
      <p:sp>
        <p:nvSpPr>
          <p:cNvPr id="16" name="Shape 13"/>
          <p:cNvSpPr/>
          <p:nvPr/>
        </p:nvSpPr>
        <p:spPr>
          <a:xfrm>
            <a:off x="4086225" y="1869877"/>
            <a:ext cx="142875" cy="7144"/>
          </a:xfrm>
          <a:prstGeom prst="rect">
            <a:avLst/>
          </a:prstGeom>
          <a:solidFill>
            <a:srgbClr val="000000"/>
          </a:solidFill>
        </p:spPr>
      </p:sp>
      <p:sp>
        <p:nvSpPr>
          <p:cNvPr id="17" name="Shape 14"/>
          <p:cNvSpPr/>
          <p:nvPr/>
        </p:nvSpPr>
        <p:spPr>
          <a:xfrm>
            <a:off x="4914900" y="1869877"/>
            <a:ext cx="142875" cy="7144"/>
          </a:xfrm>
          <a:prstGeom prst="rect">
            <a:avLst/>
          </a:prstGeom>
          <a:solidFill>
            <a:srgbClr val="000000"/>
          </a:solidFill>
        </p:spPr>
      </p:sp>
      <p:sp>
        <p:nvSpPr>
          <p:cNvPr id="18" name="Text 15"/>
          <p:cNvSpPr/>
          <p:nvPr/>
        </p:nvSpPr>
        <p:spPr>
          <a:xfrm>
            <a:off x="4229100" y="1797546"/>
            <a:ext cx="685800" cy="144661"/>
          </a:xfrm>
          <a:prstGeom prst="rect">
            <a:avLst/>
          </a:prstGeom>
          <a:noFill/>
        </p:spPr>
        <p:txBody>
          <a:bodyPr wrap="none" lIns="68072" tIns="34036" rIns="68072" bIns="34036" rtlCol="0" anchor="t">
            <a:spAutoFit/>
          </a:bodyPr>
          <a:lstStyle/>
          <a:p>
            <a:pPr marL="0" indent="0" algn="l">
              <a:buNone/>
            </a:pPr>
            <a:r>
              <a:rPr lang="en-US" sz="500" b="1" dirty="0">
                <a:solidFill>
                  <a:srgbClr val="000000"/>
                </a:solidFill>
                <a:latin typeface="Inter Black" pitchFamily="34" charset="0"/>
                <a:ea typeface="Inter Black" pitchFamily="34" charset="-122"/>
                <a:cs typeface="Inter Black" pitchFamily="34" charset="-120"/>
              </a:rPr>
              <a:t>COUNTERED BY</a:t>
            </a:r>
            <a:endParaRPr lang="en-US" sz="500" dirty="0"/>
          </a:p>
        </p:txBody>
      </p:sp>
      <p:sp>
        <p:nvSpPr>
          <p:cNvPr id="19" name="Shape 16"/>
          <p:cNvSpPr/>
          <p:nvPr/>
        </p:nvSpPr>
        <p:spPr>
          <a:xfrm>
            <a:off x="4229100" y="2406551"/>
            <a:ext cx="685800" cy="144661"/>
          </a:xfrm>
          <a:prstGeom prst="rect">
            <a:avLst/>
          </a:prstGeom>
          <a:solidFill>
            <a:srgbClr val="F5C518"/>
          </a:solidFill>
        </p:spPr>
      </p:sp>
      <p:sp>
        <p:nvSpPr>
          <p:cNvPr id="20" name="Shape 17"/>
          <p:cNvSpPr/>
          <p:nvPr/>
        </p:nvSpPr>
        <p:spPr>
          <a:xfrm>
            <a:off x="4086225" y="2478881"/>
            <a:ext cx="142875" cy="7144"/>
          </a:xfrm>
          <a:prstGeom prst="rect">
            <a:avLst/>
          </a:prstGeom>
          <a:solidFill>
            <a:srgbClr val="000000"/>
          </a:solidFill>
        </p:spPr>
      </p:sp>
      <p:sp>
        <p:nvSpPr>
          <p:cNvPr id="21" name="Shape 18"/>
          <p:cNvSpPr/>
          <p:nvPr/>
        </p:nvSpPr>
        <p:spPr>
          <a:xfrm>
            <a:off x="4914900" y="2478881"/>
            <a:ext cx="142875" cy="7144"/>
          </a:xfrm>
          <a:prstGeom prst="rect">
            <a:avLst/>
          </a:prstGeom>
          <a:solidFill>
            <a:srgbClr val="000000"/>
          </a:solidFill>
        </p:spPr>
      </p:sp>
      <p:sp>
        <p:nvSpPr>
          <p:cNvPr id="22" name="Text 19"/>
          <p:cNvSpPr/>
          <p:nvPr/>
        </p:nvSpPr>
        <p:spPr>
          <a:xfrm>
            <a:off x="4229100" y="2406551"/>
            <a:ext cx="685800" cy="144661"/>
          </a:xfrm>
          <a:prstGeom prst="rect">
            <a:avLst/>
          </a:prstGeom>
          <a:noFill/>
        </p:spPr>
        <p:txBody>
          <a:bodyPr wrap="none" lIns="68072" tIns="34036" rIns="68072" bIns="34036" rtlCol="0" anchor="t">
            <a:spAutoFit/>
          </a:bodyPr>
          <a:lstStyle/>
          <a:p>
            <a:pPr marL="0" indent="0" algn="l">
              <a:buNone/>
            </a:pPr>
            <a:r>
              <a:rPr lang="en-US" sz="500" b="1" dirty="0">
                <a:solidFill>
                  <a:srgbClr val="000000"/>
                </a:solidFill>
                <a:latin typeface="Inter Black" pitchFamily="34" charset="0"/>
                <a:ea typeface="Inter Black" pitchFamily="34" charset="-122"/>
                <a:cs typeface="Inter Black" pitchFamily="34" charset="-120"/>
              </a:rPr>
              <a:t>COUNTERED BY</a:t>
            </a:r>
            <a:endParaRPr lang="en-US" sz="500" dirty="0"/>
          </a:p>
        </p:txBody>
      </p:sp>
      <p:sp>
        <p:nvSpPr>
          <p:cNvPr id="23" name="Shape 20"/>
          <p:cNvSpPr/>
          <p:nvPr/>
        </p:nvSpPr>
        <p:spPr>
          <a:xfrm>
            <a:off x="4229100" y="3015555"/>
            <a:ext cx="685800" cy="144661"/>
          </a:xfrm>
          <a:prstGeom prst="rect">
            <a:avLst/>
          </a:prstGeom>
          <a:solidFill>
            <a:srgbClr val="F5C518"/>
          </a:solidFill>
        </p:spPr>
      </p:sp>
      <p:sp>
        <p:nvSpPr>
          <p:cNvPr id="24" name="Shape 21"/>
          <p:cNvSpPr/>
          <p:nvPr/>
        </p:nvSpPr>
        <p:spPr>
          <a:xfrm>
            <a:off x="4086225" y="3087886"/>
            <a:ext cx="142875" cy="7144"/>
          </a:xfrm>
          <a:prstGeom prst="rect">
            <a:avLst/>
          </a:prstGeom>
          <a:solidFill>
            <a:srgbClr val="000000"/>
          </a:solidFill>
        </p:spPr>
      </p:sp>
      <p:sp>
        <p:nvSpPr>
          <p:cNvPr id="25" name="Shape 22"/>
          <p:cNvSpPr/>
          <p:nvPr/>
        </p:nvSpPr>
        <p:spPr>
          <a:xfrm>
            <a:off x="4914900" y="3087886"/>
            <a:ext cx="142875" cy="7144"/>
          </a:xfrm>
          <a:prstGeom prst="rect">
            <a:avLst/>
          </a:prstGeom>
          <a:solidFill>
            <a:srgbClr val="000000"/>
          </a:solidFill>
        </p:spPr>
      </p:sp>
      <p:sp>
        <p:nvSpPr>
          <p:cNvPr id="26" name="Text 23"/>
          <p:cNvSpPr/>
          <p:nvPr/>
        </p:nvSpPr>
        <p:spPr>
          <a:xfrm>
            <a:off x="4229100" y="3015555"/>
            <a:ext cx="685800" cy="144661"/>
          </a:xfrm>
          <a:prstGeom prst="rect">
            <a:avLst/>
          </a:prstGeom>
          <a:noFill/>
        </p:spPr>
        <p:txBody>
          <a:bodyPr wrap="none" lIns="68072" tIns="34036" rIns="68072" bIns="34036" rtlCol="0" anchor="t">
            <a:spAutoFit/>
          </a:bodyPr>
          <a:lstStyle/>
          <a:p>
            <a:pPr marL="0" indent="0" algn="l">
              <a:buNone/>
            </a:pPr>
            <a:r>
              <a:rPr lang="en-US" sz="500" b="1" dirty="0">
                <a:solidFill>
                  <a:srgbClr val="000000"/>
                </a:solidFill>
                <a:latin typeface="Inter Black" pitchFamily="34" charset="0"/>
                <a:ea typeface="Inter Black" pitchFamily="34" charset="-122"/>
                <a:cs typeface="Inter Black" pitchFamily="34" charset="-120"/>
              </a:rPr>
              <a:t>COUNTERED BY</a:t>
            </a:r>
            <a:endParaRPr lang="en-US" sz="500" dirty="0"/>
          </a:p>
        </p:txBody>
      </p:sp>
      <p:sp>
        <p:nvSpPr>
          <p:cNvPr id="27" name="Text 24"/>
          <p:cNvSpPr/>
          <p:nvPr/>
        </p:nvSpPr>
        <p:spPr>
          <a:xfrm>
            <a:off x="5000625" y="1293019"/>
            <a:ext cx="3714750" cy="121444"/>
          </a:xfrm>
          <a:prstGeom prst="rect">
            <a:avLst/>
          </a:prstGeom>
          <a:noFill/>
        </p:spPr>
        <p:txBody>
          <a:bodyPr wrap="square" lIns="0" tIns="0" rIns="0" bIns="0" rtlCol="0" anchor="t">
            <a:spAutoFit/>
          </a:bodyPr>
          <a:lstStyle/>
          <a:p>
            <a:pPr marL="0" indent="0" algn="l">
              <a:buNone/>
            </a:pPr>
            <a:r>
              <a:rPr lang="en-US" sz="700" b="1" kern="0" spc="1" dirty="0">
                <a:solidFill>
                  <a:srgbClr val="666666"/>
                </a:solidFill>
                <a:latin typeface="Inter Black" pitchFamily="34" charset="0"/>
                <a:ea typeface="Inter Black" pitchFamily="34" charset="-122"/>
                <a:cs typeface="Inter Black" pitchFamily="34" charset="-120"/>
              </a:rPr>
              <a:t>D3FEND COUNTERMEASURES</a:t>
            </a:r>
            <a:endParaRPr lang="en-US" sz="700" dirty="0"/>
          </a:p>
        </p:txBody>
      </p:sp>
      <p:sp>
        <p:nvSpPr>
          <p:cNvPr id="28" name="Shape 25"/>
          <p:cNvSpPr/>
          <p:nvPr/>
        </p:nvSpPr>
        <p:spPr>
          <a:xfrm>
            <a:off x="5000625" y="1521619"/>
            <a:ext cx="3714750" cy="571500"/>
          </a:xfrm>
          <a:prstGeom prst="rect">
            <a:avLst/>
          </a:prstGeom>
          <a:solidFill>
            <a:srgbClr val="F9F9F9"/>
          </a:solidFill>
        </p:spPr>
      </p:sp>
      <p:sp>
        <p:nvSpPr>
          <p:cNvPr id="29" name="Shape 26"/>
          <p:cNvSpPr/>
          <p:nvPr/>
        </p:nvSpPr>
        <p:spPr>
          <a:xfrm>
            <a:off x="5000625" y="1521619"/>
            <a:ext cx="3714750" cy="7144"/>
          </a:xfrm>
          <a:prstGeom prst="rect">
            <a:avLst/>
          </a:prstGeom>
          <a:solidFill>
            <a:srgbClr val="000000"/>
          </a:solidFill>
        </p:spPr>
      </p:sp>
      <p:sp>
        <p:nvSpPr>
          <p:cNvPr id="30" name="Shape 27"/>
          <p:cNvSpPr/>
          <p:nvPr/>
        </p:nvSpPr>
        <p:spPr>
          <a:xfrm>
            <a:off x="8708231" y="1521619"/>
            <a:ext cx="7144" cy="571500"/>
          </a:xfrm>
          <a:prstGeom prst="rect">
            <a:avLst/>
          </a:prstGeom>
          <a:solidFill>
            <a:srgbClr val="000000"/>
          </a:solidFill>
        </p:spPr>
      </p:sp>
      <p:sp>
        <p:nvSpPr>
          <p:cNvPr id="31" name="Shape 28"/>
          <p:cNvSpPr/>
          <p:nvPr/>
        </p:nvSpPr>
        <p:spPr>
          <a:xfrm>
            <a:off x="5000625" y="2085975"/>
            <a:ext cx="3714750" cy="7144"/>
          </a:xfrm>
          <a:prstGeom prst="rect">
            <a:avLst/>
          </a:prstGeom>
          <a:solidFill>
            <a:srgbClr val="000000"/>
          </a:solidFill>
        </p:spPr>
      </p:sp>
      <p:sp>
        <p:nvSpPr>
          <p:cNvPr id="32" name="Shape 29"/>
          <p:cNvSpPr/>
          <p:nvPr/>
        </p:nvSpPr>
        <p:spPr>
          <a:xfrm>
            <a:off x="5000625" y="1521619"/>
            <a:ext cx="42863" cy="571500"/>
          </a:xfrm>
          <a:prstGeom prst="rect">
            <a:avLst/>
          </a:prstGeom>
          <a:solidFill>
            <a:srgbClr val="000000"/>
          </a:solidFill>
        </p:spPr>
      </p:sp>
      <p:sp>
        <p:nvSpPr>
          <p:cNvPr id="33" name="Text 30"/>
          <p:cNvSpPr/>
          <p:nvPr/>
        </p:nvSpPr>
        <p:spPr>
          <a:xfrm>
            <a:off x="5107781" y="1747010"/>
            <a:ext cx="3500438" cy="120718"/>
          </a:xfrm>
          <a:prstGeom prst="rect">
            <a:avLst/>
          </a:prstGeom>
          <a:noFill/>
        </p:spPr>
        <p:txBody>
          <a:bodyPr wrap="none" lIns="0" tIns="0" rIns="0" bIns="0" rtlCol="0" anchor="t">
            <a:spAutoFit/>
          </a:bodyPr>
          <a:lstStyle/>
          <a:p>
            <a:pPr marL="0" indent="0" algn="l">
              <a:lnSpc>
                <a:spcPct val="104000"/>
              </a:lnSpc>
              <a:buNone/>
            </a:pPr>
            <a:r>
              <a:rPr lang="en-US" sz="650" dirty="0">
                <a:solidFill>
                  <a:srgbClr val="333333"/>
                </a:solidFill>
                <a:latin typeface="Inter" pitchFamily="34" charset="0"/>
                <a:ea typeface="Inter" pitchFamily="34" charset="-122"/>
                <a:cs typeface="Inter" pitchFamily="34" charset="-120"/>
              </a:rPr>
              <a:t>Message Analysis, Sender Authentication (DMARC), Attachment Sandboxing.</a:t>
            </a:r>
            <a:endParaRPr lang="en-US" sz="650" dirty="0"/>
          </a:p>
        </p:txBody>
      </p:sp>
      <p:sp>
        <p:nvSpPr>
          <p:cNvPr id="34" name="Shape 31"/>
          <p:cNvSpPr/>
          <p:nvPr/>
        </p:nvSpPr>
        <p:spPr>
          <a:xfrm>
            <a:off x="5000625" y="2164556"/>
            <a:ext cx="3714750" cy="571500"/>
          </a:xfrm>
          <a:prstGeom prst="rect">
            <a:avLst/>
          </a:prstGeom>
          <a:solidFill>
            <a:srgbClr val="F9F9F9"/>
          </a:solidFill>
        </p:spPr>
      </p:sp>
      <p:sp>
        <p:nvSpPr>
          <p:cNvPr id="35" name="Shape 32"/>
          <p:cNvSpPr/>
          <p:nvPr/>
        </p:nvSpPr>
        <p:spPr>
          <a:xfrm>
            <a:off x="5000625" y="2164556"/>
            <a:ext cx="3714750" cy="7144"/>
          </a:xfrm>
          <a:prstGeom prst="rect">
            <a:avLst/>
          </a:prstGeom>
          <a:solidFill>
            <a:srgbClr val="000000"/>
          </a:solidFill>
        </p:spPr>
      </p:sp>
      <p:sp>
        <p:nvSpPr>
          <p:cNvPr id="36" name="Shape 33"/>
          <p:cNvSpPr/>
          <p:nvPr/>
        </p:nvSpPr>
        <p:spPr>
          <a:xfrm>
            <a:off x="8708231" y="2164556"/>
            <a:ext cx="7144" cy="571500"/>
          </a:xfrm>
          <a:prstGeom prst="rect">
            <a:avLst/>
          </a:prstGeom>
          <a:solidFill>
            <a:srgbClr val="000000"/>
          </a:solidFill>
        </p:spPr>
      </p:sp>
      <p:sp>
        <p:nvSpPr>
          <p:cNvPr id="37" name="Shape 34"/>
          <p:cNvSpPr/>
          <p:nvPr/>
        </p:nvSpPr>
        <p:spPr>
          <a:xfrm>
            <a:off x="5000625" y="2728913"/>
            <a:ext cx="3714750" cy="7144"/>
          </a:xfrm>
          <a:prstGeom prst="rect">
            <a:avLst/>
          </a:prstGeom>
          <a:solidFill>
            <a:srgbClr val="000000"/>
          </a:solidFill>
        </p:spPr>
      </p:sp>
      <p:sp>
        <p:nvSpPr>
          <p:cNvPr id="38" name="Shape 35"/>
          <p:cNvSpPr/>
          <p:nvPr/>
        </p:nvSpPr>
        <p:spPr>
          <a:xfrm>
            <a:off x="5000625" y="2164556"/>
            <a:ext cx="42863" cy="571500"/>
          </a:xfrm>
          <a:prstGeom prst="rect">
            <a:avLst/>
          </a:prstGeom>
          <a:solidFill>
            <a:srgbClr val="000000"/>
          </a:solidFill>
        </p:spPr>
      </p:sp>
      <p:sp>
        <p:nvSpPr>
          <p:cNvPr id="39" name="Text 36"/>
          <p:cNvSpPr/>
          <p:nvPr/>
        </p:nvSpPr>
        <p:spPr>
          <a:xfrm>
            <a:off x="5107781" y="2389947"/>
            <a:ext cx="3500438" cy="120718"/>
          </a:xfrm>
          <a:prstGeom prst="rect">
            <a:avLst/>
          </a:prstGeom>
          <a:noFill/>
        </p:spPr>
        <p:txBody>
          <a:bodyPr wrap="none" lIns="0" tIns="0" rIns="0" bIns="0" rtlCol="0" anchor="t">
            <a:spAutoFit/>
          </a:bodyPr>
          <a:lstStyle/>
          <a:p>
            <a:pPr marL="0" indent="0" algn="l">
              <a:lnSpc>
                <a:spcPct val="104000"/>
              </a:lnSpc>
              <a:buNone/>
            </a:pPr>
            <a:r>
              <a:rPr lang="en-US" sz="650" dirty="0">
                <a:solidFill>
                  <a:srgbClr val="333333"/>
                </a:solidFill>
                <a:latin typeface="Inter" pitchFamily="34" charset="0"/>
                <a:ea typeface="Inter" pitchFamily="34" charset="-122"/>
                <a:cs typeface="Inter" pitchFamily="34" charset="-120"/>
              </a:rPr>
              <a:t>Multi-Factor Authentication (MFA), Credential Hardening, Activity Monitoring.</a:t>
            </a:r>
            <a:endParaRPr lang="en-US" sz="650" dirty="0"/>
          </a:p>
        </p:txBody>
      </p:sp>
      <p:sp>
        <p:nvSpPr>
          <p:cNvPr id="40" name="Shape 37"/>
          <p:cNvSpPr/>
          <p:nvPr/>
        </p:nvSpPr>
        <p:spPr>
          <a:xfrm>
            <a:off x="5000625" y="2807494"/>
            <a:ext cx="3714750" cy="571500"/>
          </a:xfrm>
          <a:prstGeom prst="rect">
            <a:avLst/>
          </a:prstGeom>
          <a:solidFill>
            <a:srgbClr val="F9F9F9"/>
          </a:solidFill>
        </p:spPr>
      </p:sp>
      <p:sp>
        <p:nvSpPr>
          <p:cNvPr id="41" name="Shape 38"/>
          <p:cNvSpPr/>
          <p:nvPr/>
        </p:nvSpPr>
        <p:spPr>
          <a:xfrm>
            <a:off x="5000625" y="2807494"/>
            <a:ext cx="3714750" cy="7144"/>
          </a:xfrm>
          <a:prstGeom prst="rect">
            <a:avLst/>
          </a:prstGeom>
          <a:solidFill>
            <a:srgbClr val="000000"/>
          </a:solidFill>
        </p:spPr>
      </p:sp>
      <p:sp>
        <p:nvSpPr>
          <p:cNvPr id="42" name="Shape 39"/>
          <p:cNvSpPr/>
          <p:nvPr/>
        </p:nvSpPr>
        <p:spPr>
          <a:xfrm>
            <a:off x="8708231" y="2807494"/>
            <a:ext cx="7144" cy="571500"/>
          </a:xfrm>
          <a:prstGeom prst="rect">
            <a:avLst/>
          </a:prstGeom>
          <a:solidFill>
            <a:srgbClr val="000000"/>
          </a:solidFill>
        </p:spPr>
      </p:sp>
      <p:sp>
        <p:nvSpPr>
          <p:cNvPr id="43" name="Shape 40"/>
          <p:cNvSpPr/>
          <p:nvPr/>
        </p:nvSpPr>
        <p:spPr>
          <a:xfrm>
            <a:off x="5000625" y="3371850"/>
            <a:ext cx="3714750" cy="7144"/>
          </a:xfrm>
          <a:prstGeom prst="rect">
            <a:avLst/>
          </a:prstGeom>
          <a:solidFill>
            <a:srgbClr val="000000"/>
          </a:solidFill>
        </p:spPr>
      </p:sp>
      <p:sp>
        <p:nvSpPr>
          <p:cNvPr id="44" name="Shape 41"/>
          <p:cNvSpPr/>
          <p:nvPr/>
        </p:nvSpPr>
        <p:spPr>
          <a:xfrm>
            <a:off x="5000625" y="2807494"/>
            <a:ext cx="42863" cy="571500"/>
          </a:xfrm>
          <a:prstGeom prst="rect">
            <a:avLst/>
          </a:prstGeom>
          <a:solidFill>
            <a:srgbClr val="000000"/>
          </a:solidFill>
        </p:spPr>
      </p:sp>
      <p:sp>
        <p:nvSpPr>
          <p:cNvPr id="45" name="Text 42"/>
          <p:cNvSpPr/>
          <p:nvPr/>
        </p:nvSpPr>
        <p:spPr>
          <a:xfrm>
            <a:off x="5107781" y="3032885"/>
            <a:ext cx="3500438" cy="120718"/>
          </a:xfrm>
          <a:prstGeom prst="rect">
            <a:avLst/>
          </a:prstGeom>
          <a:noFill/>
        </p:spPr>
        <p:txBody>
          <a:bodyPr wrap="none" lIns="0" tIns="0" rIns="0" bIns="0" rtlCol="0" anchor="t">
            <a:spAutoFit/>
          </a:bodyPr>
          <a:lstStyle/>
          <a:p>
            <a:pPr marL="0" indent="0" algn="l">
              <a:lnSpc>
                <a:spcPct val="104000"/>
              </a:lnSpc>
              <a:buNone/>
            </a:pPr>
            <a:r>
              <a:rPr lang="en-US" sz="650" dirty="0">
                <a:solidFill>
                  <a:srgbClr val="333333"/>
                </a:solidFill>
                <a:latin typeface="Inter" pitchFamily="34" charset="0"/>
                <a:ea typeface="Inter" pitchFamily="34" charset="-122"/>
                <a:cs typeface="Inter" pitchFamily="34" charset="-120"/>
              </a:rPr>
              <a:t>Network Traffic Filtering, Protocol Analysis, Encrypted Traffic Analysis.</a:t>
            </a:r>
            <a:endParaRPr lang="en-US" sz="650" dirty="0"/>
          </a:p>
        </p:txBody>
      </p:sp>
      <p:pic>
        <p:nvPicPr>
          <p:cNvPr id="46" name="Image 1" descr="preencoded.png"/>
          <p:cNvPicPr>
            <a:picLocks noChangeAspect="1"/>
          </p:cNvPicPr>
          <p:nvPr/>
        </p:nvPicPr>
        <p:blipFill>
          <a:blip r:embed="rId2"/>
          <a:stretch>
            <a:fillRect/>
          </a:stretch>
        </p:blipFill>
        <p:spPr>
          <a:xfrm>
            <a:off x="578644" y="3804745"/>
            <a:ext cx="228600" cy="228600"/>
          </a:xfrm>
          <a:prstGeom prst="rect">
            <a:avLst/>
          </a:prstGeom>
        </p:spPr>
      </p:pic>
      <p:sp>
        <p:nvSpPr>
          <p:cNvPr id="47" name="Text 43"/>
          <p:cNvSpPr/>
          <p:nvPr/>
        </p:nvSpPr>
        <p:spPr>
          <a:xfrm>
            <a:off x="950119" y="3779044"/>
            <a:ext cx="7615238" cy="280002"/>
          </a:xfrm>
          <a:prstGeom prst="rect">
            <a:avLst/>
          </a:prstGeom>
          <a:noFill/>
        </p:spPr>
        <p:txBody>
          <a:bodyPr wrap="square" lIns="0" tIns="0" rIns="0" bIns="0" rtlCol="0" anchor="t">
            <a:spAutoFit/>
          </a:bodyPr>
          <a:lstStyle/>
          <a:p>
            <a:pPr marL="0" indent="0" algn="l">
              <a:lnSpc>
                <a:spcPct val="112000"/>
              </a:lnSpc>
              <a:buNone/>
            </a:pPr>
            <a:r>
              <a:rPr lang="en-US" sz="700" b="1" dirty="0">
                <a:solidFill>
                  <a:srgbClr val="000000"/>
                </a:solidFill>
                <a:latin typeface="Inter Bold" pitchFamily="34" charset="0"/>
                <a:ea typeface="Inter Bold" pitchFamily="34" charset="-122"/>
                <a:cs typeface="Inter Bold" pitchFamily="34" charset="-120"/>
              </a:rPr>
              <a:t>Colonial Pipeline (2021):</a:t>
            </a:r>
            <a:r>
              <a:rPr lang="en-US" sz="750" dirty="0">
                <a:solidFill>
                  <a:srgbClr val="000000"/>
                </a:solidFill>
                <a:latin typeface="Inter" pitchFamily="34" charset="0"/>
                <a:ea typeface="Inter" pitchFamily="34" charset="-122"/>
                <a:cs typeface="Inter" pitchFamily="34" charset="-120"/>
              </a:rPr>
              <a:t> A D3FEND audit revealed 67% of critical pipeline operators had zero coverage for lateral movement techniques—the exact path used </a:t>
            </a:r>
            <a:r>
              <a:rPr lang="en-US" sz="750" dirty="0">
                <a:solidFill>
                  <a:srgbClr val="000000"/>
                </a:solidFill>
                <a:latin typeface="Inter" pitchFamily="34" charset="0"/>
                <a:ea typeface="Inter" pitchFamily="34" charset="-122"/>
                <a:cs typeface="Inter" pitchFamily="34" charset="-120"/>
              </a:rPr>
              <a:t>to spread the ransomware.</a:t>
            </a:r>
            <a:endParaRPr lang="en-US" sz="750" dirty="0"/>
          </a:p>
        </p:txBody>
      </p:sp>
      <p:sp>
        <p:nvSpPr>
          <p:cNvPr id="48" name="Shape 44"/>
          <p:cNvSpPr/>
          <p:nvPr/>
        </p:nvSpPr>
        <p:spPr>
          <a:xfrm>
            <a:off x="428625" y="4316220"/>
            <a:ext cx="8286750" cy="326827"/>
          </a:xfrm>
          <a:prstGeom prst="rect">
            <a:avLst/>
          </a:prstGeom>
          <a:solidFill>
            <a:srgbClr val="F5C518"/>
          </a:solidFill>
        </p:spPr>
      </p:sp>
      <p:sp>
        <p:nvSpPr>
          <p:cNvPr id="49" name="Text 45"/>
          <p:cNvSpPr/>
          <p:nvPr/>
        </p:nvSpPr>
        <p:spPr>
          <a:xfrm>
            <a:off x="428625" y="4316220"/>
            <a:ext cx="8286750" cy="326827"/>
          </a:xfrm>
          <a:prstGeom prst="rect">
            <a:avLst/>
          </a:prstGeom>
          <a:noFill/>
        </p:spPr>
        <p:txBody>
          <a:bodyPr wrap="square" lIns="170053" tIns="102108" rIns="170053" bIns="102108" rtlCol="0" anchor="t">
            <a:spAutoFit/>
          </a:bodyPr>
          <a:lstStyle/>
          <a:p>
            <a:pPr marL="0" indent="0" algn="ctr">
              <a:buNone/>
            </a:pPr>
            <a:r>
              <a:rPr lang="en-US" sz="900" b="1" dirty="0">
                <a:solidFill>
                  <a:srgbClr val="000000"/>
                </a:solidFill>
                <a:latin typeface="Inter Bold" pitchFamily="34" charset="0"/>
                <a:ea typeface="Inter Bold" pitchFamily="34" charset="-122"/>
                <a:cs typeface="Inter Bold" pitchFamily="34" charset="-120"/>
              </a:rPr>
              <a:t>ATT&amp;CK is the opponent's playbook. D3FEND is your coach's counter-tactic for every play.</a:t>
            </a:r>
            <a:endParaRPr lang="en-US" sz="900" dirty="0"/>
          </a:p>
        </p:txBody>
      </p:sp>
      <p:sp>
        <p:nvSpPr>
          <p:cNvPr id="50" name="Oval 49"/>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285750"/>
            <a:ext cx="571500" cy="228600"/>
          </a:xfrm>
          <a:prstGeom prst="roundRect">
            <a:avLst/>
          </a:prstGeom>
          <a:solidFill>
            <a:srgbClr val="FACC15"/>
          </a:solidFill>
        </p:spPr>
      </p:sp>
      <p:sp>
        <p:nvSpPr>
          <p:cNvPr id="5" name="Text 1"/>
          <p:cNvSpPr/>
          <p:nvPr/>
        </p:nvSpPr>
        <p:spPr>
          <a:xfrm>
            <a:off x="1107281" y="322362"/>
            <a:ext cx="1310878" cy="155377"/>
          </a:xfrm>
          <a:prstGeom prst="rect">
            <a:avLst/>
          </a:prstGeom>
          <a:noFill/>
        </p:spPr>
        <p:txBody>
          <a:bodyPr wrap="square" lIns="0" tIns="0" rIns="0" bIns="0" rtlCol="0" anchor="t">
            <a:spAutoFit/>
          </a:bodyPr>
          <a:lstStyle/>
          <a:p>
            <a:pPr marL="0" indent="0" algn="l">
              <a:buNone/>
            </a:pPr>
            <a:r>
              <a:rPr lang="en-US" sz="950" dirty="0">
                <a:solidFill>
                  <a:srgbClr val="000000"/>
                </a:solidFill>
                <a:latin typeface="Inter" pitchFamily="34" charset="0"/>
                <a:ea typeface="Inter" pitchFamily="34" charset="-122"/>
                <a:cs typeface="Inter" pitchFamily="34" charset="-120"/>
              </a:rPr>
              <a:t>Hidden Investigations</a:t>
            </a:r>
            <a:endParaRPr lang="en-US" sz="950" dirty="0"/>
          </a:p>
        </p:txBody>
      </p:sp>
      <p:sp>
        <p:nvSpPr>
          <p:cNvPr id="6" name="Text 2"/>
          <p:cNvSpPr/>
          <p:nvPr/>
        </p:nvSpPr>
        <p:spPr>
          <a:xfrm>
            <a:off x="428625" y="857250"/>
            <a:ext cx="7143750" cy="414338"/>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ExtraBold" pitchFamily="34" charset="0"/>
                <a:ea typeface="Inter ExtraBold" pitchFamily="34" charset="-122"/>
                <a:cs typeface="Inter ExtraBold" pitchFamily="34" charset="-120"/>
              </a:rPr>
              <a:t>ENGAGE → MITRE's Deception Framework</a:t>
            </a:r>
            <a:endParaRPr lang="en-US" sz="2450" dirty="0"/>
          </a:p>
        </p:txBody>
      </p:sp>
      <p:sp>
        <p:nvSpPr>
          <p:cNvPr id="7" name="Text 3"/>
          <p:cNvSpPr/>
          <p:nvPr/>
        </p:nvSpPr>
        <p:spPr>
          <a:xfrm>
            <a:off x="428625" y="1343025"/>
            <a:ext cx="3149724"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What is it?</a:t>
            </a:r>
            <a:endParaRPr lang="en-US" sz="1200" dirty="0"/>
          </a:p>
        </p:txBody>
      </p:sp>
      <p:sp>
        <p:nvSpPr>
          <p:cNvPr id="8" name="Text 4"/>
          <p:cNvSpPr/>
          <p:nvPr/>
        </p:nvSpPr>
        <p:spPr>
          <a:xfrm>
            <a:off x="428625" y="1657350"/>
            <a:ext cx="3149724" cy="617153"/>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MITRE ENGAGE is a framework for </a:t>
            </a:r>
            <a:r>
              <a:rPr lang="en-US" sz="900" b="1" dirty="0">
                <a:solidFill>
                  <a:srgbClr val="333333"/>
                </a:solidFill>
                <a:latin typeface="Inter ExtraBold" pitchFamily="34" charset="0"/>
                <a:ea typeface="Inter ExtraBold" pitchFamily="34" charset="-122"/>
                <a:cs typeface="Inter ExtraBold" pitchFamily="34" charset="-120"/>
              </a:rPr>
              <a:t>adversary engagement</a:t>
            </a:r>
            <a:r>
              <a:rPr lang="en-US" sz="950" dirty="0">
                <a:solidFill>
                  <a:srgbClr val="333333"/>
                </a:solidFill>
                <a:latin typeface="Inter" pitchFamily="34" charset="0"/>
                <a:ea typeface="Inter" pitchFamily="34" charset="-122"/>
                <a:cs typeface="Inter" pitchFamily="34" charset="-120"/>
              </a:rPr>
              <a:t>. It moves defense from passive to </a:t>
            </a:r>
            <a:r>
              <a:rPr lang="en-US" sz="950" dirty="0">
                <a:solidFill>
                  <a:srgbClr val="333333"/>
                </a:solidFill>
                <a:latin typeface="Inter" pitchFamily="34" charset="0"/>
                <a:ea typeface="Inter" pitchFamily="34" charset="-122"/>
                <a:cs typeface="Inter" pitchFamily="34" charset="-120"/>
              </a:rPr>
              <a:t>active deception.</a:t>
            </a:r>
            <a:endParaRPr lang="en-US" sz="950" dirty="0"/>
          </a:p>
        </p:txBody>
      </p:sp>
      <p:sp>
        <p:nvSpPr>
          <p:cNvPr id="9" name="Text 5"/>
          <p:cNvSpPr/>
          <p:nvPr/>
        </p:nvSpPr>
        <p:spPr>
          <a:xfrm>
            <a:off x="428625" y="2381659"/>
            <a:ext cx="3149724"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Why does it matter?</a:t>
            </a:r>
            <a:endParaRPr lang="en-US" sz="1200" dirty="0"/>
          </a:p>
        </p:txBody>
      </p:sp>
      <p:sp>
        <p:nvSpPr>
          <p:cNvPr id="10" name="Text 6"/>
          <p:cNvSpPr/>
          <p:nvPr/>
        </p:nvSpPr>
        <p:spPr>
          <a:xfrm>
            <a:off x="428625" y="2695984"/>
            <a:ext cx="3149724" cy="617153"/>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Deception influences attacker decisions and gathers high-fidelity intelligence without "hacking back."</a:t>
            </a:r>
            <a:endParaRPr lang="en-US" sz="950" dirty="0"/>
          </a:p>
        </p:txBody>
      </p:sp>
      <p:sp>
        <p:nvSpPr>
          <p:cNvPr id="11" name="Shape 7"/>
          <p:cNvSpPr/>
          <p:nvPr/>
        </p:nvSpPr>
        <p:spPr>
          <a:xfrm>
            <a:off x="428625" y="3420294"/>
            <a:ext cx="3149724" cy="446484"/>
          </a:xfrm>
          <a:prstGeom prst="rect">
            <a:avLst/>
          </a:prstGeom>
          <a:solidFill>
            <a:srgbClr val="FFFBEB"/>
          </a:solidFill>
        </p:spPr>
      </p:sp>
      <p:sp>
        <p:nvSpPr>
          <p:cNvPr id="12" name="Shape 8"/>
          <p:cNvSpPr/>
          <p:nvPr/>
        </p:nvSpPr>
        <p:spPr>
          <a:xfrm>
            <a:off x="428625" y="3420294"/>
            <a:ext cx="28575" cy="446484"/>
          </a:xfrm>
          <a:prstGeom prst="rect">
            <a:avLst/>
          </a:prstGeom>
          <a:solidFill>
            <a:srgbClr val="FACC15"/>
          </a:solidFill>
        </p:spPr>
      </p:sp>
      <p:sp>
        <p:nvSpPr>
          <p:cNvPr id="13" name="Text 9"/>
          <p:cNvSpPr/>
          <p:nvPr/>
        </p:nvSpPr>
        <p:spPr>
          <a:xfrm>
            <a:off x="428625" y="3420294"/>
            <a:ext cx="3149724" cy="446484"/>
          </a:xfrm>
          <a:prstGeom prst="rect">
            <a:avLst/>
          </a:prstGeom>
          <a:noFill/>
        </p:spPr>
        <p:txBody>
          <a:bodyPr wrap="square" lIns="102108" tIns="102108" rIns="102108" bIns="102108"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Important Note:</a:t>
            </a:r>
            <a:r>
              <a:rPr lang="en-US" sz="850" dirty="0">
                <a:solidFill>
                  <a:srgbClr val="333333"/>
                </a:solidFill>
                <a:latin typeface="Inter" pitchFamily="34" charset="0"/>
                <a:ea typeface="Inter" pitchFamily="34" charset="-122"/>
                <a:cs typeface="Inter" pitchFamily="34" charset="-120"/>
              </a:rPr>
              <a:t> Deception is about </a:t>
            </a:r>
            <a:r>
              <a:rPr lang="en-US" sz="800" b="1" dirty="0">
                <a:solidFill>
                  <a:srgbClr val="000000"/>
                </a:solidFill>
                <a:latin typeface="Inter ExtraBold" pitchFamily="34" charset="0"/>
                <a:ea typeface="Inter ExtraBold" pitchFamily="34" charset="-122"/>
                <a:cs typeface="Inter ExtraBold" pitchFamily="34" charset="-120"/>
              </a:rPr>
              <a:t>observation</a:t>
            </a:r>
            <a:r>
              <a:rPr lang="en-US" sz="850" dirty="0">
                <a:solidFill>
                  <a:srgbClr val="333333"/>
                </a:solidFill>
                <a:latin typeface="Inter" pitchFamily="34" charset="0"/>
                <a:ea typeface="Inter" pitchFamily="34" charset="-122"/>
                <a:cs typeface="Inter" pitchFamily="34" charset="-120"/>
              </a:rPr>
              <a:t> and </a:t>
            </a:r>
            <a:r>
              <a:rPr lang="en-US" sz="800" b="1" dirty="0">
                <a:solidFill>
                  <a:srgbClr val="000000"/>
                </a:solidFill>
                <a:latin typeface="Inter ExtraBold" pitchFamily="34" charset="0"/>
                <a:ea typeface="Inter ExtraBold" pitchFamily="34" charset="-122"/>
                <a:cs typeface="Inter ExtraBold" pitchFamily="34" charset="-120"/>
              </a:rPr>
              <a:t>intelligence</a:t>
            </a:r>
            <a:r>
              <a:rPr lang="en-US" sz="850" dirty="0">
                <a:solidFill>
                  <a:srgbClr val="333333"/>
                </a:solidFill>
                <a:latin typeface="Inter" pitchFamily="34" charset="0"/>
                <a:ea typeface="Inter" pitchFamily="34" charset="-122"/>
                <a:cs typeface="Inter" pitchFamily="34" charset="-120"/>
              </a:rPr>
              <a:t>. It is not offensive hacking or retaliation.</a:t>
            </a:r>
            <a:endParaRPr lang="en-US" sz="850" dirty="0"/>
          </a:p>
        </p:txBody>
      </p:sp>
      <p:sp>
        <p:nvSpPr>
          <p:cNvPr id="14" name="Shape 10"/>
          <p:cNvSpPr/>
          <p:nvPr/>
        </p:nvSpPr>
        <p:spPr>
          <a:xfrm>
            <a:off x="3792662" y="1343025"/>
            <a:ext cx="3779713" cy="3041452"/>
          </a:xfrm>
          <a:prstGeom prst="rect">
            <a:avLst/>
          </a:prstGeom>
          <a:solidFill>
            <a:srgbClr val="F9FAFB"/>
          </a:solidFill>
        </p:spPr>
      </p:sp>
      <p:sp>
        <p:nvSpPr>
          <p:cNvPr id="15" name="Shape 11"/>
          <p:cNvSpPr/>
          <p:nvPr/>
        </p:nvSpPr>
        <p:spPr>
          <a:xfrm>
            <a:off x="3906962" y="1457325"/>
            <a:ext cx="3551113" cy="514350"/>
          </a:xfrm>
          <a:prstGeom prst="rect">
            <a:avLst/>
          </a:prstGeom>
          <a:solidFill>
            <a:srgbClr val="FFFFFF"/>
          </a:solidFill>
          <a:ln w="9144">
            <a:solidFill>
              <a:srgbClr val="E5E7EB"/>
            </a:solidFill>
            <a:prstDash val="solid"/>
          </a:ln>
        </p:spPr>
      </p:sp>
      <p:sp>
        <p:nvSpPr>
          <p:cNvPr id="16" name="Shape 12"/>
          <p:cNvSpPr/>
          <p:nvPr/>
        </p:nvSpPr>
        <p:spPr>
          <a:xfrm>
            <a:off x="3978399" y="1528763"/>
            <a:ext cx="357188" cy="357188"/>
          </a:xfrm>
          <a:prstGeom prst="rect">
            <a:avLst/>
          </a:prstGeom>
          <a:solidFill>
            <a:srgbClr val="FACC15"/>
          </a:solidFill>
        </p:spPr>
      </p:sp>
      <p:pic>
        <p:nvPicPr>
          <p:cNvPr id="17" name="Image 1" descr="preencoded.png"/>
          <p:cNvPicPr>
            <a:picLocks noChangeAspect="1"/>
          </p:cNvPicPr>
          <p:nvPr/>
        </p:nvPicPr>
        <p:blipFill>
          <a:blip r:embed="rId2"/>
          <a:stretch>
            <a:fillRect/>
          </a:stretch>
        </p:blipFill>
        <p:spPr>
          <a:xfrm>
            <a:off x="4094485" y="1635919"/>
            <a:ext cx="125016" cy="142875"/>
          </a:xfrm>
          <a:prstGeom prst="rect">
            <a:avLst/>
          </a:prstGeom>
        </p:spPr>
      </p:pic>
      <p:sp>
        <p:nvSpPr>
          <p:cNvPr id="18" name="Text 13"/>
          <p:cNvSpPr/>
          <p:nvPr/>
        </p:nvSpPr>
        <p:spPr>
          <a:xfrm>
            <a:off x="4421312" y="1560909"/>
            <a:ext cx="1816298"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ExtraBold" pitchFamily="34" charset="0"/>
                <a:ea typeface="Inter ExtraBold" pitchFamily="34" charset="-122"/>
                <a:cs typeface="Inter ExtraBold" pitchFamily="34" charset="-120"/>
              </a:rPr>
              <a:t>Attacker Scan</a:t>
            </a:r>
            <a:endParaRPr lang="en-US" sz="900" dirty="0"/>
          </a:p>
        </p:txBody>
      </p:sp>
      <p:sp>
        <p:nvSpPr>
          <p:cNvPr id="19" name="Text 14"/>
          <p:cNvSpPr/>
          <p:nvPr/>
        </p:nvSpPr>
        <p:spPr>
          <a:xfrm>
            <a:off x="4421312" y="1730573"/>
            <a:ext cx="1816298"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Adversary looks for high-value targets</a:t>
            </a:r>
            <a:endParaRPr lang="en-US" sz="750" dirty="0"/>
          </a:p>
        </p:txBody>
      </p:sp>
      <p:pic>
        <p:nvPicPr>
          <p:cNvPr id="20" name="Image 2" descr="preencoded.png"/>
          <p:cNvPicPr>
            <a:picLocks noChangeAspect="1"/>
          </p:cNvPicPr>
          <p:nvPr/>
        </p:nvPicPr>
        <p:blipFill>
          <a:blip r:embed="rId3"/>
          <a:stretch>
            <a:fillRect/>
          </a:stretch>
        </p:blipFill>
        <p:spPr>
          <a:xfrm>
            <a:off x="5639656" y="2025253"/>
            <a:ext cx="85725" cy="114300"/>
          </a:xfrm>
          <a:prstGeom prst="rect">
            <a:avLst/>
          </a:prstGeom>
        </p:spPr>
      </p:pic>
      <p:sp>
        <p:nvSpPr>
          <p:cNvPr id="21" name="Shape 15"/>
          <p:cNvSpPr/>
          <p:nvPr/>
        </p:nvSpPr>
        <p:spPr>
          <a:xfrm>
            <a:off x="3906962" y="2209205"/>
            <a:ext cx="3551113" cy="514350"/>
          </a:xfrm>
          <a:prstGeom prst="rect">
            <a:avLst/>
          </a:prstGeom>
          <a:solidFill>
            <a:srgbClr val="FFFFFF"/>
          </a:solidFill>
          <a:ln w="9144">
            <a:solidFill>
              <a:srgbClr val="E5E7EB"/>
            </a:solidFill>
            <a:prstDash val="solid"/>
          </a:ln>
        </p:spPr>
      </p:sp>
      <p:sp>
        <p:nvSpPr>
          <p:cNvPr id="22" name="Shape 16"/>
          <p:cNvSpPr/>
          <p:nvPr/>
        </p:nvSpPr>
        <p:spPr>
          <a:xfrm>
            <a:off x="3978399" y="2280642"/>
            <a:ext cx="357188" cy="357188"/>
          </a:xfrm>
          <a:prstGeom prst="rect">
            <a:avLst/>
          </a:prstGeom>
          <a:solidFill>
            <a:srgbClr val="FACC15"/>
          </a:solidFill>
        </p:spPr>
      </p:sp>
      <p:pic>
        <p:nvPicPr>
          <p:cNvPr id="23" name="Image 3" descr="preencoded.png"/>
          <p:cNvPicPr>
            <a:picLocks noChangeAspect="1"/>
          </p:cNvPicPr>
          <p:nvPr/>
        </p:nvPicPr>
        <p:blipFill>
          <a:blip r:embed="rId4"/>
          <a:stretch>
            <a:fillRect/>
          </a:stretch>
        </p:blipFill>
        <p:spPr>
          <a:xfrm>
            <a:off x="4085555" y="2387798"/>
            <a:ext cx="142875" cy="142875"/>
          </a:xfrm>
          <a:prstGeom prst="rect">
            <a:avLst/>
          </a:prstGeom>
        </p:spPr>
      </p:pic>
      <p:sp>
        <p:nvSpPr>
          <p:cNvPr id="24" name="Text 17"/>
          <p:cNvSpPr/>
          <p:nvPr/>
        </p:nvSpPr>
        <p:spPr>
          <a:xfrm>
            <a:off x="4421312" y="2312789"/>
            <a:ext cx="2000250"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ExtraBold" pitchFamily="34" charset="0"/>
                <a:ea typeface="Inter ExtraBold" pitchFamily="34" charset="-122"/>
                <a:cs typeface="Inter ExtraBold" pitchFamily="34" charset="-120"/>
              </a:rPr>
              <a:t>Fake Payroll Server</a:t>
            </a:r>
            <a:endParaRPr lang="en-US" sz="900" dirty="0"/>
          </a:p>
        </p:txBody>
      </p:sp>
      <p:sp>
        <p:nvSpPr>
          <p:cNvPr id="25" name="Text 18"/>
          <p:cNvSpPr/>
          <p:nvPr/>
        </p:nvSpPr>
        <p:spPr>
          <a:xfrm>
            <a:off x="4421312" y="2482453"/>
            <a:ext cx="2000250"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Decoy system with honeytokens deployed</a:t>
            </a:r>
            <a:endParaRPr lang="en-US" sz="750" dirty="0"/>
          </a:p>
        </p:txBody>
      </p:sp>
      <p:pic>
        <p:nvPicPr>
          <p:cNvPr id="26" name="Image 4" descr="preencoded.png"/>
          <p:cNvPicPr>
            <a:picLocks noChangeAspect="1"/>
          </p:cNvPicPr>
          <p:nvPr/>
        </p:nvPicPr>
        <p:blipFill>
          <a:blip r:embed="rId5"/>
          <a:stretch>
            <a:fillRect/>
          </a:stretch>
        </p:blipFill>
        <p:spPr>
          <a:xfrm>
            <a:off x="5639656" y="2777133"/>
            <a:ext cx="85725" cy="114300"/>
          </a:xfrm>
          <a:prstGeom prst="rect">
            <a:avLst/>
          </a:prstGeom>
        </p:spPr>
      </p:pic>
      <p:sp>
        <p:nvSpPr>
          <p:cNvPr id="27" name="Shape 19"/>
          <p:cNvSpPr/>
          <p:nvPr/>
        </p:nvSpPr>
        <p:spPr>
          <a:xfrm>
            <a:off x="3906962" y="2961084"/>
            <a:ext cx="3551113" cy="514350"/>
          </a:xfrm>
          <a:prstGeom prst="rect">
            <a:avLst/>
          </a:prstGeom>
          <a:solidFill>
            <a:srgbClr val="FFFFFF"/>
          </a:solidFill>
          <a:ln w="9144">
            <a:solidFill>
              <a:srgbClr val="E5E7EB"/>
            </a:solidFill>
            <a:prstDash val="solid"/>
          </a:ln>
        </p:spPr>
      </p:sp>
      <p:sp>
        <p:nvSpPr>
          <p:cNvPr id="28" name="Shape 20"/>
          <p:cNvSpPr/>
          <p:nvPr/>
        </p:nvSpPr>
        <p:spPr>
          <a:xfrm>
            <a:off x="3978399" y="3032522"/>
            <a:ext cx="357188" cy="357188"/>
          </a:xfrm>
          <a:prstGeom prst="rect">
            <a:avLst/>
          </a:prstGeom>
          <a:solidFill>
            <a:srgbClr val="FACC15"/>
          </a:solidFill>
        </p:spPr>
      </p:sp>
      <p:pic>
        <p:nvPicPr>
          <p:cNvPr id="29" name="Image 5" descr="preencoded.png"/>
          <p:cNvPicPr>
            <a:picLocks noChangeAspect="1"/>
          </p:cNvPicPr>
          <p:nvPr/>
        </p:nvPicPr>
        <p:blipFill>
          <a:blip r:embed="rId6"/>
          <a:stretch>
            <a:fillRect/>
          </a:stretch>
        </p:blipFill>
        <p:spPr>
          <a:xfrm>
            <a:off x="4112344" y="3139678"/>
            <a:ext cx="89297" cy="142875"/>
          </a:xfrm>
          <a:prstGeom prst="rect">
            <a:avLst/>
          </a:prstGeom>
        </p:spPr>
      </p:pic>
      <p:sp>
        <p:nvSpPr>
          <p:cNvPr id="30" name="Text 21"/>
          <p:cNvSpPr/>
          <p:nvPr/>
        </p:nvSpPr>
        <p:spPr>
          <a:xfrm>
            <a:off x="4421312" y="3064669"/>
            <a:ext cx="1644848"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ExtraBold" pitchFamily="34" charset="0"/>
                <a:ea typeface="Inter ExtraBold" pitchFamily="34" charset="-122"/>
                <a:cs typeface="Inter ExtraBold" pitchFamily="34" charset="-120"/>
              </a:rPr>
              <a:t>Attacker Access</a:t>
            </a:r>
            <a:endParaRPr lang="en-US" sz="900" dirty="0"/>
          </a:p>
        </p:txBody>
      </p:sp>
      <p:sp>
        <p:nvSpPr>
          <p:cNvPr id="31" name="Text 22"/>
          <p:cNvSpPr/>
          <p:nvPr/>
        </p:nvSpPr>
        <p:spPr>
          <a:xfrm>
            <a:off x="4421312" y="3234333"/>
            <a:ext cx="1644848"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Adversary interacts with the decoy</a:t>
            </a:r>
            <a:endParaRPr lang="en-US" sz="750" dirty="0"/>
          </a:p>
        </p:txBody>
      </p:sp>
      <p:pic>
        <p:nvPicPr>
          <p:cNvPr id="32" name="Image 6" descr="preencoded.png"/>
          <p:cNvPicPr>
            <a:picLocks noChangeAspect="1"/>
          </p:cNvPicPr>
          <p:nvPr/>
        </p:nvPicPr>
        <p:blipFill>
          <a:blip r:embed="rId7"/>
          <a:stretch>
            <a:fillRect/>
          </a:stretch>
        </p:blipFill>
        <p:spPr>
          <a:xfrm>
            <a:off x="5639656" y="3529013"/>
            <a:ext cx="85725" cy="114300"/>
          </a:xfrm>
          <a:prstGeom prst="rect">
            <a:avLst/>
          </a:prstGeom>
        </p:spPr>
      </p:pic>
      <p:sp>
        <p:nvSpPr>
          <p:cNvPr id="33" name="Shape 23"/>
          <p:cNvSpPr/>
          <p:nvPr/>
        </p:nvSpPr>
        <p:spPr>
          <a:xfrm>
            <a:off x="3906962" y="3712964"/>
            <a:ext cx="3551113" cy="514350"/>
          </a:xfrm>
          <a:prstGeom prst="rect">
            <a:avLst/>
          </a:prstGeom>
          <a:solidFill>
            <a:srgbClr val="FFFFFF"/>
          </a:solidFill>
          <a:ln w="9144">
            <a:solidFill>
              <a:srgbClr val="FACC15"/>
            </a:solidFill>
            <a:prstDash val="solid"/>
          </a:ln>
        </p:spPr>
      </p:sp>
      <p:sp>
        <p:nvSpPr>
          <p:cNvPr id="34" name="Shape 24"/>
          <p:cNvSpPr/>
          <p:nvPr/>
        </p:nvSpPr>
        <p:spPr>
          <a:xfrm>
            <a:off x="3978399" y="3784402"/>
            <a:ext cx="357188" cy="357188"/>
          </a:xfrm>
          <a:prstGeom prst="rect">
            <a:avLst/>
          </a:prstGeom>
          <a:solidFill>
            <a:srgbClr val="000000"/>
          </a:solidFill>
        </p:spPr>
      </p:sp>
      <p:pic>
        <p:nvPicPr>
          <p:cNvPr id="35" name="Image 7" descr="preencoded.png"/>
          <p:cNvPicPr>
            <a:picLocks noChangeAspect="1"/>
          </p:cNvPicPr>
          <p:nvPr/>
        </p:nvPicPr>
        <p:blipFill>
          <a:blip r:embed="rId8"/>
          <a:stretch>
            <a:fillRect/>
          </a:stretch>
        </p:blipFill>
        <p:spPr>
          <a:xfrm>
            <a:off x="4094485" y="3891558"/>
            <a:ext cx="125016" cy="142875"/>
          </a:xfrm>
          <a:prstGeom prst="rect">
            <a:avLst/>
          </a:prstGeom>
        </p:spPr>
      </p:pic>
      <p:sp>
        <p:nvSpPr>
          <p:cNvPr id="36" name="Text 25"/>
          <p:cNvSpPr/>
          <p:nvPr/>
        </p:nvSpPr>
        <p:spPr>
          <a:xfrm>
            <a:off x="4421312" y="3816548"/>
            <a:ext cx="1591270"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ExtraBold" pitchFamily="34" charset="0"/>
                <a:ea typeface="Inter ExtraBold" pitchFamily="34" charset="-122"/>
                <a:cs typeface="Inter ExtraBold" pitchFamily="34" charset="-120"/>
              </a:rPr>
              <a:t>SOC Alert Triggered</a:t>
            </a:r>
            <a:endParaRPr lang="en-US" sz="900" dirty="0"/>
          </a:p>
        </p:txBody>
      </p:sp>
      <p:sp>
        <p:nvSpPr>
          <p:cNvPr id="37" name="Text 26"/>
          <p:cNvSpPr/>
          <p:nvPr/>
        </p:nvSpPr>
        <p:spPr>
          <a:xfrm>
            <a:off x="4421312" y="3986213"/>
            <a:ext cx="1591270"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Immediate, high-fidelity detection</a:t>
            </a:r>
            <a:endParaRPr lang="en-US" sz="750" dirty="0"/>
          </a:p>
        </p:txBody>
      </p:sp>
      <p:sp>
        <p:nvSpPr>
          <p:cNvPr id="38" name="Shape 27"/>
          <p:cNvSpPr/>
          <p:nvPr/>
        </p:nvSpPr>
        <p:spPr>
          <a:xfrm>
            <a:off x="428625" y="4293989"/>
            <a:ext cx="4677370" cy="280392"/>
          </a:xfrm>
          <a:prstGeom prst="rect">
            <a:avLst/>
          </a:prstGeom>
          <a:solidFill>
            <a:srgbClr val="000000"/>
          </a:solidFill>
        </p:spPr>
      </p:sp>
      <p:sp>
        <p:nvSpPr>
          <p:cNvPr id="39" name="Text 28"/>
          <p:cNvSpPr/>
          <p:nvPr/>
        </p:nvSpPr>
        <p:spPr>
          <a:xfrm>
            <a:off x="428625" y="4287004"/>
            <a:ext cx="4677370" cy="280392"/>
          </a:xfrm>
          <a:prstGeom prst="rect">
            <a:avLst/>
          </a:prstGeom>
          <a:noFill/>
        </p:spPr>
        <p:txBody>
          <a:bodyPr wrap="square" lIns="170053" tIns="85090" rIns="170053" bIns="85090" rtlCol="0" anchor="t">
            <a:spAutoFit/>
          </a:bodyPr>
          <a:lstStyle/>
          <a:p>
            <a:pPr marL="0" indent="0" algn="l">
              <a:buNone/>
            </a:pPr>
            <a:r>
              <a:rPr lang="en-US" sz="800" dirty="0">
                <a:solidFill>
                  <a:srgbClr val="FFFFFF"/>
                </a:solidFill>
                <a:latin typeface="Inter SemiBold" pitchFamily="34" charset="0"/>
                <a:ea typeface="Inter SemiBold" pitchFamily="34" charset="-122"/>
                <a:cs typeface="Inter SemiBold" pitchFamily="34" charset="-120"/>
              </a:rPr>
              <a:t>Key Takeaway: A decoy touched by nobody becomes an early-warning system.</a:t>
            </a:r>
            <a:endParaRPr lang="en-US" sz="800" dirty="0"/>
          </a:p>
        </p:txBody>
      </p:sp>
      <p:sp>
        <p:nvSpPr>
          <p:cNvPr id="40" name="Text 29"/>
          <p:cNvSpPr/>
          <p:nvPr/>
        </p:nvSpPr>
        <p:spPr>
          <a:xfrm>
            <a:off x="428625" y="4702373"/>
            <a:ext cx="8286750" cy="155377"/>
          </a:xfrm>
          <a:prstGeom prst="rect">
            <a:avLst/>
          </a:prstGeom>
          <a:noFill/>
        </p:spPr>
        <p:txBody>
          <a:bodyPr wrap="square" lIns="0" tIns="0" rIns="0" bIns="0" rtlCol="0" anchor="t">
            <a:spAutoFit/>
          </a:bodyPr>
          <a:lstStyle/>
          <a:p>
            <a:pPr marL="0" indent="0" algn="ctr">
              <a:buNone/>
            </a:pPr>
            <a:r>
              <a:rPr lang="en-US" sz="950" dirty="0">
                <a:solidFill>
                  <a:srgbClr val="000000"/>
                </a:solidFill>
                <a:latin typeface="Inter" pitchFamily="34" charset="0"/>
                <a:ea typeface="Inter" pitchFamily="34" charset="-122"/>
                <a:cs typeface="Inter" pitchFamily="34" charset="-120"/>
              </a:rPr>
              <a:t>Hiddeninvestigations.Net</a:t>
            </a:r>
            <a:endParaRPr lang="en-US" sz="950" dirty="0"/>
          </a:p>
        </p:txBody>
      </p:sp>
      <p:sp>
        <p:nvSpPr>
          <p:cNvPr id="2" name="Text 3"/>
          <p:cNvSpPr/>
          <p:nvPr/>
        </p:nvSpPr>
        <p:spPr>
          <a:xfrm>
            <a:off x="8270677" y="4018359"/>
            <a:ext cx="433705"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16</a:t>
            </a:r>
            <a:endParaRPr lang="en-US" sz="3300" dirty="0"/>
          </a:p>
        </p:txBody>
      </p:sp>
      <p:sp>
        <p:nvSpPr>
          <p:cNvPr id="41" name="Oval 40"/>
          <p:cNvSpPr/>
          <p:nvPr/>
        </p:nvSpPr>
        <p:spPr>
          <a:xfrm>
            <a:off x="849630"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6985"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354616" y="4018359"/>
            <a:ext cx="432435"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17</a:t>
            </a:r>
            <a:endParaRPr lang="en-US" sz="3300" dirty="0"/>
          </a:p>
        </p:txBody>
      </p:sp>
      <p:sp>
        <p:nvSpPr>
          <p:cNvPr id="7" name="Text 4"/>
          <p:cNvSpPr/>
          <p:nvPr/>
        </p:nvSpPr>
        <p:spPr>
          <a:xfrm>
            <a:off x="428625" y="714375"/>
            <a:ext cx="8286750" cy="364331"/>
          </a:xfrm>
          <a:prstGeom prst="rect">
            <a:avLst/>
          </a:prstGeom>
          <a:noFill/>
        </p:spPr>
        <p:txBody>
          <a:bodyPr wrap="square" lIns="0" tIns="0" rIns="0" bIns="0" rtlCol="0" anchor="t">
            <a:spAutoFit/>
          </a:bodyPr>
          <a:lstStyle/>
          <a:p>
            <a:pPr marL="0" indent="0" algn="l">
              <a:buNone/>
            </a:pPr>
            <a:r>
              <a:rPr lang="en-US" sz="2100" b="1" dirty="0">
                <a:solidFill>
                  <a:srgbClr val="000000"/>
                </a:solidFill>
                <a:latin typeface="Inter Black" pitchFamily="34" charset="0"/>
                <a:ea typeface="Inter Black" pitchFamily="34" charset="-122"/>
                <a:cs typeface="Inter Black" pitchFamily="34" charset="-120"/>
              </a:rPr>
              <a:t>What If You Let the Attacker In — On Purpose?</a:t>
            </a:r>
            <a:endParaRPr lang="en-US" sz="2100" dirty="0"/>
          </a:p>
        </p:txBody>
      </p:sp>
      <p:sp>
        <p:nvSpPr>
          <p:cNvPr id="8" name="Shape 5"/>
          <p:cNvSpPr/>
          <p:nvPr/>
        </p:nvSpPr>
        <p:spPr>
          <a:xfrm>
            <a:off x="428625" y="1293019"/>
            <a:ext cx="2595553" cy="1143000"/>
          </a:xfrm>
          <a:prstGeom prst="rect">
            <a:avLst/>
          </a:prstGeom>
          <a:solidFill>
            <a:srgbClr val="FFFFFF"/>
          </a:solidFill>
        </p:spPr>
      </p:sp>
      <p:sp>
        <p:nvSpPr>
          <p:cNvPr id="9" name="Shape 6"/>
          <p:cNvSpPr/>
          <p:nvPr/>
        </p:nvSpPr>
        <p:spPr>
          <a:xfrm>
            <a:off x="428625" y="1293019"/>
            <a:ext cx="2595553" cy="28575"/>
          </a:xfrm>
          <a:prstGeom prst="rect">
            <a:avLst/>
          </a:prstGeom>
          <a:solidFill>
            <a:srgbClr val="000000"/>
          </a:solidFill>
        </p:spPr>
      </p:sp>
      <p:sp>
        <p:nvSpPr>
          <p:cNvPr id="10" name="Shape 7"/>
          <p:cNvSpPr/>
          <p:nvPr/>
        </p:nvSpPr>
        <p:spPr>
          <a:xfrm>
            <a:off x="3017034" y="1293019"/>
            <a:ext cx="7144" cy="1143000"/>
          </a:xfrm>
          <a:prstGeom prst="rect">
            <a:avLst/>
          </a:prstGeom>
          <a:solidFill>
            <a:srgbClr val="EEEEEE"/>
          </a:solidFill>
        </p:spPr>
      </p:sp>
      <p:sp>
        <p:nvSpPr>
          <p:cNvPr id="11" name="Shape 8"/>
          <p:cNvSpPr/>
          <p:nvPr/>
        </p:nvSpPr>
        <p:spPr>
          <a:xfrm>
            <a:off x="428625" y="2428875"/>
            <a:ext cx="2595553" cy="7144"/>
          </a:xfrm>
          <a:prstGeom prst="rect">
            <a:avLst/>
          </a:prstGeom>
          <a:solidFill>
            <a:srgbClr val="EEEEEE"/>
          </a:solidFill>
        </p:spPr>
      </p:sp>
      <p:sp>
        <p:nvSpPr>
          <p:cNvPr id="12" name="Shape 9"/>
          <p:cNvSpPr/>
          <p:nvPr/>
        </p:nvSpPr>
        <p:spPr>
          <a:xfrm>
            <a:off x="428625" y="1293019"/>
            <a:ext cx="7144" cy="1143000"/>
          </a:xfrm>
          <a:prstGeom prst="rect">
            <a:avLst/>
          </a:prstGeom>
          <a:solidFill>
            <a:srgbClr val="EEEEEE"/>
          </a:solidFill>
        </p:spPr>
      </p:sp>
      <p:pic>
        <p:nvPicPr>
          <p:cNvPr id="13" name="Image 1" descr="preencoded.png"/>
          <p:cNvPicPr>
            <a:picLocks noChangeAspect="1"/>
          </p:cNvPicPr>
          <p:nvPr/>
        </p:nvPicPr>
        <p:blipFill>
          <a:blip r:embed="rId2"/>
          <a:stretch>
            <a:fillRect/>
          </a:stretch>
        </p:blipFill>
        <p:spPr>
          <a:xfrm>
            <a:off x="571500" y="1435894"/>
            <a:ext cx="192881" cy="171450"/>
          </a:xfrm>
          <a:prstGeom prst="rect">
            <a:avLst/>
          </a:prstGeom>
        </p:spPr>
      </p:pic>
      <p:sp>
        <p:nvSpPr>
          <p:cNvPr id="14" name="Text 10"/>
          <p:cNvSpPr/>
          <p:nvPr/>
        </p:nvSpPr>
        <p:spPr>
          <a:xfrm>
            <a:off x="871538" y="1443930"/>
            <a:ext cx="825103" cy="155377"/>
          </a:xfrm>
          <a:prstGeom prst="rect">
            <a:avLst/>
          </a:prstGeom>
          <a:noFill/>
        </p:spPr>
        <p:txBody>
          <a:bodyPr wrap="non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HONEYPOTS</a:t>
            </a:r>
            <a:endParaRPr lang="en-US" sz="900" dirty="0"/>
          </a:p>
        </p:txBody>
      </p:sp>
      <p:sp>
        <p:nvSpPr>
          <p:cNvPr id="15" name="Text 11"/>
          <p:cNvSpPr/>
          <p:nvPr/>
        </p:nvSpPr>
        <p:spPr>
          <a:xfrm>
            <a:off x="571500" y="1693069"/>
            <a:ext cx="2309803" cy="450056"/>
          </a:xfrm>
          <a:prstGeom prst="rect">
            <a:avLst/>
          </a:prstGeom>
          <a:noFill/>
        </p:spPr>
        <p:txBody>
          <a:bodyPr wrap="square" lIns="0" tIns="0" rIns="0" bIns="0" rtlCol="0" anchor="t">
            <a:spAutoFit/>
          </a:bodyPr>
          <a:lstStyle/>
          <a:p>
            <a:pPr marL="0" indent="0" algn="l">
              <a:lnSpc>
                <a:spcPct val="120000"/>
              </a:lnSpc>
              <a:buNone/>
            </a:pPr>
            <a:r>
              <a:rPr lang="en-US" sz="750" dirty="0">
                <a:solidFill>
                  <a:srgbClr val="333333"/>
                </a:solidFill>
                <a:latin typeface="Inter" pitchFamily="34" charset="0"/>
                <a:ea typeface="Inter" pitchFamily="34" charset="-122"/>
                <a:cs typeface="Inter" pitchFamily="34" charset="-120"/>
              </a:rPr>
              <a:t>Entire fake systems built to appear real and valuable. Designed to trap attackers and reveal their tools without risk to real assets.</a:t>
            </a:r>
            <a:endParaRPr lang="en-US" sz="750" dirty="0"/>
          </a:p>
        </p:txBody>
      </p:sp>
      <p:sp>
        <p:nvSpPr>
          <p:cNvPr id="16" name="Shape 12"/>
          <p:cNvSpPr/>
          <p:nvPr/>
        </p:nvSpPr>
        <p:spPr>
          <a:xfrm>
            <a:off x="3167053" y="1293019"/>
            <a:ext cx="2595581" cy="1143000"/>
          </a:xfrm>
          <a:prstGeom prst="rect">
            <a:avLst/>
          </a:prstGeom>
          <a:solidFill>
            <a:srgbClr val="FFFFFF"/>
          </a:solidFill>
        </p:spPr>
      </p:sp>
      <p:sp>
        <p:nvSpPr>
          <p:cNvPr id="17" name="Shape 13"/>
          <p:cNvSpPr/>
          <p:nvPr/>
        </p:nvSpPr>
        <p:spPr>
          <a:xfrm>
            <a:off x="3167053" y="1293019"/>
            <a:ext cx="2595581" cy="28575"/>
          </a:xfrm>
          <a:prstGeom prst="rect">
            <a:avLst/>
          </a:prstGeom>
          <a:solidFill>
            <a:srgbClr val="000000"/>
          </a:solidFill>
        </p:spPr>
      </p:sp>
      <p:sp>
        <p:nvSpPr>
          <p:cNvPr id="18" name="Shape 14"/>
          <p:cNvSpPr/>
          <p:nvPr/>
        </p:nvSpPr>
        <p:spPr>
          <a:xfrm>
            <a:off x="5755491" y="1293019"/>
            <a:ext cx="7144" cy="1143000"/>
          </a:xfrm>
          <a:prstGeom prst="rect">
            <a:avLst/>
          </a:prstGeom>
          <a:solidFill>
            <a:srgbClr val="EEEEEE"/>
          </a:solidFill>
        </p:spPr>
      </p:sp>
      <p:sp>
        <p:nvSpPr>
          <p:cNvPr id="19" name="Shape 15"/>
          <p:cNvSpPr/>
          <p:nvPr/>
        </p:nvSpPr>
        <p:spPr>
          <a:xfrm>
            <a:off x="3167053" y="2428875"/>
            <a:ext cx="2595581" cy="7144"/>
          </a:xfrm>
          <a:prstGeom prst="rect">
            <a:avLst/>
          </a:prstGeom>
          <a:solidFill>
            <a:srgbClr val="EEEEEE"/>
          </a:solidFill>
        </p:spPr>
      </p:sp>
      <p:sp>
        <p:nvSpPr>
          <p:cNvPr id="20" name="Shape 16"/>
          <p:cNvSpPr/>
          <p:nvPr/>
        </p:nvSpPr>
        <p:spPr>
          <a:xfrm>
            <a:off x="3167053" y="1293019"/>
            <a:ext cx="7144" cy="1143000"/>
          </a:xfrm>
          <a:prstGeom prst="rect">
            <a:avLst/>
          </a:prstGeom>
          <a:solidFill>
            <a:srgbClr val="EEEEEE"/>
          </a:solidFill>
        </p:spPr>
      </p:sp>
      <p:pic>
        <p:nvPicPr>
          <p:cNvPr id="21" name="Image 2" descr="preencoded.png"/>
          <p:cNvPicPr>
            <a:picLocks noChangeAspect="1"/>
          </p:cNvPicPr>
          <p:nvPr/>
        </p:nvPicPr>
        <p:blipFill>
          <a:blip r:embed="rId3"/>
          <a:stretch>
            <a:fillRect/>
          </a:stretch>
        </p:blipFill>
        <p:spPr>
          <a:xfrm>
            <a:off x="3309928" y="1435894"/>
            <a:ext cx="171450" cy="171450"/>
          </a:xfrm>
          <a:prstGeom prst="rect">
            <a:avLst/>
          </a:prstGeom>
        </p:spPr>
      </p:pic>
      <p:sp>
        <p:nvSpPr>
          <p:cNvPr id="22" name="Text 17"/>
          <p:cNvSpPr/>
          <p:nvPr/>
        </p:nvSpPr>
        <p:spPr>
          <a:xfrm>
            <a:off x="3588534" y="1443930"/>
            <a:ext cx="1401961"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DECOY CREDENTIALS</a:t>
            </a:r>
            <a:endParaRPr lang="en-US" sz="900" dirty="0"/>
          </a:p>
        </p:txBody>
      </p:sp>
      <p:sp>
        <p:nvSpPr>
          <p:cNvPr id="23" name="Text 18"/>
          <p:cNvSpPr/>
          <p:nvPr/>
        </p:nvSpPr>
        <p:spPr>
          <a:xfrm>
            <a:off x="3309928" y="1693069"/>
            <a:ext cx="2309831" cy="450056"/>
          </a:xfrm>
          <a:prstGeom prst="rect">
            <a:avLst/>
          </a:prstGeom>
          <a:noFill/>
        </p:spPr>
        <p:txBody>
          <a:bodyPr wrap="square" lIns="0" tIns="0" rIns="0" bIns="0" rtlCol="0" anchor="t">
            <a:spAutoFit/>
          </a:bodyPr>
          <a:lstStyle/>
          <a:p>
            <a:pPr marL="0" indent="0" algn="l">
              <a:lnSpc>
                <a:spcPct val="120000"/>
              </a:lnSpc>
              <a:buNone/>
            </a:pPr>
            <a:r>
              <a:rPr lang="en-US" sz="750" dirty="0">
                <a:solidFill>
                  <a:srgbClr val="333333"/>
                </a:solidFill>
                <a:latin typeface="Inter" pitchFamily="34" charset="0"/>
                <a:ea typeface="Inter" pitchFamily="34" charset="-122"/>
                <a:cs typeface="Inter" pitchFamily="34" charset="-120"/>
              </a:rPr>
              <a:t>Fake passwords planted in accessible locations. Usage triggers an instant high-confidence alert, revealing the attacker's position.</a:t>
            </a:r>
            <a:endParaRPr lang="en-US" sz="750" dirty="0"/>
          </a:p>
        </p:txBody>
      </p:sp>
      <p:sp>
        <p:nvSpPr>
          <p:cNvPr id="24" name="Shape 19"/>
          <p:cNvSpPr/>
          <p:nvPr/>
        </p:nvSpPr>
        <p:spPr>
          <a:xfrm>
            <a:off x="428625" y="2578894"/>
            <a:ext cx="2595553" cy="1178719"/>
          </a:xfrm>
          <a:prstGeom prst="rect">
            <a:avLst/>
          </a:prstGeom>
          <a:solidFill>
            <a:srgbClr val="FFFFFF"/>
          </a:solidFill>
        </p:spPr>
      </p:sp>
      <p:sp>
        <p:nvSpPr>
          <p:cNvPr id="25" name="Shape 20"/>
          <p:cNvSpPr/>
          <p:nvPr/>
        </p:nvSpPr>
        <p:spPr>
          <a:xfrm>
            <a:off x="428625" y="2578894"/>
            <a:ext cx="2595553" cy="28575"/>
          </a:xfrm>
          <a:prstGeom prst="rect">
            <a:avLst/>
          </a:prstGeom>
          <a:solidFill>
            <a:srgbClr val="000000"/>
          </a:solidFill>
        </p:spPr>
      </p:sp>
      <p:sp>
        <p:nvSpPr>
          <p:cNvPr id="26" name="Shape 21"/>
          <p:cNvSpPr/>
          <p:nvPr/>
        </p:nvSpPr>
        <p:spPr>
          <a:xfrm>
            <a:off x="3017034" y="2578894"/>
            <a:ext cx="7144" cy="1178719"/>
          </a:xfrm>
          <a:prstGeom prst="rect">
            <a:avLst/>
          </a:prstGeom>
          <a:solidFill>
            <a:srgbClr val="EEEEEE"/>
          </a:solidFill>
        </p:spPr>
      </p:sp>
      <p:sp>
        <p:nvSpPr>
          <p:cNvPr id="27" name="Shape 22"/>
          <p:cNvSpPr/>
          <p:nvPr/>
        </p:nvSpPr>
        <p:spPr>
          <a:xfrm>
            <a:off x="428625" y="3750469"/>
            <a:ext cx="2595553" cy="7144"/>
          </a:xfrm>
          <a:prstGeom prst="rect">
            <a:avLst/>
          </a:prstGeom>
          <a:solidFill>
            <a:srgbClr val="EEEEEE"/>
          </a:solidFill>
        </p:spPr>
      </p:sp>
      <p:sp>
        <p:nvSpPr>
          <p:cNvPr id="28" name="Shape 23"/>
          <p:cNvSpPr/>
          <p:nvPr/>
        </p:nvSpPr>
        <p:spPr>
          <a:xfrm>
            <a:off x="428625" y="2578894"/>
            <a:ext cx="7144" cy="1178719"/>
          </a:xfrm>
          <a:prstGeom prst="rect">
            <a:avLst/>
          </a:prstGeom>
          <a:solidFill>
            <a:srgbClr val="EEEEEE"/>
          </a:solidFill>
        </p:spPr>
      </p:sp>
      <p:pic>
        <p:nvPicPr>
          <p:cNvPr id="29" name="Image 3" descr="preencoded.png"/>
          <p:cNvPicPr>
            <a:picLocks noChangeAspect="1"/>
          </p:cNvPicPr>
          <p:nvPr/>
        </p:nvPicPr>
        <p:blipFill>
          <a:blip r:embed="rId4"/>
          <a:stretch>
            <a:fillRect/>
          </a:stretch>
        </p:blipFill>
        <p:spPr>
          <a:xfrm>
            <a:off x="571500" y="2721769"/>
            <a:ext cx="128588" cy="171450"/>
          </a:xfrm>
          <a:prstGeom prst="rect">
            <a:avLst/>
          </a:prstGeom>
        </p:spPr>
      </p:pic>
      <p:sp>
        <p:nvSpPr>
          <p:cNvPr id="30" name="Text 24"/>
          <p:cNvSpPr/>
          <p:nvPr/>
        </p:nvSpPr>
        <p:spPr>
          <a:xfrm>
            <a:off x="807244" y="2729805"/>
            <a:ext cx="416123" cy="155377"/>
          </a:xfrm>
          <a:prstGeom prst="rect">
            <a:avLst/>
          </a:prstGeom>
          <a:noFill/>
        </p:spPr>
        <p:txBody>
          <a:bodyPr wrap="non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LURES</a:t>
            </a:r>
            <a:endParaRPr lang="en-US" sz="900" dirty="0"/>
          </a:p>
        </p:txBody>
      </p:sp>
      <p:sp>
        <p:nvSpPr>
          <p:cNvPr id="31" name="Text 25"/>
          <p:cNvSpPr/>
          <p:nvPr/>
        </p:nvSpPr>
        <p:spPr>
          <a:xfrm>
            <a:off x="571500" y="2978944"/>
            <a:ext cx="2309803" cy="450056"/>
          </a:xfrm>
          <a:prstGeom prst="rect">
            <a:avLst/>
          </a:prstGeom>
          <a:noFill/>
        </p:spPr>
        <p:txBody>
          <a:bodyPr wrap="square" lIns="0" tIns="0" rIns="0" bIns="0" rtlCol="0" anchor="t">
            <a:spAutoFit/>
          </a:bodyPr>
          <a:lstStyle/>
          <a:p>
            <a:pPr marL="0" indent="0" algn="l">
              <a:lnSpc>
                <a:spcPct val="120000"/>
              </a:lnSpc>
              <a:buNone/>
            </a:pPr>
            <a:r>
              <a:rPr lang="en-US" sz="750" dirty="0">
                <a:solidFill>
                  <a:srgbClr val="333333"/>
                </a:solidFill>
                <a:latin typeface="Inter" pitchFamily="34" charset="0"/>
                <a:ea typeface="Inter" pitchFamily="34" charset="-122"/>
                <a:cs typeface="Inter" pitchFamily="34" charset="-120"/>
              </a:rPr>
              <a:t>Fake sensitive documents with embedded tracking. Opening a lure silently reports the machine, time, and location to the security team.</a:t>
            </a:r>
            <a:endParaRPr lang="en-US" sz="750" dirty="0"/>
          </a:p>
        </p:txBody>
      </p:sp>
      <p:sp>
        <p:nvSpPr>
          <p:cNvPr id="32" name="Shape 26"/>
          <p:cNvSpPr/>
          <p:nvPr/>
        </p:nvSpPr>
        <p:spPr>
          <a:xfrm>
            <a:off x="3167053" y="2578894"/>
            <a:ext cx="2595581" cy="1143000"/>
          </a:xfrm>
          <a:prstGeom prst="rect">
            <a:avLst/>
          </a:prstGeom>
          <a:solidFill>
            <a:srgbClr val="FFFFFF"/>
          </a:solidFill>
        </p:spPr>
      </p:sp>
      <p:sp>
        <p:nvSpPr>
          <p:cNvPr id="33" name="Shape 27"/>
          <p:cNvSpPr/>
          <p:nvPr/>
        </p:nvSpPr>
        <p:spPr>
          <a:xfrm>
            <a:off x="3167053" y="2578894"/>
            <a:ext cx="2595581" cy="28575"/>
          </a:xfrm>
          <a:prstGeom prst="rect">
            <a:avLst/>
          </a:prstGeom>
          <a:solidFill>
            <a:srgbClr val="000000"/>
          </a:solidFill>
        </p:spPr>
      </p:sp>
      <p:sp>
        <p:nvSpPr>
          <p:cNvPr id="34" name="Shape 28"/>
          <p:cNvSpPr/>
          <p:nvPr/>
        </p:nvSpPr>
        <p:spPr>
          <a:xfrm>
            <a:off x="5755491" y="2578894"/>
            <a:ext cx="7144" cy="1143000"/>
          </a:xfrm>
          <a:prstGeom prst="rect">
            <a:avLst/>
          </a:prstGeom>
          <a:solidFill>
            <a:srgbClr val="EEEEEE"/>
          </a:solidFill>
        </p:spPr>
      </p:sp>
      <p:sp>
        <p:nvSpPr>
          <p:cNvPr id="35" name="Shape 29"/>
          <p:cNvSpPr/>
          <p:nvPr/>
        </p:nvSpPr>
        <p:spPr>
          <a:xfrm>
            <a:off x="3167053" y="3714750"/>
            <a:ext cx="2595581" cy="7144"/>
          </a:xfrm>
          <a:prstGeom prst="rect">
            <a:avLst/>
          </a:prstGeom>
          <a:solidFill>
            <a:srgbClr val="EEEEEE"/>
          </a:solidFill>
        </p:spPr>
      </p:sp>
      <p:sp>
        <p:nvSpPr>
          <p:cNvPr id="36" name="Shape 30"/>
          <p:cNvSpPr/>
          <p:nvPr/>
        </p:nvSpPr>
        <p:spPr>
          <a:xfrm>
            <a:off x="3167053" y="2578894"/>
            <a:ext cx="7144" cy="1143000"/>
          </a:xfrm>
          <a:prstGeom prst="rect">
            <a:avLst/>
          </a:prstGeom>
          <a:solidFill>
            <a:srgbClr val="EEEEEE"/>
          </a:solidFill>
        </p:spPr>
      </p:sp>
      <p:pic>
        <p:nvPicPr>
          <p:cNvPr id="37" name="Image 4" descr="preencoded.png"/>
          <p:cNvPicPr>
            <a:picLocks noChangeAspect="1"/>
          </p:cNvPicPr>
          <p:nvPr/>
        </p:nvPicPr>
        <p:blipFill>
          <a:blip r:embed="rId5"/>
          <a:stretch>
            <a:fillRect/>
          </a:stretch>
        </p:blipFill>
        <p:spPr>
          <a:xfrm>
            <a:off x="3309928" y="2721769"/>
            <a:ext cx="171450" cy="171450"/>
          </a:xfrm>
          <a:prstGeom prst="rect">
            <a:avLst/>
          </a:prstGeom>
        </p:spPr>
      </p:pic>
      <p:sp>
        <p:nvSpPr>
          <p:cNvPr id="38" name="Text 31"/>
          <p:cNvSpPr/>
          <p:nvPr/>
        </p:nvSpPr>
        <p:spPr>
          <a:xfrm>
            <a:off x="3588534" y="2729805"/>
            <a:ext cx="482203" cy="155377"/>
          </a:xfrm>
          <a:prstGeom prst="rect">
            <a:avLst/>
          </a:prstGeom>
          <a:noFill/>
        </p:spPr>
        <p:txBody>
          <a:bodyPr wrap="non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DENIAL</a:t>
            </a:r>
            <a:endParaRPr lang="en-US" sz="900" dirty="0"/>
          </a:p>
        </p:txBody>
      </p:sp>
      <p:sp>
        <p:nvSpPr>
          <p:cNvPr id="39" name="Text 32"/>
          <p:cNvSpPr/>
          <p:nvPr/>
        </p:nvSpPr>
        <p:spPr>
          <a:xfrm>
            <a:off x="3309928" y="2978944"/>
            <a:ext cx="2309831" cy="450056"/>
          </a:xfrm>
          <a:prstGeom prst="rect">
            <a:avLst/>
          </a:prstGeom>
          <a:noFill/>
        </p:spPr>
        <p:txBody>
          <a:bodyPr wrap="square" lIns="0" tIns="0" rIns="0" bIns="0" rtlCol="0" anchor="t">
            <a:spAutoFit/>
          </a:bodyPr>
          <a:lstStyle/>
          <a:p>
            <a:pPr marL="0" indent="0" algn="l">
              <a:lnSpc>
                <a:spcPct val="120000"/>
              </a:lnSpc>
              <a:buNone/>
            </a:pPr>
            <a:r>
              <a:rPr lang="en-US" sz="750" dirty="0">
                <a:solidFill>
                  <a:srgbClr val="333333"/>
                </a:solidFill>
                <a:latin typeface="Inter" pitchFamily="34" charset="0"/>
                <a:ea typeface="Inter" pitchFamily="34" charset="-122"/>
                <a:cs typeface="Inter" pitchFamily="34" charset="-120"/>
              </a:rPr>
              <a:t>Blocking access to real resources while substituting fake versions, turning the attacker's sophistication against them.</a:t>
            </a:r>
            <a:endParaRPr lang="en-US" sz="750" dirty="0"/>
          </a:p>
        </p:txBody>
      </p:sp>
      <p:sp>
        <p:nvSpPr>
          <p:cNvPr id="40" name="Shape 33"/>
          <p:cNvSpPr/>
          <p:nvPr/>
        </p:nvSpPr>
        <p:spPr>
          <a:xfrm>
            <a:off x="6048384" y="1293019"/>
            <a:ext cx="2666991" cy="934743"/>
          </a:xfrm>
          <a:prstGeom prst="rect">
            <a:avLst/>
          </a:prstGeom>
          <a:solidFill>
            <a:srgbClr val="F9F9F9"/>
          </a:solidFill>
          <a:ln w="9144">
            <a:solidFill>
              <a:srgbClr val="000000"/>
            </a:solidFill>
            <a:prstDash val="solid"/>
          </a:ln>
        </p:spPr>
      </p:sp>
      <p:pic>
        <p:nvPicPr>
          <p:cNvPr id="41" name="Image 5" descr="preencoded.png"/>
          <p:cNvPicPr>
            <a:picLocks noChangeAspect="1"/>
          </p:cNvPicPr>
          <p:nvPr/>
        </p:nvPicPr>
        <p:blipFill>
          <a:blip r:embed="rId6"/>
          <a:stretch>
            <a:fillRect/>
          </a:stretch>
        </p:blipFill>
        <p:spPr>
          <a:xfrm>
            <a:off x="6191259" y="1447502"/>
            <a:ext cx="114300" cy="114300"/>
          </a:xfrm>
          <a:prstGeom prst="rect">
            <a:avLst/>
          </a:prstGeom>
        </p:spPr>
      </p:pic>
      <p:sp>
        <p:nvSpPr>
          <p:cNvPr id="42" name="Text 34"/>
          <p:cNvSpPr/>
          <p:nvPr/>
        </p:nvSpPr>
        <p:spPr>
          <a:xfrm>
            <a:off x="6376997" y="1435894"/>
            <a:ext cx="1293019"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lack" pitchFamily="34" charset="0"/>
                <a:ea typeface="Inter Black" pitchFamily="34" charset="-122"/>
                <a:cs typeface="Inter Black" pitchFamily="34" charset="-120"/>
              </a:rPr>
              <a:t>ACTIVE ENGAGEMENT</a:t>
            </a:r>
            <a:endParaRPr lang="en-US" sz="800" dirty="0"/>
          </a:p>
        </p:txBody>
      </p:sp>
      <p:sp>
        <p:nvSpPr>
          <p:cNvPr id="43" name="Text 35"/>
          <p:cNvSpPr/>
          <p:nvPr/>
        </p:nvSpPr>
        <p:spPr>
          <a:xfrm>
            <a:off x="6191259" y="1680567"/>
            <a:ext cx="2381241" cy="390032"/>
          </a:xfrm>
          <a:prstGeom prst="rect">
            <a:avLst/>
          </a:prstGeom>
          <a:noFill/>
        </p:spPr>
        <p:txBody>
          <a:bodyPr wrap="square" lIns="0" tIns="0" rIns="0" bIns="0" rtlCol="0" anchor="t">
            <a:spAutoFit/>
          </a:bodyPr>
          <a:lstStyle/>
          <a:p>
            <a:pPr marL="0" indent="0" algn="l">
              <a:lnSpc>
                <a:spcPct val="112000"/>
              </a:lnSpc>
              <a:buNone/>
            </a:pPr>
            <a:r>
              <a:rPr lang="en-US" sz="650" dirty="0">
                <a:solidFill>
                  <a:srgbClr val="000000"/>
                </a:solidFill>
                <a:latin typeface="Inter" pitchFamily="34" charset="0"/>
                <a:ea typeface="Inter" pitchFamily="34" charset="-122"/>
                <a:cs typeface="Inter" pitchFamily="34" charset="-120"/>
              </a:rPr>
              <a:t>Moving from reactive "Block and Patch" to active "Manipulate and Study." ENGAGE turns attacker sophistication into a liability.</a:t>
            </a:r>
            <a:endParaRPr lang="en-US" sz="650" dirty="0"/>
          </a:p>
        </p:txBody>
      </p:sp>
      <p:sp>
        <p:nvSpPr>
          <p:cNvPr id="44" name="Shape 36"/>
          <p:cNvSpPr/>
          <p:nvPr/>
        </p:nvSpPr>
        <p:spPr>
          <a:xfrm>
            <a:off x="6721069" y="2470649"/>
            <a:ext cx="498277" cy="176808"/>
          </a:xfrm>
          <a:prstGeom prst="rect">
            <a:avLst/>
          </a:prstGeom>
          <a:solidFill>
            <a:srgbClr val="F5C518"/>
          </a:solidFill>
        </p:spPr>
      </p:sp>
      <p:sp>
        <p:nvSpPr>
          <p:cNvPr id="45" name="Text 37"/>
          <p:cNvSpPr/>
          <p:nvPr/>
        </p:nvSpPr>
        <p:spPr>
          <a:xfrm>
            <a:off x="6721069" y="2470649"/>
            <a:ext cx="498277" cy="176808"/>
          </a:xfrm>
          <a:prstGeom prst="rect">
            <a:avLst/>
          </a:prstGeom>
          <a:noFill/>
        </p:spPr>
        <p:txBody>
          <a:bodyPr wrap="none" lIns="85090" tIns="42545" rIns="85090" bIns="42545" rtlCol="0" anchor="t">
            <a:spAutoFit/>
          </a:bodyPr>
          <a:lstStyle/>
          <a:p>
            <a:pPr marL="0" indent="0" algn="l">
              <a:buNone/>
            </a:pPr>
            <a:r>
              <a:rPr lang="en-US" sz="600" b="1" dirty="0">
                <a:solidFill>
                  <a:srgbClr val="000000"/>
                </a:solidFill>
                <a:latin typeface="Inter Bold" pitchFamily="34" charset="0"/>
                <a:ea typeface="Inter Bold" pitchFamily="34" charset="-122"/>
                <a:cs typeface="Inter Bold" pitchFamily="34" charset="-120"/>
              </a:rPr>
              <a:t>ENGAGE</a:t>
            </a:r>
            <a:endParaRPr lang="en-US" sz="600" dirty="0"/>
          </a:p>
        </p:txBody>
      </p:sp>
      <p:pic>
        <p:nvPicPr>
          <p:cNvPr id="46" name="Image 6" descr="preencoded.png"/>
          <p:cNvPicPr>
            <a:picLocks noChangeAspect="1"/>
          </p:cNvPicPr>
          <p:nvPr/>
        </p:nvPicPr>
        <p:blipFill>
          <a:blip r:embed="rId7"/>
          <a:stretch>
            <a:fillRect/>
          </a:stretch>
        </p:blipFill>
        <p:spPr>
          <a:xfrm>
            <a:off x="7326502" y="2501903"/>
            <a:ext cx="114300" cy="114300"/>
          </a:xfrm>
          <a:prstGeom prst="rect">
            <a:avLst/>
          </a:prstGeom>
        </p:spPr>
      </p:pic>
      <p:sp>
        <p:nvSpPr>
          <p:cNvPr id="47" name="Shape 38"/>
          <p:cNvSpPr/>
          <p:nvPr/>
        </p:nvSpPr>
        <p:spPr>
          <a:xfrm>
            <a:off x="7547958" y="2470649"/>
            <a:ext cx="494705" cy="176808"/>
          </a:xfrm>
          <a:prstGeom prst="rect">
            <a:avLst/>
          </a:prstGeom>
          <a:solidFill>
            <a:srgbClr val="000000"/>
          </a:solidFill>
        </p:spPr>
      </p:sp>
      <p:sp>
        <p:nvSpPr>
          <p:cNvPr id="48" name="Text 39"/>
          <p:cNvSpPr/>
          <p:nvPr/>
        </p:nvSpPr>
        <p:spPr>
          <a:xfrm>
            <a:off x="7547958" y="2470649"/>
            <a:ext cx="494705" cy="176808"/>
          </a:xfrm>
          <a:prstGeom prst="rect">
            <a:avLst/>
          </a:prstGeom>
          <a:noFill/>
        </p:spPr>
        <p:txBody>
          <a:bodyPr wrap="none" lIns="85090" tIns="42545" rIns="85090" bIns="42545" rtlCol="0" anchor="t">
            <a:spAutoFit/>
          </a:bodyPr>
          <a:lstStyle/>
          <a:p>
            <a:pPr marL="0" indent="0" algn="l">
              <a:buNone/>
            </a:pPr>
            <a:r>
              <a:rPr lang="en-US" sz="600" b="1" dirty="0">
                <a:solidFill>
                  <a:srgbClr val="FFFFFF"/>
                </a:solidFill>
                <a:latin typeface="Inter Bold" pitchFamily="34" charset="0"/>
                <a:ea typeface="Inter Bold" pitchFamily="34" charset="-122"/>
                <a:cs typeface="Inter Bold" pitchFamily="34" charset="-120"/>
              </a:rPr>
              <a:t>ATT&amp;CK</a:t>
            </a:r>
            <a:endParaRPr lang="en-US" sz="600" dirty="0"/>
          </a:p>
        </p:txBody>
      </p:sp>
      <p:sp>
        <p:nvSpPr>
          <p:cNvPr id="49" name="Shape 40"/>
          <p:cNvSpPr/>
          <p:nvPr/>
        </p:nvSpPr>
        <p:spPr>
          <a:xfrm>
            <a:off x="428625" y="4059555"/>
            <a:ext cx="7926070" cy="369570"/>
          </a:xfrm>
          <a:prstGeom prst="rect">
            <a:avLst/>
          </a:prstGeom>
          <a:solidFill>
            <a:srgbClr val="F5C518"/>
          </a:solidFill>
        </p:spPr>
      </p:sp>
      <p:sp>
        <p:nvSpPr>
          <p:cNvPr id="50" name="Text 41"/>
          <p:cNvSpPr/>
          <p:nvPr/>
        </p:nvSpPr>
        <p:spPr>
          <a:xfrm>
            <a:off x="428625" y="4059436"/>
            <a:ext cx="8286750" cy="369689"/>
          </a:xfrm>
          <a:prstGeom prst="rect">
            <a:avLst/>
          </a:prstGeom>
          <a:noFill/>
        </p:spPr>
        <p:txBody>
          <a:bodyPr wrap="square" lIns="255143" tIns="127508" rIns="255143" bIns="127508" rtlCol="0" anchor="t">
            <a:spAutoFit/>
          </a:bodyPr>
          <a:lstStyle/>
          <a:p>
            <a:pPr marL="0" indent="0" algn="ctr">
              <a:buNone/>
            </a:pPr>
            <a:r>
              <a:rPr lang="en-US" sz="900" b="1" dirty="0">
                <a:solidFill>
                  <a:srgbClr val="000000"/>
                </a:solidFill>
                <a:latin typeface="Inter Bold" pitchFamily="34" charset="0"/>
                <a:ea typeface="Inter Bold" pitchFamily="34" charset="-122"/>
                <a:cs typeface="Inter Bold" pitchFamily="34" charset="-120"/>
              </a:rPr>
              <a:t>Traditional defense is locking every door. ENGAGE is leaving one door open to film and study exactly who walks through it.</a:t>
            </a:r>
            <a:endParaRPr lang="en-US" sz="900" dirty="0"/>
          </a:p>
        </p:txBody>
      </p:sp>
      <p:sp>
        <p:nvSpPr>
          <p:cNvPr id="51" name="Oval 50"/>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285750"/>
            <a:ext cx="571500" cy="228600"/>
          </a:xfrm>
          <a:prstGeom prst="roundRect">
            <a:avLst/>
          </a:prstGeom>
          <a:solidFill>
            <a:srgbClr val="FACC15"/>
          </a:solidFill>
        </p:spPr>
      </p:sp>
      <p:sp>
        <p:nvSpPr>
          <p:cNvPr id="5" name="Text 1"/>
          <p:cNvSpPr/>
          <p:nvPr/>
        </p:nvSpPr>
        <p:spPr>
          <a:xfrm>
            <a:off x="1107281" y="322362"/>
            <a:ext cx="1310878" cy="155377"/>
          </a:xfrm>
          <a:prstGeom prst="rect">
            <a:avLst/>
          </a:prstGeom>
          <a:noFill/>
        </p:spPr>
        <p:txBody>
          <a:bodyPr wrap="square" lIns="0" tIns="0" rIns="0" bIns="0" rtlCol="0" anchor="t">
            <a:spAutoFit/>
          </a:bodyPr>
          <a:lstStyle/>
          <a:p>
            <a:pPr marL="0" indent="0" algn="l">
              <a:buNone/>
            </a:pPr>
            <a:r>
              <a:rPr lang="en-US" sz="950" dirty="0">
                <a:solidFill>
                  <a:srgbClr val="000000"/>
                </a:solidFill>
                <a:latin typeface="Inter" pitchFamily="34" charset="0"/>
                <a:ea typeface="Inter" pitchFamily="34" charset="-122"/>
                <a:cs typeface="Inter" pitchFamily="34" charset="-120"/>
              </a:rPr>
              <a:t>Hidden Investigations</a:t>
            </a:r>
            <a:endParaRPr lang="en-US" sz="950" dirty="0"/>
          </a:p>
        </p:txBody>
      </p:sp>
      <p:sp>
        <p:nvSpPr>
          <p:cNvPr id="6" name="Text 2"/>
          <p:cNvSpPr/>
          <p:nvPr/>
        </p:nvSpPr>
        <p:spPr>
          <a:xfrm>
            <a:off x="428625" y="857250"/>
            <a:ext cx="7143750" cy="414338"/>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ExtraBold" pitchFamily="34" charset="0"/>
                <a:ea typeface="Inter ExtraBold" pitchFamily="34" charset="-122"/>
                <a:cs typeface="Inter ExtraBold" pitchFamily="34" charset="-120"/>
              </a:rPr>
              <a:t>CAR → Detection Analytics</a:t>
            </a:r>
            <a:endParaRPr lang="en-US" sz="2450" dirty="0"/>
          </a:p>
        </p:txBody>
      </p:sp>
      <p:sp>
        <p:nvSpPr>
          <p:cNvPr id="7" name="Text 3"/>
          <p:cNvSpPr/>
          <p:nvPr/>
        </p:nvSpPr>
        <p:spPr>
          <a:xfrm>
            <a:off x="428625" y="1485900"/>
            <a:ext cx="3052307"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What is it?</a:t>
            </a:r>
            <a:endParaRPr lang="en-US" sz="1200" dirty="0"/>
          </a:p>
        </p:txBody>
      </p:sp>
      <p:sp>
        <p:nvSpPr>
          <p:cNvPr id="8" name="Text 4"/>
          <p:cNvSpPr/>
          <p:nvPr/>
        </p:nvSpPr>
        <p:spPr>
          <a:xfrm>
            <a:off x="428625" y="1800225"/>
            <a:ext cx="3052307" cy="617153"/>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The </a:t>
            </a:r>
            <a:r>
              <a:rPr lang="en-US" sz="900" b="1" dirty="0">
                <a:solidFill>
                  <a:srgbClr val="333333"/>
                </a:solidFill>
                <a:latin typeface="Inter ExtraBold" pitchFamily="34" charset="0"/>
                <a:ea typeface="Inter ExtraBold" pitchFamily="34" charset="-122"/>
                <a:cs typeface="Inter ExtraBold" pitchFamily="34" charset="-120"/>
              </a:rPr>
              <a:t>Cyber Analytics Repository (CAR)</a:t>
            </a:r>
            <a:r>
              <a:rPr lang="en-US" sz="950" dirty="0">
                <a:solidFill>
                  <a:srgbClr val="333333"/>
                </a:solidFill>
                <a:latin typeface="Inter" pitchFamily="34" charset="0"/>
                <a:ea typeface="Inter" pitchFamily="34" charset="-122"/>
                <a:cs typeface="Inter" pitchFamily="34" charset="-120"/>
              </a:rPr>
              <a:t> is a </a:t>
            </a:r>
            <a:r>
              <a:rPr lang="en-US" sz="950" dirty="0">
                <a:solidFill>
                  <a:srgbClr val="333333"/>
                </a:solidFill>
                <a:latin typeface="Inter" pitchFamily="34" charset="0"/>
                <a:ea typeface="Inter" pitchFamily="34" charset="-122"/>
                <a:cs typeface="Inter" pitchFamily="34" charset="-120"/>
              </a:rPr>
              <a:t>knowledge base of logic used to detect ATT&amp;CK </a:t>
            </a:r>
            <a:r>
              <a:rPr lang="en-US" sz="950" dirty="0">
                <a:solidFill>
                  <a:srgbClr val="333333"/>
                </a:solidFill>
                <a:latin typeface="Inter" pitchFamily="34" charset="0"/>
                <a:ea typeface="Inter" pitchFamily="34" charset="-122"/>
                <a:cs typeface="Inter" pitchFamily="34" charset="-120"/>
              </a:rPr>
              <a:t>techniques in logs.</a:t>
            </a:r>
            <a:endParaRPr lang="en-US" sz="950" dirty="0"/>
          </a:p>
        </p:txBody>
      </p:sp>
      <p:sp>
        <p:nvSpPr>
          <p:cNvPr id="9" name="Text 5"/>
          <p:cNvSpPr/>
          <p:nvPr/>
        </p:nvSpPr>
        <p:spPr>
          <a:xfrm>
            <a:off x="428625" y="2595972"/>
            <a:ext cx="3052307"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Why does it matter?</a:t>
            </a:r>
            <a:endParaRPr lang="en-US" sz="1200" dirty="0"/>
          </a:p>
        </p:txBody>
      </p:sp>
      <p:sp>
        <p:nvSpPr>
          <p:cNvPr id="10" name="Text 6"/>
          <p:cNvSpPr/>
          <p:nvPr/>
        </p:nvSpPr>
        <p:spPr>
          <a:xfrm>
            <a:off x="428625" y="2910297"/>
            <a:ext cx="3052307" cy="411435"/>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It bridges the gap between knowing an attack </a:t>
            </a:r>
            <a:r>
              <a:rPr lang="en-US" sz="950" dirty="0">
                <a:solidFill>
                  <a:srgbClr val="333333"/>
                </a:solidFill>
                <a:latin typeface="Inter" pitchFamily="34" charset="0"/>
                <a:ea typeface="Inter" pitchFamily="34" charset="-122"/>
                <a:cs typeface="Inter" pitchFamily="34" charset="-120"/>
              </a:rPr>
              <a:t>exists and having the </a:t>
            </a:r>
            <a:r>
              <a:rPr lang="en-US" sz="900" b="1" dirty="0">
                <a:solidFill>
                  <a:srgbClr val="333333"/>
                </a:solidFill>
                <a:latin typeface="Inter ExtraBold" pitchFamily="34" charset="0"/>
                <a:ea typeface="Inter ExtraBold" pitchFamily="34" charset="-122"/>
                <a:cs typeface="Inter ExtraBold" pitchFamily="34" charset="-120"/>
              </a:rPr>
              <a:t>code</a:t>
            </a:r>
            <a:r>
              <a:rPr lang="en-US" sz="950" dirty="0">
                <a:solidFill>
                  <a:srgbClr val="333333"/>
                </a:solidFill>
                <a:latin typeface="Inter" pitchFamily="34" charset="0"/>
                <a:ea typeface="Inter" pitchFamily="34" charset="-122"/>
                <a:cs typeface="Inter" pitchFamily="34" charset="-120"/>
              </a:rPr>
              <a:t> to catch it.</a:t>
            </a:r>
            <a:endParaRPr lang="en-US" sz="950" dirty="0"/>
          </a:p>
        </p:txBody>
      </p:sp>
      <p:sp>
        <p:nvSpPr>
          <p:cNvPr id="11" name="Shape 7"/>
          <p:cNvSpPr/>
          <p:nvPr/>
        </p:nvSpPr>
        <p:spPr>
          <a:xfrm>
            <a:off x="428625" y="3500120"/>
            <a:ext cx="3052445" cy="981710"/>
          </a:xfrm>
          <a:prstGeom prst="rect">
            <a:avLst/>
          </a:prstGeom>
          <a:solidFill>
            <a:srgbClr val="F9FAFB"/>
          </a:solidFill>
        </p:spPr>
      </p:sp>
      <p:sp>
        <p:nvSpPr>
          <p:cNvPr id="12" name="Shape 8"/>
          <p:cNvSpPr/>
          <p:nvPr/>
        </p:nvSpPr>
        <p:spPr>
          <a:xfrm flipH="1">
            <a:off x="428625" y="3500120"/>
            <a:ext cx="76200" cy="959485"/>
          </a:xfrm>
          <a:prstGeom prst="rect">
            <a:avLst/>
          </a:prstGeom>
          <a:solidFill>
            <a:srgbClr val="FACC15"/>
          </a:solidFill>
        </p:spPr>
      </p:sp>
      <p:pic>
        <p:nvPicPr>
          <p:cNvPr id="13" name="Image 1" descr="preencoded.png"/>
          <p:cNvPicPr>
            <a:picLocks noChangeAspect="1"/>
          </p:cNvPicPr>
          <p:nvPr/>
        </p:nvPicPr>
        <p:blipFill>
          <a:blip r:embed="rId2"/>
          <a:stretch>
            <a:fillRect/>
          </a:stretch>
        </p:blipFill>
        <p:spPr>
          <a:xfrm>
            <a:off x="607219" y="3678920"/>
            <a:ext cx="2695119" cy="171450"/>
          </a:xfrm>
          <a:prstGeom prst="rect">
            <a:avLst/>
          </a:prstGeom>
        </p:spPr>
      </p:pic>
      <p:sp>
        <p:nvSpPr>
          <p:cNvPr id="14" name="Text 9"/>
          <p:cNvSpPr/>
          <p:nvPr/>
        </p:nvSpPr>
        <p:spPr>
          <a:xfrm>
            <a:off x="607219" y="3921807"/>
            <a:ext cx="719733" cy="137517"/>
          </a:xfrm>
          <a:prstGeom prst="rect">
            <a:avLst/>
          </a:prstGeom>
          <a:noFill/>
        </p:spPr>
        <p:txBody>
          <a:bodyPr wrap="none" lIns="0" tIns="0" rIns="0" bIns="0" rtlCol="0" anchor="t">
            <a:spAutoFit/>
          </a:bodyPr>
          <a:lstStyle/>
          <a:p>
            <a:pPr marL="0" indent="0" algn="l">
              <a:buNone/>
            </a:pPr>
            <a:r>
              <a:rPr lang="en-US" sz="800" b="1" dirty="0">
                <a:solidFill>
                  <a:srgbClr val="333333"/>
                </a:solidFill>
                <a:latin typeface="Inter ExtraBold" pitchFamily="34" charset="0"/>
                <a:ea typeface="Inter ExtraBold" pitchFamily="34" charset="-122"/>
                <a:cs typeface="Inter ExtraBold" pitchFamily="34" charset="-120"/>
              </a:rPr>
              <a:t>The Analogy</a:t>
            </a:r>
            <a:endParaRPr lang="en-US" sz="800" dirty="0"/>
          </a:p>
        </p:txBody>
      </p:sp>
      <p:sp>
        <p:nvSpPr>
          <p:cNvPr id="15" name="Text 10"/>
          <p:cNvSpPr/>
          <p:nvPr/>
        </p:nvSpPr>
        <p:spPr>
          <a:xfrm>
            <a:off x="607219" y="4059324"/>
            <a:ext cx="2695119" cy="411435"/>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CAR is a smoke detector looking for specific signs of fire within millions of data points.</a:t>
            </a:r>
            <a:endParaRPr lang="en-US" sz="950" dirty="0"/>
          </a:p>
        </p:txBody>
      </p:sp>
      <p:sp>
        <p:nvSpPr>
          <p:cNvPr id="16" name="Shape 11"/>
          <p:cNvSpPr/>
          <p:nvPr/>
        </p:nvSpPr>
        <p:spPr>
          <a:xfrm>
            <a:off x="3909557" y="1485900"/>
            <a:ext cx="3662818" cy="369689"/>
          </a:xfrm>
          <a:prstGeom prst="rect">
            <a:avLst/>
          </a:prstGeom>
          <a:solidFill>
            <a:srgbClr val="F3F4F6"/>
          </a:solidFill>
        </p:spPr>
      </p:sp>
      <p:pic>
        <p:nvPicPr>
          <p:cNvPr id="17" name="Image 2" descr="preencoded.png"/>
          <p:cNvPicPr>
            <a:picLocks noChangeAspect="1"/>
          </p:cNvPicPr>
          <p:nvPr/>
        </p:nvPicPr>
        <p:blipFill>
          <a:blip r:embed="rId3"/>
          <a:stretch>
            <a:fillRect/>
          </a:stretch>
        </p:blipFill>
        <p:spPr>
          <a:xfrm>
            <a:off x="4088150" y="1599307"/>
            <a:ext cx="214313" cy="142875"/>
          </a:xfrm>
          <a:prstGeom prst="rect">
            <a:avLst/>
          </a:prstGeom>
        </p:spPr>
      </p:pic>
      <p:sp>
        <p:nvSpPr>
          <p:cNvPr id="18" name="Text 12"/>
          <p:cNvSpPr/>
          <p:nvPr/>
        </p:nvSpPr>
        <p:spPr>
          <a:xfrm>
            <a:off x="4445338" y="1593056"/>
            <a:ext cx="1000125" cy="155377"/>
          </a:xfrm>
          <a:prstGeom prst="rect">
            <a:avLst/>
          </a:prstGeom>
          <a:noFill/>
        </p:spPr>
        <p:txBody>
          <a:bodyPr wrap="none" lIns="0" tIns="0" rIns="0" bIns="0" rtlCol="0" anchor="t">
            <a:spAutoFit/>
          </a:bodyPr>
          <a:lstStyle/>
          <a:p>
            <a:pPr marL="0" indent="0" algn="l">
              <a:buNone/>
            </a:pPr>
            <a:r>
              <a:rPr lang="en-US" sz="900" b="1" dirty="0">
                <a:solidFill>
                  <a:srgbClr val="000000"/>
                </a:solidFill>
                <a:latin typeface="Inter ExtraBold" pitchFamily="34" charset="0"/>
                <a:ea typeface="Inter ExtraBold" pitchFamily="34" charset="-122"/>
                <a:cs typeface="Inter ExtraBold" pitchFamily="34" charset="-120"/>
              </a:rPr>
              <a:t>Millions of Logs</a:t>
            </a:r>
            <a:endParaRPr lang="en-US" sz="900" dirty="0"/>
          </a:p>
        </p:txBody>
      </p:sp>
      <p:pic>
        <p:nvPicPr>
          <p:cNvPr id="19" name="Image 3" descr="preencoded.png"/>
          <p:cNvPicPr>
            <a:picLocks noChangeAspect="1"/>
          </p:cNvPicPr>
          <p:nvPr/>
        </p:nvPicPr>
        <p:blipFill>
          <a:blip r:embed="rId4"/>
          <a:stretch>
            <a:fillRect/>
          </a:stretch>
        </p:blipFill>
        <p:spPr>
          <a:xfrm>
            <a:off x="5698089" y="1973461"/>
            <a:ext cx="85725" cy="114300"/>
          </a:xfrm>
          <a:prstGeom prst="rect">
            <a:avLst/>
          </a:prstGeom>
        </p:spPr>
      </p:pic>
      <p:sp>
        <p:nvSpPr>
          <p:cNvPr id="20" name="Shape 13"/>
          <p:cNvSpPr/>
          <p:nvPr/>
        </p:nvSpPr>
        <p:spPr>
          <a:xfrm>
            <a:off x="3909557" y="2207419"/>
            <a:ext cx="3662818" cy="369689"/>
          </a:xfrm>
          <a:prstGeom prst="rect">
            <a:avLst/>
          </a:prstGeom>
          <a:solidFill>
            <a:srgbClr val="FACC15"/>
          </a:solidFill>
        </p:spPr>
      </p:sp>
      <p:pic>
        <p:nvPicPr>
          <p:cNvPr id="21" name="Image 4" descr="preencoded.png"/>
          <p:cNvPicPr>
            <a:picLocks noChangeAspect="1"/>
          </p:cNvPicPr>
          <p:nvPr/>
        </p:nvPicPr>
        <p:blipFill>
          <a:blip r:embed="rId5"/>
          <a:stretch>
            <a:fillRect/>
          </a:stretch>
        </p:blipFill>
        <p:spPr>
          <a:xfrm>
            <a:off x="4088150" y="2320826"/>
            <a:ext cx="214313" cy="142875"/>
          </a:xfrm>
          <a:prstGeom prst="rect">
            <a:avLst/>
          </a:prstGeom>
        </p:spPr>
      </p:pic>
      <p:sp>
        <p:nvSpPr>
          <p:cNvPr id="22" name="Text 14"/>
          <p:cNvSpPr/>
          <p:nvPr/>
        </p:nvSpPr>
        <p:spPr>
          <a:xfrm>
            <a:off x="4445338" y="2314575"/>
            <a:ext cx="842963" cy="155377"/>
          </a:xfrm>
          <a:prstGeom prst="rect">
            <a:avLst/>
          </a:prstGeom>
          <a:noFill/>
        </p:spPr>
        <p:txBody>
          <a:bodyPr wrap="none" lIns="0" tIns="0" rIns="0" bIns="0" rtlCol="0" anchor="t">
            <a:spAutoFit/>
          </a:bodyPr>
          <a:lstStyle/>
          <a:p>
            <a:pPr marL="0" indent="0" algn="l">
              <a:buNone/>
            </a:pPr>
            <a:r>
              <a:rPr lang="en-US" sz="900" b="1" dirty="0">
                <a:solidFill>
                  <a:srgbClr val="000000"/>
                </a:solidFill>
                <a:latin typeface="Inter ExtraBold" pitchFamily="34" charset="0"/>
                <a:ea typeface="Inter ExtraBold" pitchFamily="34" charset="-122"/>
                <a:cs typeface="Inter ExtraBold" pitchFamily="34" charset="-120"/>
              </a:rPr>
              <a:t>CAR Analytic</a:t>
            </a:r>
            <a:endParaRPr lang="en-US" sz="900" dirty="0"/>
          </a:p>
        </p:txBody>
      </p:sp>
      <p:pic>
        <p:nvPicPr>
          <p:cNvPr id="23" name="Image 5" descr="preencoded.png"/>
          <p:cNvPicPr>
            <a:picLocks noChangeAspect="1"/>
          </p:cNvPicPr>
          <p:nvPr/>
        </p:nvPicPr>
        <p:blipFill>
          <a:blip r:embed="rId4"/>
          <a:stretch>
            <a:fillRect/>
          </a:stretch>
        </p:blipFill>
        <p:spPr>
          <a:xfrm>
            <a:off x="5698089" y="2694980"/>
            <a:ext cx="85725" cy="114300"/>
          </a:xfrm>
          <a:prstGeom prst="rect">
            <a:avLst/>
          </a:prstGeom>
        </p:spPr>
      </p:pic>
      <p:sp>
        <p:nvSpPr>
          <p:cNvPr id="24" name="Shape 15"/>
          <p:cNvSpPr/>
          <p:nvPr/>
        </p:nvSpPr>
        <p:spPr>
          <a:xfrm>
            <a:off x="3909557" y="2928938"/>
            <a:ext cx="3662818" cy="369689"/>
          </a:xfrm>
          <a:prstGeom prst="rect">
            <a:avLst/>
          </a:prstGeom>
          <a:solidFill>
            <a:srgbClr val="F3F4F6"/>
          </a:solidFill>
        </p:spPr>
      </p:sp>
      <p:pic>
        <p:nvPicPr>
          <p:cNvPr id="25" name="Image 6" descr="preencoded.png"/>
          <p:cNvPicPr>
            <a:picLocks noChangeAspect="1"/>
          </p:cNvPicPr>
          <p:nvPr/>
        </p:nvPicPr>
        <p:blipFill>
          <a:blip r:embed="rId6"/>
          <a:stretch>
            <a:fillRect/>
          </a:stretch>
        </p:blipFill>
        <p:spPr>
          <a:xfrm>
            <a:off x="4088150" y="3042345"/>
            <a:ext cx="214313" cy="142875"/>
          </a:xfrm>
          <a:prstGeom prst="rect">
            <a:avLst/>
          </a:prstGeom>
        </p:spPr>
      </p:pic>
      <p:sp>
        <p:nvSpPr>
          <p:cNvPr id="26" name="Text 16"/>
          <p:cNvSpPr/>
          <p:nvPr/>
        </p:nvSpPr>
        <p:spPr>
          <a:xfrm>
            <a:off x="4445338" y="3036094"/>
            <a:ext cx="626864" cy="155377"/>
          </a:xfrm>
          <a:prstGeom prst="rect">
            <a:avLst/>
          </a:prstGeom>
          <a:noFill/>
        </p:spPr>
        <p:txBody>
          <a:bodyPr wrap="none" lIns="0" tIns="0" rIns="0" bIns="0" rtlCol="0" anchor="t">
            <a:spAutoFit/>
          </a:bodyPr>
          <a:lstStyle/>
          <a:p>
            <a:pPr marL="0" indent="0" algn="l">
              <a:buNone/>
            </a:pPr>
            <a:r>
              <a:rPr lang="en-US" sz="900" b="1" dirty="0">
                <a:solidFill>
                  <a:srgbClr val="000000"/>
                </a:solidFill>
                <a:latin typeface="Inter ExtraBold" pitchFamily="34" charset="0"/>
                <a:ea typeface="Inter ExtraBold" pitchFamily="34" charset="-122"/>
                <a:cs typeface="Inter ExtraBold" pitchFamily="34" charset="-120"/>
              </a:rPr>
              <a:t>SOC Alert</a:t>
            </a:r>
            <a:endParaRPr lang="en-US" sz="900" dirty="0"/>
          </a:p>
        </p:txBody>
      </p:sp>
      <p:sp>
        <p:nvSpPr>
          <p:cNvPr id="27" name="Shape 17"/>
          <p:cNvSpPr/>
          <p:nvPr/>
        </p:nvSpPr>
        <p:spPr>
          <a:xfrm>
            <a:off x="3909557" y="3548658"/>
            <a:ext cx="3662818" cy="837214"/>
          </a:xfrm>
          <a:prstGeom prst="rect">
            <a:avLst/>
          </a:prstGeom>
          <a:solidFill>
            <a:srgbClr val="000000"/>
          </a:solidFill>
        </p:spPr>
      </p:sp>
      <p:sp>
        <p:nvSpPr>
          <p:cNvPr id="28" name="Text 18"/>
          <p:cNvSpPr/>
          <p:nvPr/>
        </p:nvSpPr>
        <p:spPr>
          <a:xfrm>
            <a:off x="3909557" y="3548658"/>
            <a:ext cx="3662818" cy="837214"/>
          </a:xfrm>
          <a:prstGeom prst="rect">
            <a:avLst/>
          </a:prstGeom>
          <a:noFill/>
        </p:spPr>
        <p:txBody>
          <a:bodyPr wrap="square" lIns="212598" tIns="212598" rIns="212598" bIns="212598" rtlCol="0" anchor="t">
            <a:spAutoFit/>
          </a:bodyPr>
          <a:lstStyle/>
          <a:p>
            <a:pPr marL="0" indent="0" algn="l">
              <a:lnSpc>
                <a:spcPct val="112000"/>
              </a:lnSpc>
              <a:buNone/>
            </a:pPr>
            <a:r>
              <a:rPr lang="en-US" sz="850" dirty="0">
                <a:solidFill>
                  <a:srgbClr val="FACC15"/>
                </a:solidFill>
                <a:latin typeface="Courier New" panose="02070309020205020404" pitchFamily="34" charset="0"/>
                <a:ea typeface="Courier New" panose="02070309020205020404" pitchFamily="34" charset="-122"/>
                <a:cs typeface="Courier New" panose="02070309020205020404" pitchFamily="34" charset="-120"/>
              </a:rPr>
              <a:t>IF</a:t>
            </a:r>
            <a:r>
              <a:rPr lang="en-US" sz="850" dirty="0">
                <a:solidFill>
                  <a:srgbClr val="FACC15"/>
                </a:solidFill>
                <a:latin typeface="Courier New" panose="02070309020205020404" pitchFamily="34" charset="0"/>
                <a:ea typeface="Courier New" panose="02070309020205020404" pitchFamily="34" charset="-122"/>
                <a:cs typeface="Courier New" panose="02070309020205020404" pitchFamily="34" charset="-120"/>
              </a:rPr>
              <a:t> Process == "powershell.exe"</a:t>
            </a:r>
            <a:r>
              <a:rPr lang="en-US" sz="8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
</a:t>
            </a:r>
            <a:r>
              <a:rPr lang="en-US" sz="850" dirty="0">
                <a:solidFill>
                  <a:srgbClr val="FACC15"/>
                </a:solidFill>
                <a:latin typeface="Courier New" panose="02070309020205020404" pitchFamily="34" charset="0"/>
                <a:ea typeface="Courier New" panose="02070309020205020404" pitchFamily="34" charset="-122"/>
                <a:cs typeface="Courier New" panose="02070309020205020404" pitchFamily="34" charset="-120"/>
              </a:rPr>
              <a:t>AND</a:t>
            </a:r>
            <a:r>
              <a:rPr lang="en-US" sz="850" dirty="0">
                <a:solidFill>
                  <a:srgbClr val="FACC15"/>
                </a:solidFill>
                <a:latin typeface="Courier New" panose="02070309020205020404" pitchFamily="34" charset="0"/>
                <a:ea typeface="Courier New" panose="02070309020205020404" pitchFamily="34" charset="-122"/>
                <a:cs typeface="Courier New" panose="02070309020205020404" pitchFamily="34" charset="-120"/>
              </a:rPr>
              <a:t> Command CONTAINS "DownloadString"</a:t>
            </a:r>
            <a:r>
              <a:rPr lang="en-US" sz="8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
</a:t>
            </a:r>
            <a:r>
              <a:rPr lang="en-US" sz="850" dirty="0">
                <a:solidFill>
                  <a:srgbClr val="FACC15"/>
                </a:solidFill>
                <a:latin typeface="Courier New" panose="02070309020205020404" pitchFamily="34" charset="0"/>
                <a:ea typeface="Courier New" panose="02070309020205020404" pitchFamily="34" charset="-122"/>
                <a:cs typeface="Courier New" panose="02070309020205020404" pitchFamily="34" charset="-120"/>
              </a:rPr>
              <a:t>THEN</a:t>
            </a:r>
            <a:r>
              <a:rPr lang="en-US" sz="850" dirty="0">
                <a:solidFill>
                  <a:srgbClr val="FACC15"/>
                </a:solidFill>
                <a:latin typeface="Courier New" panose="02070309020205020404" pitchFamily="34" charset="0"/>
                <a:ea typeface="Courier New" panose="02070309020205020404" pitchFamily="34" charset="-122"/>
                <a:cs typeface="Courier New" panose="02070309020205020404" pitchFamily="34" charset="-120"/>
              </a:rPr>
              <a:t> Trigger High-Priority Alert</a:t>
            </a:r>
            <a:endParaRPr lang="en-US" sz="850" dirty="0"/>
          </a:p>
        </p:txBody>
      </p:sp>
      <p:sp>
        <p:nvSpPr>
          <p:cNvPr id="29" name="Text 19"/>
          <p:cNvSpPr/>
          <p:nvPr/>
        </p:nvSpPr>
        <p:spPr>
          <a:xfrm>
            <a:off x="428625" y="4702373"/>
            <a:ext cx="8286750" cy="155377"/>
          </a:xfrm>
          <a:prstGeom prst="rect">
            <a:avLst/>
          </a:prstGeom>
          <a:noFill/>
        </p:spPr>
        <p:txBody>
          <a:bodyPr wrap="square" lIns="0" tIns="0" rIns="0" bIns="0" rtlCol="0" anchor="t">
            <a:spAutoFit/>
          </a:bodyPr>
          <a:lstStyle/>
          <a:p>
            <a:pPr marL="0" indent="0" algn="ctr">
              <a:buNone/>
            </a:pPr>
            <a:r>
              <a:rPr lang="en-US" sz="950" dirty="0">
                <a:solidFill>
                  <a:srgbClr val="000000"/>
                </a:solidFill>
                <a:latin typeface="Inter" pitchFamily="34" charset="0"/>
                <a:ea typeface="Inter" pitchFamily="34" charset="-122"/>
                <a:cs typeface="Inter" pitchFamily="34" charset="-120"/>
              </a:rPr>
              <a:t>Hiddeninvestigations.Net</a:t>
            </a:r>
            <a:endParaRPr lang="en-US" sz="950" dirty="0"/>
          </a:p>
        </p:txBody>
      </p:sp>
      <p:sp>
        <p:nvSpPr>
          <p:cNvPr id="30" name="Text 20"/>
          <p:cNvSpPr/>
          <p:nvPr/>
        </p:nvSpPr>
        <p:spPr>
          <a:xfrm>
            <a:off x="7642027" y="3857625"/>
            <a:ext cx="127000" cy="812165"/>
          </a:xfrm>
          <a:prstGeom prst="rect">
            <a:avLst/>
          </a:prstGeom>
          <a:noFill/>
        </p:spPr>
        <p:txBody>
          <a:bodyPr wrap="none" lIns="0" tIns="0" rIns="0" bIns="0" rtlCol="0" anchor="t">
            <a:spAutoFit/>
          </a:bodyPr>
          <a:lstStyle/>
          <a:p>
            <a:pPr marL="0" indent="0" algn="l">
              <a:lnSpc>
                <a:spcPct val="80000"/>
              </a:lnSpc>
              <a:buNone/>
            </a:pPr>
            <a:endParaRPr lang="en-US" sz="6600" dirty="0"/>
          </a:p>
        </p:txBody>
      </p:sp>
      <p:sp>
        <p:nvSpPr>
          <p:cNvPr id="2" name="Text 3"/>
          <p:cNvSpPr/>
          <p:nvPr/>
        </p:nvSpPr>
        <p:spPr>
          <a:xfrm>
            <a:off x="8270677" y="401835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18</a:t>
            </a:r>
            <a:endParaRPr lang="en-US" sz="3300" dirty="0"/>
          </a:p>
        </p:txBody>
      </p:sp>
      <p:sp>
        <p:nvSpPr>
          <p:cNvPr id="31" name="Oval 30"/>
          <p:cNvSpPr/>
          <p:nvPr/>
        </p:nvSpPr>
        <p:spPr>
          <a:xfrm>
            <a:off x="842645"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76583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202811" y="50553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19</a:t>
            </a:r>
            <a:endParaRPr lang="en-US" sz="3300" dirty="0"/>
          </a:p>
        </p:txBody>
      </p:sp>
      <p:sp>
        <p:nvSpPr>
          <p:cNvPr id="7" name="Text 4"/>
          <p:cNvSpPr/>
          <p:nvPr/>
        </p:nvSpPr>
        <p:spPr>
          <a:xfrm>
            <a:off x="428625" y="714375"/>
            <a:ext cx="8286750" cy="617209"/>
          </a:xfrm>
          <a:prstGeom prst="rect">
            <a:avLst/>
          </a:prstGeom>
          <a:noFill/>
        </p:spPr>
        <p:txBody>
          <a:bodyPr wrap="square" lIns="0" tIns="0" rIns="0" bIns="0" rtlCol="0" anchor="t">
            <a:spAutoFit/>
          </a:bodyPr>
          <a:lstStyle/>
          <a:p>
            <a:pPr marL="0" indent="0" algn="l">
              <a:lnSpc>
                <a:spcPct val="96000"/>
              </a:lnSpc>
              <a:buNone/>
            </a:pPr>
            <a:r>
              <a:rPr lang="en-US" sz="1800" b="1" dirty="0">
                <a:solidFill>
                  <a:srgbClr val="000000"/>
                </a:solidFill>
                <a:latin typeface="Inter Black" pitchFamily="34" charset="0"/>
                <a:ea typeface="Inter Black" pitchFamily="34" charset="-122"/>
                <a:cs typeface="Inter Black" pitchFamily="34" charset="-120"/>
              </a:rPr>
              <a:t>Knowing an Attack Exists Is Not Enough.</a:t>
            </a:r>
            <a:r>
              <a:rPr lang="en-US" sz="1800" b="1" dirty="0">
                <a:solidFill>
                  <a:srgbClr val="000000"/>
                </a:solidFill>
                <a:latin typeface="Inter Black" pitchFamily="34" charset="0"/>
                <a:ea typeface="Inter Black" pitchFamily="34" charset="-122"/>
                <a:cs typeface="Inter Black" pitchFamily="34" charset="-120"/>
              </a:rPr>
              <a:t>
</a:t>
            </a:r>
            <a:r>
              <a:rPr lang="en-US" sz="1800" b="1" dirty="0">
                <a:solidFill>
                  <a:srgbClr val="000000"/>
                </a:solidFill>
                <a:latin typeface="Inter Black" pitchFamily="34" charset="0"/>
                <a:ea typeface="Inter Black" pitchFamily="34" charset="-122"/>
                <a:cs typeface="Inter Black" pitchFamily="34" charset="-120"/>
              </a:rPr>
              <a:t>You Need Rules to Catch It Happening.</a:t>
            </a:r>
            <a:endParaRPr lang="en-US" sz="1800" dirty="0"/>
          </a:p>
        </p:txBody>
      </p:sp>
      <p:sp>
        <p:nvSpPr>
          <p:cNvPr id="8" name="Shape 5"/>
          <p:cNvSpPr/>
          <p:nvPr/>
        </p:nvSpPr>
        <p:spPr>
          <a:xfrm>
            <a:off x="428625" y="1510178"/>
            <a:ext cx="8286750" cy="657225"/>
          </a:xfrm>
          <a:prstGeom prst="rect">
            <a:avLst/>
          </a:prstGeom>
          <a:solidFill>
            <a:srgbClr val="F9F9F9"/>
          </a:solidFill>
          <a:ln w="9144">
            <a:solidFill>
              <a:srgbClr val="EEEEEE"/>
            </a:solidFill>
            <a:prstDash val="solid"/>
          </a:ln>
        </p:spPr>
      </p:sp>
      <p:sp>
        <p:nvSpPr>
          <p:cNvPr id="9" name="Shape 6"/>
          <p:cNvSpPr/>
          <p:nvPr/>
        </p:nvSpPr>
        <p:spPr>
          <a:xfrm>
            <a:off x="535781" y="1617334"/>
            <a:ext cx="2643188" cy="428625"/>
          </a:xfrm>
          <a:prstGeom prst="rect">
            <a:avLst/>
          </a:prstGeom>
          <a:solidFill>
            <a:srgbClr val="FFFFFF"/>
          </a:solidFill>
        </p:spPr>
      </p:sp>
      <p:sp>
        <p:nvSpPr>
          <p:cNvPr id="10" name="Shape 7"/>
          <p:cNvSpPr/>
          <p:nvPr/>
        </p:nvSpPr>
        <p:spPr>
          <a:xfrm>
            <a:off x="535781" y="1617334"/>
            <a:ext cx="28575" cy="428625"/>
          </a:xfrm>
          <a:prstGeom prst="rect">
            <a:avLst/>
          </a:prstGeom>
          <a:solidFill>
            <a:srgbClr val="000000"/>
          </a:solidFill>
        </p:spPr>
      </p:sp>
      <p:sp>
        <p:nvSpPr>
          <p:cNvPr id="11" name="Text 8"/>
          <p:cNvSpPr/>
          <p:nvPr/>
        </p:nvSpPr>
        <p:spPr>
          <a:xfrm>
            <a:off x="535781" y="1617334"/>
            <a:ext cx="2643188" cy="184150"/>
          </a:xfrm>
          <a:prstGeom prst="rect">
            <a:avLst/>
          </a:prstGeom>
          <a:noFill/>
        </p:spPr>
        <p:txBody>
          <a:bodyPr wrap="square" lIns="85090" tIns="0" rIns="0" bIns="0" rtlCol="0" anchor="t">
            <a:spAutoFit/>
          </a:bodyPr>
          <a:lstStyle/>
          <a:p>
            <a:pPr marL="0" indent="0" algn="l">
              <a:buNone/>
            </a:pPr>
            <a:r>
              <a:rPr lang="en-US" sz="1200" dirty="0">
                <a:solidFill>
                  <a:srgbClr val="888888"/>
                </a:solidFill>
                <a:latin typeface="Inter" pitchFamily="34" charset="0"/>
                <a:ea typeface="Inter" pitchFamily="34" charset="-122"/>
                <a:cs typeface="Inter" pitchFamily="34" charset="-120"/>
              </a:rPr>
              <a:t>LOG STREAM: 4624 LOGIN SUCCESS...</a:t>
            </a:r>
            <a:endParaRPr lang="en-US" sz="1200" dirty="0"/>
          </a:p>
        </p:txBody>
      </p:sp>
      <p:sp>
        <p:nvSpPr>
          <p:cNvPr id="12" name="Shape 9"/>
          <p:cNvSpPr/>
          <p:nvPr/>
        </p:nvSpPr>
        <p:spPr>
          <a:xfrm>
            <a:off x="3231347" y="1617334"/>
            <a:ext cx="2652703" cy="428625"/>
          </a:xfrm>
          <a:prstGeom prst="rect">
            <a:avLst/>
          </a:prstGeom>
          <a:solidFill>
            <a:srgbClr val="FFFFFF"/>
          </a:solidFill>
        </p:spPr>
      </p:sp>
      <p:sp>
        <p:nvSpPr>
          <p:cNvPr id="13" name="Shape 10"/>
          <p:cNvSpPr/>
          <p:nvPr/>
        </p:nvSpPr>
        <p:spPr>
          <a:xfrm>
            <a:off x="3231347" y="1617334"/>
            <a:ext cx="28575" cy="428625"/>
          </a:xfrm>
          <a:prstGeom prst="rect">
            <a:avLst/>
          </a:prstGeom>
          <a:solidFill>
            <a:srgbClr val="D9381E"/>
          </a:solidFill>
        </p:spPr>
      </p:sp>
      <p:sp>
        <p:nvSpPr>
          <p:cNvPr id="14" name="Text 11"/>
          <p:cNvSpPr/>
          <p:nvPr/>
        </p:nvSpPr>
        <p:spPr>
          <a:xfrm>
            <a:off x="3231347" y="1617334"/>
            <a:ext cx="2652703" cy="184150"/>
          </a:xfrm>
          <a:prstGeom prst="rect">
            <a:avLst/>
          </a:prstGeom>
          <a:noFill/>
        </p:spPr>
        <p:txBody>
          <a:bodyPr wrap="square" lIns="85090" tIns="0" rIns="0" bIns="0" rtlCol="0" anchor="t">
            <a:spAutoFit/>
          </a:bodyPr>
          <a:lstStyle/>
          <a:p>
            <a:pPr marL="0" indent="0" algn="l">
              <a:buNone/>
            </a:pPr>
            <a:r>
              <a:rPr lang="en-US" sz="1200" b="1" dirty="0">
                <a:solidFill>
                  <a:srgbClr val="D9381E"/>
                </a:solidFill>
                <a:latin typeface="Inter Bold" pitchFamily="34" charset="0"/>
                <a:ea typeface="Inter Bold" pitchFamily="34" charset="-122"/>
                <a:cs typeface="Inter Bold" pitchFamily="34" charset="-120"/>
              </a:rPr>
              <a:t>ALERT: CAR-2020-11-004 DETECTED</a:t>
            </a:r>
            <a:endParaRPr lang="en-US" sz="1200" dirty="0"/>
          </a:p>
        </p:txBody>
      </p:sp>
      <p:sp>
        <p:nvSpPr>
          <p:cNvPr id="15" name="Shape 12"/>
          <p:cNvSpPr/>
          <p:nvPr/>
        </p:nvSpPr>
        <p:spPr>
          <a:xfrm>
            <a:off x="5946000" y="1617334"/>
            <a:ext cx="2662247" cy="428625"/>
          </a:xfrm>
          <a:prstGeom prst="rect">
            <a:avLst/>
          </a:prstGeom>
          <a:solidFill>
            <a:srgbClr val="FFFFFF"/>
          </a:solidFill>
        </p:spPr>
      </p:sp>
      <p:sp>
        <p:nvSpPr>
          <p:cNvPr id="16" name="Shape 13"/>
          <p:cNvSpPr/>
          <p:nvPr/>
        </p:nvSpPr>
        <p:spPr>
          <a:xfrm>
            <a:off x="5946000" y="1617334"/>
            <a:ext cx="28575" cy="428625"/>
          </a:xfrm>
          <a:prstGeom prst="rect">
            <a:avLst/>
          </a:prstGeom>
          <a:solidFill>
            <a:srgbClr val="000000"/>
          </a:solidFill>
        </p:spPr>
      </p:sp>
      <p:sp>
        <p:nvSpPr>
          <p:cNvPr id="17" name="Text 14"/>
          <p:cNvSpPr/>
          <p:nvPr/>
        </p:nvSpPr>
        <p:spPr>
          <a:xfrm>
            <a:off x="5946000" y="1617334"/>
            <a:ext cx="2662247" cy="368935"/>
          </a:xfrm>
          <a:prstGeom prst="rect">
            <a:avLst/>
          </a:prstGeom>
          <a:noFill/>
        </p:spPr>
        <p:txBody>
          <a:bodyPr wrap="square" lIns="85090" tIns="0" rIns="0" bIns="0" rtlCol="0" anchor="t">
            <a:spAutoFit/>
          </a:bodyPr>
          <a:lstStyle/>
          <a:p>
            <a:pPr marL="0" indent="0" algn="l">
              <a:buNone/>
            </a:pPr>
            <a:r>
              <a:rPr lang="en-US" sz="1200" dirty="0">
                <a:solidFill>
                  <a:srgbClr val="888888"/>
                </a:solidFill>
                <a:latin typeface="Inter" pitchFamily="34" charset="0"/>
                <a:ea typeface="Inter" pitchFamily="34" charset="-122"/>
                <a:cs typeface="Inter" pitchFamily="34" charset="-120"/>
              </a:rPr>
              <a:t>LOG STREAM: 5145 FILE SHARE ACCESS...</a:t>
            </a:r>
            <a:endParaRPr lang="en-US" sz="1200" dirty="0"/>
          </a:p>
        </p:txBody>
      </p:sp>
      <p:sp>
        <p:nvSpPr>
          <p:cNvPr id="18" name="Shape 15"/>
          <p:cNvSpPr/>
          <p:nvPr/>
        </p:nvSpPr>
        <p:spPr>
          <a:xfrm>
            <a:off x="428625" y="2295990"/>
            <a:ext cx="8286750" cy="1035844"/>
          </a:xfrm>
          <a:prstGeom prst="rect">
            <a:avLst/>
          </a:prstGeom>
          <a:solidFill>
            <a:srgbClr val="1A1A1A"/>
          </a:solidFill>
        </p:spPr>
      </p:sp>
      <p:sp>
        <p:nvSpPr>
          <p:cNvPr id="19" name="Shape 16"/>
          <p:cNvSpPr/>
          <p:nvPr/>
        </p:nvSpPr>
        <p:spPr>
          <a:xfrm>
            <a:off x="428625" y="2295990"/>
            <a:ext cx="57150" cy="1035844"/>
          </a:xfrm>
          <a:prstGeom prst="rect">
            <a:avLst/>
          </a:prstGeom>
          <a:solidFill>
            <a:srgbClr val="F5C518"/>
          </a:solidFill>
        </p:spPr>
      </p:sp>
      <p:sp>
        <p:nvSpPr>
          <p:cNvPr id="20" name="Text 17"/>
          <p:cNvSpPr/>
          <p:nvPr/>
        </p:nvSpPr>
        <p:spPr>
          <a:xfrm>
            <a:off x="428625" y="2295990"/>
            <a:ext cx="8286750" cy="1035844"/>
          </a:xfrm>
          <a:prstGeom prst="rect">
            <a:avLst/>
          </a:prstGeom>
          <a:noFill/>
        </p:spPr>
        <p:txBody>
          <a:bodyPr wrap="square" lIns="170053" tIns="170053" rIns="170053" bIns="170053" rtlCol="0" anchor="t">
            <a:spAutoFit/>
          </a:bodyPr>
          <a:lstStyle/>
          <a:p>
            <a:pPr marL="0" indent="0" algn="l">
              <a:lnSpc>
                <a:spcPct val="120000"/>
              </a:lnSpc>
              <a:buNone/>
            </a:pPr>
            <a:r>
              <a:rPr lang="en-US" sz="7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[CAR-2020-11-004: Lateral Movement via WinRM]</a:t>
            </a:r>
            <a:r>
              <a:rPr lang="en-US" sz="7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MONITOR: Windows Security Event Log</a:t>
            </a:r>
            <a:r>
              <a:rPr lang="en-US" sz="7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EVENT_ID: 4688 (Process Creation)</a:t>
            </a:r>
            <a:r>
              <a:rPr lang="en-US" sz="7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PROCESS: wsmprovhost.exe</a:t>
            </a:r>
            <a:r>
              <a:rPr lang="en-US" sz="7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CONDITION: Spawning unexpected child processes outside admin context</a:t>
            </a:r>
            <a:endParaRPr lang="en-US" sz="750" dirty="0"/>
          </a:p>
        </p:txBody>
      </p:sp>
      <p:sp>
        <p:nvSpPr>
          <p:cNvPr id="21" name="Shape 18"/>
          <p:cNvSpPr/>
          <p:nvPr/>
        </p:nvSpPr>
        <p:spPr>
          <a:xfrm>
            <a:off x="428625" y="3510428"/>
            <a:ext cx="1485900" cy="262533"/>
          </a:xfrm>
          <a:prstGeom prst="rect">
            <a:avLst/>
          </a:prstGeom>
          <a:solidFill>
            <a:srgbClr val="F5C518"/>
          </a:solidFill>
          <a:ln w="9144">
            <a:solidFill>
              <a:srgbClr val="000000"/>
            </a:solidFill>
            <a:prstDash val="solid"/>
          </a:ln>
        </p:spPr>
      </p:sp>
      <p:sp>
        <p:nvSpPr>
          <p:cNvPr id="22" name="Text 19"/>
          <p:cNvSpPr/>
          <p:nvPr/>
        </p:nvSpPr>
        <p:spPr>
          <a:xfrm>
            <a:off x="428625" y="3510428"/>
            <a:ext cx="1485900" cy="262533"/>
          </a:xfrm>
          <a:prstGeom prst="rect">
            <a:avLst/>
          </a:prstGeom>
          <a:noFill/>
        </p:spPr>
        <p:txBody>
          <a:bodyPr wrap="square" lIns="85090" tIns="85090" rIns="85090" bIns="8509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ATT&amp;CK Technique</a:t>
            </a:r>
            <a:endParaRPr lang="en-US" sz="600" dirty="0"/>
          </a:p>
        </p:txBody>
      </p:sp>
      <p:sp>
        <p:nvSpPr>
          <p:cNvPr id="23" name="Text 20"/>
          <p:cNvSpPr/>
          <p:nvPr/>
        </p:nvSpPr>
        <p:spPr>
          <a:xfrm>
            <a:off x="1903084" y="3572935"/>
            <a:ext cx="214313" cy="137517"/>
          </a:xfrm>
          <a:prstGeom prst="rect">
            <a:avLst/>
          </a:prstGeom>
          <a:noFill/>
        </p:spPr>
        <p:txBody>
          <a:bodyPr wrap="none" lIns="0" tIns="0" rIns="0" bIns="0" rtlCol="0" anchor="t">
            <a:spAutoFit/>
          </a:bodyPr>
          <a:lstStyle/>
          <a:p>
            <a:pPr marL="0" indent="0" algn="ctr">
              <a:buNone/>
            </a:pPr>
            <a:r>
              <a:rPr lang="en-US" sz="850" dirty="0">
                <a:solidFill>
                  <a:srgbClr val="000000"/>
                </a:solidFill>
                <a:latin typeface="Inter" pitchFamily="34" charset="0"/>
                <a:ea typeface="Inter" pitchFamily="34" charset="-122"/>
                <a:cs typeface="Inter" pitchFamily="34" charset="-120"/>
              </a:rPr>
              <a:t>→</a:t>
            </a:r>
            <a:endParaRPr lang="en-US" sz="850" dirty="0"/>
          </a:p>
        </p:txBody>
      </p:sp>
      <p:sp>
        <p:nvSpPr>
          <p:cNvPr id="24" name="Shape 21"/>
          <p:cNvSpPr/>
          <p:nvPr/>
        </p:nvSpPr>
        <p:spPr>
          <a:xfrm>
            <a:off x="2117396" y="3510428"/>
            <a:ext cx="1488746" cy="262533"/>
          </a:xfrm>
          <a:prstGeom prst="rect">
            <a:avLst/>
          </a:prstGeom>
          <a:solidFill>
            <a:srgbClr val="FFFFFF"/>
          </a:solidFill>
          <a:ln w="9144">
            <a:solidFill>
              <a:srgbClr val="000000"/>
            </a:solidFill>
            <a:prstDash val="solid"/>
          </a:ln>
        </p:spPr>
      </p:sp>
      <p:sp>
        <p:nvSpPr>
          <p:cNvPr id="25" name="Text 22"/>
          <p:cNvSpPr/>
          <p:nvPr/>
        </p:nvSpPr>
        <p:spPr>
          <a:xfrm>
            <a:off x="2117396" y="3510428"/>
            <a:ext cx="1488746" cy="262533"/>
          </a:xfrm>
          <a:prstGeom prst="rect">
            <a:avLst/>
          </a:prstGeom>
          <a:noFill/>
        </p:spPr>
        <p:txBody>
          <a:bodyPr wrap="square" lIns="85090" tIns="85090" rIns="85090" bIns="8509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CAR Rule</a:t>
            </a:r>
            <a:endParaRPr lang="en-US" sz="600" dirty="0"/>
          </a:p>
        </p:txBody>
      </p:sp>
      <p:sp>
        <p:nvSpPr>
          <p:cNvPr id="26" name="Text 23"/>
          <p:cNvSpPr/>
          <p:nvPr/>
        </p:nvSpPr>
        <p:spPr>
          <a:xfrm>
            <a:off x="3597604" y="3572935"/>
            <a:ext cx="214313" cy="137517"/>
          </a:xfrm>
          <a:prstGeom prst="rect">
            <a:avLst/>
          </a:prstGeom>
          <a:noFill/>
        </p:spPr>
        <p:txBody>
          <a:bodyPr wrap="none" lIns="0" tIns="0" rIns="0" bIns="0" rtlCol="0" anchor="t">
            <a:spAutoFit/>
          </a:bodyPr>
          <a:lstStyle/>
          <a:p>
            <a:pPr marL="0" indent="0" algn="ctr">
              <a:buNone/>
            </a:pPr>
            <a:r>
              <a:rPr lang="en-US" sz="850" dirty="0">
                <a:solidFill>
                  <a:srgbClr val="000000"/>
                </a:solidFill>
                <a:latin typeface="Inter" pitchFamily="34" charset="0"/>
                <a:ea typeface="Inter" pitchFamily="34" charset="-122"/>
                <a:cs typeface="Inter" pitchFamily="34" charset="-120"/>
              </a:rPr>
              <a:t>→</a:t>
            </a:r>
            <a:endParaRPr lang="en-US" sz="850" dirty="0"/>
          </a:p>
        </p:txBody>
      </p:sp>
      <p:sp>
        <p:nvSpPr>
          <p:cNvPr id="27" name="Shape 24"/>
          <p:cNvSpPr/>
          <p:nvPr/>
        </p:nvSpPr>
        <p:spPr>
          <a:xfrm>
            <a:off x="3811916" y="3510428"/>
            <a:ext cx="1491621" cy="262533"/>
          </a:xfrm>
          <a:prstGeom prst="rect">
            <a:avLst/>
          </a:prstGeom>
          <a:solidFill>
            <a:srgbClr val="FFFFFF"/>
          </a:solidFill>
          <a:ln w="9144">
            <a:solidFill>
              <a:srgbClr val="000000"/>
            </a:solidFill>
            <a:prstDash val="solid"/>
          </a:ln>
        </p:spPr>
      </p:sp>
      <p:sp>
        <p:nvSpPr>
          <p:cNvPr id="28" name="Text 25"/>
          <p:cNvSpPr/>
          <p:nvPr/>
        </p:nvSpPr>
        <p:spPr>
          <a:xfrm>
            <a:off x="3811916" y="3510428"/>
            <a:ext cx="1491621" cy="262533"/>
          </a:xfrm>
          <a:prstGeom prst="rect">
            <a:avLst/>
          </a:prstGeom>
          <a:noFill/>
        </p:spPr>
        <p:txBody>
          <a:bodyPr wrap="square" lIns="85090" tIns="85090" rIns="85090" bIns="8509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SIEM Alert</a:t>
            </a:r>
            <a:endParaRPr lang="en-US" sz="600" dirty="0"/>
          </a:p>
        </p:txBody>
      </p:sp>
      <p:sp>
        <p:nvSpPr>
          <p:cNvPr id="29" name="Text 26"/>
          <p:cNvSpPr/>
          <p:nvPr/>
        </p:nvSpPr>
        <p:spPr>
          <a:xfrm>
            <a:off x="5297788" y="3572935"/>
            <a:ext cx="214313" cy="137517"/>
          </a:xfrm>
          <a:prstGeom prst="rect">
            <a:avLst/>
          </a:prstGeom>
          <a:noFill/>
        </p:spPr>
        <p:txBody>
          <a:bodyPr wrap="none" lIns="0" tIns="0" rIns="0" bIns="0" rtlCol="0" anchor="t">
            <a:spAutoFit/>
          </a:bodyPr>
          <a:lstStyle/>
          <a:p>
            <a:pPr marL="0" indent="0" algn="ctr">
              <a:buNone/>
            </a:pPr>
            <a:r>
              <a:rPr lang="en-US" sz="850" dirty="0">
                <a:solidFill>
                  <a:srgbClr val="000000"/>
                </a:solidFill>
                <a:latin typeface="Inter" pitchFamily="34" charset="0"/>
                <a:ea typeface="Inter" pitchFamily="34" charset="-122"/>
                <a:cs typeface="Inter" pitchFamily="34" charset="-120"/>
              </a:rPr>
              <a:t>→</a:t>
            </a:r>
            <a:endParaRPr lang="en-US" sz="850" dirty="0"/>
          </a:p>
        </p:txBody>
      </p:sp>
      <p:sp>
        <p:nvSpPr>
          <p:cNvPr id="30" name="Shape 27"/>
          <p:cNvSpPr/>
          <p:nvPr/>
        </p:nvSpPr>
        <p:spPr>
          <a:xfrm>
            <a:off x="5512101" y="3510428"/>
            <a:ext cx="1494467" cy="262533"/>
          </a:xfrm>
          <a:prstGeom prst="rect">
            <a:avLst/>
          </a:prstGeom>
          <a:solidFill>
            <a:srgbClr val="FFFFFF"/>
          </a:solidFill>
          <a:ln w="9144">
            <a:solidFill>
              <a:srgbClr val="000000"/>
            </a:solidFill>
            <a:prstDash val="solid"/>
          </a:ln>
        </p:spPr>
      </p:sp>
      <p:sp>
        <p:nvSpPr>
          <p:cNvPr id="31" name="Text 28"/>
          <p:cNvSpPr/>
          <p:nvPr/>
        </p:nvSpPr>
        <p:spPr>
          <a:xfrm>
            <a:off x="5512101" y="3510428"/>
            <a:ext cx="1494467" cy="262533"/>
          </a:xfrm>
          <a:prstGeom prst="rect">
            <a:avLst/>
          </a:prstGeom>
          <a:noFill/>
        </p:spPr>
        <p:txBody>
          <a:bodyPr wrap="square" lIns="85090" tIns="85090" rIns="85090" bIns="8509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SOC Analyst</a:t>
            </a:r>
            <a:endParaRPr lang="en-US" sz="600" dirty="0"/>
          </a:p>
        </p:txBody>
      </p:sp>
      <p:sp>
        <p:nvSpPr>
          <p:cNvPr id="32" name="Text 29"/>
          <p:cNvSpPr/>
          <p:nvPr/>
        </p:nvSpPr>
        <p:spPr>
          <a:xfrm>
            <a:off x="7003777" y="3572935"/>
            <a:ext cx="214313" cy="137517"/>
          </a:xfrm>
          <a:prstGeom prst="rect">
            <a:avLst/>
          </a:prstGeom>
          <a:noFill/>
        </p:spPr>
        <p:txBody>
          <a:bodyPr wrap="none" lIns="0" tIns="0" rIns="0" bIns="0" rtlCol="0" anchor="t">
            <a:spAutoFit/>
          </a:bodyPr>
          <a:lstStyle/>
          <a:p>
            <a:pPr marL="0" indent="0" algn="ctr">
              <a:buNone/>
            </a:pPr>
            <a:r>
              <a:rPr lang="en-US" sz="850" dirty="0">
                <a:solidFill>
                  <a:srgbClr val="000000"/>
                </a:solidFill>
                <a:latin typeface="Inter" pitchFamily="34" charset="0"/>
                <a:ea typeface="Inter" pitchFamily="34" charset="-122"/>
                <a:cs typeface="Inter" pitchFamily="34" charset="-120"/>
              </a:rPr>
              <a:t>→</a:t>
            </a:r>
            <a:endParaRPr lang="en-US" sz="850" dirty="0"/>
          </a:p>
        </p:txBody>
      </p:sp>
      <p:sp>
        <p:nvSpPr>
          <p:cNvPr id="33" name="Shape 30"/>
          <p:cNvSpPr/>
          <p:nvPr/>
        </p:nvSpPr>
        <p:spPr>
          <a:xfrm>
            <a:off x="7218090" y="3510428"/>
            <a:ext cx="1497341" cy="262533"/>
          </a:xfrm>
          <a:prstGeom prst="rect">
            <a:avLst/>
          </a:prstGeom>
          <a:solidFill>
            <a:srgbClr val="FFFFFF"/>
          </a:solidFill>
          <a:ln w="9144">
            <a:solidFill>
              <a:srgbClr val="000000"/>
            </a:solidFill>
            <a:prstDash val="solid"/>
          </a:ln>
        </p:spPr>
      </p:sp>
      <p:sp>
        <p:nvSpPr>
          <p:cNvPr id="34" name="Text 31"/>
          <p:cNvSpPr/>
          <p:nvPr/>
        </p:nvSpPr>
        <p:spPr>
          <a:xfrm>
            <a:off x="7218090" y="3510428"/>
            <a:ext cx="1497341" cy="262533"/>
          </a:xfrm>
          <a:prstGeom prst="rect">
            <a:avLst/>
          </a:prstGeom>
          <a:noFill/>
        </p:spPr>
        <p:txBody>
          <a:bodyPr wrap="square" lIns="85090" tIns="85090" rIns="85090" bIns="8509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Incident Response</a:t>
            </a:r>
            <a:endParaRPr lang="en-US" sz="600" dirty="0"/>
          </a:p>
        </p:txBody>
      </p:sp>
      <p:pic>
        <p:nvPicPr>
          <p:cNvPr id="35" name="Image 1" descr="preencoded.png"/>
          <p:cNvPicPr>
            <a:picLocks noChangeAspect="1"/>
          </p:cNvPicPr>
          <p:nvPr/>
        </p:nvPicPr>
        <p:blipFill>
          <a:blip r:embed="rId2"/>
          <a:stretch>
            <a:fillRect/>
          </a:stretch>
        </p:blipFill>
        <p:spPr>
          <a:xfrm>
            <a:off x="542925" y="4095852"/>
            <a:ext cx="171450" cy="171450"/>
          </a:xfrm>
          <a:prstGeom prst="rect">
            <a:avLst/>
          </a:prstGeom>
        </p:spPr>
      </p:pic>
      <p:sp>
        <p:nvSpPr>
          <p:cNvPr id="36" name="Text 32"/>
          <p:cNvSpPr/>
          <p:nvPr/>
        </p:nvSpPr>
        <p:spPr>
          <a:xfrm>
            <a:off x="857250" y="4051567"/>
            <a:ext cx="7743825" cy="343535"/>
          </a:xfrm>
          <a:prstGeom prst="rect">
            <a:avLst/>
          </a:prstGeom>
          <a:noFill/>
        </p:spPr>
        <p:txBody>
          <a:bodyPr wrap="square" lIns="0" tIns="0" rIns="0" bIns="0" rtlCol="0" anchor="t">
            <a:spAutoFit/>
          </a:bodyPr>
          <a:lstStyle/>
          <a:p>
            <a:pPr marL="0" indent="0" algn="l">
              <a:lnSpc>
                <a:spcPct val="112000"/>
              </a:lnSpc>
              <a:buNone/>
            </a:pPr>
            <a:r>
              <a:rPr lang="en-US" sz="1000" b="1" dirty="0">
                <a:solidFill>
                  <a:srgbClr val="000000"/>
                </a:solidFill>
                <a:latin typeface="Inter Bold" pitchFamily="34" charset="0"/>
                <a:ea typeface="Inter Bold" pitchFamily="34" charset="-122"/>
                <a:cs typeface="Inter Bold" pitchFamily="34" charset="-120"/>
              </a:rPr>
              <a:t>SolarWinds Story:</a:t>
            </a:r>
            <a:r>
              <a:rPr lang="en-US" sz="1000" dirty="0">
                <a:solidFill>
                  <a:srgbClr val="000000"/>
                </a:solidFill>
                <a:latin typeface="Inter" pitchFamily="34" charset="0"/>
                <a:ea typeface="Inter" pitchFamily="34" charset="-122"/>
                <a:cs typeface="Inter" pitchFamily="34" charset="-120"/>
              </a:rPr>
              <a:t> CAR analytics identified 23 distinct lateral movement paths that traditional signature-based tools missed entirely because the attackers used only legitimate administrative tools.</a:t>
            </a:r>
            <a:endParaRPr lang="en-US" sz="1000" dirty="0"/>
          </a:p>
        </p:txBody>
      </p:sp>
      <p:sp>
        <p:nvSpPr>
          <p:cNvPr id="37" name="Shape 33"/>
          <p:cNvSpPr/>
          <p:nvPr/>
        </p:nvSpPr>
        <p:spPr>
          <a:xfrm>
            <a:off x="428625" y="4443095"/>
            <a:ext cx="8286750" cy="247015"/>
          </a:xfrm>
          <a:prstGeom prst="rect">
            <a:avLst/>
          </a:prstGeom>
          <a:solidFill>
            <a:srgbClr val="F5C518"/>
          </a:solidFill>
        </p:spPr>
      </p:sp>
      <p:sp>
        <p:nvSpPr>
          <p:cNvPr id="38" name="Text 34"/>
          <p:cNvSpPr/>
          <p:nvPr/>
        </p:nvSpPr>
        <p:spPr>
          <a:xfrm>
            <a:off x="428625" y="4394138"/>
            <a:ext cx="8286750" cy="326827"/>
          </a:xfrm>
          <a:prstGeom prst="rect">
            <a:avLst/>
          </a:prstGeom>
          <a:noFill/>
        </p:spPr>
        <p:txBody>
          <a:bodyPr wrap="square" lIns="102108" tIns="102108" rIns="102108" bIns="102108" rtlCol="0" anchor="t">
            <a:spAutoFit/>
          </a:bodyPr>
          <a:lstStyle/>
          <a:p>
            <a:pPr marL="0" indent="0" algn="ctr">
              <a:buNone/>
            </a:pPr>
            <a:r>
              <a:rPr lang="en-US" sz="900" b="1" dirty="0">
                <a:solidFill>
                  <a:srgbClr val="000000"/>
                </a:solidFill>
                <a:latin typeface="Inter Bold" pitchFamily="34" charset="0"/>
                <a:ea typeface="Inter Bold" pitchFamily="34" charset="-122"/>
                <a:cs typeface="Inter Bold" pitchFamily="34" charset="-120"/>
              </a:rPr>
              <a:t>ATT&amp;CK is the wanted poster. CAR is the specific instructions given to each police officer on patrol.</a:t>
            </a:r>
            <a:endParaRPr lang="en-US" sz="900" dirty="0"/>
          </a:p>
        </p:txBody>
      </p:sp>
      <p:sp>
        <p:nvSpPr>
          <p:cNvPr id="39" name="Oval 38"/>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371207"/>
          </a:xfrm>
          <a:prstGeom prst="rect">
            <a:avLst/>
          </a:prstGeom>
        </p:spPr>
      </p:pic>
      <p:sp>
        <p:nvSpPr>
          <p:cNvPr id="4" name="Shape 0"/>
          <p:cNvSpPr/>
          <p:nvPr/>
        </p:nvSpPr>
        <p:spPr>
          <a:xfrm>
            <a:off x="428625" y="285750"/>
            <a:ext cx="571500" cy="228600"/>
          </a:xfrm>
          <a:prstGeom prst="roundRect">
            <a:avLst/>
          </a:prstGeom>
          <a:solidFill>
            <a:srgbClr val="FACC15"/>
          </a:solidFill>
        </p:spPr>
      </p:sp>
      <p:sp>
        <p:nvSpPr>
          <p:cNvPr id="5" name="Text 1"/>
          <p:cNvSpPr/>
          <p:nvPr/>
        </p:nvSpPr>
        <p:spPr>
          <a:xfrm>
            <a:off x="1107281" y="322362"/>
            <a:ext cx="1310878" cy="155377"/>
          </a:xfrm>
          <a:prstGeom prst="rect">
            <a:avLst/>
          </a:prstGeom>
          <a:noFill/>
        </p:spPr>
        <p:txBody>
          <a:bodyPr wrap="square" lIns="0" tIns="0" rIns="0" bIns="0" rtlCol="0" anchor="t">
            <a:spAutoFit/>
          </a:bodyPr>
          <a:lstStyle/>
          <a:p>
            <a:pPr marL="0" indent="0" algn="l">
              <a:buNone/>
            </a:pPr>
            <a:r>
              <a:rPr lang="en-US" sz="950" dirty="0">
                <a:solidFill>
                  <a:srgbClr val="000000"/>
                </a:solidFill>
                <a:latin typeface="Inter" pitchFamily="34" charset="0"/>
                <a:ea typeface="Inter" pitchFamily="34" charset="-122"/>
                <a:cs typeface="Inter" pitchFamily="34" charset="-120"/>
              </a:rPr>
              <a:t>Hidden Investigations</a:t>
            </a:r>
            <a:endParaRPr lang="en-US" sz="950" dirty="0"/>
          </a:p>
        </p:txBody>
      </p:sp>
      <p:sp>
        <p:nvSpPr>
          <p:cNvPr id="6" name="Text 2"/>
          <p:cNvSpPr/>
          <p:nvPr/>
        </p:nvSpPr>
        <p:spPr>
          <a:xfrm>
            <a:off x="428625" y="857250"/>
            <a:ext cx="7858125" cy="414338"/>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ExtraBold" pitchFamily="34" charset="0"/>
                <a:ea typeface="Inter ExtraBold" pitchFamily="34" charset="-122"/>
                <a:cs typeface="Inter ExtraBold" pitchFamily="34" charset="-120"/>
              </a:rPr>
              <a:t>Pyramid of Pain → Prioritizing Indicators</a:t>
            </a:r>
            <a:endParaRPr lang="en-US" sz="2450" dirty="0"/>
          </a:p>
        </p:txBody>
      </p:sp>
      <p:sp>
        <p:nvSpPr>
          <p:cNvPr id="7" name="Text 3"/>
          <p:cNvSpPr/>
          <p:nvPr/>
        </p:nvSpPr>
        <p:spPr>
          <a:xfrm>
            <a:off x="428625" y="1485900"/>
            <a:ext cx="2428875"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What is it?</a:t>
            </a:r>
            <a:endParaRPr lang="en-US" sz="1200" dirty="0"/>
          </a:p>
        </p:txBody>
      </p:sp>
      <p:sp>
        <p:nvSpPr>
          <p:cNvPr id="8" name="Text 4"/>
          <p:cNvSpPr/>
          <p:nvPr/>
        </p:nvSpPr>
        <p:spPr>
          <a:xfrm>
            <a:off x="428625" y="1800225"/>
            <a:ext cx="2428875" cy="822871"/>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The Pyramid of Pain shows how </a:t>
            </a:r>
            <a:r>
              <a:rPr lang="en-US" sz="950" dirty="0">
                <a:solidFill>
                  <a:srgbClr val="333333"/>
                </a:solidFill>
                <a:latin typeface="Inter" pitchFamily="34" charset="0"/>
                <a:ea typeface="Inter" pitchFamily="34" charset="-122"/>
                <a:cs typeface="Inter" pitchFamily="34" charset="-120"/>
              </a:rPr>
              <a:t>difficult it is for an attacker to change </a:t>
            </a:r>
            <a:r>
              <a:rPr lang="en-US" sz="950" dirty="0">
                <a:solidFill>
                  <a:srgbClr val="333333"/>
                </a:solidFill>
                <a:latin typeface="Inter" pitchFamily="34" charset="0"/>
                <a:ea typeface="Inter" pitchFamily="34" charset="-122"/>
                <a:cs typeface="Inter" pitchFamily="34" charset="-120"/>
              </a:rPr>
              <a:t>their </a:t>
            </a:r>
            <a:r>
              <a:rPr lang="en-US" sz="900" b="1" dirty="0">
                <a:solidFill>
                  <a:srgbClr val="333333"/>
                </a:solidFill>
                <a:latin typeface="Inter ExtraBold" pitchFamily="34" charset="0"/>
                <a:ea typeface="Inter ExtraBold" pitchFamily="34" charset="-122"/>
                <a:cs typeface="Inter ExtraBold" pitchFamily="34" charset="-120"/>
              </a:rPr>
              <a:t>Indicators of Compromise (IoCs)</a:t>
            </a:r>
            <a:r>
              <a:rPr lang="en-US" sz="950" dirty="0">
                <a:solidFill>
                  <a:srgbClr val="333333"/>
                </a:solidFill>
                <a:latin typeface="Inter" pitchFamily="34" charset="0"/>
                <a:ea typeface="Inter" pitchFamily="34" charset="-122"/>
                <a:cs typeface="Inter" pitchFamily="34" charset="-120"/>
              </a:rPr>
              <a:t> once detected.</a:t>
            </a:r>
            <a:endParaRPr lang="en-US" sz="950" dirty="0"/>
          </a:p>
        </p:txBody>
      </p:sp>
      <p:sp>
        <p:nvSpPr>
          <p:cNvPr id="9" name="Text 5"/>
          <p:cNvSpPr/>
          <p:nvPr/>
        </p:nvSpPr>
        <p:spPr>
          <a:xfrm>
            <a:off x="428625" y="2801689"/>
            <a:ext cx="2428875" cy="207169"/>
          </a:xfrm>
          <a:prstGeom prst="rect">
            <a:avLst/>
          </a:prstGeom>
          <a:noFill/>
        </p:spPr>
        <p:txBody>
          <a:bodyPr wrap="square" lIns="0" tIns="0" rIns="0" bIns="0" rtlCol="0" anchor="t">
            <a:spAutoFit/>
          </a:bodyPr>
          <a:lstStyle/>
          <a:p>
            <a:pPr marL="0" indent="0" algn="l">
              <a:buNone/>
            </a:pPr>
            <a:r>
              <a:rPr lang="en-US" sz="1200" dirty="0">
                <a:solidFill>
                  <a:srgbClr val="000000"/>
                </a:solidFill>
                <a:latin typeface="Inter SemiBold" pitchFamily="34" charset="0"/>
                <a:ea typeface="Inter SemiBold" pitchFamily="34" charset="-122"/>
                <a:cs typeface="Inter SemiBold" pitchFamily="34" charset="-120"/>
              </a:rPr>
              <a:t>Why does it matter?</a:t>
            </a:r>
            <a:endParaRPr lang="en-US" sz="1200" dirty="0"/>
          </a:p>
        </p:txBody>
      </p:sp>
      <p:sp>
        <p:nvSpPr>
          <p:cNvPr id="10" name="Text 6"/>
          <p:cNvSpPr/>
          <p:nvPr/>
        </p:nvSpPr>
        <p:spPr>
          <a:xfrm>
            <a:off x="428625" y="3116014"/>
            <a:ext cx="2428875" cy="822871"/>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Changing an IP is easy. Changing </a:t>
            </a:r>
            <a:r>
              <a:rPr lang="en-US" sz="900" b="1" dirty="0">
                <a:solidFill>
                  <a:srgbClr val="333333"/>
                </a:solidFill>
                <a:latin typeface="Inter ExtraBold" pitchFamily="34" charset="0"/>
                <a:ea typeface="Inter ExtraBold" pitchFamily="34" charset="-122"/>
                <a:cs typeface="Inter ExtraBold" pitchFamily="34" charset="-120"/>
              </a:rPr>
              <a:t>attacker behavior (TTPs)</a:t>
            </a:r>
            <a:r>
              <a:rPr lang="en-US" sz="950" dirty="0">
                <a:solidFill>
                  <a:srgbClr val="333333"/>
                </a:solidFill>
                <a:latin typeface="Inter" pitchFamily="34" charset="0"/>
                <a:ea typeface="Inter" pitchFamily="34" charset="-122"/>
                <a:cs typeface="Inter" pitchFamily="34" charset="-120"/>
              </a:rPr>
              <a:t> is difficult </a:t>
            </a:r>
            <a:r>
              <a:rPr lang="en-US" sz="950" dirty="0">
                <a:solidFill>
                  <a:srgbClr val="333333"/>
                </a:solidFill>
                <a:latin typeface="Inter" pitchFamily="34" charset="0"/>
                <a:ea typeface="Inter" pitchFamily="34" charset="-122"/>
                <a:cs typeface="Inter" pitchFamily="34" charset="-120"/>
              </a:rPr>
              <a:t>and causes the most "pain" to the </a:t>
            </a:r>
            <a:r>
              <a:rPr lang="en-US" sz="950" dirty="0">
                <a:solidFill>
                  <a:srgbClr val="333333"/>
                </a:solidFill>
                <a:latin typeface="Inter" pitchFamily="34" charset="0"/>
                <a:ea typeface="Inter" pitchFamily="34" charset="-122"/>
                <a:cs typeface="Inter" pitchFamily="34" charset="-120"/>
              </a:rPr>
              <a:t>adversary.</a:t>
            </a:r>
            <a:endParaRPr lang="en-US" sz="950" dirty="0"/>
          </a:p>
        </p:txBody>
      </p:sp>
      <p:sp>
        <p:nvSpPr>
          <p:cNvPr id="11" name="Shape 7"/>
          <p:cNvSpPr/>
          <p:nvPr/>
        </p:nvSpPr>
        <p:spPr>
          <a:xfrm>
            <a:off x="414655" y="3670300"/>
            <a:ext cx="2428875" cy="1075055"/>
          </a:xfrm>
          <a:prstGeom prst="rect">
            <a:avLst/>
          </a:prstGeom>
          <a:solidFill>
            <a:srgbClr val="F9FAFB"/>
          </a:solidFill>
        </p:spPr>
      </p:sp>
      <p:sp>
        <p:nvSpPr>
          <p:cNvPr id="12" name="Text 8"/>
          <p:cNvSpPr/>
          <p:nvPr/>
        </p:nvSpPr>
        <p:spPr>
          <a:xfrm>
            <a:off x="593249" y="3849033"/>
            <a:ext cx="2071688" cy="275034"/>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Real-World Example: TrickBot &amp; Conti</a:t>
            </a:r>
            <a:endParaRPr lang="en-US" sz="800" dirty="0"/>
          </a:p>
        </p:txBody>
      </p:sp>
      <p:sp>
        <p:nvSpPr>
          <p:cNvPr id="13" name="Text 9"/>
          <p:cNvSpPr/>
          <p:nvPr/>
        </p:nvSpPr>
        <p:spPr>
          <a:xfrm>
            <a:off x="593249" y="4195505"/>
            <a:ext cx="1782366" cy="137517"/>
          </a:xfrm>
          <a:prstGeom prst="rect">
            <a:avLst/>
          </a:prstGeom>
          <a:noFill/>
        </p:spPr>
        <p:txBody>
          <a:bodyPr wrap="squar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Detecting their specific tools and</a:t>
            </a:r>
            <a:endParaRPr lang="en-US" sz="850" dirty="0"/>
          </a:p>
        </p:txBody>
      </p:sp>
      <p:sp>
        <p:nvSpPr>
          <p:cNvPr id="14" name="Text 10"/>
          <p:cNvSpPr/>
          <p:nvPr/>
        </p:nvSpPr>
        <p:spPr>
          <a:xfrm>
            <a:off x="593249" y="4333022"/>
            <a:ext cx="1732359" cy="137517"/>
          </a:xfrm>
          <a:prstGeom prst="rect">
            <a:avLst/>
          </a:prstGeom>
          <a:noFill/>
        </p:spPr>
        <p:txBody>
          <a:bodyPr wrap="squar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network artifacts disrupted their</a:t>
            </a:r>
            <a:endParaRPr lang="en-US" sz="850" dirty="0"/>
          </a:p>
        </p:txBody>
      </p:sp>
      <p:sp>
        <p:nvSpPr>
          <p:cNvPr id="15" name="Text 11"/>
          <p:cNvSpPr/>
          <p:nvPr/>
        </p:nvSpPr>
        <p:spPr>
          <a:xfrm>
            <a:off x="607219" y="4477524"/>
            <a:ext cx="1918097" cy="137517"/>
          </a:xfrm>
          <a:prstGeom prst="rect">
            <a:avLst/>
          </a:prstGeom>
          <a:noFill/>
        </p:spPr>
        <p:txBody>
          <a:bodyPr wrap="squar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operations more than blocking their</a:t>
            </a:r>
            <a:endParaRPr lang="en-US" sz="850" dirty="0"/>
          </a:p>
        </p:txBody>
      </p:sp>
      <p:sp>
        <p:nvSpPr>
          <p:cNvPr id="16" name="Text 12"/>
          <p:cNvSpPr/>
          <p:nvPr/>
        </p:nvSpPr>
        <p:spPr>
          <a:xfrm>
            <a:off x="593249" y="4608056"/>
            <a:ext cx="1173361" cy="137517"/>
          </a:xfrm>
          <a:prstGeom prst="rect">
            <a:avLst/>
          </a:prstGeom>
          <a:noFill/>
        </p:spPr>
        <p:txBody>
          <a:bodyPr wrap="non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rotating IP addresses.</a:t>
            </a:r>
            <a:endParaRPr lang="en-US" sz="850" dirty="0"/>
          </a:p>
        </p:txBody>
      </p:sp>
      <p:sp>
        <p:nvSpPr>
          <p:cNvPr id="17" name="Shape 13"/>
          <p:cNvSpPr/>
          <p:nvPr/>
        </p:nvSpPr>
        <p:spPr>
          <a:xfrm>
            <a:off x="5072063" y="2056954"/>
            <a:ext cx="1428750" cy="428625"/>
          </a:xfrm>
          <a:prstGeom prst="rect">
            <a:avLst/>
          </a:prstGeom>
          <a:solidFill>
            <a:srgbClr val="000000"/>
          </a:solidFill>
        </p:spPr>
      </p:sp>
      <p:sp>
        <p:nvSpPr>
          <p:cNvPr id="18" name="Text 14"/>
          <p:cNvSpPr/>
          <p:nvPr/>
        </p:nvSpPr>
        <p:spPr>
          <a:xfrm>
            <a:off x="5072063" y="2056954"/>
            <a:ext cx="1428750" cy="428625"/>
          </a:xfrm>
          <a:prstGeom prst="rect">
            <a:avLst/>
          </a:prstGeom>
          <a:noFill/>
        </p:spPr>
        <p:txBody>
          <a:bodyPr wrap="square" lIns="0" tIns="0" rIns="0" bIns="0" rtlCol="0" anchor="ctr">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TTPS</a:t>
            </a:r>
            <a:endParaRPr lang="en-US" sz="900" dirty="0"/>
          </a:p>
        </p:txBody>
      </p:sp>
      <p:sp>
        <p:nvSpPr>
          <p:cNvPr id="19" name="Shape 15"/>
          <p:cNvSpPr/>
          <p:nvPr/>
        </p:nvSpPr>
        <p:spPr>
          <a:xfrm>
            <a:off x="4714875" y="2514154"/>
            <a:ext cx="2143125" cy="428625"/>
          </a:xfrm>
          <a:prstGeom prst="rect">
            <a:avLst/>
          </a:prstGeom>
          <a:solidFill>
            <a:srgbClr val="1F2937"/>
          </a:solidFill>
        </p:spPr>
      </p:sp>
      <p:sp>
        <p:nvSpPr>
          <p:cNvPr id="20" name="Text 16"/>
          <p:cNvSpPr/>
          <p:nvPr/>
        </p:nvSpPr>
        <p:spPr>
          <a:xfrm>
            <a:off x="4714875" y="2514154"/>
            <a:ext cx="2143125" cy="428625"/>
          </a:xfrm>
          <a:prstGeom prst="rect">
            <a:avLst/>
          </a:prstGeom>
          <a:noFill/>
        </p:spPr>
        <p:txBody>
          <a:bodyPr wrap="square" lIns="0" tIns="0" rIns="0" bIns="0" rtlCol="0" anchor="ctr">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TOOLS</a:t>
            </a:r>
            <a:endParaRPr lang="en-US" sz="900" dirty="0"/>
          </a:p>
        </p:txBody>
      </p:sp>
      <p:sp>
        <p:nvSpPr>
          <p:cNvPr id="21" name="Shape 17"/>
          <p:cNvSpPr/>
          <p:nvPr/>
        </p:nvSpPr>
        <p:spPr>
          <a:xfrm>
            <a:off x="4357688" y="2971354"/>
            <a:ext cx="2857500" cy="428625"/>
          </a:xfrm>
          <a:prstGeom prst="rect">
            <a:avLst/>
          </a:prstGeom>
          <a:solidFill>
            <a:srgbClr val="374151"/>
          </a:solidFill>
        </p:spPr>
      </p:sp>
      <p:sp>
        <p:nvSpPr>
          <p:cNvPr id="22" name="Text 18"/>
          <p:cNvSpPr/>
          <p:nvPr/>
        </p:nvSpPr>
        <p:spPr>
          <a:xfrm>
            <a:off x="4357688" y="2971354"/>
            <a:ext cx="2857500" cy="428625"/>
          </a:xfrm>
          <a:prstGeom prst="rect">
            <a:avLst/>
          </a:prstGeom>
          <a:noFill/>
        </p:spPr>
        <p:txBody>
          <a:bodyPr wrap="square" lIns="0" tIns="0" rIns="0" bIns="0" rtlCol="0" anchor="ctr">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NETWORK ARTIFACTS</a:t>
            </a:r>
            <a:endParaRPr lang="en-US" sz="900" dirty="0"/>
          </a:p>
        </p:txBody>
      </p:sp>
      <p:sp>
        <p:nvSpPr>
          <p:cNvPr id="23" name="Shape 19"/>
          <p:cNvSpPr/>
          <p:nvPr/>
        </p:nvSpPr>
        <p:spPr>
          <a:xfrm>
            <a:off x="4000500" y="3428554"/>
            <a:ext cx="3571875" cy="428625"/>
          </a:xfrm>
          <a:prstGeom prst="rect">
            <a:avLst/>
          </a:prstGeom>
          <a:solidFill>
            <a:srgbClr val="4B5563"/>
          </a:solidFill>
        </p:spPr>
      </p:sp>
      <p:sp>
        <p:nvSpPr>
          <p:cNvPr id="24" name="Text 20"/>
          <p:cNvSpPr/>
          <p:nvPr/>
        </p:nvSpPr>
        <p:spPr>
          <a:xfrm>
            <a:off x="4000500" y="3428554"/>
            <a:ext cx="3571875" cy="428625"/>
          </a:xfrm>
          <a:prstGeom prst="rect">
            <a:avLst/>
          </a:prstGeom>
          <a:noFill/>
        </p:spPr>
        <p:txBody>
          <a:bodyPr wrap="square" lIns="0" tIns="0" rIns="0" bIns="0" rtlCol="0" anchor="ctr">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DOMAIN NAMES</a:t>
            </a:r>
            <a:endParaRPr lang="en-US" sz="900" dirty="0"/>
          </a:p>
        </p:txBody>
      </p:sp>
      <p:sp>
        <p:nvSpPr>
          <p:cNvPr id="25" name="Shape 21"/>
          <p:cNvSpPr/>
          <p:nvPr/>
        </p:nvSpPr>
        <p:spPr>
          <a:xfrm>
            <a:off x="3643313" y="3885754"/>
            <a:ext cx="4286250" cy="428625"/>
          </a:xfrm>
          <a:prstGeom prst="rect">
            <a:avLst/>
          </a:prstGeom>
          <a:solidFill>
            <a:srgbClr val="6B7280"/>
          </a:solidFill>
        </p:spPr>
      </p:sp>
      <p:sp>
        <p:nvSpPr>
          <p:cNvPr id="26" name="Text 22"/>
          <p:cNvSpPr/>
          <p:nvPr/>
        </p:nvSpPr>
        <p:spPr>
          <a:xfrm>
            <a:off x="3643313" y="3885754"/>
            <a:ext cx="4286250" cy="428625"/>
          </a:xfrm>
          <a:prstGeom prst="rect">
            <a:avLst/>
          </a:prstGeom>
          <a:noFill/>
        </p:spPr>
        <p:txBody>
          <a:bodyPr wrap="square" lIns="0" tIns="0" rIns="0" bIns="0" rtlCol="0" anchor="ctr">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IP ADDRESSES</a:t>
            </a:r>
            <a:endParaRPr lang="en-US" sz="900" dirty="0"/>
          </a:p>
        </p:txBody>
      </p:sp>
      <p:sp>
        <p:nvSpPr>
          <p:cNvPr id="27" name="Shape 23"/>
          <p:cNvSpPr/>
          <p:nvPr/>
        </p:nvSpPr>
        <p:spPr>
          <a:xfrm>
            <a:off x="3286125" y="4342954"/>
            <a:ext cx="5000625" cy="428625"/>
          </a:xfrm>
          <a:prstGeom prst="rect">
            <a:avLst/>
          </a:prstGeom>
          <a:solidFill>
            <a:srgbClr val="9CA3AF"/>
          </a:solidFill>
        </p:spPr>
      </p:sp>
      <p:sp>
        <p:nvSpPr>
          <p:cNvPr id="28" name="Text 24"/>
          <p:cNvSpPr/>
          <p:nvPr/>
        </p:nvSpPr>
        <p:spPr>
          <a:xfrm>
            <a:off x="3286125" y="4342954"/>
            <a:ext cx="5000625" cy="428625"/>
          </a:xfrm>
          <a:prstGeom prst="rect">
            <a:avLst/>
          </a:prstGeom>
          <a:noFill/>
        </p:spPr>
        <p:txBody>
          <a:bodyPr wrap="square" lIns="0" tIns="0" rIns="0" bIns="0" rtlCol="0" anchor="ctr">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HASH VALUES</a:t>
            </a:r>
            <a:endParaRPr lang="en-US" sz="900" dirty="0"/>
          </a:p>
        </p:txBody>
      </p:sp>
      <p:sp>
        <p:nvSpPr>
          <p:cNvPr id="29" name="Text 25"/>
          <p:cNvSpPr/>
          <p:nvPr/>
        </p:nvSpPr>
        <p:spPr>
          <a:xfrm>
            <a:off x="7980363" y="2199829"/>
            <a:ext cx="557213" cy="121444"/>
          </a:xfrm>
          <a:prstGeom prst="rect">
            <a:avLst/>
          </a:prstGeom>
          <a:noFill/>
        </p:spPr>
        <p:txBody>
          <a:bodyPr wrap="none" lIns="0" tIns="0" rIns="0" bIns="0" rtlCol="0" anchor="t">
            <a:spAutoFit/>
          </a:bodyPr>
          <a:lstStyle/>
          <a:p>
            <a:pPr marL="0" indent="0" algn="l">
              <a:buNone/>
            </a:pPr>
            <a:r>
              <a:rPr lang="en-US" sz="700" b="1" dirty="0">
                <a:solidFill>
                  <a:srgbClr val="000000"/>
                </a:solidFill>
                <a:latin typeface="Inter ExtraBold" pitchFamily="34" charset="0"/>
                <a:ea typeface="Inter ExtraBold" pitchFamily="34" charset="-122"/>
                <a:cs typeface="Inter ExtraBold" pitchFamily="34" charset="-120"/>
              </a:rPr>
              <a:t>TOUGH</a:t>
            </a:r>
            <a:endParaRPr lang="en-US" sz="700" dirty="0"/>
          </a:p>
        </p:txBody>
      </p:sp>
      <p:sp>
        <p:nvSpPr>
          <p:cNvPr id="30" name="Text 26"/>
          <p:cNvSpPr/>
          <p:nvPr/>
        </p:nvSpPr>
        <p:spPr>
          <a:xfrm>
            <a:off x="7889558" y="3367832"/>
            <a:ext cx="557213" cy="121444"/>
          </a:xfrm>
          <a:prstGeom prst="rect">
            <a:avLst/>
          </a:prstGeom>
          <a:noFill/>
        </p:spPr>
        <p:txBody>
          <a:bodyPr wrap="none" lIns="0" tIns="0" rIns="0" bIns="0" rtlCol="0" anchor="t">
            <a:spAutoFit/>
          </a:bodyPr>
          <a:lstStyle/>
          <a:p>
            <a:pPr marL="0" indent="0" algn="l">
              <a:buNone/>
            </a:pPr>
            <a:r>
              <a:rPr lang="en-US" sz="700" b="1" dirty="0">
                <a:solidFill>
                  <a:srgbClr val="000000"/>
                </a:solidFill>
                <a:latin typeface="Inter ExtraBold" pitchFamily="34" charset="0"/>
                <a:ea typeface="Inter ExtraBold" pitchFamily="34" charset="-122"/>
                <a:cs typeface="Inter ExtraBold" pitchFamily="34" charset="-120"/>
              </a:rPr>
              <a:t>ANNOYING</a:t>
            </a:r>
            <a:endParaRPr lang="en-US" sz="700" dirty="0"/>
          </a:p>
        </p:txBody>
      </p:sp>
      <p:sp>
        <p:nvSpPr>
          <p:cNvPr id="31" name="Text 27"/>
          <p:cNvSpPr/>
          <p:nvPr/>
        </p:nvSpPr>
        <p:spPr>
          <a:xfrm>
            <a:off x="8015288" y="4535835"/>
            <a:ext cx="557213" cy="121444"/>
          </a:xfrm>
          <a:prstGeom prst="rect">
            <a:avLst/>
          </a:prstGeom>
          <a:noFill/>
        </p:spPr>
        <p:txBody>
          <a:bodyPr wrap="none" lIns="0" tIns="0" rIns="0" bIns="0" rtlCol="0" anchor="t">
            <a:spAutoFit/>
          </a:bodyPr>
          <a:lstStyle/>
          <a:p>
            <a:pPr marL="0" indent="0" algn="l">
              <a:buNone/>
            </a:pPr>
            <a:r>
              <a:rPr lang="en-US" sz="700" b="1" dirty="0">
                <a:solidFill>
                  <a:srgbClr val="000000"/>
                </a:solidFill>
                <a:latin typeface="Inter ExtraBold" pitchFamily="34" charset="0"/>
                <a:ea typeface="Inter ExtraBold" pitchFamily="34" charset="-122"/>
                <a:cs typeface="Inter ExtraBold" pitchFamily="34" charset="-120"/>
              </a:rPr>
              <a:t>TRIVIAL</a:t>
            </a:r>
            <a:endParaRPr lang="en-US" sz="700" dirty="0"/>
          </a:p>
        </p:txBody>
      </p:sp>
      <p:sp>
        <p:nvSpPr>
          <p:cNvPr id="32" name="Text 28"/>
          <p:cNvSpPr/>
          <p:nvPr/>
        </p:nvSpPr>
        <p:spPr>
          <a:xfrm>
            <a:off x="428625" y="4844355"/>
            <a:ext cx="8286750" cy="155377"/>
          </a:xfrm>
          <a:prstGeom prst="rect">
            <a:avLst/>
          </a:prstGeom>
          <a:noFill/>
        </p:spPr>
        <p:txBody>
          <a:bodyPr wrap="square" lIns="0" tIns="0" rIns="0" bIns="0" rtlCol="0" anchor="t">
            <a:spAutoFit/>
          </a:bodyPr>
          <a:lstStyle/>
          <a:p>
            <a:pPr marL="0" indent="0" algn="ctr">
              <a:buNone/>
            </a:pPr>
            <a:r>
              <a:rPr lang="en-US" sz="950" dirty="0">
                <a:solidFill>
                  <a:srgbClr val="000000"/>
                </a:solidFill>
                <a:latin typeface="Inter" pitchFamily="34" charset="0"/>
                <a:ea typeface="Inter" pitchFamily="34" charset="-122"/>
                <a:cs typeface="Inter" pitchFamily="34" charset="-120"/>
              </a:rPr>
              <a:t>Hiddeninvestigations.Net</a:t>
            </a:r>
            <a:endParaRPr lang="en-US" sz="950" dirty="0"/>
          </a:p>
        </p:txBody>
      </p:sp>
      <p:sp>
        <p:nvSpPr>
          <p:cNvPr id="2" name="Text 3"/>
          <p:cNvSpPr/>
          <p:nvPr/>
        </p:nvSpPr>
        <p:spPr>
          <a:xfrm>
            <a:off x="8286552" y="47759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20</a:t>
            </a:r>
            <a:endParaRPr lang="en-US" sz="3300" dirty="0"/>
          </a:p>
        </p:txBody>
      </p:sp>
      <p:sp>
        <p:nvSpPr>
          <p:cNvPr id="33" name="Oval 32"/>
          <p:cNvSpPr/>
          <p:nvPr/>
        </p:nvSpPr>
        <p:spPr>
          <a:xfrm>
            <a:off x="842645"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2794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329613" y="401835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21</a:t>
            </a:r>
            <a:endParaRPr lang="en-US" sz="3300" dirty="0"/>
          </a:p>
        </p:txBody>
      </p:sp>
      <p:sp>
        <p:nvSpPr>
          <p:cNvPr id="7" name="Text 4"/>
          <p:cNvSpPr/>
          <p:nvPr/>
        </p:nvSpPr>
        <p:spPr>
          <a:xfrm>
            <a:off x="428625" y="714375"/>
            <a:ext cx="8286750" cy="414338"/>
          </a:xfrm>
          <a:prstGeom prst="rect">
            <a:avLst/>
          </a:prstGeom>
          <a:noFill/>
        </p:spPr>
        <p:txBody>
          <a:bodyPr wrap="square" lIns="0" tIns="0" rIns="0" bIns="0" rtlCol="0" anchor="t">
            <a:spAutoFit/>
          </a:bodyPr>
          <a:lstStyle/>
          <a:p>
            <a:pPr marL="0" indent="0" algn="ctr">
              <a:buNone/>
            </a:pPr>
            <a:r>
              <a:rPr lang="en-US" sz="1200" b="1" i="1" dirty="0">
                <a:solidFill>
                  <a:srgbClr val="000000"/>
                </a:solidFill>
                <a:latin typeface="Inter Black" pitchFamily="34" charset="0"/>
                <a:ea typeface="Inter Black" pitchFamily="34" charset="-122"/>
                <a:cs typeface="Inter Black" pitchFamily="34" charset="-120"/>
              </a:rPr>
              <a:t>"Blocking an IP Address Is Like Changing a T-Shirt.</a:t>
            </a:r>
            <a:r>
              <a:rPr lang="en-US" sz="1200" b="1" i="1" dirty="0">
                <a:solidFill>
                  <a:srgbClr val="000000"/>
                </a:solidFill>
                <a:latin typeface="Inter Black" pitchFamily="34" charset="0"/>
                <a:ea typeface="Inter Black" pitchFamily="34" charset="-122"/>
                <a:cs typeface="Inter Black" pitchFamily="34" charset="-120"/>
              </a:rPr>
              <a:t>
</a:t>
            </a:r>
            <a:r>
              <a:rPr lang="en-US" sz="1200" b="1" i="1" dirty="0">
                <a:solidFill>
                  <a:srgbClr val="000000"/>
                </a:solidFill>
                <a:latin typeface="Inter Black" pitchFamily="34" charset="0"/>
                <a:ea typeface="Inter Black" pitchFamily="34" charset="-122"/>
                <a:cs typeface="Inter Black" pitchFamily="34" charset="-120"/>
              </a:rPr>
              <a:t>Blocking Behavior Is Like Changing Your Face."</a:t>
            </a:r>
            <a:endParaRPr lang="en-US" sz="1200" dirty="0"/>
          </a:p>
        </p:txBody>
      </p:sp>
      <p:sp>
        <p:nvSpPr>
          <p:cNvPr id="8" name="Shape 5"/>
          <p:cNvSpPr/>
          <p:nvPr/>
        </p:nvSpPr>
        <p:spPr>
          <a:xfrm>
            <a:off x="6557963" y="1271588"/>
            <a:ext cx="1585913" cy="219670"/>
          </a:xfrm>
          <a:prstGeom prst="rect">
            <a:avLst/>
          </a:prstGeom>
          <a:solidFill>
            <a:srgbClr val="000000"/>
          </a:solidFill>
        </p:spPr>
      </p:sp>
      <p:pic>
        <p:nvPicPr>
          <p:cNvPr id="9" name="Image 1" descr="preencoded.png"/>
          <p:cNvPicPr>
            <a:picLocks noChangeAspect="1"/>
          </p:cNvPicPr>
          <p:nvPr/>
        </p:nvPicPr>
        <p:blipFill>
          <a:blip r:embed="rId2"/>
          <a:stretch>
            <a:fillRect/>
          </a:stretch>
        </p:blipFill>
        <p:spPr>
          <a:xfrm>
            <a:off x="6643688" y="1338560"/>
            <a:ext cx="85725" cy="85725"/>
          </a:xfrm>
          <a:prstGeom prst="rect">
            <a:avLst/>
          </a:prstGeom>
        </p:spPr>
      </p:pic>
      <p:sp>
        <p:nvSpPr>
          <p:cNvPr id="10" name="Text 6"/>
          <p:cNvSpPr/>
          <p:nvPr/>
        </p:nvSpPr>
        <p:spPr>
          <a:xfrm>
            <a:off x="6786563" y="1328738"/>
            <a:ext cx="1271588" cy="105370"/>
          </a:xfrm>
          <a:prstGeom prst="rect">
            <a:avLst/>
          </a:prstGeom>
          <a:noFill/>
        </p:spPr>
        <p:txBody>
          <a:bodyPr wrap="none" lIns="0" tIns="0" rIns="0" bIns="0" rtlCol="0" anchor="t">
            <a:spAutoFit/>
          </a:bodyPr>
          <a:lstStyle/>
          <a:p>
            <a:pPr marL="0" indent="0" algn="l">
              <a:buNone/>
            </a:pPr>
            <a:r>
              <a:rPr lang="en-US" sz="600" b="1" dirty="0">
                <a:solidFill>
                  <a:srgbClr val="FFFFFF"/>
                </a:solidFill>
                <a:latin typeface="Inter Black" pitchFamily="34" charset="0"/>
                <a:ea typeface="Inter Black" pitchFamily="34" charset="-122"/>
                <a:cs typeface="Inter Black" pitchFamily="34" charset="-120"/>
              </a:rPr>
              <a:t>ATT&amp;CK documents this level</a:t>
            </a:r>
            <a:endParaRPr lang="en-US" sz="600" dirty="0"/>
          </a:p>
        </p:txBody>
      </p:sp>
      <p:sp>
        <p:nvSpPr>
          <p:cNvPr id="11" name="Shape 7"/>
          <p:cNvSpPr/>
          <p:nvPr/>
        </p:nvSpPr>
        <p:spPr>
          <a:xfrm>
            <a:off x="6450806" y="1381423"/>
            <a:ext cx="107156" cy="7144"/>
          </a:xfrm>
          <a:prstGeom prst="rect">
            <a:avLst/>
          </a:prstGeom>
          <a:solidFill>
            <a:srgbClr val="000000"/>
          </a:solidFill>
        </p:spPr>
      </p:sp>
      <p:sp>
        <p:nvSpPr>
          <p:cNvPr id="12" name="Shape 8"/>
          <p:cNvSpPr/>
          <p:nvPr/>
        </p:nvSpPr>
        <p:spPr>
          <a:xfrm>
            <a:off x="4036219" y="1414463"/>
            <a:ext cx="1071563" cy="357188"/>
          </a:xfrm>
          <a:prstGeom prst="rect">
            <a:avLst/>
          </a:prstGeom>
          <a:solidFill>
            <a:srgbClr val="F5C518"/>
          </a:solidFill>
        </p:spPr>
      </p:sp>
      <p:sp>
        <p:nvSpPr>
          <p:cNvPr id="13" name="Text 9"/>
          <p:cNvSpPr/>
          <p:nvPr/>
        </p:nvSpPr>
        <p:spPr>
          <a:xfrm>
            <a:off x="3593306" y="1524298"/>
            <a:ext cx="300038" cy="137517"/>
          </a:xfrm>
          <a:prstGeom prst="rect">
            <a:avLst/>
          </a:prstGeom>
          <a:noFill/>
        </p:spPr>
        <p:txBody>
          <a:bodyPr wrap="none" lIns="0" tIns="0" rIns="0" bIns="0" rtlCol="0" anchor="t">
            <a:spAutoFit/>
          </a:bodyPr>
          <a:lstStyle/>
          <a:p>
            <a:pPr marL="0" indent="0" algn="r">
              <a:buNone/>
            </a:pPr>
            <a:r>
              <a:rPr lang="en-US" sz="800" b="1" dirty="0">
                <a:solidFill>
                  <a:srgbClr val="000000"/>
                </a:solidFill>
                <a:latin typeface="Inter Black" pitchFamily="34" charset="0"/>
                <a:ea typeface="Inter Black" pitchFamily="34" charset="-122"/>
                <a:cs typeface="Inter Black" pitchFamily="34" charset="-120"/>
              </a:rPr>
              <a:t>TTPs</a:t>
            </a:r>
            <a:endParaRPr lang="en-US" sz="800" dirty="0"/>
          </a:p>
        </p:txBody>
      </p:sp>
      <p:sp>
        <p:nvSpPr>
          <p:cNvPr id="14" name="Text 10"/>
          <p:cNvSpPr/>
          <p:nvPr/>
        </p:nvSpPr>
        <p:spPr>
          <a:xfrm>
            <a:off x="5250656" y="1532334"/>
            <a:ext cx="1748433"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Tactics, Techniques, and Procedures</a:t>
            </a:r>
            <a:endParaRPr lang="en-US" sz="750" dirty="0"/>
          </a:p>
        </p:txBody>
      </p:sp>
      <p:sp>
        <p:nvSpPr>
          <p:cNvPr id="15" name="Shape 11"/>
          <p:cNvSpPr/>
          <p:nvPr/>
        </p:nvSpPr>
        <p:spPr>
          <a:xfrm>
            <a:off x="3679031" y="1800225"/>
            <a:ext cx="1785938" cy="357188"/>
          </a:xfrm>
          <a:prstGeom prst="rect">
            <a:avLst/>
          </a:prstGeom>
          <a:solidFill>
            <a:srgbClr val="F8D65C"/>
          </a:solidFill>
        </p:spPr>
      </p:sp>
      <p:sp>
        <p:nvSpPr>
          <p:cNvPr id="16" name="Text 12"/>
          <p:cNvSpPr/>
          <p:nvPr/>
        </p:nvSpPr>
        <p:spPr>
          <a:xfrm>
            <a:off x="3221831" y="1910060"/>
            <a:ext cx="314325" cy="137517"/>
          </a:xfrm>
          <a:prstGeom prst="rect">
            <a:avLst/>
          </a:prstGeom>
          <a:noFill/>
        </p:spPr>
        <p:txBody>
          <a:bodyPr wrap="none" lIns="0" tIns="0" rIns="0" bIns="0" rtlCol="0" anchor="t">
            <a:spAutoFit/>
          </a:bodyPr>
          <a:lstStyle/>
          <a:p>
            <a:pPr marL="0" indent="0" algn="r">
              <a:buNone/>
            </a:pPr>
            <a:r>
              <a:rPr lang="en-US" sz="800" b="1" dirty="0">
                <a:solidFill>
                  <a:srgbClr val="000000"/>
                </a:solidFill>
                <a:latin typeface="Inter Black" pitchFamily="34" charset="0"/>
                <a:ea typeface="Inter Black" pitchFamily="34" charset="-122"/>
                <a:cs typeface="Inter Black" pitchFamily="34" charset="-120"/>
              </a:rPr>
              <a:t>Tools</a:t>
            </a:r>
            <a:endParaRPr lang="en-US" sz="800" dirty="0"/>
          </a:p>
        </p:txBody>
      </p:sp>
      <p:sp>
        <p:nvSpPr>
          <p:cNvPr id="17" name="Text 13"/>
          <p:cNvSpPr/>
          <p:nvPr/>
        </p:nvSpPr>
        <p:spPr>
          <a:xfrm>
            <a:off x="5607844" y="1918097"/>
            <a:ext cx="1898452"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Software and utilities used in operations</a:t>
            </a:r>
            <a:endParaRPr lang="en-US" sz="750" dirty="0"/>
          </a:p>
        </p:txBody>
      </p:sp>
      <p:sp>
        <p:nvSpPr>
          <p:cNvPr id="18" name="Shape 14"/>
          <p:cNvSpPr/>
          <p:nvPr/>
        </p:nvSpPr>
        <p:spPr>
          <a:xfrm>
            <a:off x="3321844" y="2185988"/>
            <a:ext cx="2500313" cy="357188"/>
          </a:xfrm>
          <a:prstGeom prst="rect">
            <a:avLst/>
          </a:prstGeom>
          <a:solidFill>
            <a:srgbClr val="FBE69F"/>
          </a:solidFill>
        </p:spPr>
      </p:sp>
      <p:sp>
        <p:nvSpPr>
          <p:cNvPr id="19" name="Text 15"/>
          <p:cNvSpPr/>
          <p:nvPr/>
        </p:nvSpPr>
        <p:spPr>
          <a:xfrm>
            <a:off x="1818084" y="2295823"/>
            <a:ext cx="1360884" cy="137517"/>
          </a:xfrm>
          <a:prstGeom prst="rect">
            <a:avLst/>
          </a:prstGeom>
          <a:noFill/>
        </p:spPr>
        <p:txBody>
          <a:bodyPr wrap="square" lIns="0" tIns="0" rIns="0" bIns="0" rtlCol="0" anchor="t">
            <a:spAutoFit/>
          </a:bodyPr>
          <a:lstStyle/>
          <a:p>
            <a:pPr marL="0" indent="0" algn="r">
              <a:buNone/>
            </a:pPr>
            <a:r>
              <a:rPr lang="en-US" sz="800" b="1" dirty="0">
                <a:solidFill>
                  <a:srgbClr val="000000"/>
                </a:solidFill>
                <a:latin typeface="Inter Black" pitchFamily="34" charset="0"/>
                <a:ea typeface="Inter Black" pitchFamily="34" charset="-122"/>
                <a:cs typeface="Inter Black" pitchFamily="34" charset="-120"/>
              </a:rPr>
              <a:t>Network/Host Artifacts</a:t>
            </a:r>
            <a:endParaRPr lang="en-US" sz="800" dirty="0"/>
          </a:p>
        </p:txBody>
      </p:sp>
      <p:sp>
        <p:nvSpPr>
          <p:cNvPr id="20" name="Text 16"/>
          <p:cNvSpPr/>
          <p:nvPr/>
        </p:nvSpPr>
        <p:spPr>
          <a:xfrm>
            <a:off x="5965031" y="2303859"/>
            <a:ext cx="1875234"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Observable residues left by attack tools</a:t>
            </a:r>
            <a:endParaRPr lang="en-US" sz="750" dirty="0"/>
          </a:p>
        </p:txBody>
      </p:sp>
      <p:sp>
        <p:nvSpPr>
          <p:cNvPr id="21" name="Shape 17"/>
          <p:cNvSpPr/>
          <p:nvPr/>
        </p:nvSpPr>
        <p:spPr>
          <a:xfrm>
            <a:off x="2964656" y="2571750"/>
            <a:ext cx="3214688" cy="357188"/>
          </a:xfrm>
          <a:prstGeom prst="rect">
            <a:avLst/>
          </a:prstGeom>
          <a:solidFill>
            <a:srgbClr val="EEEEEE"/>
          </a:solidFill>
        </p:spPr>
      </p:sp>
      <p:sp>
        <p:nvSpPr>
          <p:cNvPr id="22" name="Text 18"/>
          <p:cNvSpPr/>
          <p:nvPr/>
        </p:nvSpPr>
        <p:spPr>
          <a:xfrm>
            <a:off x="1960959" y="2681585"/>
            <a:ext cx="860822" cy="137517"/>
          </a:xfrm>
          <a:prstGeom prst="rect">
            <a:avLst/>
          </a:prstGeom>
          <a:noFill/>
        </p:spPr>
        <p:txBody>
          <a:bodyPr wrap="none" lIns="0" tIns="0" rIns="0" bIns="0" rtlCol="0" anchor="t">
            <a:spAutoFit/>
          </a:bodyPr>
          <a:lstStyle/>
          <a:p>
            <a:pPr marL="0" indent="0" algn="r">
              <a:buNone/>
            </a:pPr>
            <a:r>
              <a:rPr lang="en-US" sz="800" b="1" dirty="0">
                <a:solidFill>
                  <a:srgbClr val="000000"/>
                </a:solidFill>
                <a:latin typeface="Inter Black" pitchFamily="34" charset="0"/>
                <a:ea typeface="Inter Black" pitchFamily="34" charset="-122"/>
                <a:cs typeface="Inter Black" pitchFamily="34" charset="-120"/>
              </a:rPr>
              <a:t>Domain Names</a:t>
            </a:r>
            <a:endParaRPr lang="en-US" sz="800" dirty="0"/>
          </a:p>
        </p:txBody>
      </p:sp>
      <p:sp>
        <p:nvSpPr>
          <p:cNvPr id="23" name="Text 19"/>
          <p:cNvSpPr/>
          <p:nvPr/>
        </p:nvSpPr>
        <p:spPr>
          <a:xfrm>
            <a:off x="6322219" y="2689622"/>
            <a:ext cx="1321594"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C2 infrastructure addresses</a:t>
            </a:r>
            <a:endParaRPr lang="en-US" sz="750" dirty="0"/>
          </a:p>
        </p:txBody>
      </p:sp>
      <p:sp>
        <p:nvSpPr>
          <p:cNvPr id="24" name="Shape 20"/>
          <p:cNvSpPr/>
          <p:nvPr/>
        </p:nvSpPr>
        <p:spPr>
          <a:xfrm>
            <a:off x="2607469" y="2957513"/>
            <a:ext cx="3929063" cy="357188"/>
          </a:xfrm>
          <a:prstGeom prst="rect">
            <a:avLst/>
          </a:prstGeom>
          <a:solidFill>
            <a:srgbClr val="F5F5F5"/>
          </a:solidFill>
        </p:spPr>
      </p:sp>
      <p:sp>
        <p:nvSpPr>
          <p:cNvPr id="25" name="Text 21"/>
          <p:cNvSpPr/>
          <p:nvPr/>
        </p:nvSpPr>
        <p:spPr>
          <a:xfrm>
            <a:off x="1710928" y="3067348"/>
            <a:ext cx="753666" cy="137517"/>
          </a:xfrm>
          <a:prstGeom prst="rect">
            <a:avLst/>
          </a:prstGeom>
          <a:noFill/>
        </p:spPr>
        <p:txBody>
          <a:bodyPr wrap="none" lIns="0" tIns="0" rIns="0" bIns="0" rtlCol="0" anchor="t">
            <a:spAutoFit/>
          </a:bodyPr>
          <a:lstStyle/>
          <a:p>
            <a:pPr marL="0" indent="0" algn="r">
              <a:buNone/>
            </a:pPr>
            <a:r>
              <a:rPr lang="en-US" sz="800" b="1" dirty="0">
                <a:solidFill>
                  <a:srgbClr val="000000"/>
                </a:solidFill>
                <a:latin typeface="Inter Black" pitchFamily="34" charset="0"/>
                <a:ea typeface="Inter Black" pitchFamily="34" charset="-122"/>
                <a:cs typeface="Inter Black" pitchFamily="34" charset="-120"/>
              </a:rPr>
              <a:t>IP Addresses</a:t>
            </a:r>
            <a:endParaRPr lang="en-US" sz="800" dirty="0"/>
          </a:p>
        </p:txBody>
      </p:sp>
      <p:sp>
        <p:nvSpPr>
          <p:cNvPr id="26" name="Text 22"/>
          <p:cNvSpPr/>
          <p:nvPr/>
        </p:nvSpPr>
        <p:spPr>
          <a:xfrm>
            <a:off x="6679406" y="3075384"/>
            <a:ext cx="1844873"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Network addresses of attacker servers</a:t>
            </a:r>
            <a:endParaRPr lang="en-US" sz="750" dirty="0"/>
          </a:p>
        </p:txBody>
      </p:sp>
      <p:sp>
        <p:nvSpPr>
          <p:cNvPr id="27" name="Shape 23"/>
          <p:cNvSpPr/>
          <p:nvPr/>
        </p:nvSpPr>
        <p:spPr>
          <a:xfrm>
            <a:off x="2250281" y="3343275"/>
            <a:ext cx="4643438" cy="357188"/>
          </a:xfrm>
          <a:prstGeom prst="rect">
            <a:avLst/>
          </a:prstGeom>
          <a:solidFill>
            <a:srgbClr val="F9F9F9"/>
          </a:solidFill>
        </p:spPr>
      </p:sp>
      <p:sp>
        <p:nvSpPr>
          <p:cNvPr id="28" name="Text 24"/>
          <p:cNvSpPr/>
          <p:nvPr/>
        </p:nvSpPr>
        <p:spPr>
          <a:xfrm>
            <a:off x="1389459" y="3453110"/>
            <a:ext cx="717947" cy="137517"/>
          </a:xfrm>
          <a:prstGeom prst="rect">
            <a:avLst/>
          </a:prstGeom>
          <a:noFill/>
        </p:spPr>
        <p:txBody>
          <a:bodyPr wrap="none" lIns="0" tIns="0" rIns="0" bIns="0" rtlCol="0" anchor="t">
            <a:spAutoFit/>
          </a:bodyPr>
          <a:lstStyle/>
          <a:p>
            <a:pPr marL="0" indent="0" algn="r">
              <a:buNone/>
            </a:pPr>
            <a:r>
              <a:rPr lang="en-US" sz="800" b="1" dirty="0">
                <a:solidFill>
                  <a:srgbClr val="000000"/>
                </a:solidFill>
                <a:latin typeface="Inter Black" pitchFamily="34" charset="0"/>
                <a:ea typeface="Inter Black" pitchFamily="34" charset="-122"/>
                <a:cs typeface="Inter Black" pitchFamily="34" charset="-120"/>
              </a:rPr>
              <a:t>Hash Values</a:t>
            </a:r>
            <a:endParaRPr lang="en-US" sz="800" dirty="0"/>
          </a:p>
        </p:txBody>
      </p:sp>
      <p:sp>
        <p:nvSpPr>
          <p:cNvPr id="29" name="Text 25"/>
          <p:cNvSpPr/>
          <p:nvPr/>
        </p:nvSpPr>
        <p:spPr>
          <a:xfrm>
            <a:off x="7036594" y="3461147"/>
            <a:ext cx="1319808"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MD5 or SHA1 file signatures</a:t>
            </a:r>
            <a:endParaRPr lang="en-US" sz="750" dirty="0"/>
          </a:p>
        </p:txBody>
      </p:sp>
      <p:sp>
        <p:nvSpPr>
          <p:cNvPr id="30" name="Shape 26"/>
          <p:cNvSpPr/>
          <p:nvPr/>
        </p:nvSpPr>
        <p:spPr>
          <a:xfrm>
            <a:off x="196850" y="3802112"/>
            <a:ext cx="2857500" cy="903238"/>
          </a:xfrm>
          <a:prstGeom prst="rect">
            <a:avLst/>
          </a:prstGeom>
          <a:solidFill>
            <a:srgbClr val="FFFFFF"/>
          </a:solidFill>
          <a:ln w="9144">
            <a:solidFill>
              <a:srgbClr val="000000"/>
            </a:solidFill>
            <a:prstDash val="solid"/>
          </a:ln>
        </p:spPr>
      </p:sp>
      <p:sp>
        <p:nvSpPr>
          <p:cNvPr id="31" name="Text 27"/>
          <p:cNvSpPr/>
          <p:nvPr/>
        </p:nvSpPr>
        <p:spPr>
          <a:xfrm>
            <a:off x="304006" y="3923556"/>
            <a:ext cx="2643188"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Black" pitchFamily="34" charset="0"/>
                <a:ea typeface="Inter Black" pitchFamily="34" charset="-122"/>
                <a:cs typeface="Inter Black" pitchFamily="34" charset="-120"/>
              </a:rPr>
              <a:t>NOTPETYA 2017 ($10B DAMAGE)</a:t>
            </a:r>
            <a:endParaRPr lang="en-US" sz="800" dirty="0"/>
          </a:p>
        </p:txBody>
      </p:sp>
      <p:sp>
        <p:nvSpPr>
          <p:cNvPr id="32" name="Text 28"/>
          <p:cNvSpPr/>
          <p:nvPr/>
        </p:nvSpPr>
        <p:spPr>
          <a:xfrm>
            <a:off x="304006" y="4118223"/>
            <a:ext cx="2643188" cy="479971"/>
          </a:xfrm>
          <a:prstGeom prst="rect">
            <a:avLst/>
          </a:prstGeom>
          <a:noFill/>
        </p:spPr>
        <p:txBody>
          <a:bodyPr wrap="square" lIns="0" tIns="0" rIns="0" bIns="0" rtlCol="0" anchor="t">
            <a:spAutoFit/>
          </a:bodyPr>
          <a:lstStyle/>
          <a:p>
            <a:pPr marL="0" indent="0" algn="l">
              <a:lnSpc>
                <a:spcPct val="112000"/>
              </a:lnSpc>
              <a:buNone/>
            </a:pPr>
            <a:r>
              <a:rPr lang="en-US" sz="600" dirty="0">
                <a:solidFill>
                  <a:srgbClr val="000000"/>
                </a:solidFill>
                <a:latin typeface="Inter" pitchFamily="34" charset="0"/>
                <a:ea typeface="Inter" pitchFamily="34" charset="-122"/>
                <a:cs typeface="Inter" pitchFamily="34" charset="-120"/>
              </a:rPr>
              <a:t>Organizations that only blocked IPs and hashes were hit repeatedly by variants. Those who implemented ATT&amp;CK-based TTP detection caught every variant immediately because the behavioral pattern never changed.</a:t>
            </a:r>
            <a:endParaRPr lang="en-US" sz="600" dirty="0"/>
          </a:p>
        </p:txBody>
      </p:sp>
      <p:sp>
        <p:nvSpPr>
          <p:cNvPr id="33" name="Oval 32"/>
          <p:cNvSpPr/>
          <p:nvPr/>
        </p:nvSpPr>
        <p:spPr>
          <a:xfrm>
            <a:off x="570230"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285750"/>
            <a:ext cx="571500" cy="228600"/>
          </a:xfrm>
          <a:prstGeom prst="roundRect">
            <a:avLst/>
          </a:prstGeom>
          <a:solidFill>
            <a:srgbClr val="FACC15"/>
          </a:solidFill>
        </p:spPr>
      </p:sp>
      <p:sp>
        <p:nvSpPr>
          <p:cNvPr id="5" name="Text 1"/>
          <p:cNvSpPr/>
          <p:nvPr/>
        </p:nvSpPr>
        <p:spPr>
          <a:xfrm>
            <a:off x="1107281" y="322362"/>
            <a:ext cx="1310878" cy="155377"/>
          </a:xfrm>
          <a:prstGeom prst="rect">
            <a:avLst/>
          </a:prstGeom>
          <a:noFill/>
        </p:spPr>
        <p:txBody>
          <a:bodyPr wrap="square" lIns="0" tIns="0" rIns="0" bIns="0" rtlCol="0" anchor="t">
            <a:spAutoFit/>
          </a:bodyPr>
          <a:lstStyle/>
          <a:p>
            <a:pPr marL="0" indent="0" algn="l">
              <a:buNone/>
            </a:pPr>
            <a:r>
              <a:rPr lang="en-US" sz="950" dirty="0">
                <a:solidFill>
                  <a:srgbClr val="000000"/>
                </a:solidFill>
                <a:latin typeface="Inter" pitchFamily="34" charset="0"/>
                <a:ea typeface="Inter" pitchFamily="34" charset="-122"/>
                <a:cs typeface="Inter" pitchFamily="34" charset="-120"/>
              </a:rPr>
              <a:t>Hidden Investigations</a:t>
            </a:r>
            <a:endParaRPr lang="en-US" sz="950" dirty="0"/>
          </a:p>
        </p:txBody>
      </p:sp>
      <p:sp>
        <p:nvSpPr>
          <p:cNvPr id="6" name="Text 2"/>
          <p:cNvSpPr/>
          <p:nvPr/>
        </p:nvSpPr>
        <p:spPr>
          <a:xfrm>
            <a:off x="428625" y="857250"/>
            <a:ext cx="7143750" cy="414338"/>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ExtraBold" pitchFamily="34" charset="0"/>
                <a:ea typeface="Inter ExtraBold" pitchFamily="34" charset="-122"/>
                <a:cs typeface="Inter ExtraBold" pitchFamily="34" charset="-120"/>
              </a:rPr>
              <a:t>MITRE ATLAS — ATT&amp;CK for AI</a:t>
            </a:r>
            <a:endParaRPr lang="en-US" sz="2450" dirty="0"/>
          </a:p>
        </p:txBody>
      </p:sp>
      <p:sp>
        <p:nvSpPr>
          <p:cNvPr id="7" name="Text 3"/>
          <p:cNvSpPr/>
          <p:nvPr/>
        </p:nvSpPr>
        <p:spPr>
          <a:xfrm>
            <a:off x="428625" y="1485900"/>
            <a:ext cx="2616398" cy="207169"/>
          </a:xfrm>
          <a:prstGeom prst="rect">
            <a:avLst/>
          </a:prstGeom>
          <a:noFill/>
        </p:spPr>
        <p:txBody>
          <a:bodyPr wrap="square" lIns="0" tIns="0" rIns="0" bIns="0" rtlCol="0" anchor="t">
            <a:spAutoFit/>
          </a:bodyPr>
          <a:lstStyle/>
          <a:p>
            <a:pPr marL="0" indent="0" algn="l">
              <a:buNone/>
            </a:pPr>
            <a:r>
              <a:rPr lang="en-US" sz="1200" dirty="0">
                <a:solidFill>
                  <a:srgbClr val="333333"/>
                </a:solidFill>
                <a:latin typeface="Inter SemiBold" pitchFamily="34" charset="0"/>
                <a:ea typeface="Inter SemiBold" pitchFamily="34" charset="-122"/>
                <a:cs typeface="Inter SemiBold" pitchFamily="34" charset="-120"/>
              </a:rPr>
              <a:t>What is it?</a:t>
            </a:r>
            <a:endParaRPr lang="en-US" sz="1200" dirty="0"/>
          </a:p>
        </p:txBody>
      </p:sp>
      <p:sp>
        <p:nvSpPr>
          <p:cNvPr id="8" name="Text 4"/>
          <p:cNvSpPr/>
          <p:nvPr/>
        </p:nvSpPr>
        <p:spPr>
          <a:xfrm>
            <a:off x="428625" y="1800225"/>
            <a:ext cx="2616398" cy="617153"/>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ATLAS is a knowledge base of adversary </a:t>
            </a:r>
            <a:r>
              <a:rPr lang="en-US" sz="950" dirty="0">
                <a:solidFill>
                  <a:srgbClr val="333333"/>
                </a:solidFill>
                <a:latin typeface="Inter" pitchFamily="34" charset="0"/>
                <a:ea typeface="Inter" pitchFamily="34" charset="-122"/>
                <a:cs typeface="Inter" pitchFamily="34" charset="-120"/>
              </a:rPr>
              <a:t>tactics and techniques against </a:t>
            </a:r>
            <a:r>
              <a:rPr lang="en-US" sz="900" b="1" dirty="0">
                <a:solidFill>
                  <a:srgbClr val="333333"/>
                </a:solidFill>
                <a:latin typeface="Inter ExtraBold" pitchFamily="34" charset="0"/>
                <a:ea typeface="Inter ExtraBold" pitchFamily="34" charset="-122"/>
                <a:cs typeface="Inter ExtraBold" pitchFamily="34" charset="-120"/>
              </a:rPr>
              <a:t>AI-enabled systems</a:t>
            </a:r>
            <a:r>
              <a:rPr lang="en-US" sz="950" dirty="0">
                <a:solidFill>
                  <a:srgbClr val="333333"/>
                </a:solidFill>
                <a:latin typeface="Inter" pitchFamily="34" charset="0"/>
                <a:ea typeface="Inter" pitchFamily="34" charset="-122"/>
                <a:cs typeface="Inter" pitchFamily="34" charset="-120"/>
              </a:rPr>
              <a:t>.</a:t>
            </a:r>
            <a:endParaRPr lang="en-US" sz="950" dirty="0"/>
          </a:p>
        </p:txBody>
      </p:sp>
      <p:sp>
        <p:nvSpPr>
          <p:cNvPr id="9" name="Text 5"/>
          <p:cNvSpPr/>
          <p:nvPr/>
        </p:nvSpPr>
        <p:spPr>
          <a:xfrm>
            <a:off x="428625" y="2595972"/>
            <a:ext cx="2616398" cy="207169"/>
          </a:xfrm>
          <a:prstGeom prst="rect">
            <a:avLst/>
          </a:prstGeom>
          <a:noFill/>
        </p:spPr>
        <p:txBody>
          <a:bodyPr wrap="square" lIns="0" tIns="0" rIns="0" bIns="0" rtlCol="0" anchor="t">
            <a:spAutoFit/>
          </a:bodyPr>
          <a:lstStyle/>
          <a:p>
            <a:pPr marL="0" indent="0" algn="l">
              <a:buNone/>
            </a:pPr>
            <a:r>
              <a:rPr lang="en-US" sz="1200" dirty="0">
                <a:solidFill>
                  <a:srgbClr val="333333"/>
                </a:solidFill>
                <a:latin typeface="Inter SemiBold" pitchFamily="34" charset="0"/>
                <a:ea typeface="Inter SemiBold" pitchFamily="34" charset="-122"/>
                <a:cs typeface="Inter SemiBold" pitchFamily="34" charset="-120"/>
              </a:rPr>
              <a:t>Real-World Example</a:t>
            </a:r>
            <a:endParaRPr lang="en-US" sz="1200" dirty="0"/>
          </a:p>
        </p:txBody>
      </p:sp>
      <p:sp>
        <p:nvSpPr>
          <p:cNvPr id="10" name="Text 6"/>
          <p:cNvSpPr/>
          <p:nvPr/>
        </p:nvSpPr>
        <p:spPr>
          <a:xfrm>
            <a:off x="428625" y="2910297"/>
            <a:ext cx="2616398" cy="617153"/>
          </a:xfrm>
          <a:prstGeom prst="rect">
            <a:avLst/>
          </a:prstGeom>
          <a:noFill/>
        </p:spPr>
        <p:txBody>
          <a:bodyPr wrap="square" lIns="0" tIns="0" rIns="0" bIns="0" rtlCol="0" anchor="t">
            <a:spAutoFit/>
          </a:bodyPr>
          <a:lstStyle/>
          <a:p>
            <a:pPr marL="0" indent="0" algn="l">
              <a:lnSpc>
                <a:spcPct val="128000"/>
              </a:lnSpc>
              <a:buNone/>
            </a:pPr>
            <a:r>
              <a:rPr lang="en-US" sz="900" b="1" dirty="0">
                <a:solidFill>
                  <a:srgbClr val="333333"/>
                </a:solidFill>
                <a:latin typeface="Inter ExtraBold" pitchFamily="34" charset="0"/>
                <a:ea typeface="Inter ExtraBold" pitchFamily="34" charset="-122"/>
                <a:cs typeface="Inter ExtraBold" pitchFamily="34" charset="-120"/>
              </a:rPr>
              <a:t>Prompt Injection</a:t>
            </a:r>
            <a:r>
              <a:rPr lang="en-US" sz="950" dirty="0">
                <a:solidFill>
                  <a:srgbClr val="333333"/>
                </a:solidFill>
                <a:latin typeface="Inter" pitchFamily="34" charset="0"/>
                <a:ea typeface="Inter" pitchFamily="34" charset="-122"/>
                <a:cs typeface="Inter" pitchFamily="34" charset="-120"/>
              </a:rPr>
              <a:t>: Malicious inputs </a:t>
            </a:r>
            <a:r>
              <a:rPr lang="en-US" sz="950" dirty="0">
                <a:solidFill>
                  <a:srgbClr val="333333"/>
                </a:solidFill>
                <a:latin typeface="Inter" pitchFamily="34" charset="0"/>
                <a:ea typeface="Inter" pitchFamily="34" charset="-122"/>
                <a:cs typeface="Inter" pitchFamily="34" charset="-120"/>
              </a:rPr>
              <a:t>designed to bypass safety filters and </a:t>
            </a:r>
            <a:r>
              <a:rPr lang="en-US" sz="950" dirty="0">
                <a:solidFill>
                  <a:srgbClr val="333333"/>
                </a:solidFill>
                <a:latin typeface="Inter" pitchFamily="34" charset="0"/>
                <a:ea typeface="Inter" pitchFamily="34" charset="-122"/>
                <a:cs typeface="Inter" pitchFamily="34" charset="-120"/>
              </a:rPr>
              <a:t>extract sensitive training data.</a:t>
            </a:r>
            <a:endParaRPr lang="en-US" sz="900" dirty="0"/>
          </a:p>
        </p:txBody>
      </p:sp>
      <p:sp>
        <p:nvSpPr>
          <p:cNvPr id="11" name="Shape 7"/>
          <p:cNvSpPr/>
          <p:nvPr/>
        </p:nvSpPr>
        <p:spPr>
          <a:xfrm>
            <a:off x="428625" y="3706044"/>
            <a:ext cx="861296" cy="314325"/>
          </a:xfrm>
          <a:prstGeom prst="rect">
            <a:avLst/>
          </a:prstGeom>
          <a:solidFill>
            <a:srgbClr val="000000"/>
          </a:solidFill>
        </p:spPr>
      </p:sp>
      <p:sp>
        <p:nvSpPr>
          <p:cNvPr id="12" name="Text 8"/>
          <p:cNvSpPr/>
          <p:nvPr/>
        </p:nvSpPr>
        <p:spPr>
          <a:xfrm>
            <a:off x="428625" y="3706044"/>
            <a:ext cx="861296" cy="314325"/>
          </a:xfrm>
          <a:prstGeom prst="rect">
            <a:avLst/>
          </a:prstGeom>
          <a:noFill/>
        </p:spPr>
        <p:txBody>
          <a:bodyPr wrap="none" lIns="102108" tIns="42545" rIns="102108" bIns="42545" rtlCol="0" anchor="t">
            <a:spAutoFit/>
          </a:bodyPr>
          <a:lstStyle/>
          <a:p>
            <a:pPr marL="0" indent="0" algn="l">
              <a:buNone/>
            </a:pPr>
            <a:r>
              <a:rPr lang="en-US" sz="700" dirty="0">
                <a:solidFill>
                  <a:srgbClr val="FFFFFF"/>
                </a:solidFill>
                <a:latin typeface="Inter SemiBold" pitchFamily="34" charset="0"/>
                <a:ea typeface="Inter SemiBold" pitchFamily="34" charset="-122"/>
                <a:cs typeface="Inter SemiBold" pitchFamily="34" charset="-120"/>
              </a:rPr>
              <a:t>Prompt Injection</a:t>
            </a:r>
            <a:endParaRPr lang="en-US" sz="700" dirty="0"/>
          </a:p>
        </p:txBody>
      </p:sp>
      <p:sp>
        <p:nvSpPr>
          <p:cNvPr id="13" name="Shape 9"/>
          <p:cNvSpPr/>
          <p:nvPr/>
        </p:nvSpPr>
        <p:spPr>
          <a:xfrm>
            <a:off x="1397078" y="3706044"/>
            <a:ext cx="814667" cy="314325"/>
          </a:xfrm>
          <a:prstGeom prst="rect">
            <a:avLst/>
          </a:prstGeom>
          <a:solidFill>
            <a:srgbClr val="000000"/>
          </a:solidFill>
        </p:spPr>
      </p:sp>
      <p:sp>
        <p:nvSpPr>
          <p:cNvPr id="14" name="Text 10"/>
          <p:cNvSpPr/>
          <p:nvPr/>
        </p:nvSpPr>
        <p:spPr>
          <a:xfrm>
            <a:off x="1397078" y="3706044"/>
            <a:ext cx="814667" cy="314325"/>
          </a:xfrm>
          <a:prstGeom prst="rect">
            <a:avLst/>
          </a:prstGeom>
          <a:noFill/>
        </p:spPr>
        <p:txBody>
          <a:bodyPr wrap="none" lIns="102108" tIns="42545" rIns="102108" bIns="42545" rtlCol="0" anchor="t">
            <a:spAutoFit/>
          </a:bodyPr>
          <a:lstStyle/>
          <a:p>
            <a:pPr marL="0" indent="0" algn="l">
              <a:buNone/>
            </a:pPr>
            <a:r>
              <a:rPr lang="en-US" sz="700" dirty="0">
                <a:solidFill>
                  <a:srgbClr val="FFFFFF"/>
                </a:solidFill>
                <a:latin typeface="Inter SemiBold" pitchFamily="34" charset="0"/>
                <a:ea typeface="Inter SemiBold" pitchFamily="34" charset="-122"/>
                <a:cs typeface="Inter SemiBold" pitchFamily="34" charset="-120"/>
              </a:rPr>
              <a:t>Data Extraction</a:t>
            </a:r>
            <a:endParaRPr lang="en-US" sz="700" dirty="0"/>
          </a:p>
        </p:txBody>
      </p:sp>
      <p:sp>
        <p:nvSpPr>
          <p:cNvPr id="15" name="Shape 11"/>
          <p:cNvSpPr/>
          <p:nvPr/>
        </p:nvSpPr>
        <p:spPr>
          <a:xfrm>
            <a:off x="2318900" y="3706044"/>
            <a:ext cx="726123" cy="314325"/>
          </a:xfrm>
          <a:prstGeom prst="rect">
            <a:avLst/>
          </a:prstGeom>
          <a:solidFill>
            <a:srgbClr val="000000"/>
          </a:solidFill>
        </p:spPr>
      </p:sp>
      <p:sp>
        <p:nvSpPr>
          <p:cNvPr id="16" name="Text 12"/>
          <p:cNvSpPr/>
          <p:nvPr/>
        </p:nvSpPr>
        <p:spPr>
          <a:xfrm>
            <a:off x="2318900" y="3706044"/>
            <a:ext cx="726123" cy="314325"/>
          </a:xfrm>
          <a:prstGeom prst="rect">
            <a:avLst/>
          </a:prstGeom>
          <a:noFill/>
        </p:spPr>
        <p:txBody>
          <a:bodyPr wrap="none" lIns="102108" tIns="42545" rIns="102108" bIns="42545" rtlCol="0" anchor="t">
            <a:spAutoFit/>
          </a:bodyPr>
          <a:lstStyle/>
          <a:p>
            <a:pPr marL="0" indent="0" algn="l">
              <a:buNone/>
            </a:pPr>
            <a:r>
              <a:rPr lang="en-US" sz="700" dirty="0">
                <a:solidFill>
                  <a:srgbClr val="FFFFFF"/>
                </a:solidFill>
                <a:latin typeface="Inter SemiBold" pitchFamily="34" charset="0"/>
                <a:ea typeface="Inter SemiBold" pitchFamily="34" charset="-122"/>
                <a:cs typeface="Inter SemiBold" pitchFamily="34" charset="-120"/>
              </a:rPr>
              <a:t>Model Abuse</a:t>
            </a:r>
            <a:endParaRPr lang="en-US" sz="700" dirty="0"/>
          </a:p>
        </p:txBody>
      </p:sp>
      <p:sp>
        <p:nvSpPr>
          <p:cNvPr id="17" name="Shape 13"/>
          <p:cNvSpPr/>
          <p:nvPr/>
        </p:nvSpPr>
        <p:spPr>
          <a:xfrm>
            <a:off x="3473648" y="1485900"/>
            <a:ext cx="4098727" cy="2534469"/>
          </a:xfrm>
          <a:prstGeom prst="rect">
            <a:avLst/>
          </a:prstGeom>
          <a:solidFill>
            <a:srgbClr val="F9FAFB"/>
          </a:solidFill>
        </p:spPr>
      </p:sp>
      <p:sp>
        <p:nvSpPr>
          <p:cNvPr id="18" name="Shape 14"/>
          <p:cNvSpPr/>
          <p:nvPr/>
        </p:nvSpPr>
        <p:spPr>
          <a:xfrm>
            <a:off x="3937992" y="1903809"/>
            <a:ext cx="357188" cy="357188"/>
          </a:xfrm>
          <a:prstGeom prst="ellipse">
            <a:avLst/>
          </a:prstGeom>
          <a:solidFill>
            <a:srgbClr val="FACC15"/>
          </a:solidFill>
        </p:spPr>
      </p:sp>
      <p:pic>
        <p:nvPicPr>
          <p:cNvPr id="19" name="Image 1" descr="preencoded.png"/>
          <p:cNvPicPr>
            <a:picLocks noChangeAspect="1"/>
          </p:cNvPicPr>
          <p:nvPr/>
        </p:nvPicPr>
        <p:blipFill>
          <a:blip r:embed="rId2"/>
          <a:stretch>
            <a:fillRect/>
          </a:stretch>
        </p:blipFill>
        <p:spPr>
          <a:xfrm>
            <a:off x="4027289" y="2010966"/>
            <a:ext cx="178594" cy="142875"/>
          </a:xfrm>
          <a:prstGeom prst="rect">
            <a:avLst/>
          </a:prstGeom>
        </p:spPr>
      </p:pic>
      <p:sp>
        <p:nvSpPr>
          <p:cNvPr id="20" name="Text 15"/>
          <p:cNvSpPr/>
          <p:nvPr/>
        </p:nvSpPr>
        <p:spPr>
          <a:xfrm>
            <a:off x="3866555" y="2332434"/>
            <a:ext cx="500063" cy="121444"/>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User Input</a:t>
            </a:r>
            <a:endParaRPr lang="en-US" sz="700" dirty="0"/>
          </a:p>
        </p:txBody>
      </p:sp>
      <p:pic>
        <p:nvPicPr>
          <p:cNvPr id="21" name="Image 2" descr="preencoded.png"/>
          <p:cNvPicPr>
            <a:picLocks noChangeAspect="1"/>
          </p:cNvPicPr>
          <p:nvPr/>
        </p:nvPicPr>
        <p:blipFill>
          <a:blip r:embed="rId3"/>
          <a:stretch>
            <a:fillRect/>
          </a:stretch>
        </p:blipFill>
        <p:spPr>
          <a:xfrm>
            <a:off x="4545211" y="2113657"/>
            <a:ext cx="80367" cy="128588"/>
          </a:xfrm>
          <a:prstGeom prst="rect">
            <a:avLst/>
          </a:prstGeom>
        </p:spPr>
      </p:pic>
      <p:sp>
        <p:nvSpPr>
          <p:cNvPr id="22" name="Shape 16"/>
          <p:cNvSpPr/>
          <p:nvPr/>
        </p:nvSpPr>
        <p:spPr>
          <a:xfrm>
            <a:off x="4875609" y="1903809"/>
            <a:ext cx="357188" cy="357188"/>
          </a:xfrm>
          <a:prstGeom prst="ellipse">
            <a:avLst/>
          </a:prstGeom>
          <a:solidFill>
            <a:srgbClr val="FACC15"/>
          </a:solidFill>
        </p:spPr>
      </p:sp>
      <p:pic>
        <p:nvPicPr>
          <p:cNvPr id="23" name="Image 3" descr="preencoded.png"/>
          <p:cNvPicPr>
            <a:picLocks noChangeAspect="1"/>
          </p:cNvPicPr>
          <p:nvPr/>
        </p:nvPicPr>
        <p:blipFill>
          <a:blip r:embed="rId4"/>
          <a:stretch>
            <a:fillRect/>
          </a:stretch>
        </p:blipFill>
        <p:spPr>
          <a:xfrm>
            <a:off x="4991695" y="2010966"/>
            <a:ext cx="125016" cy="142875"/>
          </a:xfrm>
          <a:prstGeom prst="rect">
            <a:avLst/>
          </a:prstGeom>
        </p:spPr>
      </p:pic>
      <p:sp>
        <p:nvSpPr>
          <p:cNvPr id="24" name="Text 17"/>
          <p:cNvSpPr/>
          <p:nvPr/>
        </p:nvSpPr>
        <p:spPr>
          <a:xfrm>
            <a:off x="4633615" y="2332434"/>
            <a:ext cx="841177" cy="121444"/>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Malicious Prompt</a:t>
            </a:r>
            <a:endParaRPr lang="en-US" sz="700" dirty="0"/>
          </a:p>
        </p:txBody>
      </p:sp>
      <p:pic>
        <p:nvPicPr>
          <p:cNvPr id="25" name="Image 4" descr="preencoded.png"/>
          <p:cNvPicPr>
            <a:picLocks noChangeAspect="1"/>
          </p:cNvPicPr>
          <p:nvPr/>
        </p:nvPicPr>
        <p:blipFill>
          <a:blip r:embed="rId5"/>
          <a:stretch>
            <a:fillRect/>
          </a:stretch>
        </p:blipFill>
        <p:spPr>
          <a:xfrm>
            <a:off x="5482828" y="2113657"/>
            <a:ext cx="80367" cy="128588"/>
          </a:xfrm>
          <a:prstGeom prst="rect">
            <a:avLst/>
          </a:prstGeom>
        </p:spPr>
      </p:pic>
      <p:sp>
        <p:nvSpPr>
          <p:cNvPr id="26" name="Shape 18"/>
          <p:cNvSpPr/>
          <p:nvPr/>
        </p:nvSpPr>
        <p:spPr>
          <a:xfrm>
            <a:off x="5813227" y="1903809"/>
            <a:ext cx="357188" cy="357188"/>
          </a:xfrm>
          <a:prstGeom prst="ellipse">
            <a:avLst/>
          </a:prstGeom>
          <a:solidFill>
            <a:srgbClr val="FACC15"/>
          </a:solidFill>
        </p:spPr>
      </p:sp>
      <p:pic>
        <p:nvPicPr>
          <p:cNvPr id="27" name="Image 5" descr="preencoded.png"/>
          <p:cNvPicPr>
            <a:picLocks noChangeAspect="1"/>
          </p:cNvPicPr>
          <p:nvPr/>
        </p:nvPicPr>
        <p:blipFill>
          <a:blip r:embed="rId6"/>
          <a:stretch>
            <a:fillRect/>
          </a:stretch>
        </p:blipFill>
        <p:spPr>
          <a:xfrm>
            <a:off x="5920383" y="2010966"/>
            <a:ext cx="142875" cy="142875"/>
          </a:xfrm>
          <a:prstGeom prst="rect">
            <a:avLst/>
          </a:prstGeom>
        </p:spPr>
      </p:pic>
      <p:sp>
        <p:nvSpPr>
          <p:cNvPr id="28" name="Text 19"/>
          <p:cNvSpPr/>
          <p:nvPr/>
        </p:nvSpPr>
        <p:spPr>
          <a:xfrm>
            <a:off x="5777508" y="2332434"/>
            <a:ext cx="428625" cy="121444"/>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AI Model</a:t>
            </a:r>
            <a:endParaRPr lang="en-US" sz="700" dirty="0"/>
          </a:p>
        </p:txBody>
      </p:sp>
      <p:pic>
        <p:nvPicPr>
          <p:cNvPr id="29" name="Image 6" descr="preencoded.png"/>
          <p:cNvPicPr>
            <a:picLocks noChangeAspect="1"/>
          </p:cNvPicPr>
          <p:nvPr/>
        </p:nvPicPr>
        <p:blipFill>
          <a:blip r:embed="rId7"/>
          <a:stretch>
            <a:fillRect/>
          </a:stretch>
        </p:blipFill>
        <p:spPr>
          <a:xfrm>
            <a:off x="6420445" y="2113657"/>
            <a:ext cx="80367" cy="128588"/>
          </a:xfrm>
          <a:prstGeom prst="rect">
            <a:avLst/>
          </a:prstGeom>
        </p:spPr>
      </p:pic>
      <p:sp>
        <p:nvSpPr>
          <p:cNvPr id="30" name="Shape 20"/>
          <p:cNvSpPr/>
          <p:nvPr/>
        </p:nvSpPr>
        <p:spPr>
          <a:xfrm>
            <a:off x="6750844" y="1843088"/>
            <a:ext cx="357188" cy="357188"/>
          </a:xfrm>
          <a:prstGeom prst="ellipse">
            <a:avLst/>
          </a:prstGeom>
          <a:solidFill>
            <a:srgbClr val="FACC15"/>
          </a:solidFill>
        </p:spPr>
      </p:sp>
      <p:pic>
        <p:nvPicPr>
          <p:cNvPr id="31" name="Image 7" descr="preencoded.png"/>
          <p:cNvPicPr>
            <a:picLocks noChangeAspect="1"/>
          </p:cNvPicPr>
          <p:nvPr/>
        </p:nvPicPr>
        <p:blipFill>
          <a:blip r:embed="rId8"/>
          <a:stretch>
            <a:fillRect/>
          </a:stretch>
        </p:blipFill>
        <p:spPr>
          <a:xfrm>
            <a:off x="6858000" y="1950244"/>
            <a:ext cx="142875" cy="142875"/>
          </a:xfrm>
          <a:prstGeom prst="rect">
            <a:avLst/>
          </a:prstGeom>
        </p:spPr>
      </p:pic>
      <p:sp>
        <p:nvSpPr>
          <p:cNvPr id="32" name="Text 21"/>
          <p:cNvSpPr/>
          <p:nvPr/>
        </p:nvSpPr>
        <p:spPr>
          <a:xfrm>
            <a:off x="6500813" y="2271713"/>
            <a:ext cx="857250" cy="242888"/>
          </a:xfrm>
          <a:prstGeom prst="rect">
            <a:avLst/>
          </a:prstGeom>
          <a:noFill/>
        </p:spPr>
        <p:txBody>
          <a:bodyPr wrap="none" lIns="0" tIns="0" rIns="0" bIns="0" rtlCol="0" anchor="t">
            <a:spAutoFit/>
          </a:bodyPr>
          <a:lstStyle/>
          <a:p>
            <a:pPr marL="0" indent="0" algn="ctr">
              <a:buNone/>
            </a:pPr>
            <a:r>
              <a:rPr lang="en-US" sz="700" dirty="0">
                <a:solidFill>
                  <a:srgbClr val="333333"/>
                </a:solidFill>
                <a:latin typeface="Inter SemiBold" pitchFamily="34" charset="0"/>
                <a:ea typeface="Inter SemiBold" pitchFamily="34" charset="-122"/>
                <a:cs typeface="Inter SemiBold" pitchFamily="34" charset="-120"/>
              </a:rPr>
              <a:t>Blocked Response</a:t>
            </a:r>
            <a:endParaRPr lang="en-US" sz="700" dirty="0"/>
          </a:p>
        </p:txBody>
      </p:sp>
      <p:sp>
        <p:nvSpPr>
          <p:cNvPr id="33" name="Shape 22"/>
          <p:cNvSpPr/>
          <p:nvPr/>
        </p:nvSpPr>
        <p:spPr>
          <a:xfrm>
            <a:off x="3687961" y="2943225"/>
            <a:ext cx="3670102" cy="734020"/>
          </a:xfrm>
          <a:prstGeom prst="rect">
            <a:avLst/>
          </a:prstGeom>
          <a:solidFill>
            <a:srgbClr val="FFFFFF"/>
          </a:solidFill>
        </p:spPr>
      </p:sp>
      <p:sp>
        <p:nvSpPr>
          <p:cNvPr id="34" name="Shape 23"/>
          <p:cNvSpPr/>
          <p:nvPr/>
        </p:nvSpPr>
        <p:spPr>
          <a:xfrm>
            <a:off x="3687961" y="2943225"/>
            <a:ext cx="28575" cy="734020"/>
          </a:xfrm>
          <a:prstGeom prst="rect">
            <a:avLst/>
          </a:prstGeom>
          <a:solidFill>
            <a:srgbClr val="FACC15"/>
          </a:solidFill>
        </p:spPr>
      </p:sp>
      <p:sp>
        <p:nvSpPr>
          <p:cNvPr id="35" name="Text 24"/>
          <p:cNvSpPr/>
          <p:nvPr/>
        </p:nvSpPr>
        <p:spPr>
          <a:xfrm>
            <a:off x="3830836" y="3086100"/>
            <a:ext cx="3384352"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The Analogy</a:t>
            </a:r>
            <a:endParaRPr lang="en-US" sz="800" dirty="0"/>
          </a:p>
        </p:txBody>
      </p:sp>
      <p:sp>
        <p:nvSpPr>
          <p:cNvPr id="36" name="Text 25"/>
          <p:cNvSpPr/>
          <p:nvPr/>
        </p:nvSpPr>
        <p:spPr>
          <a:xfrm>
            <a:off x="3830836" y="3259336"/>
            <a:ext cx="2864644" cy="137517"/>
          </a:xfrm>
          <a:prstGeom prst="rect">
            <a:avLst/>
          </a:prstGeom>
          <a:noFill/>
        </p:spPr>
        <p:txBody>
          <a:bodyPr wrap="squar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A visitor secretly changing the instructions given to a</a:t>
            </a:r>
            <a:endParaRPr lang="en-US" sz="850" dirty="0"/>
          </a:p>
        </p:txBody>
      </p:sp>
      <p:sp>
        <p:nvSpPr>
          <p:cNvPr id="37" name="Text 26"/>
          <p:cNvSpPr/>
          <p:nvPr/>
        </p:nvSpPr>
        <p:spPr>
          <a:xfrm>
            <a:off x="3830836" y="3396853"/>
            <a:ext cx="2227064" cy="137517"/>
          </a:xfrm>
          <a:prstGeom prst="rect">
            <a:avLst/>
          </a:prstGeom>
          <a:noFill/>
        </p:spPr>
        <p:txBody>
          <a:bodyPr wrap="squar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receptionist to gain unauthorized access.</a:t>
            </a:r>
            <a:endParaRPr lang="en-US" sz="850" dirty="0"/>
          </a:p>
        </p:txBody>
      </p:sp>
      <p:sp>
        <p:nvSpPr>
          <p:cNvPr id="38" name="Shape 27"/>
          <p:cNvSpPr/>
          <p:nvPr/>
        </p:nvSpPr>
        <p:spPr>
          <a:xfrm>
            <a:off x="428625" y="4306119"/>
            <a:ext cx="3964781" cy="280392"/>
          </a:xfrm>
          <a:prstGeom prst="rect">
            <a:avLst/>
          </a:prstGeom>
          <a:solidFill>
            <a:srgbClr val="000000"/>
          </a:solidFill>
        </p:spPr>
      </p:sp>
      <p:sp>
        <p:nvSpPr>
          <p:cNvPr id="39" name="Text 28"/>
          <p:cNvSpPr/>
          <p:nvPr/>
        </p:nvSpPr>
        <p:spPr>
          <a:xfrm>
            <a:off x="428625" y="4306119"/>
            <a:ext cx="3964781" cy="280392"/>
          </a:xfrm>
          <a:prstGeom prst="rect">
            <a:avLst/>
          </a:prstGeom>
          <a:noFill/>
        </p:spPr>
        <p:txBody>
          <a:bodyPr wrap="square" lIns="170053" tIns="85090" rIns="170053" bIns="85090" rtlCol="0" anchor="t">
            <a:spAutoFit/>
          </a:bodyPr>
          <a:lstStyle/>
          <a:p>
            <a:pPr marL="0" indent="0" algn="l">
              <a:buNone/>
            </a:pPr>
            <a:r>
              <a:rPr lang="en-US" sz="800" dirty="0">
                <a:solidFill>
                  <a:srgbClr val="FFFFFF"/>
                </a:solidFill>
                <a:latin typeface="Inter SemiBold" pitchFamily="34" charset="0"/>
                <a:ea typeface="Inter SemiBold" pitchFamily="34" charset="-122"/>
                <a:cs typeface="Inter SemiBold" pitchFamily="34" charset="-120"/>
              </a:rPr>
              <a:t>Key Takeaway: ATLAS brings ATT&amp;CK-style thinking to AI security.</a:t>
            </a:r>
            <a:endParaRPr lang="en-US" sz="800" dirty="0"/>
          </a:p>
        </p:txBody>
      </p:sp>
      <p:sp>
        <p:nvSpPr>
          <p:cNvPr id="40" name="Text 29"/>
          <p:cNvSpPr/>
          <p:nvPr/>
        </p:nvSpPr>
        <p:spPr>
          <a:xfrm>
            <a:off x="428625" y="4702373"/>
            <a:ext cx="8286750" cy="155377"/>
          </a:xfrm>
          <a:prstGeom prst="rect">
            <a:avLst/>
          </a:prstGeom>
          <a:noFill/>
        </p:spPr>
        <p:txBody>
          <a:bodyPr wrap="square" lIns="0" tIns="0" rIns="0" bIns="0" rtlCol="0" anchor="t">
            <a:spAutoFit/>
          </a:bodyPr>
          <a:lstStyle/>
          <a:p>
            <a:pPr marL="0" indent="0" algn="ctr">
              <a:buNone/>
            </a:pPr>
            <a:r>
              <a:rPr lang="en-US" sz="950" dirty="0">
                <a:solidFill>
                  <a:srgbClr val="000000"/>
                </a:solidFill>
                <a:latin typeface="Inter" pitchFamily="34" charset="0"/>
                <a:ea typeface="Inter" pitchFamily="34" charset="-122"/>
                <a:cs typeface="Inter" pitchFamily="34" charset="-120"/>
              </a:rPr>
              <a:t>Hiddeninvestigations.Net</a:t>
            </a:r>
            <a:endParaRPr lang="en-US" sz="950" dirty="0"/>
          </a:p>
        </p:txBody>
      </p:sp>
      <p:sp>
        <p:nvSpPr>
          <p:cNvPr id="41" name="Text 30"/>
          <p:cNvSpPr/>
          <p:nvPr/>
        </p:nvSpPr>
        <p:spPr>
          <a:xfrm>
            <a:off x="7643813" y="3857625"/>
            <a:ext cx="127000" cy="812165"/>
          </a:xfrm>
          <a:prstGeom prst="rect">
            <a:avLst/>
          </a:prstGeom>
          <a:noFill/>
        </p:spPr>
        <p:txBody>
          <a:bodyPr wrap="none" lIns="0" tIns="0" rIns="0" bIns="0" rtlCol="0" anchor="t">
            <a:spAutoFit/>
          </a:bodyPr>
          <a:lstStyle/>
          <a:p>
            <a:pPr marL="0" indent="0" algn="l">
              <a:lnSpc>
                <a:spcPct val="80000"/>
              </a:lnSpc>
              <a:buNone/>
            </a:pPr>
            <a:endParaRPr lang="en-US" sz="6600" dirty="0"/>
          </a:p>
        </p:txBody>
      </p:sp>
      <p:sp>
        <p:nvSpPr>
          <p:cNvPr id="2" name="Text 3"/>
          <p:cNvSpPr/>
          <p:nvPr/>
        </p:nvSpPr>
        <p:spPr>
          <a:xfrm>
            <a:off x="8270677" y="401835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22</a:t>
            </a:r>
            <a:endParaRPr lang="en-US" sz="3300" dirty="0"/>
          </a:p>
        </p:txBody>
      </p:sp>
      <p:sp>
        <p:nvSpPr>
          <p:cNvPr id="42" name="Oval 41"/>
          <p:cNvSpPr/>
          <p:nvPr/>
        </p:nvSpPr>
        <p:spPr>
          <a:xfrm>
            <a:off x="842645"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354616" y="4018359"/>
            <a:ext cx="433705"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23</a:t>
            </a:r>
            <a:endParaRPr lang="en-US" sz="3300" dirty="0"/>
          </a:p>
        </p:txBody>
      </p:sp>
      <p:sp>
        <p:nvSpPr>
          <p:cNvPr id="7" name="Text 4"/>
          <p:cNvSpPr/>
          <p:nvPr/>
        </p:nvSpPr>
        <p:spPr>
          <a:xfrm>
            <a:off x="428625" y="714375"/>
            <a:ext cx="8286750" cy="657225"/>
          </a:xfrm>
          <a:prstGeom prst="rect">
            <a:avLst/>
          </a:prstGeom>
          <a:noFill/>
        </p:spPr>
        <p:txBody>
          <a:bodyPr wrap="square" lIns="0" tIns="0" rIns="0" bIns="0" rtlCol="0" anchor="t">
            <a:spAutoFit/>
          </a:bodyPr>
          <a:lstStyle/>
          <a:p>
            <a:pPr marL="0" indent="0" algn="ctr">
              <a:buNone/>
            </a:pPr>
            <a:r>
              <a:rPr lang="en-US" sz="1900" b="1" dirty="0">
                <a:solidFill>
                  <a:srgbClr val="000000"/>
                </a:solidFill>
                <a:latin typeface="Inter Black" pitchFamily="34" charset="0"/>
                <a:ea typeface="Inter Black" pitchFamily="34" charset="-122"/>
                <a:cs typeface="Inter Black" pitchFamily="34" charset="-120"/>
              </a:rPr>
              <a:t>Hackers Don't Just Target Computers Anymore.</a:t>
            </a:r>
            <a:r>
              <a:rPr lang="en-US" sz="1900" b="1" dirty="0">
                <a:solidFill>
                  <a:srgbClr val="000000"/>
                </a:solidFill>
                <a:latin typeface="Inter Black" pitchFamily="34" charset="0"/>
                <a:ea typeface="Inter Black" pitchFamily="34" charset="-122"/>
                <a:cs typeface="Inter Black" pitchFamily="34" charset="-120"/>
              </a:rPr>
              <a:t>
</a:t>
            </a:r>
            <a:r>
              <a:rPr lang="en-US" sz="1900" b="1" dirty="0">
                <a:solidFill>
                  <a:srgbClr val="000000"/>
                </a:solidFill>
                <a:latin typeface="Inter Black" pitchFamily="34" charset="0"/>
                <a:ea typeface="Inter Black" pitchFamily="34" charset="-122"/>
                <a:cs typeface="Inter Black" pitchFamily="34" charset="-120"/>
              </a:rPr>
              <a:t>They Target the AI Inside Them.</a:t>
            </a:r>
            <a:endParaRPr lang="en-US" sz="1900" dirty="0"/>
          </a:p>
        </p:txBody>
      </p:sp>
      <p:sp>
        <p:nvSpPr>
          <p:cNvPr id="8" name="Shape 5"/>
          <p:cNvSpPr/>
          <p:nvPr/>
        </p:nvSpPr>
        <p:spPr>
          <a:xfrm>
            <a:off x="4214813" y="2371725"/>
            <a:ext cx="714375" cy="714375"/>
          </a:xfrm>
          <a:prstGeom prst="ellipse">
            <a:avLst/>
          </a:prstGeom>
          <a:solidFill>
            <a:srgbClr val="FFFFFF"/>
          </a:solidFill>
          <a:ln w="18288">
            <a:solidFill>
              <a:srgbClr val="F5C518"/>
            </a:solidFill>
            <a:prstDash val="solid"/>
          </a:ln>
        </p:spPr>
      </p:sp>
      <p:pic>
        <p:nvPicPr>
          <p:cNvPr id="9" name="Image 1" descr="preencoded.png"/>
          <p:cNvPicPr>
            <a:picLocks noChangeAspect="1"/>
          </p:cNvPicPr>
          <p:nvPr/>
        </p:nvPicPr>
        <p:blipFill>
          <a:blip r:embed="rId2"/>
          <a:stretch>
            <a:fillRect/>
          </a:stretch>
        </p:blipFill>
        <p:spPr>
          <a:xfrm>
            <a:off x="4400550" y="2557463"/>
            <a:ext cx="342900" cy="342900"/>
          </a:xfrm>
          <a:prstGeom prst="rect">
            <a:avLst/>
          </a:prstGeom>
        </p:spPr>
      </p:pic>
      <p:sp>
        <p:nvSpPr>
          <p:cNvPr id="10" name="Shape 6"/>
          <p:cNvSpPr/>
          <p:nvPr/>
        </p:nvSpPr>
        <p:spPr>
          <a:xfrm>
            <a:off x="428625" y="1657350"/>
            <a:ext cx="4071938" cy="1000125"/>
          </a:xfrm>
          <a:prstGeom prst="rect">
            <a:avLst/>
          </a:prstGeom>
          <a:solidFill>
            <a:srgbClr val="FFFFFF"/>
          </a:solidFill>
        </p:spPr>
      </p:sp>
      <p:sp>
        <p:nvSpPr>
          <p:cNvPr id="11" name="Shape 7"/>
          <p:cNvSpPr/>
          <p:nvPr/>
        </p:nvSpPr>
        <p:spPr>
          <a:xfrm>
            <a:off x="428625" y="1657350"/>
            <a:ext cx="4071938" cy="7144"/>
          </a:xfrm>
          <a:prstGeom prst="rect">
            <a:avLst/>
          </a:prstGeom>
          <a:solidFill>
            <a:srgbClr val="EEEEEE"/>
          </a:solidFill>
        </p:spPr>
      </p:sp>
      <p:sp>
        <p:nvSpPr>
          <p:cNvPr id="12" name="Shape 8"/>
          <p:cNvSpPr/>
          <p:nvPr/>
        </p:nvSpPr>
        <p:spPr>
          <a:xfrm>
            <a:off x="4493419" y="1657350"/>
            <a:ext cx="7144" cy="1000125"/>
          </a:xfrm>
          <a:prstGeom prst="rect">
            <a:avLst/>
          </a:prstGeom>
          <a:solidFill>
            <a:srgbClr val="EEEEEE"/>
          </a:solidFill>
        </p:spPr>
      </p:sp>
      <p:sp>
        <p:nvSpPr>
          <p:cNvPr id="13" name="Shape 9"/>
          <p:cNvSpPr/>
          <p:nvPr/>
        </p:nvSpPr>
        <p:spPr>
          <a:xfrm>
            <a:off x="428625" y="2650331"/>
            <a:ext cx="4071938" cy="7144"/>
          </a:xfrm>
          <a:prstGeom prst="rect">
            <a:avLst/>
          </a:prstGeom>
          <a:solidFill>
            <a:srgbClr val="EEEEEE"/>
          </a:solidFill>
        </p:spPr>
      </p:sp>
      <p:sp>
        <p:nvSpPr>
          <p:cNvPr id="14" name="Shape 10"/>
          <p:cNvSpPr/>
          <p:nvPr/>
        </p:nvSpPr>
        <p:spPr>
          <a:xfrm>
            <a:off x="428625" y="1657350"/>
            <a:ext cx="42863" cy="1000125"/>
          </a:xfrm>
          <a:prstGeom prst="rect">
            <a:avLst/>
          </a:prstGeom>
          <a:solidFill>
            <a:srgbClr val="F5C518"/>
          </a:solidFill>
        </p:spPr>
      </p:sp>
      <p:sp>
        <p:nvSpPr>
          <p:cNvPr id="15" name="Text 11"/>
          <p:cNvSpPr/>
          <p:nvPr/>
        </p:nvSpPr>
        <p:spPr>
          <a:xfrm>
            <a:off x="571500" y="1800225"/>
            <a:ext cx="3786188" cy="105370"/>
          </a:xfrm>
          <a:prstGeom prst="rect">
            <a:avLst/>
          </a:prstGeom>
          <a:noFill/>
        </p:spPr>
        <p:txBody>
          <a:bodyPr wrap="square" lIns="0" tIns="0" rIns="0" bIns="0" rtlCol="0" anchor="t">
            <a:spAutoFit/>
          </a:bodyPr>
          <a:lstStyle/>
          <a:p>
            <a:pPr marL="0" indent="0" algn="l">
              <a:buNone/>
            </a:pPr>
            <a:r>
              <a:rPr lang="en-US" sz="600" b="1" dirty="0">
                <a:solidFill>
                  <a:srgbClr val="F5C518"/>
                </a:solidFill>
                <a:latin typeface="Inter Black" pitchFamily="34" charset="0"/>
                <a:ea typeface="Inter Black" pitchFamily="34" charset="-122"/>
                <a:cs typeface="Inter Black" pitchFamily="34" charset="-120"/>
              </a:rPr>
              <a:t>AML.T0051</a:t>
            </a:r>
            <a:endParaRPr lang="en-US" sz="600" dirty="0"/>
          </a:p>
        </p:txBody>
      </p:sp>
      <p:sp>
        <p:nvSpPr>
          <p:cNvPr id="16" name="Text 12"/>
          <p:cNvSpPr/>
          <p:nvPr/>
        </p:nvSpPr>
        <p:spPr>
          <a:xfrm>
            <a:off x="571500" y="1941314"/>
            <a:ext cx="3786188"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PROMPT INJECTION</a:t>
            </a:r>
            <a:endParaRPr lang="en-US" sz="900" dirty="0"/>
          </a:p>
        </p:txBody>
      </p:sp>
      <p:sp>
        <p:nvSpPr>
          <p:cNvPr id="17" name="Text 13"/>
          <p:cNvSpPr/>
          <p:nvPr/>
        </p:nvSpPr>
        <p:spPr>
          <a:xfrm>
            <a:off x="571500" y="2153841"/>
            <a:ext cx="3786188" cy="260021"/>
          </a:xfrm>
          <a:prstGeom prst="rect">
            <a:avLst/>
          </a:prstGeom>
          <a:noFill/>
        </p:spPr>
        <p:txBody>
          <a:bodyPr wrap="square" lIns="0" tIns="0" rIns="0" bIns="0" rtlCol="0" anchor="t">
            <a:spAutoFit/>
          </a:bodyPr>
          <a:lstStyle/>
          <a:p>
            <a:pPr marL="0" indent="0" algn="l">
              <a:lnSpc>
                <a:spcPct val="112000"/>
              </a:lnSpc>
              <a:buNone/>
            </a:pPr>
            <a:r>
              <a:rPr lang="en-US" sz="650" dirty="0">
                <a:solidFill>
                  <a:srgbClr val="333333"/>
                </a:solidFill>
                <a:latin typeface="Inter" pitchFamily="34" charset="0"/>
                <a:ea typeface="Inter" pitchFamily="34" charset="-122"/>
                <a:cs typeface="Inter" pitchFamily="34" charset="-120"/>
              </a:rPr>
              <a:t>Embedding hidden malicious instructions within input to override safety controls and intended behavior.</a:t>
            </a:r>
            <a:endParaRPr lang="en-US" sz="650" dirty="0"/>
          </a:p>
        </p:txBody>
      </p:sp>
      <p:sp>
        <p:nvSpPr>
          <p:cNvPr id="18" name="Shape 14"/>
          <p:cNvSpPr/>
          <p:nvPr/>
        </p:nvSpPr>
        <p:spPr>
          <a:xfrm>
            <a:off x="4643438" y="1657350"/>
            <a:ext cx="4071938" cy="1000125"/>
          </a:xfrm>
          <a:prstGeom prst="rect">
            <a:avLst/>
          </a:prstGeom>
          <a:solidFill>
            <a:srgbClr val="FFFFFF"/>
          </a:solidFill>
        </p:spPr>
      </p:sp>
      <p:sp>
        <p:nvSpPr>
          <p:cNvPr id="19" name="Shape 15"/>
          <p:cNvSpPr/>
          <p:nvPr/>
        </p:nvSpPr>
        <p:spPr>
          <a:xfrm>
            <a:off x="4643438" y="1657350"/>
            <a:ext cx="4071938" cy="7144"/>
          </a:xfrm>
          <a:prstGeom prst="rect">
            <a:avLst/>
          </a:prstGeom>
          <a:solidFill>
            <a:srgbClr val="EEEEEE"/>
          </a:solidFill>
        </p:spPr>
      </p:sp>
      <p:sp>
        <p:nvSpPr>
          <p:cNvPr id="20" name="Shape 16"/>
          <p:cNvSpPr/>
          <p:nvPr/>
        </p:nvSpPr>
        <p:spPr>
          <a:xfrm>
            <a:off x="8708231" y="1657350"/>
            <a:ext cx="7144" cy="1000125"/>
          </a:xfrm>
          <a:prstGeom prst="rect">
            <a:avLst/>
          </a:prstGeom>
          <a:solidFill>
            <a:srgbClr val="EEEEEE"/>
          </a:solidFill>
        </p:spPr>
      </p:sp>
      <p:sp>
        <p:nvSpPr>
          <p:cNvPr id="21" name="Shape 17"/>
          <p:cNvSpPr/>
          <p:nvPr/>
        </p:nvSpPr>
        <p:spPr>
          <a:xfrm>
            <a:off x="4643438" y="2650331"/>
            <a:ext cx="4071938" cy="7144"/>
          </a:xfrm>
          <a:prstGeom prst="rect">
            <a:avLst/>
          </a:prstGeom>
          <a:solidFill>
            <a:srgbClr val="EEEEEE"/>
          </a:solidFill>
        </p:spPr>
      </p:sp>
      <p:sp>
        <p:nvSpPr>
          <p:cNvPr id="22" name="Shape 18"/>
          <p:cNvSpPr/>
          <p:nvPr/>
        </p:nvSpPr>
        <p:spPr>
          <a:xfrm>
            <a:off x="4643438" y="1657350"/>
            <a:ext cx="42863" cy="1000125"/>
          </a:xfrm>
          <a:prstGeom prst="rect">
            <a:avLst/>
          </a:prstGeom>
          <a:solidFill>
            <a:srgbClr val="F5C518"/>
          </a:solidFill>
        </p:spPr>
      </p:sp>
      <p:sp>
        <p:nvSpPr>
          <p:cNvPr id="23" name="Text 19"/>
          <p:cNvSpPr/>
          <p:nvPr/>
        </p:nvSpPr>
        <p:spPr>
          <a:xfrm>
            <a:off x="4786313" y="1800225"/>
            <a:ext cx="3786188" cy="105370"/>
          </a:xfrm>
          <a:prstGeom prst="rect">
            <a:avLst/>
          </a:prstGeom>
          <a:noFill/>
        </p:spPr>
        <p:txBody>
          <a:bodyPr wrap="square" lIns="0" tIns="0" rIns="0" bIns="0" rtlCol="0" anchor="t">
            <a:spAutoFit/>
          </a:bodyPr>
          <a:lstStyle/>
          <a:p>
            <a:pPr marL="0" indent="0" algn="l">
              <a:buNone/>
            </a:pPr>
            <a:r>
              <a:rPr lang="en-US" sz="600" b="1" dirty="0">
                <a:solidFill>
                  <a:srgbClr val="F5C518"/>
                </a:solidFill>
                <a:latin typeface="Inter Black" pitchFamily="34" charset="0"/>
                <a:ea typeface="Inter Black" pitchFamily="34" charset="-122"/>
                <a:cs typeface="Inter Black" pitchFamily="34" charset="-120"/>
              </a:rPr>
              <a:t>AML.T0018</a:t>
            </a:r>
            <a:endParaRPr lang="en-US" sz="600" dirty="0"/>
          </a:p>
        </p:txBody>
      </p:sp>
      <p:sp>
        <p:nvSpPr>
          <p:cNvPr id="24" name="Text 20"/>
          <p:cNvSpPr/>
          <p:nvPr/>
        </p:nvSpPr>
        <p:spPr>
          <a:xfrm>
            <a:off x="4786313" y="1941314"/>
            <a:ext cx="3786188"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MODEL POISONING</a:t>
            </a:r>
            <a:endParaRPr lang="en-US" sz="900" dirty="0"/>
          </a:p>
        </p:txBody>
      </p:sp>
      <p:sp>
        <p:nvSpPr>
          <p:cNvPr id="25" name="Text 21"/>
          <p:cNvSpPr/>
          <p:nvPr/>
        </p:nvSpPr>
        <p:spPr>
          <a:xfrm>
            <a:off x="4786313" y="2153841"/>
            <a:ext cx="3786188" cy="260021"/>
          </a:xfrm>
          <a:prstGeom prst="rect">
            <a:avLst/>
          </a:prstGeom>
          <a:noFill/>
        </p:spPr>
        <p:txBody>
          <a:bodyPr wrap="square" lIns="0" tIns="0" rIns="0" bIns="0" rtlCol="0" anchor="t">
            <a:spAutoFit/>
          </a:bodyPr>
          <a:lstStyle/>
          <a:p>
            <a:pPr marL="0" indent="0" algn="l">
              <a:lnSpc>
                <a:spcPct val="112000"/>
              </a:lnSpc>
              <a:buNone/>
            </a:pPr>
            <a:r>
              <a:rPr lang="en-US" sz="650" dirty="0">
                <a:solidFill>
                  <a:srgbClr val="333333"/>
                </a:solidFill>
                <a:latin typeface="Inter" pitchFamily="34" charset="0"/>
                <a:ea typeface="Inter" pitchFamily="34" charset="-122"/>
                <a:cs typeface="Inter" pitchFamily="34" charset="-120"/>
              </a:rPr>
              <a:t>Corrupting training data so the model behaves maliciously on specific chosen inputs while appearing accurate.</a:t>
            </a:r>
            <a:endParaRPr lang="en-US" sz="650" dirty="0"/>
          </a:p>
        </p:txBody>
      </p:sp>
      <p:sp>
        <p:nvSpPr>
          <p:cNvPr id="26" name="Shape 22"/>
          <p:cNvSpPr/>
          <p:nvPr/>
        </p:nvSpPr>
        <p:spPr>
          <a:xfrm>
            <a:off x="428625" y="2800350"/>
            <a:ext cx="4071938" cy="1000125"/>
          </a:xfrm>
          <a:prstGeom prst="rect">
            <a:avLst/>
          </a:prstGeom>
          <a:solidFill>
            <a:srgbClr val="FFFFFF"/>
          </a:solidFill>
        </p:spPr>
      </p:sp>
      <p:sp>
        <p:nvSpPr>
          <p:cNvPr id="27" name="Shape 23"/>
          <p:cNvSpPr/>
          <p:nvPr/>
        </p:nvSpPr>
        <p:spPr>
          <a:xfrm>
            <a:off x="428625" y="2800350"/>
            <a:ext cx="4071938" cy="7144"/>
          </a:xfrm>
          <a:prstGeom prst="rect">
            <a:avLst/>
          </a:prstGeom>
          <a:solidFill>
            <a:srgbClr val="EEEEEE"/>
          </a:solidFill>
        </p:spPr>
      </p:sp>
      <p:sp>
        <p:nvSpPr>
          <p:cNvPr id="28" name="Shape 24"/>
          <p:cNvSpPr/>
          <p:nvPr/>
        </p:nvSpPr>
        <p:spPr>
          <a:xfrm>
            <a:off x="4493419" y="2800350"/>
            <a:ext cx="7144" cy="1000125"/>
          </a:xfrm>
          <a:prstGeom prst="rect">
            <a:avLst/>
          </a:prstGeom>
          <a:solidFill>
            <a:srgbClr val="EEEEEE"/>
          </a:solidFill>
        </p:spPr>
      </p:sp>
      <p:sp>
        <p:nvSpPr>
          <p:cNvPr id="29" name="Shape 25"/>
          <p:cNvSpPr/>
          <p:nvPr/>
        </p:nvSpPr>
        <p:spPr>
          <a:xfrm>
            <a:off x="428625" y="3793331"/>
            <a:ext cx="4071938" cy="7144"/>
          </a:xfrm>
          <a:prstGeom prst="rect">
            <a:avLst/>
          </a:prstGeom>
          <a:solidFill>
            <a:srgbClr val="EEEEEE"/>
          </a:solidFill>
        </p:spPr>
      </p:sp>
      <p:sp>
        <p:nvSpPr>
          <p:cNvPr id="30" name="Shape 26"/>
          <p:cNvSpPr/>
          <p:nvPr/>
        </p:nvSpPr>
        <p:spPr>
          <a:xfrm>
            <a:off x="428625" y="2800350"/>
            <a:ext cx="42863" cy="1000125"/>
          </a:xfrm>
          <a:prstGeom prst="rect">
            <a:avLst/>
          </a:prstGeom>
          <a:solidFill>
            <a:srgbClr val="F5C518"/>
          </a:solidFill>
        </p:spPr>
      </p:sp>
      <p:sp>
        <p:nvSpPr>
          <p:cNvPr id="31" name="Text 27"/>
          <p:cNvSpPr/>
          <p:nvPr/>
        </p:nvSpPr>
        <p:spPr>
          <a:xfrm>
            <a:off x="571500" y="2943225"/>
            <a:ext cx="3786188" cy="105370"/>
          </a:xfrm>
          <a:prstGeom prst="rect">
            <a:avLst/>
          </a:prstGeom>
          <a:noFill/>
        </p:spPr>
        <p:txBody>
          <a:bodyPr wrap="square" lIns="0" tIns="0" rIns="0" bIns="0" rtlCol="0" anchor="t">
            <a:spAutoFit/>
          </a:bodyPr>
          <a:lstStyle/>
          <a:p>
            <a:pPr marL="0" indent="0" algn="l">
              <a:buNone/>
            </a:pPr>
            <a:r>
              <a:rPr lang="en-US" sz="600" b="1" dirty="0">
                <a:solidFill>
                  <a:srgbClr val="F5C518"/>
                </a:solidFill>
                <a:latin typeface="Inter Black" pitchFamily="34" charset="0"/>
                <a:ea typeface="Inter Black" pitchFamily="34" charset="-122"/>
                <a:cs typeface="Inter Black" pitchFamily="34" charset="-120"/>
              </a:rPr>
              <a:t>AML.T0024</a:t>
            </a:r>
            <a:endParaRPr lang="en-US" sz="600" dirty="0"/>
          </a:p>
        </p:txBody>
      </p:sp>
      <p:sp>
        <p:nvSpPr>
          <p:cNvPr id="32" name="Text 28"/>
          <p:cNvSpPr/>
          <p:nvPr/>
        </p:nvSpPr>
        <p:spPr>
          <a:xfrm>
            <a:off x="571500" y="3084314"/>
            <a:ext cx="3786188"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MODEL INVERSION</a:t>
            </a:r>
            <a:endParaRPr lang="en-US" sz="900" dirty="0"/>
          </a:p>
        </p:txBody>
      </p:sp>
      <p:sp>
        <p:nvSpPr>
          <p:cNvPr id="33" name="Text 29"/>
          <p:cNvSpPr/>
          <p:nvPr/>
        </p:nvSpPr>
        <p:spPr>
          <a:xfrm>
            <a:off x="571500" y="3296841"/>
            <a:ext cx="3786188" cy="260021"/>
          </a:xfrm>
          <a:prstGeom prst="rect">
            <a:avLst/>
          </a:prstGeom>
          <a:noFill/>
        </p:spPr>
        <p:txBody>
          <a:bodyPr wrap="square" lIns="0" tIns="0" rIns="0" bIns="0" rtlCol="0" anchor="t">
            <a:spAutoFit/>
          </a:bodyPr>
          <a:lstStyle/>
          <a:p>
            <a:pPr marL="0" indent="0" algn="l">
              <a:lnSpc>
                <a:spcPct val="112000"/>
              </a:lnSpc>
              <a:buNone/>
            </a:pPr>
            <a:r>
              <a:rPr lang="en-US" sz="650" dirty="0">
                <a:solidFill>
                  <a:srgbClr val="333333"/>
                </a:solidFill>
                <a:latin typeface="Inter" pitchFamily="34" charset="0"/>
                <a:ea typeface="Inter" pitchFamily="34" charset="-122"/>
                <a:cs typeface="Inter" pitchFamily="34" charset="-120"/>
              </a:rPr>
              <a:t>Analyzing model responses to reconstruct private data used in the training set (e.g., facial recognition photos).</a:t>
            </a:r>
            <a:endParaRPr lang="en-US" sz="650" dirty="0"/>
          </a:p>
        </p:txBody>
      </p:sp>
      <p:sp>
        <p:nvSpPr>
          <p:cNvPr id="34" name="Shape 30"/>
          <p:cNvSpPr/>
          <p:nvPr/>
        </p:nvSpPr>
        <p:spPr>
          <a:xfrm>
            <a:off x="4643438" y="2800350"/>
            <a:ext cx="4071938" cy="1000125"/>
          </a:xfrm>
          <a:prstGeom prst="rect">
            <a:avLst/>
          </a:prstGeom>
          <a:solidFill>
            <a:srgbClr val="FFFFFF"/>
          </a:solidFill>
        </p:spPr>
      </p:sp>
      <p:sp>
        <p:nvSpPr>
          <p:cNvPr id="35" name="Shape 31"/>
          <p:cNvSpPr/>
          <p:nvPr/>
        </p:nvSpPr>
        <p:spPr>
          <a:xfrm>
            <a:off x="4643438" y="2800350"/>
            <a:ext cx="4071938" cy="7144"/>
          </a:xfrm>
          <a:prstGeom prst="rect">
            <a:avLst/>
          </a:prstGeom>
          <a:solidFill>
            <a:srgbClr val="EEEEEE"/>
          </a:solidFill>
        </p:spPr>
      </p:sp>
      <p:sp>
        <p:nvSpPr>
          <p:cNvPr id="36" name="Shape 32"/>
          <p:cNvSpPr/>
          <p:nvPr/>
        </p:nvSpPr>
        <p:spPr>
          <a:xfrm>
            <a:off x="8708231" y="2800350"/>
            <a:ext cx="7144" cy="1000125"/>
          </a:xfrm>
          <a:prstGeom prst="rect">
            <a:avLst/>
          </a:prstGeom>
          <a:solidFill>
            <a:srgbClr val="EEEEEE"/>
          </a:solidFill>
        </p:spPr>
      </p:sp>
      <p:sp>
        <p:nvSpPr>
          <p:cNvPr id="37" name="Shape 33"/>
          <p:cNvSpPr/>
          <p:nvPr/>
        </p:nvSpPr>
        <p:spPr>
          <a:xfrm>
            <a:off x="4643438" y="3793331"/>
            <a:ext cx="4071938" cy="7144"/>
          </a:xfrm>
          <a:prstGeom prst="rect">
            <a:avLst/>
          </a:prstGeom>
          <a:solidFill>
            <a:srgbClr val="EEEEEE"/>
          </a:solidFill>
        </p:spPr>
      </p:sp>
      <p:sp>
        <p:nvSpPr>
          <p:cNvPr id="38" name="Shape 34"/>
          <p:cNvSpPr/>
          <p:nvPr/>
        </p:nvSpPr>
        <p:spPr>
          <a:xfrm>
            <a:off x="4643438" y="2800350"/>
            <a:ext cx="42863" cy="1000125"/>
          </a:xfrm>
          <a:prstGeom prst="rect">
            <a:avLst/>
          </a:prstGeom>
          <a:solidFill>
            <a:srgbClr val="F5C518"/>
          </a:solidFill>
        </p:spPr>
      </p:sp>
      <p:sp>
        <p:nvSpPr>
          <p:cNvPr id="39" name="Text 35"/>
          <p:cNvSpPr/>
          <p:nvPr/>
        </p:nvSpPr>
        <p:spPr>
          <a:xfrm>
            <a:off x="4786313" y="2943225"/>
            <a:ext cx="3786188" cy="105370"/>
          </a:xfrm>
          <a:prstGeom prst="rect">
            <a:avLst/>
          </a:prstGeom>
          <a:noFill/>
        </p:spPr>
        <p:txBody>
          <a:bodyPr wrap="square" lIns="0" tIns="0" rIns="0" bIns="0" rtlCol="0" anchor="t">
            <a:spAutoFit/>
          </a:bodyPr>
          <a:lstStyle/>
          <a:p>
            <a:pPr marL="0" indent="0" algn="l">
              <a:buNone/>
            </a:pPr>
            <a:r>
              <a:rPr lang="en-US" sz="600" b="1" dirty="0">
                <a:solidFill>
                  <a:srgbClr val="F5C518"/>
                </a:solidFill>
                <a:latin typeface="Inter Black" pitchFamily="34" charset="0"/>
                <a:ea typeface="Inter Black" pitchFamily="34" charset="-122"/>
                <a:cs typeface="Inter Black" pitchFamily="34" charset="-120"/>
              </a:rPr>
              <a:t>AML.T0010</a:t>
            </a:r>
            <a:endParaRPr lang="en-US" sz="600" dirty="0"/>
          </a:p>
        </p:txBody>
      </p:sp>
      <p:sp>
        <p:nvSpPr>
          <p:cNvPr id="40" name="Text 36"/>
          <p:cNvSpPr/>
          <p:nvPr/>
        </p:nvSpPr>
        <p:spPr>
          <a:xfrm>
            <a:off x="4786313" y="3084314"/>
            <a:ext cx="3786188"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AI SUPPLY CHAIN</a:t>
            </a:r>
            <a:endParaRPr lang="en-US" sz="900" dirty="0"/>
          </a:p>
        </p:txBody>
      </p:sp>
      <p:sp>
        <p:nvSpPr>
          <p:cNvPr id="41" name="Text 37"/>
          <p:cNvSpPr/>
          <p:nvPr/>
        </p:nvSpPr>
        <p:spPr>
          <a:xfrm>
            <a:off x="4786313" y="3296841"/>
            <a:ext cx="3786188" cy="260021"/>
          </a:xfrm>
          <a:prstGeom prst="rect">
            <a:avLst/>
          </a:prstGeom>
          <a:noFill/>
        </p:spPr>
        <p:txBody>
          <a:bodyPr wrap="square" lIns="0" tIns="0" rIns="0" bIns="0" rtlCol="0" anchor="t">
            <a:spAutoFit/>
          </a:bodyPr>
          <a:lstStyle/>
          <a:p>
            <a:pPr marL="0" indent="0" algn="l">
              <a:lnSpc>
                <a:spcPct val="112000"/>
              </a:lnSpc>
              <a:buNone/>
            </a:pPr>
            <a:r>
              <a:rPr lang="en-US" sz="650" dirty="0">
                <a:solidFill>
                  <a:srgbClr val="333333"/>
                </a:solidFill>
                <a:latin typeface="Inter" pitchFamily="34" charset="0"/>
                <a:ea typeface="Inter" pitchFamily="34" charset="-122"/>
                <a:cs typeface="Inter" pitchFamily="34" charset="-120"/>
              </a:rPr>
              <a:t>Tampering with pre-trained models in public repositories before developers embed them in applications.</a:t>
            </a:r>
            <a:endParaRPr lang="en-US" sz="650" dirty="0"/>
          </a:p>
        </p:txBody>
      </p:sp>
      <p:sp>
        <p:nvSpPr>
          <p:cNvPr id="42" name="Text 38"/>
          <p:cNvSpPr/>
          <p:nvPr/>
        </p:nvSpPr>
        <p:spPr>
          <a:xfrm>
            <a:off x="2157413" y="4274641"/>
            <a:ext cx="762595"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MITRE ATLAS</a:t>
            </a:r>
            <a:endParaRPr lang="en-US" sz="800" dirty="0"/>
          </a:p>
        </p:txBody>
      </p:sp>
      <p:pic>
        <p:nvPicPr>
          <p:cNvPr id="43" name="Image 2" descr="preencoded.png"/>
          <p:cNvPicPr>
            <a:picLocks noChangeAspect="1"/>
          </p:cNvPicPr>
          <p:nvPr/>
        </p:nvPicPr>
        <p:blipFill>
          <a:blip r:embed="rId3"/>
          <a:stretch>
            <a:fillRect/>
          </a:stretch>
        </p:blipFill>
        <p:spPr>
          <a:xfrm>
            <a:off x="3205758" y="4257675"/>
            <a:ext cx="150019" cy="171450"/>
          </a:xfrm>
          <a:prstGeom prst="rect">
            <a:avLst/>
          </a:prstGeom>
        </p:spPr>
      </p:pic>
      <p:sp>
        <p:nvSpPr>
          <p:cNvPr id="44" name="Text 39"/>
          <p:cNvSpPr/>
          <p:nvPr/>
        </p:nvSpPr>
        <p:spPr>
          <a:xfrm>
            <a:off x="3998714" y="4274641"/>
            <a:ext cx="855464" cy="137517"/>
          </a:xfrm>
          <a:prstGeom prst="rect">
            <a:avLst/>
          </a:prstGeom>
          <a:noFill/>
        </p:spPr>
        <p:txBody>
          <a:bodyPr wrap="none" lIns="0" tIns="0" rIns="0" bIns="0" rtlCol="0" anchor="t">
            <a:spAutoFit/>
          </a:bodyPr>
          <a:lstStyle/>
          <a:p>
            <a:pPr marL="0" indent="0" algn="l">
              <a:buNone/>
            </a:pPr>
            <a:r>
              <a:rPr lang="en-US" sz="800" b="1" dirty="0">
                <a:solidFill>
                  <a:srgbClr val="000000"/>
                </a:solidFill>
                <a:latin typeface="Inter Bold" pitchFamily="34" charset="0"/>
                <a:ea typeface="Inter Bold" pitchFamily="34" charset="-122"/>
                <a:cs typeface="Inter Bold" pitchFamily="34" charset="-120"/>
              </a:rPr>
              <a:t>MITRE ATT&amp;CK</a:t>
            </a:r>
            <a:endParaRPr lang="en-US" sz="800" dirty="0"/>
          </a:p>
        </p:txBody>
      </p:sp>
      <p:sp>
        <p:nvSpPr>
          <p:cNvPr id="45" name="Text 40"/>
          <p:cNvSpPr/>
          <p:nvPr/>
        </p:nvSpPr>
        <p:spPr>
          <a:xfrm>
            <a:off x="5139928" y="4274641"/>
            <a:ext cx="2203847" cy="137517"/>
          </a:xfrm>
          <a:prstGeom prst="rect">
            <a:avLst/>
          </a:prstGeom>
          <a:noFill/>
        </p:spPr>
        <p:txBody>
          <a:bodyPr wrap="square" lIns="0" tIns="0" rIns="0" bIns="0" rtlCol="0" anchor="t">
            <a:spAutoFit/>
          </a:bodyPr>
          <a:lstStyle/>
          <a:p>
            <a:pPr marL="0" indent="0" algn="l">
              <a:buNone/>
            </a:pPr>
            <a:r>
              <a:rPr lang="en-US" sz="850" i="1" dirty="0">
                <a:solidFill>
                  <a:srgbClr val="666666"/>
                </a:solidFill>
                <a:latin typeface="Inter" pitchFamily="34" charset="0"/>
                <a:ea typeface="Inter" pitchFamily="34" charset="-122"/>
                <a:cs typeface="Inter" pitchFamily="34" charset="-120"/>
              </a:rPr>
              <a:t>Same structure, different target systems.</a:t>
            </a:r>
            <a:endParaRPr lang="en-US" sz="850" dirty="0"/>
          </a:p>
        </p:txBody>
      </p:sp>
      <p:sp>
        <p:nvSpPr>
          <p:cNvPr id="46" name="Oval 45"/>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1"/>
          <a:stretch>
            <a:fillRect/>
          </a:stretch>
        </p:blipFill>
        <p:spPr>
          <a:xfrm>
            <a:off x="7620" y="7620"/>
            <a:ext cx="9144000" cy="5586413"/>
          </a:xfrm>
          <a:prstGeom prst="rect">
            <a:avLst/>
          </a:prstGeom>
        </p:spPr>
      </p:pic>
      <p:sp>
        <p:nvSpPr>
          <p:cNvPr id="4" name="Shape 0"/>
          <p:cNvSpPr/>
          <p:nvPr/>
        </p:nvSpPr>
        <p:spPr>
          <a:xfrm>
            <a:off x="428625" y="285750"/>
            <a:ext cx="571500" cy="228600"/>
          </a:xfrm>
          <a:prstGeom prst="roundRect">
            <a:avLst/>
          </a:prstGeom>
          <a:solidFill>
            <a:srgbClr val="FACC15"/>
          </a:solidFill>
        </p:spPr>
      </p:sp>
      <p:sp>
        <p:nvSpPr>
          <p:cNvPr id="5" name="Text 1"/>
          <p:cNvSpPr/>
          <p:nvPr/>
        </p:nvSpPr>
        <p:spPr>
          <a:xfrm>
            <a:off x="1107281" y="322362"/>
            <a:ext cx="1310878" cy="155377"/>
          </a:xfrm>
          <a:prstGeom prst="rect">
            <a:avLst/>
          </a:prstGeom>
          <a:noFill/>
        </p:spPr>
        <p:txBody>
          <a:bodyPr wrap="square" lIns="0" tIns="0" rIns="0" bIns="0" rtlCol="0" anchor="t">
            <a:spAutoFit/>
          </a:bodyPr>
          <a:lstStyle/>
          <a:p>
            <a:pPr marL="0" indent="0" algn="l">
              <a:buNone/>
            </a:pPr>
            <a:r>
              <a:rPr lang="en-US" sz="950" dirty="0">
                <a:solidFill>
                  <a:srgbClr val="000000"/>
                </a:solidFill>
                <a:latin typeface="Inter" pitchFamily="34" charset="0"/>
                <a:ea typeface="Inter" pitchFamily="34" charset="-122"/>
                <a:cs typeface="Inter" pitchFamily="34" charset="-120"/>
              </a:rPr>
              <a:t>Hidden Investigations</a:t>
            </a:r>
            <a:endParaRPr lang="en-US" sz="950" dirty="0"/>
          </a:p>
        </p:txBody>
      </p:sp>
      <p:sp>
        <p:nvSpPr>
          <p:cNvPr id="6" name="Text 2"/>
          <p:cNvSpPr/>
          <p:nvPr/>
        </p:nvSpPr>
        <p:spPr>
          <a:xfrm>
            <a:off x="428625" y="857250"/>
            <a:ext cx="7143750" cy="414338"/>
          </a:xfrm>
          <a:prstGeom prst="rect">
            <a:avLst/>
          </a:prstGeom>
          <a:noFill/>
        </p:spPr>
        <p:txBody>
          <a:bodyPr wrap="square" lIns="0" tIns="0" rIns="0" bIns="0" rtlCol="0" anchor="t">
            <a:spAutoFit/>
          </a:bodyPr>
          <a:lstStyle/>
          <a:p>
            <a:pPr marL="0" indent="0" algn="l">
              <a:buNone/>
            </a:pPr>
            <a:r>
              <a:rPr lang="en-US" sz="2450" b="1" dirty="0">
                <a:solidFill>
                  <a:srgbClr val="000000"/>
                </a:solidFill>
                <a:latin typeface="Inter ExtraBold" pitchFamily="34" charset="0"/>
                <a:ea typeface="Inter ExtraBold" pitchFamily="34" charset="-122"/>
                <a:cs typeface="Inter ExtraBold" pitchFamily="34" charset="-120"/>
              </a:rPr>
              <a:t>ATT&amp;CK for ICS — OT Extension</a:t>
            </a:r>
            <a:endParaRPr lang="en-US" sz="2450" dirty="0"/>
          </a:p>
        </p:txBody>
      </p:sp>
      <p:sp>
        <p:nvSpPr>
          <p:cNvPr id="7" name="Text 3"/>
          <p:cNvSpPr/>
          <p:nvPr/>
        </p:nvSpPr>
        <p:spPr>
          <a:xfrm>
            <a:off x="428625" y="1485900"/>
            <a:ext cx="3052307" cy="207169"/>
          </a:xfrm>
          <a:prstGeom prst="rect">
            <a:avLst/>
          </a:prstGeom>
          <a:noFill/>
        </p:spPr>
        <p:txBody>
          <a:bodyPr wrap="square" lIns="0" tIns="0" rIns="0" bIns="0" rtlCol="0" anchor="t">
            <a:spAutoFit/>
          </a:bodyPr>
          <a:lstStyle/>
          <a:p>
            <a:pPr marL="0" indent="0" algn="l">
              <a:buNone/>
            </a:pPr>
            <a:r>
              <a:rPr lang="en-US" sz="1200" dirty="0">
                <a:solidFill>
                  <a:srgbClr val="333333"/>
                </a:solidFill>
                <a:latin typeface="Inter SemiBold" pitchFamily="34" charset="0"/>
                <a:ea typeface="Inter SemiBold" pitchFamily="34" charset="-122"/>
                <a:cs typeface="Inter SemiBold" pitchFamily="34" charset="-120"/>
              </a:rPr>
              <a:t>What is it?</a:t>
            </a:r>
            <a:endParaRPr lang="en-US" sz="1200" dirty="0"/>
          </a:p>
        </p:txBody>
      </p:sp>
      <p:sp>
        <p:nvSpPr>
          <p:cNvPr id="8" name="Text 4"/>
          <p:cNvSpPr/>
          <p:nvPr/>
        </p:nvSpPr>
        <p:spPr>
          <a:xfrm>
            <a:off x="428625" y="1800225"/>
            <a:ext cx="3052307" cy="617153"/>
          </a:xfrm>
          <a:prstGeom prst="rect">
            <a:avLst/>
          </a:prstGeom>
          <a:noFill/>
        </p:spPr>
        <p:txBody>
          <a:bodyPr wrap="square" lIns="0" tIns="0" rIns="0" bIns="0" rtlCol="0" anchor="t">
            <a:spAutoFit/>
          </a:bodyPr>
          <a:lstStyle/>
          <a:p>
            <a:pPr marL="0" indent="0" algn="l">
              <a:lnSpc>
                <a:spcPct val="128000"/>
              </a:lnSpc>
              <a:buNone/>
            </a:pPr>
            <a:r>
              <a:rPr lang="en-US" sz="950" dirty="0">
                <a:solidFill>
                  <a:srgbClr val="333333"/>
                </a:solidFill>
                <a:latin typeface="Inter" pitchFamily="34" charset="0"/>
                <a:ea typeface="Inter" pitchFamily="34" charset="-122"/>
                <a:cs typeface="Inter" pitchFamily="34" charset="-120"/>
              </a:rPr>
              <a:t>Focuses on adversary behavior in </a:t>
            </a:r>
            <a:r>
              <a:rPr lang="en-US" sz="900" b="1" dirty="0">
                <a:solidFill>
                  <a:srgbClr val="333333"/>
                </a:solidFill>
                <a:latin typeface="Inter ExtraBold" pitchFamily="34" charset="0"/>
                <a:ea typeface="Inter ExtraBold" pitchFamily="34" charset="-122"/>
                <a:cs typeface="Inter ExtraBold" pitchFamily="34" charset="-120"/>
              </a:rPr>
              <a:t>Operational Technology (OT)</a:t>
            </a:r>
            <a:r>
              <a:rPr lang="en-US" sz="950" dirty="0">
                <a:solidFill>
                  <a:srgbClr val="333333"/>
                </a:solidFill>
                <a:latin typeface="Inter" pitchFamily="34" charset="0"/>
                <a:ea typeface="Inter" pitchFamily="34" charset="-122"/>
                <a:cs typeface="Inter" pitchFamily="34" charset="-120"/>
              </a:rPr>
              <a:t> environments like power plants </a:t>
            </a:r>
            <a:r>
              <a:rPr lang="en-US" sz="950" dirty="0">
                <a:solidFill>
                  <a:srgbClr val="333333"/>
                </a:solidFill>
                <a:latin typeface="Inter" pitchFamily="34" charset="0"/>
                <a:ea typeface="Inter" pitchFamily="34" charset="-122"/>
                <a:cs typeface="Inter" pitchFamily="34" charset="-120"/>
              </a:rPr>
              <a:t>and factories.</a:t>
            </a:r>
            <a:endParaRPr lang="en-US" sz="950" dirty="0"/>
          </a:p>
        </p:txBody>
      </p:sp>
      <p:sp>
        <p:nvSpPr>
          <p:cNvPr id="9" name="Shape 5"/>
          <p:cNvSpPr/>
          <p:nvPr/>
        </p:nvSpPr>
        <p:spPr>
          <a:xfrm>
            <a:off x="428625" y="2595972"/>
            <a:ext cx="3052307" cy="1078706"/>
          </a:xfrm>
          <a:prstGeom prst="rect">
            <a:avLst/>
          </a:prstGeom>
          <a:solidFill>
            <a:srgbClr val="F9FAFB"/>
          </a:solidFill>
        </p:spPr>
      </p:sp>
      <p:sp>
        <p:nvSpPr>
          <p:cNvPr id="10" name="Text 6"/>
          <p:cNvSpPr/>
          <p:nvPr/>
        </p:nvSpPr>
        <p:spPr>
          <a:xfrm>
            <a:off x="571500" y="2738847"/>
            <a:ext cx="2766557"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ICS ATT&amp;CK Protects:</a:t>
            </a:r>
            <a:endParaRPr lang="en-US" sz="800" dirty="0"/>
          </a:p>
        </p:txBody>
      </p:sp>
      <p:pic>
        <p:nvPicPr>
          <p:cNvPr id="11" name="Image 1" descr="preencoded.png"/>
          <p:cNvPicPr>
            <a:picLocks noChangeAspect="1"/>
          </p:cNvPicPr>
          <p:nvPr/>
        </p:nvPicPr>
        <p:blipFill>
          <a:blip r:embed="rId2"/>
          <a:stretch>
            <a:fillRect/>
          </a:stretch>
        </p:blipFill>
        <p:spPr>
          <a:xfrm>
            <a:off x="571500" y="2973698"/>
            <a:ext cx="85725" cy="85725"/>
          </a:xfrm>
          <a:prstGeom prst="rect">
            <a:avLst/>
          </a:prstGeom>
        </p:spPr>
      </p:pic>
      <p:sp>
        <p:nvSpPr>
          <p:cNvPr id="12" name="Text 7"/>
          <p:cNvSpPr/>
          <p:nvPr/>
        </p:nvSpPr>
        <p:spPr>
          <a:xfrm>
            <a:off x="728663" y="2947801"/>
            <a:ext cx="1221581" cy="137517"/>
          </a:xfrm>
          <a:prstGeom prst="rect">
            <a:avLst/>
          </a:prstGeom>
          <a:noFill/>
        </p:spPr>
        <p:txBody>
          <a:bodyPr wrap="non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People &amp; Public Safety</a:t>
            </a:r>
            <a:endParaRPr lang="en-US" sz="850" dirty="0"/>
          </a:p>
        </p:txBody>
      </p:sp>
      <p:pic>
        <p:nvPicPr>
          <p:cNvPr id="13" name="Image 2" descr="preencoded.png"/>
          <p:cNvPicPr>
            <a:picLocks noChangeAspect="1"/>
          </p:cNvPicPr>
          <p:nvPr/>
        </p:nvPicPr>
        <p:blipFill>
          <a:blip r:embed="rId3"/>
          <a:stretch>
            <a:fillRect/>
          </a:stretch>
        </p:blipFill>
        <p:spPr>
          <a:xfrm>
            <a:off x="571500" y="3168365"/>
            <a:ext cx="85725" cy="85725"/>
          </a:xfrm>
          <a:prstGeom prst="rect">
            <a:avLst/>
          </a:prstGeom>
        </p:spPr>
      </p:pic>
      <p:sp>
        <p:nvSpPr>
          <p:cNvPr id="14" name="Text 8"/>
          <p:cNvSpPr/>
          <p:nvPr/>
        </p:nvSpPr>
        <p:spPr>
          <a:xfrm>
            <a:off x="728663" y="3142469"/>
            <a:ext cx="1453753" cy="137517"/>
          </a:xfrm>
          <a:prstGeom prst="rect">
            <a:avLst/>
          </a:prstGeom>
          <a:noFill/>
        </p:spPr>
        <p:txBody>
          <a:bodyPr wrap="squar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Physical Equipment (PLCs)</a:t>
            </a:r>
            <a:endParaRPr lang="en-US" sz="850" dirty="0"/>
          </a:p>
        </p:txBody>
      </p:sp>
      <p:pic>
        <p:nvPicPr>
          <p:cNvPr id="15" name="Image 3" descr="preencoded.png"/>
          <p:cNvPicPr>
            <a:picLocks noChangeAspect="1"/>
          </p:cNvPicPr>
          <p:nvPr/>
        </p:nvPicPr>
        <p:blipFill>
          <a:blip r:embed="rId4"/>
          <a:stretch>
            <a:fillRect/>
          </a:stretch>
        </p:blipFill>
        <p:spPr>
          <a:xfrm>
            <a:off x="571500" y="3363032"/>
            <a:ext cx="85725" cy="85725"/>
          </a:xfrm>
          <a:prstGeom prst="rect">
            <a:avLst/>
          </a:prstGeom>
        </p:spPr>
      </p:pic>
      <p:sp>
        <p:nvSpPr>
          <p:cNvPr id="16" name="Text 9"/>
          <p:cNvSpPr/>
          <p:nvPr/>
        </p:nvSpPr>
        <p:spPr>
          <a:xfrm>
            <a:off x="728663" y="3337136"/>
            <a:ext cx="1009055" cy="137517"/>
          </a:xfrm>
          <a:prstGeom prst="rect">
            <a:avLst/>
          </a:prstGeom>
          <a:noFill/>
        </p:spPr>
        <p:txBody>
          <a:bodyPr wrap="none" lIns="0" tIns="0" rIns="0" bIns="0" rtlCol="0" anchor="t">
            <a:spAutoFit/>
          </a:bodyPr>
          <a:lstStyle/>
          <a:p>
            <a:pPr marL="0" indent="0" algn="l">
              <a:buNone/>
            </a:pPr>
            <a:r>
              <a:rPr lang="en-US" sz="850" dirty="0">
                <a:solidFill>
                  <a:srgbClr val="333333"/>
                </a:solidFill>
                <a:latin typeface="Inter" pitchFamily="34" charset="0"/>
                <a:ea typeface="Inter" pitchFamily="34" charset="-122"/>
                <a:cs typeface="Inter" pitchFamily="34" charset="-120"/>
              </a:rPr>
              <a:t>Critical Operations</a:t>
            </a:r>
            <a:endParaRPr lang="en-US" sz="850" dirty="0"/>
          </a:p>
        </p:txBody>
      </p:sp>
      <p:sp>
        <p:nvSpPr>
          <p:cNvPr id="17" name="Shape 10"/>
          <p:cNvSpPr/>
          <p:nvPr/>
        </p:nvSpPr>
        <p:spPr>
          <a:xfrm>
            <a:off x="5052695" y="1271905"/>
            <a:ext cx="3662680" cy="3557270"/>
          </a:xfrm>
          <a:prstGeom prst="rect">
            <a:avLst/>
          </a:prstGeom>
          <a:solidFill>
            <a:srgbClr val="F3F4F6"/>
          </a:solidFill>
        </p:spPr>
      </p:sp>
      <p:sp>
        <p:nvSpPr>
          <p:cNvPr id="18" name="Text 11"/>
          <p:cNvSpPr/>
          <p:nvPr/>
        </p:nvSpPr>
        <p:spPr>
          <a:xfrm>
            <a:off x="5811496" y="1486218"/>
            <a:ext cx="2144911" cy="121444"/>
          </a:xfrm>
          <a:prstGeom prst="rect">
            <a:avLst/>
          </a:prstGeom>
          <a:noFill/>
        </p:spPr>
        <p:txBody>
          <a:bodyPr wrap="square" lIns="0" tIns="0" rIns="0" bIns="0" rtlCol="0" anchor="t">
            <a:spAutoFit/>
          </a:bodyPr>
          <a:lstStyle/>
          <a:p>
            <a:pPr marL="0" indent="0" algn="l">
              <a:buNone/>
            </a:pPr>
            <a:r>
              <a:rPr lang="en-US" sz="700" b="1" dirty="0">
                <a:solidFill>
                  <a:srgbClr val="000000"/>
                </a:solidFill>
                <a:latin typeface="Inter ExtraBold" pitchFamily="34" charset="0"/>
                <a:ea typeface="Inter ExtraBold" pitchFamily="34" charset="-122"/>
                <a:cs typeface="Inter ExtraBold" pitchFamily="34" charset="-120"/>
              </a:rPr>
              <a:t>CASE STUDY: UKRAINE POWER GRID (2015)</a:t>
            </a:r>
            <a:endParaRPr lang="en-US" sz="700" dirty="0"/>
          </a:p>
        </p:txBody>
      </p:sp>
      <p:sp>
        <p:nvSpPr>
          <p:cNvPr id="19" name="Shape 12"/>
          <p:cNvSpPr/>
          <p:nvPr/>
        </p:nvSpPr>
        <p:spPr>
          <a:xfrm>
            <a:off x="5266869" y="1750536"/>
            <a:ext cx="3234193" cy="514350"/>
          </a:xfrm>
          <a:prstGeom prst="rect">
            <a:avLst/>
          </a:prstGeom>
          <a:solidFill>
            <a:srgbClr val="FFFFFF"/>
          </a:solidFill>
          <a:ln w="9144">
            <a:solidFill>
              <a:srgbClr val="E5E7EB"/>
            </a:solidFill>
            <a:prstDash val="solid"/>
          </a:ln>
        </p:spPr>
      </p:sp>
      <p:sp>
        <p:nvSpPr>
          <p:cNvPr id="20" name="Shape 13"/>
          <p:cNvSpPr/>
          <p:nvPr/>
        </p:nvSpPr>
        <p:spPr>
          <a:xfrm>
            <a:off x="5409744" y="1857693"/>
            <a:ext cx="285750" cy="285750"/>
          </a:xfrm>
          <a:prstGeom prst="rect">
            <a:avLst/>
          </a:prstGeom>
          <a:solidFill>
            <a:srgbClr val="FACC15"/>
          </a:solidFill>
        </p:spPr>
      </p:sp>
      <p:pic>
        <p:nvPicPr>
          <p:cNvPr id="21" name="Image 4" descr="preencoded.png"/>
          <p:cNvPicPr>
            <a:picLocks noChangeAspect="1"/>
          </p:cNvPicPr>
          <p:nvPr/>
        </p:nvPicPr>
        <p:blipFill>
          <a:blip r:embed="rId5"/>
          <a:stretch>
            <a:fillRect/>
          </a:stretch>
        </p:blipFill>
        <p:spPr>
          <a:xfrm>
            <a:off x="5472252" y="1936274"/>
            <a:ext cx="160734" cy="128588"/>
          </a:xfrm>
          <a:prstGeom prst="rect">
            <a:avLst/>
          </a:prstGeom>
        </p:spPr>
      </p:pic>
      <p:sp>
        <p:nvSpPr>
          <p:cNvPr id="22" name="Text 14"/>
          <p:cNvSpPr/>
          <p:nvPr/>
        </p:nvSpPr>
        <p:spPr>
          <a:xfrm>
            <a:off x="5838369" y="1863050"/>
            <a:ext cx="1385888"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IT Network Breach</a:t>
            </a:r>
            <a:endParaRPr lang="en-US" sz="800" dirty="0"/>
          </a:p>
        </p:txBody>
      </p:sp>
      <p:sp>
        <p:nvSpPr>
          <p:cNvPr id="23" name="Text 15"/>
          <p:cNvSpPr/>
          <p:nvPr/>
        </p:nvSpPr>
        <p:spPr>
          <a:xfrm>
            <a:off x="5838369" y="2014855"/>
            <a:ext cx="1385888"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Initial entry via spearphishing</a:t>
            </a:r>
            <a:endParaRPr lang="en-US" sz="750" dirty="0"/>
          </a:p>
        </p:txBody>
      </p:sp>
      <p:pic>
        <p:nvPicPr>
          <p:cNvPr id="24" name="Image 5" descr="preencoded.png"/>
          <p:cNvPicPr>
            <a:picLocks noChangeAspect="1"/>
          </p:cNvPicPr>
          <p:nvPr/>
        </p:nvPicPr>
        <p:blipFill>
          <a:blip r:embed="rId6"/>
          <a:stretch>
            <a:fillRect/>
          </a:stretch>
        </p:blipFill>
        <p:spPr>
          <a:xfrm>
            <a:off x="6841089" y="2332752"/>
            <a:ext cx="85725" cy="114300"/>
          </a:xfrm>
          <a:prstGeom prst="rect">
            <a:avLst/>
          </a:prstGeom>
        </p:spPr>
      </p:pic>
      <p:sp>
        <p:nvSpPr>
          <p:cNvPr id="25" name="Shape 16"/>
          <p:cNvSpPr/>
          <p:nvPr/>
        </p:nvSpPr>
        <p:spPr>
          <a:xfrm>
            <a:off x="5266869" y="2530991"/>
            <a:ext cx="3234193" cy="514350"/>
          </a:xfrm>
          <a:prstGeom prst="rect">
            <a:avLst/>
          </a:prstGeom>
          <a:solidFill>
            <a:srgbClr val="FFFFFF"/>
          </a:solidFill>
          <a:ln w="9144">
            <a:solidFill>
              <a:srgbClr val="E5E7EB"/>
            </a:solidFill>
            <a:prstDash val="solid"/>
          </a:ln>
        </p:spPr>
      </p:sp>
      <p:sp>
        <p:nvSpPr>
          <p:cNvPr id="26" name="Shape 17"/>
          <p:cNvSpPr/>
          <p:nvPr/>
        </p:nvSpPr>
        <p:spPr>
          <a:xfrm>
            <a:off x="5409744" y="2638147"/>
            <a:ext cx="285750" cy="285750"/>
          </a:xfrm>
          <a:prstGeom prst="rect">
            <a:avLst/>
          </a:prstGeom>
          <a:solidFill>
            <a:srgbClr val="FACC15"/>
          </a:solidFill>
        </p:spPr>
      </p:sp>
      <p:pic>
        <p:nvPicPr>
          <p:cNvPr id="27" name="Image 6" descr="preencoded.png"/>
          <p:cNvPicPr>
            <a:picLocks noChangeAspect="1"/>
          </p:cNvPicPr>
          <p:nvPr/>
        </p:nvPicPr>
        <p:blipFill>
          <a:blip r:embed="rId7"/>
          <a:stretch>
            <a:fillRect/>
          </a:stretch>
        </p:blipFill>
        <p:spPr>
          <a:xfrm>
            <a:off x="5480289" y="2716728"/>
            <a:ext cx="144661" cy="128588"/>
          </a:xfrm>
          <a:prstGeom prst="rect">
            <a:avLst/>
          </a:prstGeom>
        </p:spPr>
      </p:pic>
      <p:sp>
        <p:nvSpPr>
          <p:cNvPr id="28" name="Text 18"/>
          <p:cNvSpPr/>
          <p:nvPr/>
        </p:nvSpPr>
        <p:spPr>
          <a:xfrm>
            <a:off x="5838369" y="2643505"/>
            <a:ext cx="1598414"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SCADA Environment</a:t>
            </a:r>
            <a:endParaRPr lang="en-US" sz="800" dirty="0"/>
          </a:p>
        </p:txBody>
      </p:sp>
      <p:sp>
        <p:nvSpPr>
          <p:cNvPr id="29" name="Text 19"/>
          <p:cNvSpPr/>
          <p:nvPr/>
        </p:nvSpPr>
        <p:spPr>
          <a:xfrm>
            <a:off x="5838369" y="2795310"/>
            <a:ext cx="1598414"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Pivot to industrial control systems</a:t>
            </a:r>
            <a:endParaRPr lang="en-US" sz="750" dirty="0"/>
          </a:p>
        </p:txBody>
      </p:sp>
      <p:pic>
        <p:nvPicPr>
          <p:cNvPr id="30" name="Image 7" descr="preencoded.png"/>
          <p:cNvPicPr>
            <a:picLocks noChangeAspect="1"/>
          </p:cNvPicPr>
          <p:nvPr/>
        </p:nvPicPr>
        <p:blipFill>
          <a:blip r:embed="rId8"/>
          <a:stretch>
            <a:fillRect/>
          </a:stretch>
        </p:blipFill>
        <p:spPr>
          <a:xfrm>
            <a:off x="6841089" y="3113207"/>
            <a:ext cx="85725" cy="114300"/>
          </a:xfrm>
          <a:prstGeom prst="rect">
            <a:avLst/>
          </a:prstGeom>
        </p:spPr>
      </p:pic>
      <p:sp>
        <p:nvSpPr>
          <p:cNvPr id="31" name="Shape 20"/>
          <p:cNvSpPr/>
          <p:nvPr/>
        </p:nvSpPr>
        <p:spPr>
          <a:xfrm>
            <a:off x="5266869" y="3311446"/>
            <a:ext cx="3234193" cy="514350"/>
          </a:xfrm>
          <a:prstGeom prst="rect">
            <a:avLst/>
          </a:prstGeom>
          <a:solidFill>
            <a:srgbClr val="FFFFFF"/>
          </a:solidFill>
          <a:ln w="9144">
            <a:solidFill>
              <a:srgbClr val="E5E7EB"/>
            </a:solidFill>
            <a:prstDash val="solid"/>
          </a:ln>
        </p:spPr>
      </p:sp>
      <p:sp>
        <p:nvSpPr>
          <p:cNvPr id="32" name="Shape 21"/>
          <p:cNvSpPr/>
          <p:nvPr/>
        </p:nvSpPr>
        <p:spPr>
          <a:xfrm>
            <a:off x="5409744" y="3418602"/>
            <a:ext cx="285750" cy="285750"/>
          </a:xfrm>
          <a:prstGeom prst="rect">
            <a:avLst/>
          </a:prstGeom>
          <a:solidFill>
            <a:srgbClr val="FACC15"/>
          </a:solidFill>
        </p:spPr>
      </p:sp>
      <p:pic>
        <p:nvPicPr>
          <p:cNvPr id="33" name="Image 8" descr="preencoded.png"/>
          <p:cNvPicPr>
            <a:picLocks noChangeAspect="1"/>
          </p:cNvPicPr>
          <p:nvPr/>
        </p:nvPicPr>
        <p:blipFill>
          <a:blip r:embed="rId9"/>
          <a:stretch>
            <a:fillRect/>
          </a:stretch>
        </p:blipFill>
        <p:spPr>
          <a:xfrm>
            <a:off x="5480289" y="3497183"/>
            <a:ext cx="144661" cy="128588"/>
          </a:xfrm>
          <a:prstGeom prst="rect">
            <a:avLst/>
          </a:prstGeom>
        </p:spPr>
      </p:pic>
      <p:sp>
        <p:nvSpPr>
          <p:cNvPr id="34" name="Text 22"/>
          <p:cNvSpPr/>
          <p:nvPr/>
        </p:nvSpPr>
        <p:spPr>
          <a:xfrm>
            <a:off x="5838369" y="3423960"/>
            <a:ext cx="1755577"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Breaker Control</a:t>
            </a:r>
            <a:endParaRPr lang="en-US" sz="800" dirty="0"/>
          </a:p>
        </p:txBody>
      </p:sp>
      <p:sp>
        <p:nvSpPr>
          <p:cNvPr id="35" name="Text 23"/>
          <p:cNvSpPr/>
          <p:nvPr/>
        </p:nvSpPr>
        <p:spPr>
          <a:xfrm>
            <a:off x="5838369" y="3575764"/>
            <a:ext cx="1755577"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Malicious opening of circuit breakers</a:t>
            </a:r>
            <a:endParaRPr lang="en-US" sz="750" dirty="0"/>
          </a:p>
        </p:txBody>
      </p:sp>
      <p:pic>
        <p:nvPicPr>
          <p:cNvPr id="36" name="Image 9" descr="preencoded.png"/>
          <p:cNvPicPr>
            <a:picLocks noChangeAspect="1"/>
          </p:cNvPicPr>
          <p:nvPr/>
        </p:nvPicPr>
        <p:blipFill>
          <a:blip r:embed="rId10"/>
          <a:stretch>
            <a:fillRect/>
          </a:stretch>
        </p:blipFill>
        <p:spPr>
          <a:xfrm>
            <a:off x="6841089" y="3893661"/>
            <a:ext cx="85725" cy="114300"/>
          </a:xfrm>
          <a:prstGeom prst="rect">
            <a:avLst/>
          </a:prstGeom>
        </p:spPr>
      </p:pic>
      <p:sp>
        <p:nvSpPr>
          <p:cNvPr id="37" name="Shape 24"/>
          <p:cNvSpPr/>
          <p:nvPr/>
        </p:nvSpPr>
        <p:spPr>
          <a:xfrm>
            <a:off x="5266869" y="4091900"/>
            <a:ext cx="3234193" cy="514350"/>
          </a:xfrm>
          <a:prstGeom prst="rect">
            <a:avLst/>
          </a:prstGeom>
          <a:solidFill>
            <a:srgbClr val="FFFFFF"/>
          </a:solidFill>
          <a:ln w="9144">
            <a:solidFill>
              <a:srgbClr val="000000"/>
            </a:solidFill>
            <a:prstDash val="solid"/>
          </a:ln>
        </p:spPr>
      </p:sp>
      <p:sp>
        <p:nvSpPr>
          <p:cNvPr id="38" name="Shape 25"/>
          <p:cNvSpPr/>
          <p:nvPr/>
        </p:nvSpPr>
        <p:spPr>
          <a:xfrm>
            <a:off x="5409744" y="4199057"/>
            <a:ext cx="285750" cy="285750"/>
          </a:xfrm>
          <a:prstGeom prst="rect">
            <a:avLst/>
          </a:prstGeom>
          <a:solidFill>
            <a:srgbClr val="000000"/>
          </a:solidFill>
        </p:spPr>
      </p:sp>
      <p:pic>
        <p:nvPicPr>
          <p:cNvPr id="39" name="Image 10" descr="preencoded.png"/>
          <p:cNvPicPr>
            <a:picLocks noChangeAspect="1"/>
          </p:cNvPicPr>
          <p:nvPr/>
        </p:nvPicPr>
        <p:blipFill>
          <a:blip r:embed="rId11"/>
          <a:stretch>
            <a:fillRect/>
          </a:stretch>
        </p:blipFill>
        <p:spPr>
          <a:xfrm>
            <a:off x="5504399" y="4277638"/>
            <a:ext cx="96441" cy="128588"/>
          </a:xfrm>
          <a:prstGeom prst="rect">
            <a:avLst/>
          </a:prstGeom>
        </p:spPr>
      </p:pic>
      <p:sp>
        <p:nvSpPr>
          <p:cNvPr id="40" name="Text 26"/>
          <p:cNvSpPr/>
          <p:nvPr/>
        </p:nvSpPr>
        <p:spPr>
          <a:xfrm>
            <a:off x="5838369" y="4204414"/>
            <a:ext cx="1762720" cy="137517"/>
          </a:xfrm>
          <a:prstGeom prst="rect">
            <a:avLst/>
          </a:prstGeom>
          <a:noFill/>
        </p:spPr>
        <p:txBody>
          <a:bodyPr wrap="square" lIns="0" tIns="0" rIns="0" bIns="0" rtlCol="0" anchor="t">
            <a:spAutoFit/>
          </a:bodyPr>
          <a:lstStyle/>
          <a:p>
            <a:pPr marL="0" indent="0" algn="l">
              <a:buNone/>
            </a:pPr>
            <a:r>
              <a:rPr lang="en-US" sz="800" b="1" dirty="0">
                <a:solidFill>
                  <a:srgbClr val="000000"/>
                </a:solidFill>
                <a:latin typeface="Inter ExtraBold" pitchFamily="34" charset="0"/>
                <a:ea typeface="Inter ExtraBold" pitchFamily="34" charset="-122"/>
                <a:cs typeface="Inter ExtraBold" pitchFamily="34" charset="-120"/>
              </a:rPr>
              <a:t>Physical Impact</a:t>
            </a:r>
            <a:endParaRPr lang="en-US" sz="800" dirty="0"/>
          </a:p>
        </p:txBody>
      </p:sp>
      <p:sp>
        <p:nvSpPr>
          <p:cNvPr id="41" name="Text 27"/>
          <p:cNvSpPr/>
          <p:nvPr/>
        </p:nvSpPr>
        <p:spPr>
          <a:xfrm>
            <a:off x="5838369" y="4356219"/>
            <a:ext cx="1762720" cy="121444"/>
          </a:xfrm>
          <a:prstGeom prst="rect">
            <a:avLst/>
          </a:prstGeom>
          <a:noFill/>
        </p:spPr>
        <p:txBody>
          <a:bodyPr wrap="square" lIns="0" tIns="0" rIns="0" bIns="0" rtlCol="0" anchor="t">
            <a:spAutoFit/>
          </a:bodyPr>
          <a:lstStyle/>
          <a:p>
            <a:pPr marL="0" indent="0" algn="l">
              <a:buNone/>
            </a:pPr>
            <a:r>
              <a:rPr lang="en-US" sz="750" dirty="0">
                <a:solidFill>
                  <a:srgbClr val="666666"/>
                </a:solidFill>
                <a:latin typeface="Inter" pitchFamily="34" charset="0"/>
                <a:ea typeface="Inter" pitchFamily="34" charset="-122"/>
                <a:cs typeface="Inter" pitchFamily="34" charset="-120"/>
              </a:rPr>
              <a:t>Power outage for 225,000 customers</a:t>
            </a:r>
            <a:endParaRPr lang="en-US" sz="750" dirty="0"/>
          </a:p>
        </p:txBody>
      </p:sp>
      <p:sp>
        <p:nvSpPr>
          <p:cNvPr id="42" name="Shape 28"/>
          <p:cNvSpPr/>
          <p:nvPr/>
        </p:nvSpPr>
        <p:spPr>
          <a:xfrm>
            <a:off x="428625" y="4738370"/>
            <a:ext cx="4636770" cy="280670"/>
          </a:xfrm>
          <a:prstGeom prst="rect">
            <a:avLst/>
          </a:prstGeom>
          <a:solidFill>
            <a:srgbClr val="000000"/>
          </a:solidFill>
        </p:spPr>
      </p:sp>
      <p:sp>
        <p:nvSpPr>
          <p:cNvPr id="43" name="Text 29"/>
          <p:cNvSpPr/>
          <p:nvPr/>
        </p:nvSpPr>
        <p:spPr>
          <a:xfrm>
            <a:off x="382905" y="4730710"/>
            <a:ext cx="5141714" cy="280392"/>
          </a:xfrm>
          <a:prstGeom prst="rect">
            <a:avLst/>
          </a:prstGeom>
          <a:noFill/>
        </p:spPr>
        <p:txBody>
          <a:bodyPr wrap="square" lIns="170053" tIns="85090" rIns="170053" bIns="85090" rtlCol="0" anchor="t">
            <a:spAutoFit/>
          </a:bodyPr>
          <a:lstStyle/>
          <a:p>
            <a:pPr marL="0" indent="0" algn="l">
              <a:buNone/>
            </a:pPr>
            <a:r>
              <a:rPr lang="en-US" sz="800" dirty="0">
                <a:solidFill>
                  <a:srgbClr val="FFFFFF"/>
                </a:solidFill>
                <a:latin typeface="Inter SemiBold" pitchFamily="34" charset="0"/>
                <a:ea typeface="Inter SemiBold" pitchFamily="34" charset="-122"/>
                <a:cs typeface="Inter SemiBold" pitchFamily="34" charset="-120"/>
              </a:rPr>
              <a:t>Final Takeaway: Cyber attacks can move beyond data to create physical consequences.</a:t>
            </a:r>
            <a:endParaRPr lang="en-US" sz="800" dirty="0"/>
          </a:p>
        </p:txBody>
      </p:sp>
      <p:sp>
        <p:nvSpPr>
          <p:cNvPr id="44" name="Text 30"/>
          <p:cNvSpPr/>
          <p:nvPr/>
        </p:nvSpPr>
        <p:spPr>
          <a:xfrm>
            <a:off x="428625" y="5088136"/>
            <a:ext cx="8286750" cy="155377"/>
          </a:xfrm>
          <a:prstGeom prst="rect">
            <a:avLst/>
          </a:prstGeom>
          <a:noFill/>
        </p:spPr>
        <p:txBody>
          <a:bodyPr wrap="square" lIns="0" tIns="0" rIns="0" bIns="0" rtlCol="0" anchor="t">
            <a:spAutoFit/>
          </a:bodyPr>
          <a:lstStyle/>
          <a:p>
            <a:pPr marL="0" indent="0" algn="ctr">
              <a:buNone/>
            </a:pPr>
            <a:r>
              <a:rPr lang="en-US" sz="950" dirty="0">
                <a:solidFill>
                  <a:srgbClr val="000000"/>
                </a:solidFill>
                <a:latin typeface="Inter" pitchFamily="34" charset="0"/>
                <a:ea typeface="Inter" pitchFamily="34" charset="-122"/>
                <a:cs typeface="Inter" pitchFamily="34" charset="-120"/>
              </a:rPr>
              <a:t>Hiddeninvestigations.Net</a:t>
            </a:r>
            <a:endParaRPr lang="en-US" sz="950" dirty="0"/>
          </a:p>
        </p:txBody>
      </p:sp>
      <p:sp>
        <p:nvSpPr>
          <p:cNvPr id="2" name="Text 3"/>
          <p:cNvSpPr/>
          <p:nvPr/>
        </p:nvSpPr>
        <p:spPr>
          <a:xfrm>
            <a:off x="8197017" y="477599"/>
            <a:ext cx="433070"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24</a:t>
            </a:r>
            <a:endParaRPr lang="en-US" sz="3300" dirty="0"/>
          </a:p>
        </p:txBody>
      </p:sp>
      <p:sp>
        <p:nvSpPr>
          <p:cNvPr id="45" name="Oval 44"/>
          <p:cNvSpPr/>
          <p:nvPr/>
        </p:nvSpPr>
        <p:spPr>
          <a:xfrm>
            <a:off x="842645" y="339090"/>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342114" y="4018359"/>
            <a:ext cx="432435"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25</a:t>
            </a:r>
            <a:endParaRPr lang="en-US" sz="3300" dirty="0"/>
          </a:p>
        </p:txBody>
      </p:sp>
      <p:sp>
        <p:nvSpPr>
          <p:cNvPr id="7" name="Text 4"/>
          <p:cNvSpPr/>
          <p:nvPr/>
        </p:nvSpPr>
        <p:spPr>
          <a:xfrm>
            <a:off x="428625" y="714375"/>
            <a:ext cx="8286750" cy="617209"/>
          </a:xfrm>
          <a:prstGeom prst="rect">
            <a:avLst/>
          </a:prstGeom>
          <a:noFill/>
        </p:spPr>
        <p:txBody>
          <a:bodyPr wrap="square" lIns="0" tIns="0" rIns="0" bIns="0" rtlCol="0" anchor="t">
            <a:spAutoFit/>
          </a:bodyPr>
          <a:lstStyle/>
          <a:p>
            <a:pPr marL="0" indent="0" algn="l">
              <a:lnSpc>
                <a:spcPct val="96000"/>
              </a:lnSpc>
              <a:buNone/>
            </a:pPr>
            <a:r>
              <a:rPr lang="en-US" sz="1800" b="1" dirty="0">
                <a:solidFill>
                  <a:srgbClr val="000000"/>
                </a:solidFill>
                <a:latin typeface="Inter Black" pitchFamily="34" charset="0"/>
                <a:ea typeface="Inter Black" pitchFamily="34" charset="-122"/>
                <a:cs typeface="Inter Black" pitchFamily="34" charset="-120"/>
              </a:rPr>
              <a:t>Some Attacks Don't Steal Data. They Turn Off the Lights.</a:t>
            </a:r>
            <a:r>
              <a:rPr lang="en-US" sz="1800" b="1" dirty="0">
                <a:solidFill>
                  <a:srgbClr val="000000"/>
                </a:solidFill>
                <a:latin typeface="Inter Black" pitchFamily="34" charset="0"/>
                <a:ea typeface="Inter Black" pitchFamily="34" charset="-122"/>
                <a:cs typeface="Inter Black" pitchFamily="34" charset="-120"/>
              </a:rPr>
              <a:t>
</a:t>
            </a:r>
            <a:r>
              <a:rPr lang="en-US" sz="1800" b="1" dirty="0">
                <a:solidFill>
                  <a:srgbClr val="000000"/>
                </a:solidFill>
                <a:latin typeface="Inter Black" pitchFamily="34" charset="0"/>
                <a:ea typeface="Inter Black" pitchFamily="34" charset="-122"/>
                <a:cs typeface="Inter Black" pitchFamily="34" charset="-120"/>
              </a:rPr>
              <a:t>They Poison the Water.</a:t>
            </a:r>
            <a:endParaRPr lang="en-US" sz="1800" dirty="0"/>
          </a:p>
        </p:txBody>
      </p:sp>
      <p:sp>
        <p:nvSpPr>
          <p:cNvPr id="8" name="Shape 5"/>
          <p:cNvSpPr/>
          <p:nvPr/>
        </p:nvSpPr>
        <p:spPr>
          <a:xfrm>
            <a:off x="428625" y="1510178"/>
            <a:ext cx="4079081" cy="905470"/>
          </a:xfrm>
          <a:prstGeom prst="rect">
            <a:avLst/>
          </a:prstGeom>
          <a:solidFill>
            <a:srgbClr val="FFF5F5"/>
          </a:solidFill>
          <a:ln w="18288">
            <a:solidFill>
              <a:srgbClr val="D9381E"/>
            </a:solidFill>
            <a:prstDash val="solid"/>
          </a:ln>
        </p:spPr>
      </p:sp>
      <p:pic>
        <p:nvPicPr>
          <p:cNvPr id="9" name="Image 1" descr="preencoded.png"/>
          <p:cNvPicPr>
            <a:picLocks noChangeAspect="1"/>
          </p:cNvPicPr>
          <p:nvPr/>
        </p:nvPicPr>
        <p:blipFill>
          <a:blip r:embed="rId2"/>
          <a:stretch>
            <a:fillRect/>
          </a:stretch>
        </p:blipFill>
        <p:spPr>
          <a:xfrm>
            <a:off x="1066205" y="1726276"/>
            <a:ext cx="257175" cy="342900"/>
          </a:xfrm>
          <a:prstGeom prst="rect">
            <a:avLst/>
          </a:prstGeom>
        </p:spPr>
      </p:pic>
      <p:sp>
        <p:nvSpPr>
          <p:cNvPr id="10" name="Text 6"/>
          <p:cNvSpPr/>
          <p:nvPr/>
        </p:nvSpPr>
        <p:spPr>
          <a:xfrm>
            <a:off x="966192" y="2144185"/>
            <a:ext cx="457200" cy="87511"/>
          </a:xfrm>
          <a:prstGeom prst="rect">
            <a:avLst/>
          </a:prstGeom>
          <a:noFill/>
        </p:spPr>
        <p:txBody>
          <a:bodyPr wrap="none" lIns="0" tIns="0" rIns="0" bIns="0" rtlCol="0" anchor="t">
            <a:spAutoFit/>
          </a:bodyPr>
          <a:lstStyle/>
          <a:p>
            <a:pPr marL="0" indent="0" algn="ctr">
              <a:buNone/>
            </a:pPr>
            <a:r>
              <a:rPr lang="en-US" sz="500" b="1" dirty="0">
                <a:solidFill>
                  <a:srgbClr val="D9381E"/>
                </a:solidFill>
                <a:latin typeface="Inter Black" pitchFamily="34" charset="0"/>
                <a:ea typeface="Inter Black" pitchFamily="34" charset="-122"/>
                <a:cs typeface="Inter Black" pitchFamily="34" charset="-120"/>
              </a:rPr>
              <a:t>POWER GRID</a:t>
            </a:r>
            <a:endParaRPr lang="en-US" sz="500" dirty="0"/>
          </a:p>
        </p:txBody>
      </p:sp>
      <p:pic>
        <p:nvPicPr>
          <p:cNvPr id="11" name="Image 2" descr="preencoded.png"/>
          <p:cNvPicPr>
            <a:picLocks noChangeAspect="1"/>
          </p:cNvPicPr>
          <p:nvPr/>
        </p:nvPicPr>
        <p:blipFill>
          <a:blip r:embed="rId3"/>
          <a:stretch>
            <a:fillRect/>
          </a:stretch>
        </p:blipFill>
        <p:spPr>
          <a:xfrm>
            <a:off x="2346722" y="1726276"/>
            <a:ext cx="257175" cy="342900"/>
          </a:xfrm>
          <a:prstGeom prst="rect">
            <a:avLst/>
          </a:prstGeom>
        </p:spPr>
      </p:pic>
      <p:sp>
        <p:nvSpPr>
          <p:cNvPr id="12" name="Text 7"/>
          <p:cNvSpPr/>
          <p:nvPr/>
        </p:nvSpPr>
        <p:spPr>
          <a:xfrm>
            <a:off x="2212777" y="2144185"/>
            <a:ext cx="525066" cy="87511"/>
          </a:xfrm>
          <a:prstGeom prst="rect">
            <a:avLst/>
          </a:prstGeom>
          <a:noFill/>
        </p:spPr>
        <p:txBody>
          <a:bodyPr wrap="none" lIns="0" tIns="0" rIns="0" bIns="0" rtlCol="0" anchor="t">
            <a:spAutoFit/>
          </a:bodyPr>
          <a:lstStyle/>
          <a:p>
            <a:pPr marL="0" indent="0" algn="ctr">
              <a:buNone/>
            </a:pPr>
            <a:r>
              <a:rPr lang="en-US" sz="500" b="1" dirty="0">
                <a:solidFill>
                  <a:srgbClr val="D9381E"/>
                </a:solidFill>
                <a:latin typeface="Inter Black" pitchFamily="34" charset="0"/>
                <a:ea typeface="Inter Black" pitchFamily="34" charset="-122"/>
                <a:cs typeface="Inter Black" pitchFamily="34" charset="-120"/>
              </a:rPr>
              <a:t>WATER PLANT</a:t>
            </a:r>
            <a:endParaRPr lang="en-US" sz="500" dirty="0"/>
          </a:p>
        </p:txBody>
      </p:sp>
      <p:pic>
        <p:nvPicPr>
          <p:cNvPr id="13" name="Image 3" descr="preencoded.png"/>
          <p:cNvPicPr>
            <a:picLocks noChangeAspect="1"/>
          </p:cNvPicPr>
          <p:nvPr/>
        </p:nvPicPr>
        <p:blipFill>
          <a:blip r:embed="rId4"/>
          <a:stretch>
            <a:fillRect/>
          </a:stretch>
        </p:blipFill>
        <p:spPr>
          <a:xfrm>
            <a:off x="3527227" y="1726276"/>
            <a:ext cx="428625" cy="342900"/>
          </a:xfrm>
          <a:prstGeom prst="rect">
            <a:avLst/>
          </a:prstGeom>
        </p:spPr>
      </p:pic>
      <p:sp>
        <p:nvSpPr>
          <p:cNvPr id="14" name="Text 8"/>
          <p:cNvSpPr/>
          <p:nvPr/>
        </p:nvSpPr>
        <p:spPr>
          <a:xfrm>
            <a:off x="3527227" y="2144185"/>
            <a:ext cx="428625" cy="87511"/>
          </a:xfrm>
          <a:prstGeom prst="rect">
            <a:avLst/>
          </a:prstGeom>
          <a:noFill/>
        </p:spPr>
        <p:txBody>
          <a:bodyPr wrap="none" lIns="0" tIns="0" rIns="0" bIns="0" rtlCol="0" anchor="t">
            <a:spAutoFit/>
          </a:bodyPr>
          <a:lstStyle/>
          <a:p>
            <a:pPr marL="0" indent="0" algn="ctr">
              <a:buNone/>
            </a:pPr>
            <a:r>
              <a:rPr lang="en-US" sz="500" b="1" dirty="0">
                <a:solidFill>
                  <a:srgbClr val="D9381E"/>
                </a:solidFill>
                <a:latin typeface="Inter Black" pitchFamily="34" charset="0"/>
                <a:ea typeface="Inter Black" pitchFamily="34" charset="-122"/>
                <a:cs typeface="Inter Black" pitchFamily="34" charset="-120"/>
              </a:rPr>
              <a:t>PIPELINES</a:t>
            </a:r>
            <a:endParaRPr lang="en-US" sz="500" dirty="0"/>
          </a:p>
        </p:txBody>
      </p:sp>
      <p:sp>
        <p:nvSpPr>
          <p:cNvPr id="15" name="Shape 9"/>
          <p:cNvSpPr/>
          <p:nvPr/>
        </p:nvSpPr>
        <p:spPr>
          <a:xfrm>
            <a:off x="4707731" y="1510178"/>
            <a:ext cx="4007644" cy="905470"/>
          </a:xfrm>
          <a:prstGeom prst="rect">
            <a:avLst/>
          </a:prstGeom>
          <a:solidFill>
            <a:srgbClr val="F9F9F9"/>
          </a:solidFill>
          <a:ln w="9144">
            <a:solidFill>
              <a:srgbClr val="EEEEEE"/>
            </a:solidFill>
            <a:prstDash val="solid"/>
          </a:ln>
        </p:spPr>
      </p:sp>
      <p:sp>
        <p:nvSpPr>
          <p:cNvPr id="16" name="Text 10"/>
          <p:cNvSpPr/>
          <p:nvPr/>
        </p:nvSpPr>
        <p:spPr>
          <a:xfrm>
            <a:off x="4822031" y="1617334"/>
            <a:ext cx="3786188" cy="105370"/>
          </a:xfrm>
          <a:prstGeom prst="rect">
            <a:avLst/>
          </a:prstGeom>
          <a:noFill/>
        </p:spPr>
        <p:txBody>
          <a:bodyPr wrap="square" lIns="0" tIns="0" rIns="0" bIns="0" rtlCol="0" anchor="t">
            <a:spAutoFit/>
          </a:bodyPr>
          <a:lstStyle/>
          <a:p>
            <a:pPr marL="0" indent="0" algn="l">
              <a:buNone/>
            </a:pPr>
            <a:r>
              <a:rPr lang="en-US" sz="600" b="1" dirty="0">
                <a:solidFill>
                  <a:srgbClr val="666666"/>
                </a:solidFill>
                <a:latin typeface="Inter Black" pitchFamily="34" charset="0"/>
                <a:ea typeface="Inter Black" pitchFamily="34" charset="-122"/>
                <a:cs typeface="Inter Black" pitchFamily="34" charset="-120"/>
              </a:rPr>
              <a:t>ATT&amp;CK FOR ICS SNIPPET</a:t>
            </a:r>
            <a:endParaRPr lang="en-US" sz="600" dirty="0"/>
          </a:p>
        </p:txBody>
      </p:sp>
      <p:sp>
        <p:nvSpPr>
          <p:cNvPr id="17" name="Shape 11"/>
          <p:cNvSpPr/>
          <p:nvPr/>
        </p:nvSpPr>
        <p:spPr>
          <a:xfrm>
            <a:off x="4822031" y="1794142"/>
            <a:ext cx="1238241" cy="214313"/>
          </a:xfrm>
          <a:prstGeom prst="rect">
            <a:avLst/>
          </a:prstGeom>
          <a:solidFill>
            <a:srgbClr val="FFFFFF"/>
          </a:solidFill>
          <a:ln w="9144">
            <a:solidFill>
              <a:srgbClr val="DDDDDD"/>
            </a:solidFill>
            <a:prstDash val="solid"/>
          </a:ln>
        </p:spPr>
      </p:sp>
      <p:sp>
        <p:nvSpPr>
          <p:cNvPr id="18" name="Text 12"/>
          <p:cNvSpPr/>
          <p:nvPr/>
        </p:nvSpPr>
        <p:spPr>
          <a:xfrm>
            <a:off x="4822031" y="1794142"/>
            <a:ext cx="1238241" cy="214313"/>
          </a:xfrm>
          <a:prstGeom prst="rect">
            <a:avLst/>
          </a:prstGeom>
          <a:noFill/>
        </p:spPr>
        <p:txBody>
          <a:bodyPr wrap="none" lIns="0" tIns="0" rIns="0" bIns="0" rtlCol="0" anchor="ctr">
            <a:spAutoFit/>
          </a:bodyPr>
          <a:lstStyle/>
          <a:p>
            <a:pPr marL="0" indent="0" algn="ctr">
              <a:buNone/>
            </a:pPr>
            <a:r>
              <a:rPr lang="en-US" sz="450" dirty="0">
                <a:solidFill>
                  <a:srgbClr val="000000"/>
                </a:solidFill>
                <a:latin typeface="Inter" pitchFamily="34" charset="0"/>
                <a:ea typeface="Inter" pitchFamily="34" charset="-122"/>
                <a:cs typeface="Inter" pitchFamily="34" charset="-120"/>
              </a:rPr>
              <a:t>Inhibit Response</a:t>
            </a:r>
            <a:endParaRPr lang="en-US" sz="450" dirty="0"/>
          </a:p>
        </p:txBody>
      </p:sp>
      <p:sp>
        <p:nvSpPr>
          <p:cNvPr id="19" name="Shape 13"/>
          <p:cNvSpPr/>
          <p:nvPr/>
        </p:nvSpPr>
        <p:spPr>
          <a:xfrm>
            <a:off x="6086475" y="1794142"/>
            <a:ext cx="1243013" cy="214313"/>
          </a:xfrm>
          <a:prstGeom prst="rect">
            <a:avLst/>
          </a:prstGeom>
          <a:solidFill>
            <a:srgbClr val="F5C518"/>
          </a:solidFill>
          <a:ln w="9144">
            <a:solidFill>
              <a:srgbClr val="F5C518"/>
            </a:solidFill>
            <a:prstDash val="solid"/>
          </a:ln>
        </p:spPr>
      </p:sp>
      <p:sp>
        <p:nvSpPr>
          <p:cNvPr id="20" name="Text 14"/>
          <p:cNvSpPr/>
          <p:nvPr/>
        </p:nvSpPr>
        <p:spPr>
          <a:xfrm>
            <a:off x="6086475" y="1794142"/>
            <a:ext cx="1243013" cy="214313"/>
          </a:xfrm>
          <a:prstGeom prst="rect">
            <a:avLst/>
          </a:prstGeom>
          <a:noFill/>
        </p:spPr>
        <p:txBody>
          <a:bodyPr wrap="none" lIns="0" tIns="0" rIns="0" bIns="0" rtlCol="0" anchor="ctr">
            <a:spAutoFit/>
          </a:bodyPr>
          <a:lstStyle/>
          <a:p>
            <a:pPr marL="0" indent="0" algn="ctr">
              <a:buNone/>
            </a:pPr>
            <a:r>
              <a:rPr lang="en-US" sz="450" b="1" dirty="0">
                <a:solidFill>
                  <a:srgbClr val="000000"/>
                </a:solidFill>
                <a:latin typeface="Inter Bold" pitchFamily="34" charset="0"/>
                <a:ea typeface="Inter Bold" pitchFamily="34" charset="-122"/>
                <a:cs typeface="Inter Bold" pitchFamily="34" charset="-120"/>
              </a:rPr>
              <a:t>Manipulate Control</a:t>
            </a:r>
            <a:endParaRPr lang="en-US" sz="450" dirty="0"/>
          </a:p>
        </p:txBody>
      </p:sp>
      <p:sp>
        <p:nvSpPr>
          <p:cNvPr id="21" name="Shape 15"/>
          <p:cNvSpPr/>
          <p:nvPr/>
        </p:nvSpPr>
        <p:spPr>
          <a:xfrm>
            <a:off x="7360462" y="1794142"/>
            <a:ext cx="1247784" cy="214313"/>
          </a:xfrm>
          <a:prstGeom prst="rect">
            <a:avLst/>
          </a:prstGeom>
          <a:solidFill>
            <a:srgbClr val="FFFFFF"/>
          </a:solidFill>
          <a:ln w="9144">
            <a:solidFill>
              <a:srgbClr val="DDDDDD"/>
            </a:solidFill>
            <a:prstDash val="solid"/>
          </a:ln>
        </p:spPr>
      </p:sp>
      <p:sp>
        <p:nvSpPr>
          <p:cNvPr id="22" name="Text 16"/>
          <p:cNvSpPr/>
          <p:nvPr/>
        </p:nvSpPr>
        <p:spPr>
          <a:xfrm>
            <a:off x="7360462" y="1794142"/>
            <a:ext cx="1247784" cy="214313"/>
          </a:xfrm>
          <a:prstGeom prst="rect">
            <a:avLst/>
          </a:prstGeom>
          <a:noFill/>
        </p:spPr>
        <p:txBody>
          <a:bodyPr wrap="none" lIns="0" tIns="0" rIns="0" bIns="0" rtlCol="0" anchor="ctr">
            <a:spAutoFit/>
          </a:bodyPr>
          <a:lstStyle/>
          <a:p>
            <a:pPr marL="0" indent="0" algn="ctr">
              <a:buNone/>
            </a:pPr>
            <a:r>
              <a:rPr lang="en-US" sz="450" dirty="0">
                <a:solidFill>
                  <a:srgbClr val="000000"/>
                </a:solidFill>
                <a:latin typeface="Inter" pitchFamily="34" charset="0"/>
                <a:ea typeface="Inter" pitchFamily="34" charset="-122"/>
                <a:cs typeface="Inter" pitchFamily="34" charset="-120"/>
              </a:rPr>
              <a:t>Impede Safety</a:t>
            </a:r>
            <a:endParaRPr lang="en-US" sz="450" dirty="0"/>
          </a:p>
        </p:txBody>
      </p:sp>
      <p:sp>
        <p:nvSpPr>
          <p:cNvPr id="23" name="Shape 17"/>
          <p:cNvSpPr/>
          <p:nvPr/>
        </p:nvSpPr>
        <p:spPr>
          <a:xfrm>
            <a:off x="4822031" y="2044173"/>
            <a:ext cx="1238241" cy="214313"/>
          </a:xfrm>
          <a:prstGeom prst="rect">
            <a:avLst/>
          </a:prstGeom>
          <a:solidFill>
            <a:srgbClr val="FFFFFF"/>
          </a:solidFill>
          <a:ln w="9144">
            <a:solidFill>
              <a:srgbClr val="DDDDDD"/>
            </a:solidFill>
            <a:prstDash val="solid"/>
          </a:ln>
        </p:spPr>
      </p:sp>
      <p:sp>
        <p:nvSpPr>
          <p:cNvPr id="24" name="Text 18"/>
          <p:cNvSpPr/>
          <p:nvPr/>
        </p:nvSpPr>
        <p:spPr>
          <a:xfrm>
            <a:off x="4822031" y="2044173"/>
            <a:ext cx="1238241" cy="214313"/>
          </a:xfrm>
          <a:prstGeom prst="rect">
            <a:avLst/>
          </a:prstGeom>
          <a:noFill/>
        </p:spPr>
        <p:txBody>
          <a:bodyPr wrap="none" lIns="0" tIns="0" rIns="0" bIns="0" rtlCol="0" anchor="ctr">
            <a:spAutoFit/>
          </a:bodyPr>
          <a:lstStyle/>
          <a:p>
            <a:pPr marL="0" indent="0" algn="ctr">
              <a:buNone/>
            </a:pPr>
            <a:r>
              <a:rPr lang="en-US" sz="450" dirty="0">
                <a:solidFill>
                  <a:srgbClr val="000000"/>
                </a:solidFill>
                <a:latin typeface="Inter" pitchFamily="34" charset="0"/>
                <a:ea typeface="Inter" pitchFamily="34" charset="-122"/>
                <a:cs typeface="Inter" pitchFamily="34" charset="-120"/>
              </a:rPr>
              <a:t>T0831</a:t>
            </a:r>
            <a:endParaRPr lang="en-US" sz="450" dirty="0"/>
          </a:p>
        </p:txBody>
      </p:sp>
      <p:sp>
        <p:nvSpPr>
          <p:cNvPr id="25" name="Shape 19"/>
          <p:cNvSpPr/>
          <p:nvPr/>
        </p:nvSpPr>
        <p:spPr>
          <a:xfrm>
            <a:off x="6086475" y="2044173"/>
            <a:ext cx="1243013" cy="214313"/>
          </a:xfrm>
          <a:prstGeom prst="rect">
            <a:avLst/>
          </a:prstGeom>
          <a:solidFill>
            <a:srgbClr val="F5C518"/>
          </a:solidFill>
          <a:ln w="9144">
            <a:solidFill>
              <a:srgbClr val="F5C518"/>
            </a:solidFill>
            <a:prstDash val="solid"/>
          </a:ln>
        </p:spPr>
      </p:sp>
      <p:sp>
        <p:nvSpPr>
          <p:cNvPr id="26" name="Text 20"/>
          <p:cNvSpPr/>
          <p:nvPr/>
        </p:nvSpPr>
        <p:spPr>
          <a:xfrm>
            <a:off x="6086475" y="2044173"/>
            <a:ext cx="1243013" cy="214313"/>
          </a:xfrm>
          <a:prstGeom prst="rect">
            <a:avLst/>
          </a:prstGeom>
          <a:noFill/>
        </p:spPr>
        <p:txBody>
          <a:bodyPr wrap="none" lIns="0" tIns="0" rIns="0" bIns="0" rtlCol="0" anchor="ctr">
            <a:spAutoFit/>
          </a:bodyPr>
          <a:lstStyle/>
          <a:p>
            <a:pPr marL="0" indent="0" algn="ctr">
              <a:buNone/>
            </a:pPr>
            <a:r>
              <a:rPr lang="en-US" sz="450" b="1" dirty="0">
                <a:solidFill>
                  <a:srgbClr val="000000"/>
                </a:solidFill>
                <a:latin typeface="Inter Bold" pitchFamily="34" charset="0"/>
                <a:ea typeface="Inter Bold" pitchFamily="34" charset="-122"/>
                <a:cs typeface="Inter Bold" pitchFamily="34" charset="-120"/>
              </a:rPr>
              <a:t>T0855</a:t>
            </a:r>
            <a:endParaRPr lang="en-US" sz="450" dirty="0"/>
          </a:p>
        </p:txBody>
      </p:sp>
      <p:sp>
        <p:nvSpPr>
          <p:cNvPr id="27" name="Shape 21"/>
          <p:cNvSpPr/>
          <p:nvPr/>
        </p:nvSpPr>
        <p:spPr>
          <a:xfrm>
            <a:off x="7360462" y="2044173"/>
            <a:ext cx="1247784" cy="214313"/>
          </a:xfrm>
          <a:prstGeom prst="rect">
            <a:avLst/>
          </a:prstGeom>
          <a:solidFill>
            <a:srgbClr val="FFFFFF"/>
          </a:solidFill>
          <a:ln w="9144">
            <a:solidFill>
              <a:srgbClr val="DDDDDD"/>
            </a:solidFill>
            <a:prstDash val="solid"/>
          </a:ln>
        </p:spPr>
      </p:sp>
      <p:sp>
        <p:nvSpPr>
          <p:cNvPr id="28" name="Text 22"/>
          <p:cNvSpPr/>
          <p:nvPr/>
        </p:nvSpPr>
        <p:spPr>
          <a:xfrm>
            <a:off x="7360462" y="2044173"/>
            <a:ext cx="1247784" cy="214313"/>
          </a:xfrm>
          <a:prstGeom prst="rect">
            <a:avLst/>
          </a:prstGeom>
          <a:noFill/>
        </p:spPr>
        <p:txBody>
          <a:bodyPr wrap="none" lIns="0" tIns="0" rIns="0" bIns="0" rtlCol="0" anchor="ctr">
            <a:spAutoFit/>
          </a:bodyPr>
          <a:lstStyle/>
          <a:p>
            <a:pPr marL="0" indent="0" algn="ctr">
              <a:buNone/>
            </a:pPr>
            <a:r>
              <a:rPr lang="en-US" sz="450" dirty="0">
                <a:solidFill>
                  <a:srgbClr val="000000"/>
                </a:solidFill>
                <a:latin typeface="Inter" pitchFamily="34" charset="0"/>
                <a:ea typeface="Inter" pitchFamily="34" charset="-122"/>
                <a:cs typeface="Inter" pitchFamily="34" charset="-120"/>
              </a:rPr>
              <a:t>T0880</a:t>
            </a:r>
            <a:endParaRPr lang="en-US" sz="450" dirty="0"/>
          </a:p>
        </p:txBody>
      </p:sp>
      <p:pic>
        <p:nvPicPr>
          <p:cNvPr id="29" name="Image 4" descr="preencoded.png"/>
          <p:cNvPicPr>
            <a:picLocks noChangeAspect="1"/>
          </p:cNvPicPr>
          <p:nvPr/>
        </p:nvPicPr>
        <p:blipFill>
          <a:blip r:embed="rId5"/>
          <a:stretch>
            <a:fillRect/>
          </a:stretch>
        </p:blipFill>
        <p:spPr>
          <a:xfrm>
            <a:off x="542925" y="2702821"/>
            <a:ext cx="171450" cy="171450"/>
          </a:xfrm>
          <a:prstGeom prst="rect">
            <a:avLst/>
          </a:prstGeom>
        </p:spPr>
      </p:pic>
      <p:sp>
        <p:nvSpPr>
          <p:cNvPr id="30" name="Text 23"/>
          <p:cNvSpPr/>
          <p:nvPr/>
        </p:nvSpPr>
        <p:spPr>
          <a:xfrm>
            <a:off x="857250" y="2658535"/>
            <a:ext cx="7743825" cy="260021"/>
          </a:xfrm>
          <a:prstGeom prst="rect">
            <a:avLst/>
          </a:prstGeom>
          <a:noFill/>
        </p:spPr>
        <p:txBody>
          <a:bodyPr wrap="square" lIns="0" tIns="0" rIns="0" bIns="0" rtlCol="0" anchor="t">
            <a:spAutoFit/>
          </a:bodyPr>
          <a:lstStyle/>
          <a:p>
            <a:pPr marL="0" indent="0" algn="l">
              <a:lnSpc>
                <a:spcPct val="112000"/>
              </a:lnSpc>
              <a:buNone/>
            </a:pPr>
            <a:r>
              <a:rPr lang="en-US" sz="650" b="1" dirty="0">
                <a:solidFill>
                  <a:srgbClr val="000000"/>
                </a:solidFill>
                <a:latin typeface="Inter Bold" pitchFamily="34" charset="0"/>
                <a:ea typeface="Inter Bold" pitchFamily="34" charset="-122"/>
                <a:cs typeface="Inter Bold" pitchFamily="34" charset="-120"/>
              </a:rPr>
              <a:t>Ukraine Power Grid (2016):</a:t>
            </a:r>
            <a:r>
              <a:rPr lang="en-US" sz="650" dirty="0">
                <a:solidFill>
                  <a:srgbClr val="000000"/>
                </a:solidFill>
                <a:latin typeface="Inter" pitchFamily="34" charset="0"/>
                <a:ea typeface="Inter" pitchFamily="34" charset="-122"/>
                <a:cs typeface="Inter" pitchFamily="34" charset="-120"/>
              </a:rPr>
              <a:t> Sandworm APT used Industroyer malware to cut power to 230,000 people at midnight in winter. Core technique: </a:t>
            </a:r>
            <a:r>
              <a:rPr lang="en-US" sz="650" b="1" dirty="0">
                <a:solidFill>
                  <a:srgbClr val="000000"/>
                </a:solidFill>
                <a:latin typeface="Inter Bold" pitchFamily="34" charset="0"/>
                <a:ea typeface="Inter Bold" pitchFamily="34" charset="-122"/>
                <a:cs typeface="Inter Bold" pitchFamily="34" charset="-120"/>
              </a:rPr>
              <a:t>T0855 Unauthorized Command Message</a:t>
            </a:r>
            <a:r>
              <a:rPr lang="en-US" sz="650" dirty="0">
                <a:solidFill>
                  <a:srgbClr val="000000"/>
                </a:solidFill>
                <a:latin typeface="Inter" pitchFamily="34" charset="0"/>
                <a:ea typeface="Inter" pitchFamily="34" charset="-122"/>
                <a:cs typeface="Inter" pitchFamily="34" charset="-120"/>
              </a:rPr>
              <a:t>.</a:t>
            </a:r>
            <a:endParaRPr lang="en-US" sz="650" dirty="0"/>
          </a:p>
        </p:txBody>
      </p:sp>
      <p:pic>
        <p:nvPicPr>
          <p:cNvPr id="31" name="Image 5" descr="preencoded.png"/>
          <p:cNvPicPr>
            <a:picLocks noChangeAspect="1"/>
          </p:cNvPicPr>
          <p:nvPr/>
        </p:nvPicPr>
        <p:blipFill>
          <a:blip r:embed="rId6"/>
          <a:stretch>
            <a:fillRect/>
          </a:stretch>
        </p:blipFill>
        <p:spPr>
          <a:xfrm>
            <a:off x="542925" y="3298599"/>
            <a:ext cx="150019" cy="171450"/>
          </a:xfrm>
          <a:prstGeom prst="rect">
            <a:avLst/>
          </a:prstGeom>
        </p:spPr>
      </p:pic>
      <p:sp>
        <p:nvSpPr>
          <p:cNvPr id="32" name="Text 24"/>
          <p:cNvSpPr/>
          <p:nvPr/>
        </p:nvSpPr>
        <p:spPr>
          <a:xfrm>
            <a:off x="835819" y="3254313"/>
            <a:ext cx="7765256" cy="260021"/>
          </a:xfrm>
          <a:prstGeom prst="rect">
            <a:avLst/>
          </a:prstGeom>
          <a:noFill/>
        </p:spPr>
        <p:txBody>
          <a:bodyPr wrap="square" lIns="0" tIns="0" rIns="0" bIns="0" rtlCol="0" anchor="t">
            <a:spAutoFit/>
          </a:bodyPr>
          <a:lstStyle/>
          <a:p>
            <a:pPr marL="0" indent="0" algn="l">
              <a:lnSpc>
                <a:spcPct val="112000"/>
              </a:lnSpc>
              <a:buNone/>
            </a:pPr>
            <a:r>
              <a:rPr lang="en-US" sz="650" b="1" dirty="0">
                <a:solidFill>
                  <a:srgbClr val="000000"/>
                </a:solidFill>
                <a:latin typeface="Inter Bold" pitchFamily="34" charset="0"/>
                <a:ea typeface="Inter Bold" pitchFamily="34" charset="-122"/>
                <a:cs typeface="Inter Bold" pitchFamily="34" charset="-120"/>
              </a:rPr>
              <a:t>Oldsmar Water Plant (2021):</a:t>
            </a:r>
            <a:r>
              <a:rPr lang="en-US" sz="650" dirty="0">
                <a:solidFill>
                  <a:srgbClr val="000000"/>
                </a:solidFill>
                <a:latin typeface="Inter" pitchFamily="34" charset="0"/>
                <a:ea typeface="Inter" pitchFamily="34" charset="-122"/>
                <a:cs typeface="Inter" pitchFamily="34" charset="-120"/>
              </a:rPr>
              <a:t> Attacker remotely increased lye concentration 100x—minutes away from poisoning 15,000 people. Detected only because an operator saw his </a:t>
            </a:r>
            <a:r>
              <a:rPr lang="en-US" sz="650" dirty="0">
                <a:solidFill>
                  <a:srgbClr val="000000"/>
                </a:solidFill>
                <a:latin typeface="Inter" pitchFamily="34" charset="0"/>
                <a:ea typeface="Inter" pitchFamily="34" charset="-122"/>
                <a:cs typeface="Inter" pitchFamily="34" charset="-120"/>
              </a:rPr>
              <a:t>mouse moving.</a:t>
            </a:r>
            <a:endParaRPr lang="en-US" sz="650" dirty="0"/>
          </a:p>
        </p:txBody>
      </p:sp>
      <p:sp>
        <p:nvSpPr>
          <p:cNvPr id="33" name="Shape 25"/>
          <p:cNvSpPr/>
          <p:nvPr/>
        </p:nvSpPr>
        <p:spPr>
          <a:xfrm>
            <a:off x="428625" y="3735791"/>
            <a:ext cx="2018109" cy="239316"/>
          </a:xfrm>
          <a:prstGeom prst="rect">
            <a:avLst/>
          </a:prstGeom>
          <a:solidFill>
            <a:srgbClr val="000000"/>
          </a:solidFill>
        </p:spPr>
      </p:sp>
      <p:sp>
        <p:nvSpPr>
          <p:cNvPr id="34" name="Text 26"/>
          <p:cNvSpPr/>
          <p:nvPr/>
        </p:nvSpPr>
        <p:spPr>
          <a:xfrm>
            <a:off x="428625" y="3735791"/>
            <a:ext cx="2018109" cy="239316"/>
          </a:xfrm>
          <a:prstGeom prst="rect">
            <a:avLst/>
          </a:prstGeom>
          <a:noFill/>
        </p:spPr>
        <p:txBody>
          <a:bodyPr wrap="square" lIns="85090" tIns="85090" rIns="85090" bIns="85090" rtlCol="0" anchor="t">
            <a:spAutoFit/>
          </a:bodyPr>
          <a:lstStyle/>
          <a:p>
            <a:pPr marL="0" indent="0" algn="ctr">
              <a:buNone/>
            </a:pPr>
            <a:r>
              <a:rPr lang="en-US" sz="550" b="1" dirty="0">
                <a:solidFill>
                  <a:srgbClr val="FFFFFF"/>
                </a:solidFill>
                <a:latin typeface="Inter Bold" pitchFamily="34" charset="0"/>
                <a:ea typeface="Inter Bold" pitchFamily="34" charset="-122"/>
                <a:cs typeface="Inter Bold" pitchFamily="34" charset="-120"/>
              </a:rPr>
              <a:t>MANIPULATE CONTROL</a:t>
            </a:r>
            <a:endParaRPr lang="en-US" sz="550" dirty="0"/>
          </a:p>
        </p:txBody>
      </p:sp>
      <p:sp>
        <p:nvSpPr>
          <p:cNvPr id="35" name="Shape 27"/>
          <p:cNvSpPr/>
          <p:nvPr/>
        </p:nvSpPr>
        <p:spPr>
          <a:xfrm>
            <a:off x="2518172" y="3735791"/>
            <a:ext cx="2018109" cy="239316"/>
          </a:xfrm>
          <a:prstGeom prst="rect">
            <a:avLst/>
          </a:prstGeom>
          <a:solidFill>
            <a:srgbClr val="F5C518"/>
          </a:solidFill>
        </p:spPr>
      </p:sp>
      <p:sp>
        <p:nvSpPr>
          <p:cNvPr id="36" name="Text 28"/>
          <p:cNvSpPr/>
          <p:nvPr/>
        </p:nvSpPr>
        <p:spPr>
          <a:xfrm>
            <a:off x="2518172" y="3735791"/>
            <a:ext cx="2018109" cy="239316"/>
          </a:xfrm>
          <a:prstGeom prst="rect">
            <a:avLst/>
          </a:prstGeom>
          <a:noFill/>
        </p:spPr>
        <p:txBody>
          <a:bodyPr wrap="square" lIns="85090" tIns="85090" rIns="85090" bIns="85090" rtlCol="0" anchor="t">
            <a:spAutoFit/>
          </a:bodyPr>
          <a:lstStyle/>
          <a:p>
            <a:pPr marL="0" indent="0" algn="ctr">
              <a:buNone/>
            </a:pPr>
            <a:r>
              <a:rPr lang="en-US" sz="550" b="1" dirty="0">
                <a:solidFill>
                  <a:srgbClr val="000000"/>
                </a:solidFill>
                <a:latin typeface="Inter Bold" pitchFamily="34" charset="0"/>
                <a:ea typeface="Inter Bold" pitchFamily="34" charset="-122"/>
                <a:cs typeface="Inter Bold" pitchFamily="34" charset="-120"/>
              </a:rPr>
              <a:t>INHIBIT RESPONSE</a:t>
            </a:r>
            <a:endParaRPr lang="en-US" sz="550" dirty="0"/>
          </a:p>
        </p:txBody>
      </p:sp>
      <p:sp>
        <p:nvSpPr>
          <p:cNvPr id="37" name="Shape 29"/>
          <p:cNvSpPr/>
          <p:nvPr/>
        </p:nvSpPr>
        <p:spPr>
          <a:xfrm>
            <a:off x="4607719" y="3735791"/>
            <a:ext cx="2018109" cy="239316"/>
          </a:xfrm>
          <a:prstGeom prst="rect">
            <a:avLst/>
          </a:prstGeom>
          <a:solidFill>
            <a:srgbClr val="000000"/>
          </a:solidFill>
        </p:spPr>
      </p:sp>
      <p:sp>
        <p:nvSpPr>
          <p:cNvPr id="38" name="Text 30"/>
          <p:cNvSpPr/>
          <p:nvPr/>
        </p:nvSpPr>
        <p:spPr>
          <a:xfrm>
            <a:off x="4607719" y="3735791"/>
            <a:ext cx="2018109" cy="239316"/>
          </a:xfrm>
          <a:prstGeom prst="rect">
            <a:avLst/>
          </a:prstGeom>
          <a:noFill/>
        </p:spPr>
        <p:txBody>
          <a:bodyPr wrap="square" lIns="85090" tIns="85090" rIns="85090" bIns="85090" rtlCol="0" anchor="t">
            <a:spAutoFit/>
          </a:bodyPr>
          <a:lstStyle/>
          <a:p>
            <a:pPr marL="0" indent="0" algn="ctr">
              <a:buNone/>
            </a:pPr>
            <a:r>
              <a:rPr lang="en-US" sz="550" b="1" dirty="0">
                <a:solidFill>
                  <a:srgbClr val="FFFFFF"/>
                </a:solidFill>
                <a:latin typeface="Inter Bold" pitchFamily="34" charset="0"/>
                <a:ea typeface="Inter Bold" pitchFamily="34" charset="-122"/>
                <a:cs typeface="Inter Bold" pitchFamily="34" charset="-120"/>
              </a:rPr>
              <a:t>DAMAGE TO PROPERTY</a:t>
            </a:r>
            <a:endParaRPr lang="en-US" sz="550" dirty="0"/>
          </a:p>
        </p:txBody>
      </p:sp>
      <p:sp>
        <p:nvSpPr>
          <p:cNvPr id="39" name="Shape 31"/>
          <p:cNvSpPr/>
          <p:nvPr/>
        </p:nvSpPr>
        <p:spPr>
          <a:xfrm>
            <a:off x="6697266" y="3735791"/>
            <a:ext cx="2018109" cy="239316"/>
          </a:xfrm>
          <a:prstGeom prst="rect">
            <a:avLst/>
          </a:prstGeom>
          <a:solidFill>
            <a:srgbClr val="F5C518"/>
          </a:solidFill>
        </p:spPr>
      </p:sp>
      <p:sp>
        <p:nvSpPr>
          <p:cNvPr id="40" name="Text 32"/>
          <p:cNvSpPr/>
          <p:nvPr/>
        </p:nvSpPr>
        <p:spPr>
          <a:xfrm>
            <a:off x="6697266" y="3735791"/>
            <a:ext cx="2018109" cy="239316"/>
          </a:xfrm>
          <a:prstGeom prst="rect">
            <a:avLst/>
          </a:prstGeom>
          <a:noFill/>
        </p:spPr>
        <p:txBody>
          <a:bodyPr wrap="square" lIns="85090" tIns="85090" rIns="85090" bIns="85090" rtlCol="0" anchor="t">
            <a:spAutoFit/>
          </a:bodyPr>
          <a:lstStyle/>
          <a:p>
            <a:pPr marL="0" indent="0" algn="ctr">
              <a:buNone/>
            </a:pPr>
            <a:r>
              <a:rPr lang="en-US" sz="550" b="1" dirty="0">
                <a:solidFill>
                  <a:srgbClr val="000000"/>
                </a:solidFill>
                <a:latin typeface="Inter Bold" pitchFamily="34" charset="0"/>
                <a:ea typeface="Inter Bold" pitchFamily="34" charset="-122"/>
                <a:cs typeface="Inter Bold" pitchFamily="34" charset="-120"/>
              </a:rPr>
              <a:t>LOSS OF SAFETY</a:t>
            </a:r>
            <a:endParaRPr lang="en-US" sz="550" dirty="0"/>
          </a:p>
        </p:txBody>
      </p:sp>
      <p:sp>
        <p:nvSpPr>
          <p:cNvPr id="41" name="Oval 40"/>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379619" y="4018359"/>
            <a:ext cx="433705"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26</a:t>
            </a:r>
            <a:endParaRPr lang="en-US" sz="3300" dirty="0"/>
          </a:p>
        </p:txBody>
      </p:sp>
      <p:pic>
        <p:nvPicPr>
          <p:cNvPr id="7" name="Image 1" descr="preencoded.png"/>
          <p:cNvPicPr>
            <a:picLocks noChangeAspect="1"/>
          </p:cNvPicPr>
          <p:nvPr/>
        </p:nvPicPr>
        <p:blipFill>
          <a:blip r:embed="rId2"/>
          <a:stretch>
            <a:fillRect/>
          </a:stretch>
        </p:blipFill>
        <p:spPr>
          <a:xfrm>
            <a:off x="6482953" y="299145"/>
            <a:ext cx="112514" cy="128588"/>
          </a:xfrm>
          <a:prstGeom prst="rect">
            <a:avLst/>
          </a:prstGeom>
        </p:spPr>
      </p:pic>
      <p:sp>
        <p:nvSpPr>
          <p:cNvPr id="8" name="Text 4"/>
          <p:cNvSpPr/>
          <p:nvPr/>
        </p:nvSpPr>
        <p:spPr>
          <a:xfrm>
            <a:off x="6666905" y="285750"/>
            <a:ext cx="2191345"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lack" pitchFamily="34" charset="0"/>
                <a:ea typeface="Inter Black" pitchFamily="34" charset="-122"/>
                <a:cs typeface="Inter Black" pitchFamily="34" charset="-120"/>
              </a:rPr>
              <a:t>LAZARUS GROUP (NORTH KOREA)</a:t>
            </a:r>
            <a:endParaRPr lang="en-US" sz="900" dirty="0"/>
          </a:p>
        </p:txBody>
      </p:sp>
      <p:sp>
        <p:nvSpPr>
          <p:cNvPr id="9" name="Text 5"/>
          <p:cNvSpPr/>
          <p:nvPr/>
        </p:nvSpPr>
        <p:spPr>
          <a:xfrm>
            <a:off x="285750" y="714375"/>
            <a:ext cx="8572500" cy="276820"/>
          </a:xfrm>
          <a:prstGeom prst="rect">
            <a:avLst/>
          </a:prstGeom>
          <a:noFill/>
        </p:spPr>
        <p:txBody>
          <a:bodyPr wrap="square" lIns="0" tIns="0" rIns="0" bIns="0" rtlCol="0" anchor="t">
            <a:spAutoFit/>
          </a:bodyPr>
          <a:lstStyle/>
          <a:p>
            <a:pPr marL="0" indent="0" algn="ctr">
              <a:buNone/>
            </a:pPr>
            <a:r>
              <a:rPr lang="en-US" sz="1600" b="1" dirty="0">
                <a:solidFill>
                  <a:srgbClr val="000000"/>
                </a:solidFill>
                <a:latin typeface="Inter Black" pitchFamily="34" charset="0"/>
                <a:ea typeface="Inter Black" pitchFamily="34" charset="-122"/>
                <a:cs typeface="Inter Black" pitchFamily="34" charset="-120"/>
              </a:rPr>
              <a:t>Remember Slide 2? Let's Follow Lazarus All the Way Through.</a:t>
            </a:r>
            <a:endParaRPr lang="en-US" sz="1600" dirty="0"/>
          </a:p>
        </p:txBody>
      </p:sp>
      <p:sp>
        <p:nvSpPr>
          <p:cNvPr id="10" name="Shape 6"/>
          <p:cNvSpPr/>
          <p:nvPr/>
        </p:nvSpPr>
        <p:spPr>
          <a:xfrm>
            <a:off x="855185" y="1091208"/>
            <a:ext cx="85725" cy="85725"/>
          </a:xfrm>
          <a:prstGeom prst="ellipse">
            <a:avLst/>
          </a:prstGeom>
          <a:solidFill>
            <a:srgbClr val="F5C518"/>
          </a:solidFill>
        </p:spPr>
      </p:sp>
      <p:sp>
        <p:nvSpPr>
          <p:cNvPr id="11" name="Text 7"/>
          <p:cNvSpPr/>
          <p:nvPr/>
        </p:nvSpPr>
        <p:spPr>
          <a:xfrm>
            <a:off x="285750" y="1291233"/>
            <a:ext cx="1224651" cy="105370"/>
          </a:xfrm>
          <a:prstGeom prst="rect">
            <a:avLst/>
          </a:prstGeom>
          <a:noFill/>
        </p:spPr>
        <p:txBody>
          <a:bodyPr wrap="none" lIns="0" tIns="0" rIns="0" bIns="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RECON &amp; WEAPONIZE</a:t>
            </a:r>
            <a:endParaRPr lang="en-US" sz="600" dirty="0"/>
          </a:p>
        </p:txBody>
      </p:sp>
      <p:sp>
        <p:nvSpPr>
          <p:cNvPr id="12" name="Shape 8"/>
          <p:cNvSpPr/>
          <p:nvPr/>
        </p:nvSpPr>
        <p:spPr>
          <a:xfrm>
            <a:off x="2079836" y="1091208"/>
            <a:ext cx="85725" cy="85725"/>
          </a:xfrm>
          <a:prstGeom prst="ellipse">
            <a:avLst/>
          </a:prstGeom>
          <a:solidFill>
            <a:srgbClr val="F5C518"/>
          </a:solidFill>
        </p:spPr>
      </p:sp>
      <p:sp>
        <p:nvSpPr>
          <p:cNvPr id="13" name="Text 9"/>
          <p:cNvSpPr/>
          <p:nvPr/>
        </p:nvSpPr>
        <p:spPr>
          <a:xfrm>
            <a:off x="1510401" y="1291233"/>
            <a:ext cx="1224651" cy="105370"/>
          </a:xfrm>
          <a:prstGeom prst="rect">
            <a:avLst/>
          </a:prstGeom>
          <a:noFill/>
        </p:spPr>
        <p:txBody>
          <a:bodyPr wrap="none" lIns="0" tIns="0" rIns="0" bIns="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DELIVERY (PHISHING)</a:t>
            </a:r>
            <a:endParaRPr lang="en-US" sz="600" dirty="0"/>
          </a:p>
        </p:txBody>
      </p:sp>
      <p:sp>
        <p:nvSpPr>
          <p:cNvPr id="14" name="Shape 10"/>
          <p:cNvSpPr/>
          <p:nvPr/>
        </p:nvSpPr>
        <p:spPr>
          <a:xfrm>
            <a:off x="3304487" y="1091208"/>
            <a:ext cx="85725" cy="85725"/>
          </a:xfrm>
          <a:prstGeom prst="ellipse">
            <a:avLst/>
          </a:prstGeom>
          <a:solidFill>
            <a:srgbClr val="F5C518"/>
          </a:solidFill>
        </p:spPr>
      </p:sp>
      <p:sp>
        <p:nvSpPr>
          <p:cNvPr id="15" name="Text 11"/>
          <p:cNvSpPr/>
          <p:nvPr/>
        </p:nvSpPr>
        <p:spPr>
          <a:xfrm>
            <a:off x="2735052" y="1291233"/>
            <a:ext cx="1224651" cy="105370"/>
          </a:xfrm>
          <a:prstGeom prst="rect">
            <a:avLst/>
          </a:prstGeom>
          <a:noFill/>
        </p:spPr>
        <p:txBody>
          <a:bodyPr wrap="none" lIns="0" tIns="0" rIns="0" bIns="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EXPLOIT &amp; INSTALL</a:t>
            </a:r>
            <a:endParaRPr lang="en-US" sz="600" dirty="0"/>
          </a:p>
        </p:txBody>
      </p:sp>
      <p:sp>
        <p:nvSpPr>
          <p:cNvPr id="16" name="Shape 12"/>
          <p:cNvSpPr/>
          <p:nvPr/>
        </p:nvSpPr>
        <p:spPr>
          <a:xfrm>
            <a:off x="4529138" y="1091208"/>
            <a:ext cx="85725" cy="85725"/>
          </a:xfrm>
          <a:prstGeom prst="ellipse">
            <a:avLst/>
          </a:prstGeom>
          <a:solidFill>
            <a:srgbClr val="F5C518"/>
          </a:solidFill>
        </p:spPr>
      </p:sp>
      <p:sp>
        <p:nvSpPr>
          <p:cNvPr id="17" name="Text 13"/>
          <p:cNvSpPr/>
          <p:nvPr/>
        </p:nvSpPr>
        <p:spPr>
          <a:xfrm>
            <a:off x="3959702" y="1291233"/>
            <a:ext cx="1224651" cy="105370"/>
          </a:xfrm>
          <a:prstGeom prst="rect">
            <a:avLst/>
          </a:prstGeom>
          <a:noFill/>
        </p:spPr>
        <p:txBody>
          <a:bodyPr wrap="none" lIns="0" tIns="0" rIns="0" bIns="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PERSISTENCE</a:t>
            </a:r>
            <a:endParaRPr lang="en-US" sz="600" dirty="0"/>
          </a:p>
        </p:txBody>
      </p:sp>
      <p:sp>
        <p:nvSpPr>
          <p:cNvPr id="18" name="Shape 14"/>
          <p:cNvSpPr/>
          <p:nvPr/>
        </p:nvSpPr>
        <p:spPr>
          <a:xfrm>
            <a:off x="5753788" y="1091208"/>
            <a:ext cx="85725" cy="85725"/>
          </a:xfrm>
          <a:prstGeom prst="ellipse">
            <a:avLst/>
          </a:prstGeom>
          <a:solidFill>
            <a:srgbClr val="F5C518"/>
          </a:solidFill>
        </p:spPr>
      </p:sp>
      <p:sp>
        <p:nvSpPr>
          <p:cNvPr id="19" name="Text 15"/>
          <p:cNvSpPr/>
          <p:nvPr/>
        </p:nvSpPr>
        <p:spPr>
          <a:xfrm>
            <a:off x="5184353" y="1291233"/>
            <a:ext cx="1224651" cy="105370"/>
          </a:xfrm>
          <a:prstGeom prst="rect">
            <a:avLst/>
          </a:prstGeom>
          <a:noFill/>
        </p:spPr>
        <p:txBody>
          <a:bodyPr wrap="none" lIns="0" tIns="0" rIns="0" bIns="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LATERAL MOVEMENT</a:t>
            </a:r>
            <a:endParaRPr lang="en-US" sz="600" dirty="0"/>
          </a:p>
        </p:txBody>
      </p:sp>
      <p:sp>
        <p:nvSpPr>
          <p:cNvPr id="20" name="Shape 16"/>
          <p:cNvSpPr/>
          <p:nvPr/>
        </p:nvSpPr>
        <p:spPr>
          <a:xfrm>
            <a:off x="6978439" y="1091208"/>
            <a:ext cx="85725" cy="85725"/>
          </a:xfrm>
          <a:prstGeom prst="ellipse">
            <a:avLst/>
          </a:prstGeom>
          <a:solidFill>
            <a:srgbClr val="F5C518"/>
          </a:solidFill>
        </p:spPr>
      </p:sp>
      <p:sp>
        <p:nvSpPr>
          <p:cNvPr id="21" name="Text 17"/>
          <p:cNvSpPr/>
          <p:nvPr/>
        </p:nvSpPr>
        <p:spPr>
          <a:xfrm>
            <a:off x="6409004" y="1291233"/>
            <a:ext cx="1224651" cy="105370"/>
          </a:xfrm>
          <a:prstGeom prst="rect">
            <a:avLst/>
          </a:prstGeom>
          <a:noFill/>
        </p:spPr>
        <p:txBody>
          <a:bodyPr wrap="none" lIns="0" tIns="0" rIns="0" bIns="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EXFILTRATION</a:t>
            </a:r>
            <a:endParaRPr lang="en-US" sz="600" dirty="0"/>
          </a:p>
        </p:txBody>
      </p:sp>
      <p:sp>
        <p:nvSpPr>
          <p:cNvPr id="22" name="Shape 18"/>
          <p:cNvSpPr/>
          <p:nvPr/>
        </p:nvSpPr>
        <p:spPr>
          <a:xfrm>
            <a:off x="8203090" y="1091208"/>
            <a:ext cx="85725" cy="85725"/>
          </a:xfrm>
          <a:prstGeom prst="ellipse">
            <a:avLst/>
          </a:prstGeom>
          <a:solidFill>
            <a:srgbClr val="F5C518"/>
          </a:solidFill>
        </p:spPr>
      </p:sp>
      <p:sp>
        <p:nvSpPr>
          <p:cNvPr id="23" name="Text 19"/>
          <p:cNvSpPr/>
          <p:nvPr/>
        </p:nvSpPr>
        <p:spPr>
          <a:xfrm>
            <a:off x="7633655" y="1291233"/>
            <a:ext cx="1224651" cy="105370"/>
          </a:xfrm>
          <a:prstGeom prst="rect">
            <a:avLst/>
          </a:prstGeom>
          <a:noFill/>
        </p:spPr>
        <p:txBody>
          <a:bodyPr wrap="none" lIns="0" tIns="0" rIns="0" bIns="0" rtlCol="0" anchor="t">
            <a:spAutoFit/>
          </a:bodyPr>
          <a:lstStyle/>
          <a:p>
            <a:pPr marL="0" indent="0" algn="ctr">
              <a:buNone/>
            </a:pPr>
            <a:r>
              <a:rPr lang="en-US" sz="600" b="1" dirty="0">
                <a:solidFill>
                  <a:srgbClr val="000000"/>
                </a:solidFill>
                <a:latin typeface="Inter Bold" pitchFamily="34" charset="0"/>
                <a:ea typeface="Inter Bold" pitchFamily="34" charset="-122"/>
                <a:cs typeface="Inter Bold" pitchFamily="34" charset="-120"/>
              </a:rPr>
              <a:t>IMPACT ($81M)</a:t>
            </a:r>
            <a:endParaRPr lang="en-US" sz="600" dirty="0"/>
          </a:p>
        </p:txBody>
      </p:sp>
      <p:sp>
        <p:nvSpPr>
          <p:cNvPr id="24" name="Shape 20"/>
          <p:cNvSpPr/>
          <p:nvPr/>
        </p:nvSpPr>
        <p:spPr>
          <a:xfrm>
            <a:off x="653123" y="1682353"/>
            <a:ext cx="428625" cy="428625"/>
          </a:xfrm>
          <a:prstGeom prst="rect">
            <a:avLst/>
          </a:prstGeom>
          <a:solidFill>
            <a:srgbClr val="F9F9F9"/>
          </a:solidFill>
          <a:ln w="9144">
            <a:solidFill>
              <a:srgbClr val="000000"/>
            </a:solidFill>
            <a:prstDash val="solid"/>
          </a:ln>
        </p:spPr>
      </p:sp>
      <p:pic>
        <p:nvPicPr>
          <p:cNvPr id="25" name="Image 2" descr="preencoded.png"/>
          <p:cNvPicPr>
            <a:picLocks noChangeAspect="1"/>
          </p:cNvPicPr>
          <p:nvPr/>
        </p:nvPicPr>
        <p:blipFill>
          <a:blip r:embed="rId3"/>
          <a:stretch>
            <a:fillRect/>
          </a:stretch>
        </p:blipFill>
        <p:spPr>
          <a:xfrm>
            <a:off x="760279" y="1810941"/>
            <a:ext cx="214313" cy="171450"/>
          </a:xfrm>
          <a:prstGeom prst="rect">
            <a:avLst/>
          </a:prstGeom>
        </p:spPr>
      </p:pic>
      <p:sp>
        <p:nvSpPr>
          <p:cNvPr id="26" name="Text 21"/>
          <p:cNvSpPr/>
          <p:nvPr/>
        </p:nvSpPr>
        <p:spPr>
          <a:xfrm>
            <a:off x="641514" y="2182416"/>
            <a:ext cx="451842" cy="96441"/>
          </a:xfrm>
          <a:prstGeom prst="rect">
            <a:avLst/>
          </a:prstGeom>
          <a:noFill/>
        </p:spPr>
        <p:txBody>
          <a:bodyPr wrap="none" lIns="0" tIns="0" rIns="0" bIns="0" rtlCol="0" anchor="t">
            <a:spAutoFit/>
          </a:bodyPr>
          <a:lstStyle/>
          <a:p>
            <a:pPr marL="0" indent="0" algn="ctr">
              <a:buNone/>
            </a:pPr>
            <a:r>
              <a:rPr lang="en-US" sz="550" b="1" dirty="0">
                <a:solidFill>
                  <a:srgbClr val="F5C518"/>
                </a:solidFill>
                <a:latin typeface="Inter Black" pitchFamily="34" charset="0"/>
                <a:ea typeface="Inter Black" pitchFamily="34" charset="-122"/>
                <a:cs typeface="Inter Black" pitchFamily="34" charset="-120"/>
              </a:rPr>
              <a:t>KILL CHAIN</a:t>
            </a:r>
            <a:endParaRPr lang="en-US" sz="550" dirty="0"/>
          </a:p>
        </p:txBody>
      </p:sp>
      <p:sp>
        <p:nvSpPr>
          <p:cNvPr id="27" name="Text 22"/>
          <p:cNvSpPr/>
          <p:nvPr/>
        </p:nvSpPr>
        <p:spPr>
          <a:xfrm>
            <a:off x="285750" y="2336006"/>
            <a:ext cx="1163399" cy="185738"/>
          </a:xfrm>
          <a:prstGeom prst="rect">
            <a:avLst/>
          </a:prstGeom>
          <a:noFill/>
        </p:spPr>
        <p:txBody>
          <a:bodyPr wrap="square" lIns="0" tIns="0" rIns="0" bIns="0" rtlCol="0" anchor="t">
            <a:spAutoFit/>
          </a:bodyPr>
          <a:lstStyle/>
          <a:p>
            <a:pPr marL="0" indent="0" algn="ctr">
              <a:lnSpc>
                <a:spcPct val="104000"/>
              </a:lnSpc>
              <a:buNone/>
            </a:pPr>
            <a:r>
              <a:rPr lang="en-US" sz="500" dirty="0">
                <a:solidFill>
                  <a:srgbClr val="333333"/>
                </a:solidFill>
                <a:latin typeface="Inter" pitchFamily="34" charset="0"/>
                <a:ea typeface="Inter" pitchFamily="34" charset="-122"/>
                <a:cs typeface="Inter" pitchFamily="34" charset="-120"/>
              </a:rPr>
              <a:t>Months of prep on SWIFT network architecture.</a:t>
            </a:r>
            <a:endParaRPr lang="en-US" sz="500" dirty="0"/>
          </a:p>
        </p:txBody>
      </p:sp>
      <p:sp>
        <p:nvSpPr>
          <p:cNvPr id="28" name="Shape 23"/>
          <p:cNvSpPr/>
          <p:nvPr/>
        </p:nvSpPr>
        <p:spPr>
          <a:xfrm>
            <a:off x="1887959" y="1682353"/>
            <a:ext cx="428625" cy="428625"/>
          </a:xfrm>
          <a:prstGeom prst="rect">
            <a:avLst/>
          </a:prstGeom>
          <a:solidFill>
            <a:srgbClr val="F9F9F9"/>
          </a:solidFill>
          <a:ln w="9144">
            <a:solidFill>
              <a:srgbClr val="000000"/>
            </a:solidFill>
            <a:prstDash val="solid"/>
          </a:ln>
        </p:spPr>
      </p:sp>
      <p:pic>
        <p:nvPicPr>
          <p:cNvPr id="29" name="Image 3" descr="preencoded.png"/>
          <p:cNvPicPr>
            <a:picLocks noChangeAspect="1"/>
          </p:cNvPicPr>
          <p:nvPr/>
        </p:nvPicPr>
        <p:blipFill>
          <a:blip r:embed="rId4"/>
          <a:stretch>
            <a:fillRect/>
          </a:stretch>
        </p:blipFill>
        <p:spPr>
          <a:xfrm>
            <a:off x="2016547" y="1810941"/>
            <a:ext cx="171450" cy="171450"/>
          </a:xfrm>
          <a:prstGeom prst="rect">
            <a:avLst/>
          </a:prstGeom>
        </p:spPr>
      </p:pic>
      <p:sp>
        <p:nvSpPr>
          <p:cNvPr id="30" name="Text 24"/>
          <p:cNvSpPr/>
          <p:nvPr/>
        </p:nvSpPr>
        <p:spPr>
          <a:xfrm>
            <a:off x="1935287" y="2182416"/>
            <a:ext cx="333970" cy="96441"/>
          </a:xfrm>
          <a:prstGeom prst="rect">
            <a:avLst/>
          </a:prstGeom>
          <a:noFill/>
        </p:spPr>
        <p:txBody>
          <a:bodyPr wrap="none" lIns="0" tIns="0" rIns="0" bIns="0" rtlCol="0" anchor="t">
            <a:spAutoFit/>
          </a:bodyPr>
          <a:lstStyle/>
          <a:p>
            <a:pPr marL="0" indent="0" algn="ctr">
              <a:buNone/>
            </a:pPr>
            <a:r>
              <a:rPr lang="en-US" sz="550" b="1" dirty="0">
                <a:solidFill>
                  <a:srgbClr val="F5C518"/>
                </a:solidFill>
                <a:latin typeface="Inter Black" pitchFamily="34" charset="0"/>
                <a:ea typeface="Inter Black" pitchFamily="34" charset="-122"/>
                <a:cs typeface="Inter Black" pitchFamily="34" charset="-120"/>
              </a:rPr>
              <a:t>ATT&amp;CK</a:t>
            </a:r>
            <a:endParaRPr lang="en-US" sz="550" dirty="0"/>
          </a:p>
        </p:txBody>
      </p:sp>
      <p:sp>
        <p:nvSpPr>
          <p:cNvPr id="31" name="Text 25"/>
          <p:cNvSpPr/>
          <p:nvPr/>
        </p:nvSpPr>
        <p:spPr>
          <a:xfrm>
            <a:off x="1520586" y="2336006"/>
            <a:ext cx="1163399" cy="185738"/>
          </a:xfrm>
          <a:prstGeom prst="rect">
            <a:avLst/>
          </a:prstGeom>
          <a:noFill/>
        </p:spPr>
        <p:txBody>
          <a:bodyPr wrap="square" lIns="0" tIns="0" rIns="0" bIns="0" rtlCol="0" anchor="t">
            <a:spAutoFit/>
          </a:bodyPr>
          <a:lstStyle/>
          <a:p>
            <a:pPr marL="0" indent="0" algn="ctr">
              <a:lnSpc>
                <a:spcPct val="104000"/>
              </a:lnSpc>
              <a:buNone/>
            </a:pPr>
            <a:r>
              <a:rPr lang="en-US" sz="500" dirty="0">
                <a:solidFill>
                  <a:srgbClr val="333333"/>
                </a:solidFill>
                <a:latin typeface="Inter" pitchFamily="34" charset="0"/>
                <a:ea typeface="Inter" pitchFamily="34" charset="-122"/>
                <a:cs typeface="Inter" pitchFamily="34" charset="-120"/>
              </a:rPr>
              <a:t>Used T1566 and T1078 to authorize transfers.</a:t>
            </a:r>
            <a:endParaRPr lang="en-US" sz="500" dirty="0"/>
          </a:p>
        </p:txBody>
      </p:sp>
      <p:sp>
        <p:nvSpPr>
          <p:cNvPr id="32" name="Shape 26"/>
          <p:cNvSpPr/>
          <p:nvPr/>
        </p:nvSpPr>
        <p:spPr>
          <a:xfrm>
            <a:off x="3122823" y="1682353"/>
            <a:ext cx="428625" cy="428625"/>
          </a:xfrm>
          <a:prstGeom prst="rect">
            <a:avLst/>
          </a:prstGeom>
          <a:solidFill>
            <a:srgbClr val="F9F9F9"/>
          </a:solidFill>
          <a:ln w="9144">
            <a:solidFill>
              <a:srgbClr val="000000"/>
            </a:solidFill>
            <a:prstDash val="solid"/>
          </a:ln>
        </p:spPr>
      </p:sp>
      <p:pic>
        <p:nvPicPr>
          <p:cNvPr id="33" name="Image 4" descr="preencoded.png"/>
          <p:cNvPicPr>
            <a:picLocks noChangeAspect="1"/>
          </p:cNvPicPr>
          <p:nvPr/>
        </p:nvPicPr>
        <p:blipFill>
          <a:blip r:embed="rId5"/>
          <a:stretch>
            <a:fillRect/>
          </a:stretch>
        </p:blipFill>
        <p:spPr>
          <a:xfrm>
            <a:off x="3262126" y="1810941"/>
            <a:ext cx="150019" cy="171450"/>
          </a:xfrm>
          <a:prstGeom prst="rect">
            <a:avLst/>
          </a:prstGeom>
        </p:spPr>
      </p:pic>
      <p:sp>
        <p:nvSpPr>
          <p:cNvPr id="34" name="Text 27"/>
          <p:cNvSpPr/>
          <p:nvPr/>
        </p:nvSpPr>
        <p:spPr>
          <a:xfrm>
            <a:off x="3198726" y="2182416"/>
            <a:ext cx="276820" cy="96441"/>
          </a:xfrm>
          <a:prstGeom prst="rect">
            <a:avLst/>
          </a:prstGeom>
          <a:noFill/>
        </p:spPr>
        <p:txBody>
          <a:bodyPr wrap="none" lIns="0" tIns="0" rIns="0" bIns="0" rtlCol="0" anchor="t">
            <a:spAutoFit/>
          </a:bodyPr>
          <a:lstStyle/>
          <a:p>
            <a:pPr marL="0" indent="0" algn="ctr">
              <a:buNone/>
            </a:pPr>
            <a:r>
              <a:rPr lang="en-US" sz="550" b="1" dirty="0">
                <a:solidFill>
                  <a:srgbClr val="F5C518"/>
                </a:solidFill>
                <a:latin typeface="Inter Black" pitchFamily="34" charset="0"/>
                <a:ea typeface="Inter Black" pitchFamily="34" charset="-122"/>
                <a:cs typeface="Inter Black" pitchFamily="34" charset="-120"/>
              </a:rPr>
              <a:t>CAPEC</a:t>
            </a:r>
            <a:endParaRPr lang="en-US" sz="550" dirty="0"/>
          </a:p>
        </p:txBody>
      </p:sp>
      <p:sp>
        <p:nvSpPr>
          <p:cNvPr id="35" name="Text 28"/>
          <p:cNvSpPr/>
          <p:nvPr/>
        </p:nvSpPr>
        <p:spPr>
          <a:xfrm>
            <a:off x="2755423" y="2336006"/>
            <a:ext cx="1163427" cy="185738"/>
          </a:xfrm>
          <a:prstGeom prst="rect">
            <a:avLst/>
          </a:prstGeom>
          <a:noFill/>
        </p:spPr>
        <p:txBody>
          <a:bodyPr wrap="square" lIns="0" tIns="0" rIns="0" bIns="0" rtlCol="0" anchor="t">
            <a:spAutoFit/>
          </a:bodyPr>
          <a:lstStyle/>
          <a:p>
            <a:pPr marL="0" indent="0" algn="ctr">
              <a:lnSpc>
                <a:spcPct val="104000"/>
              </a:lnSpc>
              <a:buNone/>
            </a:pPr>
            <a:r>
              <a:rPr lang="en-US" sz="500" dirty="0">
                <a:solidFill>
                  <a:srgbClr val="333333"/>
                </a:solidFill>
                <a:latin typeface="Inter" pitchFamily="34" charset="0"/>
                <a:ea typeface="Inter" pitchFamily="34" charset="-122"/>
                <a:cs typeface="Inter" pitchFamily="34" charset="-120"/>
              </a:rPr>
              <a:t>Followed CAPEC-98 and CAPEC-560 patterns.</a:t>
            </a:r>
            <a:endParaRPr lang="en-US" sz="500" dirty="0"/>
          </a:p>
        </p:txBody>
      </p:sp>
      <p:sp>
        <p:nvSpPr>
          <p:cNvPr id="36" name="Shape 29"/>
          <p:cNvSpPr/>
          <p:nvPr/>
        </p:nvSpPr>
        <p:spPr>
          <a:xfrm>
            <a:off x="4357660" y="1682353"/>
            <a:ext cx="428625" cy="428625"/>
          </a:xfrm>
          <a:prstGeom prst="rect">
            <a:avLst/>
          </a:prstGeom>
          <a:solidFill>
            <a:srgbClr val="F9F9F9"/>
          </a:solidFill>
          <a:ln w="9144">
            <a:solidFill>
              <a:srgbClr val="000000"/>
            </a:solidFill>
            <a:prstDash val="solid"/>
          </a:ln>
        </p:spPr>
      </p:sp>
      <p:pic>
        <p:nvPicPr>
          <p:cNvPr id="37" name="Image 5" descr="preencoded.png"/>
          <p:cNvPicPr>
            <a:picLocks noChangeAspect="1"/>
          </p:cNvPicPr>
          <p:nvPr/>
        </p:nvPicPr>
        <p:blipFill>
          <a:blip r:embed="rId6"/>
          <a:stretch>
            <a:fillRect/>
          </a:stretch>
        </p:blipFill>
        <p:spPr>
          <a:xfrm>
            <a:off x="4486247" y="1810941"/>
            <a:ext cx="171450" cy="171450"/>
          </a:xfrm>
          <a:prstGeom prst="rect">
            <a:avLst/>
          </a:prstGeom>
        </p:spPr>
      </p:pic>
      <p:sp>
        <p:nvSpPr>
          <p:cNvPr id="38" name="Text 30"/>
          <p:cNvSpPr/>
          <p:nvPr/>
        </p:nvSpPr>
        <p:spPr>
          <a:xfrm>
            <a:off x="4487140" y="2182416"/>
            <a:ext cx="169664" cy="96441"/>
          </a:xfrm>
          <a:prstGeom prst="rect">
            <a:avLst/>
          </a:prstGeom>
          <a:noFill/>
        </p:spPr>
        <p:txBody>
          <a:bodyPr wrap="none" lIns="0" tIns="0" rIns="0" bIns="0" rtlCol="0" anchor="t">
            <a:spAutoFit/>
          </a:bodyPr>
          <a:lstStyle/>
          <a:p>
            <a:pPr marL="0" indent="0" algn="ctr">
              <a:buNone/>
            </a:pPr>
            <a:r>
              <a:rPr lang="en-US" sz="550" b="1" dirty="0">
                <a:solidFill>
                  <a:srgbClr val="F5C518"/>
                </a:solidFill>
                <a:latin typeface="Inter Black" pitchFamily="34" charset="0"/>
                <a:ea typeface="Inter Black" pitchFamily="34" charset="-122"/>
                <a:cs typeface="Inter Black" pitchFamily="34" charset="-120"/>
              </a:rPr>
              <a:t>CVE</a:t>
            </a:r>
            <a:endParaRPr lang="en-US" sz="550" dirty="0"/>
          </a:p>
        </p:txBody>
      </p:sp>
      <p:sp>
        <p:nvSpPr>
          <p:cNvPr id="39" name="Text 31"/>
          <p:cNvSpPr/>
          <p:nvPr/>
        </p:nvSpPr>
        <p:spPr>
          <a:xfrm>
            <a:off x="3990287" y="2336006"/>
            <a:ext cx="1163399" cy="185738"/>
          </a:xfrm>
          <a:prstGeom prst="rect">
            <a:avLst/>
          </a:prstGeom>
          <a:noFill/>
        </p:spPr>
        <p:txBody>
          <a:bodyPr wrap="square" lIns="0" tIns="0" rIns="0" bIns="0" rtlCol="0" anchor="t">
            <a:spAutoFit/>
          </a:bodyPr>
          <a:lstStyle/>
          <a:p>
            <a:pPr marL="0" indent="0" algn="ctr">
              <a:lnSpc>
                <a:spcPct val="104000"/>
              </a:lnSpc>
              <a:buNone/>
            </a:pPr>
            <a:r>
              <a:rPr lang="en-US" sz="500" dirty="0">
                <a:solidFill>
                  <a:srgbClr val="333333"/>
                </a:solidFill>
                <a:latin typeface="Inter" pitchFamily="34" charset="0"/>
                <a:ea typeface="Inter" pitchFamily="34" charset="-122"/>
                <a:cs typeface="Inter" pitchFamily="34" charset="-120"/>
              </a:rPr>
              <a:t>Exploited unpatched SWIFT software flaws.</a:t>
            </a:r>
            <a:endParaRPr lang="en-US" sz="500" dirty="0"/>
          </a:p>
        </p:txBody>
      </p:sp>
      <p:sp>
        <p:nvSpPr>
          <p:cNvPr id="40" name="Shape 32"/>
          <p:cNvSpPr/>
          <p:nvPr/>
        </p:nvSpPr>
        <p:spPr>
          <a:xfrm>
            <a:off x="5592524" y="1682353"/>
            <a:ext cx="428625" cy="428625"/>
          </a:xfrm>
          <a:prstGeom prst="rect">
            <a:avLst/>
          </a:prstGeom>
          <a:solidFill>
            <a:srgbClr val="F9F9F9"/>
          </a:solidFill>
          <a:ln w="9144">
            <a:solidFill>
              <a:srgbClr val="000000"/>
            </a:solidFill>
            <a:prstDash val="solid"/>
          </a:ln>
        </p:spPr>
      </p:sp>
      <p:pic>
        <p:nvPicPr>
          <p:cNvPr id="41" name="Image 6" descr="preencoded.png"/>
          <p:cNvPicPr>
            <a:picLocks noChangeAspect="1"/>
          </p:cNvPicPr>
          <p:nvPr/>
        </p:nvPicPr>
        <p:blipFill>
          <a:blip r:embed="rId7"/>
          <a:stretch>
            <a:fillRect/>
          </a:stretch>
        </p:blipFill>
        <p:spPr>
          <a:xfrm>
            <a:off x="5721111" y="1810941"/>
            <a:ext cx="171450" cy="171450"/>
          </a:xfrm>
          <a:prstGeom prst="rect">
            <a:avLst/>
          </a:prstGeom>
        </p:spPr>
      </p:pic>
      <p:sp>
        <p:nvSpPr>
          <p:cNvPr id="42" name="Text 33"/>
          <p:cNvSpPr/>
          <p:nvPr/>
        </p:nvSpPr>
        <p:spPr>
          <a:xfrm>
            <a:off x="5646102" y="2182416"/>
            <a:ext cx="321469" cy="96441"/>
          </a:xfrm>
          <a:prstGeom prst="rect">
            <a:avLst/>
          </a:prstGeom>
          <a:noFill/>
        </p:spPr>
        <p:txBody>
          <a:bodyPr wrap="none" lIns="0" tIns="0" rIns="0" bIns="0" rtlCol="0" anchor="t">
            <a:spAutoFit/>
          </a:bodyPr>
          <a:lstStyle/>
          <a:p>
            <a:pPr marL="0" indent="0" algn="ctr">
              <a:buNone/>
            </a:pPr>
            <a:r>
              <a:rPr lang="en-US" sz="550" b="1" dirty="0">
                <a:solidFill>
                  <a:srgbClr val="F5C518"/>
                </a:solidFill>
                <a:latin typeface="Inter Black" pitchFamily="34" charset="0"/>
                <a:ea typeface="Inter Black" pitchFamily="34" charset="-122"/>
                <a:cs typeface="Inter Black" pitchFamily="34" charset="-120"/>
              </a:rPr>
              <a:t>D3FEND</a:t>
            </a:r>
            <a:endParaRPr lang="en-US" sz="550" dirty="0"/>
          </a:p>
        </p:txBody>
      </p:sp>
      <p:sp>
        <p:nvSpPr>
          <p:cNvPr id="43" name="Text 34"/>
          <p:cNvSpPr/>
          <p:nvPr/>
        </p:nvSpPr>
        <p:spPr>
          <a:xfrm>
            <a:off x="5225123" y="2336006"/>
            <a:ext cx="1163427" cy="185738"/>
          </a:xfrm>
          <a:prstGeom prst="rect">
            <a:avLst/>
          </a:prstGeom>
          <a:noFill/>
        </p:spPr>
        <p:txBody>
          <a:bodyPr wrap="square" lIns="0" tIns="0" rIns="0" bIns="0" rtlCol="0" anchor="t">
            <a:spAutoFit/>
          </a:bodyPr>
          <a:lstStyle/>
          <a:p>
            <a:pPr marL="0" indent="0" algn="ctr">
              <a:lnSpc>
                <a:spcPct val="104000"/>
              </a:lnSpc>
              <a:buNone/>
            </a:pPr>
            <a:r>
              <a:rPr lang="en-US" sz="500" dirty="0">
                <a:solidFill>
                  <a:srgbClr val="333333"/>
                </a:solidFill>
                <a:latin typeface="Inter" pitchFamily="34" charset="0"/>
                <a:ea typeface="Inter" pitchFamily="34" charset="-122"/>
                <a:cs typeface="Inter" pitchFamily="34" charset="-120"/>
              </a:rPr>
              <a:t>MFA would have blocked the fraudulent volumes.</a:t>
            </a:r>
            <a:endParaRPr lang="en-US" sz="500" dirty="0"/>
          </a:p>
        </p:txBody>
      </p:sp>
      <p:sp>
        <p:nvSpPr>
          <p:cNvPr id="44" name="Shape 35"/>
          <p:cNvSpPr/>
          <p:nvPr/>
        </p:nvSpPr>
        <p:spPr>
          <a:xfrm>
            <a:off x="6827360" y="1682353"/>
            <a:ext cx="428625" cy="428625"/>
          </a:xfrm>
          <a:prstGeom prst="rect">
            <a:avLst/>
          </a:prstGeom>
          <a:solidFill>
            <a:srgbClr val="F9F9F9"/>
          </a:solidFill>
          <a:ln w="9144">
            <a:solidFill>
              <a:srgbClr val="000000"/>
            </a:solidFill>
            <a:prstDash val="solid"/>
          </a:ln>
        </p:spPr>
      </p:sp>
      <p:pic>
        <p:nvPicPr>
          <p:cNvPr id="45" name="Image 7" descr="preencoded.png"/>
          <p:cNvPicPr>
            <a:picLocks noChangeAspect="1"/>
          </p:cNvPicPr>
          <p:nvPr/>
        </p:nvPicPr>
        <p:blipFill>
          <a:blip r:embed="rId8"/>
          <a:stretch>
            <a:fillRect/>
          </a:stretch>
        </p:blipFill>
        <p:spPr>
          <a:xfrm>
            <a:off x="6955948" y="1810941"/>
            <a:ext cx="171450" cy="171450"/>
          </a:xfrm>
          <a:prstGeom prst="rect">
            <a:avLst/>
          </a:prstGeom>
        </p:spPr>
      </p:pic>
      <p:sp>
        <p:nvSpPr>
          <p:cNvPr id="46" name="Text 36"/>
          <p:cNvSpPr/>
          <p:nvPr/>
        </p:nvSpPr>
        <p:spPr>
          <a:xfrm>
            <a:off x="6956840" y="2182416"/>
            <a:ext cx="169664" cy="96441"/>
          </a:xfrm>
          <a:prstGeom prst="rect">
            <a:avLst/>
          </a:prstGeom>
          <a:noFill/>
        </p:spPr>
        <p:txBody>
          <a:bodyPr wrap="none" lIns="0" tIns="0" rIns="0" bIns="0" rtlCol="0" anchor="t">
            <a:spAutoFit/>
          </a:bodyPr>
          <a:lstStyle/>
          <a:p>
            <a:pPr marL="0" indent="0" algn="ctr">
              <a:buNone/>
            </a:pPr>
            <a:r>
              <a:rPr lang="en-US" sz="550" b="1" dirty="0">
                <a:solidFill>
                  <a:srgbClr val="F5C518"/>
                </a:solidFill>
                <a:latin typeface="Inter Black" pitchFamily="34" charset="0"/>
                <a:ea typeface="Inter Black" pitchFamily="34" charset="-122"/>
                <a:cs typeface="Inter Black" pitchFamily="34" charset="-120"/>
              </a:rPr>
              <a:t>CAR</a:t>
            </a:r>
            <a:endParaRPr lang="en-US" sz="550" dirty="0"/>
          </a:p>
        </p:txBody>
      </p:sp>
      <p:sp>
        <p:nvSpPr>
          <p:cNvPr id="47" name="Text 37"/>
          <p:cNvSpPr/>
          <p:nvPr/>
        </p:nvSpPr>
        <p:spPr>
          <a:xfrm>
            <a:off x="6459987" y="2336006"/>
            <a:ext cx="1163399" cy="185738"/>
          </a:xfrm>
          <a:prstGeom prst="rect">
            <a:avLst/>
          </a:prstGeom>
          <a:noFill/>
        </p:spPr>
        <p:txBody>
          <a:bodyPr wrap="square" lIns="0" tIns="0" rIns="0" bIns="0" rtlCol="0" anchor="t">
            <a:spAutoFit/>
          </a:bodyPr>
          <a:lstStyle/>
          <a:p>
            <a:pPr marL="0" indent="0" algn="ctr">
              <a:lnSpc>
                <a:spcPct val="104000"/>
              </a:lnSpc>
              <a:buNone/>
            </a:pPr>
            <a:r>
              <a:rPr lang="en-US" sz="500" dirty="0">
                <a:solidFill>
                  <a:srgbClr val="333333"/>
                </a:solidFill>
                <a:latin typeface="Inter" pitchFamily="34" charset="0"/>
                <a:ea typeface="Inter" pitchFamily="34" charset="-122"/>
                <a:cs typeface="Inter" pitchFamily="34" charset="-120"/>
              </a:rPr>
              <a:t>Rules for after-hours access would have flagged it.</a:t>
            </a:r>
            <a:endParaRPr lang="en-US" sz="500" dirty="0"/>
          </a:p>
        </p:txBody>
      </p:sp>
      <p:sp>
        <p:nvSpPr>
          <p:cNvPr id="48" name="Shape 38"/>
          <p:cNvSpPr/>
          <p:nvPr/>
        </p:nvSpPr>
        <p:spPr>
          <a:xfrm>
            <a:off x="8062224" y="1682353"/>
            <a:ext cx="428625" cy="428625"/>
          </a:xfrm>
          <a:prstGeom prst="rect">
            <a:avLst/>
          </a:prstGeom>
          <a:solidFill>
            <a:srgbClr val="F9F9F9"/>
          </a:solidFill>
          <a:ln w="9144">
            <a:solidFill>
              <a:srgbClr val="000000"/>
            </a:solidFill>
            <a:prstDash val="solid"/>
          </a:ln>
        </p:spPr>
      </p:sp>
      <p:pic>
        <p:nvPicPr>
          <p:cNvPr id="49" name="Image 8" descr="preencoded.png"/>
          <p:cNvPicPr>
            <a:picLocks noChangeAspect="1"/>
          </p:cNvPicPr>
          <p:nvPr/>
        </p:nvPicPr>
        <p:blipFill>
          <a:blip r:embed="rId9"/>
          <a:stretch>
            <a:fillRect/>
          </a:stretch>
        </p:blipFill>
        <p:spPr>
          <a:xfrm>
            <a:off x="8190812" y="1810941"/>
            <a:ext cx="171450" cy="171450"/>
          </a:xfrm>
          <a:prstGeom prst="rect">
            <a:avLst/>
          </a:prstGeom>
        </p:spPr>
      </p:pic>
      <p:sp>
        <p:nvSpPr>
          <p:cNvPr id="50" name="Text 39"/>
          <p:cNvSpPr/>
          <p:nvPr/>
        </p:nvSpPr>
        <p:spPr>
          <a:xfrm>
            <a:off x="8085441" y="2182416"/>
            <a:ext cx="382191" cy="96441"/>
          </a:xfrm>
          <a:prstGeom prst="rect">
            <a:avLst/>
          </a:prstGeom>
          <a:noFill/>
        </p:spPr>
        <p:txBody>
          <a:bodyPr wrap="none" lIns="0" tIns="0" rIns="0" bIns="0" rtlCol="0" anchor="t">
            <a:spAutoFit/>
          </a:bodyPr>
          <a:lstStyle/>
          <a:p>
            <a:pPr marL="0" indent="0" algn="ctr">
              <a:buNone/>
            </a:pPr>
            <a:r>
              <a:rPr lang="en-US" sz="550" b="1" dirty="0">
                <a:solidFill>
                  <a:srgbClr val="F5C518"/>
                </a:solidFill>
                <a:latin typeface="Inter Black" pitchFamily="34" charset="0"/>
                <a:ea typeface="Inter Black" pitchFamily="34" charset="-122"/>
                <a:cs typeface="Inter Black" pitchFamily="34" charset="-120"/>
              </a:rPr>
              <a:t>PYRAMID</a:t>
            </a:r>
            <a:endParaRPr lang="en-US" sz="550" dirty="0"/>
          </a:p>
        </p:txBody>
      </p:sp>
      <p:sp>
        <p:nvSpPr>
          <p:cNvPr id="51" name="Text 40"/>
          <p:cNvSpPr/>
          <p:nvPr/>
        </p:nvSpPr>
        <p:spPr>
          <a:xfrm>
            <a:off x="7694823" y="2336006"/>
            <a:ext cx="1163427" cy="185738"/>
          </a:xfrm>
          <a:prstGeom prst="rect">
            <a:avLst/>
          </a:prstGeom>
          <a:noFill/>
        </p:spPr>
        <p:txBody>
          <a:bodyPr wrap="square" lIns="0" tIns="0" rIns="0" bIns="0" rtlCol="0" anchor="t">
            <a:spAutoFit/>
          </a:bodyPr>
          <a:lstStyle/>
          <a:p>
            <a:pPr marL="0" indent="0" algn="ctr">
              <a:lnSpc>
                <a:spcPct val="104000"/>
              </a:lnSpc>
              <a:buNone/>
            </a:pPr>
            <a:r>
              <a:rPr lang="en-US" sz="500" dirty="0">
                <a:solidFill>
                  <a:srgbClr val="333333"/>
                </a:solidFill>
                <a:latin typeface="Inter" pitchFamily="34" charset="0"/>
                <a:ea typeface="Inter" pitchFamily="34" charset="-122"/>
                <a:cs typeface="Inter" pitchFamily="34" charset="-120"/>
              </a:rPr>
              <a:t>Behavioral detection caught them despite IP changes.</a:t>
            </a:r>
            <a:endParaRPr lang="en-US" sz="500" dirty="0"/>
          </a:p>
        </p:txBody>
      </p:sp>
      <p:sp>
        <p:nvSpPr>
          <p:cNvPr id="52" name="Shape 41"/>
          <p:cNvSpPr/>
          <p:nvPr/>
        </p:nvSpPr>
        <p:spPr>
          <a:xfrm>
            <a:off x="285750" y="2807494"/>
            <a:ext cx="8572500" cy="521494"/>
          </a:xfrm>
          <a:prstGeom prst="rect">
            <a:avLst/>
          </a:prstGeom>
          <a:solidFill>
            <a:srgbClr val="F5C518"/>
          </a:solidFill>
          <a:ln w="18288">
            <a:solidFill>
              <a:srgbClr val="000000"/>
            </a:solidFill>
            <a:prstDash val="solid"/>
          </a:ln>
        </p:spPr>
      </p:sp>
      <p:sp>
        <p:nvSpPr>
          <p:cNvPr id="53" name="Text 42"/>
          <p:cNvSpPr/>
          <p:nvPr/>
        </p:nvSpPr>
        <p:spPr>
          <a:xfrm>
            <a:off x="285750" y="2807494"/>
            <a:ext cx="8572500" cy="521494"/>
          </a:xfrm>
          <a:prstGeom prst="rect">
            <a:avLst/>
          </a:prstGeom>
          <a:noFill/>
        </p:spPr>
        <p:txBody>
          <a:bodyPr wrap="square" lIns="340233" tIns="170053" rIns="340233" bIns="170053" rtlCol="0" anchor="t">
            <a:spAutoFit/>
          </a:bodyPr>
          <a:lstStyle/>
          <a:p>
            <a:pPr marL="0" indent="0" algn="ctr">
              <a:buNone/>
            </a:pPr>
            <a:r>
              <a:rPr lang="en-US" sz="1200" b="1" dirty="0">
                <a:solidFill>
                  <a:srgbClr val="000000"/>
                </a:solidFill>
                <a:latin typeface="Inter Black" pitchFamily="34" charset="0"/>
                <a:ea typeface="Inter Black" pitchFamily="34" charset="-122"/>
                <a:cs typeface="Inter Black" pitchFamily="34" charset="-120"/>
              </a:rPr>
              <a:t>ONE ATTACK. EVERY FRAMEWORK. ONE ECOSYSTEM. THIS IS WHY MITRE EXISTS.</a:t>
            </a:r>
            <a:endParaRPr lang="en-US" sz="1200" dirty="0"/>
          </a:p>
        </p:txBody>
      </p:sp>
      <p:sp>
        <p:nvSpPr>
          <p:cNvPr id="54" name="Oval 53"/>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285750" y="285750"/>
            <a:ext cx="428625" cy="214313"/>
          </a:xfrm>
          <a:prstGeom prst="roundRect">
            <a:avLst/>
          </a:prstGeom>
          <a:solidFill>
            <a:srgbClr val="F5C518"/>
          </a:solidFill>
        </p:spPr>
      </p:sp>
      <p:sp>
        <p:nvSpPr>
          <p:cNvPr id="4" name="Text 1"/>
          <p:cNvSpPr/>
          <p:nvPr/>
        </p:nvSpPr>
        <p:spPr>
          <a:xfrm>
            <a:off x="800100" y="315218"/>
            <a:ext cx="1369814" cy="155377"/>
          </a:xfrm>
          <a:prstGeom prst="rect">
            <a:avLst/>
          </a:prstGeom>
          <a:noFill/>
        </p:spPr>
        <p:txBody>
          <a:bodyPr wrap="square" lIns="0" tIns="0" rIns="0" bIns="0" rtlCol="0" anchor="t">
            <a:spAutoFit/>
          </a:bodyPr>
          <a:lstStyle/>
          <a:p>
            <a:pPr marL="0" indent="0" algn="l">
              <a:buNone/>
            </a:pPr>
            <a:r>
              <a:rPr lang="en-US" sz="900" b="1" dirty="0">
                <a:solidFill>
                  <a:srgbClr val="000000"/>
                </a:solidFill>
                <a:latin typeface="Inter Bold" pitchFamily="34" charset="0"/>
                <a:ea typeface="Inter Bold" pitchFamily="34" charset="-122"/>
                <a:cs typeface="Inter Bold" pitchFamily="34" charset="-120"/>
              </a:rPr>
              <a:t>Hidden Investigations</a:t>
            </a:r>
            <a:endParaRPr lang="en-US" sz="900" dirty="0"/>
          </a:p>
        </p:txBody>
      </p:sp>
      <p:sp>
        <p:nvSpPr>
          <p:cNvPr id="5" name="Text 2"/>
          <p:cNvSpPr/>
          <p:nvPr/>
        </p:nvSpPr>
        <p:spPr>
          <a:xfrm>
            <a:off x="0" y="4807744"/>
            <a:ext cx="9144000" cy="121444"/>
          </a:xfrm>
          <a:prstGeom prst="rect">
            <a:avLst/>
          </a:prstGeom>
          <a:noFill/>
        </p:spPr>
        <p:txBody>
          <a:bodyPr wrap="square" lIns="0" tIns="0" rIns="0" bIns="0" rtlCol="0" anchor="t">
            <a:spAutoFit/>
          </a:bodyPr>
          <a:lstStyle/>
          <a:p>
            <a:pPr marL="0" indent="0" algn="ctr">
              <a:buNone/>
            </a:pPr>
            <a:r>
              <a:rPr lang="en-US" sz="750" dirty="0">
                <a:solidFill>
                  <a:srgbClr val="000000"/>
                </a:solidFill>
                <a:latin typeface="Inter" pitchFamily="34" charset="0"/>
                <a:ea typeface="Inter" pitchFamily="34" charset="-122"/>
                <a:cs typeface="Inter" pitchFamily="34" charset="-120"/>
              </a:rPr>
              <a:t>Hiddeninvestigations.Net</a:t>
            </a:r>
            <a:endParaRPr lang="en-US" sz="750" dirty="0"/>
          </a:p>
        </p:txBody>
      </p:sp>
      <p:sp>
        <p:nvSpPr>
          <p:cNvPr id="6" name="Text 3"/>
          <p:cNvSpPr/>
          <p:nvPr/>
        </p:nvSpPr>
        <p:spPr>
          <a:xfrm>
            <a:off x="8340328" y="4018359"/>
            <a:ext cx="432435" cy="507365"/>
          </a:xfrm>
          <a:prstGeom prst="rect">
            <a:avLst/>
          </a:prstGeom>
          <a:noFill/>
        </p:spPr>
        <p:txBody>
          <a:bodyPr wrap="none" lIns="0" tIns="0" rIns="0" bIns="0" rtlCol="0" anchor="t">
            <a:spAutoFit/>
          </a:bodyPr>
          <a:lstStyle/>
          <a:p>
            <a:pPr marL="0" indent="0" algn="l">
              <a:buNone/>
            </a:pPr>
            <a:r>
              <a:rPr lang="en-US" sz="3300" b="1" dirty="0">
                <a:solidFill>
                  <a:srgbClr val="000000"/>
                </a:solidFill>
                <a:latin typeface="Inter Black" pitchFamily="34" charset="0"/>
                <a:ea typeface="Inter Black" pitchFamily="34" charset="-122"/>
                <a:cs typeface="Inter Black" pitchFamily="34" charset="-120"/>
              </a:rPr>
              <a:t>27</a:t>
            </a:r>
            <a:endParaRPr lang="en-US" sz="3300" dirty="0"/>
          </a:p>
        </p:txBody>
      </p:sp>
      <p:sp>
        <p:nvSpPr>
          <p:cNvPr id="7" name="Text 4"/>
          <p:cNvSpPr/>
          <p:nvPr/>
        </p:nvSpPr>
        <p:spPr>
          <a:xfrm>
            <a:off x="571500" y="714375"/>
            <a:ext cx="8001000" cy="414338"/>
          </a:xfrm>
          <a:prstGeom prst="rect">
            <a:avLst/>
          </a:prstGeom>
          <a:noFill/>
        </p:spPr>
        <p:txBody>
          <a:bodyPr wrap="square" lIns="0" tIns="0" rIns="0" bIns="0" rtlCol="0" anchor="t">
            <a:spAutoFit/>
          </a:bodyPr>
          <a:lstStyle/>
          <a:p>
            <a:pPr marL="0" indent="0" algn="ctr">
              <a:buNone/>
            </a:pPr>
            <a:r>
              <a:rPr lang="en-US" sz="2450" b="1" dirty="0">
                <a:solidFill>
                  <a:srgbClr val="000000"/>
                </a:solidFill>
                <a:latin typeface="Inter Black" pitchFamily="34" charset="0"/>
                <a:ea typeface="Inter Black" pitchFamily="34" charset="-122"/>
                <a:cs typeface="Inter Black" pitchFamily="34" charset="-120"/>
              </a:rPr>
              <a:t>What You Now Know That Most People Don't.</a:t>
            </a:r>
            <a:endParaRPr lang="en-US" sz="2450" dirty="0"/>
          </a:p>
        </p:txBody>
      </p:sp>
      <p:sp>
        <p:nvSpPr>
          <p:cNvPr id="8" name="Shape 5"/>
          <p:cNvSpPr/>
          <p:nvPr/>
        </p:nvSpPr>
        <p:spPr>
          <a:xfrm>
            <a:off x="571500" y="1557338"/>
            <a:ext cx="2524116" cy="2143125"/>
          </a:xfrm>
          <a:prstGeom prst="rect">
            <a:avLst/>
          </a:prstGeom>
          <a:solidFill>
            <a:srgbClr val="FFFFFF"/>
          </a:solidFill>
        </p:spPr>
      </p:sp>
      <p:sp>
        <p:nvSpPr>
          <p:cNvPr id="9" name="Shape 6"/>
          <p:cNvSpPr/>
          <p:nvPr/>
        </p:nvSpPr>
        <p:spPr>
          <a:xfrm>
            <a:off x="571500" y="1557338"/>
            <a:ext cx="42863" cy="2143125"/>
          </a:xfrm>
          <a:prstGeom prst="rect">
            <a:avLst/>
          </a:prstGeom>
          <a:solidFill>
            <a:srgbClr val="F5C518"/>
          </a:solidFill>
        </p:spPr>
      </p:sp>
      <p:sp>
        <p:nvSpPr>
          <p:cNvPr id="10" name="Text 7"/>
          <p:cNvSpPr/>
          <p:nvPr/>
        </p:nvSpPr>
        <p:spPr>
          <a:xfrm>
            <a:off x="750094" y="1771650"/>
            <a:ext cx="2138353" cy="342900"/>
          </a:xfrm>
          <a:prstGeom prst="rect">
            <a:avLst/>
          </a:prstGeom>
          <a:noFill/>
        </p:spPr>
        <p:txBody>
          <a:bodyPr wrap="none" lIns="0" tIns="0" rIns="0" bIns="0" rtlCol="0" anchor="t">
            <a:spAutoFit/>
          </a:bodyPr>
          <a:lstStyle/>
          <a:p>
            <a:pPr marL="0" indent="0" algn="l">
              <a:lnSpc>
                <a:spcPct val="80000"/>
              </a:lnSpc>
              <a:buNone/>
            </a:pPr>
            <a:r>
              <a:rPr lang="en-US" sz="2450" b="1" dirty="0">
                <a:solidFill>
                  <a:srgbClr val="F5C518"/>
                </a:solidFill>
                <a:latin typeface="Inter Black" pitchFamily="34" charset="0"/>
                <a:ea typeface="Inter Black" pitchFamily="34" charset="-122"/>
                <a:cs typeface="Inter Black" pitchFamily="34" charset="-120"/>
              </a:rPr>
              <a:t>01</a:t>
            </a:r>
            <a:endParaRPr lang="en-US" sz="2450" dirty="0"/>
          </a:p>
        </p:txBody>
      </p:sp>
      <p:sp>
        <p:nvSpPr>
          <p:cNvPr id="11" name="Text 8"/>
          <p:cNvSpPr/>
          <p:nvPr/>
        </p:nvSpPr>
        <p:spPr>
          <a:xfrm>
            <a:off x="750094" y="2257425"/>
            <a:ext cx="2138353" cy="189309"/>
          </a:xfrm>
          <a:prstGeom prst="rect">
            <a:avLst/>
          </a:prstGeom>
          <a:noFill/>
        </p:spPr>
        <p:txBody>
          <a:bodyPr wrap="square" lIns="0" tIns="0" rIns="0" bIns="0" rtlCol="0" anchor="t">
            <a:spAutoFit/>
          </a:bodyPr>
          <a:lstStyle/>
          <a:p>
            <a:pPr marL="0" indent="0" algn="l">
              <a:buNone/>
            </a:pPr>
            <a:r>
              <a:rPr lang="en-US" sz="1100" b="1" kern="0" spc="1" dirty="0">
                <a:solidFill>
                  <a:srgbClr val="000000"/>
                </a:solidFill>
                <a:latin typeface="Inter Black" pitchFamily="34" charset="0"/>
                <a:ea typeface="Inter Black" pitchFamily="34" charset="-122"/>
                <a:cs typeface="Inter Black" pitchFamily="34" charset="-120"/>
              </a:rPr>
              <a:t>COMMON LANGUAGE</a:t>
            </a:r>
            <a:endParaRPr lang="en-US" sz="1100" dirty="0"/>
          </a:p>
        </p:txBody>
      </p:sp>
      <p:sp>
        <p:nvSpPr>
          <p:cNvPr id="12" name="Text 9"/>
          <p:cNvSpPr/>
          <p:nvPr/>
        </p:nvSpPr>
        <p:spPr>
          <a:xfrm>
            <a:off x="750094" y="2553891"/>
            <a:ext cx="2138353" cy="685800"/>
          </a:xfrm>
          <a:prstGeom prst="rect">
            <a:avLst/>
          </a:prstGeom>
          <a:noFill/>
        </p:spPr>
        <p:txBody>
          <a:bodyPr wrap="square" lIns="0" tIns="0" rIns="0" bIns="0" rtlCol="0" anchor="t">
            <a:spAutoFit/>
          </a:bodyPr>
          <a:lstStyle/>
          <a:p>
            <a:pPr marL="0" indent="0" algn="l">
              <a:lnSpc>
                <a:spcPct val="128000"/>
              </a:lnSpc>
              <a:buNone/>
            </a:pPr>
            <a:r>
              <a:rPr lang="en-US" sz="800" dirty="0">
                <a:solidFill>
                  <a:srgbClr val="333333"/>
                </a:solidFill>
                <a:latin typeface="Inter" pitchFamily="34" charset="0"/>
                <a:ea typeface="Inter" pitchFamily="34" charset="-122"/>
                <a:cs typeface="Inter" pitchFamily="34" charset="-120"/>
              </a:rPr>
              <a:t>MITRE gave attackers and defenders a shared dictionary. We no longer waste time translating; we spend time defending.</a:t>
            </a:r>
            <a:endParaRPr lang="en-US" sz="800" dirty="0"/>
          </a:p>
        </p:txBody>
      </p:sp>
      <p:sp>
        <p:nvSpPr>
          <p:cNvPr id="13" name="Shape 10"/>
          <p:cNvSpPr/>
          <p:nvPr/>
        </p:nvSpPr>
        <p:spPr>
          <a:xfrm>
            <a:off x="3281353" y="1557338"/>
            <a:ext cx="2538403" cy="2143125"/>
          </a:xfrm>
          <a:prstGeom prst="rect">
            <a:avLst/>
          </a:prstGeom>
          <a:solidFill>
            <a:srgbClr val="FFFFFF"/>
          </a:solidFill>
        </p:spPr>
      </p:sp>
      <p:sp>
        <p:nvSpPr>
          <p:cNvPr id="14" name="Shape 11"/>
          <p:cNvSpPr/>
          <p:nvPr/>
        </p:nvSpPr>
        <p:spPr>
          <a:xfrm>
            <a:off x="3281353" y="1557338"/>
            <a:ext cx="42863" cy="2143125"/>
          </a:xfrm>
          <a:prstGeom prst="rect">
            <a:avLst/>
          </a:prstGeom>
          <a:solidFill>
            <a:srgbClr val="F5C518"/>
          </a:solidFill>
        </p:spPr>
      </p:sp>
      <p:sp>
        <p:nvSpPr>
          <p:cNvPr id="15" name="Text 12"/>
          <p:cNvSpPr/>
          <p:nvPr/>
        </p:nvSpPr>
        <p:spPr>
          <a:xfrm>
            <a:off x="3474234" y="1771650"/>
            <a:ext cx="2152641" cy="342900"/>
          </a:xfrm>
          <a:prstGeom prst="rect">
            <a:avLst/>
          </a:prstGeom>
          <a:noFill/>
        </p:spPr>
        <p:txBody>
          <a:bodyPr wrap="none" lIns="0" tIns="0" rIns="0" bIns="0" rtlCol="0" anchor="t">
            <a:spAutoFit/>
          </a:bodyPr>
          <a:lstStyle/>
          <a:p>
            <a:pPr marL="0" indent="0" algn="l">
              <a:lnSpc>
                <a:spcPct val="80000"/>
              </a:lnSpc>
              <a:buNone/>
            </a:pPr>
            <a:r>
              <a:rPr lang="en-US" sz="2450" b="1" dirty="0">
                <a:solidFill>
                  <a:srgbClr val="F5C518"/>
                </a:solidFill>
                <a:latin typeface="Inter Black" pitchFamily="34" charset="0"/>
                <a:ea typeface="Inter Black" pitchFamily="34" charset="-122"/>
                <a:cs typeface="Inter Black" pitchFamily="34" charset="-120"/>
              </a:rPr>
              <a:t>02</a:t>
            </a:r>
            <a:endParaRPr lang="en-US" sz="2450" dirty="0"/>
          </a:p>
        </p:txBody>
      </p:sp>
      <p:sp>
        <p:nvSpPr>
          <p:cNvPr id="16" name="Text 13"/>
          <p:cNvSpPr/>
          <p:nvPr/>
        </p:nvSpPr>
        <p:spPr>
          <a:xfrm>
            <a:off x="3474234" y="2257425"/>
            <a:ext cx="2152641" cy="189309"/>
          </a:xfrm>
          <a:prstGeom prst="rect">
            <a:avLst/>
          </a:prstGeom>
          <a:noFill/>
        </p:spPr>
        <p:txBody>
          <a:bodyPr wrap="square" lIns="0" tIns="0" rIns="0" bIns="0" rtlCol="0" anchor="t">
            <a:spAutoFit/>
          </a:bodyPr>
          <a:lstStyle/>
          <a:p>
            <a:pPr marL="0" indent="0" algn="l">
              <a:buNone/>
            </a:pPr>
            <a:r>
              <a:rPr lang="en-US" sz="1100" b="1" kern="0" spc="1" dirty="0">
                <a:solidFill>
                  <a:srgbClr val="000000"/>
                </a:solidFill>
                <a:latin typeface="Inter Black" pitchFamily="34" charset="0"/>
                <a:ea typeface="Inter Black" pitchFamily="34" charset="-122"/>
                <a:cs typeface="Inter Black" pitchFamily="34" charset="-120"/>
              </a:rPr>
              <a:t>PREDICTABLE BEHAVIOR</a:t>
            </a:r>
            <a:endParaRPr lang="en-US" sz="1100" dirty="0"/>
          </a:p>
        </p:txBody>
      </p:sp>
      <p:sp>
        <p:nvSpPr>
          <p:cNvPr id="17" name="Text 14"/>
          <p:cNvSpPr/>
          <p:nvPr/>
        </p:nvSpPr>
        <p:spPr>
          <a:xfrm>
            <a:off x="3474234" y="2553891"/>
            <a:ext cx="2152641" cy="685800"/>
          </a:xfrm>
          <a:prstGeom prst="rect">
            <a:avLst/>
          </a:prstGeom>
          <a:noFill/>
        </p:spPr>
        <p:txBody>
          <a:bodyPr wrap="square" lIns="0" tIns="0" rIns="0" bIns="0" rtlCol="0" anchor="t">
            <a:spAutoFit/>
          </a:bodyPr>
          <a:lstStyle/>
          <a:p>
            <a:pPr marL="0" indent="0" algn="l">
              <a:lnSpc>
                <a:spcPct val="128000"/>
              </a:lnSpc>
              <a:buNone/>
            </a:pPr>
            <a:r>
              <a:rPr lang="en-US" sz="800" dirty="0">
                <a:solidFill>
                  <a:srgbClr val="333333"/>
                </a:solidFill>
                <a:latin typeface="Inter" pitchFamily="34" charset="0"/>
                <a:ea typeface="Inter" pitchFamily="34" charset="-122"/>
                <a:cs typeface="Inter" pitchFamily="34" charset="-120"/>
              </a:rPr>
              <a:t>No cyberattack is magic. Every technique has a documented name, a proven detection method, and a structured defense.</a:t>
            </a:r>
            <a:endParaRPr lang="en-US" sz="800" dirty="0"/>
          </a:p>
        </p:txBody>
      </p:sp>
      <p:sp>
        <p:nvSpPr>
          <p:cNvPr id="18" name="Shape 15"/>
          <p:cNvSpPr/>
          <p:nvPr/>
        </p:nvSpPr>
        <p:spPr>
          <a:xfrm>
            <a:off x="6019781" y="1557338"/>
            <a:ext cx="2552691" cy="2143125"/>
          </a:xfrm>
          <a:prstGeom prst="rect">
            <a:avLst/>
          </a:prstGeom>
          <a:solidFill>
            <a:srgbClr val="FFFFFF"/>
          </a:solidFill>
        </p:spPr>
      </p:sp>
      <p:sp>
        <p:nvSpPr>
          <p:cNvPr id="19" name="Shape 16"/>
          <p:cNvSpPr/>
          <p:nvPr/>
        </p:nvSpPr>
        <p:spPr>
          <a:xfrm>
            <a:off x="6019781" y="1557338"/>
            <a:ext cx="42863" cy="2143125"/>
          </a:xfrm>
          <a:prstGeom prst="rect">
            <a:avLst/>
          </a:prstGeom>
          <a:solidFill>
            <a:srgbClr val="F5C518"/>
          </a:solidFill>
        </p:spPr>
      </p:sp>
      <p:sp>
        <p:nvSpPr>
          <p:cNvPr id="20" name="Text 17"/>
          <p:cNvSpPr/>
          <p:nvPr/>
        </p:nvSpPr>
        <p:spPr>
          <a:xfrm>
            <a:off x="6226950" y="1771650"/>
            <a:ext cx="2166928" cy="342900"/>
          </a:xfrm>
          <a:prstGeom prst="rect">
            <a:avLst/>
          </a:prstGeom>
          <a:noFill/>
        </p:spPr>
        <p:txBody>
          <a:bodyPr wrap="none" lIns="0" tIns="0" rIns="0" bIns="0" rtlCol="0" anchor="t">
            <a:spAutoFit/>
          </a:bodyPr>
          <a:lstStyle/>
          <a:p>
            <a:pPr marL="0" indent="0" algn="l">
              <a:lnSpc>
                <a:spcPct val="80000"/>
              </a:lnSpc>
              <a:buNone/>
            </a:pPr>
            <a:r>
              <a:rPr lang="en-US" sz="2450" b="1" dirty="0">
                <a:solidFill>
                  <a:srgbClr val="F5C518"/>
                </a:solidFill>
                <a:latin typeface="Inter Black" pitchFamily="34" charset="0"/>
                <a:ea typeface="Inter Black" pitchFamily="34" charset="-122"/>
                <a:cs typeface="Inter Black" pitchFamily="34" charset="-120"/>
              </a:rPr>
              <a:t>03</a:t>
            </a:r>
            <a:endParaRPr lang="en-US" sz="2450" dirty="0"/>
          </a:p>
        </p:txBody>
      </p:sp>
      <p:sp>
        <p:nvSpPr>
          <p:cNvPr id="21" name="Text 18"/>
          <p:cNvSpPr/>
          <p:nvPr/>
        </p:nvSpPr>
        <p:spPr>
          <a:xfrm>
            <a:off x="6226950" y="2257425"/>
            <a:ext cx="2166928" cy="189309"/>
          </a:xfrm>
          <a:prstGeom prst="rect">
            <a:avLst/>
          </a:prstGeom>
          <a:noFill/>
        </p:spPr>
        <p:txBody>
          <a:bodyPr wrap="square" lIns="0" tIns="0" rIns="0" bIns="0" rtlCol="0" anchor="t">
            <a:spAutoFit/>
          </a:bodyPr>
          <a:lstStyle/>
          <a:p>
            <a:pPr marL="0" indent="0" algn="l">
              <a:buNone/>
            </a:pPr>
            <a:r>
              <a:rPr lang="en-US" sz="1100" b="1" kern="0" spc="1" dirty="0">
                <a:solidFill>
                  <a:srgbClr val="000000"/>
                </a:solidFill>
                <a:latin typeface="Inter Black" pitchFamily="34" charset="0"/>
                <a:ea typeface="Inter Black" pitchFamily="34" charset="-122"/>
                <a:cs typeface="Inter Black" pitchFamily="34" charset="-120"/>
              </a:rPr>
              <a:t>UNIVERSAL ACCESS</a:t>
            </a:r>
            <a:endParaRPr lang="en-US" sz="1100" dirty="0"/>
          </a:p>
        </p:txBody>
      </p:sp>
      <p:sp>
        <p:nvSpPr>
          <p:cNvPr id="22" name="Text 19"/>
          <p:cNvSpPr/>
          <p:nvPr/>
        </p:nvSpPr>
        <p:spPr>
          <a:xfrm>
            <a:off x="6226950" y="2553891"/>
            <a:ext cx="2166928" cy="685800"/>
          </a:xfrm>
          <a:prstGeom prst="rect">
            <a:avLst/>
          </a:prstGeom>
          <a:noFill/>
        </p:spPr>
        <p:txBody>
          <a:bodyPr wrap="square" lIns="0" tIns="0" rIns="0" bIns="0" rtlCol="0" anchor="t">
            <a:spAutoFit/>
          </a:bodyPr>
          <a:lstStyle/>
          <a:p>
            <a:pPr marL="0" indent="0" algn="l">
              <a:lnSpc>
                <a:spcPct val="128000"/>
              </a:lnSpc>
              <a:buNone/>
            </a:pPr>
            <a:r>
              <a:rPr lang="en-US" sz="800" dirty="0">
                <a:solidFill>
                  <a:srgbClr val="333333"/>
                </a:solidFill>
                <a:latin typeface="Inter" pitchFamily="34" charset="0"/>
                <a:ea typeface="Inter" pitchFamily="34" charset="-122"/>
                <a:cs typeface="Inter" pitchFamily="34" charset="-120"/>
              </a:rPr>
              <a:t>These frameworks aren't just for "hackers." They are for executives, policy makers, and developers to make better decisions.</a:t>
            </a:r>
            <a:endParaRPr lang="en-US" sz="800" dirty="0"/>
          </a:p>
        </p:txBody>
      </p:sp>
      <p:sp>
        <p:nvSpPr>
          <p:cNvPr id="23" name="Text 20"/>
          <p:cNvSpPr/>
          <p:nvPr/>
        </p:nvSpPr>
        <p:spPr>
          <a:xfrm>
            <a:off x="571500" y="4129088"/>
            <a:ext cx="8001000" cy="155377"/>
          </a:xfrm>
          <a:prstGeom prst="rect">
            <a:avLst/>
          </a:prstGeom>
          <a:noFill/>
        </p:spPr>
        <p:txBody>
          <a:bodyPr wrap="square" lIns="0" tIns="0" rIns="0" bIns="0" rtlCol="0" anchor="t">
            <a:spAutoFit/>
          </a:bodyPr>
          <a:lstStyle/>
          <a:p>
            <a:pPr marL="0" indent="0" algn="ctr">
              <a:buNone/>
            </a:pPr>
            <a:r>
              <a:rPr lang="en-US" sz="950" i="1" dirty="0">
                <a:solidFill>
                  <a:srgbClr val="666666"/>
                </a:solidFill>
                <a:latin typeface="Inter" pitchFamily="34" charset="0"/>
                <a:ea typeface="Inter" pitchFamily="34" charset="-122"/>
                <a:cs typeface="Inter" pitchFamily="34" charset="-120"/>
              </a:rPr>
              <a:t>The next time you see a cyberattack in the headlines — you now know exactly how to think about it.</a:t>
            </a:r>
            <a:endParaRPr lang="en-US" sz="950" dirty="0"/>
          </a:p>
        </p:txBody>
      </p:sp>
      <p:sp>
        <p:nvSpPr>
          <p:cNvPr id="24" name="Oval 23"/>
          <p:cNvSpPr/>
          <p:nvPr/>
        </p:nvSpPr>
        <p:spPr>
          <a:xfrm>
            <a:off x="570230" y="332105"/>
            <a:ext cx="107315" cy="109855"/>
          </a:xfrm>
          <a:prstGeom prst="ellipse">
            <a:avLst/>
          </a:prstGeom>
          <a:solidFill>
            <a:schemeClr val="tx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32385" y="174784"/>
            <a:ext cx="9101138" cy="4805363"/>
          </a:xfrm>
          <a:prstGeom prst="rect">
            <a:avLst/>
          </a:prstGeom>
        </p:spPr>
      </p:pic>
      <p:sp>
        <p:nvSpPr>
          <p:cNvPr id="3" name="Rectangles 2"/>
          <p:cNvSpPr/>
          <p:nvPr/>
        </p:nvSpPr>
        <p:spPr>
          <a:xfrm>
            <a:off x="640715" y="3894455"/>
            <a:ext cx="1159510" cy="690880"/>
          </a:xfrm>
          <a:prstGeom prst="rect">
            <a:avLst/>
          </a:prstGeom>
          <a:solidFill>
            <a:schemeClr val="bg1"/>
          </a:solidFill>
          <a:ln>
            <a:noFill/>
          </a:ln>
        </p:spPr>
        <p:style>
          <a:lnRef idx="2">
            <a:schemeClr val="accent1"/>
          </a:lnRef>
          <a:fillRef idx="0">
            <a:srgbClr val="FFFFFF"/>
          </a:fillRef>
          <a:effectRef idx="0">
            <a:srgbClr val="FFFFFF"/>
          </a:effectRef>
          <a:fontRef idx="minor">
            <a:schemeClr val="tx1"/>
          </a:fontRef>
        </p:style>
        <p:txBody>
          <a:bodyPr rtlCol="0" anchor="ctr"/>
          <a:p>
            <a:pPr algn="ctr"/>
            <a:endParaRPr lang="en-GB"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514350" y="319831"/>
            <a:ext cx="648008" cy="194519"/>
            <a:chOff x="0" y="0"/>
            <a:chExt cx="341337" cy="102463"/>
          </a:xfrm>
        </p:grpSpPr>
        <p:sp>
          <p:nvSpPr>
            <p:cNvPr id="3" name="Freeform 3"/>
            <p:cNvSpPr/>
            <p:nvPr/>
          </p:nvSpPr>
          <p:spPr>
            <a:xfrm>
              <a:off x="0" y="0"/>
              <a:ext cx="341337" cy="102463"/>
            </a:xfrm>
            <a:custGeom>
              <a:avLst/>
              <a:gdLst/>
              <a:ahLst/>
              <a:cxnLst/>
              <a:rect l="l" t="t" r="r" b="b"/>
              <a:pathLst>
                <a:path w="341337" h="102463">
                  <a:moveTo>
                    <a:pt x="51231" y="0"/>
                  </a:moveTo>
                  <a:lnTo>
                    <a:pt x="290106" y="0"/>
                  </a:lnTo>
                  <a:cubicBezTo>
                    <a:pt x="303693" y="0"/>
                    <a:pt x="316724" y="5398"/>
                    <a:pt x="326332" y="15005"/>
                  </a:cubicBezTo>
                  <a:cubicBezTo>
                    <a:pt x="335940" y="24613"/>
                    <a:pt x="341337" y="37644"/>
                    <a:pt x="341337" y="51231"/>
                  </a:cubicBezTo>
                  <a:lnTo>
                    <a:pt x="341337" y="51231"/>
                  </a:lnTo>
                  <a:cubicBezTo>
                    <a:pt x="341337" y="79526"/>
                    <a:pt x="318400" y="102463"/>
                    <a:pt x="290106" y="102463"/>
                  </a:cubicBezTo>
                  <a:lnTo>
                    <a:pt x="51231" y="102463"/>
                  </a:lnTo>
                  <a:cubicBezTo>
                    <a:pt x="37644" y="102463"/>
                    <a:pt x="24613" y="97065"/>
                    <a:pt x="15005" y="87458"/>
                  </a:cubicBezTo>
                  <a:cubicBezTo>
                    <a:pt x="5398" y="77850"/>
                    <a:pt x="0" y="64819"/>
                    <a:pt x="0" y="51231"/>
                  </a:cubicBezTo>
                  <a:lnTo>
                    <a:pt x="0" y="51231"/>
                  </a:lnTo>
                  <a:cubicBezTo>
                    <a:pt x="0" y="37644"/>
                    <a:pt x="5398" y="24613"/>
                    <a:pt x="15005" y="15005"/>
                  </a:cubicBezTo>
                  <a:cubicBezTo>
                    <a:pt x="24613" y="5398"/>
                    <a:pt x="37644" y="0"/>
                    <a:pt x="51231" y="0"/>
                  </a:cubicBezTo>
                  <a:close/>
                </a:path>
              </a:pathLst>
            </a:custGeom>
            <a:solidFill>
              <a:srgbClr val="FFDE59"/>
            </a:solidFill>
          </p:spPr>
        </p:sp>
        <p:sp>
          <p:nvSpPr>
            <p:cNvPr id="4" name="TextBox 4"/>
            <p:cNvSpPr txBox="1"/>
            <p:nvPr/>
          </p:nvSpPr>
          <p:spPr>
            <a:xfrm>
              <a:off x="0" y="-9525"/>
              <a:ext cx="341337" cy="111988"/>
            </a:xfrm>
            <a:prstGeom prst="rect">
              <a:avLst/>
            </a:prstGeom>
          </p:spPr>
          <p:txBody>
            <a:bodyPr lIns="25399" tIns="25399" rIns="25399" bIns="25399" rtlCol="0" anchor="ctr"/>
            <a:lstStyle/>
            <a:p>
              <a:pPr algn="ctr">
                <a:lnSpc>
                  <a:spcPts val="2275"/>
                </a:lnSpc>
              </a:pPr>
              <a:endParaRPr sz="900"/>
            </a:p>
          </p:txBody>
        </p:sp>
      </p:grpSp>
      <p:grpSp>
        <p:nvGrpSpPr>
          <p:cNvPr id="5" name="Group 5"/>
          <p:cNvGrpSpPr/>
          <p:nvPr/>
        </p:nvGrpSpPr>
        <p:grpSpPr>
          <a:xfrm rot="0">
            <a:off x="978512" y="346682"/>
            <a:ext cx="140817" cy="1408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7" name="TextBox 7"/>
            <p:cNvSpPr txBox="1"/>
            <p:nvPr/>
          </p:nvSpPr>
          <p:spPr>
            <a:xfrm>
              <a:off x="76200" y="66675"/>
              <a:ext cx="660400" cy="669925"/>
            </a:xfrm>
            <a:prstGeom prst="rect">
              <a:avLst/>
            </a:prstGeom>
          </p:spPr>
          <p:txBody>
            <a:bodyPr lIns="25399" tIns="25399" rIns="25399" bIns="25399" rtlCol="0" anchor="ctr"/>
            <a:lstStyle/>
            <a:p>
              <a:pPr algn="ctr">
                <a:lnSpc>
                  <a:spcPts val="2275"/>
                </a:lnSpc>
              </a:pPr>
              <a:endParaRPr sz="900"/>
            </a:p>
          </p:txBody>
        </p:sp>
      </p:grpSp>
      <p:sp>
        <p:nvSpPr>
          <p:cNvPr id="8" name="AutoShape 8"/>
          <p:cNvSpPr/>
          <p:nvPr/>
        </p:nvSpPr>
        <p:spPr>
          <a:xfrm>
            <a:off x="514350" y="4633913"/>
            <a:ext cx="8293048" cy="0"/>
          </a:xfrm>
          <a:prstGeom prst="line">
            <a:avLst/>
          </a:prstGeom>
          <a:ln w="19050" cap="flat">
            <a:solidFill>
              <a:srgbClr val="000000"/>
            </a:solidFill>
            <a:prstDash val="solid"/>
            <a:headEnd type="none" w="sm" len="sm"/>
            <a:tailEnd type="none" w="sm" len="sm"/>
          </a:ln>
        </p:spPr>
      </p:sp>
      <p:grpSp>
        <p:nvGrpSpPr>
          <p:cNvPr id="9" name="Group 9"/>
          <p:cNvGrpSpPr/>
          <p:nvPr/>
        </p:nvGrpSpPr>
        <p:grpSpPr>
          <a:xfrm rot="0">
            <a:off x="1072600" y="2716208"/>
            <a:ext cx="1535129" cy="1460657"/>
            <a:chOff x="0" y="0"/>
            <a:chExt cx="962392" cy="915704"/>
          </a:xfrm>
        </p:grpSpPr>
        <p:sp>
          <p:nvSpPr>
            <p:cNvPr id="10" name="Freeform 10"/>
            <p:cNvSpPr/>
            <p:nvPr/>
          </p:nvSpPr>
          <p:spPr>
            <a:xfrm>
              <a:off x="0" y="0"/>
              <a:ext cx="962392" cy="915704"/>
            </a:xfrm>
            <a:custGeom>
              <a:avLst/>
              <a:gdLst/>
              <a:ahLst/>
              <a:cxnLst/>
              <a:rect l="l" t="t" r="r" b="b"/>
              <a:pathLst>
                <a:path w="962392" h="915704">
                  <a:moveTo>
                    <a:pt x="85734" y="0"/>
                  </a:moveTo>
                  <a:lnTo>
                    <a:pt x="876658" y="0"/>
                  </a:lnTo>
                  <a:cubicBezTo>
                    <a:pt x="899396" y="0"/>
                    <a:pt x="921203" y="9033"/>
                    <a:pt x="937281" y="25111"/>
                  </a:cubicBezTo>
                  <a:cubicBezTo>
                    <a:pt x="953359" y="41189"/>
                    <a:pt x="962392" y="62996"/>
                    <a:pt x="962392" y="85734"/>
                  </a:cubicBezTo>
                  <a:lnTo>
                    <a:pt x="962392" y="829971"/>
                  </a:lnTo>
                  <a:cubicBezTo>
                    <a:pt x="962392" y="852709"/>
                    <a:pt x="953359" y="874515"/>
                    <a:pt x="937281" y="890594"/>
                  </a:cubicBezTo>
                  <a:cubicBezTo>
                    <a:pt x="921203" y="906672"/>
                    <a:pt x="899396" y="915704"/>
                    <a:pt x="876658" y="915704"/>
                  </a:cubicBezTo>
                  <a:lnTo>
                    <a:pt x="85734" y="915704"/>
                  </a:lnTo>
                  <a:cubicBezTo>
                    <a:pt x="62996" y="915704"/>
                    <a:pt x="41189" y="906672"/>
                    <a:pt x="25111" y="890594"/>
                  </a:cubicBezTo>
                  <a:cubicBezTo>
                    <a:pt x="9033" y="874515"/>
                    <a:pt x="0" y="852709"/>
                    <a:pt x="0" y="829971"/>
                  </a:cubicBezTo>
                  <a:lnTo>
                    <a:pt x="0" y="85734"/>
                  </a:lnTo>
                  <a:cubicBezTo>
                    <a:pt x="0" y="62996"/>
                    <a:pt x="9033" y="41189"/>
                    <a:pt x="25111" y="25111"/>
                  </a:cubicBezTo>
                  <a:cubicBezTo>
                    <a:pt x="41189" y="9033"/>
                    <a:pt x="62996" y="0"/>
                    <a:pt x="85734" y="0"/>
                  </a:cubicBezTo>
                  <a:close/>
                </a:path>
              </a:pathLst>
            </a:custGeom>
            <a:solidFill>
              <a:srgbClr val="FFDE59"/>
            </a:solidFill>
          </p:spPr>
        </p:sp>
        <p:sp>
          <p:nvSpPr>
            <p:cNvPr id="11" name="TextBox 11"/>
            <p:cNvSpPr txBox="1"/>
            <p:nvPr/>
          </p:nvSpPr>
          <p:spPr>
            <a:xfrm>
              <a:off x="0" y="-9525"/>
              <a:ext cx="962392" cy="925229"/>
            </a:xfrm>
            <a:prstGeom prst="rect">
              <a:avLst/>
            </a:prstGeom>
          </p:spPr>
          <p:txBody>
            <a:bodyPr lIns="25399" tIns="25399" rIns="25399" bIns="25399" rtlCol="0" anchor="ctr"/>
            <a:lstStyle/>
            <a:p>
              <a:pPr algn="ctr">
                <a:lnSpc>
                  <a:spcPts val="2275"/>
                </a:lnSpc>
              </a:pPr>
              <a:endParaRPr sz="900"/>
            </a:p>
          </p:txBody>
        </p:sp>
      </p:grpSp>
      <p:sp>
        <p:nvSpPr>
          <p:cNvPr id="12" name="Freeform 12"/>
          <p:cNvSpPr/>
          <p:nvPr/>
        </p:nvSpPr>
        <p:spPr>
          <a:xfrm>
            <a:off x="861976" y="2311192"/>
            <a:ext cx="1650664" cy="1781291"/>
          </a:xfrm>
          <a:custGeom>
            <a:avLst/>
            <a:gdLst/>
            <a:ahLst/>
            <a:cxnLst/>
            <a:rect l="l" t="t" r="r" b="b"/>
            <a:pathLst>
              <a:path w="3301327" h="3562583">
                <a:moveTo>
                  <a:pt x="0" y="0"/>
                </a:moveTo>
                <a:lnTo>
                  <a:pt x="3301328" y="0"/>
                </a:lnTo>
                <a:lnTo>
                  <a:pt x="3301328" y="3562583"/>
                </a:lnTo>
                <a:lnTo>
                  <a:pt x="0" y="3562583"/>
                </a:lnTo>
                <a:lnTo>
                  <a:pt x="0" y="0"/>
                </a:lnTo>
                <a:close/>
              </a:path>
            </a:pathLst>
          </a:custGeom>
          <a:blipFill>
            <a:blip r:embed="rId1"/>
            <a:stretch>
              <a:fillRect/>
            </a:stretch>
          </a:blipFill>
        </p:spPr>
      </p:sp>
      <p:sp>
        <p:nvSpPr>
          <p:cNvPr id="13" name="TextBox 13"/>
          <p:cNvSpPr txBox="1"/>
          <p:nvPr/>
        </p:nvSpPr>
        <p:spPr>
          <a:xfrm>
            <a:off x="2868248" y="690236"/>
            <a:ext cx="5778548" cy="2508885"/>
          </a:xfrm>
          <a:prstGeom prst="rect">
            <a:avLst/>
          </a:prstGeom>
        </p:spPr>
        <p:txBody>
          <a:bodyPr lIns="0" tIns="0" rIns="0" bIns="0" rtlCol="0" anchor="t">
            <a:spAutoFit/>
          </a:bodyPr>
          <a:lstStyle/>
          <a:p>
            <a:pPr algn="l">
              <a:lnSpc>
                <a:spcPts val="19565"/>
              </a:lnSpc>
            </a:pPr>
            <a:r>
              <a:rPr lang="en-US" sz="8360">
                <a:solidFill>
                  <a:srgbClr val="000000"/>
                </a:solidFill>
                <a:latin typeface="Arial" panose="020B0604020202020204"/>
                <a:ea typeface="Arial" panose="020B0604020202020204"/>
                <a:cs typeface="Arial" panose="020B0604020202020204"/>
                <a:sym typeface="Arial" panose="020B0604020202020204"/>
              </a:rPr>
              <a:t>Thank You</a:t>
            </a:r>
            <a:endParaRPr lang="en-US" sz="8360">
              <a:solidFill>
                <a:srgbClr val="000000"/>
              </a:solidFill>
              <a:latin typeface="Arial" panose="020B0604020202020204"/>
              <a:ea typeface="Arial" panose="020B0604020202020204"/>
              <a:cs typeface="Arial" panose="020B0604020202020204"/>
              <a:sym typeface="Arial" panose="020B0604020202020204"/>
            </a:endParaRPr>
          </a:p>
        </p:txBody>
      </p:sp>
      <p:sp>
        <p:nvSpPr>
          <p:cNvPr id="14" name="TextBox 14"/>
          <p:cNvSpPr txBox="1"/>
          <p:nvPr/>
        </p:nvSpPr>
        <p:spPr>
          <a:xfrm>
            <a:off x="1296145" y="346682"/>
            <a:ext cx="1311584" cy="299720"/>
          </a:xfrm>
          <a:prstGeom prst="rect">
            <a:avLst/>
          </a:prstGeom>
        </p:spPr>
        <p:txBody>
          <a:bodyPr lIns="0" tIns="0" rIns="0" bIns="0" rtlCol="0" anchor="t">
            <a:spAutoFit/>
          </a:bodyPr>
          <a:lstStyle/>
          <a:p>
            <a:pPr algn="l">
              <a:lnSpc>
                <a:spcPts val="2340"/>
              </a:lnSpc>
            </a:pPr>
            <a:r>
              <a:rPr lang="en-US" sz="1000">
                <a:solidFill>
                  <a:srgbClr val="000000"/>
                </a:solidFill>
                <a:latin typeface="Arial" panose="020B0604020202020204"/>
                <a:ea typeface="Arial" panose="020B0604020202020204"/>
                <a:cs typeface="Arial" panose="020B0604020202020204"/>
                <a:sym typeface="Arial" panose="020B0604020202020204"/>
              </a:rPr>
              <a:t>Hidden Investigations</a:t>
            </a:r>
            <a:endParaRPr lang="en-US" sz="1000">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TextBox 15"/>
          <p:cNvSpPr txBox="1"/>
          <p:nvPr/>
        </p:nvSpPr>
        <p:spPr>
          <a:xfrm>
            <a:off x="503633" y="4686703"/>
            <a:ext cx="2001161" cy="314325"/>
          </a:xfrm>
          <a:prstGeom prst="rect">
            <a:avLst/>
          </a:prstGeom>
        </p:spPr>
        <p:txBody>
          <a:bodyPr lIns="0" tIns="0" rIns="0" bIns="0" rtlCol="0" anchor="t">
            <a:spAutoFit/>
          </a:bodyPr>
          <a:lstStyle/>
          <a:p>
            <a:pPr algn="l">
              <a:lnSpc>
                <a:spcPts val="2455"/>
              </a:lnSpc>
            </a:pPr>
            <a:r>
              <a:rPr lang="en-US" sz="1050">
                <a:solidFill>
                  <a:srgbClr val="000000"/>
                </a:solidFill>
                <a:latin typeface="Arial" panose="020B0604020202020204"/>
                <a:ea typeface="Arial" panose="020B0604020202020204"/>
                <a:cs typeface="Arial" panose="020B0604020202020204"/>
                <a:sym typeface="Arial" panose="020B0604020202020204"/>
              </a:rPr>
              <a:t>Hiddeninvestigations.Net</a:t>
            </a:r>
            <a:endParaRPr lang="en-US" sz="1050">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TextBox 16"/>
          <p:cNvSpPr txBox="1"/>
          <p:nvPr/>
        </p:nvSpPr>
        <p:spPr>
          <a:xfrm>
            <a:off x="7112026" y="4686703"/>
            <a:ext cx="1695372" cy="314325"/>
          </a:xfrm>
          <a:prstGeom prst="rect">
            <a:avLst/>
          </a:prstGeom>
        </p:spPr>
        <p:txBody>
          <a:bodyPr lIns="0" tIns="0" rIns="0" bIns="0" rtlCol="0" anchor="t">
            <a:spAutoFit/>
          </a:bodyPr>
          <a:lstStyle/>
          <a:p>
            <a:pPr algn="l">
              <a:lnSpc>
                <a:spcPts val="2455"/>
              </a:lnSpc>
            </a:pPr>
            <a:r>
              <a:rPr lang="en-US" sz="1050">
                <a:solidFill>
                  <a:srgbClr val="000000"/>
                </a:solidFill>
                <a:latin typeface="Arial" panose="020B0604020202020204"/>
                <a:ea typeface="Arial" panose="020B0604020202020204"/>
                <a:cs typeface="Arial" panose="020B0604020202020204"/>
                <a:sym typeface="Arial" panose="020B0604020202020204"/>
              </a:rPr>
              <a:t>hi@hiddeninvestigations.net</a:t>
            </a:r>
            <a:endParaRPr lang="en-US" sz="1050">
              <a:solidFill>
                <a:srgbClr val="000000"/>
              </a:solidFill>
              <a:latin typeface="Arial" panose="020B0604020202020204"/>
              <a:ea typeface="Arial" panose="020B0604020202020204"/>
              <a:cs typeface="Arial" panose="020B0604020202020204"/>
              <a:sym typeface="Arial" panose="020B0604020202020204"/>
            </a:endParaRPr>
          </a:p>
        </p:txBody>
      </p:sp>
      <p:sp>
        <p:nvSpPr>
          <p:cNvPr id="17" name="TextBox 17"/>
          <p:cNvSpPr txBox="1"/>
          <p:nvPr/>
        </p:nvSpPr>
        <p:spPr>
          <a:xfrm>
            <a:off x="3358515" y="2938780"/>
            <a:ext cx="4779010" cy="270510"/>
          </a:xfrm>
          <a:prstGeom prst="rect">
            <a:avLst/>
          </a:prstGeom>
        </p:spPr>
        <p:txBody>
          <a:bodyPr wrap="square" lIns="0" tIns="0" rIns="0" bIns="0" rtlCol="0" anchor="t">
            <a:spAutoFit/>
          </a:bodyPr>
          <a:lstStyle/>
          <a:p>
            <a:pPr marL="0" indent="0" algn="l">
              <a:buNone/>
            </a:pPr>
            <a:r>
              <a:rPr lang="en-US" sz="1760" dirty="0">
                <a:solidFill>
                  <a:srgbClr val="333333"/>
                </a:solidFill>
                <a:latin typeface="Inter" pitchFamily="34" charset="0"/>
                <a:ea typeface="Inter" pitchFamily="34" charset="-122"/>
                <a:cs typeface="Inter" pitchFamily="34" charset="-120"/>
                <a:sym typeface="+mn-ea"/>
              </a:rPr>
              <a:t>Nothing is too basic. Nothing is too advanced.</a:t>
            </a:r>
            <a:endParaRPr lang="en-US" sz="176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ags/tag1.xml><?xml version="1.0" encoding="utf-8"?>
<p:tagLst xmlns:p="http://schemas.openxmlformats.org/presentationml/2006/main">
  <p:tag name="KSO_WM_DIAGRAM_VIRTUALLY_FRAME" val="{&quot;height&quot;:158.05,&quot;left&quot;:33.75,&quot;top&quot;:130.5,&quot;width&quot;:652.5044094488189}"/>
</p:tagLst>
</file>

<file path=ppt/tags/tag2.xml><?xml version="1.0" encoding="utf-8"?>
<p:tagLst xmlns:p="http://schemas.openxmlformats.org/presentationml/2006/main">
  <p:tag name="KSO_WM_DIAGRAM_VIRTUALLY_FRAME" val="{&quot;height&quot;:158.05,&quot;left&quot;:33.75,&quot;top&quot;:130.5,&quot;width&quot;:652.5044094488189}"/>
</p:tagLst>
</file>

<file path=ppt/tags/tag3.xml><?xml version="1.0" encoding="utf-8"?>
<p:tagLst xmlns:p="http://schemas.openxmlformats.org/presentationml/2006/main">
  <p:tag name="KSO_WM_DIAGRAM_VIRTUALLY_FRAME" val="{&quot;height&quot;:158.05,&quot;left&quot;:33.75,&quot;top&quot;:130.5,&quot;width&quot;:652.5044094488189}"/>
</p:tagLst>
</file>

<file path=ppt/tags/tag4.xml><?xml version="1.0" encoding="utf-8"?>
<p:tagLst xmlns:p="http://schemas.openxmlformats.org/presentationml/2006/main">
  <p:tag name="KSO_WM_DIAGRAM_VIRTUALLY_FRAME" val="{&quot;height&quot;:158.05,&quot;left&quot;:33.75,&quot;top&quot;:130.5,&quot;width&quot;:652.5044094488189}"/>
</p:tagLst>
</file>

<file path=ppt/tags/tag5.xml><?xml version="1.0" encoding="utf-8"?>
<p:tagLst xmlns:p="http://schemas.openxmlformats.org/presentationml/2006/main">
  <p:tag name="KSO_WM_DIAGRAM_VIRTUALLY_FRAME" val="{&quot;height&quot;:158.05,&quot;left&quot;:33.75,&quot;top&quot;:130.5,&quot;width&quot;:652.5044094488189}"/>
</p:tagLst>
</file>

<file path=ppt/tags/tag6.xml><?xml version="1.0" encoding="utf-8"?>
<p:tagLst xmlns:p="http://schemas.openxmlformats.org/presentationml/2006/main">
  <p:tag name="KSO_WM_DIAGRAM_VIRTUALLY_FRAME" val="{&quot;height&quot;:158.05,&quot;left&quot;:33.75,&quot;top&quot;:130.5,&quot;width&quot;:652.5044094488189}"/>
</p:tagLst>
</file>

<file path=ppt/tags/tag7.xml><?xml version="1.0" encoding="utf-8"?>
<p:tagLst xmlns:p="http://schemas.openxmlformats.org/presentationml/2006/main">
  <p:tag name="KSO_WM_DIAGRAM_VIRTUALLY_FRAME" val="{&quot;height&quot;:158.05,&quot;left&quot;:33.75,&quot;top&quot;:130.5,&quot;width&quot;:652.5044094488189}"/>
</p:tagLst>
</file>

<file path=ppt/tags/tag8.xml><?xml version="1.0" encoding="utf-8"?>
<p:tagLst xmlns:p="http://schemas.openxmlformats.org/presentationml/2006/main">
  <p:tag name="KSO_WM_DIAGRAM_VIRTUALLY_FRAME" val="{&quot;height&quot;:158.05,&quot;left&quot;:33.75,&quot;top&quot;:130.5,&quot;width&quot;:652.5044094488189}"/>
</p:tagLst>
</file>

<file path=ppt/tags/tag9.xml><?xml version="1.0" encoding="utf-8"?>
<p:tagLst xmlns:p="http://schemas.openxmlformats.org/presentationml/2006/main">
  <p:tag name="KSO_WM_DIAGRAM_VIRTUALLY_FRAME" val="{&quot;height&quot;:158.05,&quot;left&quot;:33.75,&quot;top&quot;:130.5,&quot;width&quot;:652.5044094488189}"/>
</p:tagLst>
</file>

<file path=ppt/tags/tag10.xml><?xml version="1.0" encoding="utf-8"?>
<p:tagLst xmlns:p="http://schemas.openxmlformats.org/presentationml/2006/main">
  <p:tag name="KSO_WM_DIAGRAM_VIRTUALLY_FRAME" val="{&quot;height&quot;:158.05,&quot;left&quot;:33.75,&quot;top&quot;:130.5,&quot;width&quot;:652.5044094488189}"/>
</p:tagLst>
</file>

<file path=ppt/tags/tag11.xml><?xml version="1.0" encoding="utf-8"?>
<p:tagLst xmlns:p="http://schemas.openxmlformats.org/presentationml/2006/main">
  <p:tag name="KSO_WM_DIAGRAM_VIRTUALLY_FRAME" val="{&quot;height&quot;:158.05,&quot;left&quot;:33.75,&quot;top&quot;:130.5,&quot;width&quot;:652.5044094488189}"/>
</p:tagLst>
</file>

<file path=ppt/tags/tag12.xml><?xml version="1.0" encoding="utf-8"?>
<p:tagLst xmlns:p="http://schemas.openxmlformats.org/presentationml/2006/main">
  <p:tag name="KSO_WM_DIAGRAM_VIRTUALLY_FRAME" val="{&quot;height&quot;:158.05,&quot;left&quot;:33.75,&quot;top&quot;:130.5,&quot;width&quot;:652.5044094488189}"/>
</p:tagLst>
</file>

<file path=ppt/tags/tag13.xml><?xml version="1.0" encoding="utf-8"?>
<p:tagLst xmlns:p="http://schemas.openxmlformats.org/presentationml/2006/main">
  <p:tag name="KSO_WM_DIAGRAM_VIRTUALLY_FRAME" val="{&quot;height&quot;:158.05,&quot;left&quot;:33.75,&quot;top&quot;:130.5,&quot;width&quot;:652.5044094488189}"/>
</p:tagLst>
</file>

<file path=ppt/tags/tag14.xml><?xml version="1.0" encoding="utf-8"?>
<p:tagLst xmlns:p="http://schemas.openxmlformats.org/presentationml/2006/main">
  <p:tag name="KSO_WM_DIAGRAM_VIRTUALLY_FRAME" val="{&quot;height&quot;:158.05,&quot;left&quot;:33.75,&quot;top&quot;:130.5,&quot;width&quot;:652.5044094488189}"/>
</p:tagLst>
</file>

<file path=ppt/tags/tag15.xml><?xml version="1.0" encoding="utf-8"?>
<p:tagLst xmlns:p="http://schemas.openxmlformats.org/presentationml/2006/main">
  <p:tag name="KSO_WM_DIAGRAM_VIRTUALLY_FRAME" val="{&quot;height&quot;:158.05,&quot;left&quot;:33.75,&quot;top&quot;:130.5,&quot;width&quot;:652.5044094488189}"/>
</p:tagLst>
</file>

<file path=ppt/tags/tag16.xml><?xml version="1.0" encoding="utf-8"?>
<p:tagLst xmlns:p="http://schemas.openxmlformats.org/presentationml/2006/main">
  <p:tag name="KSO_WM_DIAGRAM_VIRTUALLY_FRAME" val="{&quot;height&quot;:158.05,&quot;left&quot;:33.75,&quot;top&quot;:130.5,&quot;width&quot;:652.5044094488189}"/>
</p:tagLst>
</file>

<file path=ppt/tags/tag17.xml><?xml version="1.0" encoding="utf-8"?>
<p:tagLst xmlns:p="http://schemas.openxmlformats.org/presentationml/2006/main">
  <p:tag name="KSO_WM_DIAGRAM_VIRTUALLY_FRAME" val="{&quot;height&quot;:158.05,&quot;left&quot;:33.75,&quot;top&quot;:130.5,&quot;width&quot;:652.5044094488189}"/>
</p:tagLst>
</file>

<file path=ppt/tags/tag18.xml><?xml version="1.0" encoding="utf-8"?>
<p:tagLst xmlns:p="http://schemas.openxmlformats.org/presentationml/2006/main">
  <p:tag name="KSO_WM_DIAGRAM_VIRTUALLY_FRAME" val="{&quot;height&quot;:158.05,&quot;left&quot;:33.75,&quot;top&quot;:130.5,&quot;width&quot;:652.5044094488189}"/>
</p:tagLst>
</file>

<file path=ppt/tags/tag19.xml><?xml version="1.0" encoding="utf-8"?>
<p:tagLst xmlns:p="http://schemas.openxmlformats.org/presentationml/2006/main">
  <p:tag name="KSO_WM_DIAGRAM_VIRTUALLY_FRAME" val="{&quot;height&quot;:158.05,&quot;left&quot;:33.75,&quot;top&quot;:130.5,&quot;width&quot;:652.5044094488189}"/>
</p:tagLst>
</file>

<file path=ppt/tags/tag20.xml><?xml version="1.0" encoding="utf-8"?>
<p:tagLst xmlns:p="http://schemas.openxmlformats.org/presentationml/2006/main">
  <p:tag name="KSO_WM_DIAGRAM_VIRTUALLY_FRAME" val="{&quot;height&quot;:158.05,&quot;left&quot;:33.75,&quot;top&quot;:130.5,&quot;width&quot;:652.5044094488189}"/>
</p:tagLst>
</file>

<file path=ppt/tags/tag21.xml><?xml version="1.0" encoding="utf-8"?>
<p:tagLst xmlns:p="http://schemas.openxmlformats.org/presentationml/2006/main">
  <p:tag name="KSO_WM_DIAGRAM_VIRTUALLY_FRAME" val="{&quot;height&quot;:158.05,&quot;left&quot;:33.75,&quot;top&quot;:130.5,&quot;width&quot;:652.5044094488189}"/>
</p:tagLst>
</file>

<file path=ppt/tags/tag22.xml><?xml version="1.0" encoding="utf-8"?>
<p:tagLst xmlns:p="http://schemas.openxmlformats.org/presentationml/2006/main">
  <p:tag name="KSO_WM_DIAGRAM_VIRTUALLY_FRAME" val="{&quot;height&quot;:158.05,&quot;left&quot;:33.75,&quot;top&quot;:130.5,&quot;width&quot;:652.5044094488189}"/>
</p:tagLst>
</file>

<file path=ppt/tags/tag23.xml><?xml version="1.0" encoding="utf-8"?>
<p:tagLst xmlns:p="http://schemas.openxmlformats.org/presentationml/2006/main">
  <p:tag name="KSO_WM_DIAGRAM_VIRTUALLY_FRAME" val="{&quot;height&quot;:158.05,&quot;left&quot;:33.75,&quot;top&quot;:130.5,&quot;width&quot;:652.5044094488189}"/>
</p:tagLst>
</file>

<file path=ppt/tags/tag24.xml><?xml version="1.0" encoding="utf-8"?>
<p:tagLst xmlns:p="http://schemas.openxmlformats.org/presentationml/2006/main">
  <p:tag name="KSO_WM_DIAGRAM_VIRTUALLY_FRAME" val="{&quot;height&quot;:158.05,&quot;left&quot;:33.75,&quot;top&quot;:130.5,&quot;width&quot;:652.5044094488189}"/>
</p:tagLst>
</file>

<file path=ppt/tags/tag25.xml><?xml version="1.0" encoding="utf-8"?>
<p:tagLst xmlns:p="http://schemas.openxmlformats.org/presentationml/2006/main">
  <p:tag name="KSO_WM_DIAGRAM_VIRTUALLY_FRAME" val="{&quot;height&quot;:158.05,&quot;left&quot;:33.75,&quot;top&quot;:130.5,&quot;width&quot;:652.5044094488189}"/>
</p:tagLst>
</file>

<file path=ppt/tags/tag26.xml><?xml version="1.0" encoding="utf-8"?>
<p:tagLst xmlns:p="http://schemas.openxmlformats.org/presentationml/2006/main">
  <p:tag name="KSO_WM_DIAGRAM_VIRTUALLY_FRAME" val="{&quot;height&quot;:158.05,&quot;left&quot;:33.75,&quot;top&quot;:130.5,&quot;width&quot;:652.5044094488189}"/>
</p:tagLst>
</file>

<file path=ppt/tags/tag27.xml><?xml version="1.0" encoding="utf-8"?>
<p:tagLst xmlns:p="http://schemas.openxmlformats.org/presentationml/2006/main">
  <p:tag name="KSO_WM_DIAGRAM_VIRTUALLY_FRAME" val="{&quot;height&quot;:158.05,&quot;left&quot;:33.75,&quot;top&quot;:130.5,&quot;width&quot;:652.5044094488189}"/>
</p:tagLst>
</file>

<file path=ppt/tags/tag28.xml><?xml version="1.0" encoding="utf-8"?>
<p:tagLst xmlns:p="http://schemas.openxmlformats.org/presentationml/2006/main">
  <p:tag name="KSO_WM_DIAGRAM_VIRTUALLY_FRAME" val="{&quot;height&quot;:158.05,&quot;left&quot;:33.75,&quot;top&quot;:130.5,&quot;width&quot;:652.5044094488189}"/>
</p:tagLst>
</file>

<file path=ppt/tags/tag29.xml><?xml version="1.0" encoding="utf-8"?>
<p:tagLst xmlns:p="http://schemas.openxmlformats.org/presentationml/2006/main">
  <p:tag name="KSO_WM_DIAGRAM_VIRTUALLY_FRAME" val="{&quot;height&quot;:158.05,&quot;left&quot;:33.75,&quot;top&quot;:130.5,&quot;width&quot;:652.5044094488189}"/>
</p:tagLst>
</file>

<file path=ppt/tags/tag30.xml><?xml version="1.0" encoding="utf-8"?>
<p:tagLst xmlns:p="http://schemas.openxmlformats.org/presentationml/2006/main">
  <p:tag name="KSO_WM_DIAGRAM_VIRTUALLY_FRAME" val="{&quot;height&quot;:158.05,&quot;left&quot;:33.75,&quot;top&quot;:130.5,&quot;width&quot;:652.5044094488189}"/>
</p:tagLst>
</file>

<file path=ppt/tags/tag31.xml><?xml version="1.0" encoding="utf-8"?>
<p:tagLst xmlns:p="http://schemas.openxmlformats.org/presentationml/2006/main">
  <p:tag name="KSO_WM_DIAGRAM_VIRTUALLY_FRAME" val="{&quot;height&quot;:158.05,&quot;left&quot;:33.75,&quot;top&quot;:130.5,&quot;width&quot;:652.5044094488189}"/>
</p:tagLst>
</file>

<file path=ppt/tags/tag32.xml><?xml version="1.0" encoding="utf-8"?>
<p:tagLst xmlns:p="http://schemas.openxmlformats.org/presentationml/2006/main">
  <p:tag name="KSO_WM_DIAGRAM_VIRTUALLY_FRAME" val="{&quot;height&quot;:158.05,&quot;left&quot;:33.75,&quot;top&quot;:130.5,&quot;width&quot;:652.5044094488189}"/>
</p:tagLst>
</file>

<file path=ppt/tags/tag33.xml><?xml version="1.0" encoding="utf-8"?>
<p:tagLst xmlns:p="http://schemas.openxmlformats.org/presentationml/2006/main">
  <p:tag name="KSO_WM_DIAGRAM_VIRTUALLY_FRAME" val="{&quot;height&quot;:158.05,&quot;left&quot;:33.75,&quot;top&quot;:130.5,&quot;width&quot;:652.5044094488189}"/>
</p:tagLst>
</file>

<file path=ppt/tags/tag34.xml><?xml version="1.0" encoding="utf-8"?>
<p:tagLst xmlns:p="http://schemas.openxmlformats.org/presentationml/2006/main">
  <p:tag name="KSO_WM_DIAGRAM_VIRTUALLY_FRAME" val="{&quot;height&quot;:158.05,&quot;left&quot;:33.75,&quot;top&quot;:130.5,&quot;width&quot;:652.5044094488189}"/>
</p:tagLst>
</file>

<file path=ppt/tags/tag35.xml><?xml version="1.0" encoding="utf-8"?>
<p:tagLst xmlns:p="http://schemas.openxmlformats.org/presentationml/2006/main">
  <p:tag name="KSO_WM_DIAGRAM_VIRTUALLY_FRAME" val="{&quot;height&quot;:158.05,&quot;left&quot;:33.75,&quot;top&quot;:130.5,&quot;width&quot;:652.5044094488189}"/>
</p:tagLst>
</file>

<file path=ppt/tags/tag36.xml><?xml version="1.0" encoding="utf-8"?>
<p:tagLst xmlns:p="http://schemas.openxmlformats.org/presentationml/2006/main">
  <p:tag name="KSO_WM_DIAGRAM_VIRTUALLY_FRAME" val="{&quot;height&quot;:158.05,&quot;left&quot;:33.75,&quot;top&quot;:130.5,&quot;width&quot;:652.5044094488189}"/>
</p:tagLst>
</file>

<file path=ppt/tags/tag37.xml><?xml version="1.0" encoding="utf-8"?>
<p:tagLst xmlns:p="http://schemas.openxmlformats.org/presentationml/2006/main">
  <p:tag name="KSO_WM_DIAGRAM_VIRTUALLY_FRAME" val="{&quot;height&quot;:158.05,&quot;left&quot;:33.75,&quot;top&quot;:130.5,&quot;width&quot;:652.5044094488189}"/>
</p:tagLst>
</file>

<file path=ppt/tags/tag38.xml><?xml version="1.0" encoding="utf-8"?>
<p:tagLst xmlns:p="http://schemas.openxmlformats.org/presentationml/2006/main">
  <p:tag name="KSO_WM_DIAGRAM_VIRTUALLY_FRAME" val="{&quot;height&quot;:158.05,&quot;left&quot;:33.75,&quot;top&quot;:130.5,&quot;width&quot;:652.5044094488189}"/>
</p:tagLst>
</file>

<file path=ppt/tags/tag39.xml><?xml version="1.0" encoding="utf-8"?>
<p:tagLst xmlns:p="http://schemas.openxmlformats.org/presentationml/2006/main">
  <p:tag name="KSO_WM_DIAGRAM_VIRTUALLY_FRAME" val="{&quot;height&quot;:158.05,&quot;left&quot;:33.75,&quot;top&quot;:130.5,&quot;width&quot;:652.5044094488189}"/>
</p:tagLst>
</file>

<file path=ppt/tags/tag40.xml><?xml version="1.0" encoding="utf-8"?>
<p:tagLst xmlns:p="http://schemas.openxmlformats.org/presentationml/2006/main">
  <p:tag name="KSO_WM_DIAGRAM_VIRTUALLY_FRAME" val="{&quot;height&quot;:158.05,&quot;left&quot;:33.75,&quot;top&quot;:130.5,&quot;width&quot;:652.5044094488189}"/>
</p:tagLst>
</file>

<file path=ppt/tags/tag41.xml><?xml version="1.0" encoding="utf-8"?>
<p:tagLst xmlns:p="http://schemas.openxmlformats.org/presentationml/2006/main">
  <p:tag name="KSO_WM_DIAGRAM_VIRTUALLY_FRAME" val="{&quot;height&quot;:158.05,&quot;left&quot;:33.75,&quot;top&quot;:130.5,&quot;width&quot;:652.5044094488189}"/>
</p:tagLst>
</file>

<file path=ppt/tags/tag42.xml><?xml version="1.0" encoding="utf-8"?>
<p:tagLst xmlns:p="http://schemas.openxmlformats.org/presentationml/2006/main">
  <p:tag name="KSO_WM_DIAGRAM_VIRTUALLY_FRAME" val="{&quot;height&quot;:158.05,&quot;left&quot;:33.75,&quot;top&quot;:130.5,&quot;width&quot;:652.5044094488189}"/>
</p:tagLst>
</file>

<file path=ppt/tags/tag43.xml><?xml version="1.0" encoding="utf-8"?>
<p:tagLst xmlns:p="http://schemas.openxmlformats.org/presentationml/2006/main">
  <p:tag name="KSO_WM_DIAGRAM_VIRTUALLY_FRAME" val="{&quot;height&quot;:158.05,&quot;left&quot;:33.75,&quot;top&quot;:130.5,&quot;width&quot;:652.5044094488189}"/>
</p:tagLst>
</file>

<file path=ppt/tags/tag44.xml><?xml version="1.0" encoding="utf-8"?>
<p:tagLst xmlns:p="http://schemas.openxmlformats.org/presentationml/2006/main">
  <p:tag name="KSO_WM_DIAGRAM_VIRTUALLY_FRAME" val="{&quot;height&quot;:158.05,&quot;left&quot;:33.75,&quot;top&quot;:130.5,&quot;width&quot;:652.5044094488189}"/>
</p:tagLst>
</file>

<file path=ppt/tags/tag45.xml><?xml version="1.0" encoding="utf-8"?>
<p:tagLst xmlns:p="http://schemas.openxmlformats.org/presentationml/2006/main">
  <p:tag name="KSO_WM_DIAGRAM_VIRTUALLY_FRAME" val="{&quot;height&quot;:158.05,&quot;left&quot;:33.75,&quot;top&quot;:130.5,&quot;width&quot;:652.504409448818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17746</Words>
  <Application>WPS Presentation</Application>
  <PresentationFormat>On-screen Show (16:9)</PresentationFormat>
  <Paragraphs>1148</Paragraphs>
  <Slides>29</Slides>
  <Notes>12</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29</vt:i4>
      </vt:variant>
    </vt:vector>
  </HeadingPairs>
  <TitlesOfParts>
    <vt:vector size="58" baseType="lpstr">
      <vt:lpstr>Arial</vt:lpstr>
      <vt:lpstr>SimSun</vt:lpstr>
      <vt:lpstr>Wingdings</vt:lpstr>
      <vt:lpstr>Inter Bold</vt:lpstr>
      <vt:lpstr>Li Sirajee Sanjar Unicode</vt:lpstr>
      <vt:lpstr>Inter Bold</vt:lpstr>
      <vt:lpstr>Inter Bold</vt:lpstr>
      <vt:lpstr>Inter</vt:lpstr>
      <vt:lpstr>Inter</vt:lpstr>
      <vt:lpstr>Inter</vt:lpstr>
      <vt:lpstr>Inter Black</vt:lpstr>
      <vt:lpstr>Inter Black</vt:lpstr>
      <vt:lpstr>Inter Black</vt:lpstr>
      <vt:lpstr>Arial</vt:lpstr>
      <vt:lpstr>Arial Bold</vt:lpstr>
      <vt:lpstr>Inter ExtraBold</vt:lpstr>
      <vt:lpstr>Inter ExtraBold</vt:lpstr>
      <vt:lpstr>Inter ExtraBold</vt:lpstr>
      <vt:lpstr>Inter SemiBold</vt:lpstr>
      <vt:lpstr>Inter SemiBold</vt:lpstr>
      <vt:lpstr>Inter SemiBold</vt:lpstr>
      <vt:lpstr>Calibri</vt:lpstr>
      <vt:lpstr>Microsoft YaHei</vt:lpstr>
      <vt:lpstr>Arial Unicode MS</vt:lpstr>
      <vt:lpstr>Courier New</vt:lpstr>
      <vt:lpstr>Courier New</vt:lpstr>
      <vt:lpstr>Courier New</vt:lpstr>
      <vt:lpstr>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WPS_1717093415</cp:lastModifiedBy>
  <cp:revision>5</cp:revision>
  <dcterms:created xsi:type="dcterms:W3CDTF">2026-06-18T03:16:00Z</dcterms:created>
  <dcterms:modified xsi:type="dcterms:W3CDTF">2026-06-19T13:13:57Z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F9E095087A20490B8B29AF85CA04D97A_12</vt:lpwstr>
  </property>
  <property fmtid="{D5CDD505-2E9C-101B-9397-08002B2CF9AE}" pid="3" name="KSOProductBuildVer">
    <vt:lpwstr>2057-12.2.0.23203</vt:lpwstr>
  </property>
</Properties>
</file>