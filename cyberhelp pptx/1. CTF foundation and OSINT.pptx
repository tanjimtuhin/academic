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212"/>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learners and set expectations for our first session together today. We are building real security skills from day one. Let us dive right in and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phone table demo to spark immediate curiosity. Every file you create tells a story about you. Let us learn how to listen to those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both communities and show how this journey supports absolute beginners. You do not need prior experience here. We learn by doing,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roadmap across all 24 weeks to show the full journey. We start with absolute basics today and build step by step toward advanced security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capture the flag format and our core challenge categories. This is how curiosity transforms directly into practical technical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without ethics is just vandalism, and we draw that line right here. Never touch anything outside the authorized labs or share flags with peers. Establish ethics and lab boundaries clearly for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a hundred tools to start, just these eight core utilities. Master them on the command line right now. Demonstrate the eight commands live on screen so everyone sees them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didn't write it down, it never happened in security. Document your dead ends and failed attempts just as carefully as your wins. Model a concise writeup for the room using the template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puzzle you face breaks down into one of these six core domains. Notice how each category demands a different lens, but they all share a single habit: observe first, then test a hypothesis. Let's walk through these categories together and see what kind of problems we will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format is your ultimate objective on every single challenge you tackle. Let learners read the sample flag displayed on screen and notice the exact curly brace syntax. Every flag proves you cracked the system, and nothing else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Enforce scope strictly right from day one of your ethical hacking journey. Remember that your lab access is a privilege, so never share flags or scan systems outside your assigned environment. Permission is what separates an authorized defender from a criminal.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skill alone does not give you the right to break into any system you choose. Always keep written authorization in your back pocket before running any tool against a live target. That single legal boundary defines your entire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stuck protocol explicitly so learners know exactly what to do when they hit a wall. Don't quit early, and don't spend four hours spinning your wheels in silence. Follow these five steps to turn frustration into real skill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security journey begins with the command line. We don't need a thousand commands to start, just eight solid ones. Type everything yourself in the lab, watch what happens, and repeat until it clicks. Instructor action: launch the Linux lab right now so everyone can log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commands are your basic toolkit for every challenge ahead. You check your location, peek at hidden files, read documents, and search inside binaries without getting lost. Instructor action: demonstrate commands like ls and cat live in the terminal for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a command is useless without knowing why you are running it. Attackers use these specific tools to find hidden files, inspect binaries instantly, and search entire systems without wasting time. Instructor action: point out categories on the screen and explain how recon saves hours of frustration.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do not launch your AttackBox right now. We only get limited free time each day, and we will need every minute of it when the actual lab starts soon. Hold off and stay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file you touch online is speaking about you, so let's learn how to listen. Go ahead and open the TryHackMe room now. Make sure you type each command out instead of copying and pasting, and check that everyone around you has reached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one of you needs to complete this next task with your own hands right now. Drop the mouse and listen closely. We are not copying code and we are not guessing. Let's find that first flag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dive into the OhSINT room and put our reconnaissance skills to the test right now. We will tackle the first task together step by step, and then you will take over the investigation independently. Please launch the OhSINT lab and follow the digital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race through the main lab and finish early, we have a fun stretch challenge waiting for you. Take on Pickle Rick and hunt down those three hidden ingredients using careful observation. Let us offer the stretch challenge to push your web investigation skills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Documenting your journey is what separates an amateur hobbyist from a true professional in the field. Let us look at how recording your exact steps builds undeniable evidence of your learning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model the writeup format using a clean, repeatable structure that captures both your successes and your failures. Take a snapshot of this layout because every professional report relies on this exact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lock in today's momentum with two hours of focused practice before our next meeting. Please complete your lab rooms and post your documentation in the community group. Let us assign homework to keep your technical foundation growing stronger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our progress tracking live right here on screen as points come in from our labs. And building skills together means watching how everyone moves up through the ranks. So update the leaderboard after every class to keep the momentum going as we tackle these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coded string on screen is waiting for you to decode before our next session. But we're preserving the base64 reveal for Class 2 to show you how easy it is to read. So decode the clue and see what it actually tells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showing up and building your cybersecurity foundations with us today. Remember to reach out on WhatsApp or email if you have questions about the lab. And we'll officially close the class here until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5.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8.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image" Target="../media/image2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2.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2.xml"/><Relationship Id="rId4" Type="http://schemas.openxmlformats.org/officeDocument/2006/relationships/image" Target="../media/image2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3.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5.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6.jpe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7.jpe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8.jpe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9.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30.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6BE6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3894311" y="2097584"/>
            <a:ext cx="4403303" cy="174625"/>
          </a:xfrm>
          <a:prstGeom prst="rect">
            <a:avLst/>
          </a:prstGeom>
          <a:noFill/>
        </p:spPr>
        <p:txBody>
          <a:bodyPr wrap="square" lIns="0" tIns="0" rIns="0" bIns="0" rtlCol="0" anchor="t">
            <a:spAutoFit/>
          </a:bodyPr>
          <a:lstStyle/>
          <a:p>
            <a:pPr marL="0" indent="0" algn="ctr">
              <a:buNone/>
            </a:pPr>
            <a:r>
              <a:rPr lang="en-US" sz="1135" b="1" kern="0" spc="4" dirty="0">
                <a:solidFill>
                  <a:srgbClr val="00D4FF"/>
                </a:solidFill>
                <a:latin typeface="Arial" panose="020B0604020202020204" pitchFamily="34" charset="0"/>
                <a:ea typeface="Arial" panose="020B0604020202020204" pitchFamily="34" charset="-122"/>
                <a:cs typeface="Arial" panose="020B0604020202020204" pitchFamily="34" charset="-120"/>
              </a:rPr>
              <a:t>CYBER FOUNDATION &amp; CTF MINDSET</a:t>
            </a:r>
            <a:endParaRPr lang="en-US" sz="1135" dirty="0"/>
          </a:p>
        </p:txBody>
      </p:sp>
      <p:sp>
        <p:nvSpPr>
          <p:cNvPr id="9" name="Text 3"/>
          <p:cNvSpPr/>
          <p:nvPr/>
        </p:nvSpPr>
        <p:spPr>
          <a:xfrm>
            <a:off x="4880610" y="2502396"/>
            <a:ext cx="2430780" cy="702945"/>
          </a:xfrm>
          <a:prstGeom prst="rect">
            <a:avLst/>
          </a:prstGeom>
          <a:noFill/>
        </p:spPr>
        <p:txBody>
          <a:bodyPr wrap="none" lIns="0" tIns="0" rIns="0" bIns="0" rtlCol="0" anchor="t">
            <a:spAutoFit/>
          </a:bodyPr>
          <a:lstStyle/>
          <a:p>
            <a:pPr marL="0" indent="0" algn="ctr">
              <a:lnSpc>
                <a:spcPct val="77000"/>
              </a:lnSpc>
              <a:buNone/>
            </a:pPr>
            <a:r>
              <a:rPr lang="en-US" sz="5935" b="1" kern="0" spc="-2" dirty="0">
                <a:solidFill>
                  <a:srgbClr val="FFFFFF"/>
                </a:solidFill>
                <a:latin typeface="Arial" panose="020B0604020202020204" pitchFamily="34" charset="0"/>
                <a:ea typeface="Arial" panose="020B0604020202020204" pitchFamily="34" charset="-122"/>
                <a:cs typeface="Arial" panose="020B0604020202020204" pitchFamily="34" charset="-120"/>
              </a:rPr>
              <a:t>CGH-X</a:t>
            </a:r>
            <a:endParaRPr lang="en-US" sz="5935" dirty="0"/>
          </a:p>
        </p:txBody>
      </p:sp>
      <p:sp>
        <p:nvSpPr>
          <p:cNvPr id="10" name="Text 4"/>
          <p:cNvSpPr/>
          <p:nvPr/>
        </p:nvSpPr>
        <p:spPr>
          <a:xfrm>
            <a:off x="4192637" y="3450655"/>
            <a:ext cx="3806652" cy="255905"/>
          </a:xfrm>
          <a:prstGeom prst="rect">
            <a:avLst/>
          </a:prstGeom>
          <a:noFill/>
        </p:spPr>
        <p:txBody>
          <a:bodyPr wrap="square" lIns="0" tIns="0" rIns="0" bIns="0" rtlCol="0" anchor="t">
            <a:spAutoFit/>
          </a:bodyPr>
          <a:lstStyle/>
          <a:p>
            <a:pPr marL="0" indent="0" algn="ctr">
              <a:buNone/>
            </a:pPr>
            <a:r>
              <a:rPr lang="en-US" sz="1665" b="1" kern="0" spc="5" dirty="0">
                <a:solidFill>
                  <a:srgbClr val="FFFFFF"/>
                </a:solidFill>
                <a:latin typeface="Arial" panose="020B0604020202020204" pitchFamily="34" charset="0"/>
                <a:ea typeface="Arial" panose="020B0604020202020204" pitchFamily="34" charset="-122"/>
                <a:cs typeface="Arial" panose="020B0604020202020204" pitchFamily="34" charset="-120"/>
              </a:rPr>
              <a:t>MODULE 1 — CLASS 1</a:t>
            </a:r>
            <a:endParaRPr lang="en-US" sz="1665" dirty="0"/>
          </a:p>
        </p:txBody>
      </p:sp>
      <p:sp>
        <p:nvSpPr>
          <p:cNvPr id="11" name="Text 5"/>
          <p:cNvSpPr/>
          <p:nvPr/>
        </p:nvSpPr>
        <p:spPr>
          <a:xfrm>
            <a:off x="4393480" y="3841180"/>
            <a:ext cx="3405039" cy="255905"/>
          </a:xfrm>
          <a:prstGeom prst="rect">
            <a:avLst/>
          </a:prstGeom>
          <a:noFill/>
        </p:spPr>
        <p:txBody>
          <a:bodyPr wrap="square" lIns="0" tIns="0" rIns="0" bIns="0" rtlCol="0" anchor="t">
            <a:spAutoFit/>
          </a:bodyPr>
          <a:lstStyle/>
          <a:p>
            <a:pPr marL="0" indent="0" algn="ctr">
              <a:buNone/>
            </a:pPr>
            <a:r>
              <a:rPr lang="en-US" sz="1665" dirty="0">
                <a:solidFill>
                  <a:srgbClr val="8A93A8"/>
                </a:solidFill>
                <a:latin typeface="Arial" panose="020B0604020202020204" pitchFamily="34" charset="0"/>
                <a:ea typeface="Arial" panose="020B0604020202020204" pitchFamily="34" charset="-122"/>
                <a:cs typeface="Arial" panose="020B0604020202020204" pitchFamily="34" charset="-120"/>
              </a:rPr>
              <a:t>Cyber Foundation &amp; CTF Mindset</a:t>
            </a:r>
            <a:endParaRPr lang="en-US" sz="1665" dirty="0"/>
          </a:p>
        </p:txBody>
      </p:sp>
      <p:sp>
        <p:nvSpPr>
          <p:cNvPr id="12" name="Text 6"/>
          <p:cNvSpPr/>
          <p:nvPr/>
        </p:nvSpPr>
        <p:spPr>
          <a:xfrm>
            <a:off x="3628728" y="4607941"/>
            <a:ext cx="4934545" cy="184150"/>
          </a:xfrm>
          <a:prstGeom prst="rect">
            <a:avLst/>
          </a:prstGeom>
          <a:noFill/>
        </p:spPr>
        <p:txBody>
          <a:bodyPr wrap="square" lIns="0" tIns="0" rIns="0" bIns="0" rtlCol="0" anchor="t">
            <a:spAutoFit/>
          </a:bodyPr>
          <a:lstStyle/>
          <a:p>
            <a:pPr marL="0" indent="0" algn="ctr">
              <a:buNone/>
            </a:pPr>
            <a:r>
              <a:rPr lang="en-US" sz="1200"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LEARN. PRACTICE. ATTACK. DEFEND. LEAD.</a:t>
            </a:r>
            <a:endParaRPr lang="en-US" sz="1200" dirty="0"/>
          </a:p>
        </p:txBody>
      </p:sp>
      <p:sp>
        <p:nvSpPr>
          <p:cNvPr id="13" name="Shape 7"/>
          <p:cNvSpPr/>
          <p:nvPr/>
        </p:nvSpPr>
        <p:spPr>
          <a:xfrm>
            <a:off x="723900" y="6591300"/>
            <a:ext cx="781051" cy="38100"/>
          </a:xfrm>
          <a:prstGeom prst="rect">
            <a:avLst/>
          </a:prstGeom>
          <a:solidFill>
            <a:srgbClr val="FF6B1A"/>
          </a:solidFill>
        </p:spPr>
      </p:sp>
      <p:sp>
        <p:nvSpPr>
          <p:cNvPr id="14" name="Text 8"/>
          <p:cNvSpPr/>
          <p:nvPr/>
        </p:nvSpPr>
        <p:spPr>
          <a:xfrm>
            <a:off x="3988221" y="6486525"/>
            <a:ext cx="4215556" cy="153670"/>
          </a:xfrm>
          <a:prstGeom prst="rect">
            <a:avLst/>
          </a:prstGeom>
          <a:noFill/>
        </p:spPr>
        <p:txBody>
          <a:bodyPr wrap="square" lIns="0" tIns="0" rIns="0" bIns="0" rtlCol="0" anchor="t">
            <a:spAutoFit/>
          </a:bodyPr>
          <a:lstStyle/>
          <a:p>
            <a:pPr marL="0" indent="0" algn="l">
              <a:buNone/>
            </a:pPr>
            <a:r>
              <a:rPr lang="en-US" sz="1000" dirty="0">
                <a:solidFill>
                  <a:srgbClr val="687388"/>
                </a:solidFill>
                <a:latin typeface="Arial" panose="020B0604020202020204" pitchFamily="34" charset="0"/>
                <a:ea typeface="Arial" panose="020B0604020202020204" pitchFamily="34" charset="-122"/>
                <a:cs typeface="Arial" panose="020B0604020202020204" pitchFamily="34" charset="-120"/>
              </a:rPr>
              <a:t>Free Introductory Class | CyberHELP × FIRE Cybersecurity Community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8CEC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6096000" y="6115050"/>
            <a:ext cx="6096000" cy="356235"/>
          </a:xfrm>
          <a:prstGeom prst="rect">
            <a:avLst/>
          </a:prstGeom>
          <a:noFill/>
        </p:spPr>
        <p:txBody>
          <a:bodyPr wrap="square" lIns="0" tIns="192701" rIns="0" bIns="0" rtlCol="0" anchor="t">
            <a:spAutoFit/>
          </a:bodyPr>
          <a:lstStyle/>
          <a:p>
            <a:pPr marL="0" indent="0" algn="l">
              <a:buNone/>
            </a:pPr>
            <a:r>
              <a:rPr lang="en-US" sz="1065" dirty="0">
                <a:solidFill>
                  <a:srgbClr val="778196"/>
                </a:solidFill>
                <a:latin typeface="Arial" panose="020B0604020202020204" pitchFamily="34" charset="0"/>
                <a:ea typeface="Arial" panose="020B0604020202020204" pitchFamily="34" charset="-122"/>
                <a:cs typeface="Arial" panose="020B0604020202020204" pitchFamily="34" charset="-120"/>
              </a:rPr>
              <a:t>Put your phone on the table.</a:t>
            </a:r>
            <a:endParaRPr lang="en-US" sz="106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1066800" y="971551"/>
            <a:ext cx="10058400" cy="631190"/>
          </a:xfrm>
          <a:prstGeom prst="rect">
            <a:avLst/>
          </a:prstGeom>
          <a:noFill/>
        </p:spPr>
        <p:txBody>
          <a:bodyPr wrap="square" lIns="0" tIns="487510"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YOUR LEARNING COMMUNITY</a:t>
            </a:r>
            <a:endParaRPr lang="en-US" sz="935" dirty="0"/>
          </a:p>
        </p:txBody>
      </p:sp>
      <p:sp>
        <p:nvSpPr>
          <p:cNvPr id="9" name="Text 3"/>
          <p:cNvSpPr/>
          <p:nvPr/>
        </p:nvSpPr>
        <p:spPr>
          <a:xfrm>
            <a:off x="1066800" y="1628775"/>
            <a:ext cx="6440805" cy="442595"/>
          </a:xfrm>
          <a:prstGeom prst="rect">
            <a:avLst/>
          </a:prstGeom>
          <a:noFill/>
        </p:spPr>
        <p:txBody>
          <a:bodyPr wrap="none" lIns="0" tIns="0" rIns="0" bIns="0" rtlCol="0" anchor="t">
            <a:spAutoFit/>
          </a:bodyPr>
          <a:lstStyle/>
          <a:p>
            <a:pPr marL="0" indent="0" algn="l">
              <a:lnSpc>
                <a:spcPct val="83000"/>
              </a:lnSpc>
              <a:buNone/>
            </a:pPr>
            <a:r>
              <a:rPr lang="en-US" sz="34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path is built for beginners.</a:t>
            </a:r>
            <a:endParaRPr lang="en-US" sz="3465" dirty="0"/>
          </a:p>
        </p:txBody>
      </p:sp>
      <p:sp>
        <p:nvSpPr>
          <p:cNvPr id="10" name="Text 4"/>
          <p:cNvSpPr/>
          <p:nvPr/>
        </p:nvSpPr>
        <p:spPr>
          <a:xfrm>
            <a:off x="1066800" y="2248272"/>
            <a:ext cx="10058400" cy="225425"/>
          </a:xfrm>
          <a:prstGeom prst="rect">
            <a:avLst/>
          </a:prstGeom>
          <a:noFill/>
        </p:spPr>
        <p:txBody>
          <a:bodyPr wrap="square" lIns="0" tIns="0" rIns="0" bIns="0" rtlCol="0" anchor="t">
            <a:spAutoFit/>
          </a:bodyPr>
          <a:lstStyle/>
          <a:p>
            <a:pPr marL="0" indent="0" algn="l">
              <a:buNone/>
            </a:pPr>
            <a:r>
              <a:rPr lang="en-US" sz="1465" dirty="0">
                <a:solidFill>
                  <a:srgbClr val="A5B0C3"/>
                </a:solidFill>
                <a:latin typeface="Arial" panose="020B0604020202020204" pitchFamily="34" charset="0"/>
                <a:ea typeface="Arial" panose="020B0604020202020204" pitchFamily="34" charset="-122"/>
                <a:cs typeface="Arial" panose="020B0604020202020204" pitchFamily="34" charset="-120"/>
              </a:rPr>
              <a:t>Two communities. One practical cybersecurity journey.</a:t>
            </a:r>
            <a:endParaRPr lang="en-US" sz="1465" dirty="0"/>
          </a:p>
        </p:txBody>
      </p:sp>
      <p:sp>
        <p:nvSpPr>
          <p:cNvPr id="11" name="Text 5"/>
          <p:cNvSpPr/>
          <p:nvPr/>
        </p:nvSpPr>
        <p:spPr>
          <a:xfrm>
            <a:off x="1066800" y="3476551"/>
            <a:ext cx="4500563" cy="287020"/>
          </a:xfrm>
          <a:prstGeom prst="rect">
            <a:avLst/>
          </a:prstGeom>
          <a:noFill/>
        </p:spPr>
        <p:txBody>
          <a:bodyPr wrap="square" lIns="0" tIns="0" rIns="0" bIns="0" rtlCol="0" anchor="t">
            <a:spAutoFit/>
          </a:bodyPr>
          <a:lstStyle/>
          <a:p>
            <a:pPr marL="0" indent="0" algn="l">
              <a:buNone/>
            </a:pPr>
            <a:r>
              <a:rPr lang="en-US" sz="1865" b="1" dirty="0">
                <a:solidFill>
                  <a:srgbClr val="FFFFFF"/>
                </a:solidFill>
                <a:latin typeface="Arial" panose="020B0604020202020204" pitchFamily="34" charset="0"/>
                <a:ea typeface="Arial" panose="020B0604020202020204" pitchFamily="34" charset="-122"/>
                <a:cs typeface="Arial" panose="020B0604020202020204" pitchFamily="34" charset="-120"/>
              </a:rPr>
              <a:t>CyberHELP</a:t>
            </a:r>
            <a:endParaRPr lang="en-US" sz="1865" dirty="0"/>
          </a:p>
        </p:txBody>
      </p:sp>
      <p:sp>
        <p:nvSpPr>
          <p:cNvPr id="12" name="Text 6"/>
          <p:cNvSpPr/>
          <p:nvPr/>
        </p:nvSpPr>
        <p:spPr>
          <a:xfrm>
            <a:off x="1066800" y="3881363"/>
            <a:ext cx="4500563" cy="184150"/>
          </a:xfrm>
          <a:prstGeom prst="rect">
            <a:avLst/>
          </a:prstGeom>
          <a:noFill/>
        </p:spPr>
        <p:txBody>
          <a:bodyPr wrap="square" lIns="0" tIns="0" rIns="0" bIns="0" rtlCol="0" anchor="t">
            <a:spAutoFit/>
          </a:bodyPr>
          <a:lstStyle/>
          <a:p>
            <a:pPr marL="0" indent="0" algn="l">
              <a:buNone/>
            </a:pPr>
            <a:r>
              <a:rPr lang="en-US" sz="1200" b="1" dirty="0">
                <a:solidFill>
                  <a:srgbClr val="00D4FF"/>
                </a:solidFill>
                <a:latin typeface="Arial" panose="020B0604020202020204" pitchFamily="34" charset="0"/>
                <a:ea typeface="Arial" panose="020B0604020202020204" pitchFamily="34" charset="-122"/>
                <a:cs typeface="Arial" panose="020B0604020202020204" pitchFamily="34" charset="-120"/>
              </a:rPr>
              <a:t>Secure Help. Anytime. Anywhere.</a:t>
            </a:r>
            <a:endParaRPr lang="en-US" sz="1200" dirty="0"/>
          </a:p>
        </p:txBody>
      </p:sp>
      <p:sp>
        <p:nvSpPr>
          <p:cNvPr id="13" name="Text 7"/>
          <p:cNvSpPr/>
          <p:nvPr/>
        </p:nvSpPr>
        <p:spPr>
          <a:xfrm>
            <a:off x="1066800" y="4271888"/>
            <a:ext cx="4500563" cy="421640"/>
          </a:xfrm>
          <a:prstGeom prst="rect">
            <a:avLst/>
          </a:prstGeom>
          <a:noFill/>
        </p:spPr>
        <p:txBody>
          <a:bodyPr wrap="square" lIns="0" tIns="0" rIns="0" bIns="0" rtlCol="0" anchor="t">
            <a:spAutoFit/>
          </a:bodyPr>
          <a:lstStyle/>
          <a:p>
            <a:pPr marL="0" indent="0" algn="l">
              <a:lnSpc>
                <a:spcPct val="108000"/>
              </a:lnSpc>
              <a:buNone/>
            </a:pPr>
            <a:r>
              <a:rPr lang="en-US" sz="1265" dirty="0">
                <a:solidFill>
                  <a:srgbClr val="8A93A8"/>
                </a:solidFill>
                <a:latin typeface="Arial" panose="020B0604020202020204" pitchFamily="34" charset="0"/>
                <a:ea typeface="Arial" panose="020B0604020202020204" pitchFamily="34" charset="-122"/>
                <a:cs typeface="Arial" panose="020B0604020202020204" pitchFamily="34" charset="-120"/>
              </a:rPr>
              <a:t>Learn with clear guidance, real tools, and a community built to help you begin.</a:t>
            </a:r>
            <a:endParaRPr lang="en-US" sz="1265" dirty="0"/>
          </a:p>
        </p:txBody>
      </p:sp>
      <p:sp>
        <p:nvSpPr>
          <p:cNvPr id="14" name="Text 8"/>
          <p:cNvSpPr/>
          <p:nvPr/>
        </p:nvSpPr>
        <p:spPr>
          <a:xfrm>
            <a:off x="6624637" y="3476551"/>
            <a:ext cx="4500563" cy="287020"/>
          </a:xfrm>
          <a:prstGeom prst="rect">
            <a:avLst/>
          </a:prstGeom>
          <a:noFill/>
        </p:spPr>
        <p:txBody>
          <a:bodyPr wrap="square" lIns="0" tIns="0" rIns="0" bIns="0" rtlCol="0" anchor="t">
            <a:spAutoFit/>
          </a:bodyPr>
          <a:lstStyle/>
          <a:p>
            <a:pPr marL="0" indent="0" algn="l">
              <a:buNone/>
            </a:pPr>
            <a:r>
              <a:rPr lang="en-US" sz="1865" b="1" dirty="0">
                <a:solidFill>
                  <a:srgbClr val="FFFFFF"/>
                </a:solidFill>
                <a:latin typeface="Arial" panose="020B0604020202020204" pitchFamily="34" charset="0"/>
                <a:ea typeface="Arial" panose="020B0604020202020204" pitchFamily="34" charset="-122"/>
                <a:cs typeface="Arial" panose="020B0604020202020204" pitchFamily="34" charset="-120"/>
              </a:rPr>
              <a:t>FIRE Cybersecurity Community</a:t>
            </a:r>
            <a:endParaRPr lang="en-US" sz="1865" dirty="0"/>
          </a:p>
        </p:txBody>
      </p:sp>
      <p:sp>
        <p:nvSpPr>
          <p:cNvPr id="15" name="Text 9"/>
          <p:cNvSpPr/>
          <p:nvPr/>
        </p:nvSpPr>
        <p:spPr>
          <a:xfrm>
            <a:off x="6624637" y="3881363"/>
            <a:ext cx="4500563" cy="184150"/>
          </a:xfrm>
          <a:prstGeom prst="rect">
            <a:avLst/>
          </a:prstGeom>
          <a:noFill/>
        </p:spPr>
        <p:txBody>
          <a:bodyPr wrap="square" lIns="0" tIns="0" rIns="0" bIns="0" rtlCol="0" anchor="t">
            <a:spAutoFit/>
          </a:bodyPr>
          <a:lstStyle/>
          <a:p>
            <a:pPr marL="0" indent="0" algn="l">
              <a:buNone/>
            </a:pPr>
            <a:r>
              <a:rPr lang="en-US" sz="1200" b="1" dirty="0">
                <a:solidFill>
                  <a:srgbClr val="00D4FF"/>
                </a:solidFill>
                <a:latin typeface="Arial" panose="020B0604020202020204" pitchFamily="34" charset="0"/>
                <a:ea typeface="Arial" panose="020B0604020202020204" pitchFamily="34" charset="-122"/>
                <a:cs typeface="Arial" panose="020B0604020202020204" pitchFamily="34" charset="-120"/>
              </a:rPr>
              <a:t>For Intelligence, Resilience, and Empowerment</a:t>
            </a:r>
            <a:endParaRPr lang="en-US" sz="1200" dirty="0"/>
          </a:p>
        </p:txBody>
      </p:sp>
      <p:sp>
        <p:nvSpPr>
          <p:cNvPr id="16" name="Text 10"/>
          <p:cNvSpPr/>
          <p:nvPr/>
        </p:nvSpPr>
        <p:spPr>
          <a:xfrm>
            <a:off x="6624637" y="4271888"/>
            <a:ext cx="4500563" cy="421640"/>
          </a:xfrm>
          <a:prstGeom prst="rect">
            <a:avLst/>
          </a:prstGeom>
          <a:noFill/>
        </p:spPr>
        <p:txBody>
          <a:bodyPr wrap="square" lIns="0" tIns="0" rIns="0" bIns="0" rtlCol="0" anchor="t">
            <a:spAutoFit/>
          </a:bodyPr>
          <a:lstStyle/>
          <a:p>
            <a:pPr marL="0" indent="0" algn="l">
              <a:lnSpc>
                <a:spcPct val="108000"/>
              </a:lnSpc>
              <a:buNone/>
            </a:pPr>
            <a:r>
              <a:rPr lang="en-US" sz="1265" dirty="0">
                <a:solidFill>
                  <a:srgbClr val="8A93A8"/>
                </a:solidFill>
                <a:latin typeface="Arial" panose="020B0604020202020204" pitchFamily="34" charset="0"/>
                <a:ea typeface="Arial" panose="020B0604020202020204" pitchFamily="34" charset="-122"/>
                <a:cs typeface="Arial" panose="020B0604020202020204" pitchFamily="34" charset="-120"/>
              </a:rPr>
              <a:t>Build the mindset to investigate, practice ethically, and keep improving.</a:t>
            </a:r>
            <a:endParaRPr lang="en-US" sz="1265" dirty="0"/>
          </a:p>
        </p:txBody>
      </p:sp>
      <p:sp>
        <p:nvSpPr>
          <p:cNvPr id="17" name="Text 11"/>
          <p:cNvSpPr/>
          <p:nvPr/>
        </p:nvSpPr>
        <p:spPr>
          <a:xfrm>
            <a:off x="1066800" y="5305797"/>
            <a:ext cx="10058400" cy="466090"/>
          </a:xfrm>
          <a:prstGeom prst="rect">
            <a:avLst/>
          </a:prstGeom>
          <a:noFill/>
        </p:spPr>
        <p:txBody>
          <a:bodyPr wrap="square" lIns="0" tIns="260773" rIns="0" bIns="0" rtlCol="0" anchor="t">
            <a:spAutoFit/>
          </a:bodyPr>
          <a:lstStyle/>
          <a:p>
            <a:pPr marL="0" indent="0" algn="ctr">
              <a:buNone/>
            </a:pPr>
            <a:r>
              <a:rPr lang="en-US" sz="1335" b="1" dirty="0">
                <a:solidFill>
                  <a:srgbClr val="FF6B1A"/>
                </a:solidFill>
                <a:latin typeface="Arial" panose="020B0604020202020204" pitchFamily="34" charset="0"/>
                <a:ea typeface="Arial" panose="020B0604020202020204" pitchFamily="34" charset="-122"/>
                <a:cs typeface="Arial" panose="020B0604020202020204" pitchFamily="34" charset="-120"/>
              </a:rPr>
              <a:t>HANDS-ON.</a:t>
            </a: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 CTF-DRIVEN. JOB-FOCUSED.</a:t>
            </a:r>
            <a:endParaRPr lang="en-US" sz="1335" dirty="0"/>
          </a:p>
        </p:txBody>
      </p:sp>
      <p:sp>
        <p:nvSpPr>
          <p:cNvPr id="18" name="Shape 12"/>
          <p:cNvSpPr/>
          <p:nvPr/>
        </p:nvSpPr>
        <p:spPr>
          <a:xfrm>
            <a:off x="723900" y="6134100"/>
            <a:ext cx="10744200" cy="723900"/>
          </a:xfrm>
          <a:prstGeom prst="rect">
            <a:avLst/>
          </a:prstGeom>
          <a:solidFill>
            <a:srgbClr val="000000">
              <a:alpha val="0"/>
            </a:srgbClr>
          </a:solidFill>
        </p:spPr>
      </p:sp>
      <p:sp>
        <p:nvSpPr>
          <p:cNvPr id="19" name="Shape 13"/>
          <p:cNvSpPr/>
          <p:nvPr/>
        </p:nvSpPr>
        <p:spPr>
          <a:xfrm>
            <a:off x="723900" y="6134100"/>
            <a:ext cx="10744200" cy="9525"/>
          </a:xfrm>
          <a:prstGeom prst="rect">
            <a:avLst/>
          </a:prstGeom>
          <a:solidFill>
            <a:srgbClr val="FFFFFF"/>
          </a:solidFill>
        </p:spPr>
      </p:sp>
      <p:sp>
        <p:nvSpPr>
          <p:cNvPr id="20" name="Text 14"/>
          <p:cNvSpPr/>
          <p:nvPr/>
        </p:nvSpPr>
        <p:spPr>
          <a:xfrm>
            <a:off x="723900" y="6134100"/>
            <a:ext cx="10744200" cy="368935"/>
          </a:xfrm>
          <a:prstGeom prst="rect">
            <a:avLst/>
          </a:prstGeom>
          <a:noFill/>
        </p:spPr>
        <p:txBody>
          <a:bodyPr wrap="square" lIns="0" tIns="215392" rIns="0" bIns="0" rtlCol="0" anchor="t">
            <a:spAutoFit/>
          </a:bodyPr>
          <a:lstStyle/>
          <a:p>
            <a:pPr marL="0" indent="0" algn="l">
              <a:buNone/>
            </a:pPr>
            <a:r>
              <a:rPr lang="en-US" sz="1000" dirty="0">
                <a:solidFill>
                  <a:srgbClr val="768197"/>
                </a:solidFill>
                <a:latin typeface="Arial" panose="020B0604020202020204" pitchFamily="34" charset="0"/>
                <a:ea typeface="Arial" panose="020B0604020202020204" pitchFamily="34" charset="-122"/>
                <a:cs typeface="Arial" panose="020B0604020202020204" pitchFamily="34" charset="-120"/>
              </a:rPr>
              <a:t>0:08–0:15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800100" y="971551"/>
            <a:ext cx="10591800" cy="574675"/>
          </a:xfrm>
          <a:prstGeom prst="rect">
            <a:avLst/>
          </a:prstGeom>
          <a:noFill/>
        </p:spPr>
        <p:txBody>
          <a:bodyPr wrap="square" lIns="0" tIns="430953"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THE CGH-X JOURNEY</a:t>
            </a:r>
            <a:endParaRPr lang="en-US" sz="935" dirty="0"/>
          </a:p>
        </p:txBody>
      </p:sp>
      <p:sp>
        <p:nvSpPr>
          <p:cNvPr id="9" name="Text 3"/>
          <p:cNvSpPr/>
          <p:nvPr/>
        </p:nvSpPr>
        <p:spPr>
          <a:xfrm>
            <a:off x="800100" y="1562100"/>
            <a:ext cx="5469255" cy="422275"/>
          </a:xfrm>
          <a:prstGeom prst="rect">
            <a:avLst/>
          </a:prstGeom>
          <a:noFill/>
        </p:spPr>
        <p:txBody>
          <a:bodyPr wrap="none" lIns="0" tIns="0" rIns="0" bIns="0" rtlCol="0" anchor="t">
            <a:spAutoFit/>
          </a:bodyPr>
          <a:lstStyle/>
          <a:p>
            <a:pPr marL="0" indent="0" algn="l">
              <a:lnSpc>
                <a:spcPct val="84000"/>
              </a:lnSpc>
              <a:buNone/>
            </a:pPr>
            <a:r>
              <a:rPr lang="en-US" sz="32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One foundation. Six stages.</a:t>
            </a:r>
            <a:endParaRPr lang="en-US" sz="3265" dirty="0"/>
          </a:p>
        </p:txBody>
      </p:sp>
      <p:sp>
        <p:nvSpPr>
          <p:cNvPr id="10" name="Text 4"/>
          <p:cNvSpPr/>
          <p:nvPr/>
        </p:nvSpPr>
        <p:spPr>
          <a:xfrm>
            <a:off x="8588871" y="1809751"/>
            <a:ext cx="2803029" cy="184150"/>
          </a:xfrm>
          <a:prstGeom prst="rect">
            <a:avLst/>
          </a:prstGeom>
          <a:noFill/>
        </p:spPr>
        <p:txBody>
          <a:bodyPr wrap="square" lIns="0" tIns="0" rIns="0" bIns="0" rtlCol="0" anchor="t">
            <a:spAutoFit/>
          </a:bodyPr>
          <a:lstStyle/>
          <a:p>
            <a:pPr marL="0" indent="0" algn="l">
              <a:buNone/>
            </a:pPr>
            <a:r>
              <a:rPr lang="en-US" sz="1200" kern="0" spc="1" dirty="0">
                <a:solidFill>
                  <a:srgbClr val="8A93A8"/>
                </a:solidFill>
                <a:latin typeface="Arial" panose="020B0604020202020204" pitchFamily="34" charset="0"/>
                <a:ea typeface="Arial" panose="020B0604020202020204" pitchFamily="34" charset="-122"/>
                <a:cs typeface="Arial" panose="020B0604020202020204" pitchFamily="34" charset="-120"/>
              </a:rPr>
              <a:t>24 WEEKS · ONE PROGRESSION</a:t>
            </a:r>
            <a:endParaRPr lang="en-US" sz="1200" dirty="0"/>
          </a:p>
        </p:txBody>
      </p:sp>
      <p:sp>
        <p:nvSpPr>
          <p:cNvPr id="11" name="Shape 5"/>
          <p:cNvSpPr/>
          <p:nvPr/>
        </p:nvSpPr>
        <p:spPr>
          <a:xfrm>
            <a:off x="1228725" y="2908920"/>
            <a:ext cx="9734551" cy="19051"/>
          </a:xfrm>
          <a:prstGeom prst="rect">
            <a:avLst/>
          </a:prstGeom>
          <a:solidFill>
            <a:srgbClr val="00D4FF">
              <a:alpha val="45000"/>
            </a:srgbClr>
          </a:solidFill>
        </p:spPr>
      </p:sp>
      <p:sp>
        <p:nvSpPr>
          <p:cNvPr id="12" name="Shape 6"/>
          <p:cNvSpPr/>
          <p:nvPr/>
        </p:nvSpPr>
        <p:spPr>
          <a:xfrm>
            <a:off x="1393031" y="2423145"/>
            <a:ext cx="476251" cy="476251"/>
          </a:xfrm>
          <a:prstGeom prst="rect">
            <a:avLst/>
          </a:prstGeom>
          <a:solidFill>
            <a:srgbClr val="FF6B1A"/>
          </a:solidFill>
          <a:ln w="18288">
            <a:solidFill>
              <a:srgbClr val="FF6B1A"/>
            </a:solidFill>
            <a:prstDash val="solid"/>
          </a:ln>
        </p:spPr>
      </p:sp>
      <p:sp>
        <p:nvSpPr>
          <p:cNvPr id="13" name="Text 7"/>
          <p:cNvSpPr/>
          <p:nvPr/>
        </p:nvSpPr>
        <p:spPr>
          <a:xfrm>
            <a:off x="1532096" y="2553638"/>
            <a:ext cx="198120" cy="215265"/>
          </a:xfrm>
          <a:prstGeom prst="rect">
            <a:avLst/>
          </a:prstGeom>
          <a:noFill/>
        </p:spPr>
        <p:txBody>
          <a:bodyPr wrap="none" lIns="0" tIns="0" rIns="0" bIns="0" rtlCol="0" anchor="ctr">
            <a:spAutoFit/>
          </a:bodyPr>
          <a:lstStyle/>
          <a:p>
            <a:pPr marL="0" indent="0" algn="ctr">
              <a:buNone/>
            </a:pPr>
            <a:r>
              <a:rPr lang="en-US" sz="1400"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1400" dirty="0"/>
          </a:p>
        </p:txBody>
      </p:sp>
      <p:sp>
        <p:nvSpPr>
          <p:cNvPr id="14" name="Text 8"/>
          <p:cNvSpPr/>
          <p:nvPr/>
        </p:nvSpPr>
        <p:spPr>
          <a:xfrm>
            <a:off x="1320921" y="3061320"/>
            <a:ext cx="620395" cy="133350"/>
          </a:xfrm>
          <a:prstGeom prst="rect">
            <a:avLst/>
          </a:prstGeom>
          <a:noFill/>
        </p:spPr>
        <p:txBody>
          <a:bodyPr wrap="none" lIns="0" tIns="0" rIns="0" bIns="0" rtlCol="0" anchor="t">
            <a:spAutoFit/>
          </a:bodyPr>
          <a:lstStyle/>
          <a:p>
            <a:pPr marL="0" indent="0" algn="ctr">
              <a:buNone/>
            </a:pPr>
            <a:r>
              <a:rPr lang="en-US" sz="865" b="1" kern="0" spc="1" dirty="0">
                <a:solidFill>
                  <a:srgbClr val="FF8B4B"/>
                </a:solidFill>
                <a:latin typeface="Arial" panose="020B0604020202020204" pitchFamily="34" charset="0"/>
                <a:ea typeface="Arial" panose="020B0604020202020204" pitchFamily="34" charset="-122"/>
                <a:cs typeface="Arial" panose="020B0604020202020204" pitchFamily="34" charset="-120"/>
              </a:rPr>
              <a:t>WEEKS 1–4</a:t>
            </a:r>
            <a:endParaRPr lang="en-US" sz="865" dirty="0"/>
          </a:p>
        </p:txBody>
      </p:sp>
      <p:sp>
        <p:nvSpPr>
          <p:cNvPr id="15" name="Text 9"/>
          <p:cNvSpPr/>
          <p:nvPr/>
        </p:nvSpPr>
        <p:spPr>
          <a:xfrm>
            <a:off x="878681" y="3294683"/>
            <a:ext cx="1504951" cy="343535"/>
          </a:xfrm>
          <a:prstGeom prst="rect">
            <a:avLst/>
          </a:prstGeom>
          <a:noFill/>
        </p:spPr>
        <p:txBody>
          <a:bodyPr wrap="square" lIns="0" tIns="0" rIns="0" bIns="0" rtlCol="0" anchor="t">
            <a:spAutoFit/>
          </a:bodyPr>
          <a:lstStyle/>
          <a:p>
            <a:pPr marL="0" indent="0" algn="ctr">
              <a:lnSpc>
                <a:spcPct val="98000"/>
              </a:lnSpc>
              <a:buNone/>
            </a:pPr>
            <a:r>
              <a:rPr lang="en-US" sz="1135" b="1" dirty="0">
                <a:solidFill>
                  <a:srgbClr val="FFFFFF"/>
                </a:solidFill>
                <a:latin typeface="Arial" panose="020B0604020202020204" pitchFamily="34" charset="0"/>
                <a:ea typeface="Arial" panose="020B0604020202020204" pitchFamily="34" charset="-122"/>
                <a:cs typeface="Arial" panose="020B0604020202020204" pitchFamily="34" charset="-120"/>
              </a:rPr>
              <a:t>Cyber Foundation &amp; CTF Mindset</a:t>
            </a:r>
            <a:endParaRPr lang="en-US" sz="1135" dirty="0"/>
          </a:p>
        </p:txBody>
      </p:sp>
      <p:sp>
        <p:nvSpPr>
          <p:cNvPr id="16" name="Text 10"/>
          <p:cNvSpPr/>
          <p:nvPr/>
        </p:nvSpPr>
        <p:spPr>
          <a:xfrm>
            <a:off x="1182529" y="3803972"/>
            <a:ext cx="897255" cy="144145"/>
          </a:xfrm>
          <a:prstGeom prst="rect">
            <a:avLst/>
          </a:prstGeom>
          <a:noFill/>
        </p:spPr>
        <p:txBody>
          <a:bodyPr wrap="none" lIns="0" tIns="0" rIns="0" bIns="0" rtlCol="0" anchor="t">
            <a:spAutoFit/>
          </a:bodyPr>
          <a:lstStyle/>
          <a:p>
            <a:pPr marL="0" indent="0" algn="ctr">
              <a:lnSpc>
                <a:spcPct val="108000"/>
              </a:lnSpc>
              <a:buNone/>
            </a:pPr>
            <a:r>
              <a:rPr lang="en-US" sz="865" dirty="0">
                <a:solidFill>
                  <a:srgbClr val="FFB084"/>
                </a:solidFill>
                <a:latin typeface="Arial" panose="020B0604020202020204" pitchFamily="34" charset="0"/>
                <a:ea typeface="Arial" panose="020B0604020202020204" pitchFamily="34" charset="-122"/>
                <a:cs typeface="Arial" panose="020B0604020202020204" pitchFamily="34" charset="-120"/>
              </a:rPr>
              <a:t>Your starting point</a:t>
            </a:r>
            <a:endParaRPr lang="en-US" sz="865" dirty="0"/>
          </a:p>
        </p:txBody>
      </p:sp>
      <p:sp>
        <p:nvSpPr>
          <p:cNvPr id="17" name="Shape 11"/>
          <p:cNvSpPr/>
          <p:nvPr/>
        </p:nvSpPr>
        <p:spPr>
          <a:xfrm>
            <a:off x="3178969" y="2423145"/>
            <a:ext cx="476251" cy="476251"/>
          </a:xfrm>
          <a:prstGeom prst="rect">
            <a:avLst/>
          </a:prstGeom>
          <a:solidFill>
            <a:srgbClr val="071525"/>
          </a:solidFill>
          <a:ln w="18288">
            <a:solidFill>
              <a:srgbClr val="00D4FF"/>
            </a:solidFill>
            <a:prstDash val="solid"/>
          </a:ln>
        </p:spPr>
      </p:sp>
      <p:sp>
        <p:nvSpPr>
          <p:cNvPr id="18" name="Text 12"/>
          <p:cNvSpPr/>
          <p:nvPr/>
        </p:nvSpPr>
        <p:spPr>
          <a:xfrm>
            <a:off x="3318035" y="2553638"/>
            <a:ext cx="198120" cy="215265"/>
          </a:xfrm>
          <a:prstGeom prst="rect">
            <a:avLst/>
          </a:prstGeom>
          <a:noFill/>
        </p:spPr>
        <p:txBody>
          <a:bodyPr wrap="none" lIns="0" tIns="0" rIns="0" bIns="0" rtlCol="0" anchor="ctr">
            <a:spAutoFit/>
          </a:bodyPr>
          <a:lstStyle/>
          <a:p>
            <a:pPr marL="0" indent="0" algn="ctr">
              <a:buNone/>
            </a:pPr>
            <a:r>
              <a:rPr lang="en-US" sz="14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02</a:t>
            </a:r>
            <a:endParaRPr lang="en-US" sz="1400" dirty="0"/>
          </a:p>
        </p:txBody>
      </p:sp>
      <p:sp>
        <p:nvSpPr>
          <p:cNvPr id="19" name="Text 13"/>
          <p:cNvSpPr/>
          <p:nvPr/>
        </p:nvSpPr>
        <p:spPr>
          <a:xfrm>
            <a:off x="3106858" y="3061320"/>
            <a:ext cx="620395" cy="133350"/>
          </a:xfrm>
          <a:prstGeom prst="rect">
            <a:avLst/>
          </a:prstGeom>
          <a:noFill/>
        </p:spPr>
        <p:txBody>
          <a:bodyPr wrap="none" lIns="0" tIns="0" rIns="0" bIns="0" rtlCol="0" anchor="t">
            <a:spAutoFit/>
          </a:bodyPr>
          <a:lstStyle/>
          <a:p>
            <a:pPr marL="0" indent="0" algn="ctr">
              <a:buNone/>
            </a:pPr>
            <a:r>
              <a:rPr lang="en-US" sz="865" b="1" kern="0" spc="1" dirty="0">
                <a:solidFill>
                  <a:srgbClr val="8A93A8"/>
                </a:solidFill>
                <a:latin typeface="Arial" panose="020B0604020202020204" pitchFamily="34" charset="0"/>
                <a:ea typeface="Arial" panose="020B0604020202020204" pitchFamily="34" charset="-122"/>
                <a:cs typeface="Arial" panose="020B0604020202020204" pitchFamily="34" charset="-120"/>
              </a:rPr>
              <a:t>WEEKS 5–8</a:t>
            </a:r>
            <a:endParaRPr lang="en-US" sz="865" dirty="0"/>
          </a:p>
        </p:txBody>
      </p:sp>
      <p:sp>
        <p:nvSpPr>
          <p:cNvPr id="20" name="Text 14"/>
          <p:cNvSpPr/>
          <p:nvPr/>
        </p:nvSpPr>
        <p:spPr>
          <a:xfrm>
            <a:off x="2664619" y="3294683"/>
            <a:ext cx="1504951" cy="343535"/>
          </a:xfrm>
          <a:prstGeom prst="rect">
            <a:avLst/>
          </a:prstGeom>
          <a:noFill/>
        </p:spPr>
        <p:txBody>
          <a:bodyPr wrap="square" lIns="0" tIns="0" rIns="0" bIns="0" rtlCol="0" anchor="t">
            <a:spAutoFit/>
          </a:bodyPr>
          <a:lstStyle/>
          <a:p>
            <a:pPr marL="0" indent="0" algn="ctr">
              <a:lnSpc>
                <a:spcPct val="98000"/>
              </a:lnSpc>
              <a:buNone/>
            </a:pPr>
            <a:r>
              <a:rPr lang="en-US" sz="1135" b="1" dirty="0">
                <a:solidFill>
                  <a:srgbClr val="DCE8F5"/>
                </a:solidFill>
                <a:latin typeface="Arial" panose="020B0604020202020204" pitchFamily="34" charset="0"/>
                <a:ea typeface="Arial" panose="020B0604020202020204" pitchFamily="34" charset="-122"/>
                <a:cs typeface="Arial" panose="020B0604020202020204" pitchFamily="34" charset="-120"/>
              </a:rPr>
              <a:t>Web Security &amp; Core VAPT</a:t>
            </a:r>
            <a:endParaRPr lang="en-US" sz="1135" dirty="0"/>
          </a:p>
        </p:txBody>
      </p:sp>
      <p:sp>
        <p:nvSpPr>
          <p:cNvPr id="21" name="Text 15"/>
          <p:cNvSpPr/>
          <p:nvPr/>
        </p:nvSpPr>
        <p:spPr>
          <a:xfrm>
            <a:off x="2817935" y="3803972"/>
            <a:ext cx="1198245" cy="144145"/>
          </a:xfrm>
          <a:prstGeom prst="rect">
            <a:avLst/>
          </a:prstGeom>
          <a:noFill/>
        </p:spPr>
        <p:txBody>
          <a:bodyPr wrap="none" lIns="0" tIns="0" rIns="0" bIns="0" rtlCol="0" anchor="t">
            <a:spAutoFit/>
          </a:bodyPr>
          <a:lstStyle/>
          <a:p>
            <a:pPr marL="0" indent="0" algn="ctr">
              <a:lnSpc>
                <a:spcPct val="108000"/>
              </a:lnSpc>
              <a:buNone/>
            </a:pPr>
            <a:r>
              <a:rPr lang="en-US" sz="865" dirty="0">
                <a:solidFill>
                  <a:srgbClr val="778399"/>
                </a:solidFill>
                <a:latin typeface="Arial" panose="020B0604020202020204" pitchFamily="34" charset="0"/>
                <a:ea typeface="Arial" panose="020B0604020202020204" pitchFamily="34" charset="-122"/>
                <a:cs typeface="Arial" panose="020B0604020202020204" pitchFamily="34" charset="-120"/>
              </a:rPr>
              <a:t>How web systems break</a:t>
            </a:r>
            <a:endParaRPr lang="en-US" sz="865" dirty="0"/>
          </a:p>
        </p:txBody>
      </p:sp>
      <p:sp>
        <p:nvSpPr>
          <p:cNvPr id="22" name="Shape 16"/>
          <p:cNvSpPr/>
          <p:nvPr/>
        </p:nvSpPr>
        <p:spPr>
          <a:xfrm>
            <a:off x="4964907" y="2423145"/>
            <a:ext cx="476251" cy="476251"/>
          </a:xfrm>
          <a:prstGeom prst="rect">
            <a:avLst/>
          </a:prstGeom>
          <a:solidFill>
            <a:srgbClr val="071525"/>
          </a:solidFill>
          <a:ln w="18288">
            <a:solidFill>
              <a:srgbClr val="00D4FF"/>
            </a:solidFill>
            <a:prstDash val="solid"/>
          </a:ln>
        </p:spPr>
      </p:sp>
      <p:sp>
        <p:nvSpPr>
          <p:cNvPr id="23" name="Text 17"/>
          <p:cNvSpPr/>
          <p:nvPr/>
        </p:nvSpPr>
        <p:spPr>
          <a:xfrm>
            <a:off x="5103972" y="2553638"/>
            <a:ext cx="198120" cy="215265"/>
          </a:xfrm>
          <a:prstGeom prst="rect">
            <a:avLst/>
          </a:prstGeom>
          <a:noFill/>
        </p:spPr>
        <p:txBody>
          <a:bodyPr wrap="none" lIns="0" tIns="0" rIns="0" bIns="0" rtlCol="0" anchor="ctr">
            <a:spAutoFit/>
          </a:bodyPr>
          <a:lstStyle/>
          <a:p>
            <a:pPr marL="0" indent="0" algn="ctr">
              <a:buNone/>
            </a:pPr>
            <a:r>
              <a:rPr lang="en-US" sz="14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03</a:t>
            </a:r>
            <a:endParaRPr lang="en-US" sz="1400" dirty="0"/>
          </a:p>
        </p:txBody>
      </p:sp>
      <p:sp>
        <p:nvSpPr>
          <p:cNvPr id="24" name="Text 18"/>
          <p:cNvSpPr/>
          <p:nvPr/>
        </p:nvSpPr>
        <p:spPr>
          <a:xfrm>
            <a:off x="4862036" y="3061320"/>
            <a:ext cx="681990" cy="133350"/>
          </a:xfrm>
          <a:prstGeom prst="rect">
            <a:avLst/>
          </a:prstGeom>
          <a:noFill/>
        </p:spPr>
        <p:txBody>
          <a:bodyPr wrap="none" lIns="0" tIns="0" rIns="0" bIns="0" rtlCol="0" anchor="t">
            <a:spAutoFit/>
          </a:bodyPr>
          <a:lstStyle/>
          <a:p>
            <a:pPr marL="0" indent="0" algn="ctr">
              <a:buNone/>
            </a:pPr>
            <a:r>
              <a:rPr lang="en-US" sz="865" b="1" kern="0" spc="1" dirty="0">
                <a:solidFill>
                  <a:srgbClr val="8A93A8"/>
                </a:solidFill>
                <a:latin typeface="Arial" panose="020B0604020202020204" pitchFamily="34" charset="0"/>
                <a:ea typeface="Arial" panose="020B0604020202020204" pitchFamily="34" charset="-122"/>
                <a:cs typeface="Arial" panose="020B0604020202020204" pitchFamily="34" charset="-120"/>
              </a:rPr>
              <a:t>WEEKS 9–12</a:t>
            </a:r>
            <a:endParaRPr lang="en-US" sz="865" dirty="0"/>
          </a:p>
        </p:txBody>
      </p:sp>
      <p:sp>
        <p:nvSpPr>
          <p:cNvPr id="25" name="Text 19"/>
          <p:cNvSpPr/>
          <p:nvPr/>
        </p:nvSpPr>
        <p:spPr>
          <a:xfrm>
            <a:off x="4450556" y="3294683"/>
            <a:ext cx="1504951" cy="343535"/>
          </a:xfrm>
          <a:prstGeom prst="rect">
            <a:avLst/>
          </a:prstGeom>
          <a:noFill/>
        </p:spPr>
        <p:txBody>
          <a:bodyPr wrap="square" lIns="0" tIns="0" rIns="0" bIns="0" rtlCol="0" anchor="t">
            <a:spAutoFit/>
          </a:bodyPr>
          <a:lstStyle/>
          <a:p>
            <a:pPr marL="0" indent="0" algn="ctr">
              <a:lnSpc>
                <a:spcPct val="98000"/>
              </a:lnSpc>
              <a:buNone/>
            </a:pPr>
            <a:r>
              <a:rPr lang="en-US" sz="1135" b="1" dirty="0">
                <a:solidFill>
                  <a:srgbClr val="DCE8F5"/>
                </a:solidFill>
                <a:latin typeface="Arial" panose="020B0604020202020204" pitchFamily="34" charset="0"/>
                <a:ea typeface="Arial" panose="020B0604020202020204" pitchFamily="34" charset="-122"/>
                <a:cs typeface="Arial" panose="020B0604020202020204" pitchFamily="34" charset="-120"/>
              </a:rPr>
              <a:t>Network &amp; System Testing</a:t>
            </a:r>
            <a:endParaRPr lang="en-US" sz="1135" dirty="0"/>
          </a:p>
        </p:txBody>
      </p:sp>
      <p:sp>
        <p:nvSpPr>
          <p:cNvPr id="26" name="Text 20"/>
          <p:cNvSpPr/>
          <p:nvPr/>
        </p:nvSpPr>
        <p:spPr>
          <a:xfrm>
            <a:off x="4640739" y="3803972"/>
            <a:ext cx="1124585" cy="144145"/>
          </a:xfrm>
          <a:prstGeom prst="rect">
            <a:avLst/>
          </a:prstGeom>
          <a:noFill/>
        </p:spPr>
        <p:txBody>
          <a:bodyPr wrap="none" lIns="0" tIns="0" rIns="0" bIns="0" rtlCol="0" anchor="t">
            <a:spAutoFit/>
          </a:bodyPr>
          <a:lstStyle/>
          <a:p>
            <a:pPr marL="0" indent="0" algn="ctr">
              <a:lnSpc>
                <a:spcPct val="108000"/>
              </a:lnSpc>
              <a:buNone/>
            </a:pPr>
            <a:r>
              <a:rPr lang="en-US" sz="865" dirty="0">
                <a:solidFill>
                  <a:srgbClr val="778399"/>
                </a:solidFill>
                <a:latin typeface="Arial" panose="020B0604020202020204" pitchFamily="34" charset="0"/>
                <a:ea typeface="Arial" panose="020B0604020202020204" pitchFamily="34" charset="-122"/>
                <a:cs typeface="Arial" panose="020B0604020202020204" pitchFamily="34" charset="-120"/>
              </a:rPr>
              <a:t>Find and test exposure</a:t>
            </a:r>
            <a:endParaRPr lang="en-US" sz="865" dirty="0"/>
          </a:p>
        </p:txBody>
      </p:sp>
      <p:sp>
        <p:nvSpPr>
          <p:cNvPr id="27" name="Shape 21"/>
          <p:cNvSpPr/>
          <p:nvPr/>
        </p:nvSpPr>
        <p:spPr>
          <a:xfrm>
            <a:off x="6750844" y="2423145"/>
            <a:ext cx="476251" cy="476251"/>
          </a:xfrm>
          <a:prstGeom prst="rect">
            <a:avLst/>
          </a:prstGeom>
          <a:solidFill>
            <a:srgbClr val="071525"/>
          </a:solidFill>
          <a:ln w="18288">
            <a:solidFill>
              <a:srgbClr val="00D4FF"/>
            </a:solidFill>
            <a:prstDash val="solid"/>
          </a:ln>
        </p:spPr>
      </p:sp>
      <p:sp>
        <p:nvSpPr>
          <p:cNvPr id="28" name="Text 22"/>
          <p:cNvSpPr/>
          <p:nvPr/>
        </p:nvSpPr>
        <p:spPr>
          <a:xfrm>
            <a:off x="6889909" y="2553638"/>
            <a:ext cx="198120" cy="215265"/>
          </a:xfrm>
          <a:prstGeom prst="rect">
            <a:avLst/>
          </a:prstGeom>
          <a:noFill/>
        </p:spPr>
        <p:txBody>
          <a:bodyPr wrap="none" lIns="0" tIns="0" rIns="0" bIns="0" rtlCol="0" anchor="ctr">
            <a:spAutoFit/>
          </a:bodyPr>
          <a:lstStyle/>
          <a:p>
            <a:pPr marL="0" indent="0" algn="ctr">
              <a:buNone/>
            </a:pPr>
            <a:r>
              <a:rPr lang="en-US" sz="14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04</a:t>
            </a:r>
            <a:endParaRPr lang="en-US" sz="1400" dirty="0"/>
          </a:p>
        </p:txBody>
      </p:sp>
      <p:sp>
        <p:nvSpPr>
          <p:cNvPr id="29" name="Text 23"/>
          <p:cNvSpPr/>
          <p:nvPr/>
        </p:nvSpPr>
        <p:spPr>
          <a:xfrm>
            <a:off x="6617140" y="3061320"/>
            <a:ext cx="743585" cy="133350"/>
          </a:xfrm>
          <a:prstGeom prst="rect">
            <a:avLst/>
          </a:prstGeom>
          <a:noFill/>
        </p:spPr>
        <p:txBody>
          <a:bodyPr wrap="none" lIns="0" tIns="0" rIns="0" bIns="0" rtlCol="0" anchor="t">
            <a:spAutoFit/>
          </a:bodyPr>
          <a:lstStyle/>
          <a:p>
            <a:pPr marL="0" indent="0" algn="ctr">
              <a:buNone/>
            </a:pPr>
            <a:r>
              <a:rPr lang="en-US" sz="865" b="1" kern="0" spc="1" dirty="0">
                <a:solidFill>
                  <a:srgbClr val="8A93A8"/>
                </a:solidFill>
                <a:latin typeface="Arial" panose="020B0604020202020204" pitchFamily="34" charset="0"/>
                <a:ea typeface="Arial" panose="020B0604020202020204" pitchFamily="34" charset="-122"/>
                <a:cs typeface="Arial" panose="020B0604020202020204" pitchFamily="34" charset="-120"/>
              </a:rPr>
              <a:t>WEEKS 13–16</a:t>
            </a:r>
            <a:endParaRPr lang="en-US" sz="865" dirty="0"/>
          </a:p>
        </p:txBody>
      </p:sp>
      <p:sp>
        <p:nvSpPr>
          <p:cNvPr id="30" name="Text 24"/>
          <p:cNvSpPr/>
          <p:nvPr/>
        </p:nvSpPr>
        <p:spPr>
          <a:xfrm>
            <a:off x="6236493" y="3294683"/>
            <a:ext cx="1504951" cy="343535"/>
          </a:xfrm>
          <a:prstGeom prst="rect">
            <a:avLst/>
          </a:prstGeom>
          <a:noFill/>
        </p:spPr>
        <p:txBody>
          <a:bodyPr wrap="square" lIns="0" tIns="0" rIns="0" bIns="0" rtlCol="0" anchor="t">
            <a:spAutoFit/>
          </a:bodyPr>
          <a:lstStyle/>
          <a:p>
            <a:pPr marL="0" indent="0" algn="ctr">
              <a:lnSpc>
                <a:spcPct val="98000"/>
              </a:lnSpc>
              <a:buNone/>
            </a:pPr>
            <a:r>
              <a:rPr lang="en-US" sz="1135" b="1" dirty="0">
                <a:solidFill>
                  <a:srgbClr val="DCE8F5"/>
                </a:solidFill>
                <a:latin typeface="Arial" panose="020B0604020202020204" pitchFamily="34" charset="0"/>
                <a:ea typeface="Arial" panose="020B0604020202020204" pitchFamily="34" charset="-122"/>
                <a:cs typeface="Arial" panose="020B0604020202020204" pitchFamily="34" charset="-120"/>
              </a:rPr>
              <a:t>SOC, DFIR &amp; Threat Hunting</a:t>
            </a:r>
            <a:endParaRPr lang="en-US" sz="1135" dirty="0"/>
          </a:p>
        </p:txBody>
      </p:sp>
      <p:sp>
        <p:nvSpPr>
          <p:cNvPr id="31" name="Text 25"/>
          <p:cNvSpPr/>
          <p:nvPr/>
        </p:nvSpPr>
        <p:spPr>
          <a:xfrm>
            <a:off x="6441915" y="3803972"/>
            <a:ext cx="1094105" cy="144145"/>
          </a:xfrm>
          <a:prstGeom prst="rect">
            <a:avLst/>
          </a:prstGeom>
          <a:noFill/>
        </p:spPr>
        <p:txBody>
          <a:bodyPr wrap="none" lIns="0" tIns="0" rIns="0" bIns="0" rtlCol="0" anchor="t">
            <a:spAutoFit/>
          </a:bodyPr>
          <a:lstStyle/>
          <a:p>
            <a:pPr marL="0" indent="0" algn="ctr">
              <a:lnSpc>
                <a:spcPct val="108000"/>
              </a:lnSpc>
              <a:buNone/>
            </a:pPr>
            <a:r>
              <a:rPr lang="en-US" sz="865" dirty="0">
                <a:solidFill>
                  <a:srgbClr val="778399"/>
                </a:solidFill>
                <a:latin typeface="Arial" panose="020B0604020202020204" pitchFamily="34" charset="0"/>
                <a:ea typeface="Arial" panose="020B0604020202020204" pitchFamily="34" charset="-122"/>
                <a:cs typeface="Arial" panose="020B0604020202020204" pitchFamily="34" charset="-120"/>
              </a:rPr>
              <a:t>Detect and investigate</a:t>
            </a:r>
            <a:endParaRPr lang="en-US" sz="865" dirty="0"/>
          </a:p>
        </p:txBody>
      </p:sp>
      <p:sp>
        <p:nvSpPr>
          <p:cNvPr id="32" name="Shape 26"/>
          <p:cNvSpPr/>
          <p:nvPr/>
        </p:nvSpPr>
        <p:spPr>
          <a:xfrm>
            <a:off x="8536781" y="2423145"/>
            <a:ext cx="476251" cy="476251"/>
          </a:xfrm>
          <a:prstGeom prst="rect">
            <a:avLst/>
          </a:prstGeom>
          <a:solidFill>
            <a:srgbClr val="071525"/>
          </a:solidFill>
          <a:ln w="18288">
            <a:solidFill>
              <a:srgbClr val="00D4FF"/>
            </a:solidFill>
            <a:prstDash val="solid"/>
          </a:ln>
        </p:spPr>
      </p:sp>
      <p:sp>
        <p:nvSpPr>
          <p:cNvPr id="33" name="Text 27"/>
          <p:cNvSpPr/>
          <p:nvPr/>
        </p:nvSpPr>
        <p:spPr>
          <a:xfrm>
            <a:off x="8675847" y="2553638"/>
            <a:ext cx="198120" cy="215265"/>
          </a:xfrm>
          <a:prstGeom prst="rect">
            <a:avLst/>
          </a:prstGeom>
          <a:noFill/>
        </p:spPr>
        <p:txBody>
          <a:bodyPr wrap="none" lIns="0" tIns="0" rIns="0" bIns="0" rtlCol="0" anchor="ctr">
            <a:spAutoFit/>
          </a:bodyPr>
          <a:lstStyle/>
          <a:p>
            <a:pPr marL="0" indent="0" algn="ctr">
              <a:buNone/>
            </a:pPr>
            <a:r>
              <a:rPr lang="en-US" sz="14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05</a:t>
            </a:r>
            <a:endParaRPr lang="en-US" sz="1400" dirty="0"/>
          </a:p>
        </p:txBody>
      </p:sp>
      <p:sp>
        <p:nvSpPr>
          <p:cNvPr id="34" name="Text 28"/>
          <p:cNvSpPr/>
          <p:nvPr/>
        </p:nvSpPr>
        <p:spPr>
          <a:xfrm>
            <a:off x="8403077" y="3061320"/>
            <a:ext cx="743585" cy="133350"/>
          </a:xfrm>
          <a:prstGeom prst="rect">
            <a:avLst/>
          </a:prstGeom>
          <a:noFill/>
        </p:spPr>
        <p:txBody>
          <a:bodyPr wrap="none" lIns="0" tIns="0" rIns="0" bIns="0" rtlCol="0" anchor="t">
            <a:spAutoFit/>
          </a:bodyPr>
          <a:lstStyle/>
          <a:p>
            <a:pPr marL="0" indent="0" algn="ctr">
              <a:buNone/>
            </a:pPr>
            <a:r>
              <a:rPr lang="en-US" sz="865" b="1" kern="0" spc="1" dirty="0">
                <a:solidFill>
                  <a:srgbClr val="8A93A8"/>
                </a:solidFill>
                <a:latin typeface="Arial" panose="020B0604020202020204" pitchFamily="34" charset="0"/>
                <a:ea typeface="Arial" panose="020B0604020202020204" pitchFamily="34" charset="-122"/>
                <a:cs typeface="Arial" panose="020B0604020202020204" pitchFamily="34" charset="-120"/>
              </a:rPr>
              <a:t>WEEKS 17–20</a:t>
            </a:r>
            <a:endParaRPr lang="en-US" sz="865" dirty="0"/>
          </a:p>
        </p:txBody>
      </p:sp>
      <p:sp>
        <p:nvSpPr>
          <p:cNvPr id="35" name="Text 29"/>
          <p:cNvSpPr/>
          <p:nvPr/>
        </p:nvSpPr>
        <p:spPr>
          <a:xfrm>
            <a:off x="8022431" y="3294683"/>
            <a:ext cx="1504951" cy="343535"/>
          </a:xfrm>
          <a:prstGeom prst="rect">
            <a:avLst/>
          </a:prstGeom>
          <a:noFill/>
        </p:spPr>
        <p:txBody>
          <a:bodyPr wrap="square" lIns="0" tIns="0" rIns="0" bIns="0" rtlCol="0" anchor="t">
            <a:spAutoFit/>
          </a:bodyPr>
          <a:lstStyle/>
          <a:p>
            <a:pPr marL="0" indent="0" algn="ctr">
              <a:lnSpc>
                <a:spcPct val="98000"/>
              </a:lnSpc>
              <a:buNone/>
            </a:pPr>
            <a:r>
              <a:rPr lang="en-US" sz="1135" b="1" dirty="0">
                <a:solidFill>
                  <a:srgbClr val="DCE8F5"/>
                </a:solidFill>
                <a:latin typeface="Arial" panose="020B0604020202020204" pitchFamily="34" charset="0"/>
                <a:ea typeface="Arial" panose="020B0604020202020204" pitchFamily="34" charset="-122"/>
                <a:cs typeface="Arial" panose="020B0604020202020204" pitchFamily="34" charset="-120"/>
              </a:rPr>
              <a:t>Advanced Red Team Simulation</a:t>
            </a:r>
            <a:endParaRPr lang="en-US" sz="1135" dirty="0"/>
          </a:p>
        </p:txBody>
      </p:sp>
      <p:sp>
        <p:nvSpPr>
          <p:cNvPr id="36" name="Text 30"/>
          <p:cNvSpPr/>
          <p:nvPr/>
        </p:nvSpPr>
        <p:spPr>
          <a:xfrm>
            <a:off x="8141812" y="3803972"/>
            <a:ext cx="1266190" cy="144145"/>
          </a:xfrm>
          <a:prstGeom prst="rect">
            <a:avLst/>
          </a:prstGeom>
          <a:noFill/>
        </p:spPr>
        <p:txBody>
          <a:bodyPr wrap="none" lIns="0" tIns="0" rIns="0" bIns="0" rtlCol="0" anchor="t">
            <a:spAutoFit/>
          </a:bodyPr>
          <a:lstStyle/>
          <a:p>
            <a:pPr marL="0" indent="0" algn="ctr">
              <a:lnSpc>
                <a:spcPct val="108000"/>
              </a:lnSpc>
              <a:buNone/>
            </a:pPr>
            <a:r>
              <a:rPr lang="en-US" sz="865" dirty="0">
                <a:solidFill>
                  <a:srgbClr val="778399"/>
                </a:solidFill>
                <a:latin typeface="Arial" panose="020B0604020202020204" pitchFamily="34" charset="0"/>
                <a:ea typeface="Arial" panose="020B0604020202020204" pitchFamily="34" charset="-122"/>
                <a:cs typeface="Arial" panose="020B0604020202020204" pitchFamily="34" charset="-120"/>
              </a:rPr>
              <a:t>Operate like an adversary</a:t>
            </a:r>
            <a:endParaRPr lang="en-US" sz="865" dirty="0"/>
          </a:p>
        </p:txBody>
      </p:sp>
      <p:sp>
        <p:nvSpPr>
          <p:cNvPr id="37" name="Shape 31"/>
          <p:cNvSpPr/>
          <p:nvPr/>
        </p:nvSpPr>
        <p:spPr>
          <a:xfrm>
            <a:off x="10322719" y="2423145"/>
            <a:ext cx="476251" cy="476251"/>
          </a:xfrm>
          <a:prstGeom prst="rect">
            <a:avLst/>
          </a:prstGeom>
          <a:solidFill>
            <a:srgbClr val="071525"/>
          </a:solidFill>
          <a:ln w="18288">
            <a:solidFill>
              <a:srgbClr val="00D4FF"/>
            </a:solidFill>
            <a:prstDash val="solid"/>
          </a:ln>
        </p:spPr>
      </p:sp>
      <p:sp>
        <p:nvSpPr>
          <p:cNvPr id="38" name="Text 32"/>
          <p:cNvSpPr/>
          <p:nvPr/>
        </p:nvSpPr>
        <p:spPr>
          <a:xfrm>
            <a:off x="10461784" y="2553638"/>
            <a:ext cx="198120" cy="215265"/>
          </a:xfrm>
          <a:prstGeom prst="rect">
            <a:avLst/>
          </a:prstGeom>
          <a:noFill/>
        </p:spPr>
        <p:txBody>
          <a:bodyPr wrap="none" lIns="0" tIns="0" rIns="0" bIns="0" rtlCol="0" anchor="ctr">
            <a:spAutoFit/>
          </a:bodyPr>
          <a:lstStyle/>
          <a:p>
            <a:pPr marL="0" indent="0" algn="ctr">
              <a:buNone/>
            </a:pPr>
            <a:r>
              <a:rPr lang="en-US" sz="14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06</a:t>
            </a:r>
            <a:endParaRPr lang="en-US" sz="1400" dirty="0"/>
          </a:p>
        </p:txBody>
      </p:sp>
      <p:sp>
        <p:nvSpPr>
          <p:cNvPr id="39" name="Text 33"/>
          <p:cNvSpPr/>
          <p:nvPr/>
        </p:nvSpPr>
        <p:spPr>
          <a:xfrm>
            <a:off x="10189014" y="3061320"/>
            <a:ext cx="743585" cy="133350"/>
          </a:xfrm>
          <a:prstGeom prst="rect">
            <a:avLst/>
          </a:prstGeom>
          <a:noFill/>
        </p:spPr>
        <p:txBody>
          <a:bodyPr wrap="none" lIns="0" tIns="0" rIns="0" bIns="0" rtlCol="0" anchor="t">
            <a:spAutoFit/>
          </a:bodyPr>
          <a:lstStyle/>
          <a:p>
            <a:pPr marL="0" indent="0" algn="ctr">
              <a:buNone/>
            </a:pPr>
            <a:r>
              <a:rPr lang="en-US" sz="865" b="1" kern="0" spc="1" dirty="0">
                <a:solidFill>
                  <a:srgbClr val="8A93A8"/>
                </a:solidFill>
                <a:latin typeface="Arial" panose="020B0604020202020204" pitchFamily="34" charset="0"/>
                <a:ea typeface="Arial" panose="020B0604020202020204" pitchFamily="34" charset="-122"/>
                <a:cs typeface="Arial" panose="020B0604020202020204" pitchFamily="34" charset="-120"/>
              </a:rPr>
              <a:t>WEEKS 21–24</a:t>
            </a:r>
            <a:endParaRPr lang="en-US" sz="865" dirty="0"/>
          </a:p>
        </p:txBody>
      </p:sp>
      <p:sp>
        <p:nvSpPr>
          <p:cNvPr id="40" name="Text 34"/>
          <p:cNvSpPr/>
          <p:nvPr/>
        </p:nvSpPr>
        <p:spPr>
          <a:xfrm>
            <a:off x="9808369" y="3294683"/>
            <a:ext cx="1504951" cy="343535"/>
          </a:xfrm>
          <a:prstGeom prst="rect">
            <a:avLst/>
          </a:prstGeom>
          <a:noFill/>
        </p:spPr>
        <p:txBody>
          <a:bodyPr wrap="square" lIns="0" tIns="0" rIns="0" bIns="0" rtlCol="0" anchor="t">
            <a:spAutoFit/>
          </a:bodyPr>
          <a:lstStyle/>
          <a:p>
            <a:pPr marL="0" indent="0" algn="ctr">
              <a:lnSpc>
                <a:spcPct val="98000"/>
              </a:lnSpc>
              <a:buNone/>
            </a:pPr>
            <a:r>
              <a:rPr lang="en-US" sz="1135" b="1" dirty="0">
                <a:solidFill>
                  <a:srgbClr val="DCE8F5"/>
                </a:solidFill>
                <a:latin typeface="Arial" panose="020B0604020202020204" pitchFamily="34" charset="0"/>
                <a:ea typeface="Arial" panose="020B0604020202020204" pitchFamily="34" charset="-122"/>
                <a:cs typeface="Arial" panose="020B0604020202020204" pitchFamily="34" charset="-120"/>
              </a:rPr>
              <a:t>Capstone &amp; CISO Simulation</a:t>
            </a:r>
            <a:endParaRPr lang="en-US" sz="1135" dirty="0"/>
          </a:p>
        </p:txBody>
      </p:sp>
      <p:sp>
        <p:nvSpPr>
          <p:cNvPr id="41" name="Text 35"/>
          <p:cNvSpPr/>
          <p:nvPr/>
        </p:nvSpPr>
        <p:spPr>
          <a:xfrm>
            <a:off x="9998551" y="3803972"/>
            <a:ext cx="1124585" cy="144145"/>
          </a:xfrm>
          <a:prstGeom prst="rect">
            <a:avLst/>
          </a:prstGeom>
          <a:noFill/>
        </p:spPr>
        <p:txBody>
          <a:bodyPr wrap="none" lIns="0" tIns="0" rIns="0" bIns="0" rtlCol="0" anchor="t">
            <a:spAutoFit/>
          </a:bodyPr>
          <a:lstStyle/>
          <a:p>
            <a:pPr marL="0" indent="0" algn="ctr">
              <a:lnSpc>
                <a:spcPct val="108000"/>
              </a:lnSpc>
              <a:buNone/>
            </a:pPr>
            <a:r>
              <a:rPr lang="en-US" sz="865" dirty="0">
                <a:solidFill>
                  <a:srgbClr val="778399"/>
                </a:solidFill>
                <a:latin typeface="Arial" panose="020B0604020202020204" pitchFamily="34" charset="0"/>
                <a:ea typeface="Arial" panose="020B0604020202020204" pitchFamily="34" charset="-122"/>
                <a:cs typeface="Arial" panose="020B0604020202020204" pitchFamily="34" charset="-120"/>
              </a:rPr>
              <a:t>Prove what you can do</a:t>
            </a:r>
            <a:endParaRPr lang="en-US" sz="865" dirty="0"/>
          </a:p>
        </p:txBody>
      </p:sp>
      <p:sp>
        <p:nvSpPr>
          <p:cNvPr id="42" name="Text 36"/>
          <p:cNvSpPr/>
          <p:nvPr/>
        </p:nvSpPr>
        <p:spPr>
          <a:xfrm>
            <a:off x="800100" y="5328271"/>
            <a:ext cx="4120515" cy="210820"/>
          </a:xfrm>
          <a:prstGeom prst="rect">
            <a:avLst/>
          </a:prstGeom>
          <a:noFill/>
        </p:spPr>
        <p:txBody>
          <a:bodyPr wrap="none" lIns="0" tIns="0" rIns="0" bIns="0" rtlCol="0" anchor="t">
            <a:spAutoFit/>
          </a:bodyPr>
          <a:lstStyle/>
          <a:p>
            <a:pPr marL="0" indent="0" algn="l">
              <a:lnSpc>
                <a:spcPct val="108000"/>
              </a:lnSpc>
              <a:buNone/>
            </a:pPr>
            <a:r>
              <a:rPr lang="en-US" sz="1200" b="1" dirty="0">
                <a:solidFill>
                  <a:srgbClr val="00D4FF"/>
                </a:solidFill>
                <a:latin typeface="Arial" panose="020B0604020202020204" pitchFamily="34" charset="0"/>
                <a:ea typeface="Arial" panose="020B0604020202020204" pitchFamily="34" charset="-122"/>
                <a:cs typeface="Arial" panose="020B0604020202020204" pitchFamily="34" charset="-120"/>
              </a:rPr>
              <a:t>Today:</a:t>
            </a:r>
            <a:r>
              <a:rPr lang="en-US" sz="1265" dirty="0">
                <a:solidFill>
                  <a:srgbClr val="AEB9C8"/>
                </a:solidFill>
                <a:latin typeface="Arial" panose="020B0604020202020204" pitchFamily="34" charset="0"/>
                <a:ea typeface="Arial" panose="020B0604020202020204" pitchFamily="34" charset="-122"/>
                <a:cs typeface="Arial" panose="020B0604020202020204" pitchFamily="34" charset="-120"/>
              </a:rPr>
              <a:t> establish the mindset, the rules, and the first tools.</a:t>
            </a:r>
            <a:endParaRPr lang="en-US" sz="1200" dirty="0"/>
          </a:p>
        </p:txBody>
      </p:sp>
      <p:sp>
        <p:nvSpPr>
          <p:cNvPr id="43" name="Text 37"/>
          <p:cNvSpPr/>
          <p:nvPr/>
        </p:nvSpPr>
        <p:spPr>
          <a:xfrm>
            <a:off x="9130011" y="5328271"/>
            <a:ext cx="2261889" cy="198755"/>
          </a:xfrm>
          <a:prstGeom prst="rect">
            <a:avLst/>
          </a:prstGeom>
          <a:noFill/>
        </p:spPr>
        <p:txBody>
          <a:bodyPr wrap="square" lIns="0" tIns="45381" rIns="0" bIns="0" rtlCol="0" anchor="t">
            <a:spAutoFit/>
          </a:bodyPr>
          <a:lstStyle/>
          <a:p>
            <a:pPr marL="0" indent="0" algn="l">
              <a:buNone/>
            </a:pPr>
            <a:r>
              <a:rPr lang="en-US" sz="1000" b="1" kern="0" spc="1" dirty="0">
                <a:solidFill>
                  <a:srgbClr val="FF6B1A"/>
                </a:solidFill>
                <a:latin typeface="Arial" panose="020B0604020202020204" pitchFamily="34" charset="0"/>
                <a:ea typeface="Arial" panose="020B0604020202020204" pitchFamily="34" charset="-122"/>
                <a:cs typeface="Arial" panose="020B0604020202020204" pitchFamily="34" charset="-120"/>
              </a:rPr>
              <a:t>YOU ARE HERE → MODULE 1</a:t>
            </a:r>
            <a:endParaRPr lang="en-US" sz="1000" dirty="0"/>
          </a:p>
        </p:txBody>
      </p:sp>
      <p:sp>
        <p:nvSpPr>
          <p:cNvPr id="44" name="Shape 38"/>
          <p:cNvSpPr/>
          <p:nvPr/>
        </p:nvSpPr>
        <p:spPr>
          <a:xfrm>
            <a:off x="723900" y="6134100"/>
            <a:ext cx="10744200" cy="723900"/>
          </a:xfrm>
          <a:prstGeom prst="rect">
            <a:avLst/>
          </a:prstGeom>
          <a:solidFill>
            <a:srgbClr val="000000">
              <a:alpha val="0"/>
            </a:srgbClr>
          </a:solidFill>
        </p:spPr>
      </p:sp>
      <p:sp>
        <p:nvSpPr>
          <p:cNvPr id="45" name="Shape 39"/>
          <p:cNvSpPr/>
          <p:nvPr/>
        </p:nvSpPr>
        <p:spPr>
          <a:xfrm>
            <a:off x="723900" y="6134100"/>
            <a:ext cx="10744200" cy="9525"/>
          </a:xfrm>
          <a:prstGeom prst="rect">
            <a:avLst/>
          </a:prstGeom>
          <a:solidFill>
            <a:srgbClr val="FFFFFF"/>
          </a:solidFill>
        </p:spPr>
      </p:sp>
      <p:sp>
        <p:nvSpPr>
          <p:cNvPr id="46" name="Text 40"/>
          <p:cNvSpPr/>
          <p:nvPr/>
        </p:nvSpPr>
        <p:spPr>
          <a:xfrm>
            <a:off x="723900" y="6134100"/>
            <a:ext cx="10744200" cy="368935"/>
          </a:xfrm>
          <a:prstGeom prst="rect">
            <a:avLst/>
          </a:prstGeom>
          <a:noFill/>
        </p:spPr>
        <p:txBody>
          <a:bodyPr wrap="square" lIns="0" tIns="215392" rIns="0" bIns="0" rtlCol="0" anchor="t">
            <a:spAutoFit/>
          </a:bodyPr>
          <a:lstStyle/>
          <a:p>
            <a:pPr marL="0" indent="0" algn="l">
              <a:buNone/>
            </a:pPr>
            <a:r>
              <a:rPr lang="en-US" sz="1000" dirty="0">
                <a:solidFill>
                  <a:srgbClr val="768197"/>
                </a:solidFill>
                <a:latin typeface="Arial" panose="020B0604020202020204" pitchFamily="34" charset="0"/>
                <a:ea typeface="Arial" panose="020B0604020202020204" pitchFamily="34" charset="-122"/>
                <a:cs typeface="Arial" panose="020B0604020202020204" pitchFamily="34" charset="-120"/>
              </a:rPr>
              <a:t>0:08–0:15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990600" y="971551"/>
            <a:ext cx="10210800" cy="529590"/>
          </a:xfrm>
          <a:prstGeom prst="rect">
            <a:avLst/>
          </a:prstGeom>
          <a:noFill/>
        </p:spPr>
        <p:txBody>
          <a:bodyPr wrap="square" lIns="0" tIns="385572" rIns="0" bIns="0" rtlCol="0" anchor="t">
            <a:spAutoFit/>
          </a:bodyPr>
          <a:lstStyle/>
          <a:p>
            <a:pPr marL="0" indent="0" algn="l">
              <a:buNone/>
            </a:pPr>
            <a:r>
              <a:rPr lang="en-US" sz="935"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SECTION 01 — CTF MINDSET</a:t>
            </a:r>
            <a:endParaRPr lang="en-US" sz="935" dirty="0"/>
          </a:p>
        </p:txBody>
      </p:sp>
      <p:sp>
        <p:nvSpPr>
          <p:cNvPr id="9" name="Text 3"/>
          <p:cNvSpPr/>
          <p:nvPr/>
        </p:nvSpPr>
        <p:spPr>
          <a:xfrm>
            <a:off x="990600" y="1524000"/>
            <a:ext cx="5723890" cy="417195"/>
          </a:xfrm>
          <a:prstGeom prst="rect">
            <a:avLst/>
          </a:prstGeom>
          <a:noFill/>
        </p:spPr>
        <p:txBody>
          <a:bodyPr wrap="none" lIns="0" tIns="0" rIns="0" bIns="0" rtlCol="0" anchor="t">
            <a:spAutoFit/>
          </a:bodyPr>
          <a:lstStyle/>
          <a:p>
            <a:pPr marL="0" indent="0" algn="l">
              <a:lnSpc>
                <a:spcPct val="83000"/>
              </a:lnSpc>
              <a:buNone/>
            </a:pPr>
            <a:r>
              <a:rPr lang="en-US" sz="32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CTFs turn curiosity into skill.</a:t>
            </a:r>
            <a:endParaRPr lang="en-US" sz="3265" dirty="0"/>
          </a:p>
        </p:txBody>
      </p:sp>
      <p:sp>
        <p:nvSpPr>
          <p:cNvPr id="10" name="Text 4"/>
          <p:cNvSpPr/>
          <p:nvPr/>
        </p:nvSpPr>
        <p:spPr>
          <a:xfrm>
            <a:off x="990600" y="2094681"/>
            <a:ext cx="10210800" cy="205740"/>
          </a:xfrm>
          <a:prstGeom prst="rect">
            <a:avLst/>
          </a:prstGeom>
          <a:noFill/>
        </p:spPr>
        <p:txBody>
          <a:bodyPr wrap="square" lIns="0" tIns="0" rIns="0" bIns="0" rtlCol="0" anchor="t">
            <a:spAutoFit/>
          </a:bodyPr>
          <a:lstStyle/>
          <a:p>
            <a:pPr marL="0" indent="0" algn="l">
              <a:buNone/>
            </a:pPr>
            <a:r>
              <a:rPr lang="en-US" sz="1335" dirty="0">
                <a:solidFill>
                  <a:srgbClr val="9CA7BA"/>
                </a:solidFill>
                <a:latin typeface="Arial" panose="020B0604020202020204" pitchFamily="34" charset="0"/>
                <a:ea typeface="Arial" panose="020B0604020202020204" pitchFamily="34" charset="-122"/>
                <a:cs typeface="Arial" panose="020B0604020202020204" pitchFamily="34" charset="-120"/>
              </a:rPr>
              <a:t>You learn by solving controlled challenges, one clue at a time.</a:t>
            </a:r>
            <a:endParaRPr lang="en-US" sz="1335" dirty="0"/>
          </a:p>
        </p:txBody>
      </p:sp>
      <p:sp>
        <p:nvSpPr>
          <p:cNvPr id="11" name="Text 5"/>
          <p:cNvSpPr/>
          <p:nvPr/>
        </p:nvSpPr>
        <p:spPr>
          <a:xfrm>
            <a:off x="990600" y="2868885"/>
            <a:ext cx="4572000" cy="133350"/>
          </a:xfrm>
          <a:prstGeom prst="rect">
            <a:avLst/>
          </a:prstGeom>
          <a:noFill/>
        </p:spPr>
        <p:txBody>
          <a:bodyPr wrap="square" lIns="0" tIns="0" rIns="0" bIns="0" rtlCol="0" anchor="t">
            <a:spAutoFit/>
          </a:bodyPr>
          <a:lstStyle/>
          <a:p>
            <a:pPr marL="0" indent="0" algn="l">
              <a:buNone/>
            </a:pPr>
            <a:r>
              <a:rPr lang="en-US" sz="865" b="1" kern="0" spc="2" dirty="0">
                <a:solidFill>
                  <a:srgbClr val="FF6B1A"/>
                </a:solidFill>
                <a:latin typeface="Arial" panose="020B0604020202020204" pitchFamily="34" charset="0"/>
                <a:ea typeface="Arial" panose="020B0604020202020204" pitchFamily="34" charset="-122"/>
                <a:cs typeface="Arial" panose="020B0604020202020204" pitchFamily="34" charset="-120"/>
              </a:rPr>
              <a:t>THIS IS WHAT WE DO</a:t>
            </a:r>
            <a:endParaRPr lang="en-US" sz="865" dirty="0"/>
          </a:p>
        </p:txBody>
      </p:sp>
      <p:sp>
        <p:nvSpPr>
          <p:cNvPr id="12" name="Text 6"/>
          <p:cNvSpPr/>
          <p:nvPr/>
        </p:nvSpPr>
        <p:spPr>
          <a:xfrm>
            <a:off x="990600" y="3111773"/>
            <a:ext cx="4572000" cy="317500"/>
          </a:xfrm>
          <a:prstGeom prst="rect">
            <a:avLst/>
          </a:prstGeom>
          <a:noFill/>
        </p:spPr>
        <p:txBody>
          <a:bodyPr wrap="square" lIns="0" tIns="0" rIns="0" bIns="0" rtlCol="0" anchor="t">
            <a:spAutoFit/>
          </a:bodyPr>
          <a:lstStyle/>
          <a:p>
            <a:pPr marL="0" indent="0" algn="l">
              <a:buNone/>
            </a:pPr>
            <a:r>
              <a:rPr lang="en-US" sz="2065" b="1" dirty="0">
                <a:solidFill>
                  <a:srgbClr val="FFFFFF"/>
                </a:solidFill>
                <a:latin typeface="Arial" panose="020B0604020202020204" pitchFamily="34" charset="0"/>
                <a:ea typeface="Arial" panose="020B0604020202020204" pitchFamily="34" charset="-122"/>
                <a:cs typeface="Arial" panose="020B0604020202020204" pitchFamily="34" charset="-120"/>
              </a:rPr>
              <a:t>Jeopardy style</a:t>
            </a:r>
            <a:endParaRPr lang="en-US" sz="2065" dirty="0"/>
          </a:p>
        </p:txBody>
      </p:sp>
      <p:sp>
        <p:nvSpPr>
          <p:cNvPr id="13" name="Text 7"/>
          <p:cNvSpPr/>
          <p:nvPr/>
        </p:nvSpPr>
        <p:spPr>
          <a:xfrm>
            <a:off x="990600" y="3554685"/>
            <a:ext cx="4572000" cy="226060"/>
          </a:xfrm>
          <a:prstGeom prst="rect">
            <a:avLst/>
          </a:prstGeom>
          <a:noFill/>
        </p:spPr>
        <p:txBody>
          <a:bodyPr wrap="square" lIns="0" tIns="0" rIns="0" bIns="0" rtlCol="0" anchor="t">
            <a:spAutoFit/>
          </a:bodyPr>
          <a:lstStyle/>
          <a:p>
            <a:pPr marL="0" indent="0" algn="l">
              <a:lnSpc>
                <a:spcPct val="110000"/>
              </a:lnSpc>
              <a:buNone/>
            </a:pPr>
            <a:r>
              <a:rPr lang="en-US" sz="1335" dirty="0">
                <a:solidFill>
                  <a:srgbClr val="B4BDCA"/>
                </a:solidFill>
                <a:latin typeface="Arial" panose="020B0604020202020204" pitchFamily="34" charset="0"/>
                <a:ea typeface="Arial" panose="020B0604020202020204" pitchFamily="34" charset="-122"/>
                <a:cs typeface="Arial" panose="020B0604020202020204" pitchFamily="34" charset="-120"/>
              </a:rPr>
              <a:t>Solve independent challenges. Find the flag. Earn points.</a:t>
            </a:r>
            <a:endParaRPr lang="en-US" sz="1335" dirty="0"/>
          </a:p>
        </p:txBody>
      </p:sp>
      <p:sp>
        <p:nvSpPr>
          <p:cNvPr id="14" name="Text 8"/>
          <p:cNvSpPr/>
          <p:nvPr/>
        </p:nvSpPr>
        <p:spPr>
          <a:xfrm>
            <a:off x="990600" y="4225603"/>
            <a:ext cx="4572000" cy="153670"/>
          </a:xfrm>
          <a:prstGeom prst="rect">
            <a:avLst/>
          </a:prstGeom>
          <a:noFill/>
        </p:spPr>
        <p:txBody>
          <a:bodyPr wrap="square" lIns="0" tIns="0" rIns="0" bIns="0" rtlCol="0" anchor="t">
            <a:spAutoFit/>
          </a:bodyPr>
          <a:lstStyle/>
          <a:p>
            <a:pPr marL="0" indent="0" algn="l">
              <a:buNone/>
            </a:pPr>
            <a:r>
              <a:rPr lang="en-US" sz="10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ONE PROBLEM → ONE BREAKTHROUGH</a:t>
            </a:r>
            <a:endParaRPr lang="en-US" sz="1000" dirty="0"/>
          </a:p>
        </p:txBody>
      </p:sp>
      <p:sp>
        <p:nvSpPr>
          <p:cNvPr id="15" name="Text 9"/>
          <p:cNvSpPr/>
          <p:nvPr/>
        </p:nvSpPr>
        <p:spPr>
          <a:xfrm>
            <a:off x="6629400" y="2993752"/>
            <a:ext cx="4572000" cy="133350"/>
          </a:xfrm>
          <a:prstGeom prst="rect">
            <a:avLst/>
          </a:prstGeom>
          <a:noFill/>
        </p:spPr>
        <p:txBody>
          <a:bodyPr wrap="square" lIns="0" tIns="0" rIns="0" bIns="0" rtlCol="0" anchor="t">
            <a:spAutoFit/>
          </a:bodyPr>
          <a:lstStyle/>
          <a:p>
            <a:pPr marL="0" indent="0" algn="l">
              <a:buNone/>
            </a:pPr>
            <a:r>
              <a:rPr lang="en-US" sz="865" b="1" kern="0" spc="2" dirty="0">
                <a:solidFill>
                  <a:srgbClr val="FF6B1A"/>
                </a:solidFill>
                <a:latin typeface="Arial" panose="020B0604020202020204" pitchFamily="34" charset="0"/>
                <a:ea typeface="Arial" panose="020B0604020202020204" pitchFamily="34" charset="-122"/>
                <a:cs typeface="Arial" panose="020B0604020202020204" pitchFamily="34" charset="-120"/>
              </a:rPr>
              <a:t>LATER</a:t>
            </a:r>
            <a:endParaRPr lang="en-US" sz="865" dirty="0"/>
          </a:p>
        </p:txBody>
      </p:sp>
      <p:sp>
        <p:nvSpPr>
          <p:cNvPr id="16" name="Text 10"/>
          <p:cNvSpPr/>
          <p:nvPr/>
        </p:nvSpPr>
        <p:spPr>
          <a:xfrm>
            <a:off x="6629400" y="3236640"/>
            <a:ext cx="4572000" cy="317500"/>
          </a:xfrm>
          <a:prstGeom prst="rect">
            <a:avLst/>
          </a:prstGeom>
          <a:noFill/>
        </p:spPr>
        <p:txBody>
          <a:bodyPr wrap="square" lIns="0" tIns="0" rIns="0" bIns="0" rtlCol="0" anchor="t">
            <a:spAutoFit/>
          </a:bodyPr>
          <a:lstStyle/>
          <a:p>
            <a:pPr marL="0" indent="0" algn="l">
              <a:buNone/>
            </a:pPr>
            <a:r>
              <a:rPr lang="en-US" sz="2065" b="1" dirty="0">
                <a:solidFill>
                  <a:srgbClr val="FFFFFF"/>
                </a:solidFill>
                <a:latin typeface="Arial" panose="020B0604020202020204" pitchFamily="34" charset="0"/>
                <a:ea typeface="Arial" panose="020B0604020202020204" pitchFamily="34" charset="-122"/>
                <a:cs typeface="Arial" panose="020B0604020202020204" pitchFamily="34" charset="-120"/>
              </a:rPr>
              <a:t>Attack–Defense</a:t>
            </a:r>
            <a:endParaRPr lang="en-US" sz="2065" dirty="0"/>
          </a:p>
        </p:txBody>
      </p:sp>
      <p:sp>
        <p:nvSpPr>
          <p:cNvPr id="17" name="Text 11"/>
          <p:cNvSpPr/>
          <p:nvPr/>
        </p:nvSpPr>
        <p:spPr>
          <a:xfrm>
            <a:off x="6629400" y="3679552"/>
            <a:ext cx="4102100" cy="226060"/>
          </a:xfrm>
          <a:prstGeom prst="rect">
            <a:avLst/>
          </a:prstGeom>
          <a:noFill/>
        </p:spPr>
        <p:txBody>
          <a:bodyPr wrap="none" lIns="0" tIns="0" rIns="0" bIns="0" rtlCol="0" anchor="t">
            <a:spAutoFit/>
          </a:bodyPr>
          <a:lstStyle/>
          <a:p>
            <a:pPr marL="0" indent="0" algn="l">
              <a:lnSpc>
                <a:spcPct val="110000"/>
              </a:lnSpc>
              <a:buNone/>
            </a:pPr>
            <a:r>
              <a:rPr lang="en-US" sz="1335" dirty="0">
                <a:solidFill>
                  <a:srgbClr val="B4BDCA"/>
                </a:solidFill>
                <a:latin typeface="Arial" panose="020B0604020202020204" pitchFamily="34" charset="0"/>
                <a:ea typeface="Arial" panose="020B0604020202020204" pitchFamily="34" charset="-122"/>
                <a:cs typeface="Arial" panose="020B0604020202020204" pitchFamily="34" charset="-120"/>
              </a:rPr>
              <a:t>Attack other teams while defending your own services.</a:t>
            </a:r>
            <a:endParaRPr lang="en-US" sz="1335" dirty="0"/>
          </a:p>
        </p:txBody>
      </p:sp>
      <p:sp>
        <p:nvSpPr>
          <p:cNvPr id="18" name="Text 12"/>
          <p:cNvSpPr/>
          <p:nvPr/>
        </p:nvSpPr>
        <p:spPr>
          <a:xfrm>
            <a:off x="6629400" y="4100736"/>
            <a:ext cx="4572000" cy="153670"/>
          </a:xfrm>
          <a:prstGeom prst="rect">
            <a:avLst/>
          </a:prstGeom>
          <a:noFill/>
        </p:spPr>
        <p:txBody>
          <a:bodyPr wrap="square" lIns="0" tIns="0" rIns="0" bIns="0" rtlCol="0" anchor="t">
            <a:spAutoFit/>
          </a:bodyPr>
          <a:lstStyle/>
          <a:p>
            <a:pPr marL="0" indent="0" algn="l">
              <a:buNone/>
            </a:pPr>
            <a:r>
              <a:rPr lang="en-US" sz="10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OFFENSE + DEFENSE AT ONCE</a:t>
            </a:r>
            <a:endParaRPr lang="en-US" sz="1000" dirty="0"/>
          </a:p>
        </p:txBody>
      </p:sp>
      <p:sp>
        <p:nvSpPr>
          <p:cNvPr id="19" name="Text 13"/>
          <p:cNvSpPr/>
          <p:nvPr/>
        </p:nvSpPr>
        <p:spPr>
          <a:xfrm>
            <a:off x="990600" y="4680719"/>
            <a:ext cx="10210800" cy="382270"/>
          </a:xfrm>
          <a:prstGeom prst="rect">
            <a:avLst/>
          </a:prstGeom>
          <a:noFill/>
        </p:spPr>
        <p:txBody>
          <a:bodyPr wrap="square" lIns="0" tIns="249428" rIns="0" bIns="0" rtlCol="0" anchor="t">
            <a:spAutoFit/>
          </a:bodyPr>
          <a:lstStyle/>
          <a:p>
            <a:pPr marL="0" indent="0" algn="l">
              <a:buNone/>
            </a:pPr>
            <a:r>
              <a:rPr lang="en-US" sz="865" b="1" kern="0" spc="2" dirty="0">
                <a:solidFill>
                  <a:srgbClr val="8A93A8"/>
                </a:solidFill>
                <a:latin typeface="Arial" panose="020B0604020202020204" pitchFamily="34" charset="0"/>
                <a:ea typeface="Arial" panose="020B0604020202020204" pitchFamily="34" charset="-122"/>
                <a:cs typeface="Arial" panose="020B0604020202020204" pitchFamily="34" charset="-120"/>
              </a:rPr>
              <a:t>THE CHALLENGE CATEGORIES YOU WILL MEET</a:t>
            </a:r>
            <a:endParaRPr lang="en-US" sz="865" dirty="0"/>
          </a:p>
        </p:txBody>
      </p:sp>
      <p:sp>
        <p:nvSpPr>
          <p:cNvPr id="20" name="Text 14"/>
          <p:cNvSpPr/>
          <p:nvPr/>
        </p:nvSpPr>
        <p:spPr>
          <a:xfrm>
            <a:off x="1710958" y="5421288"/>
            <a:ext cx="251460" cy="184150"/>
          </a:xfrm>
          <a:prstGeom prst="rect">
            <a:avLst/>
          </a:prstGeom>
          <a:noFill/>
        </p:spPr>
        <p:txBody>
          <a:bodyPr wrap="none" lIns="0" tIns="0" rIns="0" bIns="0" rtlCol="0" anchor="t">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WEB</a:t>
            </a:r>
            <a:endParaRPr lang="en-US" sz="1200" dirty="0"/>
          </a:p>
        </p:txBody>
      </p:sp>
      <p:sp>
        <p:nvSpPr>
          <p:cNvPr id="21" name="Text 15"/>
          <p:cNvSpPr/>
          <p:nvPr/>
        </p:nvSpPr>
        <p:spPr>
          <a:xfrm>
            <a:off x="1706233" y="5683225"/>
            <a:ext cx="260985" cy="153670"/>
          </a:xfrm>
          <a:prstGeom prst="rect">
            <a:avLst/>
          </a:prstGeom>
          <a:noFill/>
        </p:spPr>
        <p:txBody>
          <a:bodyPr wrap="none" lIns="0" tIns="0" rIns="0" bIns="0" rtlCol="0" anchor="t">
            <a:spAutoFit/>
          </a:bodyPr>
          <a:lstStyle/>
          <a:p>
            <a:pPr marL="0" indent="0" algn="ctr">
              <a:buNone/>
            </a:pPr>
            <a:r>
              <a:rPr lang="en-US" sz="1000" dirty="0">
                <a:solidFill>
                  <a:srgbClr val="D9E1EB"/>
                </a:solidFill>
                <a:latin typeface="Arial" panose="020B0604020202020204" pitchFamily="34" charset="0"/>
                <a:ea typeface="Arial" panose="020B0604020202020204" pitchFamily="34" charset="-122"/>
                <a:cs typeface="Arial" panose="020B0604020202020204" pitchFamily="34" charset="-120"/>
              </a:rPr>
              <a:t>Web</a:t>
            </a:r>
            <a:endParaRPr lang="en-US" sz="1000" dirty="0"/>
          </a:p>
        </p:txBody>
      </p:sp>
      <p:sp>
        <p:nvSpPr>
          <p:cNvPr id="22" name="Text 16"/>
          <p:cNvSpPr/>
          <p:nvPr/>
        </p:nvSpPr>
        <p:spPr>
          <a:xfrm>
            <a:off x="3287003" y="5421288"/>
            <a:ext cx="502920" cy="184150"/>
          </a:xfrm>
          <a:prstGeom prst="rect">
            <a:avLst/>
          </a:prstGeom>
          <a:noFill/>
        </p:spPr>
        <p:txBody>
          <a:bodyPr wrap="none" lIns="0" tIns="0" rIns="0" bIns="0" rtlCol="0" anchor="t">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CRYPTO</a:t>
            </a:r>
            <a:endParaRPr lang="en-US" sz="1200" dirty="0"/>
          </a:p>
        </p:txBody>
      </p:sp>
      <p:sp>
        <p:nvSpPr>
          <p:cNvPr id="23" name="Text 17"/>
          <p:cNvSpPr/>
          <p:nvPr/>
        </p:nvSpPr>
        <p:spPr>
          <a:xfrm>
            <a:off x="3351455" y="5683225"/>
            <a:ext cx="374015" cy="153670"/>
          </a:xfrm>
          <a:prstGeom prst="rect">
            <a:avLst/>
          </a:prstGeom>
          <a:noFill/>
        </p:spPr>
        <p:txBody>
          <a:bodyPr wrap="none" lIns="0" tIns="0" rIns="0" bIns="0" rtlCol="0" anchor="t">
            <a:spAutoFit/>
          </a:bodyPr>
          <a:lstStyle/>
          <a:p>
            <a:pPr marL="0" indent="0" algn="ctr">
              <a:buNone/>
            </a:pPr>
            <a:r>
              <a:rPr lang="en-US" sz="1000" dirty="0">
                <a:solidFill>
                  <a:srgbClr val="D9E1EB"/>
                </a:solidFill>
                <a:latin typeface="Arial" panose="020B0604020202020204" pitchFamily="34" charset="0"/>
                <a:ea typeface="Arial" panose="020B0604020202020204" pitchFamily="34" charset="-122"/>
                <a:cs typeface="Arial" panose="020B0604020202020204" pitchFamily="34" charset="-120"/>
              </a:rPr>
              <a:t>Crypto</a:t>
            </a:r>
            <a:endParaRPr lang="en-US" sz="1000" dirty="0"/>
          </a:p>
        </p:txBody>
      </p:sp>
      <p:sp>
        <p:nvSpPr>
          <p:cNvPr id="24" name="Text 18"/>
          <p:cNvSpPr/>
          <p:nvPr/>
        </p:nvSpPr>
        <p:spPr>
          <a:xfrm>
            <a:off x="4863122" y="5421288"/>
            <a:ext cx="754380" cy="184150"/>
          </a:xfrm>
          <a:prstGeom prst="rect">
            <a:avLst/>
          </a:prstGeom>
          <a:noFill/>
        </p:spPr>
        <p:txBody>
          <a:bodyPr wrap="none" lIns="0" tIns="0" rIns="0" bIns="0" rtlCol="0" anchor="t">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FORENSICS</a:t>
            </a:r>
            <a:endParaRPr lang="en-US" sz="1200" dirty="0"/>
          </a:p>
        </p:txBody>
      </p:sp>
      <p:sp>
        <p:nvSpPr>
          <p:cNvPr id="25" name="Text 19"/>
          <p:cNvSpPr/>
          <p:nvPr/>
        </p:nvSpPr>
        <p:spPr>
          <a:xfrm>
            <a:off x="4965357" y="5683225"/>
            <a:ext cx="549910" cy="153670"/>
          </a:xfrm>
          <a:prstGeom prst="rect">
            <a:avLst/>
          </a:prstGeom>
          <a:noFill/>
        </p:spPr>
        <p:txBody>
          <a:bodyPr wrap="none" lIns="0" tIns="0" rIns="0" bIns="0" rtlCol="0" anchor="t">
            <a:spAutoFit/>
          </a:bodyPr>
          <a:lstStyle/>
          <a:p>
            <a:pPr marL="0" indent="0" algn="ctr">
              <a:buNone/>
            </a:pPr>
            <a:r>
              <a:rPr lang="en-US" sz="1000" dirty="0">
                <a:solidFill>
                  <a:srgbClr val="D9E1EB"/>
                </a:solidFill>
                <a:latin typeface="Arial" panose="020B0604020202020204" pitchFamily="34" charset="0"/>
                <a:ea typeface="Arial" panose="020B0604020202020204" pitchFamily="34" charset="-122"/>
                <a:cs typeface="Arial" panose="020B0604020202020204" pitchFamily="34" charset="-120"/>
              </a:rPr>
              <a:t>Forensics</a:t>
            </a:r>
            <a:endParaRPr lang="en-US" sz="1000" dirty="0"/>
          </a:p>
        </p:txBody>
      </p:sp>
      <p:sp>
        <p:nvSpPr>
          <p:cNvPr id="26" name="Text 20"/>
          <p:cNvSpPr/>
          <p:nvPr/>
        </p:nvSpPr>
        <p:spPr>
          <a:xfrm>
            <a:off x="6858268" y="5421288"/>
            <a:ext cx="167640" cy="184150"/>
          </a:xfrm>
          <a:prstGeom prst="rect">
            <a:avLst/>
          </a:prstGeom>
          <a:noFill/>
        </p:spPr>
        <p:txBody>
          <a:bodyPr wrap="none" lIns="0" tIns="0" rIns="0" bIns="0" rtlCol="0" anchor="t">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RE</a:t>
            </a:r>
            <a:endParaRPr lang="en-US" sz="1200" dirty="0"/>
          </a:p>
        </p:txBody>
      </p:sp>
      <p:sp>
        <p:nvSpPr>
          <p:cNvPr id="27" name="Text 21"/>
          <p:cNvSpPr/>
          <p:nvPr/>
        </p:nvSpPr>
        <p:spPr>
          <a:xfrm>
            <a:off x="6349950" y="5683225"/>
            <a:ext cx="1184275" cy="153670"/>
          </a:xfrm>
          <a:prstGeom prst="rect">
            <a:avLst/>
          </a:prstGeom>
          <a:noFill/>
        </p:spPr>
        <p:txBody>
          <a:bodyPr wrap="none" lIns="0" tIns="0" rIns="0" bIns="0" rtlCol="0" anchor="t">
            <a:spAutoFit/>
          </a:bodyPr>
          <a:lstStyle/>
          <a:p>
            <a:pPr marL="0" indent="0" algn="ctr">
              <a:buNone/>
            </a:pPr>
            <a:r>
              <a:rPr lang="en-US" sz="1000" dirty="0">
                <a:solidFill>
                  <a:srgbClr val="D9E1EB"/>
                </a:solidFill>
                <a:latin typeface="Arial" panose="020B0604020202020204" pitchFamily="34" charset="0"/>
                <a:ea typeface="Arial" panose="020B0604020202020204" pitchFamily="34" charset="-122"/>
                <a:cs typeface="Arial" panose="020B0604020202020204" pitchFamily="34" charset="-120"/>
              </a:rPr>
              <a:t>Reverse Engineering</a:t>
            </a:r>
            <a:endParaRPr lang="en-US" sz="1000" dirty="0"/>
          </a:p>
        </p:txBody>
      </p:sp>
      <p:sp>
        <p:nvSpPr>
          <p:cNvPr id="28" name="Text 22"/>
          <p:cNvSpPr/>
          <p:nvPr/>
        </p:nvSpPr>
        <p:spPr>
          <a:xfrm>
            <a:off x="8518133" y="5421288"/>
            <a:ext cx="251460" cy="184150"/>
          </a:xfrm>
          <a:prstGeom prst="rect">
            <a:avLst/>
          </a:prstGeom>
          <a:noFill/>
        </p:spPr>
        <p:txBody>
          <a:bodyPr wrap="none" lIns="0" tIns="0" rIns="0" bIns="0" rtlCol="0" anchor="t">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PWN</a:t>
            </a:r>
            <a:endParaRPr lang="en-US" sz="1200" dirty="0"/>
          </a:p>
        </p:txBody>
      </p:sp>
      <p:sp>
        <p:nvSpPr>
          <p:cNvPr id="29" name="Text 23"/>
          <p:cNvSpPr/>
          <p:nvPr/>
        </p:nvSpPr>
        <p:spPr>
          <a:xfrm>
            <a:off x="8118718" y="5683225"/>
            <a:ext cx="1050290" cy="153670"/>
          </a:xfrm>
          <a:prstGeom prst="rect">
            <a:avLst/>
          </a:prstGeom>
          <a:noFill/>
        </p:spPr>
        <p:txBody>
          <a:bodyPr wrap="none" lIns="0" tIns="0" rIns="0" bIns="0" rtlCol="0" anchor="t">
            <a:spAutoFit/>
          </a:bodyPr>
          <a:lstStyle/>
          <a:p>
            <a:pPr marL="0" indent="0" algn="ctr">
              <a:buNone/>
            </a:pPr>
            <a:r>
              <a:rPr lang="en-US" sz="1000" dirty="0">
                <a:solidFill>
                  <a:srgbClr val="D9E1EB"/>
                </a:solidFill>
                <a:latin typeface="Arial" panose="020B0604020202020204" pitchFamily="34" charset="0"/>
                <a:ea typeface="Arial" panose="020B0604020202020204" pitchFamily="34" charset="-122"/>
                <a:cs typeface="Arial" panose="020B0604020202020204" pitchFamily="34" charset="-120"/>
              </a:rPr>
              <a:t>Binary Exploitation</a:t>
            </a:r>
            <a:endParaRPr lang="en-US" sz="1000" dirty="0"/>
          </a:p>
        </p:txBody>
      </p:sp>
      <p:sp>
        <p:nvSpPr>
          <p:cNvPr id="30" name="Text 24"/>
          <p:cNvSpPr/>
          <p:nvPr/>
        </p:nvSpPr>
        <p:spPr>
          <a:xfrm>
            <a:off x="10140925" y="5421288"/>
            <a:ext cx="419100" cy="184150"/>
          </a:xfrm>
          <a:prstGeom prst="rect">
            <a:avLst/>
          </a:prstGeom>
          <a:noFill/>
        </p:spPr>
        <p:txBody>
          <a:bodyPr wrap="none" lIns="0" tIns="0" rIns="0" bIns="0" rtlCol="0" anchor="t">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OSINT</a:t>
            </a:r>
            <a:endParaRPr lang="en-US" sz="1200" dirty="0"/>
          </a:p>
        </p:txBody>
      </p:sp>
      <p:sp>
        <p:nvSpPr>
          <p:cNvPr id="31" name="Text 25"/>
          <p:cNvSpPr/>
          <p:nvPr/>
        </p:nvSpPr>
        <p:spPr>
          <a:xfrm>
            <a:off x="9835173" y="5683225"/>
            <a:ext cx="1030605" cy="153670"/>
          </a:xfrm>
          <a:prstGeom prst="rect">
            <a:avLst/>
          </a:prstGeom>
          <a:noFill/>
        </p:spPr>
        <p:txBody>
          <a:bodyPr wrap="none" lIns="0" tIns="0" rIns="0" bIns="0" rtlCol="0" anchor="t">
            <a:spAutoFit/>
          </a:bodyPr>
          <a:lstStyle/>
          <a:p>
            <a:pPr marL="0" indent="0" algn="ctr">
              <a:buNone/>
            </a:pPr>
            <a:r>
              <a:rPr lang="en-US" sz="1000" dirty="0">
                <a:solidFill>
                  <a:srgbClr val="D9E1EB"/>
                </a:solidFill>
                <a:latin typeface="Arial" panose="020B0604020202020204" pitchFamily="34" charset="0"/>
                <a:ea typeface="Arial" panose="020B0604020202020204" pitchFamily="34" charset="-122"/>
                <a:cs typeface="Arial" panose="020B0604020202020204" pitchFamily="34" charset="-120"/>
              </a:rPr>
              <a:t>Open-Source Intel</a:t>
            </a:r>
            <a:endParaRPr lang="en-US" sz="1000" dirty="0"/>
          </a:p>
        </p:txBody>
      </p:sp>
      <p:sp>
        <p:nvSpPr>
          <p:cNvPr id="32" name="Shape 26"/>
          <p:cNvSpPr/>
          <p:nvPr/>
        </p:nvSpPr>
        <p:spPr>
          <a:xfrm>
            <a:off x="723900" y="6172200"/>
            <a:ext cx="10744200" cy="685800"/>
          </a:xfrm>
          <a:prstGeom prst="rect">
            <a:avLst/>
          </a:prstGeom>
          <a:solidFill>
            <a:srgbClr val="000000">
              <a:alpha val="0"/>
            </a:srgbClr>
          </a:solidFill>
        </p:spPr>
      </p:sp>
      <p:sp>
        <p:nvSpPr>
          <p:cNvPr id="33" name="Shape 27"/>
          <p:cNvSpPr/>
          <p:nvPr/>
        </p:nvSpPr>
        <p:spPr>
          <a:xfrm>
            <a:off x="723900" y="6172200"/>
            <a:ext cx="10744200" cy="9525"/>
          </a:xfrm>
          <a:prstGeom prst="rect">
            <a:avLst/>
          </a:prstGeom>
          <a:solidFill>
            <a:srgbClr val="FFFFFF"/>
          </a:solidFill>
        </p:spPr>
      </p:sp>
      <p:sp>
        <p:nvSpPr>
          <p:cNvPr id="34" name="Text 28"/>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68197"/>
                </a:solidFill>
                <a:latin typeface="Arial" panose="020B0604020202020204" pitchFamily="34" charset="0"/>
                <a:ea typeface="Arial" panose="020B0604020202020204" pitchFamily="34" charset="-122"/>
                <a:cs typeface="Arial" panose="020B0604020202020204" pitchFamily="34" charset="-120"/>
              </a:rPr>
              <a:t>0:15–0:25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4892501" y="971551"/>
            <a:ext cx="2406923" cy="541020"/>
          </a:xfrm>
          <a:prstGeom prst="rect">
            <a:avLst/>
          </a:prstGeom>
          <a:noFill/>
        </p:spPr>
        <p:txBody>
          <a:bodyPr wrap="square" lIns="0" tIns="396917" rIns="0" bIns="0" rtlCol="0" anchor="t">
            <a:spAutoFit/>
          </a:bodyPr>
          <a:lstStyle/>
          <a:p>
            <a:pPr marL="0" indent="0" algn="ctr">
              <a:buNone/>
            </a:pPr>
            <a:r>
              <a:rPr lang="en-US" sz="935" b="1" kern="0" spc="2" dirty="0">
                <a:solidFill>
                  <a:srgbClr val="FF6B1A"/>
                </a:solidFill>
                <a:latin typeface="Arial" panose="020B0604020202020204" pitchFamily="34" charset="0"/>
                <a:ea typeface="Arial" panose="020B0604020202020204" pitchFamily="34" charset="-122"/>
                <a:cs typeface="Arial" panose="020B0604020202020204" pitchFamily="34" charset="-120"/>
              </a:rPr>
              <a:t>ETHICS BEFORE EXPLOITS</a:t>
            </a:r>
            <a:endParaRPr lang="en-US" sz="935" dirty="0"/>
          </a:p>
        </p:txBody>
      </p:sp>
      <p:sp>
        <p:nvSpPr>
          <p:cNvPr id="9" name="Text 3"/>
          <p:cNvSpPr/>
          <p:nvPr/>
        </p:nvSpPr>
        <p:spPr>
          <a:xfrm>
            <a:off x="2936520" y="1543051"/>
            <a:ext cx="6318885" cy="442595"/>
          </a:xfrm>
          <a:prstGeom prst="rect">
            <a:avLst/>
          </a:prstGeom>
          <a:noFill/>
        </p:spPr>
        <p:txBody>
          <a:bodyPr wrap="none" lIns="0" tIns="0" rIns="0" bIns="0" rtlCol="0" anchor="t">
            <a:spAutoFit/>
          </a:bodyPr>
          <a:lstStyle/>
          <a:p>
            <a:pPr marL="0" indent="0" algn="ctr">
              <a:lnSpc>
                <a:spcPct val="83000"/>
              </a:lnSpc>
              <a:buNone/>
            </a:pPr>
            <a:r>
              <a:rPr lang="en-US" sz="34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rules protect the learning.</a:t>
            </a:r>
            <a:endParaRPr lang="en-US" sz="3465" dirty="0"/>
          </a:p>
        </p:txBody>
      </p:sp>
      <p:sp>
        <p:nvSpPr>
          <p:cNvPr id="10" name="Text 4"/>
          <p:cNvSpPr/>
          <p:nvPr/>
        </p:nvSpPr>
        <p:spPr>
          <a:xfrm>
            <a:off x="3686547" y="2143497"/>
            <a:ext cx="4818832" cy="205740"/>
          </a:xfrm>
          <a:prstGeom prst="rect">
            <a:avLst/>
          </a:prstGeom>
          <a:noFill/>
        </p:spPr>
        <p:txBody>
          <a:bodyPr wrap="square" lIns="0" tIns="0" rIns="0" bIns="0" rtlCol="0" anchor="t">
            <a:spAutoFit/>
          </a:bodyPr>
          <a:lstStyle/>
          <a:p>
            <a:pPr marL="0" indent="0" algn="ctr">
              <a:buNone/>
            </a:pPr>
            <a:r>
              <a:rPr lang="en-US" sz="1335" dirty="0">
                <a:solidFill>
                  <a:srgbClr val="A5B0C3"/>
                </a:solidFill>
                <a:latin typeface="Arial" panose="020B0604020202020204" pitchFamily="34" charset="0"/>
                <a:ea typeface="Arial" panose="020B0604020202020204" pitchFamily="34" charset="-122"/>
                <a:cs typeface="Arial" panose="020B0604020202020204" pitchFamily="34" charset="-120"/>
              </a:rPr>
              <a:t>Respect the scope. Respect the people behind the systems.</a:t>
            </a:r>
            <a:endParaRPr lang="en-US" sz="1335" dirty="0"/>
          </a:p>
        </p:txBody>
      </p:sp>
      <p:sp>
        <p:nvSpPr>
          <p:cNvPr id="11" name="Text 5"/>
          <p:cNvSpPr/>
          <p:nvPr/>
        </p:nvSpPr>
        <p:spPr>
          <a:xfrm>
            <a:off x="2698749" y="3094092"/>
            <a:ext cx="88900" cy="194310"/>
          </a:xfrm>
          <a:prstGeom prst="rect">
            <a:avLst/>
          </a:prstGeom>
          <a:noFill/>
        </p:spPr>
        <p:txBody>
          <a:bodyPr wrap="none" lIns="0" tIns="0" rIns="0" bIns="0" rtlCol="0" anchor="ctr">
            <a:spAutoFit/>
          </a:bodyPr>
          <a:lstStyle/>
          <a:p>
            <a:pPr marL="0" indent="0" algn="ctr">
              <a:buNone/>
            </a:pPr>
            <a:r>
              <a:rPr lang="en-US" sz="126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a:t>
            </a:r>
            <a:endParaRPr lang="en-US" sz="1265" dirty="0"/>
          </a:p>
        </p:txBody>
      </p:sp>
      <p:sp>
        <p:nvSpPr>
          <p:cNvPr id="12" name="Text 6"/>
          <p:cNvSpPr/>
          <p:nvPr/>
        </p:nvSpPr>
        <p:spPr>
          <a:xfrm>
            <a:off x="2034185" y="3443660"/>
            <a:ext cx="1417955" cy="205740"/>
          </a:xfrm>
          <a:prstGeom prst="rect">
            <a:avLst/>
          </a:prstGeom>
          <a:noFill/>
        </p:spPr>
        <p:txBody>
          <a:bodyPr wrap="none" lIns="0" tIns="0" rIns="0" bIns="0" rtlCol="0" anchor="t">
            <a:spAutoFit/>
          </a:bodyPr>
          <a:lstStyle/>
          <a:p>
            <a:pPr marL="0" indent="0" algn="ctr">
              <a:lnSpc>
                <a:spcPct val="100000"/>
              </a:lnSpc>
              <a:buNone/>
            </a:pP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Never share flags</a:t>
            </a:r>
            <a:endParaRPr lang="en-US" sz="1335" dirty="0"/>
          </a:p>
        </p:txBody>
      </p:sp>
      <p:sp>
        <p:nvSpPr>
          <p:cNvPr id="13" name="Text 7"/>
          <p:cNvSpPr/>
          <p:nvPr/>
        </p:nvSpPr>
        <p:spPr>
          <a:xfrm>
            <a:off x="6056312" y="2975030"/>
            <a:ext cx="88900" cy="194310"/>
          </a:xfrm>
          <a:prstGeom prst="rect">
            <a:avLst/>
          </a:prstGeom>
          <a:noFill/>
        </p:spPr>
        <p:txBody>
          <a:bodyPr wrap="none" lIns="0" tIns="0" rIns="0" bIns="0" rtlCol="0" anchor="ctr">
            <a:spAutoFit/>
          </a:bodyPr>
          <a:lstStyle/>
          <a:p>
            <a:pPr marL="0" indent="0" algn="ctr">
              <a:buNone/>
            </a:pPr>
            <a:r>
              <a:rPr lang="en-US" sz="126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a:t>
            </a:r>
            <a:endParaRPr lang="en-US" sz="1265" dirty="0"/>
          </a:p>
        </p:txBody>
      </p:sp>
      <p:sp>
        <p:nvSpPr>
          <p:cNvPr id="14" name="Text 8"/>
          <p:cNvSpPr/>
          <p:nvPr/>
        </p:nvSpPr>
        <p:spPr>
          <a:xfrm>
            <a:off x="4919663" y="3324597"/>
            <a:ext cx="2362200" cy="411480"/>
          </a:xfrm>
          <a:prstGeom prst="rect">
            <a:avLst/>
          </a:prstGeom>
          <a:noFill/>
        </p:spPr>
        <p:txBody>
          <a:bodyPr wrap="square" lIns="0" tIns="0" rIns="0" bIns="0" rtlCol="0" anchor="t">
            <a:spAutoFit/>
          </a:bodyPr>
          <a:lstStyle/>
          <a:p>
            <a:pPr marL="0" indent="0" algn="ctr">
              <a:lnSpc>
                <a:spcPct val="100000"/>
              </a:lnSpc>
              <a:buNone/>
            </a:pP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Never attack anything you were not given</a:t>
            </a:r>
            <a:endParaRPr lang="en-US" sz="1335" dirty="0"/>
          </a:p>
        </p:txBody>
      </p:sp>
      <p:sp>
        <p:nvSpPr>
          <p:cNvPr id="15" name="Text 9"/>
          <p:cNvSpPr/>
          <p:nvPr/>
        </p:nvSpPr>
        <p:spPr>
          <a:xfrm>
            <a:off x="9409112" y="2975030"/>
            <a:ext cx="88900" cy="194310"/>
          </a:xfrm>
          <a:prstGeom prst="rect">
            <a:avLst/>
          </a:prstGeom>
          <a:noFill/>
        </p:spPr>
        <p:txBody>
          <a:bodyPr wrap="none" lIns="0" tIns="0" rIns="0" bIns="0" rtlCol="0" anchor="ctr">
            <a:spAutoFit/>
          </a:bodyPr>
          <a:lstStyle/>
          <a:p>
            <a:pPr marL="0" indent="0" algn="ctr">
              <a:buNone/>
            </a:pPr>
            <a:r>
              <a:rPr lang="en-US" sz="126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a:t>
            </a:r>
            <a:endParaRPr lang="en-US" sz="1265" dirty="0"/>
          </a:p>
        </p:txBody>
      </p:sp>
      <p:sp>
        <p:nvSpPr>
          <p:cNvPr id="16" name="Text 10"/>
          <p:cNvSpPr/>
          <p:nvPr/>
        </p:nvSpPr>
        <p:spPr>
          <a:xfrm>
            <a:off x="8272463" y="3324597"/>
            <a:ext cx="2362200" cy="205740"/>
          </a:xfrm>
          <a:prstGeom prst="rect">
            <a:avLst/>
          </a:prstGeom>
          <a:noFill/>
        </p:spPr>
        <p:txBody>
          <a:bodyPr wrap="square" lIns="0" tIns="0" rIns="0" bIns="0" rtlCol="0" anchor="t">
            <a:spAutoFit/>
          </a:bodyPr>
          <a:lstStyle/>
          <a:p>
            <a:pPr marL="0" indent="0" algn="ctr">
              <a:lnSpc>
                <a:spcPct val="100000"/>
              </a:lnSpc>
              <a:buNone/>
            </a:pP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Never scan outside the lab</a:t>
            </a:r>
            <a:endParaRPr lang="en-US" sz="1335" dirty="0"/>
          </a:p>
        </p:txBody>
      </p:sp>
      <p:sp>
        <p:nvSpPr>
          <p:cNvPr id="17" name="Shape 11"/>
          <p:cNvSpPr/>
          <p:nvPr/>
        </p:nvSpPr>
        <p:spPr>
          <a:xfrm>
            <a:off x="3295651" y="4386635"/>
            <a:ext cx="5600700" cy="866775"/>
          </a:xfrm>
          <a:prstGeom prst="rect">
            <a:avLst/>
          </a:prstGeom>
          <a:solidFill>
            <a:srgbClr val="00D4FF">
              <a:alpha val="6000"/>
            </a:srgbClr>
          </a:solidFill>
        </p:spPr>
      </p:sp>
      <p:sp>
        <p:nvSpPr>
          <p:cNvPr id="18" name="Shape 12"/>
          <p:cNvSpPr/>
          <p:nvPr/>
        </p:nvSpPr>
        <p:spPr>
          <a:xfrm>
            <a:off x="3295651" y="4386635"/>
            <a:ext cx="5600700" cy="9525"/>
          </a:xfrm>
          <a:prstGeom prst="rect">
            <a:avLst/>
          </a:prstGeom>
          <a:solidFill>
            <a:srgbClr val="26DAFF"/>
          </a:solidFill>
        </p:spPr>
      </p:sp>
      <p:sp>
        <p:nvSpPr>
          <p:cNvPr id="19" name="Shape 13"/>
          <p:cNvSpPr/>
          <p:nvPr/>
        </p:nvSpPr>
        <p:spPr>
          <a:xfrm>
            <a:off x="3295651" y="5243884"/>
            <a:ext cx="5600700" cy="9525"/>
          </a:xfrm>
          <a:prstGeom prst="rect">
            <a:avLst/>
          </a:prstGeom>
          <a:solidFill>
            <a:srgbClr val="26DAFF"/>
          </a:solidFill>
        </p:spPr>
      </p:sp>
      <p:sp>
        <p:nvSpPr>
          <p:cNvPr id="20" name="Text 14"/>
          <p:cNvSpPr/>
          <p:nvPr/>
        </p:nvSpPr>
        <p:spPr>
          <a:xfrm>
            <a:off x="3295651" y="4645714"/>
            <a:ext cx="5600700" cy="348615"/>
          </a:xfrm>
          <a:prstGeom prst="rect">
            <a:avLst/>
          </a:prstGeom>
          <a:noFill/>
        </p:spPr>
        <p:txBody>
          <a:bodyPr wrap="square" lIns="0" tIns="0" rIns="0" bIns="0" rtlCol="0" anchor="ctr">
            <a:spAutoFit/>
          </a:bodyPr>
          <a:lstStyle/>
          <a:p>
            <a:pPr marL="0" indent="0" algn="ctr">
              <a:buNone/>
            </a:pPr>
            <a:r>
              <a:rPr lang="en-US" sz="2265" b="1" kern="0" spc="1" dirty="0">
                <a:solidFill>
                  <a:srgbClr val="00D4FF"/>
                </a:solidFill>
                <a:latin typeface="Consolas" panose="020B0609020204030204" pitchFamily="34" charset="0"/>
                <a:ea typeface="Consolas" panose="020B0609020204030204" pitchFamily="34" charset="-122"/>
                <a:cs typeface="Consolas" panose="020B0609020204030204" pitchFamily="34" charset="-120"/>
              </a:rPr>
              <a:t>THM{y0u_f0und_1t}</a:t>
            </a:r>
            <a:endParaRPr lang="en-US" sz="2265" dirty="0"/>
          </a:p>
        </p:txBody>
      </p:sp>
      <p:sp>
        <p:nvSpPr>
          <p:cNvPr id="21" name="Text 15"/>
          <p:cNvSpPr/>
          <p:nvPr/>
        </p:nvSpPr>
        <p:spPr>
          <a:xfrm>
            <a:off x="3641080" y="5510584"/>
            <a:ext cx="4909765" cy="225425"/>
          </a:xfrm>
          <a:prstGeom prst="rect">
            <a:avLst/>
          </a:prstGeom>
          <a:noFill/>
        </p:spPr>
        <p:txBody>
          <a:bodyPr wrap="square" lIns="0" tIns="0" rIns="0" bIns="0" rtlCol="0" anchor="t">
            <a:spAutoFit/>
          </a:bodyPr>
          <a:lstStyle/>
          <a:p>
            <a:pPr marL="0" indent="0" algn="ctr">
              <a:buNone/>
            </a:pPr>
            <a:r>
              <a:rPr lang="en-US" sz="1465" b="1" dirty="0">
                <a:solidFill>
                  <a:srgbClr val="00D4FF"/>
                </a:solidFill>
                <a:latin typeface="Arial" panose="020B0604020202020204" pitchFamily="34" charset="0"/>
                <a:ea typeface="Arial" panose="020B0604020202020204" pitchFamily="34" charset="-122"/>
                <a:cs typeface="Arial" panose="020B0604020202020204" pitchFamily="34" charset="-120"/>
              </a:rPr>
              <a:t>The flag is the proof.</a:t>
            </a: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 </a:t>
            </a:r>
            <a:r>
              <a:rPr lang="en-US" sz="1465" b="1" dirty="0">
                <a:solidFill>
                  <a:srgbClr val="FF6B1A"/>
                </a:solidFill>
                <a:latin typeface="Arial" panose="020B0604020202020204" pitchFamily="34" charset="0"/>
                <a:ea typeface="Arial" panose="020B0604020202020204" pitchFamily="34" charset="-122"/>
                <a:cs typeface="Arial" panose="020B0604020202020204" pitchFamily="34" charset="-120"/>
              </a:rPr>
              <a:t>Permission is the boundary.</a:t>
            </a:r>
            <a:endParaRPr lang="en-US" sz="1465" dirty="0"/>
          </a:p>
        </p:txBody>
      </p:sp>
      <p:sp>
        <p:nvSpPr>
          <p:cNvPr id="22" name="Shape 16"/>
          <p:cNvSpPr/>
          <p:nvPr/>
        </p:nvSpPr>
        <p:spPr>
          <a:xfrm>
            <a:off x="723900" y="6143625"/>
            <a:ext cx="10744200" cy="714375"/>
          </a:xfrm>
          <a:prstGeom prst="rect">
            <a:avLst/>
          </a:prstGeom>
          <a:solidFill>
            <a:srgbClr val="000000">
              <a:alpha val="0"/>
            </a:srgbClr>
          </a:solidFill>
        </p:spPr>
      </p:sp>
      <p:sp>
        <p:nvSpPr>
          <p:cNvPr id="23" name="Shape 17"/>
          <p:cNvSpPr/>
          <p:nvPr/>
        </p:nvSpPr>
        <p:spPr>
          <a:xfrm>
            <a:off x="723900" y="6143625"/>
            <a:ext cx="10744200" cy="9525"/>
          </a:xfrm>
          <a:prstGeom prst="rect">
            <a:avLst/>
          </a:prstGeom>
          <a:solidFill>
            <a:srgbClr val="FFFFFF"/>
          </a:solidFill>
        </p:spPr>
      </p:sp>
      <p:sp>
        <p:nvSpPr>
          <p:cNvPr id="24" name="Text 18"/>
          <p:cNvSpPr/>
          <p:nvPr/>
        </p:nvSpPr>
        <p:spPr>
          <a:xfrm>
            <a:off x="723900" y="6143625"/>
            <a:ext cx="10744200" cy="368935"/>
          </a:xfrm>
          <a:prstGeom prst="rect">
            <a:avLst/>
          </a:prstGeom>
          <a:noFill/>
        </p:spPr>
        <p:txBody>
          <a:bodyPr wrap="square" lIns="0" tIns="215392" rIns="0" bIns="0" rtlCol="0" anchor="t">
            <a:spAutoFit/>
          </a:bodyPr>
          <a:lstStyle/>
          <a:p>
            <a:pPr marL="0" indent="0" algn="l">
              <a:buNone/>
            </a:pPr>
            <a:r>
              <a:rPr lang="en-US" sz="1000" dirty="0">
                <a:solidFill>
                  <a:srgbClr val="768197"/>
                </a:solidFill>
                <a:latin typeface="Arial" panose="020B0604020202020204" pitchFamily="34" charset="0"/>
                <a:ea typeface="Arial" panose="020B0604020202020204" pitchFamily="34" charset="-122"/>
                <a:cs typeface="Arial" panose="020B0604020202020204" pitchFamily="34" charset="-120"/>
              </a:rPr>
              <a:t>0:15–0:25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857251" y="971551"/>
            <a:ext cx="10477500" cy="495300"/>
          </a:xfrm>
          <a:prstGeom prst="rect">
            <a:avLst/>
          </a:prstGeom>
          <a:noFill/>
        </p:spPr>
        <p:txBody>
          <a:bodyPr wrap="square" lIns="0" tIns="351536" rIns="0" bIns="0" rtlCol="0" anchor="t">
            <a:spAutoFit/>
          </a:bodyPr>
          <a:lstStyle/>
          <a:p>
            <a:pPr marL="0" indent="0" algn="l">
              <a:buNone/>
            </a:pPr>
            <a:r>
              <a:rPr lang="en-US" sz="935"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LINUX SURVIVAL</a:t>
            </a:r>
            <a:endParaRPr lang="en-US" sz="935" dirty="0"/>
          </a:p>
        </p:txBody>
      </p:sp>
      <p:sp>
        <p:nvSpPr>
          <p:cNvPr id="9" name="Text 3"/>
          <p:cNvSpPr/>
          <p:nvPr/>
        </p:nvSpPr>
        <p:spPr>
          <a:xfrm>
            <a:off x="857251" y="1485900"/>
            <a:ext cx="6911340" cy="400685"/>
          </a:xfrm>
          <a:prstGeom prst="rect">
            <a:avLst/>
          </a:prstGeom>
          <a:noFill/>
        </p:spPr>
        <p:txBody>
          <a:bodyPr wrap="none" lIns="0" tIns="0" rIns="0" bIns="0" rtlCol="0" anchor="t">
            <a:spAutoFit/>
          </a:bodyPr>
          <a:lstStyle/>
          <a:p>
            <a:pPr marL="0" indent="0" algn="l">
              <a:lnSpc>
                <a:spcPct val="83000"/>
              </a:lnSpc>
              <a:buNone/>
            </a:pPr>
            <a:r>
              <a:rPr lang="en-US" sz="313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Eight commands unlock today’s lab.</a:t>
            </a:r>
            <a:endParaRPr lang="en-US" sz="3135" dirty="0"/>
          </a:p>
        </p:txBody>
      </p:sp>
      <p:sp>
        <p:nvSpPr>
          <p:cNvPr id="10" name="Text 4"/>
          <p:cNvSpPr/>
          <p:nvPr/>
        </p:nvSpPr>
        <p:spPr>
          <a:xfrm>
            <a:off x="8346059" y="1714500"/>
            <a:ext cx="2988692" cy="184150"/>
          </a:xfrm>
          <a:prstGeom prst="rect">
            <a:avLst/>
          </a:prstGeom>
          <a:noFill/>
        </p:spPr>
        <p:txBody>
          <a:bodyPr wrap="square" lIns="0" tIns="0" rIns="0" bIns="0" rtlCol="0" anchor="t">
            <a:spAutoFit/>
          </a:bodyPr>
          <a:lstStyle/>
          <a:p>
            <a:pPr marL="0" indent="0" algn="l">
              <a:buNone/>
            </a:pPr>
            <a:r>
              <a:rPr lang="en-US" sz="1200" dirty="0">
                <a:solidFill>
                  <a:srgbClr val="8A93A8"/>
                </a:solidFill>
                <a:latin typeface="Arial" panose="020B0604020202020204" pitchFamily="34" charset="0"/>
                <a:ea typeface="Arial" panose="020B0604020202020204" pitchFamily="34" charset="-122"/>
                <a:cs typeface="Arial" panose="020B0604020202020204" pitchFamily="34" charset="-120"/>
              </a:rPr>
              <a:t>Type them. Test them. Remember them.</a:t>
            </a:r>
            <a:endParaRPr lang="en-US" sz="1200" dirty="0"/>
          </a:p>
        </p:txBody>
      </p:sp>
      <p:sp>
        <p:nvSpPr>
          <p:cNvPr id="11" name="Shape 5"/>
          <p:cNvSpPr/>
          <p:nvPr/>
        </p:nvSpPr>
        <p:spPr>
          <a:xfrm>
            <a:off x="857251" y="2208237"/>
            <a:ext cx="10477500" cy="3152775"/>
          </a:xfrm>
          <a:prstGeom prst="rect">
            <a:avLst/>
          </a:prstGeom>
          <a:solidFill>
            <a:srgbClr val="00D4FF">
              <a:alpha val="2000"/>
            </a:srgbClr>
          </a:solidFill>
        </p:spPr>
      </p:sp>
      <p:sp>
        <p:nvSpPr>
          <p:cNvPr id="12" name="Shape 6"/>
          <p:cNvSpPr/>
          <p:nvPr/>
        </p:nvSpPr>
        <p:spPr>
          <a:xfrm>
            <a:off x="857251" y="2208237"/>
            <a:ext cx="10477500" cy="9525"/>
          </a:xfrm>
          <a:prstGeom prst="rect">
            <a:avLst/>
          </a:prstGeom>
          <a:solidFill>
            <a:srgbClr val="61E4FF"/>
          </a:solidFill>
        </p:spPr>
      </p:sp>
      <p:sp>
        <p:nvSpPr>
          <p:cNvPr id="13" name="Shape 7"/>
          <p:cNvSpPr/>
          <p:nvPr/>
        </p:nvSpPr>
        <p:spPr>
          <a:xfrm>
            <a:off x="857251" y="2208237"/>
            <a:ext cx="9525" cy="3152775"/>
          </a:xfrm>
          <a:prstGeom prst="rect">
            <a:avLst/>
          </a:prstGeom>
          <a:solidFill>
            <a:srgbClr val="ADF1FF"/>
          </a:solidFill>
        </p:spPr>
      </p:sp>
      <p:sp>
        <p:nvSpPr>
          <p:cNvPr id="14" name="Shape 8"/>
          <p:cNvSpPr/>
          <p:nvPr/>
        </p:nvSpPr>
        <p:spPr>
          <a:xfrm>
            <a:off x="857251" y="2208237"/>
            <a:ext cx="2619375" cy="1571625"/>
          </a:xfrm>
          <a:prstGeom prst="rect">
            <a:avLst/>
          </a:prstGeom>
          <a:solidFill>
            <a:srgbClr val="000000">
              <a:alpha val="0"/>
            </a:srgbClr>
          </a:solidFill>
        </p:spPr>
      </p:sp>
      <p:sp>
        <p:nvSpPr>
          <p:cNvPr id="15" name="Shape 9"/>
          <p:cNvSpPr/>
          <p:nvPr/>
        </p:nvSpPr>
        <p:spPr>
          <a:xfrm>
            <a:off x="3467100" y="2208237"/>
            <a:ext cx="9525" cy="1571625"/>
          </a:xfrm>
          <a:prstGeom prst="rect">
            <a:avLst/>
          </a:prstGeom>
          <a:solidFill>
            <a:srgbClr val="ADF1FF"/>
          </a:solidFill>
        </p:spPr>
      </p:sp>
      <p:sp>
        <p:nvSpPr>
          <p:cNvPr id="16" name="Shape 10"/>
          <p:cNvSpPr/>
          <p:nvPr/>
        </p:nvSpPr>
        <p:spPr>
          <a:xfrm>
            <a:off x="857251" y="3770337"/>
            <a:ext cx="2619375" cy="9525"/>
          </a:xfrm>
          <a:prstGeom prst="rect">
            <a:avLst/>
          </a:prstGeom>
          <a:solidFill>
            <a:srgbClr val="61E4FF"/>
          </a:solidFill>
        </p:spPr>
      </p:sp>
      <p:sp>
        <p:nvSpPr>
          <p:cNvPr id="17" name="Text 11"/>
          <p:cNvSpPr/>
          <p:nvPr/>
        </p:nvSpPr>
        <p:spPr>
          <a:xfrm>
            <a:off x="1123951" y="2666553"/>
            <a:ext cx="43434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pwd</a:t>
            </a:r>
            <a:endParaRPr lang="en-US" sz="2065" dirty="0"/>
          </a:p>
        </p:txBody>
      </p:sp>
      <p:sp>
        <p:nvSpPr>
          <p:cNvPr id="18" name="Text 12"/>
          <p:cNvSpPr/>
          <p:nvPr/>
        </p:nvSpPr>
        <p:spPr>
          <a:xfrm>
            <a:off x="1123951" y="3114228"/>
            <a:ext cx="87185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Where am I?</a:t>
            </a:r>
            <a:endParaRPr lang="en-US" sz="1200" dirty="0"/>
          </a:p>
        </p:txBody>
      </p:sp>
      <p:sp>
        <p:nvSpPr>
          <p:cNvPr id="19" name="Shape 13"/>
          <p:cNvSpPr/>
          <p:nvPr/>
        </p:nvSpPr>
        <p:spPr>
          <a:xfrm>
            <a:off x="3476625" y="2208237"/>
            <a:ext cx="2619375" cy="1571625"/>
          </a:xfrm>
          <a:prstGeom prst="rect">
            <a:avLst/>
          </a:prstGeom>
          <a:solidFill>
            <a:srgbClr val="000000">
              <a:alpha val="0"/>
            </a:srgbClr>
          </a:solidFill>
        </p:spPr>
      </p:sp>
      <p:sp>
        <p:nvSpPr>
          <p:cNvPr id="20" name="Shape 14"/>
          <p:cNvSpPr/>
          <p:nvPr/>
        </p:nvSpPr>
        <p:spPr>
          <a:xfrm>
            <a:off x="6086475" y="2208237"/>
            <a:ext cx="9525" cy="1571625"/>
          </a:xfrm>
          <a:prstGeom prst="rect">
            <a:avLst/>
          </a:prstGeom>
          <a:solidFill>
            <a:srgbClr val="ADF1FF"/>
          </a:solidFill>
        </p:spPr>
      </p:sp>
      <p:sp>
        <p:nvSpPr>
          <p:cNvPr id="21" name="Shape 15"/>
          <p:cNvSpPr/>
          <p:nvPr/>
        </p:nvSpPr>
        <p:spPr>
          <a:xfrm>
            <a:off x="3476625" y="3770337"/>
            <a:ext cx="2619375" cy="9525"/>
          </a:xfrm>
          <a:prstGeom prst="rect">
            <a:avLst/>
          </a:prstGeom>
          <a:solidFill>
            <a:srgbClr val="61E4FF"/>
          </a:solidFill>
        </p:spPr>
      </p:sp>
      <p:sp>
        <p:nvSpPr>
          <p:cNvPr id="22" name="Text 16"/>
          <p:cNvSpPr/>
          <p:nvPr/>
        </p:nvSpPr>
        <p:spPr>
          <a:xfrm>
            <a:off x="3743325" y="2562969"/>
            <a:ext cx="86868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ls -la</a:t>
            </a:r>
            <a:endParaRPr lang="en-US" sz="2065" dirty="0"/>
          </a:p>
        </p:txBody>
      </p:sp>
      <p:sp>
        <p:nvSpPr>
          <p:cNvPr id="23" name="Text 17"/>
          <p:cNvSpPr/>
          <p:nvPr/>
        </p:nvSpPr>
        <p:spPr>
          <a:xfrm>
            <a:off x="3743325" y="3010644"/>
            <a:ext cx="1962151" cy="375285"/>
          </a:xfrm>
          <a:prstGeom prst="rect">
            <a:avLst/>
          </a:prstGeom>
          <a:noFill/>
        </p:spPr>
        <p:txBody>
          <a:bodyPr wrap="squar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Show everything, including hidden.</a:t>
            </a:r>
            <a:endParaRPr lang="en-US" sz="1200" dirty="0"/>
          </a:p>
        </p:txBody>
      </p:sp>
      <p:sp>
        <p:nvSpPr>
          <p:cNvPr id="24" name="Shape 18"/>
          <p:cNvSpPr/>
          <p:nvPr/>
        </p:nvSpPr>
        <p:spPr>
          <a:xfrm>
            <a:off x="6096000" y="2208237"/>
            <a:ext cx="2619375" cy="1571625"/>
          </a:xfrm>
          <a:prstGeom prst="rect">
            <a:avLst/>
          </a:prstGeom>
          <a:solidFill>
            <a:srgbClr val="000000">
              <a:alpha val="0"/>
            </a:srgbClr>
          </a:solidFill>
        </p:spPr>
      </p:sp>
      <p:sp>
        <p:nvSpPr>
          <p:cNvPr id="25" name="Shape 19"/>
          <p:cNvSpPr/>
          <p:nvPr/>
        </p:nvSpPr>
        <p:spPr>
          <a:xfrm>
            <a:off x="8705851" y="2208237"/>
            <a:ext cx="9525" cy="1571625"/>
          </a:xfrm>
          <a:prstGeom prst="rect">
            <a:avLst/>
          </a:prstGeom>
          <a:solidFill>
            <a:srgbClr val="ADF1FF"/>
          </a:solidFill>
        </p:spPr>
      </p:sp>
      <p:sp>
        <p:nvSpPr>
          <p:cNvPr id="26" name="Shape 20"/>
          <p:cNvSpPr/>
          <p:nvPr/>
        </p:nvSpPr>
        <p:spPr>
          <a:xfrm>
            <a:off x="6096000" y="3770337"/>
            <a:ext cx="2619375" cy="9525"/>
          </a:xfrm>
          <a:prstGeom prst="rect">
            <a:avLst/>
          </a:prstGeom>
          <a:solidFill>
            <a:srgbClr val="61E4FF"/>
          </a:solidFill>
        </p:spPr>
      </p:sp>
      <p:sp>
        <p:nvSpPr>
          <p:cNvPr id="27" name="Text 21"/>
          <p:cNvSpPr/>
          <p:nvPr/>
        </p:nvSpPr>
        <p:spPr>
          <a:xfrm>
            <a:off x="6362700" y="2666553"/>
            <a:ext cx="28956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cd</a:t>
            </a:r>
            <a:endParaRPr lang="en-US" sz="2065" dirty="0"/>
          </a:p>
        </p:txBody>
      </p:sp>
      <p:sp>
        <p:nvSpPr>
          <p:cNvPr id="28" name="Text 22"/>
          <p:cNvSpPr/>
          <p:nvPr/>
        </p:nvSpPr>
        <p:spPr>
          <a:xfrm>
            <a:off x="6362700" y="3114228"/>
            <a:ext cx="142938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Move around folders.</a:t>
            </a:r>
            <a:endParaRPr lang="en-US" sz="1200" dirty="0"/>
          </a:p>
        </p:txBody>
      </p:sp>
      <p:sp>
        <p:nvSpPr>
          <p:cNvPr id="29" name="Shape 23"/>
          <p:cNvSpPr/>
          <p:nvPr/>
        </p:nvSpPr>
        <p:spPr>
          <a:xfrm>
            <a:off x="8715375" y="2208237"/>
            <a:ext cx="2619375" cy="1571625"/>
          </a:xfrm>
          <a:prstGeom prst="rect">
            <a:avLst/>
          </a:prstGeom>
          <a:solidFill>
            <a:srgbClr val="000000">
              <a:alpha val="0"/>
            </a:srgbClr>
          </a:solidFill>
        </p:spPr>
      </p:sp>
      <p:sp>
        <p:nvSpPr>
          <p:cNvPr id="30" name="Shape 24"/>
          <p:cNvSpPr/>
          <p:nvPr/>
        </p:nvSpPr>
        <p:spPr>
          <a:xfrm>
            <a:off x="11325225" y="2208237"/>
            <a:ext cx="9525" cy="1571625"/>
          </a:xfrm>
          <a:prstGeom prst="rect">
            <a:avLst/>
          </a:prstGeom>
          <a:solidFill>
            <a:srgbClr val="ADF1FF"/>
          </a:solidFill>
        </p:spPr>
      </p:sp>
      <p:sp>
        <p:nvSpPr>
          <p:cNvPr id="31" name="Shape 25"/>
          <p:cNvSpPr/>
          <p:nvPr/>
        </p:nvSpPr>
        <p:spPr>
          <a:xfrm>
            <a:off x="8715375" y="3770337"/>
            <a:ext cx="2619375" cy="9525"/>
          </a:xfrm>
          <a:prstGeom prst="rect">
            <a:avLst/>
          </a:prstGeom>
          <a:solidFill>
            <a:srgbClr val="61E4FF"/>
          </a:solidFill>
        </p:spPr>
      </p:sp>
      <p:sp>
        <p:nvSpPr>
          <p:cNvPr id="32" name="Text 26"/>
          <p:cNvSpPr/>
          <p:nvPr/>
        </p:nvSpPr>
        <p:spPr>
          <a:xfrm>
            <a:off x="8982075" y="2666553"/>
            <a:ext cx="43434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cat</a:t>
            </a:r>
            <a:endParaRPr lang="en-US" sz="2065" dirty="0"/>
          </a:p>
        </p:txBody>
      </p:sp>
      <p:sp>
        <p:nvSpPr>
          <p:cNvPr id="33" name="Text 27"/>
          <p:cNvSpPr/>
          <p:nvPr/>
        </p:nvSpPr>
        <p:spPr>
          <a:xfrm>
            <a:off x="8982075" y="3114228"/>
            <a:ext cx="769620"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Read a file.</a:t>
            </a:r>
            <a:endParaRPr lang="en-US" sz="1200" dirty="0"/>
          </a:p>
        </p:txBody>
      </p:sp>
      <p:sp>
        <p:nvSpPr>
          <p:cNvPr id="34" name="Shape 28"/>
          <p:cNvSpPr/>
          <p:nvPr/>
        </p:nvSpPr>
        <p:spPr>
          <a:xfrm>
            <a:off x="857251" y="3779863"/>
            <a:ext cx="2619375" cy="1571625"/>
          </a:xfrm>
          <a:prstGeom prst="rect">
            <a:avLst/>
          </a:prstGeom>
          <a:solidFill>
            <a:srgbClr val="000000">
              <a:alpha val="0"/>
            </a:srgbClr>
          </a:solidFill>
        </p:spPr>
      </p:sp>
      <p:sp>
        <p:nvSpPr>
          <p:cNvPr id="35" name="Shape 29"/>
          <p:cNvSpPr/>
          <p:nvPr/>
        </p:nvSpPr>
        <p:spPr>
          <a:xfrm>
            <a:off x="3467100" y="3779863"/>
            <a:ext cx="9525" cy="1571625"/>
          </a:xfrm>
          <a:prstGeom prst="rect">
            <a:avLst/>
          </a:prstGeom>
          <a:solidFill>
            <a:srgbClr val="ADF1FF"/>
          </a:solidFill>
        </p:spPr>
      </p:sp>
      <p:sp>
        <p:nvSpPr>
          <p:cNvPr id="36" name="Shape 30"/>
          <p:cNvSpPr/>
          <p:nvPr/>
        </p:nvSpPr>
        <p:spPr>
          <a:xfrm>
            <a:off x="857251" y="5341963"/>
            <a:ext cx="2619375" cy="9525"/>
          </a:xfrm>
          <a:prstGeom prst="rect">
            <a:avLst/>
          </a:prstGeom>
          <a:solidFill>
            <a:srgbClr val="61E4FF"/>
          </a:solidFill>
        </p:spPr>
      </p:sp>
      <p:sp>
        <p:nvSpPr>
          <p:cNvPr id="37" name="Text 31"/>
          <p:cNvSpPr/>
          <p:nvPr/>
        </p:nvSpPr>
        <p:spPr>
          <a:xfrm>
            <a:off x="1123951" y="4238179"/>
            <a:ext cx="57912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file</a:t>
            </a:r>
            <a:endParaRPr lang="en-US" sz="2065" dirty="0"/>
          </a:p>
        </p:txBody>
      </p:sp>
      <p:sp>
        <p:nvSpPr>
          <p:cNvPr id="38" name="Text 32"/>
          <p:cNvSpPr/>
          <p:nvPr/>
        </p:nvSpPr>
        <p:spPr>
          <a:xfrm>
            <a:off x="1123951" y="4685853"/>
            <a:ext cx="135445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Identify the file type.</a:t>
            </a:r>
            <a:endParaRPr lang="en-US" sz="1200" dirty="0"/>
          </a:p>
        </p:txBody>
      </p:sp>
      <p:sp>
        <p:nvSpPr>
          <p:cNvPr id="39" name="Shape 33"/>
          <p:cNvSpPr/>
          <p:nvPr/>
        </p:nvSpPr>
        <p:spPr>
          <a:xfrm>
            <a:off x="3476625" y="3779863"/>
            <a:ext cx="2619375" cy="1571625"/>
          </a:xfrm>
          <a:prstGeom prst="rect">
            <a:avLst/>
          </a:prstGeom>
          <a:solidFill>
            <a:srgbClr val="000000">
              <a:alpha val="0"/>
            </a:srgbClr>
          </a:solidFill>
        </p:spPr>
      </p:sp>
      <p:sp>
        <p:nvSpPr>
          <p:cNvPr id="40" name="Shape 34"/>
          <p:cNvSpPr/>
          <p:nvPr/>
        </p:nvSpPr>
        <p:spPr>
          <a:xfrm>
            <a:off x="6086475" y="3779863"/>
            <a:ext cx="9525" cy="1571625"/>
          </a:xfrm>
          <a:prstGeom prst="rect">
            <a:avLst/>
          </a:prstGeom>
          <a:solidFill>
            <a:srgbClr val="ADF1FF"/>
          </a:solidFill>
        </p:spPr>
      </p:sp>
      <p:sp>
        <p:nvSpPr>
          <p:cNvPr id="41" name="Shape 35"/>
          <p:cNvSpPr/>
          <p:nvPr/>
        </p:nvSpPr>
        <p:spPr>
          <a:xfrm>
            <a:off x="3476625" y="5341963"/>
            <a:ext cx="2619375" cy="9525"/>
          </a:xfrm>
          <a:prstGeom prst="rect">
            <a:avLst/>
          </a:prstGeom>
          <a:solidFill>
            <a:srgbClr val="61E4FF"/>
          </a:solidFill>
        </p:spPr>
      </p:sp>
      <p:sp>
        <p:nvSpPr>
          <p:cNvPr id="42" name="Text 36"/>
          <p:cNvSpPr/>
          <p:nvPr/>
        </p:nvSpPr>
        <p:spPr>
          <a:xfrm>
            <a:off x="3743325" y="4238179"/>
            <a:ext cx="101346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strings</a:t>
            </a:r>
            <a:endParaRPr lang="en-US" sz="2065" dirty="0"/>
          </a:p>
        </p:txBody>
      </p:sp>
      <p:sp>
        <p:nvSpPr>
          <p:cNvPr id="43" name="Text 37"/>
          <p:cNvSpPr/>
          <p:nvPr/>
        </p:nvSpPr>
        <p:spPr>
          <a:xfrm>
            <a:off x="3743325" y="4685853"/>
            <a:ext cx="169989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Find readable text inside.</a:t>
            </a:r>
            <a:endParaRPr lang="en-US" sz="1200" dirty="0"/>
          </a:p>
        </p:txBody>
      </p:sp>
      <p:sp>
        <p:nvSpPr>
          <p:cNvPr id="44" name="Shape 38"/>
          <p:cNvSpPr/>
          <p:nvPr/>
        </p:nvSpPr>
        <p:spPr>
          <a:xfrm>
            <a:off x="6096000" y="3779863"/>
            <a:ext cx="2619375" cy="1571625"/>
          </a:xfrm>
          <a:prstGeom prst="rect">
            <a:avLst/>
          </a:prstGeom>
          <a:solidFill>
            <a:srgbClr val="000000">
              <a:alpha val="0"/>
            </a:srgbClr>
          </a:solidFill>
        </p:spPr>
      </p:sp>
      <p:sp>
        <p:nvSpPr>
          <p:cNvPr id="45" name="Shape 39"/>
          <p:cNvSpPr/>
          <p:nvPr/>
        </p:nvSpPr>
        <p:spPr>
          <a:xfrm>
            <a:off x="8705851" y="3779863"/>
            <a:ext cx="9525" cy="1571625"/>
          </a:xfrm>
          <a:prstGeom prst="rect">
            <a:avLst/>
          </a:prstGeom>
          <a:solidFill>
            <a:srgbClr val="ADF1FF"/>
          </a:solidFill>
        </p:spPr>
      </p:sp>
      <p:sp>
        <p:nvSpPr>
          <p:cNvPr id="46" name="Shape 40"/>
          <p:cNvSpPr/>
          <p:nvPr/>
        </p:nvSpPr>
        <p:spPr>
          <a:xfrm>
            <a:off x="6096000" y="5341963"/>
            <a:ext cx="2619375" cy="9525"/>
          </a:xfrm>
          <a:prstGeom prst="rect">
            <a:avLst/>
          </a:prstGeom>
          <a:solidFill>
            <a:srgbClr val="61E4FF"/>
          </a:solidFill>
        </p:spPr>
      </p:sp>
      <p:sp>
        <p:nvSpPr>
          <p:cNvPr id="47" name="Text 41"/>
          <p:cNvSpPr/>
          <p:nvPr/>
        </p:nvSpPr>
        <p:spPr>
          <a:xfrm>
            <a:off x="6362700" y="4238179"/>
            <a:ext cx="57912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grep</a:t>
            </a:r>
            <a:endParaRPr lang="en-US" sz="2065" dirty="0"/>
          </a:p>
        </p:txBody>
      </p:sp>
      <p:sp>
        <p:nvSpPr>
          <p:cNvPr id="48" name="Text 42"/>
          <p:cNvSpPr/>
          <p:nvPr/>
        </p:nvSpPr>
        <p:spPr>
          <a:xfrm>
            <a:off x="6362700" y="4685853"/>
            <a:ext cx="127698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Search inside files.</a:t>
            </a:r>
            <a:endParaRPr lang="en-US" sz="1200" dirty="0"/>
          </a:p>
        </p:txBody>
      </p:sp>
      <p:sp>
        <p:nvSpPr>
          <p:cNvPr id="49" name="Shape 43"/>
          <p:cNvSpPr/>
          <p:nvPr/>
        </p:nvSpPr>
        <p:spPr>
          <a:xfrm>
            <a:off x="8715375" y="3779863"/>
            <a:ext cx="2619375" cy="1571625"/>
          </a:xfrm>
          <a:prstGeom prst="rect">
            <a:avLst/>
          </a:prstGeom>
          <a:solidFill>
            <a:srgbClr val="000000">
              <a:alpha val="0"/>
            </a:srgbClr>
          </a:solidFill>
        </p:spPr>
      </p:sp>
      <p:sp>
        <p:nvSpPr>
          <p:cNvPr id="50" name="Shape 44"/>
          <p:cNvSpPr/>
          <p:nvPr/>
        </p:nvSpPr>
        <p:spPr>
          <a:xfrm>
            <a:off x="11325225" y="3779863"/>
            <a:ext cx="9525" cy="1571625"/>
          </a:xfrm>
          <a:prstGeom prst="rect">
            <a:avLst/>
          </a:prstGeom>
          <a:solidFill>
            <a:srgbClr val="ADF1FF"/>
          </a:solidFill>
        </p:spPr>
      </p:sp>
      <p:sp>
        <p:nvSpPr>
          <p:cNvPr id="51" name="Shape 45"/>
          <p:cNvSpPr/>
          <p:nvPr/>
        </p:nvSpPr>
        <p:spPr>
          <a:xfrm>
            <a:off x="8715375" y="5341963"/>
            <a:ext cx="2619375" cy="9525"/>
          </a:xfrm>
          <a:prstGeom prst="rect">
            <a:avLst/>
          </a:prstGeom>
          <a:solidFill>
            <a:srgbClr val="61E4FF"/>
          </a:solidFill>
        </p:spPr>
      </p:sp>
      <p:sp>
        <p:nvSpPr>
          <p:cNvPr id="52" name="Text 46"/>
          <p:cNvSpPr/>
          <p:nvPr/>
        </p:nvSpPr>
        <p:spPr>
          <a:xfrm>
            <a:off x="8982075" y="4238179"/>
            <a:ext cx="579120" cy="254000"/>
          </a:xfrm>
          <a:prstGeom prst="rect">
            <a:avLst/>
          </a:prstGeom>
          <a:noFill/>
        </p:spPr>
        <p:txBody>
          <a:bodyPr wrap="none" lIns="0" tIns="0" rIns="0" bIns="0" rtlCol="0" anchor="t">
            <a:spAutoFit/>
          </a:bodyPr>
          <a:lstStyle/>
          <a:p>
            <a:pPr marL="0" indent="0" algn="l">
              <a:lnSpc>
                <a:spcPct val="80000"/>
              </a:lnSpc>
              <a:buNone/>
            </a:pPr>
            <a:r>
              <a:rPr lang="en-US" sz="20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find</a:t>
            </a:r>
            <a:endParaRPr lang="en-US" sz="2065" dirty="0"/>
          </a:p>
        </p:txBody>
      </p:sp>
      <p:sp>
        <p:nvSpPr>
          <p:cNvPr id="53" name="Text 47"/>
          <p:cNvSpPr/>
          <p:nvPr/>
        </p:nvSpPr>
        <p:spPr>
          <a:xfrm>
            <a:off x="8982075" y="4685853"/>
            <a:ext cx="1513840"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5DCE8"/>
                </a:solidFill>
                <a:latin typeface="Arial" panose="020B0604020202020204" pitchFamily="34" charset="0"/>
                <a:ea typeface="Arial" panose="020B0604020202020204" pitchFamily="34" charset="-122"/>
                <a:cs typeface="Arial" panose="020B0604020202020204" pitchFamily="34" charset="-120"/>
              </a:rPr>
              <a:t>Locate files anywhere.</a:t>
            </a:r>
            <a:endParaRPr lang="en-US" sz="1200" dirty="0"/>
          </a:p>
        </p:txBody>
      </p:sp>
      <p:sp>
        <p:nvSpPr>
          <p:cNvPr id="54" name="Shape 48"/>
          <p:cNvSpPr/>
          <p:nvPr/>
        </p:nvSpPr>
        <p:spPr>
          <a:xfrm>
            <a:off x="723900" y="6191251"/>
            <a:ext cx="10744200" cy="666751"/>
          </a:xfrm>
          <a:prstGeom prst="rect">
            <a:avLst/>
          </a:prstGeom>
          <a:solidFill>
            <a:srgbClr val="000000">
              <a:alpha val="0"/>
            </a:srgbClr>
          </a:solidFill>
        </p:spPr>
      </p:sp>
      <p:sp>
        <p:nvSpPr>
          <p:cNvPr id="55" name="Shape 49"/>
          <p:cNvSpPr/>
          <p:nvPr/>
        </p:nvSpPr>
        <p:spPr>
          <a:xfrm>
            <a:off x="723900" y="6191251"/>
            <a:ext cx="10744200" cy="9525"/>
          </a:xfrm>
          <a:prstGeom prst="rect">
            <a:avLst/>
          </a:prstGeom>
          <a:solidFill>
            <a:srgbClr val="FFFFFF"/>
          </a:solidFill>
        </p:spPr>
      </p:sp>
      <p:sp>
        <p:nvSpPr>
          <p:cNvPr id="56" name="Text 50"/>
          <p:cNvSpPr/>
          <p:nvPr/>
        </p:nvSpPr>
        <p:spPr>
          <a:xfrm>
            <a:off x="723900" y="6353175"/>
            <a:ext cx="4881563" cy="174625"/>
          </a:xfrm>
          <a:prstGeom prst="rect">
            <a:avLst/>
          </a:prstGeom>
          <a:noFill/>
        </p:spPr>
        <p:txBody>
          <a:bodyPr wrap="square" lIns="0" tIns="0" rIns="0" bIns="0" rtlCol="0" anchor="t">
            <a:spAutoFit/>
          </a:bodyPr>
          <a:lstStyle/>
          <a:p>
            <a:pPr marL="0" indent="0" algn="l">
              <a:buNone/>
            </a:pPr>
            <a:r>
              <a:rPr lang="en-US" sz="1135" b="1" dirty="0">
                <a:solidFill>
                  <a:srgbClr val="FF6B1A"/>
                </a:solidFill>
                <a:latin typeface="Arial" panose="020B0604020202020204" pitchFamily="34" charset="0"/>
                <a:ea typeface="Arial" panose="020B0604020202020204" pitchFamily="34" charset="-122"/>
                <a:cs typeface="Arial" panose="020B0604020202020204" pitchFamily="34" charset="-120"/>
              </a:rPr>
              <a:t>IF YOUR HANDS AREN’T MOVING, YOU’RE NOT LEARNING.</a:t>
            </a:r>
            <a:endParaRPr lang="en-US" sz="1135" dirty="0"/>
          </a:p>
        </p:txBody>
      </p:sp>
      <p:sp>
        <p:nvSpPr>
          <p:cNvPr id="57" name="Text 51"/>
          <p:cNvSpPr/>
          <p:nvPr/>
        </p:nvSpPr>
        <p:spPr>
          <a:xfrm>
            <a:off x="10874797" y="6353175"/>
            <a:ext cx="564515" cy="153670"/>
          </a:xfrm>
          <a:prstGeom prst="rect">
            <a:avLst/>
          </a:prstGeom>
          <a:noFill/>
        </p:spPr>
        <p:txBody>
          <a:bodyPr wrap="none" lIns="0" tIns="0" rIns="0" bIns="0" rtlCol="0" anchor="t">
            <a:spAutoFit/>
          </a:bodyPr>
          <a:lstStyle/>
          <a:p>
            <a:pPr marL="0" indent="0" algn="l">
              <a:buNone/>
            </a:pPr>
            <a:r>
              <a:rPr lang="en-US" sz="1000" dirty="0">
                <a:solidFill>
                  <a:srgbClr val="778196"/>
                </a:solidFill>
                <a:latin typeface="Arial" panose="020B0604020202020204" pitchFamily="34" charset="0"/>
                <a:ea typeface="Arial" panose="020B0604020202020204" pitchFamily="34" charset="-122"/>
                <a:cs typeface="Arial" panose="020B0604020202020204" pitchFamily="34" charset="-120"/>
              </a:rPr>
              <a:t>0:25–0:42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952500" y="1485900"/>
            <a:ext cx="3048000" cy="144145"/>
          </a:xfrm>
          <a:prstGeom prst="rect">
            <a:avLst/>
          </a:prstGeom>
          <a:noFill/>
        </p:spPr>
        <p:txBody>
          <a:bodyPr wrap="square" lIns="0" tIns="0"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WRITE IT DOWN</a:t>
            </a:r>
            <a:endParaRPr lang="en-US" sz="935" dirty="0"/>
          </a:p>
        </p:txBody>
      </p:sp>
      <p:sp>
        <p:nvSpPr>
          <p:cNvPr id="9" name="Text 3"/>
          <p:cNvSpPr/>
          <p:nvPr/>
        </p:nvSpPr>
        <p:spPr>
          <a:xfrm>
            <a:off x="952500" y="1743075"/>
            <a:ext cx="3048000" cy="1236345"/>
          </a:xfrm>
          <a:prstGeom prst="rect">
            <a:avLst/>
          </a:prstGeom>
          <a:noFill/>
        </p:spPr>
        <p:txBody>
          <a:bodyPr wrap="square" lIns="0" tIns="0" rIns="0" bIns="0" rtlCol="0" anchor="t">
            <a:spAutoFit/>
          </a:bodyPr>
          <a:lstStyle/>
          <a:p>
            <a:pPr marL="0" indent="0" algn="l">
              <a:lnSpc>
                <a:spcPct val="82000"/>
              </a:lnSpc>
              <a:buNone/>
            </a:pPr>
            <a:r>
              <a:rPr lang="en-US" sz="32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Professionals document the work.</a:t>
            </a:r>
            <a:endParaRPr lang="en-US" sz="3265" dirty="0"/>
          </a:p>
        </p:txBody>
      </p:sp>
      <p:sp>
        <p:nvSpPr>
          <p:cNvPr id="10" name="Text 4"/>
          <p:cNvSpPr/>
          <p:nvPr/>
        </p:nvSpPr>
        <p:spPr>
          <a:xfrm>
            <a:off x="952500" y="3332411"/>
            <a:ext cx="3048000" cy="667385"/>
          </a:xfrm>
          <a:prstGeom prst="rect">
            <a:avLst/>
          </a:prstGeom>
          <a:noFill/>
        </p:spPr>
        <p:txBody>
          <a:bodyPr wrap="square" lIns="0" tIns="0" rIns="0" bIns="0" rtlCol="0" anchor="t">
            <a:spAutoFit/>
          </a:bodyPr>
          <a:lstStyle/>
          <a:p>
            <a:pPr marL="0" indent="0" algn="l">
              <a:lnSpc>
                <a:spcPct val="108000"/>
              </a:lnSpc>
              <a:buNone/>
            </a:pPr>
            <a:r>
              <a:rPr lang="en-US" sz="1335" dirty="0">
                <a:solidFill>
                  <a:srgbClr val="A6B2C4"/>
                </a:solidFill>
                <a:latin typeface="Arial" panose="020B0604020202020204" pitchFamily="34" charset="0"/>
                <a:ea typeface="Arial" panose="020B0604020202020204" pitchFamily="34" charset="-122"/>
                <a:cs typeface="Arial" panose="020B0604020202020204" pitchFamily="34" charset="-120"/>
              </a:rPr>
              <a:t>A clean writeup makes your thinking visible — to you, your team, and your future employer.</a:t>
            </a:r>
            <a:endParaRPr lang="en-US" sz="1335" dirty="0"/>
          </a:p>
        </p:txBody>
      </p:sp>
      <p:sp>
        <p:nvSpPr>
          <p:cNvPr id="11" name="Text 5"/>
          <p:cNvSpPr/>
          <p:nvPr/>
        </p:nvSpPr>
        <p:spPr>
          <a:xfrm>
            <a:off x="952500" y="4589189"/>
            <a:ext cx="2809875" cy="630555"/>
          </a:xfrm>
          <a:prstGeom prst="rect">
            <a:avLst/>
          </a:prstGeom>
          <a:noFill/>
        </p:spPr>
        <p:txBody>
          <a:bodyPr wrap="square" lIns="0" tIns="0" rIns="0" bIns="0" rtlCol="0" anchor="t">
            <a:spAutoFit/>
          </a:bodyPr>
          <a:lstStyle/>
          <a:p>
            <a:pPr marL="0" indent="0" algn="l">
              <a:lnSpc>
                <a:spcPct val="114000"/>
              </a:lnSpc>
              <a:buNone/>
            </a:pPr>
            <a:r>
              <a:rPr lang="en-US" sz="1135" b="1" dirty="0">
                <a:solidFill>
                  <a:srgbClr val="FFFFFF"/>
                </a:solidFill>
                <a:latin typeface="Arial" panose="020B0604020202020204" pitchFamily="34" charset="0"/>
                <a:ea typeface="Arial" panose="020B0604020202020204" pitchFamily="34" charset="-122"/>
                <a:cs typeface="Arial" panose="020B0604020202020204" pitchFamily="34" charset="-120"/>
              </a:rPr>
              <a:t>Screenshot this slide.</a:t>
            </a:r>
            <a:r>
              <a:rPr lang="en-US" sz="1200" dirty="0">
                <a:solidFill>
                  <a:srgbClr val="8F9BB0"/>
                </a:solidFill>
                <a:latin typeface="Arial" panose="020B0604020202020204" pitchFamily="34" charset="0"/>
                <a:ea typeface="Arial" panose="020B0604020202020204" pitchFamily="34" charset="-122"/>
                <a:cs typeface="Arial" panose="020B0604020202020204" pitchFamily="34" charset="-120"/>
              </a:rPr>
              <a:t>
Use this structure after every challenge, even the small ones.</a:t>
            </a:r>
            <a:endParaRPr lang="en-US" sz="1135" dirty="0"/>
          </a:p>
        </p:txBody>
      </p:sp>
      <p:sp>
        <p:nvSpPr>
          <p:cNvPr id="12" name="Text 6"/>
          <p:cNvSpPr/>
          <p:nvPr/>
        </p:nvSpPr>
        <p:spPr>
          <a:xfrm>
            <a:off x="4591051" y="1381125"/>
            <a:ext cx="2027263" cy="174625"/>
          </a:xfrm>
          <a:prstGeom prst="rect">
            <a:avLst/>
          </a:prstGeom>
          <a:noFill/>
        </p:spPr>
        <p:txBody>
          <a:bodyPr wrap="square" lIns="0" tIns="0" rIns="0" bIns="0" rtlCol="0" anchor="t">
            <a:spAutoFit/>
          </a:bodyPr>
          <a:lstStyle/>
          <a:p>
            <a:pPr marL="0" indent="0" algn="l">
              <a:buNone/>
            </a:pPr>
            <a:r>
              <a:rPr lang="en-US" sz="1135" b="1" kern="0" spc="1" dirty="0">
                <a:solidFill>
                  <a:srgbClr val="DCE8F5"/>
                </a:solidFill>
                <a:latin typeface="Consolas" panose="020B0609020204030204" pitchFamily="34" charset="0"/>
                <a:ea typeface="Consolas" panose="020B0609020204030204" pitchFamily="34" charset="-122"/>
                <a:cs typeface="Consolas" panose="020B0609020204030204" pitchFamily="34" charset="-120"/>
              </a:rPr>
              <a:t>WRITEUP_TEMPLATE.md</a:t>
            </a:r>
            <a:endParaRPr lang="en-US" sz="1135" dirty="0"/>
          </a:p>
        </p:txBody>
      </p:sp>
      <p:sp>
        <p:nvSpPr>
          <p:cNvPr id="13" name="Text 7"/>
          <p:cNvSpPr/>
          <p:nvPr/>
        </p:nvSpPr>
        <p:spPr>
          <a:xfrm>
            <a:off x="9032231" y="1381125"/>
            <a:ext cx="2207269" cy="167005"/>
          </a:xfrm>
          <a:prstGeom prst="rect">
            <a:avLst/>
          </a:prstGeom>
          <a:noFill/>
        </p:spPr>
        <p:txBody>
          <a:bodyPr wrap="square" lIns="0" tIns="34036" rIns="0" bIns="0" rtlCol="0" anchor="t">
            <a:spAutoFit/>
          </a:bodyPr>
          <a:lstStyle/>
          <a:p>
            <a:pPr marL="0" indent="0" algn="l">
              <a:buNone/>
            </a:pPr>
            <a:r>
              <a:rPr lang="en-US" sz="865" dirty="0">
                <a:solidFill>
                  <a:srgbClr val="728095"/>
                </a:solidFill>
                <a:latin typeface="Arial" panose="020B0604020202020204" pitchFamily="34" charset="0"/>
                <a:ea typeface="Arial" panose="020B0604020202020204" pitchFamily="34" charset="-122"/>
                <a:cs typeface="Arial" panose="020B0604020202020204" pitchFamily="34" charset="-120"/>
              </a:rPr>
              <a:t>KEEP IT SHORT · KEEP IT HONEST</a:t>
            </a:r>
            <a:endParaRPr lang="en-US" sz="865" dirty="0"/>
          </a:p>
        </p:txBody>
      </p:sp>
      <p:sp>
        <p:nvSpPr>
          <p:cNvPr id="14" name="Text 8"/>
          <p:cNvSpPr/>
          <p:nvPr/>
        </p:nvSpPr>
        <p:spPr>
          <a:xfrm>
            <a:off x="4591051" y="2040731"/>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Challenge:</a:t>
            </a:r>
            <a:endParaRPr lang="en-US" sz="1265" dirty="0"/>
          </a:p>
        </p:txBody>
      </p:sp>
      <p:sp>
        <p:nvSpPr>
          <p:cNvPr id="15" name="Text 9"/>
          <p:cNvSpPr/>
          <p:nvPr/>
        </p:nvSpPr>
        <p:spPr>
          <a:xfrm>
            <a:off x="4591051" y="2736056"/>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What I saw:</a:t>
            </a:r>
            <a:endParaRPr lang="en-US" sz="1265" dirty="0"/>
          </a:p>
        </p:txBody>
      </p:sp>
      <p:sp>
        <p:nvSpPr>
          <p:cNvPr id="16" name="Text 10"/>
          <p:cNvSpPr/>
          <p:nvPr/>
        </p:nvSpPr>
        <p:spPr>
          <a:xfrm>
            <a:off x="4591051" y="3381375"/>
            <a:ext cx="2857500" cy="389255"/>
          </a:xfrm>
          <a:prstGeom prst="rect">
            <a:avLst/>
          </a:prstGeom>
          <a:noFill/>
        </p:spPr>
        <p:txBody>
          <a:bodyPr wrap="square" lIns="0" tIns="0" rIns="0" bIns="0" rtlCol="0" anchor="t">
            <a:spAutoFit/>
          </a:bodyPr>
          <a:lstStyle/>
          <a:p>
            <a:pPr marL="0" indent="0" algn="l">
              <a:buNone/>
            </a:pPr>
            <a:r>
              <a:rPr lang="en-US" sz="1265" b="1" dirty="0">
                <a:solidFill>
                  <a:srgbClr val="FFB080"/>
                </a:solidFill>
                <a:latin typeface="Arial" panose="020B0604020202020204" pitchFamily="34" charset="0"/>
                <a:ea typeface="Arial" panose="020B0604020202020204" pitchFamily="34" charset="-122"/>
                <a:cs typeface="Arial" panose="020B0604020202020204" pitchFamily="34" charset="-120"/>
              </a:rPr>
              <a:t>What I tried — including what FAILED:</a:t>
            </a:r>
            <a:endParaRPr lang="en-US" sz="1265" dirty="0"/>
          </a:p>
        </p:txBody>
      </p:sp>
      <p:sp>
        <p:nvSpPr>
          <p:cNvPr id="17" name="Text 11"/>
          <p:cNvSpPr/>
          <p:nvPr/>
        </p:nvSpPr>
        <p:spPr>
          <a:xfrm>
            <a:off x="9429751" y="3435101"/>
            <a:ext cx="1809751" cy="130175"/>
          </a:xfrm>
          <a:prstGeom prst="rect">
            <a:avLst/>
          </a:prstGeom>
          <a:noFill/>
        </p:spPr>
        <p:txBody>
          <a:bodyPr wrap="square" lIns="0" tIns="0" rIns="0" bIns="0" rtlCol="0" anchor="t">
            <a:spAutoFit/>
          </a:bodyPr>
          <a:lstStyle/>
          <a:p>
            <a:pPr marL="0" indent="0" algn="l">
              <a:lnSpc>
                <a:spcPct val="98000"/>
              </a:lnSpc>
              <a:buNone/>
            </a:pPr>
            <a:r>
              <a:rPr lang="en-US" sz="865" b="1" dirty="0">
                <a:solidFill>
                  <a:srgbClr val="FF6B1A"/>
                </a:solidFill>
                <a:latin typeface="Arial" panose="020B0604020202020204" pitchFamily="34" charset="0"/>
                <a:ea typeface="Arial" panose="020B0604020202020204" pitchFamily="34" charset="-122"/>
                <a:cs typeface="Arial" panose="020B0604020202020204" pitchFamily="34" charset="-120"/>
              </a:rPr>
              <a:t>THIS LINE IS THE WHOLE POINT.</a:t>
            </a:r>
            <a:endParaRPr lang="en-US" sz="865" dirty="0"/>
          </a:p>
        </p:txBody>
      </p:sp>
      <p:sp>
        <p:nvSpPr>
          <p:cNvPr id="18" name="Text 12"/>
          <p:cNvSpPr/>
          <p:nvPr/>
        </p:nvSpPr>
        <p:spPr>
          <a:xfrm>
            <a:off x="4591051" y="4231481"/>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What worked:</a:t>
            </a:r>
            <a:endParaRPr lang="en-US" sz="1265" dirty="0"/>
          </a:p>
        </p:txBody>
      </p:sp>
      <p:sp>
        <p:nvSpPr>
          <p:cNvPr id="19" name="Text 13"/>
          <p:cNvSpPr/>
          <p:nvPr/>
        </p:nvSpPr>
        <p:spPr>
          <a:xfrm>
            <a:off x="4591051" y="4926807"/>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Command used:</a:t>
            </a:r>
            <a:endParaRPr lang="en-US" sz="1265" dirty="0"/>
          </a:p>
        </p:txBody>
      </p:sp>
      <p:sp>
        <p:nvSpPr>
          <p:cNvPr id="20" name="Shape 14"/>
          <p:cNvSpPr/>
          <p:nvPr/>
        </p:nvSpPr>
        <p:spPr>
          <a:xfrm>
            <a:off x="723900" y="6191251"/>
            <a:ext cx="10744200" cy="666751"/>
          </a:xfrm>
          <a:prstGeom prst="rect">
            <a:avLst/>
          </a:prstGeom>
          <a:solidFill>
            <a:srgbClr val="000000">
              <a:alpha val="0"/>
            </a:srgbClr>
          </a:solidFill>
        </p:spPr>
      </p:sp>
      <p:sp>
        <p:nvSpPr>
          <p:cNvPr id="21" name="Shape 15"/>
          <p:cNvSpPr/>
          <p:nvPr/>
        </p:nvSpPr>
        <p:spPr>
          <a:xfrm>
            <a:off x="723900" y="6191251"/>
            <a:ext cx="10744200" cy="9525"/>
          </a:xfrm>
          <a:prstGeom prst="rect">
            <a:avLst/>
          </a:prstGeom>
          <a:solidFill>
            <a:srgbClr val="FFFFFF"/>
          </a:solidFill>
        </p:spPr>
      </p:sp>
      <p:sp>
        <p:nvSpPr>
          <p:cNvPr id="22" name="Text 16"/>
          <p:cNvSpPr/>
          <p:nvPr/>
        </p:nvSpPr>
        <p:spPr>
          <a:xfrm>
            <a:off x="723900" y="6362700"/>
            <a:ext cx="1282700" cy="144145"/>
          </a:xfrm>
          <a:prstGeom prst="rect">
            <a:avLst/>
          </a:prstGeom>
          <a:noFill/>
        </p:spPr>
        <p:txBody>
          <a:bodyPr wrap="none" lIns="0" tIns="0" rIns="0" bIns="0" rtlCol="0" anchor="t">
            <a:spAutoFit/>
          </a:bodyPr>
          <a:lstStyle/>
          <a:p>
            <a:pPr marL="0" indent="0" algn="l">
              <a:buNone/>
            </a:pPr>
            <a:r>
              <a:rPr lang="en-US" sz="935" b="1" dirty="0">
                <a:solidFill>
                  <a:srgbClr val="00D4FF"/>
                </a:solidFill>
                <a:latin typeface="Arial" panose="020B0604020202020204" pitchFamily="34" charset="0"/>
                <a:ea typeface="Arial" panose="020B0604020202020204" pitchFamily="34" charset="-122"/>
                <a:cs typeface="Arial" panose="020B0604020202020204" pitchFamily="34" charset="-120"/>
              </a:rPr>
              <a:t>EVIDENCE &gt; MEMORY</a:t>
            </a:r>
            <a:endParaRPr lang="en-US" sz="935" dirty="0"/>
          </a:p>
        </p:txBody>
      </p:sp>
      <p:sp>
        <p:nvSpPr>
          <p:cNvPr id="23" name="Text 17"/>
          <p:cNvSpPr/>
          <p:nvPr/>
        </p:nvSpPr>
        <p:spPr>
          <a:xfrm>
            <a:off x="10874797" y="6362700"/>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1:12–1:22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1028700" y="971551"/>
            <a:ext cx="10134600" cy="541020"/>
          </a:xfrm>
          <a:prstGeom prst="rect">
            <a:avLst/>
          </a:prstGeom>
          <a:noFill/>
        </p:spPr>
        <p:txBody>
          <a:bodyPr wrap="square" lIns="0" tIns="396917"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CTF MAP</a:t>
            </a:r>
            <a:endParaRPr lang="en-US" sz="935" dirty="0"/>
          </a:p>
        </p:txBody>
      </p:sp>
      <p:sp>
        <p:nvSpPr>
          <p:cNvPr id="9" name="Text 3"/>
          <p:cNvSpPr/>
          <p:nvPr/>
        </p:nvSpPr>
        <p:spPr>
          <a:xfrm>
            <a:off x="1028700" y="1533525"/>
            <a:ext cx="3233420" cy="442595"/>
          </a:xfrm>
          <a:prstGeom prst="rect">
            <a:avLst/>
          </a:prstGeom>
          <a:noFill/>
        </p:spPr>
        <p:txBody>
          <a:bodyPr wrap="none" lIns="0" tIns="0" rIns="0" bIns="0" rtlCol="0" anchor="t">
            <a:spAutoFit/>
          </a:bodyPr>
          <a:lstStyle/>
          <a:p>
            <a:pPr marL="0" indent="0" algn="l">
              <a:lnSpc>
                <a:spcPct val="83000"/>
              </a:lnSpc>
              <a:buNone/>
            </a:pPr>
            <a:r>
              <a:rPr lang="en-US" sz="34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categories.</a:t>
            </a:r>
            <a:endParaRPr lang="en-US" sz="3465" dirty="0"/>
          </a:p>
        </p:txBody>
      </p:sp>
      <p:sp>
        <p:nvSpPr>
          <p:cNvPr id="10" name="Text 4"/>
          <p:cNvSpPr/>
          <p:nvPr/>
        </p:nvSpPr>
        <p:spPr>
          <a:xfrm>
            <a:off x="1028700" y="2143497"/>
            <a:ext cx="10134600" cy="205740"/>
          </a:xfrm>
          <a:prstGeom prst="rect">
            <a:avLst/>
          </a:prstGeom>
          <a:noFill/>
        </p:spPr>
        <p:txBody>
          <a:bodyPr wrap="square" lIns="0" tIns="0" rIns="0" bIns="0" rtlCol="0" anchor="t">
            <a:spAutoFit/>
          </a:bodyPr>
          <a:lstStyle/>
          <a:p>
            <a:pPr marL="0" indent="0" algn="l">
              <a:buNone/>
            </a:pPr>
            <a:r>
              <a:rPr lang="en-US" sz="1335" dirty="0">
                <a:solidFill>
                  <a:srgbClr val="9DA9BB"/>
                </a:solidFill>
                <a:latin typeface="Arial" panose="020B0604020202020204" pitchFamily="34" charset="0"/>
                <a:ea typeface="Arial" panose="020B0604020202020204" pitchFamily="34" charset="-122"/>
                <a:cs typeface="Arial" panose="020B0604020202020204" pitchFamily="34" charset="-120"/>
              </a:rPr>
              <a:t>Different puzzles. One habit: observe first, then test a hypothesis.</a:t>
            </a:r>
            <a:endParaRPr lang="en-US" sz="1335" dirty="0"/>
          </a:p>
        </p:txBody>
      </p:sp>
      <p:sp>
        <p:nvSpPr>
          <p:cNvPr id="11" name="Text 5"/>
          <p:cNvSpPr/>
          <p:nvPr/>
        </p:nvSpPr>
        <p:spPr>
          <a:xfrm>
            <a:off x="1314451" y="3326979"/>
            <a:ext cx="523240" cy="144145"/>
          </a:xfrm>
          <a:prstGeom prst="rect">
            <a:avLst/>
          </a:prstGeom>
          <a:noFill/>
        </p:spPr>
        <p:txBody>
          <a:bodyPr wrap="none" lIns="0" tIns="0" rIns="0" bIns="0" rtlCol="0" anchor="t">
            <a:spAutoFit/>
          </a:bodyPr>
          <a:lstStyle/>
          <a:p>
            <a:pPr marL="0" indent="0" algn="l">
              <a:buNone/>
            </a:pPr>
            <a:r>
              <a:rPr lang="en-US" sz="935" b="1" kern="0" spc="1" dirty="0">
                <a:solidFill>
                  <a:srgbClr val="FF6B1A"/>
                </a:solidFill>
                <a:latin typeface="Consolas" panose="020B0609020204030204" pitchFamily="34" charset="0"/>
                <a:ea typeface="Consolas" panose="020B0609020204030204" pitchFamily="34" charset="-122"/>
                <a:cs typeface="Consolas" panose="020B0609020204030204" pitchFamily="34" charset="-120"/>
              </a:rPr>
              <a:t>01 / WEB</a:t>
            </a:r>
            <a:endParaRPr lang="en-US" sz="935" dirty="0"/>
          </a:p>
        </p:txBody>
      </p:sp>
      <p:sp>
        <p:nvSpPr>
          <p:cNvPr id="12" name="Text 6"/>
          <p:cNvSpPr/>
          <p:nvPr/>
        </p:nvSpPr>
        <p:spPr>
          <a:xfrm>
            <a:off x="2190751" y="3263875"/>
            <a:ext cx="443230" cy="235585"/>
          </a:xfrm>
          <a:prstGeom prst="rect">
            <a:avLst/>
          </a:prstGeom>
          <a:noFill/>
        </p:spPr>
        <p:txBody>
          <a:bodyPr wrap="none" lIns="0" tIns="0" rIns="0" bIns="0" rtlCol="0" anchor="t">
            <a:spAutoFit/>
          </a:bodyPr>
          <a:lstStyle/>
          <a:p>
            <a:pPr marL="0" indent="0" algn="l">
              <a:lnSpc>
                <a:spcPct val="92000"/>
              </a:lnSpc>
              <a:buNone/>
            </a:pPr>
            <a:r>
              <a:rPr lang="en-US" sz="1665" b="1" dirty="0">
                <a:solidFill>
                  <a:srgbClr val="FFFFFF"/>
                </a:solidFill>
                <a:latin typeface="Arial" panose="020B0604020202020204" pitchFamily="34" charset="0"/>
                <a:ea typeface="Arial" panose="020B0604020202020204" pitchFamily="34" charset="-122"/>
                <a:cs typeface="Arial" panose="020B0604020202020204" pitchFamily="34" charset="-120"/>
              </a:rPr>
              <a:t>Web</a:t>
            </a:r>
            <a:endParaRPr lang="en-US" sz="1665" dirty="0"/>
          </a:p>
        </p:txBody>
      </p:sp>
      <p:sp>
        <p:nvSpPr>
          <p:cNvPr id="13" name="Text 7"/>
          <p:cNvSpPr/>
          <p:nvPr/>
        </p:nvSpPr>
        <p:spPr>
          <a:xfrm>
            <a:off x="4689425" y="3253160"/>
            <a:ext cx="719455" cy="144145"/>
          </a:xfrm>
          <a:prstGeom prst="rect">
            <a:avLst/>
          </a:prstGeom>
          <a:noFill/>
        </p:spPr>
        <p:txBody>
          <a:bodyPr wrap="none" lIns="0" tIns="0" rIns="0" bIns="0" rtlCol="0" anchor="t">
            <a:spAutoFit/>
          </a:bodyPr>
          <a:lstStyle/>
          <a:p>
            <a:pPr marL="0" indent="0" algn="l">
              <a:buNone/>
            </a:pPr>
            <a:r>
              <a:rPr lang="en-US" sz="935" b="1" kern="0" spc="1" dirty="0">
                <a:solidFill>
                  <a:srgbClr val="00D4FF"/>
                </a:solidFill>
                <a:latin typeface="Consolas" panose="020B0609020204030204" pitchFamily="34" charset="0"/>
                <a:ea typeface="Consolas" panose="020B0609020204030204" pitchFamily="34" charset="-122"/>
                <a:cs typeface="Consolas" panose="020B0609020204030204" pitchFamily="34" charset="-120"/>
              </a:rPr>
              <a:t>02 / CRYPTO</a:t>
            </a:r>
            <a:endParaRPr lang="en-US" sz="935" dirty="0"/>
          </a:p>
        </p:txBody>
      </p:sp>
      <p:sp>
        <p:nvSpPr>
          <p:cNvPr id="14" name="Text 8"/>
          <p:cNvSpPr/>
          <p:nvPr/>
        </p:nvSpPr>
        <p:spPr>
          <a:xfrm>
            <a:off x="5565725" y="3263875"/>
            <a:ext cx="683260" cy="235585"/>
          </a:xfrm>
          <a:prstGeom prst="rect">
            <a:avLst/>
          </a:prstGeom>
          <a:noFill/>
        </p:spPr>
        <p:txBody>
          <a:bodyPr wrap="none" lIns="0" tIns="0" rIns="0" bIns="0" rtlCol="0" anchor="t">
            <a:spAutoFit/>
          </a:bodyPr>
          <a:lstStyle/>
          <a:p>
            <a:pPr marL="0" indent="0" algn="l">
              <a:lnSpc>
                <a:spcPct val="92000"/>
              </a:lnSpc>
              <a:buNone/>
            </a:pPr>
            <a:r>
              <a:rPr lang="en-US" sz="1665" b="1" dirty="0">
                <a:solidFill>
                  <a:srgbClr val="FFFFFF"/>
                </a:solidFill>
                <a:latin typeface="Arial" panose="020B0604020202020204" pitchFamily="34" charset="0"/>
                <a:ea typeface="Arial" panose="020B0604020202020204" pitchFamily="34" charset="-122"/>
                <a:cs typeface="Arial" panose="020B0604020202020204" pitchFamily="34" charset="-120"/>
              </a:rPr>
              <a:t>Crypto</a:t>
            </a:r>
            <a:endParaRPr lang="en-US" sz="1665" dirty="0"/>
          </a:p>
        </p:txBody>
      </p:sp>
      <p:sp>
        <p:nvSpPr>
          <p:cNvPr id="15" name="Text 9"/>
          <p:cNvSpPr/>
          <p:nvPr/>
        </p:nvSpPr>
        <p:spPr>
          <a:xfrm>
            <a:off x="8064475" y="3253160"/>
            <a:ext cx="915670" cy="144145"/>
          </a:xfrm>
          <a:prstGeom prst="rect">
            <a:avLst/>
          </a:prstGeom>
          <a:noFill/>
        </p:spPr>
        <p:txBody>
          <a:bodyPr wrap="none" lIns="0" tIns="0" rIns="0" bIns="0" rtlCol="0" anchor="t">
            <a:spAutoFit/>
          </a:bodyPr>
          <a:lstStyle/>
          <a:p>
            <a:pPr marL="0" indent="0" algn="l">
              <a:buNone/>
            </a:pPr>
            <a:r>
              <a:rPr lang="en-US" sz="935" b="1" kern="0" spc="1" dirty="0">
                <a:solidFill>
                  <a:srgbClr val="00D4FF"/>
                </a:solidFill>
                <a:latin typeface="Consolas" panose="020B0609020204030204" pitchFamily="34" charset="0"/>
                <a:ea typeface="Consolas" panose="020B0609020204030204" pitchFamily="34" charset="-122"/>
                <a:cs typeface="Consolas" panose="020B0609020204030204" pitchFamily="34" charset="-120"/>
              </a:rPr>
              <a:t>03 / FORENSICS</a:t>
            </a:r>
            <a:endParaRPr lang="en-US" sz="935" dirty="0"/>
          </a:p>
        </p:txBody>
      </p:sp>
      <p:sp>
        <p:nvSpPr>
          <p:cNvPr id="16" name="Text 10"/>
          <p:cNvSpPr/>
          <p:nvPr/>
        </p:nvSpPr>
        <p:spPr>
          <a:xfrm>
            <a:off x="8940775" y="3263875"/>
            <a:ext cx="1002665" cy="235585"/>
          </a:xfrm>
          <a:prstGeom prst="rect">
            <a:avLst/>
          </a:prstGeom>
          <a:noFill/>
        </p:spPr>
        <p:txBody>
          <a:bodyPr wrap="none" lIns="0" tIns="0" rIns="0" bIns="0" rtlCol="0" anchor="t">
            <a:spAutoFit/>
          </a:bodyPr>
          <a:lstStyle/>
          <a:p>
            <a:pPr marL="0" indent="0" algn="l">
              <a:lnSpc>
                <a:spcPct val="92000"/>
              </a:lnSpc>
              <a:buNone/>
            </a:pPr>
            <a:r>
              <a:rPr lang="en-US" sz="1665" b="1" dirty="0">
                <a:solidFill>
                  <a:srgbClr val="FFFFFF"/>
                </a:solidFill>
                <a:latin typeface="Arial" panose="020B0604020202020204" pitchFamily="34" charset="0"/>
                <a:ea typeface="Arial" panose="020B0604020202020204" pitchFamily="34" charset="-122"/>
                <a:cs typeface="Arial" panose="020B0604020202020204" pitchFamily="34" charset="-120"/>
              </a:rPr>
              <a:t>Forensics</a:t>
            </a:r>
            <a:endParaRPr lang="en-US" sz="1665" dirty="0"/>
          </a:p>
        </p:txBody>
      </p:sp>
      <p:sp>
        <p:nvSpPr>
          <p:cNvPr id="17" name="Text 11"/>
          <p:cNvSpPr/>
          <p:nvPr/>
        </p:nvSpPr>
        <p:spPr>
          <a:xfrm>
            <a:off x="1314451" y="4812879"/>
            <a:ext cx="457835" cy="144145"/>
          </a:xfrm>
          <a:prstGeom prst="rect">
            <a:avLst/>
          </a:prstGeom>
          <a:noFill/>
        </p:spPr>
        <p:txBody>
          <a:bodyPr wrap="none" lIns="0" tIns="0" rIns="0" bIns="0" rtlCol="0" anchor="t">
            <a:spAutoFit/>
          </a:bodyPr>
          <a:lstStyle/>
          <a:p>
            <a:pPr marL="0" indent="0" algn="l">
              <a:buNone/>
            </a:pPr>
            <a:r>
              <a:rPr lang="en-US" sz="935" b="1" kern="0" spc="1" dirty="0">
                <a:solidFill>
                  <a:srgbClr val="00D4FF"/>
                </a:solidFill>
                <a:latin typeface="Consolas" panose="020B0609020204030204" pitchFamily="34" charset="0"/>
                <a:ea typeface="Consolas" panose="020B0609020204030204" pitchFamily="34" charset="-122"/>
                <a:cs typeface="Consolas" panose="020B0609020204030204" pitchFamily="34" charset="-120"/>
              </a:rPr>
              <a:t>04 / RE</a:t>
            </a:r>
            <a:endParaRPr lang="en-US" sz="935" dirty="0"/>
          </a:p>
        </p:txBody>
      </p:sp>
      <p:sp>
        <p:nvSpPr>
          <p:cNvPr id="18" name="Text 12"/>
          <p:cNvSpPr/>
          <p:nvPr/>
        </p:nvSpPr>
        <p:spPr>
          <a:xfrm>
            <a:off x="2190751" y="4612853"/>
            <a:ext cx="1375991" cy="471805"/>
          </a:xfrm>
          <a:prstGeom prst="rect">
            <a:avLst/>
          </a:prstGeom>
          <a:noFill/>
        </p:spPr>
        <p:txBody>
          <a:bodyPr wrap="square" lIns="0" tIns="0" rIns="0" bIns="0" rtlCol="0" anchor="t">
            <a:spAutoFit/>
          </a:bodyPr>
          <a:lstStyle/>
          <a:p>
            <a:pPr marL="0" indent="0" algn="l">
              <a:lnSpc>
                <a:spcPct val="92000"/>
              </a:lnSpc>
              <a:buNone/>
            </a:pPr>
            <a:r>
              <a:rPr lang="en-US" sz="1665" b="1" dirty="0">
                <a:solidFill>
                  <a:srgbClr val="FFFFFF"/>
                </a:solidFill>
                <a:latin typeface="Arial" panose="020B0604020202020204" pitchFamily="34" charset="0"/>
                <a:ea typeface="Arial" panose="020B0604020202020204" pitchFamily="34" charset="-122"/>
                <a:cs typeface="Arial" panose="020B0604020202020204" pitchFamily="34" charset="-120"/>
              </a:rPr>
              <a:t>Reverse
Engineering</a:t>
            </a:r>
            <a:endParaRPr lang="en-US" sz="1665" dirty="0"/>
          </a:p>
        </p:txBody>
      </p:sp>
      <p:sp>
        <p:nvSpPr>
          <p:cNvPr id="19" name="Text 13"/>
          <p:cNvSpPr/>
          <p:nvPr/>
        </p:nvSpPr>
        <p:spPr>
          <a:xfrm>
            <a:off x="4689425" y="4812879"/>
            <a:ext cx="523240" cy="144145"/>
          </a:xfrm>
          <a:prstGeom prst="rect">
            <a:avLst/>
          </a:prstGeom>
          <a:noFill/>
        </p:spPr>
        <p:txBody>
          <a:bodyPr wrap="none" lIns="0" tIns="0" rIns="0" bIns="0" rtlCol="0" anchor="t">
            <a:spAutoFit/>
          </a:bodyPr>
          <a:lstStyle/>
          <a:p>
            <a:pPr marL="0" indent="0" algn="l">
              <a:buNone/>
            </a:pPr>
            <a:r>
              <a:rPr lang="en-US" sz="935" b="1" kern="0" spc="1" dirty="0">
                <a:solidFill>
                  <a:srgbClr val="00D4FF"/>
                </a:solidFill>
                <a:latin typeface="Consolas" panose="020B0609020204030204" pitchFamily="34" charset="0"/>
                <a:ea typeface="Consolas" panose="020B0609020204030204" pitchFamily="34" charset="-122"/>
                <a:cs typeface="Consolas" panose="020B0609020204030204" pitchFamily="34" charset="-120"/>
              </a:rPr>
              <a:t>05 / PWN</a:t>
            </a:r>
            <a:endParaRPr lang="en-US" sz="935" dirty="0"/>
          </a:p>
        </p:txBody>
      </p:sp>
      <p:sp>
        <p:nvSpPr>
          <p:cNvPr id="20" name="Text 14"/>
          <p:cNvSpPr/>
          <p:nvPr/>
        </p:nvSpPr>
        <p:spPr>
          <a:xfrm>
            <a:off x="5565725" y="4639047"/>
            <a:ext cx="494665" cy="235585"/>
          </a:xfrm>
          <a:prstGeom prst="rect">
            <a:avLst/>
          </a:prstGeom>
          <a:noFill/>
        </p:spPr>
        <p:txBody>
          <a:bodyPr wrap="none" lIns="0" tIns="0" rIns="0" bIns="0" rtlCol="0" anchor="t">
            <a:spAutoFit/>
          </a:bodyPr>
          <a:lstStyle/>
          <a:p>
            <a:pPr marL="0" indent="0" algn="l">
              <a:lnSpc>
                <a:spcPct val="92000"/>
              </a:lnSpc>
              <a:buNone/>
            </a:pPr>
            <a:r>
              <a:rPr lang="en-US" sz="1665" b="1" dirty="0">
                <a:solidFill>
                  <a:srgbClr val="FFFFFF"/>
                </a:solidFill>
                <a:latin typeface="Arial" panose="020B0604020202020204" pitchFamily="34" charset="0"/>
                <a:ea typeface="Arial" panose="020B0604020202020204" pitchFamily="34" charset="-122"/>
                <a:cs typeface="Arial" panose="020B0604020202020204" pitchFamily="34" charset="-120"/>
              </a:rPr>
              <a:t>PWN</a:t>
            </a:r>
            <a:endParaRPr lang="en-US" sz="1665" dirty="0"/>
          </a:p>
        </p:txBody>
      </p:sp>
      <p:sp>
        <p:nvSpPr>
          <p:cNvPr id="21" name="Text 15"/>
          <p:cNvSpPr/>
          <p:nvPr/>
        </p:nvSpPr>
        <p:spPr>
          <a:xfrm>
            <a:off x="5565725" y="4970041"/>
            <a:ext cx="1125855" cy="151130"/>
          </a:xfrm>
          <a:prstGeom prst="rect">
            <a:avLst/>
          </a:prstGeom>
          <a:noFill/>
        </p:spPr>
        <p:txBody>
          <a:bodyPr wrap="none" lIns="0" tIns="0" rIns="0" bIns="0" rtlCol="0" anchor="t">
            <a:spAutoFit/>
          </a:bodyPr>
          <a:lstStyle/>
          <a:p>
            <a:pPr marL="0" indent="0" algn="l">
              <a:lnSpc>
                <a:spcPct val="92000"/>
              </a:lnSpc>
              <a:buNone/>
            </a:pPr>
            <a:r>
              <a:rPr lang="en-US" sz="1065" dirty="0">
                <a:solidFill>
                  <a:srgbClr val="8A96A9"/>
                </a:solidFill>
                <a:latin typeface="Arial" panose="020B0604020202020204" pitchFamily="34" charset="0"/>
                <a:ea typeface="Arial" panose="020B0604020202020204" pitchFamily="34" charset="-122"/>
                <a:cs typeface="Arial" panose="020B0604020202020204" pitchFamily="34" charset="-120"/>
              </a:rPr>
              <a:t>Binary Exploitation</a:t>
            </a:r>
            <a:endParaRPr lang="en-US" sz="1065" dirty="0"/>
          </a:p>
        </p:txBody>
      </p:sp>
      <p:sp>
        <p:nvSpPr>
          <p:cNvPr id="22" name="Text 16"/>
          <p:cNvSpPr/>
          <p:nvPr/>
        </p:nvSpPr>
        <p:spPr>
          <a:xfrm>
            <a:off x="8064475" y="4739060"/>
            <a:ext cx="654050" cy="144145"/>
          </a:xfrm>
          <a:prstGeom prst="rect">
            <a:avLst/>
          </a:prstGeom>
          <a:noFill/>
        </p:spPr>
        <p:txBody>
          <a:bodyPr wrap="none" lIns="0" tIns="0" rIns="0" bIns="0" rtlCol="0" anchor="t">
            <a:spAutoFit/>
          </a:bodyPr>
          <a:lstStyle/>
          <a:p>
            <a:pPr marL="0" indent="0" algn="l">
              <a:buNone/>
            </a:pPr>
            <a:r>
              <a:rPr lang="en-US" sz="935" b="1" kern="0" spc="1" dirty="0">
                <a:solidFill>
                  <a:srgbClr val="FF6B1A"/>
                </a:solidFill>
                <a:latin typeface="Consolas" panose="020B0609020204030204" pitchFamily="34" charset="0"/>
                <a:ea typeface="Consolas" panose="020B0609020204030204" pitchFamily="34" charset="-122"/>
                <a:cs typeface="Consolas" panose="020B0609020204030204" pitchFamily="34" charset="-120"/>
              </a:rPr>
              <a:t>06 / OSINT</a:t>
            </a:r>
            <a:endParaRPr lang="en-US" sz="935" dirty="0"/>
          </a:p>
        </p:txBody>
      </p:sp>
      <p:sp>
        <p:nvSpPr>
          <p:cNvPr id="23" name="Text 17"/>
          <p:cNvSpPr/>
          <p:nvPr/>
        </p:nvSpPr>
        <p:spPr>
          <a:xfrm>
            <a:off x="8940775" y="4639047"/>
            <a:ext cx="648335" cy="235585"/>
          </a:xfrm>
          <a:prstGeom prst="rect">
            <a:avLst/>
          </a:prstGeom>
          <a:noFill/>
        </p:spPr>
        <p:txBody>
          <a:bodyPr wrap="none" lIns="0" tIns="0" rIns="0" bIns="0" rtlCol="0" anchor="t">
            <a:spAutoFit/>
          </a:bodyPr>
          <a:lstStyle/>
          <a:p>
            <a:pPr marL="0" indent="0" algn="l">
              <a:lnSpc>
                <a:spcPct val="92000"/>
              </a:lnSpc>
              <a:buNone/>
            </a:pPr>
            <a:r>
              <a:rPr lang="en-US" sz="1665" b="1" dirty="0">
                <a:solidFill>
                  <a:srgbClr val="FFFFFF"/>
                </a:solidFill>
                <a:latin typeface="Arial" panose="020B0604020202020204" pitchFamily="34" charset="0"/>
                <a:ea typeface="Arial" panose="020B0604020202020204" pitchFamily="34" charset="-122"/>
                <a:cs typeface="Arial" panose="020B0604020202020204" pitchFamily="34" charset="-120"/>
              </a:rPr>
              <a:t>OSINT</a:t>
            </a:r>
            <a:endParaRPr lang="en-US" sz="1665" dirty="0"/>
          </a:p>
        </p:txBody>
      </p:sp>
      <p:sp>
        <p:nvSpPr>
          <p:cNvPr id="24" name="Text 18"/>
          <p:cNvSpPr/>
          <p:nvPr/>
        </p:nvSpPr>
        <p:spPr>
          <a:xfrm>
            <a:off x="8940775" y="4970041"/>
            <a:ext cx="1532890" cy="151130"/>
          </a:xfrm>
          <a:prstGeom prst="rect">
            <a:avLst/>
          </a:prstGeom>
          <a:noFill/>
        </p:spPr>
        <p:txBody>
          <a:bodyPr wrap="none" lIns="0" tIns="0" rIns="0" bIns="0" rtlCol="0" anchor="t">
            <a:spAutoFit/>
          </a:bodyPr>
          <a:lstStyle/>
          <a:p>
            <a:pPr marL="0" indent="0" algn="l">
              <a:lnSpc>
                <a:spcPct val="92000"/>
              </a:lnSpc>
              <a:buNone/>
            </a:pPr>
            <a:r>
              <a:rPr lang="en-US" sz="1065" dirty="0">
                <a:solidFill>
                  <a:srgbClr val="8A96A9"/>
                </a:solidFill>
                <a:latin typeface="Arial" panose="020B0604020202020204" pitchFamily="34" charset="0"/>
                <a:ea typeface="Arial" panose="020B0604020202020204" pitchFamily="34" charset="-122"/>
                <a:cs typeface="Arial" panose="020B0604020202020204" pitchFamily="34" charset="-120"/>
              </a:rPr>
              <a:t>Open-Source Intelligence</a:t>
            </a:r>
            <a:endParaRPr lang="en-US" sz="1065" dirty="0"/>
          </a:p>
        </p:txBody>
      </p:sp>
      <p:sp>
        <p:nvSpPr>
          <p:cNvPr id="25" name="Shape 19"/>
          <p:cNvSpPr/>
          <p:nvPr/>
        </p:nvSpPr>
        <p:spPr>
          <a:xfrm>
            <a:off x="723900" y="6172200"/>
            <a:ext cx="10744200" cy="685800"/>
          </a:xfrm>
          <a:prstGeom prst="rect">
            <a:avLst/>
          </a:prstGeom>
          <a:solidFill>
            <a:srgbClr val="000000">
              <a:alpha val="0"/>
            </a:srgbClr>
          </a:solidFill>
        </p:spPr>
      </p:sp>
      <p:sp>
        <p:nvSpPr>
          <p:cNvPr id="26" name="Shape 20"/>
          <p:cNvSpPr/>
          <p:nvPr/>
        </p:nvSpPr>
        <p:spPr>
          <a:xfrm>
            <a:off x="723900" y="6172200"/>
            <a:ext cx="10744200" cy="9525"/>
          </a:xfrm>
          <a:prstGeom prst="rect">
            <a:avLst/>
          </a:prstGeom>
          <a:solidFill>
            <a:srgbClr val="FFFFFF"/>
          </a:solidFill>
        </p:spPr>
      </p:sp>
      <p:sp>
        <p:nvSpPr>
          <p:cNvPr id="27" name="Text 21"/>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0:15–0:25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5714683" y="971551"/>
            <a:ext cx="762635" cy="1062355"/>
          </a:xfrm>
          <a:prstGeom prst="rect">
            <a:avLst/>
          </a:prstGeom>
          <a:noFill/>
        </p:spPr>
        <p:txBody>
          <a:bodyPr wrap="none" lIns="0" tIns="918464" rIns="0" bIns="0" rtlCol="0" anchor="t">
            <a:spAutoFit/>
          </a:bodyPr>
          <a:lstStyle/>
          <a:p>
            <a:pPr marL="0" indent="0" algn="ctr">
              <a:buNone/>
            </a:pPr>
            <a:r>
              <a:rPr lang="en-US" sz="935"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THE TARGET</a:t>
            </a:r>
            <a:endParaRPr lang="en-US" sz="935" dirty="0"/>
          </a:p>
        </p:txBody>
      </p:sp>
      <p:sp>
        <p:nvSpPr>
          <p:cNvPr id="9" name="Text 3"/>
          <p:cNvSpPr/>
          <p:nvPr/>
        </p:nvSpPr>
        <p:spPr>
          <a:xfrm>
            <a:off x="3889028" y="2009775"/>
            <a:ext cx="4413944" cy="492125"/>
          </a:xfrm>
          <a:prstGeom prst="rect">
            <a:avLst/>
          </a:prstGeom>
          <a:noFill/>
        </p:spPr>
        <p:txBody>
          <a:bodyPr wrap="square" lIns="0" tIns="0" rIns="0" bIns="0" rtlCol="0" anchor="t">
            <a:spAutoFit/>
          </a:bodyPr>
          <a:lstStyle/>
          <a:p>
            <a:pPr marL="0" indent="0" algn="ctr">
              <a:buNone/>
            </a:pPr>
            <a:r>
              <a:rPr lang="en-US" sz="3200"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What a flag looks like.</a:t>
            </a:r>
            <a:endParaRPr lang="en-US" sz="3200" dirty="0"/>
          </a:p>
        </p:txBody>
      </p:sp>
      <p:sp>
        <p:nvSpPr>
          <p:cNvPr id="10" name="Shape 4"/>
          <p:cNvSpPr/>
          <p:nvPr/>
        </p:nvSpPr>
        <p:spPr>
          <a:xfrm>
            <a:off x="2571751" y="2952751"/>
            <a:ext cx="7048500" cy="1371600"/>
          </a:xfrm>
          <a:prstGeom prst="rect">
            <a:avLst/>
          </a:prstGeom>
          <a:solidFill>
            <a:srgbClr val="00D4FF">
              <a:alpha val="5000"/>
            </a:srgbClr>
          </a:solidFill>
        </p:spPr>
      </p:sp>
      <p:sp>
        <p:nvSpPr>
          <p:cNvPr id="11" name="Shape 5"/>
          <p:cNvSpPr/>
          <p:nvPr/>
        </p:nvSpPr>
        <p:spPr>
          <a:xfrm>
            <a:off x="2571751" y="2952751"/>
            <a:ext cx="7048500" cy="19051"/>
          </a:xfrm>
          <a:prstGeom prst="rect">
            <a:avLst/>
          </a:prstGeom>
          <a:solidFill>
            <a:srgbClr val="00D4FF"/>
          </a:solidFill>
        </p:spPr>
      </p:sp>
      <p:sp>
        <p:nvSpPr>
          <p:cNvPr id="12" name="Shape 6"/>
          <p:cNvSpPr/>
          <p:nvPr/>
        </p:nvSpPr>
        <p:spPr>
          <a:xfrm>
            <a:off x="2571751" y="4305300"/>
            <a:ext cx="7048500" cy="19051"/>
          </a:xfrm>
          <a:prstGeom prst="rect">
            <a:avLst/>
          </a:prstGeom>
          <a:solidFill>
            <a:srgbClr val="00D4FF"/>
          </a:solidFill>
        </p:spPr>
      </p:sp>
      <p:sp>
        <p:nvSpPr>
          <p:cNvPr id="13" name="Text 7"/>
          <p:cNvSpPr/>
          <p:nvPr/>
        </p:nvSpPr>
        <p:spPr>
          <a:xfrm>
            <a:off x="2571751" y="3392488"/>
            <a:ext cx="7048500" cy="492125"/>
          </a:xfrm>
          <a:prstGeom prst="rect">
            <a:avLst/>
          </a:prstGeom>
          <a:noFill/>
        </p:spPr>
        <p:txBody>
          <a:bodyPr wrap="square" lIns="0" tIns="0" rIns="0" bIns="0" rtlCol="0" anchor="ctr">
            <a:spAutoFit/>
          </a:bodyPr>
          <a:lstStyle/>
          <a:p>
            <a:pPr marL="0" indent="0" algn="ctr">
              <a:buNone/>
            </a:pPr>
            <a:r>
              <a:rPr lang="en-US" sz="3200" b="1" kern="0" spc="1" dirty="0">
                <a:solidFill>
                  <a:srgbClr val="00D4FF"/>
                </a:solidFill>
                <a:latin typeface="Consolas" panose="020B0609020204030204" pitchFamily="34" charset="0"/>
                <a:ea typeface="Consolas" panose="020B0609020204030204" pitchFamily="34" charset="-122"/>
                <a:cs typeface="Consolas" panose="020B0609020204030204" pitchFamily="34" charset="-120"/>
              </a:rPr>
              <a:t>THM{y0u_f0und_1t}</a:t>
            </a:r>
            <a:endParaRPr lang="en-US" sz="3200" dirty="0"/>
          </a:p>
        </p:txBody>
      </p:sp>
      <p:sp>
        <p:nvSpPr>
          <p:cNvPr id="14" name="Text 8"/>
          <p:cNvSpPr/>
          <p:nvPr/>
        </p:nvSpPr>
        <p:spPr>
          <a:xfrm>
            <a:off x="3651052" y="4648200"/>
            <a:ext cx="4889823" cy="225425"/>
          </a:xfrm>
          <a:prstGeom prst="rect">
            <a:avLst/>
          </a:prstGeom>
          <a:noFill/>
        </p:spPr>
        <p:txBody>
          <a:bodyPr wrap="square" lIns="0" tIns="0" rIns="0" bIns="0" rtlCol="0" anchor="t">
            <a:spAutoFit/>
          </a:bodyPr>
          <a:lstStyle/>
          <a:p>
            <a:pPr marL="0" indent="0" algn="ctr">
              <a:buNone/>
            </a:pPr>
            <a:r>
              <a:rPr lang="en-US" sz="1465" b="1" dirty="0">
                <a:solidFill>
                  <a:srgbClr val="DCE6F1"/>
                </a:solidFill>
                <a:latin typeface="Arial" panose="020B0604020202020204" pitchFamily="34" charset="0"/>
                <a:ea typeface="Arial" panose="020B0604020202020204" pitchFamily="34" charset="-122"/>
                <a:cs typeface="Arial" panose="020B0604020202020204" pitchFamily="34" charset="-120"/>
              </a:rPr>
              <a:t>This is what you’re hunting. </a:t>
            </a:r>
            <a:r>
              <a:rPr lang="en-US" sz="1465" b="1" dirty="0">
                <a:solidFill>
                  <a:srgbClr val="FF6B1A"/>
                </a:solidFill>
                <a:latin typeface="Arial" panose="020B0604020202020204" pitchFamily="34" charset="0"/>
                <a:ea typeface="Arial" panose="020B0604020202020204" pitchFamily="34" charset="-122"/>
                <a:cs typeface="Arial" panose="020B0604020202020204" pitchFamily="34" charset="-120"/>
              </a:rPr>
              <a:t>Nothing else counts.</a:t>
            </a:r>
            <a:endParaRPr lang="en-US" sz="1465" dirty="0"/>
          </a:p>
        </p:txBody>
      </p:sp>
      <p:sp>
        <p:nvSpPr>
          <p:cNvPr id="15" name="Shape 9"/>
          <p:cNvSpPr/>
          <p:nvPr/>
        </p:nvSpPr>
        <p:spPr>
          <a:xfrm>
            <a:off x="723900" y="6172200"/>
            <a:ext cx="10744200" cy="685800"/>
          </a:xfrm>
          <a:prstGeom prst="rect">
            <a:avLst/>
          </a:prstGeom>
          <a:solidFill>
            <a:srgbClr val="000000">
              <a:alpha val="0"/>
            </a:srgbClr>
          </a:solidFill>
        </p:spPr>
      </p:sp>
      <p:sp>
        <p:nvSpPr>
          <p:cNvPr id="16" name="Shape 10"/>
          <p:cNvSpPr/>
          <p:nvPr/>
        </p:nvSpPr>
        <p:spPr>
          <a:xfrm>
            <a:off x="723900" y="6172200"/>
            <a:ext cx="10744200" cy="9525"/>
          </a:xfrm>
          <a:prstGeom prst="rect">
            <a:avLst/>
          </a:prstGeom>
          <a:solidFill>
            <a:srgbClr val="FFFFFF"/>
          </a:solidFill>
        </p:spPr>
      </p:sp>
      <p:sp>
        <p:nvSpPr>
          <p:cNvPr id="17" name="Text 11"/>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0:15–0:25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5688331" y="971551"/>
            <a:ext cx="815340" cy="733425"/>
          </a:xfrm>
          <a:prstGeom prst="rect">
            <a:avLst/>
          </a:prstGeom>
          <a:noFill/>
        </p:spPr>
        <p:txBody>
          <a:bodyPr wrap="none" lIns="0" tIns="589618" rIns="0" bIns="0" rtlCol="0" anchor="t">
            <a:spAutoFit/>
          </a:bodyPr>
          <a:lstStyle/>
          <a:p>
            <a:pPr marL="0" indent="0" algn="ctr">
              <a:buNone/>
            </a:pPr>
            <a:r>
              <a:rPr lang="en-US" sz="935" b="1" kern="0" spc="2" dirty="0">
                <a:solidFill>
                  <a:srgbClr val="FF6B1A"/>
                </a:solidFill>
                <a:latin typeface="Arial" panose="020B0604020202020204" pitchFamily="34" charset="0"/>
                <a:ea typeface="Arial" panose="020B0604020202020204" pitchFamily="34" charset="-122"/>
                <a:cs typeface="Arial" panose="020B0604020202020204" pitchFamily="34" charset="-120"/>
              </a:rPr>
              <a:t>ETHICS FIRST</a:t>
            </a:r>
            <a:endParaRPr lang="en-US" sz="935" dirty="0"/>
          </a:p>
        </p:txBody>
      </p:sp>
      <p:sp>
        <p:nvSpPr>
          <p:cNvPr id="9" name="Text 3"/>
          <p:cNvSpPr/>
          <p:nvPr/>
        </p:nvSpPr>
        <p:spPr>
          <a:xfrm>
            <a:off x="5033926" y="1695451"/>
            <a:ext cx="2124075" cy="451485"/>
          </a:xfrm>
          <a:prstGeom prst="rect">
            <a:avLst/>
          </a:prstGeom>
          <a:noFill/>
        </p:spPr>
        <p:txBody>
          <a:bodyPr wrap="none" lIns="0" tIns="0" rIns="0" bIns="0" rtlCol="0" anchor="t">
            <a:spAutoFit/>
          </a:bodyPr>
          <a:lstStyle/>
          <a:p>
            <a:pPr marL="0" indent="0" algn="ctr">
              <a:lnSpc>
                <a:spcPct val="83000"/>
              </a:lnSpc>
              <a:buNone/>
            </a:pPr>
            <a:r>
              <a:rPr lang="en-US" sz="353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rules.</a:t>
            </a:r>
            <a:endParaRPr lang="en-US" sz="3535" dirty="0"/>
          </a:p>
        </p:txBody>
      </p:sp>
      <p:sp>
        <p:nvSpPr>
          <p:cNvPr id="10" name="Text 4"/>
          <p:cNvSpPr/>
          <p:nvPr/>
        </p:nvSpPr>
        <p:spPr>
          <a:xfrm>
            <a:off x="4558680" y="2315319"/>
            <a:ext cx="3074640" cy="205740"/>
          </a:xfrm>
          <a:prstGeom prst="rect">
            <a:avLst/>
          </a:prstGeom>
          <a:noFill/>
        </p:spPr>
        <p:txBody>
          <a:bodyPr wrap="square" lIns="0" tIns="0" rIns="0" bIns="0" rtlCol="0" anchor="t">
            <a:spAutoFit/>
          </a:bodyPr>
          <a:lstStyle/>
          <a:p>
            <a:pPr marL="0" indent="0" algn="ctr">
              <a:buNone/>
            </a:pPr>
            <a:r>
              <a:rPr lang="en-US" sz="1335" dirty="0">
                <a:solidFill>
                  <a:srgbClr val="9DA9BA"/>
                </a:solidFill>
                <a:latin typeface="Arial" panose="020B0604020202020204" pitchFamily="34" charset="0"/>
                <a:ea typeface="Arial" panose="020B0604020202020204" pitchFamily="34" charset="-122"/>
                <a:cs typeface="Arial" panose="020B0604020202020204" pitchFamily="34" charset="-120"/>
              </a:rPr>
              <a:t>The lab is a privilege. Treat it that way.</a:t>
            </a:r>
            <a:endParaRPr lang="en-US" sz="1335" dirty="0"/>
          </a:p>
        </p:txBody>
      </p:sp>
      <p:sp>
        <p:nvSpPr>
          <p:cNvPr id="11" name="Text 5"/>
          <p:cNvSpPr/>
          <p:nvPr/>
        </p:nvSpPr>
        <p:spPr>
          <a:xfrm>
            <a:off x="2687319" y="3671203"/>
            <a:ext cx="111760" cy="245745"/>
          </a:xfrm>
          <a:prstGeom prst="rect">
            <a:avLst/>
          </a:prstGeom>
          <a:noFill/>
        </p:spPr>
        <p:txBody>
          <a:bodyPr wrap="none" lIns="0" tIns="0" rIns="0" bIns="0" rtlCol="0" anchor="ctr">
            <a:spAutoFit/>
          </a:bodyPr>
          <a:lstStyle/>
          <a:p>
            <a:pPr marL="0" indent="0" algn="ctr">
              <a:buNone/>
            </a:pPr>
            <a:r>
              <a:rPr lang="en-US" sz="1600" b="1" dirty="0">
                <a:solidFill>
                  <a:srgbClr val="FF6B1A"/>
                </a:solidFill>
                <a:latin typeface="Consolas" panose="020B0609020204030204" pitchFamily="34" charset="0"/>
                <a:ea typeface="Consolas" panose="020B0609020204030204" pitchFamily="34" charset="-122"/>
                <a:cs typeface="Consolas" panose="020B0609020204030204" pitchFamily="34" charset="-120"/>
              </a:rPr>
              <a:t>!</a:t>
            </a:r>
            <a:endParaRPr lang="en-US" sz="1600" dirty="0"/>
          </a:p>
        </p:txBody>
      </p:sp>
      <p:sp>
        <p:nvSpPr>
          <p:cNvPr id="12" name="Text 6"/>
          <p:cNvSpPr/>
          <p:nvPr/>
        </p:nvSpPr>
        <p:spPr>
          <a:xfrm>
            <a:off x="1963420" y="4132213"/>
            <a:ext cx="1559560" cy="225425"/>
          </a:xfrm>
          <a:prstGeom prst="rect">
            <a:avLst/>
          </a:prstGeom>
          <a:noFill/>
        </p:spPr>
        <p:txBody>
          <a:bodyPr wrap="none" lIns="0" tIns="0" rIns="0" bIns="0" rtlCol="0" anchor="t">
            <a:spAutoFit/>
          </a:bodyPr>
          <a:lstStyle/>
          <a:p>
            <a:pPr marL="0" indent="0" algn="ctr">
              <a:lnSpc>
                <a:spcPct val="100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Never share flags</a:t>
            </a:r>
            <a:endParaRPr lang="en-US" sz="1465" dirty="0"/>
          </a:p>
        </p:txBody>
      </p:sp>
      <p:sp>
        <p:nvSpPr>
          <p:cNvPr id="13" name="Text 7"/>
          <p:cNvSpPr/>
          <p:nvPr/>
        </p:nvSpPr>
        <p:spPr>
          <a:xfrm>
            <a:off x="6044882" y="3540234"/>
            <a:ext cx="111760" cy="245745"/>
          </a:xfrm>
          <a:prstGeom prst="rect">
            <a:avLst/>
          </a:prstGeom>
          <a:noFill/>
        </p:spPr>
        <p:txBody>
          <a:bodyPr wrap="none" lIns="0" tIns="0" rIns="0" bIns="0" rtlCol="0" anchor="ctr">
            <a:spAutoFit/>
          </a:bodyPr>
          <a:lstStyle/>
          <a:p>
            <a:pPr marL="0" indent="0" algn="ctr">
              <a:buNone/>
            </a:pPr>
            <a:r>
              <a:rPr lang="en-US" sz="1600" b="1" dirty="0">
                <a:solidFill>
                  <a:srgbClr val="FF6B1A"/>
                </a:solidFill>
                <a:latin typeface="Consolas" panose="020B0609020204030204" pitchFamily="34" charset="0"/>
                <a:ea typeface="Consolas" panose="020B0609020204030204" pitchFamily="34" charset="-122"/>
                <a:cs typeface="Consolas" panose="020B0609020204030204" pitchFamily="34" charset="-120"/>
              </a:rPr>
              <a:t>!</a:t>
            </a:r>
            <a:endParaRPr lang="en-US" sz="1600" dirty="0"/>
          </a:p>
        </p:txBody>
      </p:sp>
      <p:sp>
        <p:nvSpPr>
          <p:cNvPr id="14" name="Text 8"/>
          <p:cNvSpPr/>
          <p:nvPr/>
        </p:nvSpPr>
        <p:spPr>
          <a:xfrm>
            <a:off x="4910137" y="4001244"/>
            <a:ext cx="2381251" cy="450850"/>
          </a:xfrm>
          <a:prstGeom prst="rect">
            <a:avLst/>
          </a:prstGeom>
          <a:noFill/>
        </p:spPr>
        <p:txBody>
          <a:bodyPr wrap="square" lIns="0" tIns="0" rIns="0" bIns="0" rtlCol="0" anchor="t">
            <a:spAutoFit/>
          </a:bodyPr>
          <a:lstStyle/>
          <a:p>
            <a:pPr marL="0" indent="0" algn="ctr">
              <a:lnSpc>
                <a:spcPct val="100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Never attack anything you weren’t given</a:t>
            </a:r>
            <a:endParaRPr lang="en-US" sz="1465" dirty="0"/>
          </a:p>
        </p:txBody>
      </p:sp>
      <p:sp>
        <p:nvSpPr>
          <p:cNvPr id="15" name="Text 9"/>
          <p:cNvSpPr/>
          <p:nvPr/>
        </p:nvSpPr>
        <p:spPr>
          <a:xfrm>
            <a:off x="9397682" y="3540234"/>
            <a:ext cx="111760" cy="245745"/>
          </a:xfrm>
          <a:prstGeom prst="rect">
            <a:avLst/>
          </a:prstGeom>
          <a:noFill/>
        </p:spPr>
        <p:txBody>
          <a:bodyPr wrap="none" lIns="0" tIns="0" rIns="0" bIns="0" rtlCol="0" anchor="ctr">
            <a:spAutoFit/>
          </a:bodyPr>
          <a:lstStyle/>
          <a:p>
            <a:pPr marL="0" indent="0" algn="ctr">
              <a:buNone/>
            </a:pPr>
            <a:r>
              <a:rPr lang="en-US" sz="1600" b="1" dirty="0">
                <a:solidFill>
                  <a:srgbClr val="FF6B1A"/>
                </a:solidFill>
                <a:latin typeface="Consolas" panose="020B0609020204030204" pitchFamily="34" charset="0"/>
                <a:ea typeface="Consolas" panose="020B0609020204030204" pitchFamily="34" charset="-122"/>
                <a:cs typeface="Consolas" panose="020B0609020204030204" pitchFamily="34" charset="-120"/>
              </a:rPr>
              <a:t>!</a:t>
            </a:r>
            <a:endParaRPr lang="en-US" sz="1600" dirty="0"/>
          </a:p>
        </p:txBody>
      </p:sp>
      <p:sp>
        <p:nvSpPr>
          <p:cNvPr id="16" name="Text 10"/>
          <p:cNvSpPr/>
          <p:nvPr/>
        </p:nvSpPr>
        <p:spPr>
          <a:xfrm>
            <a:off x="8262937" y="4001244"/>
            <a:ext cx="2381251" cy="225425"/>
          </a:xfrm>
          <a:prstGeom prst="rect">
            <a:avLst/>
          </a:prstGeom>
          <a:noFill/>
        </p:spPr>
        <p:txBody>
          <a:bodyPr wrap="square" lIns="0" tIns="0" rIns="0" bIns="0" rtlCol="0" anchor="t">
            <a:spAutoFit/>
          </a:bodyPr>
          <a:lstStyle/>
          <a:p>
            <a:pPr marL="0" indent="0" algn="ctr">
              <a:lnSpc>
                <a:spcPct val="100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Never scan outside the lab</a:t>
            </a:r>
            <a:endParaRPr lang="en-US" sz="1465" dirty="0"/>
          </a:p>
        </p:txBody>
      </p:sp>
      <p:sp>
        <p:nvSpPr>
          <p:cNvPr id="17" name="Text 11"/>
          <p:cNvSpPr/>
          <p:nvPr/>
        </p:nvSpPr>
        <p:spPr>
          <a:xfrm>
            <a:off x="4481661" y="5377607"/>
            <a:ext cx="3228603" cy="205740"/>
          </a:xfrm>
          <a:prstGeom prst="rect">
            <a:avLst/>
          </a:prstGeom>
          <a:noFill/>
        </p:spPr>
        <p:txBody>
          <a:bodyPr wrap="square" lIns="0" tIns="0" rIns="0" bIns="0" rtlCol="0" anchor="t">
            <a:spAutoFit/>
          </a:bodyPr>
          <a:lstStyle/>
          <a:p>
            <a:pPr marL="0" indent="0" algn="ctr">
              <a:buNone/>
            </a:pPr>
            <a:r>
              <a:rPr lang="en-US" sz="1335" b="1" dirty="0">
                <a:solidFill>
                  <a:srgbClr val="00D4FF"/>
                </a:solidFill>
                <a:latin typeface="Arial" panose="020B0604020202020204" pitchFamily="34" charset="0"/>
                <a:ea typeface="Arial" panose="020B0604020202020204" pitchFamily="34" charset="-122"/>
                <a:cs typeface="Arial" panose="020B0604020202020204" pitchFamily="34" charset="-120"/>
              </a:rPr>
              <a:t>Permission</a:t>
            </a:r>
            <a:r>
              <a:rPr lang="en-US" sz="1335" b="1" dirty="0">
                <a:solidFill>
                  <a:srgbClr val="D6E0EB"/>
                </a:solidFill>
                <a:latin typeface="Arial" panose="020B0604020202020204" pitchFamily="34" charset="0"/>
                <a:ea typeface="Arial" panose="020B0604020202020204" pitchFamily="34" charset="-122"/>
                <a:cs typeface="Arial" panose="020B0604020202020204" pitchFamily="34" charset="-120"/>
              </a:rPr>
              <a:t> defines the playground.</a:t>
            </a:r>
            <a:endParaRPr lang="en-US" sz="1335" dirty="0"/>
          </a:p>
        </p:txBody>
      </p:sp>
      <p:sp>
        <p:nvSpPr>
          <p:cNvPr id="18" name="Shape 12"/>
          <p:cNvSpPr/>
          <p:nvPr/>
        </p:nvSpPr>
        <p:spPr>
          <a:xfrm>
            <a:off x="723900" y="6172200"/>
            <a:ext cx="10744200" cy="685800"/>
          </a:xfrm>
          <a:prstGeom prst="rect">
            <a:avLst/>
          </a:prstGeom>
          <a:solidFill>
            <a:srgbClr val="000000">
              <a:alpha val="0"/>
            </a:srgbClr>
          </a:solidFill>
        </p:spPr>
      </p:sp>
      <p:sp>
        <p:nvSpPr>
          <p:cNvPr id="19" name="Shape 13"/>
          <p:cNvSpPr/>
          <p:nvPr/>
        </p:nvSpPr>
        <p:spPr>
          <a:xfrm>
            <a:off x="723900" y="6172200"/>
            <a:ext cx="10744200" cy="9525"/>
          </a:xfrm>
          <a:prstGeom prst="rect">
            <a:avLst/>
          </a:prstGeom>
          <a:solidFill>
            <a:srgbClr val="FFFFFF"/>
          </a:solidFill>
        </p:spPr>
      </p:sp>
      <p:sp>
        <p:nvSpPr>
          <p:cNvPr id="20" name="Text 14"/>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0:15–0:25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4905003" y="971551"/>
            <a:ext cx="2381920" cy="1198245"/>
          </a:xfrm>
          <a:prstGeom prst="rect">
            <a:avLst/>
          </a:prstGeom>
          <a:noFill/>
        </p:spPr>
        <p:txBody>
          <a:bodyPr wrap="square" lIns="0" tIns="1054608" rIns="0" bIns="0" rtlCol="0" anchor="t">
            <a:spAutoFit/>
          </a:bodyPr>
          <a:lstStyle/>
          <a:p>
            <a:pPr marL="0" indent="0" algn="ctr">
              <a:buNone/>
            </a:pPr>
            <a:r>
              <a:rPr lang="en-US" sz="935"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THE LINE THAT MATTERS</a:t>
            </a:r>
            <a:endParaRPr lang="en-US" sz="935" dirty="0"/>
          </a:p>
        </p:txBody>
      </p:sp>
      <p:sp>
        <p:nvSpPr>
          <p:cNvPr id="9" name="Text 3"/>
          <p:cNvSpPr/>
          <p:nvPr/>
        </p:nvSpPr>
        <p:spPr>
          <a:xfrm>
            <a:off x="1690688" y="2276475"/>
            <a:ext cx="8810625" cy="1372870"/>
          </a:xfrm>
          <a:prstGeom prst="rect">
            <a:avLst/>
          </a:prstGeom>
          <a:noFill/>
        </p:spPr>
        <p:txBody>
          <a:bodyPr wrap="square" lIns="0" tIns="0" rIns="0" bIns="0" rtlCol="0" anchor="t">
            <a:spAutoFit/>
          </a:bodyPr>
          <a:lstStyle/>
          <a:p>
            <a:pPr marL="0" indent="0" algn="ctr">
              <a:lnSpc>
                <a:spcPct val="93000"/>
              </a:lnSpc>
              <a:buNone/>
            </a:pPr>
            <a:r>
              <a:rPr lang="en-US" sz="3200"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difference between a security professional and a criminal is </a:t>
            </a:r>
            <a:r>
              <a:rPr lang="en-US" sz="3200" b="1" kern="0" spc="-1" dirty="0">
                <a:solidFill>
                  <a:srgbClr val="FF6B1A"/>
                </a:solidFill>
                <a:latin typeface="Arial" panose="020B0604020202020204" pitchFamily="34" charset="0"/>
                <a:ea typeface="Arial" panose="020B0604020202020204" pitchFamily="34" charset="-122"/>
                <a:cs typeface="Arial" panose="020B0604020202020204" pitchFamily="34" charset="-120"/>
              </a:rPr>
              <a:t>written permission.</a:t>
            </a:r>
            <a:r>
              <a:rPr lang="en-US" sz="3200"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3200" dirty="0"/>
          </a:p>
        </p:txBody>
      </p:sp>
      <p:sp>
        <p:nvSpPr>
          <p:cNvPr id="10" name="Text 4"/>
          <p:cNvSpPr/>
          <p:nvPr/>
        </p:nvSpPr>
        <p:spPr>
          <a:xfrm>
            <a:off x="4339159" y="4386709"/>
            <a:ext cx="3513609" cy="194310"/>
          </a:xfrm>
          <a:prstGeom prst="rect">
            <a:avLst/>
          </a:prstGeom>
          <a:noFill/>
        </p:spPr>
        <p:txBody>
          <a:bodyPr wrap="square" lIns="0" tIns="0" rIns="0" bIns="0" rtlCol="0" anchor="t">
            <a:spAutoFit/>
          </a:bodyPr>
          <a:lstStyle/>
          <a:p>
            <a:pPr marL="0" indent="0" algn="ctr">
              <a:buNone/>
            </a:pPr>
            <a:r>
              <a:rPr lang="en-US" sz="1265" b="1" dirty="0">
                <a:solidFill>
                  <a:srgbClr val="00D4FF"/>
                </a:solidFill>
                <a:latin typeface="Arial" panose="020B0604020202020204" pitchFamily="34" charset="0"/>
                <a:ea typeface="Arial" panose="020B0604020202020204" pitchFamily="34" charset="-122"/>
                <a:cs typeface="Arial" panose="020B0604020202020204" pitchFamily="34" charset="-120"/>
              </a:rPr>
              <a:t>Skill</a:t>
            </a:r>
            <a:r>
              <a:rPr lang="en-US" sz="1265" b="1" dirty="0">
                <a:solidFill>
                  <a:srgbClr val="AEB9C8"/>
                </a:solidFill>
                <a:latin typeface="Arial" panose="020B0604020202020204" pitchFamily="34" charset="0"/>
                <a:ea typeface="Arial" panose="020B0604020202020204" pitchFamily="34" charset="-122"/>
                <a:cs typeface="Arial" panose="020B0604020202020204" pitchFamily="34" charset="-120"/>
              </a:rPr>
              <a:t> is not the boundary. </a:t>
            </a:r>
            <a:r>
              <a:rPr lang="en-US" sz="1265" b="1" dirty="0">
                <a:solidFill>
                  <a:srgbClr val="00D4FF"/>
                </a:solidFill>
                <a:latin typeface="Arial" panose="020B0604020202020204" pitchFamily="34" charset="0"/>
                <a:ea typeface="Arial" panose="020B0604020202020204" pitchFamily="34" charset="-122"/>
                <a:cs typeface="Arial" panose="020B0604020202020204" pitchFamily="34" charset="-120"/>
              </a:rPr>
              <a:t>Permission</a:t>
            </a:r>
            <a:r>
              <a:rPr lang="en-US" sz="1265" b="1" dirty="0">
                <a:solidFill>
                  <a:srgbClr val="AEB9C8"/>
                </a:solidFill>
                <a:latin typeface="Arial" panose="020B0604020202020204" pitchFamily="34" charset="0"/>
                <a:ea typeface="Arial" panose="020B0604020202020204" pitchFamily="34" charset="-122"/>
                <a:cs typeface="Arial" panose="020B0604020202020204" pitchFamily="34" charset="-120"/>
              </a:rPr>
              <a:t> is.</a:t>
            </a:r>
            <a:endParaRPr lang="en-US" sz="1265" dirty="0"/>
          </a:p>
        </p:txBody>
      </p:sp>
      <p:sp>
        <p:nvSpPr>
          <p:cNvPr id="11" name="Shape 5"/>
          <p:cNvSpPr/>
          <p:nvPr/>
        </p:nvSpPr>
        <p:spPr>
          <a:xfrm>
            <a:off x="723900" y="6172200"/>
            <a:ext cx="10744200" cy="685800"/>
          </a:xfrm>
          <a:prstGeom prst="rect">
            <a:avLst/>
          </a:prstGeom>
          <a:solidFill>
            <a:srgbClr val="000000">
              <a:alpha val="0"/>
            </a:srgbClr>
          </a:solidFill>
        </p:spPr>
      </p:sp>
      <p:sp>
        <p:nvSpPr>
          <p:cNvPr id="12" name="Shape 6"/>
          <p:cNvSpPr/>
          <p:nvPr/>
        </p:nvSpPr>
        <p:spPr>
          <a:xfrm>
            <a:off x="723900" y="6172200"/>
            <a:ext cx="10744200" cy="9525"/>
          </a:xfrm>
          <a:prstGeom prst="rect">
            <a:avLst/>
          </a:prstGeom>
          <a:solidFill>
            <a:srgbClr val="FFFFFF"/>
          </a:solidFill>
        </p:spPr>
      </p:sp>
      <p:sp>
        <p:nvSpPr>
          <p:cNvPr id="13" name="Text 7"/>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0:15–0:25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952500" y="1428751"/>
            <a:ext cx="3048000" cy="144145"/>
          </a:xfrm>
          <a:prstGeom prst="rect">
            <a:avLst/>
          </a:prstGeom>
          <a:noFill/>
        </p:spPr>
        <p:txBody>
          <a:bodyPr wrap="square" lIns="0" tIns="0"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RECOVERY WORKFLOW</a:t>
            </a:r>
            <a:endParaRPr lang="en-US" sz="935" dirty="0"/>
          </a:p>
        </p:txBody>
      </p:sp>
      <p:sp>
        <p:nvSpPr>
          <p:cNvPr id="9" name="Text 3"/>
          <p:cNvSpPr/>
          <p:nvPr/>
        </p:nvSpPr>
        <p:spPr>
          <a:xfrm>
            <a:off x="952500" y="1685925"/>
            <a:ext cx="3048000" cy="824230"/>
          </a:xfrm>
          <a:prstGeom prst="rect">
            <a:avLst/>
          </a:prstGeom>
          <a:noFill/>
        </p:spPr>
        <p:txBody>
          <a:bodyPr wrap="square" lIns="0" tIns="0" rIns="0" bIns="0" rtlCol="0" anchor="t">
            <a:spAutoFit/>
          </a:bodyPr>
          <a:lstStyle/>
          <a:p>
            <a:pPr marL="0" indent="0" algn="l">
              <a:lnSpc>
                <a:spcPct val="82000"/>
              </a:lnSpc>
              <a:buNone/>
            </a:pPr>
            <a:r>
              <a:rPr lang="en-US" sz="32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Stuck Protocol.</a:t>
            </a:r>
            <a:endParaRPr lang="en-US" sz="3265" dirty="0"/>
          </a:p>
        </p:txBody>
      </p:sp>
      <p:sp>
        <p:nvSpPr>
          <p:cNvPr id="10" name="Text 4"/>
          <p:cNvSpPr/>
          <p:nvPr/>
        </p:nvSpPr>
        <p:spPr>
          <a:xfrm>
            <a:off x="952500" y="2789932"/>
            <a:ext cx="3048000" cy="667385"/>
          </a:xfrm>
          <a:prstGeom prst="rect">
            <a:avLst/>
          </a:prstGeom>
          <a:noFill/>
        </p:spPr>
        <p:txBody>
          <a:bodyPr wrap="square" lIns="0" tIns="0" rIns="0" bIns="0" rtlCol="0" anchor="t">
            <a:spAutoFit/>
          </a:bodyPr>
          <a:lstStyle/>
          <a:p>
            <a:pPr marL="0" indent="0" algn="l">
              <a:lnSpc>
                <a:spcPct val="108000"/>
              </a:lnSpc>
              <a:buNone/>
            </a:pPr>
            <a:r>
              <a:rPr lang="en-US" sz="1335" dirty="0">
                <a:solidFill>
                  <a:srgbClr val="A5B0C3"/>
                </a:solidFill>
                <a:latin typeface="Arial" panose="020B0604020202020204" pitchFamily="34" charset="0"/>
                <a:ea typeface="Arial" panose="020B0604020202020204" pitchFamily="34" charset="-122"/>
                <a:cs typeface="Arial" panose="020B0604020202020204" pitchFamily="34" charset="-120"/>
              </a:rPr>
              <a:t>Screenshot this slide. Frustration is normal; the next action should be deliberate.</a:t>
            </a:r>
            <a:endParaRPr lang="en-US" sz="1335" dirty="0"/>
          </a:p>
        </p:txBody>
      </p:sp>
      <p:sp>
        <p:nvSpPr>
          <p:cNvPr id="11" name="Text 5"/>
          <p:cNvSpPr/>
          <p:nvPr/>
        </p:nvSpPr>
        <p:spPr>
          <a:xfrm>
            <a:off x="952500" y="3980036"/>
            <a:ext cx="2099310" cy="178435"/>
          </a:xfrm>
          <a:prstGeom prst="rect">
            <a:avLst/>
          </a:prstGeom>
          <a:noFill/>
        </p:spPr>
        <p:txBody>
          <a:bodyPr wrap="none" lIns="0" tIns="0" rIns="0" bIns="0" rtlCol="0" anchor="t">
            <a:spAutoFit/>
          </a:bodyPr>
          <a:lstStyle/>
          <a:p>
            <a:pPr marL="0" indent="0" algn="l">
              <a:lnSpc>
                <a:spcPct val="109000"/>
              </a:lnSpc>
              <a:buNone/>
            </a:pPr>
            <a:r>
              <a:rPr lang="en-US" sz="1065" b="1" dirty="0">
                <a:solidFill>
                  <a:srgbClr val="FF8A4B"/>
                </a:solidFill>
                <a:latin typeface="Arial" panose="020B0604020202020204" pitchFamily="34" charset="0"/>
                <a:ea typeface="Arial" panose="020B0604020202020204" pitchFamily="34" charset="-122"/>
                <a:cs typeface="Arial" panose="020B0604020202020204" pitchFamily="34" charset="-120"/>
              </a:rPr>
              <a:t>DO NOT SKIP TO THE ANSWER.</a:t>
            </a:r>
            <a:endParaRPr lang="en-US" sz="1065" dirty="0"/>
          </a:p>
        </p:txBody>
      </p:sp>
      <p:sp>
        <p:nvSpPr>
          <p:cNvPr id="12" name="Text 6"/>
          <p:cNvSpPr/>
          <p:nvPr/>
        </p:nvSpPr>
        <p:spPr>
          <a:xfrm>
            <a:off x="952500" y="4339679"/>
            <a:ext cx="3048000" cy="398780"/>
          </a:xfrm>
          <a:prstGeom prst="rect">
            <a:avLst/>
          </a:prstGeom>
          <a:noFill/>
        </p:spPr>
        <p:txBody>
          <a:bodyPr wrap="square" lIns="0" tIns="0" rIns="0" bIns="0" rtlCol="0" anchor="t">
            <a:spAutoFit/>
          </a:bodyPr>
          <a:lstStyle/>
          <a:p>
            <a:pPr marL="0" indent="0" algn="l">
              <a:lnSpc>
                <a:spcPct val="114000"/>
              </a:lnSpc>
              <a:buNone/>
            </a:pPr>
            <a:r>
              <a:rPr lang="en-US" sz="1135" dirty="0">
                <a:solidFill>
                  <a:srgbClr val="8996AA"/>
                </a:solidFill>
                <a:latin typeface="Arial" panose="020B0604020202020204" pitchFamily="34" charset="0"/>
                <a:ea typeface="Arial" panose="020B0604020202020204" pitchFamily="34" charset="-122"/>
                <a:cs typeface="Arial" panose="020B0604020202020204" pitchFamily="34" charset="-120"/>
              </a:rPr>
              <a:t>A professional records evidence, tests a concept, and asks for help with context.</a:t>
            </a:r>
            <a:endParaRPr lang="en-US" sz="1135" dirty="0"/>
          </a:p>
        </p:txBody>
      </p:sp>
      <p:sp>
        <p:nvSpPr>
          <p:cNvPr id="13" name="Shape 7"/>
          <p:cNvSpPr/>
          <p:nvPr/>
        </p:nvSpPr>
        <p:spPr>
          <a:xfrm>
            <a:off x="4924425" y="1666875"/>
            <a:ext cx="9525" cy="3914775"/>
          </a:xfrm>
          <a:prstGeom prst="rect">
            <a:avLst/>
          </a:prstGeom>
          <a:solidFill>
            <a:srgbClr val="00D4FF">
              <a:alpha val="50000"/>
            </a:srgbClr>
          </a:solidFill>
        </p:spPr>
      </p:sp>
      <p:sp>
        <p:nvSpPr>
          <p:cNvPr id="14" name="Shape 8"/>
          <p:cNvSpPr/>
          <p:nvPr/>
        </p:nvSpPr>
        <p:spPr>
          <a:xfrm>
            <a:off x="4686300" y="1419225"/>
            <a:ext cx="485775" cy="485775"/>
          </a:xfrm>
          <a:prstGeom prst="rect">
            <a:avLst/>
          </a:prstGeom>
          <a:solidFill>
            <a:srgbClr val="071525"/>
          </a:solidFill>
          <a:ln w="9144">
            <a:solidFill>
              <a:srgbClr val="00D4FF"/>
            </a:solidFill>
            <a:prstDash val="solid"/>
          </a:ln>
        </p:spPr>
      </p:sp>
      <p:sp>
        <p:nvSpPr>
          <p:cNvPr id="15" name="Text 9"/>
          <p:cNvSpPr/>
          <p:nvPr/>
        </p:nvSpPr>
        <p:spPr>
          <a:xfrm>
            <a:off x="4845367" y="1570038"/>
            <a:ext cx="167640" cy="184150"/>
          </a:xfrm>
          <a:prstGeom prst="rect">
            <a:avLst/>
          </a:prstGeom>
          <a:noFill/>
        </p:spPr>
        <p:txBody>
          <a:bodyPr wrap="none" lIns="0" tIns="0" rIns="0" bIns="0" rtlCol="0" anchor="ctr">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01</a:t>
            </a:r>
            <a:endParaRPr lang="en-US" sz="1200" dirty="0"/>
          </a:p>
        </p:txBody>
      </p:sp>
      <p:sp>
        <p:nvSpPr>
          <p:cNvPr id="16" name="Text 10"/>
          <p:cNvSpPr/>
          <p:nvPr/>
        </p:nvSpPr>
        <p:spPr>
          <a:xfrm>
            <a:off x="5410200" y="1419597"/>
            <a:ext cx="2089150"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Try alone — 15 minutes</a:t>
            </a:r>
            <a:endParaRPr lang="en-US" sz="1465" dirty="0"/>
          </a:p>
        </p:txBody>
      </p:sp>
      <p:sp>
        <p:nvSpPr>
          <p:cNvPr id="17" name="Text 11"/>
          <p:cNvSpPr/>
          <p:nvPr/>
        </p:nvSpPr>
        <p:spPr>
          <a:xfrm>
            <a:off x="5410200" y="1718667"/>
            <a:ext cx="2984500" cy="171450"/>
          </a:xfrm>
          <a:prstGeom prst="rect">
            <a:avLst/>
          </a:prstGeom>
          <a:noFill/>
        </p:spPr>
        <p:txBody>
          <a:bodyPr wrap="none" lIns="0" tIns="0" rIns="0" bIns="0" rtlCol="0" anchor="t">
            <a:spAutoFit/>
          </a:bodyPr>
          <a:lstStyle/>
          <a:p>
            <a:pPr marL="0" indent="0" algn="l">
              <a:lnSpc>
                <a:spcPct val="98000"/>
              </a:lnSpc>
              <a:buNone/>
            </a:pPr>
            <a:r>
              <a:rPr lang="en-US" sz="1135" dirty="0">
                <a:solidFill>
                  <a:srgbClr val="92A0B3"/>
                </a:solidFill>
                <a:latin typeface="Arial" panose="020B0604020202020204" pitchFamily="34" charset="0"/>
                <a:ea typeface="Arial" panose="020B0604020202020204" pitchFamily="34" charset="-122"/>
                <a:cs typeface="Arial" panose="020B0604020202020204" pitchFamily="34" charset="-120"/>
              </a:rPr>
              <a:t>Make a hypothesis. Test it. Observe the result.</a:t>
            </a:r>
            <a:endParaRPr lang="en-US" sz="1135" dirty="0"/>
          </a:p>
        </p:txBody>
      </p:sp>
      <p:sp>
        <p:nvSpPr>
          <p:cNvPr id="18" name="Shape 12"/>
          <p:cNvSpPr/>
          <p:nvPr/>
        </p:nvSpPr>
        <p:spPr>
          <a:xfrm>
            <a:off x="4686300" y="2459831"/>
            <a:ext cx="485775" cy="485775"/>
          </a:xfrm>
          <a:prstGeom prst="rect">
            <a:avLst/>
          </a:prstGeom>
          <a:solidFill>
            <a:srgbClr val="071525"/>
          </a:solidFill>
          <a:ln w="9144">
            <a:solidFill>
              <a:srgbClr val="00D4FF"/>
            </a:solidFill>
            <a:prstDash val="solid"/>
          </a:ln>
        </p:spPr>
      </p:sp>
      <p:sp>
        <p:nvSpPr>
          <p:cNvPr id="19" name="Text 13"/>
          <p:cNvSpPr/>
          <p:nvPr/>
        </p:nvSpPr>
        <p:spPr>
          <a:xfrm>
            <a:off x="4845367" y="2610643"/>
            <a:ext cx="167640" cy="184150"/>
          </a:xfrm>
          <a:prstGeom prst="rect">
            <a:avLst/>
          </a:prstGeom>
          <a:noFill/>
        </p:spPr>
        <p:txBody>
          <a:bodyPr wrap="none" lIns="0" tIns="0" rIns="0" bIns="0" rtlCol="0" anchor="ctr">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02</a:t>
            </a:r>
            <a:endParaRPr lang="en-US" sz="1200" dirty="0"/>
          </a:p>
        </p:txBody>
      </p:sp>
      <p:sp>
        <p:nvSpPr>
          <p:cNvPr id="20" name="Text 14"/>
          <p:cNvSpPr/>
          <p:nvPr/>
        </p:nvSpPr>
        <p:spPr>
          <a:xfrm>
            <a:off x="5410200" y="2460203"/>
            <a:ext cx="3004820"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Re-read the challenge description</a:t>
            </a:r>
            <a:endParaRPr lang="en-US" sz="1465" dirty="0"/>
          </a:p>
        </p:txBody>
      </p:sp>
      <p:sp>
        <p:nvSpPr>
          <p:cNvPr id="21" name="Text 15"/>
          <p:cNvSpPr/>
          <p:nvPr/>
        </p:nvSpPr>
        <p:spPr>
          <a:xfrm>
            <a:off x="5410200" y="2759273"/>
            <a:ext cx="2560320" cy="171450"/>
          </a:xfrm>
          <a:prstGeom prst="rect">
            <a:avLst/>
          </a:prstGeom>
          <a:noFill/>
        </p:spPr>
        <p:txBody>
          <a:bodyPr wrap="none" lIns="0" tIns="0" rIns="0" bIns="0" rtlCol="0" anchor="t">
            <a:spAutoFit/>
          </a:bodyPr>
          <a:lstStyle/>
          <a:p>
            <a:pPr marL="0" indent="0" algn="l">
              <a:lnSpc>
                <a:spcPct val="98000"/>
              </a:lnSpc>
              <a:buNone/>
            </a:pPr>
            <a:r>
              <a:rPr lang="en-US" sz="1135" dirty="0">
                <a:solidFill>
                  <a:srgbClr val="92A0B3"/>
                </a:solidFill>
                <a:latin typeface="Arial" panose="020B0604020202020204" pitchFamily="34" charset="0"/>
                <a:ea typeface="Arial" panose="020B0604020202020204" pitchFamily="34" charset="-122"/>
                <a:cs typeface="Arial" panose="020B0604020202020204" pitchFamily="34" charset="-120"/>
              </a:rPr>
              <a:t>The clue is often already in the wording.</a:t>
            </a:r>
            <a:endParaRPr lang="en-US" sz="1135" dirty="0"/>
          </a:p>
        </p:txBody>
      </p:sp>
      <p:sp>
        <p:nvSpPr>
          <p:cNvPr id="22" name="Shape 16"/>
          <p:cNvSpPr/>
          <p:nvPr/>
        </p:nvSpPr>
        <p:spPr>
          <a:xfrm>
            <a:off x="4686300" y="3500437"/>
            <a:ext cx="485775" cy="485775"/>
          </a:xfrm>
          <a:prstGeom prst="rect">
            <a:avLst/>
          </a:prstGeom>
          <a:solidFill>
            <a:srgbClr val="071525"/>
          </a:solidFill>
          <a:ln w="9144">
            <a:solidFill>
              <a:srgbClr val="00D4FF"/>
            </a:solidFill>
            <a:prstDash val="solid"/>
          </a:ln>
        </p:spPr>
      </p:sp>
      <p:sp>
        <p:nvSpPr>
          <p:cNvPr id="23" name="Text 17"/>
          <p:cNvSpPr/>
          <p:nvPr/>
        </p:nvSpPr>
        <p:spPr>
          <a:xfrm>
            <a:off x="4845367" y="3651250"/>
            <a:ext cx="167640" cy="184150"/>
          </a:xfrm>
          <a:prstGeom prst="rect">
            <a:avLst/>
          </a:prstGeom>
          <a:noFill/>
        </p:spPr>
        <p:txBody>
          <a:bodyPr wrap="none" lIns="0" tIns="0" rIns="0" bIns="0" rtlCol="0" anchor="ctr">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03</a:t>
            </a:r>
            <a:endParaRPr lang="en-US" sz="1200" dirty="0"/>
          </a:p>
        </p:txBody>
      </p:sp>
      <p:sp>
        <p:nvSpPr>
          <p:cNvPr id="24" name="Text 18"/>
          <p:cNvSpPr/>
          <p:nvPr/>
        </p:nvSpPr>
        <p:spPr>
          <a:xfrm>
            <a:off x="5410200" y="3500809"/>
            <a:ext cx="3909695"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Search the concept, not the challenge name</a:t>
            </a:r>
            <a:endParaRPr lang="en-US" sz="1465" dirty="0"/>
          </a:p>
        </p:txBody>
      </p:sp>
      <p:sp>
        <p:nvSpPr>
          <p:cNvPr id="25" name="Text 19"/>
          <p:cNvSpPr/>
          <p:nvPr/>
        </p:nvSpPr>
        <p:spPr>
          <a:xfrm>
            <a:off x="5410200" y="3799880"/>
            <a:ext cx="3043555" cy="171450"/>
          </a:xfrm>
          <a:prstGeom prst="rect">
            <a:avLst/>
          </a:prstGeom>
          <a:noFill/>
        </p:spPr>
        <p:txBody>
          <a:bodyPr wrap="none" lIns="0" tIns="0" rIns="0" bIns="0" rtlCol="0" anchor="t">
            <a:spAutoFit/>
          </a:bodyPr>
          <a:lstStyle/>
          <a:p>
            <a:pPr marL="0" indent="0" algn="l">
              <a:lnSpc>
                <a:spcPct val="98000"/>
              </a:lnSpc>
              <a:buNone/>
            </a:pPr>
            <a:r>
              <a:rPr lang="en-US" sz="1135" dirty="0">
                <a:solidFill>
                  <a:srgbClr val="92A0B3"/>
                </a:solidFill>
                <a:latin typeface="Arial" panose="020B0604020202020204" pitchFamily="34" charset="0"/>
                <a:ea typeface="Arial" panose="020B0604020202020204" pitchFamily="34" charset="-122"/>
                <a:cs typeface="Arial" panose="020B0604020202020204" pitchFamily="34" charset="-120"/>
              </a:rPr>
              <a:t>Learn the method, not someone else’s solution.</a:t>
            </a:r>
            <a:endParaRPr lang="en-US" sz="1135" dirty="0"/>
          </a:p>
        </p:txBody>
      </p:sp>
      <p:sp>
        <p:nvSpPr>
          <p:cNvPr id="26" name="Shape 20"/>
          <p:cNvSpPr/>
          <p:nvPr/>
        </p:nvSpPr>
        <p:spPr>
          <a:xfrm>
            <a:off x="4686300" y="4541044"/>
            <a:ext cx="485775" cy="485775"/>
          </a:xfrm>
          <a:prstGeom prst="rect">
            <a:avLst/>
          </a:prstGeom>
          <a:solidFill>
            <a:srgbClr val="071525"/>
          </a:solidFill>
          <a:ln w="9144">
            <a:solidFill>
              <a:srgbClr val="00D4FF"/>
            </a:solidFill>
            <a:prstDash val="solid"/>
          </a:ln>
        </p:spPr>
      </p:sp>
      <p:sp>
        <p:nvSpPr>
          <p:cNvPr id="27" name="Text 21"/>
          <p:cNvSpPr/>
          <p:nvPr/>
        </p:nvSpPr>
        <p:spPr>
          <a:xfrm>
            <a:off x="4845367" y="4691856"/>
            <a:ext cx="167640" cy="184150"/>
          </a:xfrm>
          <a:prstGeom prst="rect">
            <a:avLst/>
          </a:prstGeom>
          <a:noFill/>
        </p:spPr>
        <p:txBody>
          <a:bodyPr wrap="none" lIns="0" tIns="0" rIns="0" bIns="0" rtlCol="0" anchor="ctr">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04</a:t>
            </a:r>
            <a:endParaRPr lang="en-US" sz="1200" dirty="0"/>
          </a:p>
        </p:txBody>
      </p:sp>
      <p:sp>
        <p:nvSpPr>
          <p:cNvPr id="28" name="Text 22"/>
          <p:cNvSpPr/>
          <p:nvPr/>
        </p:nvSpPr>
        <p:spPr>
          <a:xfrm>
            <a:off x="5410200" y="4541416"/>
            <a:ext cx="1257300"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Ask the group</a:t>
            </a:r>
            <a:endParaRPr lang="en-US" sz="1465" dirty="0"/>
          </a:p>
        </p:txBody>
      </p:sp>
      <p:sp>
        <p:nvSpPr>
          <p:cNvPr id="29" name="Text 23"/>
          <p:cNvSpPr/>
          <p:nvPr/>
        </p:nvSpPr>
        <p:spPr>
          <a:xfrm>
            <a:off x="5410200" y="4840485"/>
            <a:ext cx="3277870" cy="171450"/>
          </a:xfrm>
          <a:prstGeom prst="rect">
            <a:avLst/>
          </a:prstGeom>
          <a:noFill/>
        </p:spPr>
        <p:txBody>
          <a:bodyPr wrap="none" lIns="0" tIns="0" rIns="0" bIns="0" rtlCol="0" anchor="t">
            <a:spAutoFit/>
          </a:bodyPr>
          <a:lstStyle/>
          <a:p>
            <a:pPr marL="0" indent="0" algn="l">
              <a:lnSpc>
                <a:spcPct val="98000"/>
              </a:lnSpc>
              <a:buNone/>
            </a:pPr>
            <a:r>
              <a:rPr lang="en-US" sz="1135" dirty="0">
                <a:solidFill>
                  <a:srgbClr val="92A0B3"/>
                </a:solidFill>
                <a:latin typeface="Arial" panose="020B0604020202020204" pitchFamily="34" charset="0"/>
                <a:ea typeface="Arial" panose="020B0604020202020204" pitchFamily="34" charset="-122"/>
                <a:cs typeface="Arial" panose="020B0604020202020204" pitchFamily="34" charset="-120"/>
              </a:rPr>
              <a:t>Include what you already tried and what happened.</a:t>
            </a:r>
            <a:endParaRPr lang="en-US" sz="1135" dirty="0"/>
          </a:p>
        </p:txBody>
      </p:sp>
      <p:sp>
        <p:nvSpPr>
          <p:cNvPr id="30" name="Shape 24"/>
          <p:cNvSpPr/>
          <p:nvPr/>
        </p:nvSpPr>
        <p:spPr>
          <a:xfrm>
            <a:off x="4686300" y="5581651"/>
            <a:ext cx="485775" cy="485775"/>
          </a:xfrm>
          <a:prstGeom prst="rect">
            <a:avLst/>
          </a:prstGeom>
          <a:solidFill>
            <a:srgbClr val="071525"/>
          </a:solidFill>
          <a:ln w="9144">
            <a:solidFill>
              <a:srgbClr val="00D4FF"/>
            </a:solidFill>
            <a:prstDash val="solid"/>
          </a:ln>
        </p:spPr>
      </p:sp>
      <p:sp>
        <p:nvSpPr>
          <p:cNvPr id="31" name="Text 25"/>
          <p:cNvSpPr/>
          <p:nvPr/>
        </p:nvSpPr>
        <p:spPr>
          <a:xfrm>
            <a:off x="4845367" y="5732463"/>
            <a:ext cx="167640" cy="184150"/>
          </a:xfrm>
          <a:prstGeom prst="rect">
            <a:avLst/>
          </a:prstGeom>
          <a:noFill/>
        </p:spPr>
        <p:txBody>
          <a:bodyPr wrap="none" lIns="0" tIns="0" rIns="0" bIns="0" rtlCol="0" anchor="ctr">
            <a:spAutoFit/>
          </a:bodyPr>
          <a:lstStyle/>
          <a:p>
            <a:pPr marL="0" indent="0" algn="ctr">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05</a:t>
            </a:r>
            <a:endParaRPr lang="en-US" sz="1200" dirty="0"/>
          </a:p>
        </p:txBody>
      </p:sp>
      <p:sp>
        <p:nvSpPr>
          <p:cNvPr id="32" name="Text 26"/>
          <p:cNvSpPr/>
          <p:nvPr/>
        </p:nvSpPr>
        <p:spPr>
          <a:xfrm>
            <a:off x="5410200" y="5582023"/>
            <a:ext cx="2068830"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Then ask the instructor</a:t>
            </a:r>
            <a:endParaRPr lang="en-US" sz="1465" dirty="0"/>
          </a:p>
        </p:txBody>
      </p:sp>
      <p:sp>
        <p:nvSpPr>
          <p:cNvPr id="33" name="Text 27"/>
          <p:cNvSpPr/>
          <p:nvPr/>
        </p:nvSpPr>
        <p:spPr>
          <a:xfrm>
            <a:off x="5410200" y="5881092"/>
            <a:ext cx="3019425" cy="171450"/>
          </a:xfrm>
          <a:prstGeom prst="rect">
            <a:avLst/>
          </a:prstGeom>
          <a:noFill/>
        </p:spPr>
        <p:txBody>
          <a:bodyPr wrap="none" lIns="0" tIns="0" rIns="0" bIns="0" rtlCol="0" anchor="t">
            <a:spAutoFit/>
          </a:bodyPr>
          <a:lstStyle/>
          <a:p>
            <a:pPr marL="0" indent="0" algn="l">
              <a:lnSpc>
                <a:spcPct val="98000"/>
              </a:lnSpc>
              <a:buNone/>
            </a:pPr>
            <a:r>
              <a:rPr lang="en-US" sz="1135" dirty="0">
                <a:solidFill>
                  <a:srgbClr val="92A0B3"/>
                </a:solidFill>
                <a:latin typeface="Arial" panose="020B0604020202020204" pitchFamily="34" charset="0"/>
                <a:ea typeface="Arial" panose="020B0604020202020204" pitchFamily="34" charset="-122"/>
                <a:cs typeface="Arial" panose="020B0604020202020204" pitchFamily="34" charset="-120"/>
              </a:rPr>
              <a:t>Bring your evidence. Ask one precise question.</a:t>
            </a:r>
            <a:endParaRPr lang="en-US" sz="1135" dirty="0"/>
          </a:p>
        </p:txBody>
      </p:sp>
      <p:sp>
        <p:nvSpPr>
          <p:cNvPr id="34" name="Shape 28"/>
          <p:cNvSpPr/>
          <p:nvPr/>
        </p:nvSpPr>
        <p:spPr>
          <a:xfrm>
            <a:off x="723900" y="6172200"/>
            <a:ext cx="10744200" cy="685800"/>
          </a:xfrm>
          <a:prstGeom prst="rect">
            <a:avLst/>
          </a:prstGeom>
          <a:solidFill>
            <a:srgbClr val="000000">
              <a:alpha val="0"/>
            </a:srgbClr>
          </a:solidFill>
        </p:spPr>
      </p:sp>
      <p:sp>
        <p:nvSpPr>
          <p:cNvPr id="35" name="Shape 29"/>
          <p:cNvSpPr/>
          <p:nvPr/>
        </p:nvSpPr>
        <p:spPr>
          <a:xfrm>
            <a:off x="723900" y="6172200"/>
            <a:ext cx="10744200" cy="9525"/>
          </a:xfrm>
          <a:prstGeom prst="rect">
            <a:avLst/>
          </a:prstGeom>
          <a:solidFill>
            <a:srgbClr val="FFFFFF"/>
          </a:solidFill>
        </p:spPr>
      </p:sp>
      <p:sp>
        <p:nvSpPr>
          <p:cNvPr id="36" name="Text 30"/>
          <p:cNvSpPr/>
          <p:nvPr/>
        </p:nvSpPr>
        <p:spPr>
          <a:xfrm>
            <a:off x="723900" y="6343651"/>
            <a:ext cx="4241007" cy="163830"/>
          </a:xfrm>
          <a:prstGeom prst="rect">
            <a:avLst/>
          </a:prstGeom>
          <a:noFill/>
        </p:spPr>
        <p:txBody>
          <a:bodyPr wrap="square" lIns="0" tIns="0" rIns="0" bIns="0" rtlCol="0" anchor="t">
            <a:spAutoFit/>
          </a:bodyPr>
          <a:lstStyle/>
          <a:p>
            <a:pPr marL="0" indent="0" algn="l">
              <a:buNone/>
            </a:pPr>
            <a:r>
              <a:rPr lang="en-US" sz="1065" b="1" dirty="0">
                <a:solidFill>
                  <a:srgbClr val="FF6B1A"/>
                </a:solidFill>
                <a:latin typeface="Arial" panose="020B0604020202020204" pitchFamily="34" charset="0"/>
                <a:ea typeface="Arial" panose="020B0604020202020204" pitchFamily="34" charset="-122"/>
                <a:cs typeface="Arial" panose="020B0604020202020204" pitchFamily="34" charset="-120"/>
              </a:rPr>
              <a:t>DON’T QUIT AT MINUTE 3. DON’T GRIND FOR 4 HOURS.</a:t>
            </a:r>
            <a:endParaRPr lang="en-US" sz="1065" dirty="0"/>
          </a:p>
        </p:txBody>
      </p:sp>
      <p:sp>
        <p:nvSpPr>
          <p:cNvPr id="37" name="Text 31"/>
          <p:cNvSpPr/>
          <p:nvPr/>
        </p:nvSpPr>
        <p:spPr>
          <a:xfrm>
            <a:off x="10874797" y="6343651"/>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0:15–0:25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4333205" y="2380357"/>
            <a:ext cx="3525515" cy="153670"/>
          </a:xfrm>
          <a:prstGeom prst="rect">
            <a:avLst/>
          </a:prstGeom>
          <a:noFill/>
        </p:spPr>
        <p:txBody>
          <a:bodyPr wrap="square" lIns="0" tIns="0" rIns="0" bIns="0" rtlCol="0" anchor="t">
            <a:spAutoFit/>
          </a:bodyPr>
          <a:lstStyle/>
          <a:p>
            <a:pPr marL="0" indent="0" algn="ctr">
              <a:buNone/>
            </a:pPr>
            <a:r>
              <a:rPr lang="en-US" sz="1000" b="1" kern="0" spc="3" dirty="0">
                <a:solidFill>
                  <a:srgbClr val="FF6B1A"/>
                </a:solidFill>
                <a:latin typeface="Arial" panose="020B0604020202020204" pitchFamily="34" charset="0"/>
                <a:ea typeface="Arial" panose="020B0604020202020204" pitchFamily="34" charset="-122"/>
                <a:cs typeface="Arial" panose="020B0604020202020204" pitchFamily="34" charset="-120"/>
              </a:rPr>
              <a:t>SECTION 02 — HANDS-ON BASICS</a:t>
            </a:r>
            <a:endParaRPr lang="en-US" sz="1000" dirty="0"/>
          </a:p>
        </p:txBody>
      </p:sp>
      <p:sp>
        <p:nvSpPr>
          <p:cNvPr id="9" name="Text 3"/>
          <p:cNvSpPr/>
          <p:nvPr/>
        </p:nvSpPr>
        <p:spPr>
          <a:xfrm>
            <a:off x="3058160" y="2770883"/>
            <a:ext cx="6075680" cy="679450"/>
          </a:xfrm>
          <a:prstGeom prst="rect">
            <a:avLst/>
          </a:prstGeom>
          <a:noFill/>
        </p:spPr>
        <p:txBody>
          <a:bodyPr wrap="none" lIns="0" tIns="0" rIns="0" bIns="0" rtlCol="0" anchor="t">
            <a:spAutoFit/>
          </a:bodyPr>
          <a:lstStyle/>
          <a:p>
            <a:pPr marL="0" indent="0" algn="ctr">
              <a:lnSpc>
                <a:spcPct val="77000"/>
              </a:lnSpc>
              <a:buNone/>
            </a:pPr>
            <a:r>
              <a:rPr lang="en-US" sz="5735" b="1" kern="0" spc="-2" dirty="0">
                <a:solidFill>
                  <a:srgbClr val="FFFFFF"/>
                </a:solidFill>
                <a:latin typeface="Arial" panose="020B0604020202020204" pitchFamily="34" charset="0"/>
                <a:ea typeface="Arial" panose="020B0604020202020204" pitchFamily="34" charset="-122"/>
                <a:cs typeface="Arial" panose="020B0604020202020204" pitchFamily="34" charset="-120"/>
              </a:rPr>
              <a:t>LINUX SURVIVAL</a:t>
            </a:r>
            <a:endParaRPr lang="en-US" sz="5735" dirty="0"/>
          </a:p>
        </p:txBody>
      </p:sp>
      <p:sp>
        <p:nvSpPr>
          <p:cNvPr id="10" name="Text 4"/>
          <p:cNvSpPr/>
          <p:nvPr/>
        </p:nvSpPr>
        <p:spPr>
          <a:xfrm>
            <a:off x="3732015" y="4034656"/>
            <a:ext cx="4727972" cy="245745"/>
          </a:xfrm>
          <a:prstGeom prst="rect">
            <a:avLst/>
          </a:prstGeom>
          <a:noFill/>
        </p:spPr>
        <p:txBody>
          <a:bodyPr wrap="square" lIns="0" tIns="0" rIns="0" bIns="0" rtlCol="0" anchor="t">
            <a:spAutoFit/>
          </a:bodyPr>
          <a:lstStyle/>
          <a:p>
            <a:pPr marL="0" indent="0" algn="ctr">
              <a:buNone/>
            </a:pPr>
            <a:r>
              <a:rPr lang="en-US" sz="16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8 commands. That’s all you need today.</a:t>
            </a:r>
            <a:endParaRPr lang="en-US" sz="1600" dirty="0"/>
          </a:p>
        </p:txBody>
      </p:sp>
      <p:sp>
        <p:nvSpPr>
          <p:cNvPr id="11" name="Text 5"/>
          <p:cNvSpPr/>
          <p:nvPr/>
        </p:nvSpPr>
        <p:spPr>
          <a:xfrm>
            <a:off x="5044232" y="4601393"/>
            <a:ext cx="2103463" cy="163830"/>
          </a:xfrm>
          <a:prstGeom prst="rect">
            <a:avLst/>
          </a:prstGeom>
          <a:noFill/>
        </p:spPr>
        <p:txBody>
          <a:bodyPr wrap="square" lIns="0" tIns="0" rIns="0" bIns="0" rtlCol="0" anchor="t">
            <a:spAutoFit/>
          </a:bodyPr>
          <a:lstStyle/>
          <a:p>
            <a:pPr marL="0" indent="0" algn="ctr">
              <a:buNone/>
            </a:pPr>
            <a:r>
              <a:rPr lang="en-US" sz="1065" dirty="0">
                <a:solidFill>
                  <a:srgbClr val="8A96AA"/>
                </a:solidFill>
                <a:latin typeface="Consolas" panose="020B0609020204030204" pitchFamily="34" charset="0"/>
                <a:ea typeface="Consolas" panose="020B0609020204030204" pitchFamily="34" charset="-122"/>
                <a:cs typeface="Consolas" panose="020B0609020204030204" pitchFamily="34" charset="-120"/>
              </a:rPr>
              <a:t>TYPE → OBSERVE → REPEAT</a:t>
            </a:r>
            <a:endParaRPr lang="en-US" sz="1065" dirty="0"/>
          </a:p>
        </p:txBody>
      </p:sp>
      <p:sp>
        <p:nvSpPr>
          <p:cNvPr id="12" name="Shape 6"/>
          <p:cNvSpPr/>
          <p:nvPr/>
        </p:nvSpPr>
        <p:spPr>
          <a:xfrm>
            <a:off x="723900" y="6172200"/>
            <a:ext cx="10744200" cy="685800"/>
          </a:xfrm>
          <a:prstGeom prst="rect">
            <a:avLst/>
          </a:prstGeom>
          <a:solidFill>
            <a:srgbClr val="000000">
              <a:alpha val="0"/>
            </a:srgbClr>
          </a:solidFill>
        </p:spPr>
      </p:sp>
      <p:sp>
        <p:nvSpPr>
          <p:cNvPr id="13" name="Shape 7"/>
          <p:cNvSpPr/>
          <p:nvPr/>
        </p:nvSpPr>
        <p:spPr>
          <a:xfrm>
            <a:off x="723900" y="6172200"/>
            <a:ext cx="10744200" cy="9525"/>
          </a:xfrm>
          <a:prstGeom prst="rect">
            <a:avLst/>
          </a:prstGeom>
          <a:solidFill>
            <a:srgbClr val="FFFFFF"/>
          </a:solidFill>
        </p:spPr>
      </p:sp>
      <p:sp>
        <p:nvSpPr>
          <p:cNvPr id="14" name="Text 8"/>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0:25–0:42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857251" y="971551"/>
            <a:ext cx="10477500" cy="472440"/>
          </a:xfrm>
          <a:prstGeom prst="rect">
            <a:avLst/>
          </a:prstGeom>
          <a:noFill/>
        </p:spPr>
        <p:txBody>
          <a:bodyPr wrap="square" lIns="0" tIns="328845" rIns="0" bIns="0" rtlCol="0" anchor="t">
            <a:spAutoFit/>
          </a:bodyPr>
          <a:lstStyle/>
          <a:p>
            <a:pPr marL="0" indent="0" algn="l">
              <a:buNone/>
            </a:pPr>
            <a:r>
              <a:rPr lang="en-US" sz="935"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LINUX SURVIVAL</a:t>
            </a:r>
            <a:endParaRPr lang="en-US" sz="935" dirty="0"/>
          </a:p>
        </p:txBody>
      </p:sp>
      <p:sp>
        <p:nvSpPr>
          <p:cNvPr id="9" name="Text 3"/>
          <p:cNvSpPr/>
          <p:nvPr/>
        </p:nvSpPr>
        <p:spPr>
          <a:xfrm>
            <a:off x="857251" y="1476375"/>
            <a:ext cx="3433445" cy="408305"/>
          </a:xfrm>
          <a:prstGeom prst="rect">
            <a:avLst/>
          </a:prstGeom>
          <a:noFill/>
        </p:spPr>
        <p:txBody>
          <a:bodyPr wrap="none" lIns="0" tIns="0" rIns="0" bIns="0" rtlCol="0" anchor="t">
            <a:spAutoFit/>
          </a:bodyPr>
          <a:lstStyle/>
          <a:p>
            <a:pPr marL="0" indent="0" algn="l">
              <a:lnSpc>
                <a:spcPct val="83000"/>
              </a:lnSpc>
              <a:buNone/>
            </a:pPr>
            <a:r>
              <a:rPr lang="en-US" sz="3200"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8 commands.</a:t>
            </a:r>
            <a:endParaRPr lang="en-US" sz="3200" dirty="0"/>
          </a:p>
        </p:txBody>
      </p:sp>
      <p:sp>
        <p:nvSpPr>
          <p:cNvPr id="10" name="Text 4"/>
          <p:cNvSpPr/>
          <p:nvPr/>
        </p:nvSpPr>
        <p:spPr>
          <a:xfrm>
            <a:off x="9504387" y="1719263"/>
            <a:ext cx="1830363" cy="184150"/>
          </a:xfrm>
          <a:prstGeom prst="rect">
            <a:avLst/>
          </a:prstGeom>
          <a:noFill/>
        </p:spPr>
        <p:txBody>
          <a:bodyPr wrap="square" lIns="0" tIns="0" rIns="0" bIns="0" rtlCol="0" anchor="t">
            <a:spAutoFit/>
          </a:bodyPr>
          <a:lstStyle/>
          <a:p>
            <a:pPr marL="0" indent="0" algn="l">
              <a:buNone/>
            </a:pPr>
            <a:r>
              <a:rPr lang="en-US" sz="1200" dirty="0">
                <a:solidFill>
                  <a:srgbClr val="8A96A9"/>
                </a:solidFill>
                <a:latin typeface="Arial" panose="020B0604020202020204" pitchFamily="34" charset="0"/>
                <a:ea typeface="Arial" panose="020B0604020202020204" pitchFamily="34" charset="-122"/>
                <a:cs typeface="Arial" panose="020B0604020202020204" pitchFamily="34" charset="-120"/>
              </a:rPr>
              <a:t>That’s all you need today.</a:t>
            </a:r>
            <a:endParaRPr lang="en-US" sz="1200" dirty="0"/>
          </a:p>
        </p:txBody>
      </p:sp>
      <p:sp>
        <p:nvSpPr>
          <p:cNvPr id="11" name="Shape 5"/>
          <p:cNvSpPr/>
          <p:nvPr/>
        </p:nvSpPr>
        <p:spPr>
          <a:xfrm>
            <a:off x="866775" y="2199084"/>
            <a:ext cx="2616993" cy="1600200"/>
          </a:xfrm>
          <a:prstGeom prst="rect">
            <a:avLst/>
          </a:prstGeom>
          <a:solidFill>
            <a:srgbClr val="040C16">
              <a:alpha val="25000"/>
            </a:srgbClr>
          </a:solidFill>
        </p:spPr>
      </p:sp>
      <p:sp>
        <p:nvSpPr>
          <p:cNvPr id="12" name="Shape 6"/>
          <p:cNvSpPr/>
          <p:nvPr/>
        </p:nvSpPr>
        <p:spPr>
          <a:xfrm>
            <a:off x="3474244" y="2199084"/>
            <a:ext cx="9525" cy="1600200"/>
          </a:xfrm>
          <a:prstGeom prst="rect">
            <a:avLst/>
          </a:prstGeom>
          <a:solidFill>
            <a:srgbClr val="ADF1FF"/>
          </a:solidFill>
        </p:spPr>
      </p:sp>
      <p:sp>
        <p:nvSpPr>
          <p:cNvPr id="13" name="Shape 7"/>
          <p:cNvSpPr/>
          <p:nvPr/>
        </p:nvSpPr>
        <p:spPr>
          <a:xfrm>
            <a:off x="866775" y="3789760"/>
            <a:ext cx="2616993" cy="9525"/>
          </a:xfrm>
          <a:prstGeom prst="rect">
            <a:avLst/>
          </a:prstGeom>
          <a:solidFill>
            <a:srgbClr val="5CE3FF"/>
          </a:solidFill>
        </p:spPr>
      </p:sp>
      <p:sp>
        <p:nvSpPr>
          <p:cNvPr id="14" name="Text 8"/>
          <p:cNvSpPr/>
          <p:nvPr/>
        </p:nvSpPr>
        <p:spPr>
          <a:xfrm>
            <a:off x="1123951" y="2676451"/>
            <a:ext cx="4191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pwd</a:t>
            </a:r>
            <a:endParaRPr lang="en-US" sz="2000" dirty="0"/>
          </a:p>
        </p:txBody>
      </p:sp>
      <p:sp>
        <p:nvSpPr>
          <p:cNvPr id="15" name="Text 9"/>
          <p:cNvSpPr/>
          <p:nvPr/>
        </p:nvSpPr>
        <p:spPr>
          <a:xfrm>
            <a:off x="1123951" y="3114600"/>
            <a:ext cx="87185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Where am I?</a:t>
            </a:r>
            <a:endParaRPr lang="en-US" sz="1200" dirty="0"/>
          </a:p>
        </p:txBody>
      </p:sp>
      <p:sp>
        <p:nvSpPr>
          <p:cNvPr id="16" name="Shape 10"/>
          <p:cNvSpPr/>
          <p:nvPr/>
        </p:nvSpPr>
        <p:spPr>
          <a:xfrm>
            <a:off x="3483769" y="2199084"/>
            <a:ext cx="2616993" cy="1600200"/>
          </a:xfrm>
          <a:prstGeom prst="rect">
            <a:avLst/>
          </a:prstGeom>
          <a:solidFill>
            <a:srgbClr val="040C16">
              <a:alpha val="25000"/>
            </a:srgbClr>
          </a:solidFill>
        </p:spPr>
      </p:sp>
      <p:sp>
        <p:nvSpPr>
          <p:cNvPr id="17" name="Shape 11"/>
          <p:cNvSpPr/>
          <p:nvPr/>
        </p:nvSpPr>
        <p:spPr>
          <a:xfrm>
            <a:off x="6091237" y="2199084"/>
            <a:ext cx="9525" cy="1600200"/>
          </a:xfrm>
          <a:prstGeom prst="rect">
            <a:avLst/>
          </a:prstGeom>
          <a:solidFill>
            <a:srgbClr val="ADF1FF"/>
          </a:solidFill>
        </p:spPr>
      </p:sp>
      <p:sp>
        <p:nvSpPr>
          <p:cNvPr id="18" name="Shape 12"/>
          <p:cNvSpPr/>
          <p:nvPr/>
        </p:nvSpPr>
        <p:spPr>
          <a:xfrm>
            <a:off x="3483769" y="3789760"/>
            <a:ext cx="2616993" cy="9525"/>
          </a:xfrm>
          <a:prstGeom prst="rect">
            <a:avLst/>
          </a:prstGeom>
          <a:solidFill>
            <a:srgbClr val="5CE3FF"/>
          </a:solidFill>
        </p:spPr>
      </p:sp>
      <p:sp>
        <p:nvSpPr>
          <p:cNvPr id="19" name="Text 13"/>
          <p:cNvSpPr/>
          <p:nvPr/>
        </p:nvSpPr>
        <p:spPr>
          <a:xfrm>
            <a:off x="3740944" y="2572867"/>
            <a:ext cx="8382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FF6B1A"/>
                </a:solidFill>
                <a:latin typeface="Consolas" panose="020B0609020204030204" pitchFamily="34" charset="0"/>
                <a:ea typeface="Consolas" panose="020B0609020204030204" pitchFamily="34" charset="-122"/>
                <a:cs typeface="Consolas" panose="020B0609020204030204" pitchFamily="34" charset="-120"/>
              </a:rPr>
              <a:t>ls -la</a:t>
            </a:r>
            <a:endParaRPr lang="en-US" sz="2000" dirty="0"/>
          </a:p>
        </p:txBody>
      </p:sp>
      <p:sp>
        <p:nvSpPr>
          <p:cNvPr id="20" name="Text 14"/>
          <p:cNvSpPr/>
          <p:nvPr/>
        </p:nvSpPr>
        <p:spPr>
          <a:xfrm>
            <a:off x="3740944" y="3011016"/>
            <a:ext cx="2019300" cy="375285"/>
          </a:xfrm>
          <a:prstGeom prst="rect">
            <a:avLst/>
          </a:prstGeom>
          <a:noFill/>
        </p:spPr>
        <p:txBody>
          <a:bodyPr wrap="squar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Show everything, including hidden.</a:t>
            </a:r>
            <a:endParaRPr lang="en-US" sz="1200" dirty="0"/>
          </a:p>
        </p:txBody>
      </p:sp>
      <p:sp>
        <p:nvSpPr>
          <p:cNvPr id="21" name="Shape 15"/>
          <p:cNvSpPr/>
          <p:nvPr/>
        </p:nvSpPr>
        <p:spPr>
          <a:xfrm>
            <a:off x="6100763" y="2199084"/>
            <a:ext cx="2616993" cy="1600200"/>
          </a:xfrm>
          <a:prstGeom prst="rect">
            <a:avLst/>
          </a:prstGeom>
          <a:solidFill>
            <a:srgbClr val="040C16">
              <a:alpha val="25000"/>
            </a:srgbClr>
          </a:solidFill>
        </p:spPr>
      </p:sp>
      <p:sp>
        <p:nvSpPr>
          <p:cNvPr id="22" name="Shape 16"/>
          <p:cNvSpPr/>
          <p:nvPr/>
        </p:nvSpPr>
        <p:spPr>
          <a:xfrm>
            <a:off x="8708231" y="2199084"/>
            <a:ext cx="9525" cy="1600200"/>
          </a:xfrm>
          <a:prstGeom prst="rect">
            <a:avLst/>
          </a:prstGeom>
          <a:solidFill>
            <a:srgbClr val="ADF1FF"/>
          </a:solidFill>
        </p:spPr>
      </p:sp>
      <p:sp>
        <p:nvSpPr>
          <p:cNvPr id="23" name="Shape 17"/>
          <p:cNvSpPr/>
          <p:nvPr/>
        </p:nvSpPr>
        <p:spPr>
          <a:xfrm>
            <a:off x="6100763" y="3789760"/>
            <a:ext cx="2616993" cy="9525"/>
          </a:xfrm>
          <a:prstGeom prst="rect">
            <a:avLst/>
          </a:prstGeom>
          <a:solidFill>
            <a:srgbClr val="5CE3FF"/>
          </a:solidFill>
        </p:spPr>
      </p:sp>
      <p:sp>
        <p:nvSpPr>
          <p:cNvPr id="24" name="Text 18"/>
          <p:cNvSpPr/>
          <p:nvPr/>
        </p:nvSpPr>
        <p:spPr>
          <a:xfrm>
            <a:off x="6357937" y="2676451"/>
            <a:ext cx="2794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cd</a:t>
            </a:r>
            <a:endParaRPr lang="en-US" sz="2000" dirty="0"/>
          </a:p>
        </p:txBody>
      </p:sp>
      <p:sp>
        <p:nvSpPr>
          <p:cNvPr id="25" name="Text 19"/>
          <p:cNvSpPr/>
          <p:nvPr/>
        </p:nvSpPr>
        <p:spPr>
          <a:xfrm>
            <a:off x="6357937" y="3114600"/>
            <a:ext cx="142938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Move around folders.</a:t>
            </a:r>
            <a:endParaRPr lang="en-US" sz="1200" dirty="0"/>
          </a:p>
        </p:txBody>
      </p:sp>
      <p:sp>
        <p:nvSpPr>
          <p:cNvPr id="26" name="Shape 20"/>
          <p:cNvSpPr/>
          <p:nvPr/>
        </p:nvSpPr>
        <p:spPr>
          <a:xfrm>
            <a:off x="8717756" y="2199084"/>
            <a:ext cx="2616993" cy="1600200"/>
          </a:xfrm>
          <a:prstGeom prst="rect">
            <a:avLst/>
          </a:prstGeom>
          <a:solidFill>
            <a:srgbClr val="040C16">
              <a:alpha val="25000"/>
            </a:srgbClr>
          </a:solidFill>
        </p:spPr>
      </p:sp>
      <p:sp>
        <p:nvSpPr>
          <p:cNvPr id="27" name="Shape 21"/>
          <p:cNvSpPr/>
          <p:nvPr/>
        </p:nvSpPr>
        <p:spPr>
          <a:xfrm>
            <a:off x="11325225" y="2199084"/>
            <a:ext cx="9525" cy="1600200"/>
          </a:xfrm>
          <a:prstGeom prst="rect">
            <a:avLst/>
          </a:prstGeom>
          <a:solidFill>
            <a:srgbClr val="ADF1FF"/>
          </a:solidFill>
        </p:spPr>
      </p:sp>
      <p:sp>
        <p:nvSpPr>
          <p:cNvPr id="28" name="Shape 22"/>
          <p:cNvSpPr/>
          <p:nvPr/>
        </p:nvSpPr>
        <p:spPr>
          <a:xfrm>
            <a:off x="8717756" y="3789760"/>
            <a:ext cx="2616993" cy="9525"/>
          </a:xfrm>
          <a:prstGeom prst="rect">
            <a:avLst/>
          </a:prstGeom>
          <a:solidFill>
            <a:srgbClr val="5CE3FF"/>
          </a:solidFill>
        </p:spPr>
      </p:sp>
      <p:sp>
        <p:nvSpPr>
          <p:cNvPr id="29" name="Text 23"/>
          <p:cNvSpPr/>
          <p:nvPr/>
        </p:nvSpPr>
        <p:spPr>
          <a:xfrm>
            <a:off x="8974931" y="2676451"/>
            <a:ext cx="4191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cat</a:t>
            </a:r>
            <a:endParaRPr lang="en-US" sz="2000" dirty="0"/>
          </a:p>
        </p:txBody>
      </p:sp>
      <p:sp>
        <p:nvSpPr>
          <p:cNvPr id="30" name="Text 24"/>
          <p:cNvSpPr/>
          <p:nvPr/>
        </p:nvSpPr>
        <p:spPr>
          <a:xfrm>
            <a:off x="8974931" y="3114600"/>
            <a:ext cx="769620"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Read a file.</a:t>
            </a:r>
            <a:endParaRPr lang="en-US" sz="1200" dirty="0"/>
          </a:p>
        </p:txBody>
      </p:sp>
      <p:sp>
        <p:nvSpPr>
          <p:cNvPr id="31" name="Shape 25"/>
          <p:cNvSpPr/>
          <p:nvPr/>
        </p:nvSpPr>
        <p:spPr>
          <a:xfrm>
            <a:off x="866775" y="3799284"/>
            <a:ext cx="2616993" cy="1600200"/>
          </a:xfrm>
          <a:prstGeom prst="rect">
            <a:avLst/>
          </a:prstGeom>
          <a:solidFill>
            <a:srgbClr val="040C16">
              <a:alpha val="25000"/>
            </a:srgbClr>
          </a:solidFill>
        </p:spPr>
      </p:sp>
      <p:sp>
        <p:nvSpPr>
          <p:cNvPr id="32" name="Shape 26"/>
          <p:cNvSpPr/>
          <p:nvPr/>
        </p:nvSpPr>
        <p:spPr>
          <a:xfrm>
            <a:off x="3474244" y="3799284"/>
            <a:ext cx="9525" cy="1600200"/>
          </a:xfrm>
          <a:prstGeom prst="rect">
            <a:avLst/>
          </a:prstGeom>
          <a:solidFill>
            <a:srgbClr val="ADF1FF"/>
          </a:solidFill>
        </p:spPr>
      </p:sp>
      <p:sp>
        <p:nvSpPr>
          <p:cNvPr id="33" name="Shape 27"/>
          <p:cNvSpPr/>
          <p:nvPr/>
        </p:nvSpPr>
        <p:spPr>
          <a:xfrm>
            <a:off x="866775" y="5389960"/>
            <a:ext cx="2616993" cy="9525"/>
          </a:xfrm>
          <a:prstGeom prst="rect">
            <a:avLst/>
          </a:prstGeom>
          <a:solidFill>
            <a:srgbClr val="5CE3FF"/>
          </a:solidFill>
        </p:spPr>
      </p:sp>
      <p:sp>
        <p:nvSpPr>
          <p:cNvPr id="34" name="Text 28"/>
          <p:cNvSpPr/>
          <p:nvPr/>
        </p:nvSpPr>
        <p:spPr>
          <a:xfrm>
            <a:off x="1123951" y="4276651"/>
            <a:ext cx="5588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file</a:t>
            </a:r>
            <a:endParaRPr lang="en-US" sz="2000" dirty="0"/>
          </a:p>
        </p:txBody>
      </p:sp>
      <p:sp>
        <p:nvSpPr>
          <p:cNvPr id="35" name="Text 29"/>
          <p:cNvSpPr/>
          <p:nvPr/>
        </p:nvSpPr>
        <p:spPr>
          <a:xfrm>
            <a:off x="1123951" y="4714800"/>
            <a:ext cx="120205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What type is this?</a:t>
            </a:r>
            <a:endParaRPr lang="en-US" sz="1200" dirty="0"/>
          </a:p>
        </p:txBody>
      </p:sp>
      <p:sp>
        <p:nvSpPr>
          <p:cNvPr id="36" name="Shape 30"/>
          <p:cNvSpPr/>
          <p:nvPr/>
        </p:nvSpPr>
        <p:spPr>
          <a:xfrm>
            <a:off x="3483769" y="3799284"/>
            <a:ext cx="2616993" cy="1600200"/>
          </a:xfrm>
          <a:prstGeom prst="rect">
            <a:avLst/>
          </a:prstGeom>
          <a:solidFill>
            <a:srgbClr val="040C16">
              <a:alpha val="25000"/>
            </a:srgbClr>
          </a:solidFill>
        </p:spPr>
      </p:sp>
      <p:sp>
        <p:nvSpPr>
          <p:cNvPr id="37" name="Shape 31"/>
          <p:cNvSpPr/>
          <p:nvPr/>
        </p:nvSpPr>
        <p:spPr>
          <a:xfrm>
            <a:off x="6091237" y="3799284"/>
            <a:ext cx="9525" cy="1600200"/>
          </a:xfrm>
          <a:prstGeom prst="rect">
            <a:avLst/>
          </a:prstGeom>
          <a:solidFill>
            <a:srgbClr val="ADF1FF"/>
          </a:solidFill>
        </p:spPr>
      </p:sp>
      <p:sp>
        <p:nvSpPr>
          <p:cNvPr id="38" name="Shape 32"/>
          <p:cNvSpPr/>
          <p:nvPr/>
        </p:nvSpPr>
        <p:spPr>
          <a:xfrm>
            <a:off x="3483769" y="5389960"/>
            <a:ext cx="2616993" cy="9525"/>
          </a:xfrm>
          <a:prstGeom prst="rect">
            <a:avLst/>
          </a:prstGeom>
          <a:solidFill>
            <a:srgbClr val="5CE3FF"/>
          </a:solidFill>
        </p:spPr>
      </p:sp>
      <p:sp>
        <p:nvSpPr>
          <p:cNvPr id="39" name="Text 33"/>
          <p:cNvSpPr/>
          <p:nvPr/>
        </p:nvSpPr>
        <p:spPr>
          <a:xfrm>
            <a:off x="3740944" y="4173067"/>
            <a:ext cx="9779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FF6B1A"/>
                </a:solidFill>
                <a:latin typeface="Consolas" panose="020B0609020204030204" pitchFamily="34" charset="0"/>
                <a:ea typeface="Consolas" panose="020B0609020204030204" pitchFamily="34" charset="-122"/>
                <a:cs typeface="Consolas" panose="020B0609020204030204" pitchFamily="34" charset="-120"/>
              </a:rPr>
              <a:t>strings</a:t>
            </a:r>
            <a:endParaRPr lang="en-US" sz="2000" dirty="0"/>
          </a:p>
        </p:txBody>
      </p:sp>
      <p:sp>
        <p:nvSpPr>
          <p:cNvPr id="40" name="Text 34"/>
          <p:cNvSpPr/>
          <p:nvPr/>
        </p:nvSpPr>
        <p:spPr>
          <a:xfrm>
            <a:off x="3740944" y="4611216"/>
            <a:ext cx="2019300" cy="187325"/>
          </a:xfrm>
          <a:prstGeom prst="rect">
            <a:avLst/>
          </a:prstGeom>
          <a:noFill/>
        </p:spPr>
        <p:txBody>
          <a:bodyPr wrap="squar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Readable text inside a binary.</a:t>
            </a:r>
            <a:endParaRPr lang="en-US" sz="1200" dirty="0"/>
          </a:p>
        </p:txBody>
      </p:sp>
      <p:sp>
        <p:nvSpPr>
          <p:cNvPr id="41" name="Shape 35"/>
          <p:cNvSpPr/>
          <p:nvPr/>
        </p:nvSpPr>
        <p:spPr>
          <a:xfrm>
            <a:off x="6100763" y="3799284"/>
            <a:ext cx="2616993" cy="1600200"/>
          </a:xfrm>
          <a:prstGeom prst="rect">
            <a:avLst/>
          </a:prstGeom>
          <a:solidFill>
            <a:srgbClr val="040C16">
              <a:alpha val="25000"/>
            </a:srgbClr>
          </a:solidFill>
        </p:spPr>
      </p:sp>
      <p:sp>
        <p:nvSpPr>
          <p:cNvPr id="42" name="Shape 36"/>
          <p:cNvSpPr/>
          <p:nvPr/>
        </p:nvSpPr>
        <p:spPr>
          <a:xfrm>
            <a:off x="8708231" y="3799284"/>
            <a:ext cx="9525" cy="1600200"/>
          </a:xfrm>
          <a:prstGeom prst="rect">
            <a:avLst/>
          </a:prstGeom>
          <a:solidFill>
            <a:srgbClr val="ADF1FF"/>
          </a:solidFill>
        </p:spPr>
      </p:sp>
      <p:sp>
        <p:nvSpPr>
          <p:cNvPr id="43" name="Shape 37"/>
          <p:cNvSpPr/>
          <p:nvPr/>
        </p:nvSpPr>
        <p:spPr>
          <a:xfrm>
            <a:off x="6100763" y="5389960"/>
            <a:ext cx="2616993" cy="9525"/>
          </a:xfrm>
          <a:prstGeom prst="rect">
            <a:avLst/>
          </a:prstGeom>
          <a:solidFill>
            <a:srgbClr val="5CE3FF"/>
          </a:solidFill>
        </p:spPr>
      </p:sp>
      <p:sp>
        <p:nvSpPr>
          <p:cNvPr id="44" name="Text 38"/>
          <p:cNvSpPr/>
          <p:nvPr/>
        </p:nvSpPr>
        <p:spPr>
          <a:xfrm>
            <a:off x="6357937" y="4276651"/>
            <a:ext cx="5588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grep</a:t>
            </a:r>
            <a:endParaRPr lang="en-US" sz="2000" dirty="0"/>
          </a:p>
        </p:txBody>
      </p:sp>
      <p:sp>
        <p:nvSpPr>
          <p:cNvPr id="45" name="Text 39"/>
          <p:cNvSpPr/>
          <p:nvPr/>
        </p:nvSpPr>
        <p:spPr>
          <a:xfrm>
            <a:off x="6357937" y="4714800"/>
            <a:ext cx="1276985"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Search inside files.</a:t>
            </a:r>
            <a:endParaRPr lang="en-US" sz="1200" dirty="0"/>
          </a:p>
        </p:txBody>
      </p:sp>
      <p:sp>
        <p:nvSpPr>
          <p:cNvPr id="46" name="Shape 40"/>
          <p:cNvSpPr/>
          <p:nvPr/>
        </p:nvSpPr>
        <p:spPr>
          <a:xfrm>
            <a:off x="8717756" y="3799284"/>
            <a:ext cx="2616993" cy="1600200"/>
          </a:xfrm>
          <a:prstGeom prst="rect">
            <a:avLst/>
          </a:prstGeom>
          <a:solidFill>
            <a:srgbClr val="040C16">
              <a:alpha val="25000"/>
            </a:srgbClr>
          </a:solidFill>
        </p:spPr>
      </p:sp>
      <p:sp>
        <p:nvSpPr>
          <p:cNvPr id="47" name="Shape 41"/>
          <p:cNvSpPr/>
          <p:nvPr/>
        </p:nvSpPr>
        <p:spPr>
          <a:xfrm>
            <a:off x="11325225" y="3799284"/>
            <a:ext cx="9525" cy="1600200"/>
          </a:xfrm>
          <a:prstGeom prst="rect">
            <a:avLst/>
          </a:prstGeom>
          <a:solidFill>
            <a:srgbClr val="ADF1FF"/>
          </a:solidFill>
        </p:spPr>
      </p:sp>
      <p:sp>
        <p:nvSpPr>
          <p:cNvPr id="48" name="Shape 42"/>
          <p:cNvSpPr/>
          <p:nvPr/>
        </p:nvSpPr>
        <p:spPr>
          <a:xfrm>
            <a:off x="8717756" y="5389960"/>
            <a:ext cx="2616993" cy="9525"/>
          </a:xfrm>
          <a:prstGeom prst="rect">
            <a:avLst/>
          </a:prstGeom>
          <a:solidFill>
            <a:srgbClr val="5CE3FF"/>
          </a:solidFill>
        </p:spPr>
      </p:sp>
      <p:sp>
        <p:nvSpPr>
          <p:cNvPr id="49" name="Text 43"/>
          <p:cNvSpPr/>
          <p:nvPr/>
        </p:nvSpPr>
        <p:spPr>
          <a:xfrm>
            <a:off x="8974931" y="4276651"/>
            <a:ext cx="558800" cy="245745"/>
          </a:xfrm>
          <a:prstGeom prst="rect">
            <a:avLst/>
          </a:prstGeom>
          <a:noFill/>
        </p:spPr>
        <p:txBody>
          <a:bodyPr wrap="none" lIns="0" tIns="0" rIns="0" bIns="0" rtlCol="0" anchor="t">
            <a:spAutoFit/>
          </a:bodyPr>
          <a:lstStyle/>
          <a:p>
            <a:pPr marL="0" indent="0" algn="l">
              <a:lnSpc>
                <a:spcPct val="80000"/>
              </a:lnSpc>
              <a:buNone/>
            </a:pPr>
            <a:r>
              <a:rPr lang="en-US" sz="20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find</a:t>
            </a:r>
            <a:endParaRPr lang="en-US" sz="2000" dirty="0"/>
          </a:p>
        </p:txBody>
      </p:sp>
      <p:sp>
        <p:nvSpPr>
          <p:cNvPr id="50" name="Text 44"/>
          <p:cNvSpPr/>
          <p:nvPr/>
        </p:nvSpPr>
        <p:spPr>
          <a:xfrm>
            <a:off x="8974931" y="4714800"/>
            <a:ext cx="1513840" cy="187325"/>
          </a:xfrm>
          <a:prstGeom prst="rect">
            <a:avLst/>
          </a:prstGeom>
          <a:noFill/>
        </p:spPr>
        <p:txBody>
          <a:bodyPr wrap="none" lIns="0" tIns="0" rIns="0" bIns="0" rtlCol="0" anchor="t">
            <a:spAutoFit/>
          </a:bodyPr>
          <a:lstStyle/>
          <a:p>
            <a:pPr marL="0" indent="0" algn="l">
              <a:lnSpc>
                <a:spcPct val="102000"/>
              </a:lnSpc>
              <a:buNone/>
            </a:pPr>
            <a:r>
              <a:rPr lang="en-US" sz="1200" dirty="0">
                <a:solidFill>
                  <a:srgbClr val="D9E2EC"/>
                </a:solidFill>
                <a:latin typeface="Arial" panose="020B0604020202020204" pitchFamily="34" charset="0"/>
                <a:ea typeface="Arial" panose="020B0604020202020204" pitchFamily="34" charset="-122"/>
                <a:cs typeface="Arial" panose="020B0604020202020204" pitchFamily="34" charset="-120"/>
              </a:rPr>
              <a:t>Locate files anywhere.</a:t>
            </a:r>
            <a:endParaRPr lang="en-US" sz="1200" dirty="0"/>
          </a:p>
        </p:txBody>
      </p:sp>
      <p:sp>
        <p:nvSpPr>
          <p:cNvPr id="51" name="Shape 45"/>
          <p:cNvSpPr/>
          <p:nvPr/>
        </p:nvSpPr>
        <p:spPr>
          <a:xfrm>
            <a:off x="723900" y="6191251"/>
            <a:ext cx="10744200" cy="666751"/>
          </a:xfrm>
          <a:prstGeom prst="rect">
            <a:avLst/>
          </a:prstGeom>
          <a:solidFill>
            <a:srgbClr val="000000">
              <a:alpha val="0"/>
            </a:srgbClr>
          </a:solidFill>
        </p:spPr>
      </p:sp>
      <p:sp>
        <p:nvSpPr>
          <p:cNvPr id="52" name="Shape 46"/>
          <p:cNvSpPr/>
          <p:nvPr/>
        </p:nvSpPr>
        <p:spPr>
          <a:xfrm>
            <a:off x="723900" y="6191251"/>
            <a:ext cx="10744200" cy="9525"/>
          </a:xfrm>
          <a:prstGeom prst="rect">
            <a:avLst/>
          </a:prstGeom>
          <a:solidFill>
            <a:srgbClr val="FFFFFF"/>
          </a:solidFill>
        </p:spPr>
      </p:sp>
      <p:sp>
        <p:nvSpPr>
          <p:cNvPr id="53" name="Text 47"/>
          <p:cNvSpPr/>
          <p:nvPr/>
        </p:nvSpPr>
        <p:spPr>
          <a:xfrm>
            <a:off x="723900" y="6362700"/>
            <a:ext cx="4654823" cy="163830"/>
          </a:xfrm>
          <a:prstGeom prst="rect">
            <a:avLst/>
          </a:prstGeom>
          <a:noFill/>
        </p:spPr>
        <p:txBody>
          <a:bodyPr wrap="square" lIns="0" tIns="0" rIns="0" bIns="0" rtlCol="0" anchor="t">
            <a:spAutoFit/>
          </a:bodyPr>
          <a:lstStyle/>
          <a:p>
            <a:pPr marL="0" indent="0" algn="l">
              <a:buNone/>
            </a:pPr>
            <a:r>
              <a:rPr lang="en-US" sz="1065" b="1" dirty="0">
                <a:solidFill>
                  <a:srgbClr val="FF6B1A"/>
                </a:solidFill>
                <a:latin typeface="Arial" panose="020B0604020202020204" pitchFamily="34" charset="0"/>
                <a:ea typeface="Arial" panose="020B0604020202020204" pitchFamily="34" charset="-122"/>
                <a:cs typeface="Arial" panose="020B0604020202020204" pitchFamily="34" charset="-120"/>
              </a:rPr>
              <a:t>IF YOUR HANDS AREN’T MOVING, YOU’RE NOT LEARNING.</a:t>
            </a:r>
            <a:endParaRPr lang="en-US" sz="1065" dirty="0"/>
          </a:p>
        </p:txBody>
      </p:sp>
      <p:sp>
        <p:nvSpPr>
          <p:cNvPr id="54" name="Text 48"/>
          <p:cNvSpPr/>
          <p:nvPr/>
        </p:nvSpPr>
        <p:spPr>
          <a:xfrm>
            <a:off x="10874797" y="6362700"/>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0:25–0:42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1028700" y="971551"/>
            <a:ext cx="10134600" cy="483870"/>
          </a:xfrm>
          <a:prstGeom prst="rect">
            <a:avLst/>
          </a:prstGeom>
          <a:noFill/>
        </p:spPr>
        <p:txBody>
          <a:bodyPr wrap="square" lIns="0" tIns="340190"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LINUX RECONNAISSANCE</a:t>
            </a:r>
            <a:endParaRPr lang="en-US" sz="935" dirty="0"/>
          </a:p>
        </p:txBody>
      </p:sp>
      <p:sp>
        <p:nvSpPr>
          <p:cNvPr id="9" name="Text 3"/>
          <p:cNvSpPr/>
          <p:nvPr/>
        </p:nvSpPr>
        <p:spPr>
          <a:xfrm>
            <a:off x="1028700" y="1485900"/>
            <a:ext cx="4504055" cy="417195"/>
          </a:xfrm>
          <a:prstGeom prst="rect">
            <a:avLst/>
          </a:prstGeom>
          <a:noFill/>
        </p:spPr>
        <p:txBody>
          <a:bodyPr wrap="none" lIns="0" tIns="0" rIns="0" bIns="0" rtlCol="0" anchor="t">
            <a:spAutoFit/>
          </a:bodyPr>
          <a:lstStyle/>
          <a:p>
            <a:pPr marL="0" indent="0" algn="l">
              <a:lnSpc>
                <a:spcPct val="83000"/>
              </a:lnSpc>
              <a:buNone/>
            </a:pPr>
            <a:r>
              <a:rPr lang="en-US" sz="32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Why an attacker cares.</a:t>
            </a:r>
            <a:endParaRPr lang="en-US" sz="3265" dirty="0"/>
          </a:p>
        </p:txBody>
      </p:sp>
      <p:sp>
        <p:nvSpPr>
          <p:cNvPr id="10" name="Text 4"/>
          <p:cNvSpPr/>
          <p:nvPr/>
        </p:nvSpPr>
        <p:spPr>
          <a:xfrm>
            <a:off x="8819108" y="1719263"/>
            <a:ext cx="2344192" cy="194310"/>
          </a:xfrm>
          <a:prstGeom prst="rect">
            <a:avLst/>
          </a:prstGeom>
          <a:noFill/>
        </p:spPr>
        <p:txBody>
          <a:bodyPr wrap="square" lIns="0" tIns="0" rIns="0" bIns="0" rtlCol="0" anchor="t">
            <a:spAutoFit/>
          </a:bodyPr>
          <a:lstStyle/>
          <a:p>
            <a:pPr marL="0" indent="0" algn="l">
              <a:buNone/>
            </a:pPr>
            <a:r>
              <a:rPr lang="en-US" sz="1265" dirty="0">
                <a:solidFill>
                  <a:srgbClr val="9BA7B8"/>
                </a:solidFill>
                <a:latin typeface="Arial" panose="020B0604020202020204" pitchFamily="34" charset="0"/>
                <a:ea typeface="Arial" panose="020B0604020202020204" pitchFamily="34" charset="-122"/>
                <a:cs typeface="Arial" panose="020B0604020202020204" pitchFamily="34" charset="-120"/>
              </a:rPr>
              <a:t>The command is only the start.</a:t>
            </a:r>
            <a:endParaRPr lang="en-US" sz="1265" dirty="0"/>
          </a:p>
        </p:txBody>
      </p:sp>
      <p:sp>
        <p:nvSpPr>
          <p:cNvPr id="11" name="Text 5"/>
          <p:cNvSpPr/>
          <p:nvPr/>
        </p:nvSpPr>
        <p:spPr>
          <a:xfrm>
            <a:off x="1028700" y="2442344"/>
            <a:ext cx="2333625" cy="212725"/>
          </a:xfrm>
          <a:prstGeom prst="rect">
            <a:avLst/>
          </a:prstGeom>
          <a:noFill/>
        </p:spPr>
        <p:txBody>
          <a:bodyPr wrap="square" lIns="0" tIns="79417" rIns="0" bIns="0" rtlCol="0" anchor="t">
            <a:spAutoFit/>
          </a:bodyPr>
          <a:lstStyle/>
          <a:p>
            <a:pPr marL="0" indent="0" algn="l">
              <a:buNone/>
            </a:pPr>
            <a:r>
              <a:rPr lang="en-US" sz="865" b="1" kern="0" spc="2" dirty="0">
                <a:solidFill>
                  <a:srgbClr val="7E8B9F"/>
                </a:solidFill>
                <a:latin typeface="Arial" panose="020B0604020202020204" pitchFamily="34" charset="0"/>
                <a:ea typeface="Arial" panose="020B0604020202020204" pitchFamily="34" charset="-122"/>
                <a:cs typeface="Arial" panose="020B0604020202020204" pitchFamily="34" charset="-120"/>
              </a:rPr>
              <a:t>COMMAND</a:t>
            </a:r>
            <a:endParaRPr lang="en-US" sz="865" dirty="0"/>
          </a:p>
        </p:txBody>
      </p:sp>
      <p:sp>
        <p:nvSpPr>
          <p:cNvPr id="12" name="Text 6"/>
          <p:cNvSpPr/>
          <p:nvPr/>
        </p:nvSpPr>
        <p:spPr>
          <a:xfrm>
            <a:off x="4067175" y="2442344"/>
            <a:ext cx="7096125" cy="212725"/>
          </a:xfrm>
          <a:prstGeom prst="rect">
            <a:avLst/>
          </a:prstGeom>
          <a:noFill/>
        </p:spPr>
        <p:txBody>
          <a:bodyPr wrap="square" lIns="0" tIns="79417" rIns="0" bIns="0" rtlCol="0" anchor="t">
            <a:spAutoFit/>
          </a:bodyPr>
          <a:lstStyle/>
          <a:p>
            <a:pPr marL="0" indent="0" algn="l">
              <a:buNone/>
            </a:pPr>
            <a:r>
              <a:rPr lang="en-US" sz="865" b="1" kern="0" spc="2" dirty="0">
                <a:solidFill>
                  <a:srgbClr val="7E8B9F"/>
                </a:solidFill>
                <a:latin typeface="Arial" panose="020B0604020202020204" pitchFamily="34" charset="0"/>
                <a:ea typeface="Arial" panose="020B0604020202020204" pitchFamily="34" charset="-122"/>
                <a:cs typeface="Arial" panose="020B0604020202020204" pitchFamily="34" charset="-120"/>
              </a:rPr>
              <a:t>WHY IT MATTERS</a:t>
            </a:r>
            <a:endParaRPr lang="en-US" sz="865" dirty="0"/>
          </a:p>
        </p:txBody>
      </p:sp>
      <p:sp>
        <p:nvSpPr>
          <p:cNvPr id="13" name="Text 7"/>
          <p:cNvSpPr/>
          <p:nvPr/>
        </p:nvSpPr>
        <p:spPr>
          <a:xfrm>
            <a:off x="1028700" y="2866207"/>
            <a:ext cx="2333625" cy="287020"/>
          </a:xfrm>
          <a:prstGeom prst="rect">
            <a:avLst/>
          </a:prstGeom>
          <a:noFill/>
        </p:spPr>
        <p:txBody>
          <a:bodyPr wrap="square" lIns="0" tIns="0" rIns="0" bIns="0" rtlCol="0" anchor="t">
            <a:spAutoFit/>
          </a:bodyPr>
          <a:lstStyle/>
          <a:p>
            <a:pPr marL="0" indent="0" algn="l">
              <a:buNone/>
            </a:pPr>
            <a:r>
              <a:rPr lang="en-US" sz="186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ls -la</a:t>
            </a:r>
            <a:endParaRPr lang="en-US" sz="1865" dirty="0"/>
          </a:p>
        </p:txBody>
      </p:sp>
      <p:sp>
        <p:nvSpPr>
          <p:cNvPr id="14" name="Text 8"/>
          <p:cNvSpPr/>
          <p:nvPr/>
        </p:nvSpPr>
        <p:spPr>
          <a:xfrm>
            <a:off x="3658871" y="2890019"/>
            <a:ext cx="111760" cy="245745"/>
          </a:xfrm>
          <a:prstGeom prst="rect">
            <a:avLst/>
          </a:prstGeom>
          <a:noFill/>
        </p:spPr>
        <p:txBody>
          <a:bodyPr wrap="none" lIns="0" tIns="0" rIns="0" bIns="0" rtlCol="0" anchor="t">
            <a:spAutoFit/>
          </a:bodyPr>
          <a:lstStyle/>
          <a:p>
            <a:pPr marL="0" indent="0" algn="ctr">
              <a:buNone/>
            </a:pPr>
            <a:r>
              <a:rPr lang="en-US" sz="16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a:t>
            </a:r>
            <a:endParaRPr lang="en-US" sz="1600" dirty="0"/>
          </a:p>
        </p:txBody>
      </p:sp>
      <p:sp>
        <p:nvSpPr>
          <p:cNvPr id="15" name="Text 9"/>
          <p:cNvSpPr/>
          <p:nvPr/>
        </p:nvSpPr>
        <p:spPr>
          <a:xfrm>
            <a:off x="4067175" y="2904307"/>
            <a:ext cx="2595880" cy="206375"/>
          </a:xfrm>
          <a:prstGeom prst="rect">
            <a:avLst/>
          </a:prstGeom>
          <a:noFill/>
        </p:spPr>
        <p:txBody>
          <a:bodyPr wrap="none" lIns="0" tIns="0" rIns="0" bIns="0" rtlCol="0" anchor="t">
            <a:spAutoFit/>
          </a:bodyPr>
          <a:lstStyle/>
          <a:p>
            <a:pPr marL="0" indent="0" algn="l">
              <a:lnSpc>
                <a:spcPct val="96000"/>
              </a:lnSpc>
              <a:buNone/>
            </a:pP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Hidden files</a:t>
            </a:r>
            <a:r>
              <a:rPr lang="en-US" sz="1400" dirty="0">
                <a:solidFill>
                  <a:srgbClr val="E1E9F2"/>
                </a:solidFill>
                <a:latin typeface="Arial" panose="020B0604020202020204" pitchFamily="34" charset="0"/>
                <a:ea typeface="Arial" panose="020B0604020202020204" pitchFamily="34" charset="-122"/>
                <a:cs typeface="Arial" panose="020B0604020202020204" pitchFamily="34" charset="-120"/>
              </a:rPr>
              <a:t> are where flags live.</a:t>
            </a:r>
            <a:endParaRPr lang="en-US" sz="1335" dirty="0"/>
          </a:p>
        </p:txBody>
      </p:sp>
      <p:sp>
        <p:nvSpPr>
          <p:cNvPr id="16" name="Text 10"/>
          <p:cNvSpPr/>
          <p:nvPr/>
        </p:nvSpPr>
        <p:spPr>
          <a:xfrm>
            <a:off x="1028700" y="3580581"/>
            <a:ext cx="2333625" cy="287020"/>
          </a:xfrm>
          <a:prstGeom prst="rect">
            <a:avLst/>
          </a:prstGeom>
          <a:noFill/>
        </p:spPr>
        <p:txBody>
          <a:bodyPr wrap="square" lIns="0" tIns="0" rIns="0" bIns="0" rtlCol="0" anchor="t">
            <a:spAutoFit/>
          </a:bodyPr>
          <a:lstStyle/>
          <a:p>
            <a:pPr marL="0" indent="0" algn="l">
              <a:buNone/>
            </a:pPr>
            <a:r>
              <a:rPr lang="en-US" sz="18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strings</a:t>
            </a:r>
            <a:endParaRPr lang="en-US" sz="1865" dirty="0"/>
          </a:p>
        </p:txBody>
      </p:sp>
      <p:sp>
        <p:nvSpPr>
          <p:cNvPr id="17" name="Text 11"/>
          <p:cNvSpPr/>
          <p:nvPr/>
        </p:nvSpPr>
        <p:spPr>
          <a:xfrm>
            <a:off x="3658871" y="3604393"/>
            <a:ext cx="111760" cy="245745"/>
          </a:xfrm>
          <a:prstGeom prst="rect">
            <a:avLst/>
          </a:prstGeom>
          <a:noFill/>
        </p:spPr>
        <p:txBody>
          <a:bodyPr wrap="none" lIns="0" tIns="0" rIns="0" bIns="0" rtlCol="0" anchor="t">
            <a:spAutoFit/>
          </a:bodyPr>
          <a:lstStyle/>
          <a:p>
            <a:pPr marL="0" indent="0" algn="ctr">
              <a:buNone/>
            </a:pPr>
            <a:r>
              <a:rPr lang="en-US" sz="16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a:t>
            </a:r>
            <a:endParaRPr lang="en-US" sz="1600" dirty="0"/>
          </a:p>
        </p:txBody>
      </p:sp>
      <p:sp>
        <p:nvSpPr>
          <p:cNvPr id="18" name="Text 12"/>
          <p:cNvSpPr/>
          <p:nvPr/>
        </p:nvSpPr>
        <p:spPr>
          <a:xfrm>
            <a:off x="4067175" y="3618681"/>
            <a:ext cx="3068955" cy="206375"/>
          </a:xfrm>
          <a:prstGeom prst="rect">
            <a:avLst/>
          </a:prstGeom>
          <a:noFill/>
        </p:spPr>
        <p:txBody>
          <a:bodyPr wrap="none" lIns="0" tIns="0" rIns="0" bIns="0" rtlCol="0" anchor="t">
            <a:spAutoFit/>
          </a:bodyPr>
          <a:lstStyle/>
          <a:p>
            <a:pPr marL="0" indent="0" algn="l">
              <a:lnSpc>
                <a:spcPct val="96000"/>
              </a:lnSpc>
              <a:buNone/>
            </a:pPr>
            <a:r>
              <a:rPr lang="en-US" sz="1400" dirty="0">
                <a:solidFill>
                  <a:srgbClr val="E1E9F2"/>
                </a:solidFill>
                <a:latin typeface="Arial" panose="020B0604020202020204" pitchFamily="34" charset="0"/>
                <a:ea typeface="Arial" panose="020B0604020202020204" pitchFamily="34" charset="-122"/>
                <a:cs typeface="Arial" panose="020B0604020202020204" pitchFamily="34" charset="-120"/>
              </a:rPr>
              <a:t>The fastest </a:t>
            </a: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first look</a:t>
            </a:r>
            <a:r>
              <a:rPr lang="en-US" sz="1400" dirty="0">
                <a:solidFill>
                  <a:srgbClr val="E1E9F2"/>
                </a:solidFill>
                <a:latin typeface="Arial" panose="020B0604020202020204" pitchFamily="34" charset="0"/>
                <a:ea typeface="Arial" panose="020B0604020202020204" pitchFamily="34" charset="-122"/>
                <a:cs typeface="Arial" panose="020B0604020202020204" pitchFamily="34" charset="-120"/>
              </a:rPr>
              <a:t> inside any binary.</a:t>
            </a:r>
            <a:endParaRPr lang="en-US" sz="1400" dirty="0"/>
          </a:p>
        </p:txBody>
      </p:sp>
      <p:sp>
        <p:nvSpPr>
          <p:cNvPr id="19" name="Text 13"/>
          <p:cNvSpPr/>
          <p:nvPr/>
        </p:nvSpPr>
        <p:spPr>
          <a:xfrm>
            <a:off x="1028700" y="4294956"/>
            <a:ext cx="2333625" cy="287020"/>
          </a:xfrm>
          <a:prstGeom prst="rect">
            <a:avLst/>
          </a:prstGeom>
          <a:noFill/>
        </p:spPr>
        <p:txBody>
          <a:bodyPr wrap="square" lIns="0" tIns="0" rIns="0" bIns="0" rtlCol="0" anchor="t">
            <a:spAutoFit/>
          </a:bodyPr>
          <a:lstStyle/>
          <a:p>
            <a:pPr marL="0" indent="0" algn="l">
              <a:buNone/>
            </a:pPr>
            <a:r>
              <a:rPr lang="en-US" sz="18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grep -r</a:t>
            </a:r>
            <a:endParaRPr lang="en-US" sz="1865" dirty="0"/>
          </a:p>
        </p:txBody>
      </p:sp>
      <p:sp>
        <p:nvSpPr>
          <p:cNvPr id="20" name="Text 14"/>
          <p:cNvSpPr/>
          <p:nvPr/>
        </p:nvSpPr>
        <p:spPr>
          <a:xfrm>
            <a:off x="3658871" y="4318769"/>
            <a:ext cx="111760" cy="245745"/>
          </a:xfrm>
          <a:prstGeom prst="rect">
            <a:avLst/>
          </a:prstGeom>
          <a:noFill/>
        </p:spPr>
        <p:txBody>
          <a:bodyPr wrap="none" lIns="0" tIns="0" rIns="0" bIns="0" rtlCol="0" anchor="t">
            <a:spAutoFit/>
          </a:bodyPr>
          <a:lstStyle/>
          <a:p>
            <a:pPr marL="0" indent="0" algn="ctr">
              <a:buNone/>
            </a:pPr>
            <a:r>
              <a:rPr lang="en-US" sz="16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a:t>
            </a:r>
            <a:endParaRPr lang="en-US" sz="1600" dirty="0"/>
          </a:p>
        </p:txBody>
      </p:sp>
      <p:sp>
        <p:nvSpPr>
          <p:cNvPr id="21" name="Text 15"/>
          <p:cNvSpPr/>
          <p:nvPr/>
        </p:nvSpPr>
        <p:spPr>
          <a:xfrm>
            <a:off x="4067175" y="4333056"/>
            <a:ext cx="2499360" cy="206375"/>
          </a:xfrm>
          <a:prstGeom prst="rect">
            <a:avLst/>
          </a:prstGeom>
          <a:noFill/>
        </p:spPr>
        <p:txBody>
          <a:bodyPr wrap="none" lIns="0" tIns="0" rIns="0" bIns="0" rtlCol="0" anchor="t">
            <a:spAutoFit/>
          </a:bodyPr>
          <a:lstStyle/>
          <a:p>
            <a:pPr marL="0" indent="0" algn="l">
              <a:lnSpc>
                <a:spcPct val="96000"/>
              </a:lnSpc>
              <a:buNone/>
            </a:pPr>
            <a:r>
              <a:rPr lang="en-US" sz="1400" dirty="0">
                <a:solidFill>
                  <a:srgbClr val="E1E9F2"/>
                </a:solidFill>
                <a:latin typeface="Arial" panose="020B0604020202020204" pitchFamily="34" charset="0"/>
                <a:ea typeface="Arial" panose="020B0604020202020204" pitchFamily="34" charset="-122"/>
                <a:cs typeface="Arial" panose="020B0604020202020204" pitchFamily="34" charset="-120"/>
              </a:rPr>
              <a:t>Beats opening files </a:t>
            </a: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one by one.</a:t>
            </a:r>
            <a:endParaRPr lang="en-US" sz="1400" dirty="0"/>
          </a:p>
        </p:txBody>
      </p:sp>
      <p:sp>
        <p:nvSpPr>
          <p:cNvPr id="22" name="Text 16"/>
          <p:cNvSpPr/>
          <p:nvPr/>
        </p:nvSpPr>
        <p:spPr>
          <a:xfrm>
            <a:off x="1028700" y="5009332"/>
            <a:ext cx="2333625" cy="287020"/>
          </a:xfrm>
          <a:prstGeom prst="rect">
            <a:avLst/>
          </a:prstGeom>
          <a:noFill/>
        </p:spPr>
        <p:txBody>
          <a:bodyPr wrap="square" lIns="0" tIns="0" rIns="0" bIns="0" rtlCol="0" anchor="t">
            <a:spAutoFit/>
          </a:bodyPr>
          <a:lstStyle/>
          <a:p>
            <a:pPr marL="0" indent="0" algn="l">
              <a:buNone/>
            </a:pPr>
            <a:r>
              <a:rPr lang="en-US" sz="186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find</a:t>
            </a:r>
            <a:endParaRPr lang="en-US" sz="1865" dirty="0"/>
          </a:p>
        </p:txBody>
      </p:sp>
      <p:sp>
        <p:nvSpPr>
          <p:cNvPr id="23" name="Text 17"/>
          <p:cNvSpPr/>
          <p:nvPr/>
        </p:nvSpPr>
        <p:spPr>
          <a:xfrm>
            <a:off x="3658871" y="5033144"/>
            <a:ext cx="111760" cy="245745"/>
          </a:xfrm>
          <a:prstGeom prst="rect">
            <a:avLst/>
          </a:prstGeom>
          <a:noFill/>
        </p:spPr>
        <p:txBody>
          <a:bodyPr wrap="none" lIns="0" tIns="0" rIns="0" bIns="0" rtlCol="0" anchor="t">
            <a:spAutoFit/>
          </a:bodyPr>
          <a:lstStyle/>
          <a:p>
            <a:pPr marL="0" indent="0" algn="ctr">
              <a:buNone/>
            </a:pPr>
            <a:r>
              <a:rPr lang="en-US" sz="16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a:t>
            </a:r>
            <a:endParaRPr lang="en-US" sz="1600" dirty="0"/>
          </a:p>
        </p:txBody>
      </p:sp>
      <p:sp>
        <p:nvSpPr>
          <p:cNvPr id="24" name="Text 18"/>
          <p:cNvSpPr/>
          <p:nvPr/>
        </p:nvSpPr>
        <p:spPr>
          <a:xfrm>
            <a:off x="4067175" y="5047432"/>
            <a:ext cx="3851275" cy="206375"/>
          </a:xfrm>
          <a:prstGeom prst="rect">
            <a:avLst/>
          </a:prstGeom>
          <a:noFill/>
        </p:spPr>
        <p:txBody>
          <a:bodyPr wrap="none" lIns="0" tIns="0" rIns="0" bIns="0" rtlCol="0" anchor="t">
            <a:spAutoFit/>
          </a:bodyPr>
          <a:lstStyle/>
          <a:p>
            <a:pPr marL="0" indent="0" algn="l">
              <a:lnSpc>
                <a:spcPct val="96000"/>
              </a:lnSpc>
              <a:buNone/>
            </a:pPr>
            <a:r>
              <a:rPr lang="en-US" sz="1400" dirty="0">
                <a:solidFill>
                  <a:srgbClr val="E1E9F2"/>
                </a:solidFill>
                <a:latin typeface="Arial" panose="020B0604020202020204" pitchFamily="34" charset="0"/>
                <a:ea typeface="Arial" panose="020B0604020202020204" pitchFamily="34" charset="-122"/>
                <a:cs typeface="Arial" panose="020B0604020202020204" pitchFamily="34" charset="-120"/>
              </a:rPr>
              <a:t>Finds the thing when you </a:t>
            </a:r>
            <a:r>
              <a:rPr lang="en-US" sz="1335" b="1" dirty="0">
                <a:solidFill>
                  <a:srgbClr val="FFFFFF"/>
                </a:solidFill>
                <a:latin typeface="Arial" panose="020B0604020202020204" pitchFamily="34" charset="0"/>
                <a:ea typeface="Arial" panose="020B0604020202020204" pitchFamily="34" charset="-122"/>
                <a:cs typeface="Arial" panose="020B0604020202020204" pitchFamily="34" charset="-120"/>
              </a:rPr>
              <a:t>don’t know where it is.</a:t>
            </a:r>
            <a:endParaRPr lang="en-US" sz="1400" dirty="0"/>
          </a:p>
        </p:txBody>
      </p:sp>
      <p:sp>
        <p:nvSpPr>
          <p:cNvPr id="25" name="Text 19"/>
          <p:cNvSpPr/>
          <p:nvPr/>
        </p:nvSpPr>
        <p:spPr>
          <a:xfrm>
            <a:off x="1028700" y="5742756"/>
            <a:ext cx="10134600" cy="174625"/>
          </a:xfrm>
          <a:prstGeom prst="rect">
            <a:avLst/>
          </a:prstGeom>
          <a:noFill/>
        </p:spPr>
        <p:txBody>
          <a:bodyPr wrap="square" lIns="0" tIns="0" rIns="0" bIns="0" rtlCol="0" anchor="t">
            <a:spAutoFit/>
          </a:bodyPr>
          <a:lstStyle/>
          <a:p>
            <a:pPr marL="0" indent="0" algn="l">
              <a:buNone/>
            </a:pPr>
            <a:r>
              <a:rPr lang="en-US" sz="1135" b="1" dirty="0">
                <a:solidFill>
                  <a:srgbClr val="FF6B1A"/>
                </a:solidFill>
                <a:latin typeface="Arial" panose="020B0604020202020204" pitchFamily="34" charset="0"/>
                <a:ea typeface="Arial" panose="020B0604020202020204" pitchFamily="34" charset="-122"/>
                <a:cs typeface="Arial" panose="020B0604020202020204" pitchFamily="34" charset="-120"/>
              </a:rPr>
              <a:t>LOOK WIDER. SEARCH SMARTER. FOLLOW THE CLUE.</a:t>
            </a:r>
            <a:endParaRPr lang="en-US" sz="1135" dirty="0"/>
          </a:p>
        </p:txBody>
      </p:sp>
      <p:sp>
        <p:nvSpPr>
          <p:cNvPr id="26" name="Shape 20"/>
          <p:cNvSpPr/>
          <p:nvPr/>
        </p:nvSpPr>
        <p:spPr>
          <a:xfrm>
            <a:off x="723900" y="6191251"/>
            <a:ext cx="10744200" cy="666751"/>
          </a:xfrm>
          <a:prstGeom prst="rect">
            <a:avLst/>
          </a:prstGeom>
          <a:solidFill>
            <a:srgbClr val="000000">
              <a:alpha val="0"/>
            </a:srgbClr>
          </a:solidFill>
        </p:spPr>
      </p:sp>
      <p:sp>
        <p:nvSpPr>
          <p:cNvPr id="27" name="Shape 21"/>
          <p:cNvSpPr/>
          <p:nvPr/>
        </p:nvSpPr>
        <p:spPr>
          <a:xfrm>
            <a:off x="723900" y="6191251"/>
            <a:ext cx="10744200" cy="9525"/>
          </a:xfrm>
          <a:prstGeom prst="rect">
            <a:avLst/>
          </a:prstGeom>
          <a:solidFill>
            <a:srgbClr val="FFFFFF"/>
          </a:solidFill>
        </p:spPr>
      </p:sp>
      <p:sp>
        <p:nvSpPr>
          <p:cNvPr id="28" name="Text 22"/>
          <p:cNvSpPr/>
          <p:nvPr/>
        </p:nvSpPr>
        <p:spPr>
          <a:xfrm>
            <a:off x="723900" y="6191251"/>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0:25–0:42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5169099" y="971551"/>
            <a:ext cx="1853803" cy="1094740"/>
          </a:xfrm>
          <a:prstGeom prst="rect">
            <a:avLst/>
          </a:prstGeom>
          <a:noFill/>
        </p:spPr>
        <p:txBody>
          <a:bodyPr wrap="square" lIns="0" tIns="941154" rIns="0" bIns="0" rtlCol="0" anchor="t">
            <a:spAutoFit/>
          </a:bodyPr>
          <a:lstStyle/>
          <a:p>
            <a:pPr marL="0" indent="0" algn="ctr">
              <a:buNone/>
            </a:pPr>
            <a:r>
              <a:rPr lang="en-US" sz="1000" b="1" kern="0" spc="3" dirty="0">
                <a:solidFill>
                  <a:srgbClr val="FF6B1A"/>
                </a:solidFill>
                <a:latin typeface="Arial" panose="020B0604020202020204" pitchFamily="34" charset="0"/>
                <a:ea typeface="Arial" panose="020B0604020202020204" pitchFamily="34" charset="-122"/>
                <a:cs typeface="Arial" panose="020B0604020202020204" pitchFamily="34" charset="-120"/>
              </a:rPr>
              <a:t>RESOURCE ALERT</a:t>
            </a:r>
            <a:endParaRPr lang="en-US" sz="1000" dirty="0"/>
          </a:p>
        </p:txBody>
      </p:sp>
      <p:sp>
        <p:nvSpPr>
          <p:cNvPr id="9" name="Text 3"/>
          <p:cNvSpPr/>
          <p:nvPr/>
        </p:nvSpPr>
        <p:spPr>
          <a:xfrm>
            <a:off x="6023610" y="2184401"/>
            <a:ext cx="144780" cy="317500"/>
          </a:xfrm>
          <a:prstGeom prst="rect">
            <a:avLst/>
          </a:prstGeom>
          <a:noFill/>
        </p:spPr>
        <p:txBody>
          <a:bodyPr wrap="none" lIns="0" tIns="0" rIns="0" bIns="0" rtlCol="0" anchor="ctr">
            <a:spAutoFit/>
          </a:bodyPr>
          <a:lstStyle/>
          <a:p>
            <a:pPr marL="0" indent="0" algn="ctr">
              <a:buNone/>
            </a:pPr>
            <a:r>
              <a:rPr lang="en-US" sz="206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a:t>
            </a:r>
            <a:endParaRPr lang="en-US" sz="2065" dirty="0"/>
          </a:p>
        </p:txBody>
      </p:sp>
      <p:sp>
        <p:nvSpPr>
          <p:cNvPr id="10" name="Text 4"/>
          <p:cNvSpPr/>
          <p:nvPr/>
        </p:nvSpPr>
        <p:spPr>
          <a:xfrm>
            <a:off x="1707161" y="2790825"/>
            <a:ext cx="8777605" cy="485140"/>
          </a:xfrm>
          <a:prstGeom prst="rect">
            <a:avLst/>
          </a:prstGeom>
          <a:noFill/>
        </p:spPr>
        <p:txBody>
          <a:bodyPr wrap="none" lIns="0" tIns="0" rIns="0" bIns="0" rtlCol="0" anchor="t">
            <a:spAutoFit/>
          </a:bodyPr>
          <a:lstStyle/>
          <a:p>
            <a:pPr marL="0" indent="0" algn="ctr">
              <a:lnSpc>
                <a:spcPct val="86000"/>
              </a:lnSpc>
              <a:buNone/>
            </a:pPr>
            <a:r>
              <a:rPr lang="en-US" sz="36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DO NOT START THE </a:t>
            </a:r>
            <a:r>
              <a:rPr lang="en-US" sz="3665" b="1" kern="0" spc="-1" dirty="0">
                <a:solidFill>
                  <a:srgbClr val="FF6B1A"/>
                </a:solidFill>
                <a:latin typeface="Arial" panose="020B0604020202020204" pitchFamily="34" charset="0"/>
                <a:ea typeface="Arial" panose="020B0604020202020204" pitchFamily="34" charset="-122"/>
                <a:cs typeface="Arial" panose="020B0604020202020204" pitchFamily="34" charset="-120"/>
              </a:rPr>
              <a:t>ATTACKBOX</a:t>
            </a:r>
            <a:r>
              <a:rPr lang="en-US" sz="36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 YET.</a:t>
            </a:r>
            <a:endParaRPr lang="en-US" sz="3665" dirty="0"/>
          </a:p>
        </p:txBody>
      </p:sp>
      <p:sp>
        <p:nvSpPr>
          <p:cNvPr id="11" name="Text 5"/>
          <p:cNvSpPr/>
          <p:nvPr/>
        </p:nvSpPr>
        <p:spPr>
          <a:xfrm>
            <a:off x="4020667" y="3879652"/>
            <a:ext cx="4150668" cy="548640"/>
          </a:xfrm>
          <a:prstGeom prst="rect">
            <a:avLst/>
          </a:prstGeom>
          <a:noFill/>
        </p:spPr>
        <p:txBody>
          <a:bodyPr wrap="square" lIns="0" tIns="0" rIns="0" bIns="0" rtlCol="0" anchor="t">
            <a:spAutoFit/>
          </a:bodyPr>
          <a:lstStyle/>
          <a:p>
            <a:pPr marL="0" indent="0" algn="ctr">
              <a:lnSpc>
                <a:spcPct val="107000"/>
              </a:lnSpc>
              <a:buNone/>
            </a:pPr>
            <a:r>
              <a:rPr lang="en-US" sz="1665" dirty="0">
                <a:solidFill>
                  <a:srgbClr val="D4DCE7"/>
                </a:solidFill>
                <a:latin typeface="Arial" panose="020B0604020202020204" pitchFamily="34" charset="0"/>
                <a:ea typeface="Arial" panose="020B0604020202020204" pitchFamily="34" charset="-122"/>
                <a:cs typeface="Arial" panose="020B0604020202020204" pitchFamily="34" charset="-120"/>
              </a:rPr>
              <a:t>Free accounts get about </a:t>
            </a: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1 hour per day.</a:t>
            </a:r>
            <a:r>
              <a:rPr lang="en-US" sz="1665" dirty="0">
                <a:solidFill>
                  <a:srgbClr val="D4DCE7"/>
                </a:solidFill>
                <a:latin typeface="Arial" panose="020B0604020202020204" pitchFamily="34" charset="0"/>
                <a:ea typeface="Arial" panose="020B0604020202020204" pitchFamily="34" charset="-122"/>
                <a:cs typeface="Arial" panose="020B0604020202020204" pitchFamily="34" charset="-120"/>
              </a:rPr>
              <a:t>
You’ll need it later in this class.</a:t>
            </a:r>
            <a:endParaRPr lang="en-US" sz="1665" dirty="0"/>
          </a:p>
        </p:txBody>
      </p:sp>
      <p:sp>
        <p:nvSpPr>
          <p:cNvPr id="12" name="Text 6"/>
          <p:cNvSpPr/>
          <p:nvPr/>
        </p:nvSpPr>
        <p:spPr>
          <a:xfrm>
            <a:off x="3670399" y="4682728"/>
            <a:ext cx="4851201" cy="184150"/>
          </a:xfrm>
          <a:prstGeom prst="rect">
            <a:avLst/>
          </a:prstGeom>
          <a:noFill/>
        </p:spPr>
        <p:txBody>
          <a:bodyPr wrap="square" lIns="0" tIns="0" rIns="0" bIns="0" rtlCol="0" anchor="t">
            <a:spAutoFit/>
          </a:bodyPr>
          <a:lstStyle/>
          <a:p>
            <a:pPr marL="0" indent="0" algn="ctr">
              <a:buNone/>
            </a:pPr>
            <a:r>
              <a:rPr lang="en-US" sz="1200" b="1" kern="0" spc="1" dirty="0">
                <a:solidFill>
                  <a:srgbClr val="00D4FF"/>
                </a:solidFill>
                <a:latin typeface="Arial" panose="020B0604020202020204" pitchFamily="34" charset="0"/>
                <a:ea typeface="Arial" panose="020B0604020202020204" pitchFamily="34" charset="-122"/>
                <a:cs typeface="Arial" panose="020B0604020202020204" pitchFamily="34" charset="-120"/>
              </a:rPr>
              <a:t>KEEP THE TIME. USE IT WHEN THE LAB REQUIRES IT.</a:t>
            </a:r>
            <a:endParaRPr lang="en-US" sz="1200" dirty="0"/>
          </a:p>
        </p:txBody>
      </p:sp>
      <p:sp>
        <p:nvSpPr>
          <p:cNvPr id="13" name="Shape 7"/>
          <p:cNvSpPr/>
          <p:nvPr/>
        </p:nvSpPr>
        <p:spPr>
          <a:xfrm>
            <a:off x="723900" y="6172200"/>
            <a:ext cx="10744200" cy="685800"/>
          </a:xfrm>
          <a:prstGeom prst="rect">
            <a:avLst/>
          </a:prstGeom>
          <a:solidFill>
            <a:srgbClr val="000000">
              <a:alpha val="0"/>
            </a:srgbClr>
          </a:solidFill>
        </p:spPr>
      </p:sp>
      <p:sp>
        <p:nvSpPr>
          <p:cNvPr id="14" name="Shape 8"/>
          <p:cNvSpPr/>
          <p:nvPr/>
        </p:nvSpPr>
        <p:spPr>
          <a:xfrm>
            <a:off x="723900" y="6172200"/>
            <a:ext cx="10744200" cy="9525"/>
          </a:xfrm>
          <a:prstGeom prst="rect">
            <a:avLst/>
          </a:prstGeom>
          <a:solidFill>
            <a:srgbClr val="FFFFFF"/>
          </a:solidFill>
        </p:spPr>
      </p:sp>
      <p:sp>
        <p:nvSpPr>
          <p:cNvPr id="15" name="Text 9"/>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0:25–0:42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1905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Shape 2"/>
          <p:cNvSpPr/>
          <p:nvPr/>
        </p:nvSpPr>
        <p:spPr>
          <a:xfrm>
            <a:off x="971551" y="1562100"/>
            <a:ext cx="5048251" cy="3105151"/>
          </a:xfrm>
          <a:prstGeom prst="rect">
            <a:avLst/>
          </a:prstGeom>
          <a:solidFill>
            <a:srgbClr val="00D4FF">
              <a:alpha val="4000"/>
            </a:srgbClr>
          </a:solidFill>
          <a:ln w="9144">
            <a:solidFill>
              <a:srgbClr val="00D4FF">
                <a:alpha val="78000"/>
              </a:srgbClr>
            </a:solidFill>
            <a:prstDash val="dash"/>
          </a:ln>
        </p:spPr>
      </p:sp>
      <p:sp>
        <p:nvSpPr>
          <p:cNvPr id="9" name="Text 3"/>
          <p:cNvSpPr/>
          <p:nvPr/>
        </p:nvSpPr>
        <p:spPr>
          <a:xfrm>
            <a:off x="2209577" y="2805112"/>
            <a:ext cx="2572196" cy="174625"/>
          </a:xfrm>
          <a:prstGeom prst="rect">
            <a:avLst/>
          </a:prstGeom>
          <a:noFill/>
        </p:spPr>
        <p:txBody>
          <a:bodyPr wrap="square" lIns="0" tIns="0" rIns="0" bIns="0" rtlCol="0" anchor="t">
            <a:spAutoFit/>
          </a:bodyPr>
          <a:lstStyle/>
          <a:p>
            <a:pPr marL="0" indent="0" algn="l">
              <a:buNone/>
            </a:pPr>
            <a:r>
              <a:rPr lang="en-US" sz="11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 screenshot: room page ]</a:t>
            </a:r>
            <a:endParaRPr lang="en-US" sz="1135" dirty="0"/>
          </a:p>
        </p:txBody>
      </p:sp>
      <p:sp>
        <p:nvSpPr>
          <p:cNvPr id="10" name="Text 4"/>
          <p:cNvSpPr/>
          <p:nvPr/>
        </p:nvSpPr>
        <p:spPr>
          <a:xfrm>
            <a:off x="1475855" y="3271837"/>
            <a:ext cx="4039568" cy="153670"/>
          </a:xfrm>
          <a:prstGeom prst="rect">
            <a:avLst/>
          </a:prstGeom>
          <a:noFill/>
        </p:spPr>
        <p:txBody>
          <a:bodyPr wrap="square" lIns="0" tIns="0" rIns="0" bIns="0" rtlCol="0" anchor="t">
            <a:spAutoFit/>
          </a:bodyPr>
          <a:lstStyle/>
          <a:p>
            <a:pPr marL="0" indent="0" algn="l">
              <a:buNone/>
            </a:pPr>
            <a:r>
              <a:rPr lang="en-US" sz="1000" dirty="0">
                <a:solidFill>
                  <a:srgbClr val="8291A7"/>
                </a:solidFill>
                <a:latin typeface="Arial" panose="020B0604020202020204" pitchFamily="34" charset="0"/>
                <a:ea typeface="Arial" panose="020B0604020202020204" pitchFamily="34" charset="-122"/>
                <a:cs typeface="Arial" panose="020B0604020202020204" pitchFamily="34" charset="-120"/>
              </a:rPr>
              <a:t>Replace with the TryHackMe Linux Fundamentals Part 1 room page.</a:t>
            </a:r>
            <a:endParaRPr lang="en-US" sz="1000" dirty="0"/>
          </a:p>
        </p:txBody>
      </p:sp>
      <p:sp>
        <p:nvSpPr>
          <p:cNvPr id="11" name="Text 5"/>
          <p:cNvSpPr/>
          <p:nvPr/>
        </p:nvSpPr>
        <p:spPr>
          <a:xfrm>
            <a:off x="6657975" y="1400175"/>
            <a:ext cx="4562475" cy="144145"/>
          </a:xfrm>
          <a:prstGeom prst="rect">
            <a:avLst/>
          </a:prstGeom>
          <a:noFill/>
        </p:spPr>
        <p:txBody>
          <a:bodyPr wrap="square" lIns="0" tIns="0" rIns="0" bIns="0" rtlCol="0" anchor="t">
            <a:spAutoFit/>
          </a:bodyPr>
          <a:lstStyle/>
          <a:p>
            <a:pPr marL="0" indent="0" algn="l">
              <a:buNone/>
            </a:pPr>
            <a:r>
              <a:rPr lang="en-US" sz="935" b="1" kern="0" spc="3" dirty="0">
                <a:solidFill>
                  <a:srgbClr val="FF6B1A"/>
                </a:solidFill>
                <a:latin typeface="Arial" panose="020B0604020202020204" pitchFamily="34" charset="0"/>
                <a:ea typeface="Arial" panose="020B0604020202020204" pitchFamily="34" charset="-122"/>
                <a:cs typeface="Arial" panose="020B0604020202020204" pitchFamily="34" charset="-120"/>
              </a:rPr>
              <a:t>LAB 1 — LIVE PRACTICE</a:t>
            </a:r>
            <a:endParaRPr lang="en-US" sz="935" dirty="0"/>
          </a:p>
        </p:txBody>
      </p:sp>
      <p:sp>
        <p:nvSpPr>
          <p:cNvPr id="12" name="Text 6"/>
          <p:cNvSpPr/>
          <p:nvPr/>
        </p:nvSpPr>
        <p:spPr>
          <a:xfrm>
            <a:off x="6657975" y="1666875"/>
            <a:ext cx="4381500" cy="687070"/>
          </a:xfrm>
          <a:prstGeom prst="rect">
            <a:avLst/>
          </a:prstGeom>
          <a:noFill/>
        </p:spPr>
        <p:txBody>
          <a:bodyPr wrap="square" lIns="0" tIns="0" rIns="0" bIns="0" rtlCol="0" anchor="t">
            <a:spAutoFit/>
          </a:bodyPr>
          <a:lstStyle/>
          <a:p>
            <a:pPr marL="0" indent="0" algn="l">
              <a:lnSpc>
                <a:spcPct val="86000"/>
              </a:lnSpc>
              <a:buNone/>
            </a:pPr>
            <a:r>
              <a:rPr lang="en-US" sz="2600"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TryHackMe → Linux Fundamentals Part 1</a:t>
            </a:r>
            <a:endParaRPr lang="en-US" sz="2600" dirty="0"/>
          </a:p>
        </p:txBody>
      </p:sp>
      <p:sp>
        <p:nvSpPr>
          <p:cNvPr id="13" name="Text 7"/>
          <p:cNvSpPr/>
          <p:nvPr/>
        </p:nvSpPr>
        <p:spPr>
          <a:xfrm>
            <a:off x="6657975" y="2593032"/>
            <a:ext cx="4562475" cy="184150"/>
          </a:xfrm>
          <a:prstGeom prst="rect">
            <a:avLst/>
          </a:prstGeom>
          <a:noFill/>
        </p:spPr>
        <p:txBody>
          <a:bodyPr wrap="square" lIns="0" tIns="0" rIns="0" bIns="0" rtlCol="0" anchor="t">
            <a:spAutoFit/>
          </a:bodyPr>
          <a:lstStyle/>
          <a:p>
            <a:pPr marL="0" indent="0" algn="l">
              <a:buNone/>
            </a:pPr>
            <a:r>
              <a:rPr lang="en-US" sz="1200" b="1" dirty="0">
                <a:solidFill>
                  <a:srgbClr val="00D4FF"/>
                </a:solidFill>
                <a:latin typeface="Arial" panose="020B0604020202020204" pitchFamily="34" charset="0"/>
                <a:ea typeface="Arial" panose="020B0604020202020204" pitchFamily="34" charset="-122"/>
                <a:cs typeface="Arial" panose="020B0604020202020204" pitchFamily="34" charset="-120"/>
              </a:rPr>
              <a:t>Your first command-line lab.</a:t>
            </a:r>
            <a:endParaRPr lang="en-US" sz="1200" dirty="0"/>
          </a:p>
        </p:txBody>
      </p:sp>
      <p:sp>
        <p:nvSpPr>
          <p:cNvPr id="14" name="Text 8"/>
          <p:cNvSpPr/>
          <p:nvPr/>
        </p:nvSpPr>
        <p:spPr>
          <a:xfrm>
            <a:off x="6657975" y="3328839"/>
            <a:ext cx="167640" cy="184150"/>
          </a:xfrm>
          <a:prstGeom prst="rect">
            <a:avLst/>
          </a:prstGeom>
          <a:noFill/>
        </p:spPr>
        <p:txBody>
          <a:bodyPr wrap="none" lIns="0" tIns="0" rIns="0" bIns="0" rtlCol="0" anchor="t">
            <a:spAutoFit/>
          </a:bodyPr>
          <a:lstStyle/>
          <a:p>
            <a:pPr marL="0" indent="0" algn="l">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01</a:t>
            </a:r>
            <a:endParaRPr lang="en-US" sz="1200" dirty="0"/>
          </a:p>
        </p:txBody>
      </p:sp>
      <p:sp>
        <p:nvSpPr>
          <p:cNvPr id="15" name="Text 9"/>
          <p:cNvSpPr/>
          <p:nvPr/>
        </p:nvSpPr>
        <p:spPr>
          <a:xfrm>
            <a:off x="7096125" y="3309343"/>
            <a:ext cx="3429635" cy="201930"/>
          </a:xfrm>
          <a:prstGeom prst="rect">
            <a:avLst/>
          </a:prstGeom>
          <a:noFill/>
        </p:spPr>
        <p:txBody>
          <a:bodyPr wrap="none" lIns="0" tIns="0" rIns="0" bIns="0" rtlCol="0" anchor="t">
            <a:spAutoFit/>
          </a:bodyPr>
          <a:lstStyle/>
          <a:p>
            <a:pPr marL="0" indent="0" algn="l">
              <a:lnSpc>
                <a:spcPct val="98000"/>
              </a:lnSpc>
              <a:buNone/>
            </a:pP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Runs in your </a:t>
            </a:r>
            <a:r>
              <a:rPr lang="en-US" sz="1335" b="1" dirty="0">
                <a:solidFill>
                  <a:srgbClr val="FF8A4B"/>
                </a:solidFill>
                <a:latin typeface="Arial" panose="020B0604020202020204" pitchFamily="34" charset="0"/>
                <a:ea typeface="Arial" panose="020B0604020202020204" pitchFamily="34" charset="-122"/>
                <a:cs typeface="Arial" panose="020B0604020202020204" pitchFamily="34" charset="-120"/>
              </a:rPr>
              <a:t>browser</a:t>
            </a: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 — nothing to install.</a:t>
            </a:r>
            <a:endParaRPr lang="en-US" sz="1335" dirty="0"/>
          </a:p>
        </p:txBody>
      </p:sp>
      <p:sp>
        <p:nvSpPr>
          <p:cNvPr id="16" name="Text 10"/>
          <p:cNvSpPr/>
          <p:nvPr/>
        </p:nvSpPr>
        <p:spPr>
          <a:xfrm>
            <a:off x="6657975" y="4090839"/>
            <a:ext cx="167640" cy="184150"/>
          </a:xfrm>
          <a:prstGeom prst="rect">
            <a:avLst/>
          </a:prstGeom>
          <a:noFill/>
        </p:spPr>
        <p:txBody>
          <a:bodyPr wrap="none" lIns="0" tIns="0" rIns="0" bIns="0" rtlCol="0" anchor="t">
            <a:spAutoFit/>
          </a:bodyPr>
          <a:lstStyle/>
          <a:p>
            <a:pPr marL="0" indent="0" algn="l">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02</a:t>
            </a:r>
            <a:endParaRPr lang="en-US" sz="1200" dirty="0"/>
          </a:p>
        </p:txBody>
      </p:sp>
      <p:sp>
        <p:nvSpPr>
          <p:cNvPr id="17" name="Text 11"/>
          <p:cNvSpPr/>
          <p:nvPr/>
        </p:nvSpPr>
        <p:spPr>
          <a:xfrm>
            <a:off x="7096125" y="4071343"/>
            <a:ext cx="2482850" cy="201930"/>
          </a:xfrm>
          <a:prstGeom prst="rect">
            <a:avLst/>
          </a:prstGeom>
          <a:noFill/>
        </p:spPr>
        <p:txBody>
          <a:bodyPr wrap="none" lIns="0" tIns="0" rIns="0" bIns="0" rtlCol="0" anchor="t">
            <a:spAutoFit/>
          </a:bodyPr>
          <a:lstStyle/>
          <a:p>
            <a:pPr marL="0" indent="0" algn="l">
              <a:lnSpc>
                <a:spcPct val="98000"/>
              </a:lnSpc>
              <a:buNone/>
            </a:pP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Type </a:t>
            </a:r>
            <a:r>
              <a:rPr lang="en-US" sz="1335" b="1" dirty="0">
                <a:solidFill>
                  <a:srgbClr val="FF8A4B"/>
                </a:solidFill>
                <a:latin typeface="Arial" panose="020B0604020202020204" pitchFamily="34" charset="0"/>
                <a:ea typeface="Arial" panose="020B0604020202020204" pitchFamily="34" charset="-122"/>
                <a:cs typeface="Arial" panose="020B0604020202020204" pitchFamily="34" charset="-120"/>
              </a:rPr>
              <a:t>every command</a:t>
            </a: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 yourself.</a:t>
            </a:r>
            <a:endParaRPr lang="en-US" sz="1335" dirty="0"/>
          </a:p>
        </p:txBody>
      </p:sp>
      <p:sp>
        <p:nvSpPr>
          <p:cNvPr id="18" name="Text 12"/>
          <p:cNvSpPr/>
          <p:nvPr/>
        </p:nvSpPr>
        <p:spPr>
          <a:xfrm>
            <a:off x="6657975" y="4852839"/>
            <a:ext cx="167640" cy="184150"/>
          </a:xfrm>
          <a:prstGeom prst="rect">
            <a:avLst/>
          </a:prstGeom>
          <a:noFill/>
        </p:spPr>
        <p:txBody>
          <a:bodyPr wrap="none" lIns="0" tIns="0" rIns="0" bIns="0" rtlCol="0" anchor="t">
            <a:spAutoFit/>
          </a:bodyPr>
          <a:lstStyle/>
          <a:p>
            <a:pPr marL="0" indent="0" algn="l">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03</a:t>
            </a:r>
            <a:endParaRPr lang="en-US" sz="1200" dirty="0"/>
          </a:p>
        </p:txBody>
      </p:sp>
      <p:sp>
        <p:nvSpPr>
          <p:cNvPr id="19" name="Text 13"/>
          <p:cNvSpPr/>
          <p:nvPr/>
        </p:nvSpPr>
        <p:spPr>
          <a:xfrm>
            <a:off x="7096125" y="4833343"/>
            <a:ext cx="3263900" cy="201930"/>
          </a:xfrm>
          <a:prstGeom prst="rect">
            <a:avLst/>
          </a:prstGeom>
          <a:noFill/>
        </p:spPr>
        <p:txBody>
          <a:bodyPr wrap="none" lIns="0" tIns="0" rIns="0" bIns="0" rtlCol="0" anchor="t">
            <a:spAutoFit/>
          </a:bodyPr>
          <a:lstStyle/>
          <a:p>
            <a:pPr marL="0" indent="0" algn="l">
              <a:lnSpc>
                <a:spcPct val="98000"/>
              </a:lnSpc>
              <a:buNone/>
            </a:pP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Answer the room’s questions as you go.</a:t>
            </a:r>
            <a:endParaRPr lang="en-US" sz="1335" dirty="0"/>
          </a:p>
        </p:txBody>
      </p:sp>
      <p:sp>
        <p:nvSpPr>
          <p:cNvPr id="20" name="Shape 14"/>
          <p:cNvSpPr/>
          <p:nvPr/>
        </p:nvSpPr>
        <p:spPr>
          <a:xfrm>
            <a:off x="723900" y="6191251"/>
            <a:ext cx="10744200" cy="666751"/>
          </a:xfrm>
          <a:prstGeom prst="rect">
            <a:avLst/>
          </a:prstGeom>
          <a:solidFill>
            <a:srgbClr val="000000">
              <a:alpha val="0"/>
            </a:srgbClr>
          </a:solidFill>
        </p:spPr>
      </p:sp>
      <p:sp>
        <p:nvSpPr>
          <p:cNvPr id="21" name="Shape 15"/>
          <p:cNvSpPr/>
          <p:nvPr/>
        </p:nvSpPr>
        <p:spPr>
          <a:xfrm>
            <a:off x="723900" y="6191251"/>
            <a:ext cx="10744200" cy="9525"/>
          </a:xfrm>
          <a:prstGeom prst="rect">
            <a:avLst/>
          </a:prstGeom>
          <a:solidFill>
            <a:srgbClr val="FFFFFF"/>
          </a:solidFill>
        </p:spPr>
      </p:sp>
      <p:sp>
        <p:nvSpPr>
          <p:cNvPr id="22" name="Text 16"/>
          <p:cNvSpPr/>
          <p:nvPr/>
        </p:nvSpPr>
        <p:spPr>
          <a:xfrm>
            <a:off x="723900" y="6362700"/>
            <a:ext cx="3105671" cy="174625"/>
          </a:xfrm>
          <a:prstGeom prst="rect">
            <a:avLst/>
          </a:prstGeom>
          <a:noFill/>
        </p:spPr>
        <p:txBody>
          <a:bodyPr wrap="square" lIns="0" tIns="0" rIns="0" bIns="0" rtlCol="0" anchor="t">
            <a:spAutoFit/>
          </a:bodyPr>
          <a:lstStyle/>
          <a:p>
            <a:pPr marL="0" indent="0" algn="l">
              <a:buNone/>
            </a:pPr>
            <a:r>
              <a:rPr lang="en-US" sz="1065" b="1" dirty="0">
                <a:solidFill>
                  <a:srgbClr val="00D4FF"/>
                </a:solidFill>
                <a:latin typeface="Arial" panose="020B0604020202020204" pitchFamily="34" charset="0"/>
                <a:ea typeface="Arial" panose="020B0604020202020204" pitchFamily="34" charset="-122"/>
                <a:cs typeface="Arial" panose="020B0604020202020204" pitchFamily="34" charset="-120"/>
              </a:rPr>
              <a:t>REMEMBER:</a:t>
            </a:r>
            <a:r>
              <a:rPr lang="en-US" sz="1135" dirty="0">
                <a:solidFill>
                  <a:srgbClr val="A1ADBD"/>
                </a:solidFill>
                <a:latin typeface="Arial" panose="020B0604020202020204" pitchFamily="34" charset="0"/>
                <a:ea typeface="Arial" panose="020B0604020202020204" pitchFamily="34" charset="-122"/>
                <a:cs typeface="Arial" panose="020B0604020202020204" pitchFamily="34" charset="-120"/>
              </a:rPr>
              <a:t> Copying is not learning. Type it.</a:t>
            </a:r>
            <a:endParaRPr lang="en-US" sz="1065" dirty="0"/>
          </a:p>
        </p:txBody>
      </p:sp>
      <p:sp>
        <p:nvSpPr>
          <p:cNvPr id="23" name="Text 17"/>
          <p:cNvSpPr/>
          <p:nvPr/>
        </p:nvSpPr>
        <p:spPr>
          <a:xfrm>
            <a:off x="10874797" y="6362700"/>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0:25–0:42</a:t>
            </a:r>
            <a:endParaRPr lang="en-US" sz="1000" dirty="0"/>
          </a:p>
        </p:txBody>
      </p:sp>
      <p:pic>
        <p:nvPicPr>
          <p:cNvPr id="24" name="Picture 23"/>
          <p:cNvPicPr>
            <a:picLocks noChangeAspect="1"/>
          </p:cNvPicPr>
          <p:nvPr/>
        </p:nvPicPr>
        <p:blipFill>
          <a:blip r:embed="rId4"/>
          <a:stretch>
            <a:fillRect/>
          </a:stretch>
        </p:blipFill>
        <p:spPr>
          <a:xfrm>
            <a:off x="723900" y="1562100"/>
            <a:ext cx="5663565" cy="31045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4491781" y="2370683"/>
            <a:ext cx="3208437" cy="153670"/>
          </a:xfrm>
          <a:prstGeom prst="rect">
            <a:avLst/>
          </a:prstGeom>
          <a:noFill/>
        </p:spPr>
        <p:txBody>
          <a:bodyPr wrap="square" lIns="0" tIns="0" rIns="0" bIns="0" rtlCol="0" anchor="t">
            <a:spAutoFit/>
          </a:bodyPr>
          <a:lstStyle/>
          <a:p>
            <a:pPr marL="0" indent="0" algn="ctr">
              <a:buNone/>
            </a:pPr>
            <a:r>
              <a:rPr lang="en-US" sz="1000"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SECTION 03 — LIVE PRACTICE</a:t>
            </a:r>
            <a:endParaRPr lang="en-US" sz="1000" dirty="0"/>
          </a:p>
        </p:txBody>
      </p:sp>
      <p:sp>
        <p:nvSpPr>
          <p:cNvPr id="9" name="Text 3"/>
          <p:cNvSpPr/>
          <p:nvPr/>
        </p:nvSpPr>
        <p:spPr>
          <a:xfrm>
            <a:off x="2835593" y="2761208"/>
            <a:ext cx="6520815" cy="671195"/>
          </a:xfrm>
          <a:prstGeom prst="rect">
            <a:avLst/>
          </a:prstGeom>
          <a:noFill/>
        </p:spPr>
        <p:txBody>
          <a:bodyPr wrap="none" lIns="0" tIns="0" rIns="0" bIns="0" rtlCol="0" anchor="t">
            <a:spAutoFit/>
          </a:bodyPr>
          <a:lstStyle/>
          <a:p>
            <a:pPr marL="0" indent="0" algn="ctr">
              <a:lnSpc>
                <a:spcPct val="77000"/>
              </a:lnSpc>
              <a:buNone/>
            </a:pPr>
            <a:r>
              <a:rPr lang="en-US" sz="5665" b="1" kern="0" spc="-2" dirty="0">
                <a:solidFill>
                  <a:srgbClr val="FFFFFF"/>
                </a:solidFill>
                <a:latin typeface="Arial" panose="020B0604020202020204" pitchFamily="34" charset="0"/>
                <a:ea typeface="Arial" panose="020B0604020202020204" pitchFamily="34" charset="-122"/>
                <a:cs typeface="Arial" panose="020B0604020202020204" pitchFamily="34" charset="-120"/>
              </a:rPr>
              <a:t>YOUR FIRST FLAG</a:t>
            </a:r>
            <a:endParaRPr lang="en-US" sz="5665" dirty="0"/>
          </a:p>
        </p:txBody>
      </p:sp>
      <p:sp>
        <p:nvSpPr>
          <p:cNvPr id="10" name="Text 4"/>
          <p:cNvSpPr/>
          <p:nvPr/>
        </p:nvSpPr>
        <p:spPr>
          <a:xfrm>
            <a:off x="3630216" y="4025355"/>
            <a:ext cx="4931569" cy="287020"/>
          </a:xfrm>
          <a:prstGeom prst="rect">
            <a:avLst/>
          </a:prstGeom>
          <a:noFill/>
        </p:spPr>
        <p:txBody>
          <a:bodyPr wrap="square" lIns="0" tIns="0" rIns="0" bIns="0" rtlCol="0" anchor="t">
            <a:spAutoFit/>
          </a:bodyPr>
          <a:lstStyle/>
          <a:p>
            <a:pPr marL="0" indent="0" algn="ctr">
              <a:buNone/>
            </a:pPr>
            <a:r>
              <a:rPr lang="en-US" sz="1865" b="1" dirty="0">
                <a:solidFill>
                  <a:srgbClr val="FFFFFF"/>
                </a:solidFill>
                <a:latin typeface="Arial" panose="020B0604020202020204" pitchFamily="34" charset="0"/>
                <a:ea typeface="Arial" panose="020B0604020202020204" pitchFamily="34" charset="-122"/>
                <a:cs typeface="Arial" panose="020B0604020202020204" pitchFamily="34" charset="-120"/>
              </a:rPr>
              <a:t>Everyone. </a:t>
            </a:r>
            <a:r>
              <a:rPr lang="en-US" sz="1865" b="1" dirty="0">
                <a:solidFill>
                  <a:srgbClr val="FF6B1A"/>
                </a:solidFill>
                <a:latin typeface="Arial" panose="020B0604020202020204" pitchFamily="34" charset="0"/>
                <a:ea typeface="Arial" panose="020B0604020202020204" pitchFamily="34" charset="-122"/>
                <a:cs typeface="Arial" panose="020B0604020202020204" pitchFamily="34" charset="-120"/>
              </a:rPr>
              <a:t>Own hands.</a:t>
            </a:r>
            <a:r>
              <a:rPr lang="en-US" sz="1865" b="1" dirty="0">
                <a:solidFill>
                  <a:srgbClr val="FFFFFF"/>
                </a:solidFill>
                <a:latin typeface="Arial" panose="020B0604020202020204" pitchFamily="34" charset="0"/>
                <a:ea typeface="Arial" panose="020B0604020202020204" pitchFamily="34" charset="-122"/>
                <a:cs typeface="Arial" panose="020B0604020202020204" pitchFamily="34" charset="-120"/>
              </a:rPr>
              <a:t> No exceptions.</a:t>
            </a:r>
            <a:endParaRPr lang="en-US" sz="1865" dirty="0"/>
          </a:p>
        </p:txBody>
      </p:sp>
      <p:sp>
        <p:nvSpPr>
          <p:cNvPr id="11" name="Text 5"/>
          <p:cNvSpPr/>
          <p:nvPr/>
        </p:nvSpPr>
        <p:spPr>
          <a:xfrm>
            <a:off x="4285952" y="4611141"/>
            <a:ext cx="3620095" cy="153670"/>
          </a:xfrm>
          <a:prstGeom prst="rect">
            <a:avLst/>
          </a:prstGeom>
          <a:noFill/>
        </p:spPr>
        <p:txBody>
          <a:bodyPr wrap="square" lIns="0" tIns="0" rIns="0" bIns="0" rtlCol="0" anchor="t">
            <a:spAutoFit/>
          </a:bodyPr>
          <a:lstStyle/>
          <a:p>
            <a:pPr marL="0" indent="0" algn="ctr">
              <a:buNone/>
            </a:pPr>
            <a:r>
              <a:rPr lang="en-US" sz="1000" b="1" kern="0" spc="1" dirty="0">
                <a:solidFill>
                  <a:srgbClr val="8A96AA"/>
                </a:solidFill>
                <a:latin typeface="Consolas" panose="020B0609020204030204" pitchFamily="34" charset="0"/>
                <a:ea typeface="Consolas" panose="020B0609020204030204" pitchFamily="34" charset="-122"/>
                <a:cs typeface="Consolas" panose="020B0609020204030204" pitchFamily="34" charset="-120"/>
              </a:rPr>
              <a:t>NO COPY / NO GUESS / FIND THE EVIDENCE</a:t>
            </a:r>
            <a:endParaRPr lang="en-US" sz="1000" dirty="0"/>
          </a:p>
        </p:txBody>
      </p:sp>
      <p:sp>
        <p:nvSpPr>
          <p:cNvPr id="12" name="Shape 6"/>
          <p:cNvSpPr/>
          <p:nvPr/>
        </p:nvSpPr>
        <p:spPr>
          <a:xfrm>
            <a:off x="723900" y="6172200"/>
            <a:ext cx="10744200" cy="685800"/>
          </a:xfrm>
          <a:prstGeom prst="rect">
            <a:avLst/>
          </a:prstGeom>
          <a:solidFill>
            <a:srgbClr val="000000">
              <a:alpha val="0"/>
            </a:srgbClr>
          </a:solidFill>
        </p:spPr>
      </p:sp>
      <p:sp>
        <p:nvSpPr>
          <p:cNvPr id="13" name="Shape 7"/>
          <p:cNvSpPr/>
          <p:nvPr/>
        </p:nvSpPr>
        <p:spPr>
          <a:xfrm>
            <a:off x="723900" y="6172200"/>
            <a:ext cx="10744200" cy="9525"/>
          </a:xfrm>
          <a:prstGeom prst="rect">
            <a:avLst/>
          </a:prstGeom>
          <a:solidFill>
            <a:srgbClr val="FFFFFF"/>
          </a:solidFill>
        </p:spPr>
      </p:sp>
      <p:sp>
        <p:nvSpPr>
          <p:cNvPr id="14" name="Text 8"/>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0:42–1:12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Shape 2"/>
          <p:cNvSpPr/>
          <p:nvPr/>
        </p:nvSpPr>
        <p:spPr>
          <a:xfrm>
            <a:off x="971551" y="1562100"/>
            <a:ext cx="5048251" cy="3105151"/>
          </a:xfrm>
          <a:prstGeom prst="rect">
            <a:avLst/>
          </a:prstGeom>
          <a:solidFill>
            <a:srgbClr val="00D4FF">
              <a:alpha val="4000"/>
            </a:srgbClr>
          </a:solidFill>
          <a:ln w="9144">
            <a:solidFill>
              <a:srgbClr val="00D4FF">
                <a:alpha val="78000"/>
              </a:srgbClr>
            </a:solidFill>
            <a:prstDash val="dash"/>
          </a:ln>
        </p:spPr>
      </p:sp>
      <p:sp>
        <p:nvSpPr>
          <p:cNvPr id="9" name="Text 3"/>
          <p:cNvSpPr/>
          <p:nvPr/>
        </p:nvSpPr>
        <p:spPr>
          <a:xfrm>
            <a:off x="2106663" y="2805112"/>
            <a:ext cx="2777952" cy="174625"/>
          </a:xfrm>
          <a:prstGeom prst="rect">
            <a:avLst/>
          </a:prstGeom>
          <a:noFill/>
        </p:spPr>
        <p:txBody>
          <a:bodyPr wrap="square" lIns="0" tIns="0" rIns="0" bIns="0" rtlCol="0" anchor="t">
            <a:spAutoFit/>
          </a:bodyPr>
          <a:lstStyle/>
          <a:p>
            <a:pPr marL="0" indent="0" algn="l">
              <a:buNone/>
            </a:pPr>
            <a:r>
              <a:rPr lang="en-US" sz="11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 screenshot: OhSINT room ]</a:t>
            </a:r>
            <a:endParaRPr lang="en-US" sz="1135" dirty="0"/>
          </a:p>
        </p:txBody>
      </p:sp>
      <p:sp>
        <p:nvSpPr>
          <p:cNvPr id="10" name="Text 4"/>
          <p:cNvSpPr/>
          <p:nvPr/>
        </p:nvSpPr>
        <p:spPr>
          <a:xfrm>
            <a:off x="2033141" y="3271837"/>
            <a:ext cx="2925068" cy="153670"/>
          </a:xfrm>
          <a:prstGeom prst="rect">
            <a:avLst/>
          </a:prstGeom>
          <a:noFill/>
        </p:spPr>
        <p:txBody>
          <a:bodyPr wrap="square" lIns="0" tIns="0" rIns="0" bIns="0" rtlCol="0" anchor="t">
            <a:spAutoFit/>
          </a:bodyPr>
          <a:lstStyle/>
          <a:p>
            <a:pPr marL="0" indent="0" algn="l">
              <a:buNone/>
            </a:pPr>
            <a:r>
              <a:rPr lang="en-US" sz="1000" dirty="0">
                <a:solidFill>
                  <a:srgbClr val="8291A7"/>
                </a:solidFill>
                <a:latin typeface="Arial" panose="020B0604020202020204" pitchFamily="34" charset="0"/>
                <a:ea typeface="Arial" panose="020B0604020202020204" pitchFamily="34" charset="-122"/>
                <a:cs typeface="Arial" panose="020B0604020202020204" pitchFamily="34" charset="-120"/>
              </a:rPr>
              <a:t>Replace with the TryHackMe OhSINT room page.</a:t>
            </a:r>
            <a:endParaRPr lang="en-US" sz="1000" dirty="0"/>
          </a:p>
        </p:txBody>
      </p:sp>
      <p:sp>
        <p:nvSpPr>
          <p:cNvPr id="11" name="Text 5"/>
          <p:cNvSpPr/>
          <p:nvPr/>
        </p:nvSpPr>
        <p:spPr>
          <a:xfrm>
            <a:off x="6657975" y="1400175"/>
            <a:ext cx="4562475" cy="144145"/>
          </a:xfrm>
          <a:prstGeom prst="rect">
            <a:avLst/>
          </a:prstGeom>
          <a:noFill/>
        </p:spPr>
        <p:txBody>
          <a:bodyPr wrap="square" lIns="0" tIns="0" rIns="0" bIns="0" rtlCol="0" anchor="t">
            <a:spAutoFit/>
          </a:bodyPr>
          <a:lstStyle/>
          <a:p>
            <a:pPr marL="0" indent="0" algn="l">
              <a:buNone/>
            </a:pPr>
            <a:r>
              <a:rPr lang="en-US" sz="935" b="1" kern="0" spc="3" dirty="0">
                <a:solidFill>
                  <a:srgbClr val="FF6B1A"/>
                </a:solidFill>
                <a:latin typeface="Arial" panose="020B0604020202020204" pitchFamily="34" charset="0"/>
                <a:ea typeface="Arial" panose="020B0604020202020204" pitchFamily="34" charset="-122"/>
                <a:cs typeface="Arial" panose="020B0604020202020204" pitchFamily="34" charset="-120"/>
              </a:rPr>
              <a:t>LAB 2 — LIVE PRACTICE</a:t>
            </a:r>
            <a:endParaRPr lang="en-US" sz="935" dirty="0"/>
          </a:p>
        </p:txBody>
      </p:sp>
      <p:sp>
        <p:nvSpPr>
          <p:cNvPr id="12" name="Text 6"/>
          <p:cNvSpPr/>
          <p:nvPr/>
        </p:nvSpPr>
        <p:spPr>
          <a:xfrm>
            <a:off x="6657975" y="1666875"/>
            <a:ext cx="3753485" cy="369570"/>
          </a:xfrm>
          <a:prstGeom prst="rect">
            <a:avLst/>
          </a:prstGeom>
          <a:noFill/>
        </p:spPr>
        <p:txBody>
          <a:bodyPr wrap="none" lIns="0" tIns="0" rIns="0" bIns="0" rtlCol="0" anchor="t">
            <a:spAutoFit/>
          </a:bodyPr>
          <a:lstStyle/>
          <a:p>
            <a:pPr marL="0" indent="0" algn="l">
              <a:lnSpc>
                <a:spcPct val="86000"/>
              </a:lnSpc>
              <a:buNone/>
            </a:pPr>
            <a:r>
              <a:rPr lang="en-US" sz="2800"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TryHackMe → OhSINT</a:t>
            </a:r>
            <a:endParaRPr lang="en-US" sz="2800" dirty="0"/>
          </a:p>
        </p:txBody>
      </p:sp>
      <p:sp>
        <p:nvSpPr>
          <p:cNvPr id="13" name="Text 7"/>
          <p:cNvSpPr/>
          <p:nvPr/>
        </p:nvSpPr>
        <p:spPr>
          <a:xfrm>
            <a:off x="6657975" y="2222748"/>
            <a:ext cx="4562475" cy="184150"/>
          </a:xfrm>
          <a:prstGeom prst="rect">
            <a:avLst/>
          </a:prstGeom>
          <a:noFill/>
        </p:spPr>
        <p:txBody>
          <a:bodyPr wrap="square" lIns="0" tIns="0" rIns="0" bIns="0" rtlCol="0" anchor="t">
            <a:spAutoFit/>
          </a:bodyPr>
          <a:lstStyle/>
          <a:p>
            <a:pPr marL="0" indent="0" algn="l">
              <a:buNone/>
            </a:pPr>
            <a:r>
              <a:rPr lang="en-US" sz="1200" b="1" dirty="0">
                <a:solidFill>
                  <a:srgbClr val="00D4FF"/>
                </a:solidFill>
                <a:latin typeface="Arial" panose="020B0604020202020204" pitchFamily="34" charset="0"/>
                <a:ea typeface="Arial" panose="020B0604020202020204" pitchFamily="34" charset="-122"/>
                <a:cs typeface="Arial" panose="020B0604020202020204" pitchFamily="34" charset="-120"/>
              </a:rPr>
              <a:t>Use open-source evidence. Follow the clues.</a:t>
            </a:r>
            <a:endParaRPr lang="en-US" sz="1200" dirty="0"/>
          </a:p>
        </p:txBody>
      </p:sp>
      <p:sp>
        <p:nvSpPr>
          <p:cNvPr id="14" name="Text 8"/>
          <p:cNvSpPr/>
          <p:nvPr/>
        </p:nvSpPr>
        <p:spPr>
          <a:xfrm>
            <a:off x="6657975" y="2958555"/>
            <a:ext cx="167640" cy="184150"/>
          </a:xfrm>
          <a:prstGeom prst="rect">
            <a:avLst/>
          </a:prstGeom>
          <a:noFill/>
        </p:spPr>
        <p:txBody>
          <a:bodyPr wrap="none" lIns="0" tIns="0" rIns="0" bIns="0" rtlCol="0" anchor="t">
            <a:spAutoFit/>
          </a:bodyPr>
          <a:lstStyle/>
          <a:p>
            <a:pPr marL="0" indent="0" algn="l">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01</a:t>
            </a:r>
            <a:endParaRPr lang="en-US" sz="1200" dirty="0"/>
          </a:p>
        </p:txBody>
      </p:sp>
      <p:sp>
        <p:nvSpPr>
          <p:cNvPr id="15" name="Text 9"/>
          <p:cNvSpPr/>
          <p:nvPr/>
        </p:nvSpPr>
        <p:spPr>
          <a:xfrm>
            <a:off x="7096125" y="2939057"/>
            <a:ext cx="3571240" cy="201930"/>
          </a:xfrm>
          <a:prstGeom prst="rect">
            <a:avLst/>
          </a:prstGeom>
          <a:noFill/>
        </p:spPr>
        <p:txBody>
          <a:bodyPr wrap="none" lIns="0" tIns="0" rIns="0" bIns="0" rtlCol="0" anchor="t">
            <a:spAutoFit/>
          </a:bodyPr>
          <a:lstStyle/>
          <a:p>
            <a:pPr marL="0" indent="0" algn="l">
              <a:lnSpc>
                <a:spcPct val="98000"/>
              </a:lnSpc>
              <a:buNone/>
            </a:pP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Remember the </a:t>
            </a:r>
            <a:r>
              <a:rPr lang="en-US" sz="1335" b="1" dirty="0">
                <a:solidFill>
                  <a:srgbClr val="FF8A4B"/>
                </a:solidFill>
                <a:latin typeface="Arial" panose="020B0604020202020204" pitchFamily="34" charset="0"/>
                <a:ea typeface="Arial" panose="020B0604020202020204" pitchFamily="34" charset="-122"/>
                <a:cs typeface="Arial" panose="020B0604020202020204" pitchFamily="34" charset="-120"/>
              </a:rPr>
              <a:t>photo</a:t>
            </a: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 from the start of class.</a:t>
            </a:r>
            <a:endParaRPr lang="en-US" sz="1335" dirty="0"/>
          </a:p>
        </p:txBody>
      </p:sp>
      <p:sp>
        <p:nvSpPr>
          <p:cNvPr id="16" name="Text 10"/>
          <p:cNvSpPr/>
          <p:nvPr/>
        </p:nvSpPr>
        <p:spPr>
          <a:xfrm>
            <a:off x="6657975" y="3720555"/>
            <a:ext cx="167640" cy="184150"/>
          </a:xfrm>
          <a:prstGeom prst="rect">
            <a:avLst/>
          </a:prstGeom>
          <a:noFill/>
        </p:spPr>
        <p:txBody>
          <a:bodyPr wrap="none" lIns="0" tIns="0" rIns="0" bIns="0" rtlCol="0" anchor="t">
            <a:spAutoFit/>
          </a:bodyPr>
          <a:lstStyle/>
          <a:p>
            <a:pPr marL="0" indent="0" algn="l">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02</a:t>
            </a:r>
            <a:endParaRPr lang="en-US" sz="1200" dirty="0"/>
          </a:p>
        </p:txBody>
      </p:sp>
      <p:sp>
        <p:nvSpPr>
          <p:cNvPr id="17" name="Text 11"/>
          <p:cNvSpPr/>
          <p:nvPr/>
        </p:nvSpPr>
        <p:spPr>
          <a:xfrm>
            <a:off x="7096125" y="3701057"/>
            <a:ext cx="2406650" cy="201930"/>
          </a:xfrm>
          <a:prstGeom prst="rect">
            <a:avLst/>
          </a:prstGeom>
          <a:noFill/>
        </p:spPr>
        <p:txBody>
          <a:bodyPr wrap="none" lIns="0" tIns="0" rIns="0" bIns="0" rtlCol="0" anchor="t">
            <a:spAutoFit/>
          </a:bodyPr>
          <a:lstStyle/>
          <a:p>
            <a:pPr marL="0" indent="0" algn="l">
              <a:lnSpc>
                <a:spcPct val="98000"/>
              </a:lnSpc>
              <a:buNone/>
            </a:pP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Task 1 together, then </a:t>
            </a:r>
            <a:r>
              <a:rPr lang="en-US" sz="1335" b="1" dirty="0">
                <a:solidFill>
                  <a:srgbClr val="FF8A4B"/>
                </a:solidFill>
                <a:latin typeface="Arial" panose="020B0604020202020204" pitchFamily="34" charset="0"/>
                <a:ea typeface="Arial" panose="020B0604020202020204" pitchFamily="34" charset="-122"/>
                <a:cs typeface="Arial" panose="020B0604020202020204" pitchFamily="34" charset="-120"/>
              </a:rPr>
              <a:t>you run.</a:t>
            </a:r>
            <a:endParaRPr lang="en-US" sz="1335" dirty="0"/>
          </a:p>
        </p:txBody>
      </p:sp>
      <p:sp>
        <p:nvSpPr>
          <p:cNvPr id="18" name="Text 12"/>
          <p:cNvSpPr/>
          <p:nvPr/>
        </p:nvSpPr>
        <p:spPr>
          <a:xfrm>
            <a:off x="6657975" y="4482555"/>
            <a:ext cx="167640" cy="184150"/>
          </a:xfrm>
          <a:prstGeom prst="rect">
            <a:avLst/>
          </a:prstGeom>
          <a:noFill/>
        </p:spPr>
        <p:txBody>
          <a:bodyPr wrap="none" lIns="0" tIns="0" rIns="0" bIns="0" rtlCol="0" anchor="t">
            <a:spAutoFit/>
          </a:bodyPr>
          <a:lstStyle/>
          <a:p>
            <a:pPr marL="0" indent="0" algn="l">
              <a:buNone/>
            </a:pPr>
            <a:r>
              <a:rPr lang="en-US" sz="1200"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03</a:t>
            </a:r>
            <a:endParaRPr lang="en-US" sz="1200" dirty="0"/>
          </a:p>
        </p:txBody>
      </p:sp>
      <p:sp>
        <p:nvSpPr>
          <p:cNvPr id="19" name="Text 13"/>
          <p:cNvSpPr/>
          <p:nvPr/>
        </p:nvSpPr>
        <p:spPr>
          <a:xfrm>
            <a:off x="7096125" y="4345931"/>
            <a:ext cx="4124325" cy="201930"/>
          </a:xfrm>
          <a:prstGeom prst="rect">
            <a:avLst/>
          </a:prstGeom>
          <a:noFill/>
        </p:spPr>
        <p:txBody>
          <a:bodyPr wrap="square" lIns="0" tIns="0" rIns="0" bIns="0" rtlCol="0" anchor="t">
            <a:spAutoFit/>
          </a:bodyPr>
          <a:lstStyle/>
          <a:p>
            <a:pPr marL="0" indent="0" algn="l">
              <a:lnSpc>
                <a:spcPct val="98000"/>
              </a:lnSpc>
              <a:buNone/>
            </a:pPr>
            <a:r>
              <a:rPr lang="en-US" sz="1335" b="1" dirty="0">
                <a:solidFill>
                  <a:srgbClr val="E1E9F2"/>
                </a:solidFill>
                <a:latin typeface="Arial" panose="020B0604020202020204" pitchFamily="34" charset="0"/>
                <a:ea typeface="Arial" panose="020B0604020202020204" pitchFamily="34" charset="-122"/>
                <a:cs typeface="Arial" panose="020B0604020202020204" pitchFamily="34" charset="-120"/>
              </a:rPr>
              <a:t>Record the clue that changed your next move.</a:t>
            </a:r>
            <a:endParaRPr lang="en-US" sz="1335" dirty="0"/>
          </a:p>
        </p:txBody>
      </p:sp>
      <p:sp>
        <p:nvSpPr>
          <p:cNvPr id="20" name="Shape 14"/>
          <p:cNvSpPr/>
          <p:nvPr/>
        </p:nvSpPr>
        <p:spPr>
          <a:xfrm>
            <a:off x="723900" y="6191251"/>
            <a:ext cx="10744200" cy="666751"/>
          </a:xfrm>
          <a:prstGeom prst="rect">
            <a:avLst/>
          </a:prstGeom>
          <a:solidFill>
            <a:srgbClr val="000000">
              <a:alpha val="0"/>
            </a:srgbClr>
          </a:solidFill>
        </p:spPr>
      </p:sp>
      <p:sp>
        <p:nvSpPr>
          <p:cNvPr id="21" name="Shape 15"/>
          <p:cNvSpPr/>
          <p:nvPr/>
        </p:nvSpPr>
        <p:spPr>
          <a:xfrm>
            <a:off x="723900" y="6191251"/>
            <a:ext cx="10744200" cy="9525"/>
          </a:xfrm>
          <a:prstGeom prst="rect">
            <a:avLst/>
          </a:prstGeom>
          <a:solidFill>
            <a:srgbClr val="FFFFFF"/>
          </a:solidFill>
        </p:spPr>
      </p:sp>
      <p:sp>
        <p:nvSpPr>
          <p:cNvPr id="22" name="Text 16"/>
          <p:cNvSpPr/>
          <p:nvPr/>
        </p:nvSpPr>
        <p:spPr>
          <a:xfrm>
            <a:off x="723900" y="6362700"/>
            <a:ext cx="2625775" cy="174625"/>
          </a:xfrm>
          <a:prstGeom prst="rect">
            <a:avLst/>
          </a:prstGeom>
          <a:noFill/>
        </p:spPr>
        <p:txBody>
          <a:bodyPr wrap="square" lIns="0" tIns="0" rIns="0" bIns="0" rtlCol="0" anchor="t">
            <a:spAutoFit/>
          </a:bodyPr>
          <a:lstStyle/>
          <a:p>
            <a:pPr marL="0" indent="0" algn="l">
              <a:buNone/>
            </a:pPr>
            <a:r>
              <a:rPr lang="en-US" sz="1065" b="1" dirty="0">
                <a:solidFill>
                  <a:srgbClr val="00D4FF"/>
                </a:solidFill>
                <a:latin typeface="Arial" panose="020B0604020202020204" pitchFamily="34" charset="0"/>
                <a:ea typeface="Arial" panose="020B0604020202020204" pitchFamily="34" charset="-122"/>
                <a:cs typeface="Arial" panose="020B0604020202020204" pitchFamily="34" charset="-120"/>
              </a:rPr>
              <a:t>RULE:</a:t>
            </a:r>
            <a:r>
              <a:rPr lang="en-US" sz="1135" dirty="0">
                <a:solidFill>
                  <a:srgbClr val="A1ADBD"/>
                </a:solidFill>
                <a:latin typeface="Arial" panose="020B0604020202020204" pitchFamily="34" charset="0"/>
                <a:ea typeface="Arial" panose="020B0604020202020204" pitchFamily="34" charset="-122"/>
                <a:cs typeface="Arial" panose="020B0604020202020204" pitchFamily="34" charset="-120"/>
              </a:rPr>
              <a:t> Follow evidence. Do not guess.</a:t>
            </a:r>
            <a:endParaRPr lang="en-US" sz="1065" dirty="0"/>
          </a:p>
        </p:txBody>
      </p:sp>
      <p:sp>
        <p:nvSpPr>
          <p:cNvPr id="23" name="Text 17"/>
          <p:cNvSpPr/>
          <p:nvPr/>
        </p:nvSpPr>
        <p:spPr>
          <a:xfrm>
            <a:off x="10874797" y="6362700"/>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0:42–1:12</a:t>
            </a:r>
            <a:endParaRPr lang="en-US" sz="1000" dirty="0"/>
          </a:p>
        </p:txBody>
      </p:sp>
      <p:pic>
        <p:nvPicPr>
          <p:cNvPr id="2" name="Picture 1"/>
          <p:cNvPicPr>
            <a:picLocks noChangeAspect="1"/>
          </p:cNvPicPr>
          <p:nvPr/>
        </p:nvPicPr>
        <p:blipFill>
          <a:blip r:embed="rId4"/>
          <a:stretch>
            <a:fillRect/>
          </a:stretch>
        </p:blipFill>
        <p:spPr>
          <a:xfrm>
            <a:off x="704850" y="1562100"/>
            <a:ext cx="5648960" cy="31051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1066800" y="1762125"/>
            <a:ext cx="4471988" cy="144145"/>
          </a:xfrm>
          <a:prstGeom prst="rect">
            <a:avLst/>
          </a:prstGeom>
          <a:noFill/>
        </p:spPr>
        <p:txBody>
          <a:bodyPr wrap="square" lIns="0" tIns="0" rIns="0" bIns="0" rtlCol="0" anchor="t">
            <a:spAutoFit/>
          </a:bodyPr>
          <a:lstStyle/>
          <a:p>
            <a:pPr marL="0" indent="0" algn="l">
              <a:buNone/>
            </a:pPr>
            <a:r>
              <a:rPr lang="en-US" sz="935" b="1" kern="0" spc="3" dirty="0">
                <a:solidFill>
                  <a:srgbClr val="FF6B1A"/>
                </a:solidFill>
                <a:latin typeface="Arial" panose="020B0604020202020204" pitchFamily="34" charset="0"/>
                <a:ea typeface="Arial" panose="020B0604020202020204" pitchFamily="34" charset="-122"/>
                <a:cs typeface="Arial" panose="020B0604020202020204" pitchFamily="34" charset="-120"/>
              </a:rPr>
              <a:t>STRETCH CHALLENGE</a:t>
            </a:r>
            <a:endParaRPr lang="en-US" sz="935" dirty="0"/>
          </a:p>
        </p:txBody>
      </p:sp>
      <p:sp>
        <p:nvSpPr>
          <p:cNvPr id="9" name="Text 3"/>
          <p:cNvSpPr/>
          <p:nvPr/>
        </p:nvSpPr>
        <p:spPr>
          <a:xfrm>
            <a:off x="1066800" y="2085975"/>
            <a:ext cx="4471988" cy="925830"/>
          </a:xfrm>
          <a:prstGeom prst="rect">
            <a:avLst/>
          </a:prstGeom>
          <a:noFill/>
        </p:spPr>
        <p:txBody>
          <a:bodyPr wrap="square" lIns="0" tIns="0" rIns="0" bIns="0" rtlCol="0" anchor="t">
            <a:spAutoFit/>
          </a:bodyPr>
          <a:lstStyle/>
          <a:p>
            <a:pPr marL="0" indent="0" algn="l">
              <a:lnSpc>
                <a:spcPct val="82000"/>
              </a:lnSpc>
              <a:buNone/>
            </a:pPr>
            <a:r>
              <a:rPr lang="en-US" sz="3665" b="1" kern="0" spc="-2" dirty="0">
                <a:solidFill>
                  <a:srgbClr val="FFFFFF"/>
                </a:solidFill>
                <a:latin typeface="Consolas" panose="020B0609020204030204" pitchFamily="34" charset="0"/>
                <a:ea typeface="Consolas" panose="020B0609020204030204" pitchFamily="34" charset="-122"/>
                <a:cs typeface="Consolas" panose="020B0609020204030204" pitchFamily="34" charset="-120"/>
              </a:rPr>
              <a:t>PICKLE
RICK</a:t>
            </a:r>
            <a:endParaRPr lang="en-US" sz="3665" dirty="0"/>
          </a:p>
        </p:txBody>
      </p:sp>
      <p:sp>
        <p:nvSpPr>
          <p:cNvPr id="10" name="Text 4"/>
          <p:cNvSpPr/>
          <p:nvPr/>
        </p:nvSpPr>
        <p:spPr>
          <a:xfrm>
            <a:off x="1066800" y="3316188"/>
            <a:ext cx="4471988" cy="215265"/>
          </a:xfrm>
          <a:prstGeom prst="rect">
            <a:avLst/>
          </a:prstGeom>
          <a:noFill/>
        </p:spPr>
        <p:txBody>
          <a:bodyPr wrap="square" lIns="0" tIns="0" rIns="0" bIns="0" rtlCol="0" anchor="t">
            <a:spAutoFit/>
          </a:bodyPr>
          <a:lstStyle/>
          <a:p>
            <a:pPr marL="0" indent="0" algn="l">
              <a:buNone/>
            </a:pPr>
            <a:r>
              <a:rPr lang="en-US" sz="1400" b="1" dirty="0">
                <a:solidFill>
                  <a:srgbClr val="00D4FF"/>
                </a:solidFill>
                <a:latin typeface="Arial" panose="020B0604020202020204" pitchFamily="34" charset="0"/>
                <a:ea typeface="Arial" panose="020B0604020202020204" pitchFamily="34" charset="-122"/>
                <a:cs typeface="Arial" panose="020B0604020202020204" pitchFamily="34" charset="-120"/>
              </a:rPr>
              <a:t>Finished early? Keep exploring.</a:t>
            </a:r>
            <a:endParaRPr lang="en-US" sz="1400" dirty="0"/>
          </a:p>
        </p:txBody>
      </p:sp>
      <p:sp>
        <p:nvSpPr>
          <p:cNvPr id="11" name="Text 5"/>
          <p:cNvSpPr/>
          <p:nvPr/>
        </p:nvSpPr>
        <p:spPr>
          <a:xfrm>
            <a:off x="1066800" y="4059139"/>
            <a:ext cx="3590925" cy="716915"/>
          </a:xfrm>
          <a:prstGeom prst="rect">
            <a:avLst/>
          </a:prstGeom>
          <a:noFill/>
        </p:spPr>
        <p:txBody>
          <a:bodyPr wrap="square" lIns="0" tIns="0" rIns="0" bIns="0" rtlCol="0" anchor="t">
            <a:spAutoFit/>
          </a:bodyPr>
          <a:lstStyle/>
          <a:p>
            <a:pPr marL="0" indent="0" algn="l">
              <a:lnSpc>
                <a:spcPct val="116000"/>
              </a:lnSpc>
              <a:buNone/>
            </a:pPr>
            <a:r>
              <a:rPr lang="en-US" sz="1335" dirty="0">
                <a:solidFill>
                  <a:srgbClr val="AAB5C6"/>
                </a:solidFill>
                <a:latin typeface="Arial" panose="020B0604020202020204" pitchFamily="34" charset="0"/>
                <a:ea typeface="Arial" panose="020B0604020202020204" pitchFamily="34" charset="-122"/>
                <a:cs typeface="Arial" panose="020B0604020202020204" pitchFamily="34" charset="-120"/>
              </a:rPr>
              <a:t>A web app hides three ingredients. Your task is to find them by observing carefully and thinking one step at a time.</a:t>
            </a:r>
            <a:endParaRPr lang="en-US" sz="1335" dirty="0"/>
          </a:p>
        </p:txBody>
      </p:sp>
      <p:sp>
        <p:nvSpPr>
          <p:cNvPr id="12" name="Text 6"/>
          <p:cNvSpPr/>
          <p:nvPr/>
        </p:nvSpPr>
        <p:spPr>
          <a:xfrm>
            <a:off x="6653212" y="2188369"/>
            <a:ext cx="186690" cy="205740"/>
          </a:xfrm>
          <a:prstGeom prst="rect">
            <a:avLst/>
          </a:prstGeom>
          <a:noFill/>
        </p:spPr>
        <p:txBody>
          <a:bodyPr wrap="none" lIns="0" tIns="0" rIns="0" bIns="0" rtlCol="0" anchor="t">
            <a:spAutoFit/>
          </a:bodyPr>
          <a:lstStyle/>
          <a:p>
            <a:pPr marL="0" indent="0" algn="l">
              <a:buNone/>
            </a:pPr>
            <a:r>
              <a:rPr lang="en-US" sz="13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01</a:t>
            </a:r>
            <a:endParaRPr lang="en-US" sz="1335" dirty="0"/>
          </a:p>
        </p:txBody>
      </p:sp>
      <p:sp>
        <p:nvSpPr>
          <p:cNvPr id="13" name="Text 7"/>
          <p:cNvSpPr/>
          <p:nvPr/>
        </p:nvSpPr>
        <p:spPr>
          <a:xfrm>
            <a:off x="7177088" y="2033588"/>
            <a:ext cx="3948112" cy="225425"/>
          </a:xfrm>
          <a:prstGeom prst="rect">
            <a:avLst/>
          </a:prstGeom>
          <a:noFill/>
        </p:spPr>
        <p:txBody>
          <a:bodyPr wrap="square" lIns="0" tIns="0" rIns="0" bIns="0" rtlCol="0" anchor="t">
            <a:spAutoFit/>
          </a:bodyPr>
          <a:lstStyle/>
          <a:p>
            <a:pPr marL="0" indent="0" algn="l">
              <a:lnSpc>
                <a:spcPct val="100000"/>
              </a:lnSpc>
              <a:buNone/>
            </a:pPr>
            <a:r>
              <a:rPr lang="en-US" sz="1465" b="1" dirty="0">
                <a:solidFill>
                  <a:srgbClr val="E4EBF3"/>
                </a:solidFill>
                <a:latin typeface="Arial" panose="020B0604020202020204" pitchFamily="34" charset="0"/>
                <a:ea typeface="Arial" panose="020B0604020202020204" pitchFamily="34" charset="-122"/>
                <a:cs typeface="Arial" panose="020B0604020202020204" pitchFamily="34" charset="-120"/>
              </a:rPr>
              <a:t>Three ingredients are hidden in a web app.</a:t>
            </a:r>
            <a:endParaRPr lang="en-US" sz="1465" dirty="0"/>
          </a:p>
        </p:txBody>
      </p:sp>
      <p:sp>
        <p:nvSpPr>
          <p:cNvPr id="14" name="Text 8"/>
          <p:cNvSpPr/>
          <p:nvPr/>
        </p:nvSpPr>
        <p:spPr>
          <a:xfrm>
            <a:off x="6653212" y="3264693"/>
            <a:ext cx="186690" cy="205740"/>
          </a:xfrm>
          <a:prstGeom prst="rect">
            <a:avLst/>
          </a:prstGeom>
          <a:noFill/>
        </p:spPr>
        <p:txBody>
          <a:bodyPr wrap="none" lIns="0" tIns="0" rIns="0" bIns="0" rtlCol="0" anchor="t">
            <a:spAutoFit/>
          </a:bodyPr>
          <a:lstStyle/>
          <a:p>
            <a:pPr marL="0" indent="0" algn="l">
              <a:buNone/>
            </a:pPr>
            <a:r>
              <a:rPr lang="en-US" sz="13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02</a:t>
            </a:r>
            <a:endParaRPr lang="en-US" sz="1335" dirty="0"/>
          </a:p>
        </p:txBody>
      </p:sp>
      <p:sp>
        <p:nvSpPr>
          <p:cNvPr id="15" name="Text 9"/>
          <p:cNvSpPr/>
          <p:nvPr/>
        </p:nvSpPr>
        <p:spPr>
          <a:xfrm>
            <a:off x="7177088" y="3240881"/>
            <a:ext cx="3307080" cy="225425"/>
          </a:xfrm>
          <a:prstGeom prst="rect">
            <a:avLst/>
          </a:prstGeom>
          <a:noFill/>
        </p:spPr>
        <p:txBody>
          <a:bodyPr wrap="none" lIns="0" tIns="0" rIns="0" bIns="0" rtlCol="0" anchor="t">
            <a:spAutoFit/>
          </a:bodyPr>
          <a:lstStyle/>
          <a:p>
            <a:pPr marL="0" indent="0" algn="l">
              <a:lnSpc>
                <a:spcPct val="100000"/>
              </a:lnSpc>
              <a:buNone/>
            </a:pPr>
            <a:r>
              <a:rPr lang="en-US" sz="1465" b="1" dirty="0">
                <a:solidFill>
                  <a:srgbClr val="E4EBF3"/>
                </a:solidFill>
                <a:latin typeface="Arial" panose="020B0604020202020204" pitchFamily="34" charset="0"/>
                <a:ea typeface="Arial" panose="020B0604020202020204" pitchFamily="34" charset="-122"/>
                <a:cs typeface="Arial" panose="020B0604020202020204" pitchFamily="34" charset="-120"/>
              </a:rPr>
              <a:t>The first one is </a:t>
            </a:r>
            <a:r>
              <a:rPr lang="en-US" sz="1465" b="1" dirty="0">
                <a:solidFill>
                  <a:srgbClr val="FF8A4B"/>
                </a:solidFill>
                <a:latin typeface="Arial" panose="020B0604020202020204" pitchFamily="34" charset="0"/>
                <a:ea typeface="Arial" panose="020B0604020202020204" pitchFamily="34" charset="-122"/>
                <a:cs typeface="Arial" panose="020B0604020202020204" pitchFamily="34" charset="-120"/>
              </a:rPr>
              <a:t>easier than you think.</a:t>
            </a:r>
            <a:endParaRPr lang="en-US" sz="1465" dirty="0"/>
          </a:p>
        </p:txBody>
      </p:sp>
      <p:sp>
        <p:nvSpPr>
          <p:cNvPr id="16" name="Text 10"/>
          <p:cNvSpPr/>
          <p:nvPr/>
        </p:nvSpPr>
        <p:spPr>
          <a:xfrm>
            <a:off x="6653212" y="4336256"/>
            <a:ext cx="186690" cy="205740"/>
          </a:xfrm>
          <a:prstGeom prst="rect">
            <a:avLst/>
          </a:prstGeom>
          <a:noFill/>
        </p:spPr>
        <p:txBody>
          <a:bodyPr wrap="none" lIns="0" tIns="0" rIns="0" bIns="0" rtlCol="0" anchor="t">
            <a:spAutoFit/>
          </a:bodyPr>
          <a:lstStyle/>
          <a:p>
            <a:pPr marL="0" indent="0" algn="l">
              <a:buNone/>
            </a:pPr>
            <a:r>
              <a:rPr lang="en-US" sz="13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03</a:t>
            </a:r>
            <a:endParaRPr lang="en-US" sz="1335" dirty="0"/>
          </a:p>
        </p:txBody>
      </p:sp>
      <p:sp>
        <p:nvSpPr>
          <p:cNvPr id="17" name="Text 11"/>
          <p:cNvSpPr/>
          <p:nvPr/>
        </p:nvSpPr>
        <p:spPr>
          <a:xfrm>
            <a:off x="7177088" y="4181475"/>
            <a:ext cx="3948112" cy="450850"/>
          </a:xfrm>
          <a:prstGeom prst="rect">
            <a:avLst/>
          </a:prstGeom>
          <a:noFill/>
        </p:spPr>
        <p:txBody>
          <a:bodyPr wrap="square" lIns="0" tIns="0" rIns="0" bIns="0" rtlCol="0" anchor="t">
            <a:spAutoFit/>
          </a:bodyPr>
          <a:lstStyle/>
          <a:p>
            <a:pPr marL="0" indent="0" algn="l">
              <a:lnSpc>
                <a:spcPct val="100000"/>
              </a:lnSpc>
              <a:buNone/>
            </a:pPr>
            <a:r>
              <a:rPr lang="en-US" sz="1465" b="1" dirty="0">
                <a:solidFill>
                  <a:srgbClr val="E4EBF3"/>
                </a:solidFill>
                <a:latin typeface="Arial" panose="020B0604020202020204" pitchFamily="34" charset="0"/>
                <a:ea typeface="Arial" panose="020B0604020202020204" pitchFamily="34" charset="-122"/>
                <a:cs typeface="Arial" panose="020B0604020202020204" pitchFamily="34" charset="-120"/>
              </a:rPr>
              <a:t>Look at the page.
</a:t>
            </a:r>
            <a:r>
              <a:rPr lang="en-US" sz="1465" b="1" dirty="0">
                <a:solidFill>
                  <a:srgbClr val="FF8A4B"/>
                </a:solidFill>
                <a:latin typeface="Arial" panose="020B0604020202020204" pitchFamily="34" charset="0"/>
                <a:ea typeface="Arial" panose="020B0604020202020204" pitchFamily="34" charset="-122"/>
                <a:cs typeface="Arial" panose="020B0604020202020204" pitchFamily="34" charset="-120"/>
              </a:rPr>
              <a:t>Really look at it.</a:t>
            </a:r>
            <a:endParaRPr lang="en-US" sz="1465" dirty="0"/>
          </a:p>
        </p:txBody>
      </p:sp>
      <p:sp>
        <p:nvSpPr>
          <p:cNvPr id="18" name="Shape 12"/>
          <p:cNvSpPr/>
          <p:nvPr/>
        </p:nvSpPr>
        <p:spPr>
          <a:xfrm>
            <a:off x="723900" y="6172200"/>
            <a:ext cx="10744200" cy="685800"/>
          </a:xfrm>
          <a:prstGeom prst="rect">
            <a:avLst/>
          </a:prstGeom>
          <a:solidFill>
            <a:srgbClr val="000000">
              <a:alpha val="0"/>
            </a:srgbClr>
          </a:solidFill>
        </p:spPr>
      </p:sp>
      <p:sp>
        <p:nvSpPr>
          <p:cNvPr id="19" name="Shape 13"/>
          <p:cNvSpPr/>
          <p:nvPr/>
        </p:nvSpPr>
        <p:spPr>
          <a:xfrm>
            <a:off x="723900" y="6172200"/>
            <a:ext cx="10744200" cy="9525"/>
          </a:xfrm>
          <a:prstGeom prst="rect">
            <a:avLst/>
          </a:prstGeom>
          <a:solidFill>
            <a:srgbClr val="FFFFFF"/>
          </a:solidFill>
        </p:spPr>
      </p:sp>
      <p:sp>
        <p:nvSpPr>
          <p:cNvPr id="20" name="Text 14"/>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0:42–1:12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4064571" y="2356768"/>
            <a:ext cx="4062784" cy="153670"/>
          </a:xfrm>
          <a:prstGeom prst="rect">
            <a:avLst/>
          </a:prstGeom>
          <a:noFill/>
        </p:spPr>
        <p:txBody>
          <a:bodyPr wrap="square" lIns="0" tIns="0" rIns="0" bIns="0" rtlCol="0" anchor="t">
            <a:spAutoFit/>
          </a:bodyPr>
          <a:lstStyle/>
          <a:p>
            <a:pPr marL="0" indent="0" algn="ctr">
              <a:buNone/>
            </a:pPr>
            <a:r>
              <a:rPr lang="en-US" sz="1000"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SECTION 04 — PROFESSIONAL HABITS</a:t>
            </a:r>
            <a:endParaRPr lang="en-US" sz="1000" dirty="0"/>
          </a:p>
        </p:txBody>
      </p:sp>
      <p:sp>
        <p:nvSpPr>
          <p:cNvPr id="9" name="Text 3"/>
          <p:cNvSpPr/>
          <p:nvPr/>
        </p:nvSpPr>
        <p:spPr>
          <a:xfrm>
            <a:off x="3211195" y="2747293"/>
            <a:ext cx="5769610" cy="686435"/>
          </a:xfrm>
          <a:prstGeom prst="rect">
            <a:avLst/>
          </a:prstGeom>
          <a:noFill/>
        </p:spPr>
        <p:txBody>
          <a:bodyPr wrap="none" lIns="0" tIns="0" rIns="0" bIns="0" rtlCol="0" anchor="t">
            <a:spAutoFit/>
          </a:bodyPr>
          <a:lstStyle/>
          <a:p>
            <a:pPr marL="0" indent="0" algn="ctr">
              <a:lnSpc>
                <a:spcPct val="77000"/>
              </a:lnSpc>
              <a:buNone/>
            </a:pPr>
            <a:r>
              <a:rPr lang="en-US" sz="5800" b="1" kern="0" spc="-2" dirty="0">
                <a:solidFill>
                  <a:srgbClr val="FFFFFF"/>
                </a:solidFill>
                <a:latin typeface="Arial" panose="020B0604020202020204" pitchFamily="34" charset="0"/>
                <a:ea typeface="Arial" panose="020B0604020202020204" pitchFamily="34" charset="-122"/>
                <a:cs typeface="Arial" panose="020B0604020202020204" pitchFamily="34" charset="-120"/>
              </a:rPr>
              <a:t>WRITE IT DOWN</a:t>
            </a:r>
            <a:endParaRPr lang="en-US" sz="5800" dirty="0"/>
          </a:p>
        </p:txBody>
      </p:sp>
      <p:sp>
        <p:nvSpPr>
          <p:cNvPr id="10" name="Text 4"/>
          <p:cNvSpPr/>
          <p:nvPr/>
        </p:nvSpPr>
        <p:spPr>
          <a:xfrm>
            <a:off x="2826023" y="4039195"/>
            <a:ext cx="6539880" cy="267335"/>
          </a:xfrm>
          <a:prstGeom prst="rect">
            <a:avLst/>
          </a:prstGeom>
          <a:noFill/>
        </p:spPr>
        <p:txBody>
          <a:bodyPr wrap="square" lIns="0" tIns="0" rIns="0" bIns="0" rtlCol="0" anchor="t">
            <a:spAutoFit/>
          </a:bodyPr>
          <a:lstStyle/>
          <a:p>
            <a:pPr marL="0" indent="0" algn="ctr">
              <a:buNone/>
            </a:pPr>
            <a:r>
              <a:rPr lang="en-US" sz="1735" b="1" dirty="0">
                <a:solidFill>
                  <a:srgbClr val="FFFFFF"/>
                </a:solidFill>
                <a:latin typeface="Arial" panose="020B0604020202020204" pitchFamily="34" charset="0"/>
                <a:ea typeface="Arial" panose="020B0604020202020204" pitchFamily="34" charset="-122"/>
                <a:cs typeface="Arial" panose="020B0604020202020204" pitchFamily="34" charset="-120"/>
              </a:rPr>
              <a:t>This is what separates a hobbyist from a professional.</a:t>
            </a:r>
            <a:endParaRPr lang="en-US" sz="1735" dirty="0"/>
          </a:p>
        </p:txBody>
      </p:sp>
      <p:sp>
        <p:nvSpPr>
          <p:cNvPr id="11" name="Text 5"/>
          <p:cNvSpPr/>
          <p:nvPr/>
        </p:nvSpPr>
        <p:spPr>
          <a:xfrm>
            <a:off x="4552727" y="4610695"/>
            <a:ext cx="3086547" cy="163830"/>
          </a:xfrm>
          <a:prstGeom prst="rect">
            <a:avLst/>
          </a:prstGeom>
          <a:noFill/>
        </p:spPr>
        <p:txBody>
          <a:bodyPr wrap="square" lIns="0" tIns="0" rIns="0" bIns="0" rtlCol="0" anchor="t">
            <a:spAutoFit/>
          </a:bodyPr>
          <a:lstStyle/>
          <a:p>
            <a:pPr marL="0" indent="0" algn="ctr">
              <a:buNone/>
            </a:pPr>
            <a:r>
              <a:rPr lang="en-US" sz="1065" b="1" kern="0" spc="1" dirty="0">
                <a:solidFill>
                  <a:srgbClr val="FF6B1A"/>
                </a:solidFill>
                <a:latin typeface="Consolas" panose="020B0609020204030204" pitchFamily="34" charset="0"/>
                <a:ea typeface="Consolas" panose="020B0609020204030204" pitchFamily="34" charset="-122"/>
                <a:cs typeface="Consolas" panose="020B0609020204030204" pitchFamily="34" charset="-120"/>
              </a:rPr>
              <a:t>TURN YOUR STEPS INTO EVIDENCE.</a:t>
            </a:r>
            <a:endParaRPr lang="en-US" sz="1065" dirty="0"/>
          </a:p>
        </p:txBody>
      </p:sp>
      <p:sp>
        <p:nvSpPr>
          <p:cNvPr id="12" name="Shape 6"/>
          <p:cNvSpPr/>
          <p:nvPr/>
        </p:nvSpPr>
        <p:spPr>
          <a:xfrm>
            <a:off x="723900" y="6172200"/>
            <a:ext cx="10744200" cy="685800"/>
          </a:xfrm>
          <a:prstGeom prst="rect">
            <a:avLst/>
          </a:prstGeom>
          <a:solidFill>
            <a:srgbClr val="000000">
              <a:alpha val="0"/>
            </a:srgbClr>
          </a:solidFill>
        </p:spPr>
      </p:sp>
      <p:sp>
        <p:nvSpPr>
          <p:cNvPr id="13" name="Shape 7"/>
          <p:cNvSpPr/>
          <p:nvPr/>
        </p:nvSpPr>
        <p:spPr>
          <a:xfrm>
            <a:off x="723900" y="6172200"/>
            <a:ext cx="10744200" cy="9525"/>
          </a:xfrm>
          <a:prstGeom prst="rect">
            <a:avLst/>
          </a:prstGeom>
          <a:solidFill>
            <a:srgbClr val="FFFFFF"/>
          </a:solidFill>
        </p:spPr>
      </p:sp>
      <p:sp>
        <p:nvSpPr>
          <p:cNvPr id="14" name="Text 8"/>
          <p:cNvSpPr/>
          <p:nvPr/>
        </p:nvSpPr>
        <p:spPr>
          <a:xfrm>
            <a:off x="723900" y="6172200"/>
            <a:ext cx="10744200" cy="357505"/>
          </a:xfrm>
          <a:prstGeom prst="rect">
            <a:avLst/>
          </a:prstGeom>
          <a:noFill/>
        </p:spPr>
        <p:txBody>
          <a:bodyPr wrap="square" lIns="0" tIns="204046"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1:12–1:22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952500" y="1466851"/>
            <a:ext cx="3048000" cy="144145"/>
          </a:xfrm>
          <a:prstGeom prst="rect">
            <a:avLst/>
          </a:prstGeom>
          <a:noFill/>
        </p:spPr>
        <p:txBody>
          <a:bodyPr wrap="square" lIns="0" tIns="0"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WRITE IT DOWN</a:t>
            </a:r>
            <a:endParaRPr lang="en-US" sz="935" dirty="0"/>
          </a:p>
        </p:txBody>
      </p:sp>
      <p:sp>
        <p:nvSpPr>
          <p:cNvPr id="9" name="Text 3"/>
          <p:cNvSpPr/>
          <p:nvPr/>
        </p:nvSpPr>
        <p:spPr>
          <a:xfrm>
            <a:off x="952500" y="1724025"/>
            <a:ext cx="3048000" cy="824230"/>
          </a:xfrm>
          <a:prstGeom prst="rect">
            <a:avLst/>
          </a:prstGeom>
          <a:noFill/>
        </p:spPr>
        <p:txBody>
          <a:bodyPr wrap="square" lIns="0" tIns="0" rIns="0" bIns="0" rtlCol="0" anchor="t">
            <a:spAutoFit/>
          </a:bodyPr>
          <a:lstStyle/>
          <a:p>
            <a:pPr marL="0" indent="0" algn="l">
              <a:lnSpc>
                <a:spcPct val="82000"/>
              </a:lnSpc>
              <a:buNone/>
            </a:pPr>
            <a:r>
              <a:rPr lang="en-US" sz="32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writeup template.</a:t>
            </a:r>
            <a:endParaRPr lang="en-US" sz="3265" dirty="0"/>
          </a:p>
        </p:txBody>
      </p:sp>
      <p:sp>
        <p:nvSpPr>
          <p:cNvPr id="10" name="Text 4"/>
          <p:cNvSpPr/>
          <p:nvPr/>
        </p:nvSpPr>
        <p:spPr>
          <a:xfrm>
            <a:off x="952500" y="2847083"/>
            <a:ext cx="3048000" cy="667385"/>
          </a:xfrm>
          <a:prstGeom prst="rect">
            <a:avLst/>
          </a:prstGeom>
          <a:noFill/>
        </p:spPr>
        <p:txBody>
          <a:bodyPr wrap="square" lIns="0" tIns="0" rIns="0" bIns="0" rtlCol="0" anchor="t">
            <a:spAutoFit/>
          </a:bodyPr>
          <a:lstStyle/>
          <a:p>
            <a:pPr marL="0" indent="0" algn="l">
              <a:lnSpc>
                <a:spcPct val="108000"/>
              </a:lnSpc>
              <a:buNone/>
            </a:pPr>
            <a:r>
              <a:rPr lang="en-US" sz="1335" dirty="0">
                <a:solidFill>
                  <a:srgbClr val="A6B2C4"/>
                </a:solidFill>
                <a:latin typeface="Arial" panose="020B0604020202020204" pitchFamily="34" charset="0"/>
                <a:ea typeface="Arial" panose="020B0604020202020204" pitchFamily="34" charset="-122"/>
                <a:cs typeface="Arial" panose="020B0604020202020204" pitchFamily="34" charset="-120"/>
              </a:rPr>
              <a:t>A clean writeup makes your thinking visible — to you, your team, and your future employer.</a:t>
            </a:r>
            <a:endParaRPr lang="en-US" sz="1335" dirty="0"/>
          </a:p>
        </p:txBody>
      </p:sp>
      <p:sp>
        <p:nvSpPr>
          <p:cNvPr id="11" name="Text 5"/>
          <p:cNvSpPr/>
          <p:nvPr/>
        </p:nvSpPr>
        <p:spPr>
          <a:xfrm>
            <a:off x="952500" y="4103861"/>
            <a:ext cx="2809875" cy="630555"/>
          </a:xfrm>
          <a:prstGeom prst="rect">
            <a:avLst/>
          </a:prstGeom>
          <a:noFill/>
        </p:spPr>
        <p:txBody>
          <a:bodyPr wrap="square" lIns="0" tIns="0" rIns="0" bIns="0" rtlCol="0" anchor="t">
            <a:spAutoFit/>
          </a:bodyPr>
          <a:lstStyle/>
          <a:p>
            <a:pPr marL="0" indent="0" algn="l">
              <a:lnSpc>
                <a:spcPct val="114000"/>
              </a:lnSpc>
              <a:buNone/>
            </a:pPr>
            <a:r>
              <a:rPr lang="en-US" sz="1135" b="1" dirty="0">
                <a:solidFill>
                  <a:srgbClr val="FFFFFF"/>
                </a:solidFill>
                <a:latin typeface="Arial" panose="020B0604020202020204" pitchFamily="34" charset="0"/>
                <a:ea typeface="Arial" panose="020B0604020202020204" pitchFamily="34" charset="-122"/>
                <a:cs typeface="Arial" panose="020B0604020202020204" pitchFamily="34" charset="-120"/>
              </a:rPr>
              <a:t>Screenshot this slide.</a:t>
            </a:r>
            <a:r>
              <a:rPr lang="en-US" sz="1200" dirty="0">
                <a:solidFill>
                  <a:srgbClr val="8F9BB0"/>
                </a:solidFill>
                <a:latin typeface="Arial" panose="020B0604020202020204" pitchFamily="34" charset="0"/>
                <a:ea typeface="Arial" panose="020B0604020202020204" pitchFamily="34" charset="-122"/>
                <a:cs typeface="Arial" panose="020B0604020202020204" pitchFamily="34" charset="-120"/>
              </a:rPr>
              <a:t>
Use this structure after every challenge, even the small ones.</a:t>
            </a:r>
            <a:endParaRPr lang="en-US" sz="1135" dirty="0"/>
          </a:p>
        </p:txBody>
      </p:sp>
      <p:sp>
        <p:nvSpPr>
          <p:cNvPr id="12" name="Text 6"/>
          <p:cNvSpPr/>
          <p:nvPr/>
        </p:nvSpPr>
        <p:spPr>
          <a:xfrm>
            <a:off x="4591051" y="1381125"/>
            <a:ext cx="2027263" cy="174625"/>
          </a:xfrm>
          <a:prstGeom prst="rect">
            <a:avLst/>
          </a:prstGeom>
          <a:noFill/>
        </p:spPr>
        <p:txBody>
          <a:bodyPr wrap="square" lIns="0" tIns="0" rIns="0" bIns="0" rtlCol="0" anchor="t">
            <a:spAutoFit/>
          </a:bodyPr>
          <a:lstStyle/>
          <a:p>
            <a:pPr marL="0" indent="0" algn="l">
              <a:buNone/>
            </a:pPr>
            <a:r>
              <a:rPr lang="en-US" sz="1135" b="1" kern="0" spc="1" dirty="0">
                <a:solidFill>
                  <a:srgbClr val="DCE8F5"/>
                </a:solidFill>
                <a:latin typeface="Consolas" panose="020B0609020204030204" pitchFamily="34" charset="0"/>
                <a:ea typeface="Consolas" panose="020B0609020204030204" pitchFamily="34" charset="-122"/>
                <a:cs typeface="Consolas" panose="020B0609020204030204" pitchFamily="34" charset="-120"/>
              </a:rPr>
              <a:t>WRITEUP_TEMPLATE.md</a:t>
            </a:r>
            <a:endParaRPr lang="en-US" sz="1135" dirty="0"/>
          </a:p>
        </p:txBody>
      </p:sp>
      <p:sp>
        <p:nvSpPr>
          <p:cNvPr id="13" name="Text 7"/>
          <p:cNvSpPr/>
          <p:nvPr/>
        </p:nvSpPr>
        <p:spPr>
          <a:xfrm>
            <a:off x="9032231" y="1381125"/>
            <a:ext cx="2207269" cy="167005"/>
          </a:xfrm>
          <a:prstGeom prst="rect">
            <a:avLst/>
          </a:prstGeom>
          <a:noFill/>
        </p:spPr>
        <p:txBody>
          <a:bodyPr wrap="square" lIns="0" tIns="34036" rIns="0" bIns="0" rtlCol="0" anchor="t">
            <a:spAutoFit/>
          </a:bodyPr>
          <a:lstStyle/>
          <a:p>
            <a:pPr marL="0" indent="0" algn="l">
              <a:buNone/>
            </a:pPr>
            <a:r>
              <a:rPr lang="en-US" sz="865" dirty="0">
                <a:solidFill>
                  <a:srgbClr val="728095"/>
                </a:solidFill>
                <a:latin typeface="Arial" panose="020B0604020202020204" pitchFamily="34" charset="0"/>
                <a:ea typeface="Arial" panose="020B0604020202020204" pitchFamily="34" charset="-122"/>
                <a:cs typeface="Arial" panose="020B0604020202020204" pitchFamily="34" charset="-120"/>
              </a:rPr>
              <a:t>KEEP IT SHORT · KEEP IT HONEST</a:t>
            </a:r>
            <a:endParaRPr lang="en-US" sz="865" dirty="0"/>
          </a:p>
        </p:txBody>
      </p:sp>
      <p:sp>
        <p:nvSpPr>
          <p:cNvPr id="14" name="Text 8"/>
          <p:cNvSpPr/>
          <p:nvPr/>
        </p:nvSpPr>
        <p:spPr>
          <a:xfrm>
            <a:off x="4591051" y="2040731"/>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Challenge:</a:t>
            </a:r>
            <a:endParaRPr lang="en-US" sz="1265" dirty="0"/>
          </a:p>
        </p:txBody>
      </p:sp>
      <p:sp>
        <p:nvSpPr>
          <p:cNvPr id="15" name="Text 9"/>
          <p:cNvSpPr/>
          <p:nvPr/>
        </p:nvSpPr>
        <p:spPr>
          <a:xfrm>
            <a:off x="4591051" y="2736056"/>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What I saw:</a:t>
            </a:r>
            <a:endParaRPr lang="en-US" sz="1265" dirty="0"/>
          </a:p>
        </p:txBody>
      </p:sp>
      <p:sp>
        <p:nvSpPr>
          <p:cNvPr id="16" name="Text 10"/>
          <p:cNvSpPr/>
          <p:nvPr/>
        </p:nvSpPr>
        <p:spPr>
          <a:xfrm>
            <a:off x="4591051" y="3381375"/>
            <a:ext cx="2857500" cy="389255"/>
          </a:xfrm>
          <a:prstGeom prst="rect">
            <a:avLst/>
          </a:prstGeom>
          <a:noFill/>
        </p:spPr>
        <p:txBody>
          <a:bodyPr wrap="square" lIns="0" tIns="0" rIns="0" bIns="0" rtlCol="0" anchor="t">
            <a:spAutoFit/>
          </a:bodyPr>
          <a:lstStyle/>
          <a:p>
            <a:pPr marL="0" indent="0" algn="l">
              <a:buNone/>
            </a:pPr>
            <a:r>
              <a:rPr lang="en-US" sz="1265" b="1" dirty="0">
                <a:solidFill>
                  <a:srgbClr val="FFB080"/>
                </a:solidFill>
                <a:latin typeface="Arial" panose="020B0604020202020204" pitchFamily="34" charset="0"/>
                <a:ea typeface="Arial" panose="020B0604020202020204" pitchFamily="34" charset="-122"/>
                <a:cs typeface="Arial" panose="020B0604020202020204" pitchFamily="34" charset="-120"/>
              </a:rPr>
              <a:t>What I tried — including what FAILED:</a:t>
            </a:r>
            <a:endParaRPr lang="en-US" sz="1265" dirty="0"/>
          </a:p>
        </p:txBody>
      </p:sp>
      <p:sp>
        <p:nvSpPr>
          <p:cNvPr id="17" name="Text 11"/>
          <p:cNvSpPr/>
          <p:nvPr/>
        </p:nvSpPr>
        <p:spPr>
          <a:xfrm>
            <a:off x="9429751" y="3435101"/>
            <a:ext cx="1809751" cy="130175"/>
          </a:xfrm>
          <a:prstGeom prst="rect">
            <a:avLst/>
          </a:prstGeom>
          <a:noFill/>
        </p:spPr>
        <p:txBody>
          <a:bodyPr wrap="square" lIns="0" tIns="0" rIns="0" bIns="0" rtlCol="0" anchor="t">
            <a:spAutoFit/>
          </a:bodyPr>
          <a:lstStyle/>
          <a:p>
            <a:pPr marL="0" indent="0" algn="l">
              <a:lnSpc>
                <a:spcPct val="98000"/>
              </a:lnSpc>
              <a:buNone/>
            </a:pPr>
            <a:r>
              <a:rPr lang="en-US" sz="865" b="1" dirty="0">
                <a:solidFill>
                  <a:srgbClr val="FF6B1A"/>
                </a:solidFill>
                <a:latin typeface="Arial" panose="020B0604020202020204" pitchFamily="34" charset="0"/>
                <a:ea typeface="Arial" panose="020B0604020202020204" pitchFamily="34" charset="-122"/>
                <a:cs typeface="Arial" panose="020B0604020202020204" pitchFamily="34" charset="-120"/>
              </a:rPr>
              <a:t>THIS LINE IS THE WHOLE POINT.</a:t>
            </a:r>
            <a:endParaRPr lang="en-US" sz="865" dirty="0"/>
          </a:p>
        </p:txBody>
      </p:sp>
      <p:sp>
        <p:nvSpPr>
          <p:cNvPr id="18" name="Text 12"/>
          <p:cNvSpPr/>
          <p:nvPr/>
        </p:nvSpPr>
        <p:spPr>
          <a:xfrm>
            <a:off x="4591051" y="4231481"/>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What worked:</a:t>
            </a:r>
            <a:endParaRPr lang="en-US" sz="1265" dirty="0"/>
          </a:p>
        </p:txBody>
      </p:sp>
      <p:sp>
        <p:nvSpPr>
          <p:cNvPr id="19" name="Text 13"/>
          <p:cNvSpPr/>
          <p:nvPr/>
        </p:nvSpPr>
        <p:spPr>
          <a:xfrm>
            <a:off x="4591051" y="4926807"/>
            <a:ext cx="2857500" cy="194310"/>
          </a:xfrm>
          <a:prstGeom prst="rect">
            <a:avLst/>
          </a:prstGeom>
          <a:noFill/>
        </p:spPr>
        <p:txBody>
          <a:bodyPr wrap="square" lIns="0" tIns="0" rIns="0" bIns="0" rtlCol="0" anchor="t">
            <a:spAutoFit/>
          </a:bodyPr>
          <a:lstStyle/>
          <a:p>
            <a:pPr marL="0" indent="0" algn="l">
              <a:buNone/>
            </a:pPr>
            <a:r>
              <a:rPr lang="en-US" sz="1265" b="1" dirty="0">
                <a:solidFill>
                  <a:srgbClr val="FFFFFF"/>
                </a:solidFill>
                <a:latin typeface="Arial" panose="020B0604020202020204" pitchFamily="34" charset="0"/>
                <a:ea typeface="Arial" panose="020B0604020202020204" pitchFamily="34" charset="-122"/>
                <a:cs typeface="Arial" panose="020B0604020202020204" pitchFamily="34" charset="-120"/>
              </a:rPr>
              <a:t>Command used:</a:t>
            </a:r>
            <a:endParaRPr lang="en-US" sz="1265" dirty="0"/>
          </a:p>
        </p:txBody>
      </p:sp>
      <p:sp>
        <p:nvSpPr>
          <p:cNvPr id="20" name="Shape 14"/>
          <p:cNvSpPr/>
          <p:nvPr/>
        </p:nvSpPr>
        <p:spPr>
          <a:xfrm>
            <a:off x="723900" y="6191251"/>
            <a:ext cx="10744200" cy="666751"/>
          </a:xfrm>
          <a:prstGeom prst="rect">
            <a:avLst/>
          </a:prstGeom>
          <a:solidFill>
            <a:srgbClr val="000000">
              <a:alpha val="0"/>
            </a:srgbClr>
          </a:solidFill>
        </p:spPr>
      </p:sp>
      <p:sp>
        <p:nvSpPr>
          <p:cNvPr id="21" name="Shape 15"/>
          <p:cNvSpPr/>
          <p:nvPr/>
        </p:nvSpPr>
        <p:spPr>
          <a:xfrm>
            <a:off x="723900" y="6191251"/>
            <a:ext cx="10744200" cy="9525"/>
          </a:xfrm>
          <a:prstGeom prst="rect">
            <a:avLst/>
          </a:prstGeom>
          <a:solidFill>
            <a:srgbClr val="FFFFFF"/>
          </a:solidFill>
        </p:spPr>
      </p:sp>
      <p:sp>
        <p:nvSpPr>
          <p:cNvPr id="22" name="Text 16"/>
          <p:cNvSpPr/>
          <p:nvPr/>
        </p:nvSpPr>
        <p:spPr>
          <a:xfrm>
            <a:off x="723900" y="6362700"/>
            <a:ext cx="1282700" cy="144145"/>
          </a:xfrm>
          <a:prstGeom prst="rect">
            <a:avLst/>
          </a:prstGeom>
          <a:noFill/>
        </p:spPr>
        <p:txBody>
          <a:bodyPr wrap="none" lIns="0" tIns="0" rIns="0" bIns="0" rtlCol="0" anchor="t">
            <a:spAutoFit/>
          </a:bodyPr>
          <a:lstStyle/>
          <a:p>
            <a:pPr marL="0" indent="0" algn="l">
              <a:buNone/>
            </a:pPr>
            <a:r>
              <a:rPr lang="en-US" sz="935" b="1" dirty="0">
                <a:solidFill>
                  <a:srgbClr val="00D4FF"/>
                </a:solidFill>
                <a:latin typeface="Arial" panose="020B0604020202020204" pitchFamily="34" charset="0"/>
                <a:ea typeface="Arial" panose="020B0604020202020204" pitchFamily="34" charset="-122"/>
                <a:cs typeface="Arial" panose="020B0604020202020204" pitchFamily="34" charset="-120"/>
              </a:rPr>
              <a:t>EVIDENCE &gt; MEMORY</a:t>
            </a:r>
            <a:endParaRPr lang="en-US" sz="935" dirty="0"/>
          </a:p>
        </p:txBody>
      </p:sp>
      <p:sp>
        <p:nvSpPr>
          <p:cNvPr id="23" name="Text 17"/>
          <p:cNvSpPr/>
          <p:nvPr/>
        </p:nvSpPr>
        <p:spPr>
          <a:xfrm>
            <a:off x="10874797" y="6362700"/>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1:12–1:22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952500" y="1485900"/>
            <a:ext cx="3162300" cy="144145"/>
          </a:xfrm>
          <a:prstGeom prst="rect">
            <a:avLst/>
          </a:prstGeom>
          <a:noFill/>
        </p:spPr>
        <p:txBody>
          <a:bodyPr wrap="square" lIns="0" tIns="0" rIns="0" bIns="0" rtlCol="0" anchor="t">
            <a:spAutoFit/>
          </a:bodyPr>
          <a:lstStyle/>
          <a:p>
            <a:pPr marL="0" indent="0" algn="l">
              <a:buNone/>
            </a:pPr>
            <a:r>
              <a:rPr lang="en-US" sz="93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BEFORE NEXT CLASS</a:t>
            </a:r>
            <a:endParaRPr lang="en-US" sz="935" dirty="0"/>
          </a:p>
        </p:txBody>
      </p:sp>
      <p:sp>
        <p:nvSpPr>
          <p:cNvPr id="9" name="Text 3"/>
          <p:cNvSpPr/>
          <p:nvPr/>
        </p:nvSpPr>
        <p:spPr>
          <a:xfrm>
            <a:off x="952500" y="1752600"/>
            <a:ext cx="2601595" cy="455295"/>
          </a:xfrm>
          <a:prstGeom prst="rect">
            <a:avLst/>
          </a:prstGeom>
          <a:noFill/>
        </p:spPr>
        <p:txBody>
          <a:bodyPr wrap="none" lIns="0" tIns="0" rIns="0" bIns="0" rtlCol="0" anchor="t">
            <a:spAutoFit/>
          </a:bodyPr>
          <a:lstStyle/>
          <a:p>
            <a:pPr marL="0" indent="0" algn="l">
              <a:lnSpc>
                <a:spcPct val="78000"/>
              </a:lnSpc>
              <a:buNone/>
            </a:pPr>
            <a:r>
              <a:rPr lang="en-US" sz="3800" b="1" kern="0" spc="-2" dirty="0">
                <a:solidFill>
                  <a:srgbClr val="FFFFFF"/>
                </a:solidFill>
                <a:latin typeface="Arial" panose="020B0604020202020204" pitchFamily="34" charset="0"/>
                <a:ea typeface="Arial" panose="020B0604020202020204" pitchFamily="34" charset="-122"/>
                <a:cs typeface="Arial" panose="020B0604020202020204" pitchFamily="34" charset="-120"/>
              </a:rPr>
              <a:t>Homework.</a:t>
            </a:r>
            <a:endParaRPr lang="en-US" sz="3800" dirty="0"/>
          </a:p>
        </p:txBody>
      </p:sp>
      <p:sp>
        <p:nvSpPr>
          <p:cNvPr id="10" name="Text 4"/>
          <p:cNvSpPr/>
          <p:nvPr/>
        </p:nvSpPr>
        <p:spPr>
          <a:xfrm>
            <a:off x="952500" y="2484835"/>
            <a:ext cx="3162300" cy="452120"/>
          </a:xfrm>
          <a:prstGeom prst="rect">
            <a:avLst/>
          </a:prstGeom>
          <a:noFill/>
        </p:spPr>
        <p:txBody>
          <a:bodyPr wrap="square" lIns="0" tIns="0" rIns="0" bIns="0" rtlCol="0" anchor="t">
            <a:spAutoFit/>
          </a:bodyPr>
          <a:lstStyle/>
          <a:p>
            <a:pPr marL="0" indent="0" algn="l">
              <a:lnSpc>
                <a:spcPct val="110000"/>
              </a:lnSpc>
              <a:buNone/>
            </a:pPr>
            <a:r>
              <a:rPr lang="en-US" sz="1335" dirty="0">
                <a:solidFill>
                  <a:srgbClr val="AAB5C5"/>
                </a:solidFill>
                <a:latin typeface="Arial" panose="020B0604020202020204" pitchFamily="34" charset="0"/>
                <a:ea typeface="Arial" panose="020B0604020202020204" pitchFamily="34" charset="-122"/>
                <a:cs typeface="Arial" panose="020B0604020202020204" pitchFamily="34" charset="-120"/>
              </a:rPr>
              <a:t>Practice the basics while the commands and clues are still fresh.</a:t>
            </a:r>
            <a:endParaRPr lang="en-US" sz="1335" dirty="0"/>
          </a:p>
        </p:txBody>
      </p:sp>
      <p:sp>
        <p:nvSpPr>
          <p:cNvPr id="11" name="Text 5"/>
          <p:cNvSpPr/>
          <p:nvPr/>
        </p:nvSpPr>
        <p:spPr>
          <a:xfrm>
            <a:off x="952500" y="3489127"/>
            <a:ext cx="3162300" cy="361315"/>
          </a:xfrm>
          <a:prstGeom prst="rect">
            <a:avLst/>
          </a:prstGeom>
          <a:noFill/>
        </p:spPr>
        <p:txBody>
          <a:bodyPr wrap="square" lIns="0" tIns="0" rIns="0" bIns="0" rtlCol="0" anchor="t">
            <a:spAutoFit/>
          </a:bodyPr>
          <a:lstStyle/>
          <a:p>
            <a:pPr marL="0" indent="0" algn="l">
              <a:lnSpc>
                <a:spcPct val="110000"/>
              </a:lnSpc>
              <a:buNone/>
            </a:pPr>
            <a:r>
              <a:rPr lang="en-US" sz="1065" b="1" dirty="0">
                <a:solidFill>
                  <a:srgbClr val="FF9A5E"/>
                </a:solidFill>
                <a:latin typeface="Arial" panose="020B0604020202020204" pitchFamily="34" charset="0"/>
                <a:ea typeface="Arial" panose="020B0604020202020204" pitchFamily="34" charset="-122"/>
                <a:cs typeface="Arial" panose="020B0604020202020204" pitchFamily="34" charset="-120"/>
              </a:rPr>
              <a:t>ROUGHLY 2 HOURS
OF FOCUSED WORK.</a:t>
            </a:r>
            <a:endParaRPr lang="en-US" sz="1065" dirty="0"/>
          </a:p>
        </p:txBody>
      </p:sp>
      <p:sp>
        <p:nvSpPr>
          <p:cNvPr id="12" name="Text 6"/>
          <p:cNvSpPr/>
          <p:nvPr/>
        </p:nvSpPr>
        <p:spPr>
          <a:xfrm>
            <a:off x="4781551" y="1400175"/>
            <a:ext cx="6457951" cy="201295"/>
          </a:xfrm>
          <a:prstGeom prst="rect">
            <a:avLst/>
          </a:prstGeom>
          <a:noFill/>
        </p:spPr>
        <p:txBody>
          <a:bodyPr wrap="square" lIns="0" tIns="68072" rIns="0" bIns="0" rtlCol="0" anchor="t">
            <a:spAutoFit/>
          </a:bodyPr>
          <a:lstStyle/>
          <a:p>
            <a:pPr marL="0" indent="0" algn="l">
              <a:buNone/>
            </a:pPr>
            <a:r>
              <a:rPr lang="en-US" sz="865" b="1" kern="0" spc="2" dirty="0">
                <a:solidFill>
                  <a:srgbClr val="8391A5"/>
                </a:solidFill>
                <a:latin typeface="Arial" panose="020B0604020202020204" pitchFamily="34" charset="0"/>
                <a:ea typeface="Arial" panose="020B0604020202020204" pitchFamily="34" charset="-122"/>
                <a:cs typeface="Arial" panose="020B0604020202020204" pitchFamily="34" charset="-120"/>
              </a:rPr>
              <a:t>YOUR CHECKLIST</a:t>
            </a:r>
            <a:endParaRPr lang="en-US" sz="865" dirty="0"/>
          </a:p>
        </p:txBody>
      </p:sp>
      <p:sp>
        <p:nvSpPr>
          <p:cNvPr id="13" name="Text 7"/>
          <p:cNvSpPr/>
          <p:nvPr/>
        </p:nvSpPr>
        <p:spPr>
          <a:xfrm>
            <a:off x="4875213" y="2180590"/>
            <a:ext cx="69850" cy="153670"/>
          </a:xfrm>
          <a:prstGeom prst="rect">
            <a:avLst/>
          </a:prstGeom>
          <a:noFill/>
        </p:spPr>
        <p:txBody>
          <a:bodyPr wrap="none" lIns="0" tIns="0" rIns="0" bIns="0" rtlCol="0" anchor="ctr">
            <a:spAutoFit/>
          </a:bodyPr>
          <a:lstStyle/>
          <a:p>
            <a:pPr marL="0" indent="0" algn="ctr">
              <a:buNone/>
            </a:pPr>
            <a:r>
              <a:rPr lang="en-US" sz="1000" dirty="0">
                <a:solidFill>
                  <a:srgbClr val="00D4FF"/>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
        <p:nvSpPr>
          <p:cNvPr id="14" name="Text 8"/>
          <p:cNvSpPr/>
          <p:nvPr/>
        </p:nvSpPr>
        <p:spPr>
          <a:xfrm>
            <a:off x="5305425" y="2131665"/>
            <a:ext cx="2994025"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E3EAF3"/>
                </a:solidFill>
                <a:latin typeface="Arial" panose="020B0604020202020204" pitchFamily="34" charset="0"/>
                <a:ea typeface="Arial" panose="020B0604020202020204" pitchFamily="34" charset="-122"/>
                <a:cs typeface="Arial" panose="020B0604020202020204" pitchFamily="34" charset="-120"/>
              </a:rPr>
              <a:t>Finish </a:t>
            </a: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Linux Fundamentals Part 1</a:t>
            </a:r>
            <a:endParaRPr lang="en-US" sz="1465" dirty="0"/>
          </a:p>
        </p:txBody>
      </p:sp>
      <p:sp>
        <p:nvSpPr>
          <p:cNvPr id="15" name="Text 9"/>
          <p:cNvSpPr/>
          <p:nvPr/>
        </p:nvSpPr>
        <p:spPr>
          <a:xfrm>
            <a:off x="10716260" y="2183607"/>
            <a:ext cx="523240" cy="144145"/>
          </a:xfrm>
          <a:prstGeom prst="rect">
            <a:avLst/>
          </a:prstGeom>
          <a:noFill/>
        </p:spPr>
        <p:txBody>
          <a:bodyPr wrap="none" lIns="0" tIns="0" rIns="0" bIns="0" rtlCol="0" anchor="t">
            <a:spAutoFit/>
          </a:bodyPr>
          <a:lstStyle/>
          <a:p>
            <a:pPr marL="0" indent="0" algn="r">
              <a:buNone/>
            </a:pPr>
            <a:r>
              <a:rPr lang="en-US" sz="9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REQUIRED</a:t>
            </a:r>
            <a:endParaRPr lang="en-US" sz="935" dirty="0"/>
          </a:p>
        </p:txBody>
      </p:sp>
      <p:sp>
        <p:nvSpPr>
          <p:cNvPr id="16" name="Text 10"/>
          <p:cNvSpPr/>
          <p:nvPr/>
        </p:nvSpPr>
        <p:spPr>
          <a:xfrm>
            <a:off x="4875213" y="3047364"/>
            <a:ext cx="69850" cy="153670"/>
          </a:xfrm>
          <a:prstGeom prst="rect">
            <a:avLst/>
          </a:prstGeom>
          <a:noFill/>
        </p:spPr>
        <p:txBody>
          <a:bodyPr wrap="none" lIns="0" tIns="0" rIns="0" bIns="0" rtlCol="0" anchor="ctr">
            <a:spAutoFit/>
          </a:bodyPr>
          <a:lstStyle/>
          <a:p>
            <a:pPr marL="0" indent="0" algn="ctr">
              <a:buNone/>
            </a:pPr>
            <a:r>
              <a:rPr lang="en-US" sz="1000" dirty="0">
                <a:solidFill>
                  <a:srgbClr val="00D4FF"/>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
        <p:nvSpPr>
          <p:cNvPr id="17" name="Text 11"/>
          <p:cNvSpPr/>
          <p:nvPr/>
        </p:nvSpPr>
        <p:spPr>
          <a:xfrm>
            <a:off x="5305425" y="2998440"/>
            <a:ext cx="1588770"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E3EAF3"/>
                </a:solidFill>
                <a:latin typeface="Arial" panose="020B0604020202020204" pitchFamily="34" charset="0"/>
                <a:ea typeface="Arial" panose="020B0604020202020204" pitchFamily="34" charset="-122"/>
                <a:cs typeface="Arial" panose="020B0604020202020204" pitchFamily="34" charset="-120"/>
              </a:rPr>
              <a:t>Complete </a:t>
            </a: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OhSINT</a:t>
            </a:r>
            <a:endParaRPr lang="en-US" sz="1465" dirty="0"/>
          </a:p>
        </p:txBody>
      </p:sp>
      <p:sp>
        <p:nvSpPr>
          <p:cNvPr id="18" name="Text 12"/>
          <p:cNvSpPr/>
          <p:nvPr/>
        </p:nvSpPr>
        <p:spPr>
          <a:xfrm>
            <a:off x="10716260" y="3050381"/>
            <a:ext cx="523240" cy="144145"/>
          </a:xfrm>
          <a:prstGeom prst="rect">
            <a:avLst/>
          </a:prstGeom>
          <a:noFill/>
        </p:spPr>
        <p:txBody>
          <a:bodyPr wrap="none" lIns="0" tIns="0" rIns="0" bIns="0" rtlCol="0" anchor="t">
            <a:spAutoFit/>
          </a:bodyPr>
          <a:lstStyle/>
          <a:p>
            <a:pPr marL="0" indent="0" algn="r">
              <a:buNone/>
            </a:pPr>
            <a:r>
              <a:rPr lang="en-US" sz="9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REQUIRED</a:t>
            </a:r>
            <a:endParaRPr lang="en-US" sz="935" dirty="0"/>
          </a:p>
        </p:txBody>
      </p:sp>
      <p:sp>
        <p:nvSpPr>
          <p:cNvPr id="19" name="Text 13"/>
          <p:cNvSpPr/>
          <p:nvPr/>
        </p:nvSpPr>
        <p:spPr>
          <a:xfrm>
            <a:off x="4875213" y="3914140"/>
            <a:ext cx="69850" cy="153670"/>
          </a:xfrm>
          <a:prstGeom prst="rect">
            <a:avLst/>
          </a:prstGeom>
          <a:noFill/>
        </p:spPr>
        <p:txBody>
          <a:bodyPr wrap="none" lIns="0" tIns="0" rIns="0" bIns="0" rtlCol="0" anchor="ctr">
            <a:spAutoFit/>
          </a:bodyPr>
          <a:lstStyle/>
          <a:p>
            <a:pPr marL="0" indent="0" algn="ctr">
              <a:buNone/>
            </a:pPr>
            <a:r>
              <a:rPr lang="en-US" sz="1000" dirty="0">
                <a:solidFill>
                  <a:srgbClr val="00D4FF"/>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
        <p:nvSpPr>
          <p:cNvPr id="20" name="Text 14"/>
          <p:cNvSpPr/>
          <p:nvPr/>
        </p:nvSpPr>
        <p:spPr>
          <a:xfrm>
            <a:off x="5305425" y="3865215"/>
            <a:ext cx="3145155"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E3EAF3"/>
                </a:solidFill>
                <a:latin typeface="Arial" panose="020B0604020202020204" pitchFamily="34" charset="0"/>
                <a:ea typeface="Arial" panose="020B0604020202020204" pitchFamily="34" charset="-122"/>
                <a:cs typeface="Arial" panose="020B0604020202020204" pitchFamily="34" charset="-120"/>
              </a:rPr>
              <a:t>Write </a:t>
            </a: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2 writeups</a:t>
            </a:r>
            <a:r>
              <a:rPr lang="en-US" sz="1465" b="1" dirty="0">
                <a:solidFill>
                  <a:srgbClr val="E3EAF3"/>
                </a:solidFill>
                <a:latin typeface="Arial" panose="020B0604020202020204" pitchFamily="34" charset="0"/>
                <a:ea typeface="Arial" panose="020B0604020202020204" pitchFamily="34" charset="-122"/>
                <a:cs typeface="Arial" panose="020B0604020202020204" pitchFamily="34" charset="-120"/>
              </a:rPr>
              <a:t> using the template</a:t>
            </a:r>
            <a:endParaRPr lang="en-US" sz="1465" dirty="0"/>
          </a:p>
        </p:txBody>
      </p:sp>
      <p:sp>
        <p:nvSpPr>
          <p:cNvPr id="21" name="Text 15"/>
          <p:cNvSpPr/>
          <p:nvPr/>
        </p:nvSpPr>
        <p:spPr>
          <a:xfrm>
            <a:off x="10716260" y="3917156"/>
            <a:ext cx="523240" cy="144145"/>
          </a:xfrm>
          <a:prstGeom prst="rect">
            <a:avLst/>
          </a:prstGeom>
          <a:noFill/>
        </p:spPr>
        <p:txBody>
          <a:bodyPr wrap="none" lIns="0" tIns="0" rIns="0" bIns="0" rtlCol="0" anchor="t">
            <a:spAutoFit/>
          </a:bodyPr>
          <a:lstStyle/>
          <a:p>
            <a:pPr marL="0" indent="0" algn="r">
              <a:buNone/>
            </a:pPr>
            <a:r>
              <a:rPr lang="en-US" sz="9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REQUIRED</a:t>
            </a:r>
            <a:endParaRPr lang="en-US" sz="935" dirty="0"/>
          </a:p>
        </p:txBody>
      </p:sp>
      <p:sp>
        <p:nvSpPr>
          <p:cNvPr id="22" name="Text 16"/>
          <p:cNvSpPr/>
          <p:nvPr/>
        </p:nvSpPr>
        <p:spPr>
          <a:xfrm>
            <a:off x="4875213" y="4780915"/>
            <a:ext cx="69850" cy="153670"/>
          </a:xfrm>
          <a:prstGeom prst="rect">
            <a:avLst/>
          </a:prstGeom>
          <a:noFill/>
        </p:spPr>
        <p:txBody>
          <a:bodyPr wrap="none" lIns="0" tIns="0" rIns="0" bIns="0" rtlCol="0" anchor="ctr">
            <a:spAutoFit/>
          </a:bodyPr>
          <a:lstStyle/>
          <a:p>
            <a:pPr marL="0" indent="0" algn="ctr">
              <a:buNone/>
            </a:pPr>
            <a:r>
              <a:rPr lang="en-US" sz="1000" dirty="0">
                <a:solidFill>
                  <a:srgbClr val="8B98AA"/>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
        <p:nvSpPr>
          <p:cNvPr id="23" name="Text 17"/>
          <p:cNvSpPr/>
          <p:nvPr/>
        </p:nvSpPr>
        <p:spPr>
          <a:xfrm>
            <a:off x="5305425" y="4731991"/>
            <a:ext cx="3147695" cy="216535"/>
          </a:xfrm>
          <a:prstGeom prst="rect">
            <a:avLst/>
          </a:prstGeom>
          <a:noFill/>
        </p:spPr>
        <p:txBody>
          <a:bodyPr wrap="none" lIns="0" tIns="0" rIns="0" bIns="0" rtlCol="0" anchor="t">
            <a:spAutoFit/>
          </a:bodyPr>
          <a:lstStyle/>
          <a:p>
            <a:pPr marL="0" indent="0" algn="l">
              <a:lnSpc>
                <a:spcPct val="96000"/>
              </a:lnSpc>
              <a:buNone/>
            </a:pPr>
            <a:r>
              <a:rPr lang="en-US" sz="1465" b="1" dirty="0">
                <a:solidFill>
                  <a:srgbClr val="8F9BAE"/>
                </a:solidFill>
                <a:latin typeface="Arial" panose="020B0604020202020204" pitchFamily="34" charset="0"/>
                <a:ea typeface="Arial" panose="020B0604020202020204" pitchFamily="34" charset="-122"/>
                <a:cs typeface="Arial" panose="020B0604020202020204" pitchFamily="34" charset="-120"/>
              </a:rPr>
              <a:t>OverTheWire — Bandit levels </a:t>
            </a:r>
            <a:r>
              <a:rPr lang="en-US" sz="1465" b="1" dirty="0">
                <a:solidFill>
                  <a:srgbClr val="FFFFFF"/>
                </a:solidFill>
                <a:latin typeface="Arial" panose="020B0604020202020204" pitchFamily="34" charset="0"/>
                <a:ea typeface="Arial" panose="020B0604020202020204" pitchFamily="34" charset="-122"/>
                <a:cs typeface="Arial" panose="020B0604020202020204" pitchFamily="34" charset="-120"/>
              </a:rPr>
              <a:t>0 to 5</a:t>
            </a:r>
            <a:endParaRPr lang="en-US" sz="1465" dirty="0"/>
          </a:p>
        </p:txBody>
      </p:sp>
      <p:sp>
        <p:nvSpPr>
          <p:cNvPr id="24" name="Text 18"/>
          <p:cNvSpPr/>
          <p:nvPr/>
        </p:nvSpPr>
        <p:spPr>
          <a:xfrm>
            <a:off x="10716260" y="4783931"/>
            <a:ext cx="523240" cy="144145"/>
          </a:xfrm>
          <a:prstGeom prst="rect">
            <a:avLst/>
          </a:prstGeom>
          <a:noFill/>
        </p:spPr>
        <p:txBody>
          <a:bodyPr wrap="none" lIns="0" tIns="0" rIns="0" bIns="0" rtlCol="0" anchor="t">
            <a:spAutoFit/>
          </a:bodyPr>
          <a:lstStyle/>
          <a:p>
            <a:pPr marL="0" indent="0" algn="r">
              <a:buNone/>
            </a:pPr>
            <a:r>
              <a:rPr lang="en-US" sz="935" b="1" dirty="0">
                <a:solidFill>
                  <a:srgbClr val="8F9BAE"/>
                </a:solidFill>
                <a:latin typeface="Consolas" panose="020B0609020204030204" pitchFamily="34" charset="0"/>
                <a:ea typeface="Consolas" panose="020B0609020204030204" pitchFamily="34" charset="-122"/>
                <a:cs typeface="Consolas" panose="020B0609020204030204" pitchFamily="34" charset="-120"/>
              </a:rPr>
              <a:t>OPTIONAL</a:t>
            </a:r>
            <a:endParaRPr lang="en-US" sz="935" dirty="0"/>
          </a:p>
        </p:txBody>
      </p:sp>
      <p:sp>
        <p:nvSpPr>
          <p:cNvPr id="25" name="Shape 19"/>
          <p:cNvSpPr/>
          <p:nvPr/>
        </p:nvSpPr>
        <p:spPr>
          <a:xfrm>
            <a:off x="723900" y="6191251"/>
            <a:ext cx="10744200" cy="666751"/>
          </a:xfrm>
          <a:prstGeom prst="rect">
            <a:avLst/>
          </a:prstGeom>
          <a:solidFill>
            <a:srgbClr val="000000">
              <a:alpha val="0"/>
            </a:srgbClr>
          </a:solidFill>
        </p:spPr>
      </p:sp>
      <p:sp>
        <p:nvSpPr>
          <p:cNvPr id="26" name="Shape 20"/>
          <p:cNvSpPr/>
          <p:nvPr/>
        </p:nvSpPr>
        <p:spPr>
          <a:xfrm>
            <a:off x="723900" y="6191251"/>
            <a:ext cx="10744200" cy="9525"/>
          </a:xfrm>
          <a:prstGeom prst="rect">
            <a:avLst/>
          </a:prstGeom>
          <a:solidFill>
            <a:srgbClr val="FFFFFF"/>
          </a:solidFill>
        </p:spPr>
      </p:sp>
      <p:sp>
        <p:nvSpPr>
          <p:cNvPr id="27" name="Text 21"/>
          <p:cNvSpPr/>
          <p:nvPr/>
        </p:nvSpPr>
        <p:spPr>
          <a:xfrm>
            <a:off x="723900" y="6362700"/>
            <a:ext cx="5846415" cy="174625"/>
          </a:xfrm>
          <a:prstGeom prst="rect">
            <a:avLst/>
          </a:prstGeom>
          <a:noFill/>
        </p:spPr>
        <p:txBody>
          <a:bodyPr wrap="square" lIns="0" tIns="0" rIns="0" bIns="0" rtlCol="0" anchor="t">
            <a:spAutoFit/>
          </a:bodyPr>
          <a:lstStyle/>
          <a:p>
            <a:pPr marL="0" indent="0" algn="l">
              <a:buNone/>
            </a:pPr>
            <a:r>
              <a:rPr lang="en-US" sz="1065" b="1" dirty="0">
                <a:solidFill>
                  <a:srgbClr val="00D4FF"/>
                </a:solidFill>
                <a:latin typeface="Arial" panose="020B0604020202020204" pitchFamily="34" charset="0"/>
                <a:ea typeface="Arial" panose="020B0604020202020204" pitchFamily="34" charset="-122"/>
                <a:cs typeface="Arial" panose="020B0604020202020204" pitchFamily="34" charset="-120"/>
              </a:rPr>
              <a:t>POST YOUR WRITEUPS IN THE GROUP.</a:t>
            </a:r>
            <a:r>
              <a:rPr lang="en-US" sz="1135" dirty="0">
                <a:solidFill>
                  <a:srgbClr val="B1BDCC"/>
                </a:solidFill>
                <a:latin typeface="Arial" panose="020B0604020202020204" pitchFamily="34" charset="0"/>
                <a:ea typeface="Arial" panose="020B0604020202020204" pitchFamily="34" charset="-122"/>
                <a:cs typeface="Arial" panose="020B0604020202020204" pitchFamily="34" charset="-120"/>
              </a:rPr>
              <a:t> Rough work is welcome; evidence matters.</a:t>
            </a:r>
            <a:endParaRPr lang="en-US" sz="1065" dirty="0"/>
          </a:p>
        </p:txBody>
      </p:sp>
      <p:sp>
        <p:nvSpPr>
          <p:cNvPr id="28" name="Text 22"/>
          <p:cNvSpPr/>
          <p:nvPr/>
        </p:nvSpPr>
        <p:spPr>
          <a:xfrm>
            <a:off x="10874797" y="6362700"/>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1:22–1:28</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1028700" y="971551"/>
            <a:ext cx="10134600" cy="495300"/>
          </a:xfrm>
          <a:prstGeom prst="rect">
            <a:avLst/>
          </a:prstGeom>
          <a:noFill/>
        </p:spPr>
        <p:txBody>
          <a:bodyPr wrap="square" lIns="0" tIns="351536" rIns="0" bIns="0" rtlCol="0" anchor="t">
            <a:spAutoFit/>
          </a:bodyPr>
          <a:lstStyle/>
          <a:p>
            <a:pPr marL="0" indent="0" algn="l">
              <a:buNone/>
            </a:pPr>
            <a:r>
              <a:rPr lang="en-US" sz="935"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COMMUNITY PROGRESS</a:t>
            </a:r>
            <a:endParaRPr lang="en-US" sz="935" dirty="0"/>
          </a:p>
        </p:txBody>
      </p:sp>
      <p:sp>
        <p:nvSpPr>
          <p:cNvPr id="9" name="Text 3"/>
          <p:cNvSpPr/>
          <p:nvPr/>
        </p:nvSpPr>
        <p:spPr>
          <a:xfrm>
            <a:off x="1028700" y="1485900"/>
            <a:ext cx="5605780" cy="417195"/>
          </a:xfrm>
          <a:prstGeom prst="rect">
            <a:avLst/>
          </a:prstGeom>
          <a:noFill/>
        </p:spPr>
        <p:txBody>
          <a:bodyPr wrap="none" lIns="0" tIns="0" rIns="0" bIns="0" rtlCol="0" anchor="t">
            <a:spAutoFit/>
          </a:bodyPr>
          <a:lstStyle/>
          <a:p>
            <a:pPr marL="0" indent="0" algn="l">
              <a:lnSpc>
                <a:spcPct val="83000"/>
              </a:lnSpc>
              <a:buNone/>
            </a:pPr>
            <a:r>
              <a:rPr lang="en-US" sz="3265" b="1" kern="0" spc="-1" dirty="0">
                <a:solidFill>
                  <a:srgbClr val="FFFFFF"/>
                </a:solidFill>
                <a:latin typeface="Arial" panose="020B0604020202020204" pitchFamily="34" charset="0"/>
                <a:ea typeface="Arial" panose="020B0604020202020204" pitchFamily="34" charset="-122"/>
                <a:cs typeface="Arial" panose="020B0604020202020204" pitchFamily="34" charset="-120"/>
              </a:rPr>
              <a:t>THE SCOREBOARD IS LIVE.</a:t>
            </a:r>
            <a:endParaRPr lang="en-US" sz="3265" dirty="0"/>
          </a:p>
        </p:txBody>
      </p:sp>
      <p:sp>
        <p:nvSpPr>
          <p:cNvPr id="10" name="Text 4"/>
          <p:cNvSpPr/>
          <p:nvPr/>
        </p:nvSpPr>
        <p:spPr>
          <a:xfrm>
            <a:off x="9130605" y="1738312"/>
            <a:ext cx="2032695" cy="163830"/>
          </a:xfrm>
          <a:prstGeom prst="rect">
            <a:avLst/>
          </a:prstGeom>
          <a:noFill/>
        </p:spPr>
        <p:txBody>
          <a:bodyPr wrap="square" lIns="0" tIns="0" rIns="0" bIns="0" rtlCol="0" anchor="t">
            <a:spAutoFit/>
          </a:bodyPr>
          <a:lstStyle/>
          <a:p>
            <a:pPr marL="0" indent="0" algn="l">
              <a:buNone/>
            </a:pPr>
            <a:r>
              <a:rPr lang="en-US" sz="1065" b="1" kern="0" spc="2" dirty="0">
                <a:solidFill>
                  <a:srgbClr val="FF6B1A"/>
                </a:solidFill>
                <a:latin typeface="Arial" panose="020B0604020202020204" pitchFamily="34" charset="0"/>
                <a:ea typeface="Arial" panose="020B0604020202020204" pitchFamily="34" charset="-122"/>
                <a:cs typeface="Arial" panose="020B0604020202020204" pitchFamily="34" charset="-120"/>
              </a:rPr>
              <a:t>LIVE EDITABLE TABLE</a:t>
            </a:r>
            <a:endParaRPr lang="en-US" sz="1065" dirty="0"/>
          </a:p>
        </p:txBody>
      </p:sp>
      <p:sp>
        <p:nvSpPr>
          <p:cNvPr id="11" name="Text 5"/>
          <p:cNvSpPr/>
          <p:nvPr/>
        </p:nvSpPr>
        <p:spPr>
          <a:xfrm>
            <a:off x="1028700" y="2056581"/>
            <a:ext cx="10134600" cy="194310"/>
          </a:xfrm>
          <a:prstGeom prst="rect">
            <a:avLst/>
          </a:prstGeom>
          <a:noFill/>
        </p:spPr>
        <p:txBody>
          <a:bodyPr wrap="square" lIns="0" tIns="0" rIns="0" bIns="0" rtlCol="0" anchor="t">
            <a:spAutoFit/>
          </a:bodyPr>
          <a:lstStyle/>
          <a:p>
            <a:pPr marL="0" indent="0" algn="l">
              <a:buNone/>
            </a:pPr>
            <a:r>
              <a:rPr lang="en-US" sz="1265" dirty="0">
                <a:solidFill>
                  <a:srgbClr val="9CA8BA"/>
                </a:solidFill>
                <a:latin typeface="Arial" panose="020B0604020202020204" pitchFamily="34" charset="0"/>
                <a:ea typeface="Arial" panose="020B0604020202020204" pitchFamily="34" charset="-122"/>
                <a:cs typeface="Arial" panose="020B0604020202020204" pitchFamily="34" charset="-120"/>
              </a:rPr>
              <a:t>Complete the rooms. Record the work. Move up together.</a:t>
            </a:r>
            <a:endParaRPr lang="en-US" sz="1265" dirty="0"/>
          </a:p>
        </p:txBody>
      </p:sp>
      <p:sp>
        <p:nvSpPr>
          <p:cNvPr id="12" name="Text 6"/>
          <p:cNvSpPr/>
          <p:nvPr/>
        </p:nvSpPr>
        <p:spPr>
          <a:xfrm>
            <a:off x="1038225" y="2523307"/>
            <a:ext cx="591820" cy="133350"/>
          </a:xfrm>
          <a:prstGeom prst="rect">
            <a:avLst/>
          </a:prstGeom>
          <a:noFill/>
        </p:spPr>
        <p:txBody>
          <a:bodyPr wrap="none" lIns="272118" tIns="0" rIns="0" bIns="0" rtlCol="0" anchor="t">
            <a:spAutoFit/>
          </a:bodyPr>
          <a:lstStyle/>
          <a:p>
            <a:pPr marL="0" indent="0" algn="l">
              <a:buNone/>
            </a:pPr>
            <a:r>
              <a:rPr lang="en-US" sz="865" b="1" kern="0" spc="2" dirty="0">
                <a:solidFill>
                  <a:srgbClr val="8290A5"/>
                </a:solidFill>
                <a:latin typeface="Arial" panose="020B0604020202020204" pitchFamily="34" charset="0"/>
                <a:ea typeface="Arial" panose="020B0604020202020204" pitchFamily="34" charset="-122"/>
                <a:cs typeface="Arial" panose="020B0604020202020204" pitchFamily="34" charset="-120"/>
              </a:rPr>
              <a:t>RANK</a:t>
            </a:r>
            <a:endParaRPr lang="en-US" sz="865" dirty="0"/>
          </a:p>
        </p:txBody>
      </p:sp>
      <p:sp>
        <p:nvSpPr>
          <p:cNvPr id="13" name="Text 7"/>
          <p:cNvSpPr/>
          <p:nvPr/>
        </p:nvSpPr>
        <p:spPr>
          <a:xfrm>
            <a:off x="2657475" y="2523307"/>
            <a:ext cx="5981700" cy="133350"/>
          </a:xfrm>
          <a:prstGeom prst="rect">
            <a:avLst/>
          </a:prstGeom>
          <a:noFill/>
        </p:spPr>
        <p:txBody>
          <a:bodyPr wrap="square" lIns="272118" tIns="0" rIns="0" bIns="0" rtlCol="0" anchor="t">
            <a:spAutoFit/>
          </a:bodyPr>
          <a:lstStyle/>
          <a:p>
            <a:pPr marL="0" indent="0" algn="l">
              <a:buNone/>
            </a:pPr>
            <a:r>
              <a:rPr lang="en-US" sz="865" b="1" kern="0" spc="2" dirty="0">
                <a:solidFill>
                  <a:srgbClr val="8290A5"/>
                </a:solidFill>
                <a:latin typeface="Arial" panose="020B0604020202020204" pitchFamily="34" charset="0"/>
                <a:ea typeface="Arial" panose="020B0604020202020204" pitchFamily="34" charset="-122"/>
                <a:cs typeface="Arial" panose="020B0604020202020204" pitchFamily="34" charset="-120"/>
              </a:rPr>
              <a:t>NAME</a:t>
            </a:r>
            <a:endParaRPr lang="en-US" sz="865" dirty="0"/>
          </a:p>
        </p:txBody>
      </p:sp>
      <p:sp>
        <p:nvSpPr>
          <p:cNvPr id="14" name="Text 8"/>
          <p:cNvSpPr/>
          <p:nvPr/>
        </p:nvSpPr>
        <p:spPr>
          <a:xfrm>
            <a:off x="8639175" y="2523307"/>
            <a:ext cx="2524125" cy="133350"/>
          </a:xfrm>
          <a:prstGeom prst="rect">
            <a:avLst/>
          </a:prstGeom>
          <a:noFill/>
        </p:spPr>
        <p:txBody>
          <a:bodyPr wrap="square" lIns="272118" tIns="0" rIns="0" bIns="0" rtlCol="0" anchor="t">
            <a:spAutoFit/>
          </a:bodyPr>
          <a:lstStyle/>
          <a:p>
            <a:pPr marL="0" indent="0" algn="l">
              <a:buNone/>
            </a:pPr>
            <a:r>
              <a:rPr lang="en-US" sz="865" b="1" kern="0" spc="2" dirty="0">
                <a:solidFill>
                  <a:srgbClr val="8290A5"/>
                </a:solidFill>
                <a:latin typeface="Arial" panose="020B0604020202020204" pitchFamily="34" charset="0"/>
                <a:ea typeface="Arial" panose="020B0604020202020204" pitchFamily="34" charset="-122"/>
                <a:cs typeface="Arial" panose="020B0604020202020204" pitchFamily="34" charset="-120"/>
              </a:rPr>
              <a:t>ROOMS COMPLETED</a:t>
            </a:r>
            <a:endParaRPr lang="en-US" sz="865" dirty="0"/>
          </a:p>
        </p:txBody>
      </p:sp>
      <p:sp>
        <p:nvSpPr>
          <p:cNvPr id="15" name="Text 9"/>
          <p:cNvSpPr/>
          <p:nvPr/>
        </p:nvSpPr>
        <p:spPr>
          <a:xfrm>
            <a:off x="1038225" y="3113856"/>
            <a:ext cx="458470" cy="205740"/>
          </a:xfrm>
          <a:prstGeom prst="rect">
            <a:avLst/>
          </a:prstGeom>
          <a:noFill/>
        </p:spPr>
        <p:txBody>
          <a:bodyPr wrap="none" lIns="272118" tIns="0" rIns="0" bIns="0" rtlCol="0" anchor="t">
            <a:spAutoFit/>
          </a:bodyPr>
          <a:lstStyle/>
          <a:p>
            <a:pPr marL="0" indent="0" algn="l">
              <a:buNone/>
            </a:pPr>
            <a:r>
              <a:rPr lang="en-US" sz="1335" b="1" dirty="0">
                <a:solidFill>
                  <a:srgbClr val="FF6B1A"/>
                </a:solidFill>
                <a:latin typeface="Consolas" panose="020B0609020204030204" pitchFamily="34" charset="0"/>
                <a:ea typeface="Consolas" panose="020B0609020204030204" pitchFamily="34" charset="-122"/>
                <a:cs typeface="Consolas" panose="020B0609020204030204" pitchFamily="34" charset="-120"/>
              </a:rPr>
              <a:t>01</a:t>
            </a:r>
            <a:endParaRPr lang="en-US" sz="1335" dirty="0"/>
          </a:p>
        </p:txBody>
      </p:sp>
      <p:sp>
        <p:nvSpPr>
          <p:cNvPr id="16" name="Text 10"/>
          <p:cNvSpPr/>
          <p:nvPr/>
        </p:nvSpPr>
        <p:spPr>
          <a:xfrm>
            <a:off x="2657475" y="3113856"/>
            <a:ext cx="5981700" cy="225425"/>
          </a:xfrm>
          <a:prstGeom prst="rect">
            <a:avLst/>
          </a:prstGeom>
          <a:noFill/>
        </p:spPr>
        <p:txBody>
          <a:bodyPr wrap="square" lIns="272118" tIns="0" rIns="0" bIns="0" rtlCol="0" anchor="t">
            <a:spAutoFit/>
          </a:bodyPr>
          <a:lstStyle/>
          <a:p>
            <a:pPr marL="0" indent="0" algn="l">
              <a:buNone/>
            </a:pPr>
            <a:r>
              <a:rPr lang="en-US" sz="1465" i="1" dirty="0">
                <a:solidFill>
                  <a:srgbClr val="738197"/>
                </a:solidFill>
                <a:latin typeface="Arial" panose="020B0604020202020204" pitchFamily="34" charset="0"/>
                <a:ea typeface="Arial" panose="020B0604020202020204" pitchFamily="34" charset="-122"/>
                <a:cs typeface="Arial" panose="020B0604020202020204" pitchFamily="34" charset="-120"/>
              </a:rPr>
              <a:t>[ Mahfuz ]</a:t>
            </a:r>
            <a:endParaRPr lang="en-US" sz="1465" dirty="0"/>
          </a:p>
        </p:txBody>
      </p:sp>
      <p:sp>
        <p:nvSpPr>
          <p:cNvPr id="17" name="Text 11"/>
          <p:cNvSpPr/>
          <p:nvPr/>
        </p:nvSpPr>
        <p:spPr>
          <a:xfrm>
            <a:off x="8639175" y="3113856"/>
            <a:ext cx="2524125" cy="215265"/>
          </a:xfrm>
          <a:prstGeom prst="rect">
            <a:avLst/>
          </a:prstGeom>
          <a:noFill/>
        </p:spPr>
        <p:txBody>
          <a:bodyPr wrap="square" lIns="272118" tIns="0" rIns="0" bIns="0" rtlCol="0" anchor="t">
            <a:spAutoFit/>
          </a:bodyPr>
          <a:lstStyle/>
          <a:p>
            <a:pPr marL="0" indent="0" algn="l">
              <a:buNone/>
            </a:pPr>
            <a:r>
              <a:rPr lang="en-US" sz="1400" i="1" dirty="0">
                <a:solidFill>
                  <a:srgbClr val="738197"/>
                </a:solidFill>
                <a:latin typeface="Consolas" panose="020B0609020204030204" pitchFamily="34" charset="0"/>
                <a:ea typeface="Consolas" panose="020B0609020204030204" pitchFamily="34" charset="-122"/>
                <a:cs typeface="Consolas" panose="020B0609020204030204" pitchFamily="34" charset="-120"/>
              </a:rPr>
              <a:t>[ 100 ]</a:t>
            </a:r>
            <a:endParaRPr lang="en-US" sz="1400" dirty="0"/>
          </a:p>
        </p:txBody>
      </p:sp>
      <p:sp>
        <p:nvSpPr>
          <p:cNvPr id="18" name="Text 12"/>
          <p:cNvSpPr/>
          <p:nvPr/>
        </p:nvSpPr>
        <p:spPr>
          <a:xfrm>
            <a:off x="1038225" y="3704407"/>
            <a:ext cx="458470" cy="205740"/>
          </a:xfrm>
          <a:prstGeom prst="rect">
            <a:avLst/>
          </a:prstGeom>
          <a:noFill/>
        </p:spPr>
        <p:txBody>
          <a:bodyPr wrap="none" lIns="272118" tIns="0" rIns="0" bIns="0" rtlCol="0" anchor="t">
            <a:spAutoFit/>
          </a:bodyPr>
          <a:lstStyle/>
          <a:p>
            <a:pPr marL="0" indent="0" algn="l">
              <a:buNone/>
            </a:pPr>
            <a:r>
              <a:rPr lang="en-US" sz="13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02</a:t>
            </a:r>
            <a:endParaRPr lang="en-US" sz="1335" dirty="0"/>
          </a:p>
        </p:txBody>
      </p:sp>
      <p:sp>
        <p:nvSpPr>
          <p:cNvPr id="19" name="Text 13"/>
          <p:cNvSpPr/>
          <p:nvPr/>
        </p:nvSpPr>
        <p:spPr>
          <a:xfrm>
            <a:off x="2657475" y="3704407"/>
            <a:ext cx="5981700" cy="225425"/>
          </a:xfrm>
          <a:prstGeom prst="rect">
            <a:avLst/>
          </a:prstGeom>
          <a:noFill/>
        </p:spPr>
        <p:txBody>
          <a:bodyPr wrap="square" lIns="272118" tIns="0" rIns="0" bIns="0" rtlCol="0" anchor="t">
            <a:spAutoFit/>
          </a:bodyPr>
          <a:lstStyle/>
          <a:p>
            <a:pPr marL="0" indent="0" algn="l">
              <a:buNone/>
            </a:pPr>
            <a:r>
              <a:rPr lang="en-US" sz="1465" i="1" dirty="0">
                <a:solidFill>
                  <a:srgbClr val="738197"/>
                </a:solidFill>
                <a:latin typeface="Arial" panose="020B0604020202020204" pitchFamily="34" charset="0"/>
                <a:ea typeface="Arial" panose="020B0604020202020204" pitchFamily="34" charset="-122"/>
                <a:cs typeface="Arial" panose="020B0604020202020204" pitchFamily="34" charset="-120"/>
              </a:rPr>
              <a:t>[ shibly ]</a:t>
            </a:r>
            <a:endParaRPr lang="en-US" sz="1465" dirty="0"/>
          </a:p>
        </p:txBody>
      </p:sp>
      <p:sp>
        <p:nvSpPr>
          <p:cNvPr id="20" name="Text 14"/>
          <p:cNvSpPr/>
          <p:nvPr/>
        </p:nvSpPr>
        <p:spPr>
          <a:xfrm>
            <a:off x="8639175" y="3704407"/>
            <a:ext cx="2524125" cy="215265"/>
          </a:xfrm>
          <a:prstGeom prst="rect">
            <a:avLst/>
          </a:prstGeom>
          <a:noFill/>
        </p:spPr>
        <p:txBody>
          <a:bodyPr wrap="square" lIns="272118" tIns="0" rIns="0" bIns="0" rtlCol="0" anchor="t">
            <a:spAutoFit/>
          </a:bodyPr>
          <a:lstStyle/>
          <a:p>
            <a:pPr marL="0" indent="0" algn="l">
              <a:buNone/>
            </a:pPr>
            <a:r>
              <a:rPr lang="en-US" sz="1400" i="1" dirty="0">
                <a:solidFill>
                  <a:srgbClr val="738197"/>
                </a:solidFill>
                <a:latin typeface="Consolas" panose="020B0609020204030204" pitchFamily="34" charset="0"/>
                <a:ea typeface="Consolas" panose="020B0609020204030204" pitchFamily="34" charset="-122"/>
                <a:cs typeface="Consolas" panose="020B0609020204030204" pitchFamily="34" charset="-120"/>
              </a:rPr>
              <a:t>[ 100 ]</a:t>
            </a:r>
            <a:endParaRPr lang="en-US" sz="1400" dirty="0"/>
          </a:p>
        </p:txBody>
      </p:sp>
      <p:sp>
        <p:nvSpPr>
          <p:cNvPr id="21" name="Text 15"/>
          <p:cNvSpPr/>
          <p:nvPr/>
        </p:nvSpPr>
        <p:spPr>
          <a:xfrm>
            <a:off x="1038225" y="4294956"/>
            <a:ext cx="458470" cy="205740"/>
          </a:xfrm>
          <a:prstGeom prst="rect">
            <a:avLst/>
          </a:prstGeom>
          <a:noFill/>
        </p:spPr>
        <p:txBody>
          <a:bodyPr wrap="none" lIns="272118" tIns="0" rIns="0" bIns="0" rtlCol="0" anchor="t">
            <a:spAutoFit/>
          </a:bodyPr>
          <a:lstStyle/>
          <a:p>
            <a:pPr marL="0" indent="0" algn="l">
              <a:buNone/>
            </a:pPr>
            <a:r>
              <a:rPr lang="en-US" sz="13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03</a:t>
            </a:r>
            <a:endParaRPr lang="en-US" sz="1335" dirty="0"/>
          </a:p>
        </p:txBody>
      </p:sp>
      <p:sp>
        <p:nvSpPr>
          <p:cNvPr id="22" name="Text 16"/>
          <p:cNvSpPr/>
          <p:nvPr/>
        </p:nvSpPr>
        <p:spPr>
          <a:xfrm>
            <a:off x="2657475" y="4294956"/>
            <a:ext cx="5981700" cy="225425"/>
          </a:xfrm>
          <a:prstGeom prst="rect">
            <a:avLst/>
          </a:prstGeom>
          <a:noFill/>
        </p:spPr>
        <p:txBody>
          <a:bodyPr wrap="square" lIns="272118" tIns="0" rIns="0" bIns="0" rtlCol="0" anchor="t">
            <a:spAutoFit/>
          </a:bodyPr>
          <a:lstStyle/>
          <a:p>
            <a:pPr marL="0" indent="0" algn="l">
              <a:buNone/>
            </a:pPr>
            <a:r>
              <a:rPr lang="en-US" sz="1465" i="1" dirty="0">
                <a:solidFill>
                  <a:srgbClr val="738197"/>
                </a:solidFill>
                <a:latin typeface="Arial" panose="020B0604020202020204" pitchFamily="34" charset="0"/>
                <a:ea typeface="Arial" panose="020B0604020202020204" pitchFamily="34" charset="-122"/>
                <a:cs typeface="Arial" panose="020B0604020202020204" pitchFamily="34" charset="-120"/>
              </a:rPr>
              <a:t>[ learner name ]</a:t>
            </a:r>
            <a:endParaRPr lang="en-US" sz="1465" dirty="0"/>
          </a:p>
        </p:txBody>
      </p:sp>
      <p:sp>
        <p:nvSpPr>
          <p:cNvPr id="23" name="Text 17"/>
          <p:cNvSpPr/>
          <p:nvPr/>
        </p:nvSpPr>
        <p:spPr>
          <a:xfrm>
            <a:off x="8639175" y="4294956"/>
            <a:ext cx="2524125" cy="215265"/>
          </a:xfrm>
          <a:prstGeom prst="rect">
            <a:avLst/>
          </a:prstGeom>
          <a:noFill/>
        </p:spPr>
        <p:txBody>
          <a:bodyPr wrap="square" lIns="272118" tIns="0" rIns="0" bIns="0" rtlCol="0" anchor="t">
            <a:spAutoFit/>
          </a:bodyPr>
          <a:lstStyle/>
          <a:p>
            <a:pPr marL="0" indent="0" algn="l">
              <a:buNone/>
            </a:pPr>
            <a:r>
              <a:rPr lang="en-US" sz="1400" i="1" dirty="0">
                <a:solidFill>
                  <a:srgbClr val="738197"/>
                </a:solidFill>
                <a:latin typeface="Consolas" panose="020B0609020204030204" pitchFamily="34" charset="0"/>
                <a:ea typeface="Consolas" panose="020B0609020204030204" pitchFamily="34" charset="-122"/>
                <a:cs typeface="Consolas" panose="020B0609020204030204" pitchFamily="34" charset="-120"/>
              </a:rPr>
              <a:t>[ 00 ]</a:t>
            </a:r>
            <a:endParaRPr lang="en-US" sz="1400" dirty="0"/>
          </a:p>
        </p:txBody>
      </p:sp>
      <p:sp>
        <p:nvSpPr>
          <p:cNvPr id="24" name="Text 18"/>
          <p:cNvSpPr/>
          <p:nvPr/>
        </p:nvSpPr>
        <p:spPr>
          <a:xfrm>
            <a:off x="1038225" y="4885507"/>
            <a:ext cx="458470" cy="205740"/>
          </a:xfrm>
          <a:prstGeom prst="rect">
            <a:avLst/>
          </a:prstGeom>
          <a:noFill/>
        </p:spPr>
        <p:txBody>
          <a:bodyPr wrap="none" lIns="272118" tIns="0" rIns="0" bIns="0" rtlCol="0" anchor="t">
            <a:spAutoFit/>
          </a:bodyPr>
          <a:lstStyle/>
          <a:p>
            <a:pPr marL="0" indent="0" algn="l">
              <a:buNone/>
            </a:pPr>
            <a:r>
              <a:rPr lang="en-US" sz="1335" b="1" dirty="0">
                <a:solidFill>
                  <a:srgbClr val="00D4FF"/>
                </a:solidFill>
                <a:latin typeface="Consolas" panose="020B0609020204030204" pitchFamily="34" charset="0"/>
                <a:ea typeface="Consolas" panose="020B0609020204030204" pitchFamily="34" charset="-122"/>
                <a:cs typeface="Consolas" panose="020B0609020204030204" pitchFamily="34" charset="-120"/>
              </a:rPr>
              <a:t>04</a:t>
            </a:r>
            <a:endParaRPr lang="en-US" sz="1335" dirty="0"/>
          </a:p>
        </p:txBody>
      </p:sp>
      <p:sp>
        <p:nvSpPr>
          <p:cNvPr id="25" name="Text 19"/>
          <p:cNvSpPr/>
          <p:nvPr/>
        </p:nvSpPr>
        <p:spPr>
          <a:xfrm>
            <a:off x="2657475" y="4885507"/>
            <a:ext cx="5981700" cy="225425"/>
          </a:xfrm>
          <a:prstGeom prst="rect">
            <a:avLst/>
          </a:prstGeom>
          <a:noFill/>
        </p:spPr>
        <p:txBody>
          <a:bodyPr wrap="square" lIns="272118" tIns="0" rIns="0" bIns="0" rtlCol="0" anchor="t">
            <a:spAutoFit/>
          </a:bodyPr>
          <a:lstStyle/>
          <a:p>
            <a:pPr marL="0" indent="0" algn="l">
              <a:buNone/>
            </a:pPr>
            <a:r>
              <a:rPr lang="en-US" sz="1465" i="1" dirty="0">
                <a:solidFill>
                  <a:srgbClr val="738197"/>
                </a:solidFill>
                <a:latin typeface="Arial" panose="020B0604020202020204" pitchFamily="34" charset="0"/>
                <a:ea typeface="Arial" panose="020B0604020202020204" pitchFamily="34" charset="-122"/>
                <a:cs typeface="Arial" panose="020B0604020202020204" pitchFamily="34" charset="-120"/>
              </a:rPr>
              <a:t>[ learner name ]</a:t>
            </a:r>
            <a:endParaRPr lang="en-US" sz="1465" dirty="0"/>
          </a:p>
        </p:txBody>
      </p:sp>
      <p:sp>
        <p:nvSpPr>
          <p:cNvPr id="26" name="Text 20"/>
          <p:cNvSpPr/>
          <p:nvPr/>
        </p:nvSpPr>
        <p:spPr>
          <a:xfrm>
            <a:off x="8639175" y="4885507"/>
            <a:ext cx="2524125" cy="215265"/>
          </a:xfrm>
          <a:prstGeom prst="rect">
            <a:avLst/>
          </a:prstGeom>
          <a:noFill/>
        </p:spPr>
        <p:txBody>
          <a:bodyPr wrap="square" lIns="272118" tIns="0" rIns="0" bIns="0" rtlCol="0" anchor="t">
            <a:spAutoFit/>
          </a:bodyPr>
          <a:lstStyle/>
          <a:p>
            <a:pPr marL="0" indent="0" algn="l">
              <a:buNone/>
            </a:pPr>
            <a:r>
              <a:rPr lang="en-US" sz="1400" i="1" dirty="0">
                <a:solidFill>
                  <a:srgbClr val="738197"/>
                </a:solidFill>
                <a:latin typeface="Consolas" panose="020B0609020204030204" pitchFamily="34" charset="0"/>
                <a:ea typeface="Consolas" panose="020B0609020204030204" pitchFamily="34" charset="-122"/>
                <a:cs typeface="Consolas" panose="020B0609020204030204" pitchFamily="34" charset="-120"/>
              </a:rPr>
              <a:t>[ 00 ]</a:t>
            </a:r>
            <a:endParaRPr lang="en-US" sz="1400" dirty="0"/>
          </a:p>
        </p:txBody>
      </p:sp>
      <p:sp>
        <p:nvSpPr>
          <p:cNvPr id="27" name="Shape 21"/>
          <p:cNvSpPr/>
          <p:nvPr/>
        </p:nvSpPr>
        <p:spPr>
          <a:xfrm>
            <a:off x="723900" y="6191251"/>
            <a:ext cx="10744200" cy="666751"/>
          </a:xfrm>
          <a:prstGeom prst="rect">
            <a:avLst/>
          </a:prstGeom>
          <a:solidFill>
            <a:srgbClr val="000000">
              <a:alpha val="0"/>
            </a:srgbClr>
          </a:solidFill>
        </p:spPr>
      </p:sp>
      <p:sp>
        <p:nvSpPr>
          <p:cNvPr id="28" name="Shape 22"/>
          <p:cNvSpPr/>
          <p:nvPr/>
        </p:nvSpPr>
        <p:spPr>
          <a:xfrm>
            <a:off x="723900" y="6191251"/>
            <a:ext cx="10744200" cy="9525"/>
          </a:xfrm>
          <a:prstGeom prst="rect">
            <a:avLst/>
          </a:prstGeom>
          <a:solidFill>
            <a:srgbClr val="FFFFFF"/>
          </a:solidFill>
        </p:spPr>
      </p:sp>
      <p:sp>
        <p:nvSpPr>
          <p:cNvPr id="29" name="Text 23"/>
          <p:cNvSpPr/>
          <p:nvPr/>
        </p:nvSpPr>
        <p:spPr>
          <a:xfrm>
            <a:off x="723900" y="6362700"/>
            <a:ext cx="2545556" cy="163830"/>
          </a:xfrm>
          <a:prstGeom prst="rect">
            <a:avLst/>
          </a:prstGeom>
          <a:noFill/>
        </p:spPr>
        <p:txBody>
          <a:bodyPr wrap="square" lIns="0" tIns="0" rIns="0" bIns="0" rtlCol="0" anchor="t">
            <a:spAutoFit/>
          </a:bodyPr>
          <a:lstStyle/>
          <a:p>
            <a:pPr marL="0" indent="0" algn="l">
              <a:buNone/>
            </a:pPr>
            <a:r>
              <a:rPr lang="en-US" sz="1065" b="1" dirty="0">
                <a:solidFill>
                  <a:srgbClr val="00D4FF"/>
                </a:solidFill>
                <a:latin typeface="Arial" panose="020B0604020202020204" pitchFamily="34" charset="0"/>
                <a:ea typeface="Arial" panose="020B0604020202020204" pitchFamily="34" charset="-122"/>
                <a:cs typeface="Arial" panose="020B0604020202020204" pitchFamily="34" charset="-120"/>
              </a:rPr>
              <a:t>UPDATED AFTER EVERY CLASS.</a:t>
            </a:r>
            <a:endParaRPr lang="en-US" sz="1065" dirty="0"/>
          </a:p>
        </p:txBody>
      </p:sp>
      <p:sp>
        <p:nvSpPr>
          <p:cNvPr id="30" name="Text 24"/>
          <p:cNvSpPr/>
          <p:nvPr/>
        </p:nvSpPr>
        <p:spPr>
          <a:xfrm>
            <a:off x="10874797" y="6362700"/>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1:22–1:26</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5601969" y="2537593"/>
            <a:ext cx="988060" cy="144145"/>
          </a:xfrm>
          <a:prstGeom prst="rect">
            <a:avLst/>
          </a:prstGeom>
          <a:noFill/>
        </p:spPr>
        <p:txBody>
          <a:bodyPr wrap="none" lIns="0" tIns="0" rIns="0" bIns="0" rtlCol="0" anchor="t">
            <a:spAutoFit/>
          </a:bodyPr>
          <a:lstStyle/>
          <a:p>
            <a:pPr marL="0" indent="0" algn="ctr">
              <a:buNone/>
            </a:pPr>
            <a:r>
              <a:rPr lang="en-US" sz="935"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CLASS 2 SIGNAL</a:t>
            </a:r>
            <a:endParaRPr lang="en-US" sz="935" dirty="0"/>
          </a:p>
        </p:txBody>
      </p:sp>
      <p:sp>
        <p:nvSpPr>
          <p:cNvPr id="9" name="Text 3"/>
          <p:cNvSpPr/>
          <p:nvPr/>
        </p:nvSpPr>
        <p:spPr>
          <a:xfrm>
            <a:off x="3352800" y="2975744"/>
            <a:ext cx="5486400" cy="462915"/>
          </a:xfrm>
          <a:prstGeom prst="rect">
            <a:avLst/>
          </a:prstGeom>
          <a:noFill/>
        </p:spPr>
        <p:txBody>
          <a:bodyPr wrap="none" lIns="0" tIns="0" rIns="0" bIns="0" rtlCol="0" anchor="t">
            <a:spAutoFit/>
          </a:bodyPr>
          <a:lstStyle/>
          <a:p>
            <a:pPr marL="0" indent="0" algn="ctr">
              <a:lnSpc>
                <a:spcPct val="92000"/>
              </a:lnSpc>
              <a:buNone/>
            </a:pPr>
            <a:r>
              <a:rPr lang="en-US" sz="3265" b="1" kern="0" spc="1" dirty="0">
                <a:solidFill>
                  <a:srgbClr val="00D4FF"/>
                </a:solidFill>
                <a:latin typeface="Consolas" panose="020B0609020204030204" pitchFamily="34" charset="0"/>
                <a:ea typeface="Consolas" panose="020B0609020204030204" pitchFamily="34" charset="-122"/>
                <a:cs typeface="Consolas" panose="020B0609020204030204" pitchFamily="34" charset="-120"/>
              </a:rPr>
              <a:t>Y2xhc3MgMiBpcyBjb21pbmc=</a:t>
            </a:r>
            <a:endParaRPr lang="en-US" sz="3265" dirty="0"/>
          </a:p>
        </p:txBody>
      </p:sp>
      <p:sp>
        <p:nvSpPr>
          <p:cNvPr id="10" name="Text 4"/>
          <p:cNvSpPr/>
          <p:nvPr/>
        </p:nvSpPr>
        <p:spPr>
          <a:xfrm>
            <a:off x="4583710" y="4025355"/>
            <a:ext cx="3024505" cy="234315"/>
          </a:xfrm>
          <a:prstGeom prst="rect">
            <a:avLst/>
          </a:prstGeom>
          <a:noFill/>
        </p:spPr>
        <p:txBody>
          <a:bodyPr wrap="none" lIns="0" tIns="0" rIns="0" bIns="0" rtlCol="0" anchor="t">
            <a:spAutoFit/>
          </a:bodyPr>
          <a:lstStyle/>
          <a:p>
            <a:pPr marL="0" indent="0" algn="ctr">
              <a:lnSpc>
                <a:spcPct val="114000"/>
              </a:lnSpc>
              <a:buNone/>
            </a:pPr>
            <a:r>
              <a:rPr lang="en-US" sz="1335" dirty="0">
                <a:solidFill>
                  <a:srgbClr val="9EABBA"/>
                </a:solidFill>
                <a:latin typeface="Arial" panose="020B0604020202020204" pitchFamily="34" charset="0"/>
                <a:ea typeface="Arial" panose="020B0604020202020204" pitchFamily="34" charset="-122"/>
                <a:cs typeface="Arial" panose="020B0604020202020204" pitchFamily="34" charset="-120"/>
              </a:rPr>
              <a:t>This isn’t encrypted. It isn’t even hidden.</a:t>
            </a:r>
            <a:endParaRPr lang="en-US" sz="1335" dirty="0"/>
          </a:p>
        </p:txBody>
      </p:sp>
      <p:sp>
        <p:nvSpPr>
          <p:cNvPr id="11" name="Text 5"/>
          <p:cNvSpPr/>
          <p:nvPr/>
        </p:nvSpPr>
        <p:spPr>
          <a:xfrm>
            <a:off x="4134073" y="4377556"/>
            <a:ext cx="3923853" cy="215265"/>
          </a:xfrm>
          <a:prstGeom prst="rect">
            <a:avLst/>
          </a:prstGeom>
          <a:noFill/>
        </p:spPr>
        <p:txBody>
          <a:bodyPr wrap="square" lIns="0" tIns="0" rIns="0" bIns="0" rtlCol="0" anchor="t">
            <a:spAutoFit/>
          </a:bodyPr>
          <a:lstStyle/>
          <a:p>
            <a:pPr marL="0" indent="0" algn="ctr">
              <a:buNone/>
            </a:pPr>
            <a:r>
              <a:rPr lang="en-US" sz="1400" b="1" dirty="0">
                <a:solidFill>
                  <a:srgbClr val="FF6B1A"/>
                </a:solidFill>
                <a:latin typeface="Arial" panose="020B0604020202020204" pitchFamily="34" charset="0"/>
                <a:ea typeface="Arial" panose="020B0604020202020204" pitchFamily="34" charset="-122"/>
                <a:cs typeface="Arial" panose="020B0604020202020204" pitchFamily="34" charset="-120"/>
              </a:rPr>
              <a:t>Next class:</a:t>
            </a: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 why base64 protects nothing.</a:t>
            </a:r>
            <a:endParaRPr lang="en-US" sz="1400" dirty="0"/>
          </a:p>
        </p:txBody>
      </p:sp>
      <p:sp>
        <p:nvSpPr>
          <p:cNvPr id="12" name="Shape 6"/>
          <p:cNvSpPr/>
          <p:nvPr/>
        </p:nvSpPr>
        <p:spPr>
          <a:xfrm>
            <a:off x="723900" y="6172200"/>
            <a:ext cx="10744200" cy="685800"/>
          </a:xfrm>
          <a:prstGeom prst="rect">
            <a:avLst/>
          </a:prstGeom>
          <a:solidFill>
            <a:srgbClr val="000000">
              <a:alpha val="0"/>
            </a:srgbClr>
          </a:solidFill>
        </p:spPr>
      </p:sp>
      <p:sp>
        <p:nvSpPr>
          <p:cNvPr id="13" name="Shape 7"/>
          <p:cNvSpPr/>
          <p:nvPr/>
        </p:nvSpPr>
        <p:spPr>
          <a:xfrm>
            <a:off x="723900" y="6172200"/>
            <a:ext cx="10744200" cy="9525"/>
          </a:xfrm>
          <a:prstGeom prst="rect">
            <a:avLst/>
          </a:prstGeom>
          <a:solidFill>
            <a:srgbClr val="FFFFFF"/>
          </a:solidFill>
        </p:spPr>
      </p:sp>
      <p:sp>
        <p:nvSpPr>
          <p:cNvPr id="14" name="Text 8"/>
          <p:cNvSpPr/>
          <p:nvPr/>
        </p:nvSpPr>
        <p:spPr>
          <a:xfrm>
            <a:off x="723900" y="6343651"/>
            <a:ext cx="975360" cy="133350"/>
          </a:xfrm>
          <a:prstGeom prst="rect">
            <a:avLst/>
          </a:prstGeom>
          <a:noFill/>
        </p:spPr>
        <p:txBody>
          <a:bodyPr wrap="none" lIns="0" tIns="0" rIns="0" bIns="0" rtlCol="0" anchor="t">
            <a:spAutoFit/>
          </a:bodyPr>
          <a:lstStyle/>
          <a:p>
            <a:pPr marL="0" indent="0" algn="l">
              <a:buNone/>
            </a:pPr>
            <a:r>
              <a:rPr lang="en-US" sz="865" b="1" kern="0" spc="1" dirty="0">
                <a:solidFill>
                  <a:srgbClr val="FF6B1A"/>
                </a:solidFill>
                <a:latin typeface="Consolas" panose="020B0609020204030204" pitchFamily="34" charset="0"/>
                <a:ea typeface="Consolas" panose="020B0609020204030204" pitchFamily="34" charset="-122"/>
                <a:cs typeface="Consolas" panose="020B0609020204030204" pitchFamily="34" charset="-120"/>
              </a:rPr>
              <a:t>DECODE THE CLUE.</a:t>
            </a:r>
            <a:endParaRPr lang="en-US" sz="865" dirty="0"/>
          </a:p>
        </p:txBody>
      </p:sp>
      <p:sp>
        <p:nvSpPr>
          <p:cNvPr id="15" name="Text 9"/>
          <p:cNvSpPr/>
          <p:nvPr/>
        </p:nvSpPr>
        <p:spPr>
          <a:xfrm>
            <a:off x="10874797" y="6343651"/>
            <a:ext cx="564515" cy="153670"/>
          </a:xfrm>
          <a:prstGeom prst="rect">
            <a:avLst/>
          </a:prstGeom>
          <a:noFill/>
        </p:spPr>
        <p:txBody>
          <a:bodyPr wrap="none" lIns="0" tIns="0" rIns="0" bIns="0" rtlCol="0" anchor="t">
            <a:spAutoFit/>
          </a:bodyPr>
          <a:lstStyle/>
          <a:p>
            <a:pPr marL="0" indent="0" algn="l">
              <a:buNone/>
            </a:pPr>
            <a:r>
              <a:rPr lang="en-US" sz="1000" dirty="0">
                <a:solidFill>
                  <a:srgbClr val="778399"/>
                </a:solidFill>
                <a:latin typeface="Arial" panose="020B0604020202020204" pitchFamily="34" charset="0"/>
                <a:ea typeface="Arial" panose="020B0604020202020204" pitchFamily="34" charset="-122"/>
                <a:cs typeface="Arial" panose="020B0604020202020204" pitchFamily="34" charset="-120"/>
              </a:rPr>
              <a:t>1:22–1:30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12192000" cy="6858000"/>
          </a:xfrm>
          <a:prstGeom prst="rect">
            <a:avLst/>
          </a:prstGeom>
        </p:spPr>
      </p:pic>
      <p:sp>
        <p:nvSpPr>
          <p:cNvPr id="4" name="Shape 0"/>
          <p:cNvSpPr/>
          <p:nvPr/>
        </p:nvSpPr>
        <p:spPr>
          <a:xfrm>
            <a:off x="723900" y="0"/>
            <a:ext cx="10744200" cy="971551"/>
          </a:xfrm>
          <a:prstGeom prst="rect">
            <a:avLst/>
          </a:prstGeom>
          <a:solidFill>
            <a:srgbClr val="000000">
              <a:alpha val="0"/>
            </a:srgbClr>
          </a:solidFill>
        </p:spPr>
      </p:sp>
      <p:sp>
        <p:nvSpPr>
          <p:cNvPr id="5" name="Shape 1"/>
          <p:cNvSpPr/>
          <p:nvPr/>
        </p:nvSpPr>
        <p:spPr>
          <a:xfrm>
            <a:off x="723900" y="962025"/>
            <a:ext cx="10744200" cy="9525"/>
          </a:xfrm>
          <a:prstGeom prst="rect">
            <a:avLst/>
          </a:prstGeom>
          <a:solidFill>
            <a:srgbClr val="73E7FF"/>
          </a:solidFill>
        </p:spPr>
      </p:sp>
      <p:pic>
        <p:nvPicPr>
          <p:cNvPr id="6" name="Image 1" descr="preencoded.png"/>
          <p:cNvPicPr>
            <a:picLocks noChangeAspect="1"/>
          </p:cNvPicPr>
          <p:nvPr/>
        </p:nvPicPr>
        <p:blipFill>
          <a:blip r:embed="rId2"/>
          <a:stretch>
            <a:fillRect/>
          </a:stretch>
        </p:blipFill>
        <p:spPr>
          <a:xfrm>
            <a:off x="723900" y="190500"/>
            <a:ext cx="590551" cy="590551"/>
          </a:xfrm>
          <a:prstGeom prst="rect">
            <a:avLst/>
          </a:prstGeom>
        </p:spPr>
      </p:pic>
      <p:pic>
        <p:nvPicPr>
          <p:cNvPr id="7" name="Image 2" descr="preencoded.png"/>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p:nvPr/>
        </p:nvSpPr>
        <p:spPr>
          <a:xfrm>
            <a:off x="5065141" y="2118867"/>
            <a:ext cx="2061716" cy="153670"/>
          </a:xfrm>
          <a:prstGeom prst="rect">
            <a:avLst/>
          </a:prstGeom>
          <a:noFill/>
        </p:spPr>
        <p:txBody>
          <a:bodyPr wrap="square" lIns="0" tIns="0" rIns="0" bIns="0" rtlCol="0" anchor="t">
            <a:spAutoFit/>
          </a:bodyPr>
          <a:lstStyle/>
          <a:p>
            <a:pPr marL="0" indent="0" algn="ctr">
              <a:buNone/>
            </a:pPr>
            <a:r>
              <a:rPr lang="en-US" sz="1000" b="1" kern="0" spc="3" dirty="0">
                <a:solidFill>
                  <a:srgbClr val="00D4FF"/>
                </a:solidFill>
                <a:latin typeface="Arial" panose="020B0604020202020204" pitchFamily="34" charset="0"/>
                <a:ea typeface="Arial" panose="020B0604020202020204" pitchFamily="34" charset="-122"/>
                <a:cs typeface="Arial" panose="020B0604020202020204" pitchFamily="34" charset="-120"/>
              </a:rPr>
              <a:t>CLASS 1 COMPLETE</a:t>
            </a:r>
            <a:endParaRPr lang="en-US" sz="1000" dirty="0"/>
          </a:p>
        </p:txBody>
      </p:sp>
      <p:sp>
        <p:nvSpPr>
          <p:cNvPr id="9" name="Text 3"/>
          <p:cNvSpPr/>
          <p:nvPr/>
        </p:nvSpPr>
        <p:spPr>
          <a:xfrm>
            <a:off x="2726652" y="2509391"/>
            <a:ext cx="6738620" cy="575310"/>
          </a:xfrm>
          <a:prstGeom prst="rect">
            <a:avLst/>
          </a:prstGeom>
          <a:noFill/>
        </p:spPr>
        <p:txBody>
          <a:bodyPr wrap="none" lIns="0" tIns="0" rIns="0" bIns="0" rtlCol="0" anchor="t">
            <a:spAutoFit/>
          </a:bodyPr>
          <a:lstStyle/>
          <a:p>
            <a:pPr marL="0" indent="0" algn="ctr">
              <a:lnSpc>
                <a:spcPct val="78000"/>
              </a:lnSpc>
              <a:buNone/>
            </a:pPr>
            <a:r>
              <a:rPr lang="en-US" sz="4800" b="1" kern="0" spc="-2" dirty="0">
                <a:solidFill>
                  <a:srgbClr val="FFFFFF"/>
                </a:solidFill>
                <a:latin typeface="Arial" panose="020B0604020202020204" pitchFamily="34" charset="0"/>
                <a:ea typeface="Arial" panose="020B0604020202020204" pitchFamily="34" charset="-122"/>
                <a:cs typeface="Arial" panose="020B0604020202020204" pitchFamily="34" charset="-120"/>
              </a:rPr>
              <a:t>SEE YOU NEXT CLASS</a:t>
            </a:r>
            <a:endParaRPr lang="en-US" sz="4800" dirty="0"/>
          </a:p>
        </p:txBody>
      </p:sp>
      <p:sp>
        <p:nvSpPr>
          <p:cNvPr id="10" name="Text 4"/>
          <p:cNvSpPr/>
          <p:nvPr/>
        </p:nvSpPr>
        <p:spPr>
          <a:xfrm>
            <a:off x="4529956" y="3715196"/>
            <a:ext cx="3132088" cy="245745"/>
          </a:xfrm>
          <a:prstGeom prst="rect">
            <a:avLst/>
          </a:prstGeom>
          <a:noFill/>
        </p:spPr>
        <p:txBody>
          <a:bodyPr wrap="square" lIns="0" tIns="0" rIns="0" bIns="0" rtlCol="0" anchor="t">
            <a:spAutoFit/>
          </a:bodyPr>
          <a:lstStyle/>
          <a:p>
            <a:pPr marL="0" indent="0" algn="ctr">
              <a:buNone/>
            </a:pPr>
            <a:r>
              <a:rPr lang="en-US" sz="1600" b="1" dirty="0">
                <a:solidFill>
                  <a:srgbClr val="DFE8F2"/>
                </a:solidFill>
                <a:latin typeface="Arial" panose="020B0604020202020204" pitchFamily="34" charset="0"/>
                <a:ea typeface="Arial" panose="020B0604020202020204" pitchFamily="34" charset="-122"/>
                <a:cs typeface="Arial" panose="020B0604020202020204" pitchFamily="34" charset="-120"/>
              </a:rPr>
              <a:t>founder@cyberhelpasia.com</a:t>
            </a:r>
            <a:endParaRPr lang="en-US" sz="1600" dirty="0"/>
          </a:p>
        </p:txBody>
      </p:sp>
      <p:sp>
        <p:nvSpPr>
          <p:cNvPr id="11" name="Text 5"/>
          <p:cNvSpPr/>
          <p:nvPr/>
        </p:nvSpPr>
        <p:spPr>
          <a:xfrm>
            <a:off x="5020940" y="4091433"/>
            <a:ext cx="2150120" cy="215265"/>
          </a:xfrm>
          <a:prstGeom prst="rect">
            <a:avLst/>
          </a:prstGeom>
          <a:noFill/>
        </p:spPr>
        <p:txBody>
          <a:bodyPr wrap="square" lIns="0" tIns="0" rIns="0" bIns="0" rtlCol="0" anchor="t">
            <a:spAutoFit/>
          </a:bodyPr>
          <a:lstStyle/>
          <a:p>
            <a:pPr marL="0" indent="0" algn="ctr">
              <a:buNone/>
            </a:pPr>
            <a:r>
              <a:rPr lang="en-US" sz="1400" dirty="0">
                <a:solidFill>
                  <a:srgbClr val="A9B6C7"/>
                </a:solidFill>
                <a:latin typeface="Arial" panose="020B0604020202020204" pitchFamily="34" charset="0"/>
                <a:ea typeface="Arial" panose="020B0604020202020204" pitchFamily="34" charset="-122"/>
                <a:cs typeface="Arial" panose="020B0604020202020204" pitchFamily="34" charset="-120"/>
              </a:rPr>
              <a:t>WhatsApp: 01977667197</a:t>
            </a:r>
            <a:endParaRPr lang="en-US" sz="1400" dirty="0"/>
          </a:p>
        </p:txBody>
      </p:sp>
      <p:sp>
        <p:nvSpPr>
          <p:cNvPr id="12" name="Text 6"/>
          <p:cNvSpPr/>
          <p:nvPr/>
        </p:nvSpPr>
        <p:spPr>
          <a:xfrm>
            <a:off x="4333727" y="4562921"/>
            <a:ext cx="3524473" cy="163830"/>
          </a:xfrm>
          <a:prstGeom prst="rect">
            <a:avLst/>
          </a:prstGeom>
          <a:noFill/>
        </p:spPr>
        <p:txBody>
          <a:bodyPr wrap="square" lIns="0" tIns="0" rIns="0" bIns="0" rtlCol="0" anchor="t">
            <a:spAutoFit/>
          </a:bodyPr>
          <a:lstStyle/>
          <a:p>
            <a:pPr marL="0" indent="0" algn="ctr">
              <a:buNone/>
            </a:pPr>
            <a:r>
              <a:rPr lang="en-US" sz="1065" b="1" dirty="0">
                <a:solidFill>
                  <a:srgbClr val="FF8A4B"/>
                </a:solidFill>
                <a:latin typeface="Arial" panose="020B0604020202020204" pitchFamily="34" charset="0"/>
                <a:ea typeface="Arial" panose="020B0604020202020204" pitchFamily="34" charset="-122"/>
                <a:cs typeface="Arial" panose="020B0604020202020204" pitchFamily="34" charset="-120"/>
              </a:rPr>
              <a:t>CyberHELP × FIRE Cybersecurity Community</a:t>
            </a:r>
            <a:endParaRPr lang="en-US" sz="1065" dirty="0"/>
          </a:p>
        </p:txBody>
      </p:sp>
      <p:sp>
        <p:nvSpPr>
          <p:cNvPr id="13" name="Shape 7"/>
          <p:cNvSpPr/>
          <p:nvPr/>
        </p:nvSpPr>
        <p:spPr>
          <a:xfrm>
            <a:off x="723900" y="5886451"/>
            <a:ext cx="10744200" cy="971551"/>
          </a:xfrm>
          <a:prstGeom prst="rect">
            <a:avLst/>
          </a:prstGeom>
          <a:solidFill>
            <a:srgbClr val="000000">
              <a:alpha val="0"/>
            </a:srgbClr>
          </a:solidFill>
        </p:spPr>
      </p:sp>
      <p:sp>
        <p:nvSpPr>
          <p:cNvPr id="14" name="Shape 8"/>
          <p:cNvSpPr/>
          <p:nvPr/>
        </p:nvSpPr>
        <p:spPr>
          <a:xfrm>
            <a:off x="723900" y="5886451"/>
            <a:ext cx="10744200" cy="9525"/>
          </a:xfrm>
          <a:prstGeom prst="rect">
            <a:avLst/>
          </a:prstGeom>
          <a:solidFill>
            <a:srgbClr val="FFFFFF"/>
          </a:solidFill>
        </p:spPr>
      </p:sp>
      <p:sp>
        <p:nvSpPr>
          <p:cNvPr id="15" name="Text 9"/>
          <p:cNvSpPr/>
          <p:nvPr/>
        </p:nvSpPr>
        <p:spPr>
          <a:xfrm>
            <a:off x="723900" y="6105525"/>
            <a:ext cx="3232547" cy="163830"/>
          </a:xfrm>
          <a:prstGeom prst="rect">
            <a:avLst/>
          </a:prstGeom>
          <a:noFill/>
        </p:spPr>
        <p:txBody>
          <a:bodyPr wrap="square" lIns="0" tIns="0" rIns="0" bIns="0" rtlCol="0" anchor="t">
            <a:spAutoFit/>
          </a:bodyPr>
          <a:lstStyle/>
          <a:p>
            <a:pPr marL="0" indent="0" algn="l">
              <a:buNone/>
            </a:pPr>
            <a:r>
              <a:rPr lang="en-US" sz="1065" dirty="0">
                <a:solidFill>
                  <a:srgbClr val="8390A4"/>
                </a:solidFill>
                <a:latin typeface="Arial" panose="020B0604020202020204" pitchFamily="34" charset="0"/>
                <a:ea typeface="Arial" panose="020B0604020202020204" pitchFamily="34" charset="-122"/>
                <a:cs typeface="Arial" panose="020B0604020202020204" pitchFamily="34" charset="-120"/>
              </a:rPr>
              <a:t>Thank you for learning, practicing, and showing up.</a:t>
            </a:r>
            <a:endParaRPr lang="en-US" sz="1065" dirty="0"/>
          </a:p>
        </p:txBody>
      </p:sp>
      <p:sp>
        <p:nvSpPr>
          <p:cNvPr id="16" name="Text 10"/>
          <p:cNvSpPr/>
          <p:nvPr/>
        </p:nvSpPr>
        <p:spPr>
          <a:xfrm>
            <a:off x="8274992" y="6105525"/>
            <a:ext cx="3193108" cy="194310"/>
          </a:xfrm>
          <a:prstGeom prst="rect">
            <a:avLst/>
          </a:prstGeom>
          <a:noFill/>
        </p:spPr>
        <p:txBody>
          <a:bodyPr wrap="square" lIns="0" tIns="0" rIns="0" bIns="0" rtlCol="0" anchor="t">
            <a:spAutoFit/>
          </a:bodyPr>
          <a:lstStyle/>
          <a:p>
            <a:pPr marL="0" indent="0" algn="l">
              <a:buNone/>
            </a:pPr>
            <a:r>
              <a:rPr lang="en-US" sz="1265" b="1" kern="0" spc="2" dirty="0">
                <a:solidFill>
                  <a:srgbClr val="00D4FF"/>
                </a:solidFill>
                <a:latin typeface="Arial" panose="020B0604020202020204" pitchFamily="34" charset="0"/>
                <a:ea typeface="Arial" panose="020B0604020202020204" pitchFamily="34" charset="-122"/>
                <a:cs typeface="Arial" panose="020B0604020202020204" pitchFamily="34" charset="-120"/>
              </a:rPr>
              <a:t>TRAIN. PRACTICE. PROTECT.</a:t>
            </a:r>
            <a:endParaRPr lang="en-US" sz="126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7542</Words>
  <Application>WPS Presentation</Application>
  <PresentationFormat>Widescreen</PresentationFormat>
  <Paragraphs>690</Paragraphs>
  <Slides>27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Arial</vt:lpstr>
      <vt:lpstr>SimSun</vt:lpstr>
      <vt:lpstr>Wingdings</vt:lpstr>
      <vt:lpstr>Arial</vt:lpstr>
      <vt:lpstr>Arial</vt:lpstr>
      <vt:lpstr>Consolas</vt:lpstr>
      <vt:lpstr>Consolas</vt:lpstr>
      <vt:lpstr>Consolas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WPS_1717093415</cp:lastModifiedBy>
  <cp:revision>4</cp:revision>
  <dcterms:created xsi:type="dcterms:W3CDTF">2025-07-23T00:59:00Z</dcterms:created>
  <dcterms:modified xsi:type="dcterms:W3CDTF">2026-09-04T15:40:47Z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634C2B0BEED04368BE5D90FCFE6C0E64_11</vt:lpwstr>
  </property>
  <property fmtid="{D5CDD505-2E9C-101B-9397-08002B2CF9AE}" pid="3" name="KSOProductBuildVer">
    <vt:lpwstr>2057-12.2.0.23206</vt:lpwstr>
  </property>
</Properties>
</file>