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1028867" cy="6465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150" b="1" dirty="0">
                <a:solidFill>
                  <a:srgbClr val="F26419">
                    <a:alpha val="1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 &gt;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1000125" y="1209080"/>
            <a:ext cx="7143750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350" b="1" spc="-2" kern="0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BANDIT: LEARN LINUX BY SOLVING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1000125" y="3009305"/>
            <a:ext cx="714375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hands-on introduction to OverTheWire’s beginner wargame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000125" y="3559373"/>
            <a:ext cx="7143750" cy="3750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1000125" y="3559373"/>
            <a:ext cx="7143750" cy="375047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Today’s class · Cybersecurity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TODAY’S MISSION: THINK LIKE A TERMINAL INVESTIGATOR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71675"/>
            <a:ext cx="192881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7256" y="1935956"/>
            <a:ext cx="3653972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to a remote Linux system safely.</a:t>
            </a:r>
            <a:endParaRPr lang="en-US" sz="15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5989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5825" y="2430270"/>
            <a:ext cx="3971925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clues, test a hypothesis, and verify the result.</a:t>
            </a:r>
            <a:endParaRPr lang="en-US" sz="15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40305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85825" y="3204586"/>
            <a:ext cx="3971925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habits that transfer to later security labs.</a:t>
            </a:r>
            <a:endParaRPr lang="en-US" sz="1500" dirty="0"/>
          </a:p>
        </p:txBody>
      </p:sp>
      <p:sp>
        <p:nvSpPr>
          <p:cNvPr id="10" name="Shape 4"/>
          <p:cNvSpPr/>
          <p:nvPr/>
        </p:nvSpPr>
        <p:spPr>
          <a:xfrm>
            <a:off x="5357813" y="1721644"/>
            <a:ext cx="3214688" cy="2500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5"/>
          <p:cNvSpPr/>
          <p:nvPr/>
        </p:nvSpPr>
        <p:spPr>
          <a:xfrm>
            <a:off x="5643563" y="2007394"/>
            <a:ext cx="26431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SUCCESS CRITERIA ]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643563" y="2343150"/>
            <a:ext cx="264318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can connect to Bandit and complete the first challenge without copying a solution.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BANDIT TURNS LINUX BASICS INTO A GAME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02321"/>
            <a:ext cx="200025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0119" y="1595903"/>
            <a:ext cx="2725955" cy="2414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absolute beginners.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602321"/>
            <a:ext cx="228600" cy="228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122069" y="1475184"/>
            <a:ext cx="3450431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level is a small puzzle with a clear goal.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93100"/>
            <a:ext cx="200025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50119" y="2386682"/>
            <a:ext cx="3149054" cy="2414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Completing one level reveals the next.</a:t>
            </a:r>
            <a:endParaRPr lang="en-US" sz="14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2393100"/>
            <a:ext cx="257175" cy="2286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150644" y="2386682"/>
            <a:ext cx="2973530" cy="2414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is investigation, not just speed.</a:t>
            </a:r>
            <a:endParaRPr lang="en-US" sz="1400" dirty="0"/>
          </a:p>
        </p:txBody>
      </p:sp>
      <p:sp>
        <p:nvSpPr>
          <p:cNvPr id="12" name="Shape 5"/>
          <p:cNvSpPr/>
          <p:nvPr/>
        </p:nvSpPr>
        <p:spPr>
          <a:xfrm>
            <a:off x="571500" y="3199619"/>
            <a:ext cx="8001000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6"/>
          <p:cNvSpPr/>
          <p:nvPr/>
        </p:nvSpPr>
        <p:spPr>
          <a:xfrm>
            <a:off x="928688" y="3705039"/>
            <a:ext cx="7286625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0B3B2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“Don’t panic! Don’t give up!”</a:t>
            </a:r>
            <a:endParaRPr lang="en-US" sz="1900" dirty="0"/>
          </a:p>
        </p:txBody>
      </p:sp>
      <p:sp>
        <p:nvSpPr>
          <p:cNvPr id="14" name="Text 7"/>
          <p:cNvSpPr/>
          <p:nvPr/>
        </p:nvSpPr>
        <p:spPr>
          <a:xfrm>
            <a:off x="928688" y="4105089"/>
            <a:ext cx="72866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OverTheWire, Bandit guidance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LEARNING LOOP IS SIMPLE—AND REPEATABLE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935956"/>
            <a:ext cx="1500188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2150269"/>
            <a:ext cx="12144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4375" y="2418159"/>
            <a:ext cx="1214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4375" y="2753916"/>
            <a:ext cx="1214438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the level goal and clues carefully.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196703" y="1935956"/>
            <a:ext cx="1500188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2339578" y="2150269"/>
            <a:ext cx="12144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9578" y="2418159"/>
            <a:ext cx="1214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339578" y="2753916"/>
            <a:ext cx="12144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the directory and available files.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21906" y="1935956"/>
            <a:ext cx="1500188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964781" y="2150269"/>
            <a:ext cx="12144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964781" y="2418159"/>
            <a:ext cx="1214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HYPOTHESIZE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64781" y="2753916"/>
            <a:ext cx="12144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Formulate what the clue implies.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47109" y="1935956"/>
            <a:ext cx="1500188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5589984" y="2150269"/>
            <a:ext cx="12144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89984" y="2418159"/>
            <a:ext cx="1214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89984" y="2753916"/>
            <a:ext cx="12144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one or two targeted commands.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072313" y="1935956"/>
            <a:ext cx="1500188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7215188" y="2150269"/>
            <a:ext cx="12144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215188" y="2418159"/>
            <a:ext cx="12144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215188" y="2753916"/>
            <a:ext cx="12144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output and record credentials.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71500" y="4507706"/>
            <a:ext cx="8001000" cy="4607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" y="4507706"/>
            <a:ext cx="8001000" cy="14288"/>
          </a:xfrm>
          <a:prstGeom prst="rect">
            <a:avLst/>
          </a:prstGeom>
          <a:solidFill>
            <a:srgbClr val="0B3B24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4507706"/>
            <a:ext cx="8001000" cy="460772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3B2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loop matters more than any individual command.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IS THE DOORWAY TO THE LAB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403747"/>
            <a:ext cx="8001000" cy="857250"/>
          </a:xfrm>
          <a:prstGeom prst="rect">
            <a:avLst/>
          </a:prstGeom>
          <a:solidFill>
            <a:srgbClr val="0B3B24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403747"/>
            <a:ext cx="8001000" cy="857250"/>
          </a:xfrm>
          <a:prstGeom prst="rect">
            <a:avLst/>
          </a:prstGeom>
          <a:noFill/>
          <a:ln/>
        </p:spPr>
        <p:txBody>
          <a:bodyPr wrap="square" lIns="340233" tIns="340233" rIns="340233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-p 2220 bandit0@bandit.labs.overthewire.org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68216"/>
            <a:ext cx="128588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2963" y="2832497"/>
            <a:ext cx="35861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2220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42963" y="3096816"/>
            <a:ext cx="358616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Selects Bandit’s non-default port. Standard SSH uses port 22.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2868216"/>
            <a:ext cx="214313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72063" y="2832497"/>
            <a:ext cx="350043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bandit0@...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072063" y="3096816"/>
            <a:ext cx="350043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the account (user) and the remote host (server).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71500" y="3822576"/>
            <a:ext cx="2992227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0B3B24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71500" y="3822576"/>
            <a:ext cx="2992227" cy="357188"/>
          </a:xfrm>
          <a:prstGeom prst="rect">
            <a:avLst/>
          </a:prstGeom>
          <a:noFill/>
          <a:ln/>
        </p:spPr>
        <p:txBody>
          <a:bodyPr wrap="square" lIns="212598" tIns="127508" rIns="212598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CREDENTIALS: bandit0 / bandit0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TERMINAL SESSION IS A CONVERSATION WITH THE SYSTEM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621631"/>
            <a:ext cx="8001000" cy="1650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21631"/>
            <a:ext cx="2073529" cy="335756"/>
          </a:xfrm>
          <a:prstGeom prst="rect">
            <a:avLst/>
          </a:prstGeom>
          <a:solidFill>
            <a:srgbClr val="0B3B24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621631"/>
            <a:ext cx="2073529" cy="335756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45029" y="1621631"/>
            <a:ext cx="1669684" cy="335756"/>
          </a:xfrm>
          <a:prstGeom prst="rect">
            <a:avLst/>
          </a:prstGeom>
          <a:solidFill>
            <a:srgbClr val="0B3B24"/>
          </a:solidFill>
          <a:ln/>
        </p:spPr>
      </p:sp>
      <p:sp>
        <p:nvSpPr>
          <p:cNvPr id="8" name="Text 5"/>
          <p:cNvSpPr/>
          <p:nvPr/>
        </p:nvSpPr>
        <p:spPr>
          <a:xfrm>
            <a:off x="2645029" y="1621631"/>
            <a:ext cx="1669684" cy="335756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4713" y="1621631"/>
            <a:ext cx="4257787" cy="335756"/>
          </a:xfrm>
          <a:prstGeom prst="rect">
            <a:avLst/>
          </a:prstGeom>
          <a:solidFill>
            <a:srgbClr val="0B3B24"/>
          </a:solidFill>
          <a:ln/>
        </p:spPr>
      </p:sp>
      <p:sp>
        <p:nvSpPr>
          <p:cNvPr id="10" name="Text 7"/>
          <p:cNvSpPr/>
          <p:nvPr/>
        </p:nvSpPr>
        <p:spPr>
          <a:xfrm>
            <a:off x="4314713" y="1621631"/>
            <a:ext cx="4257787" cy="335756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tells you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" y="1957388"/>
            <a:ext cx="2073529" cy="325041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am I?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645029" y="1957388"/>
            <a:ext cx="1669684" cy="325041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14713" y="1957388"/>
            <a:ext cx="4257787" cy="325041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Prints the working directory path.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71500" y="2282428"/>
            <a:ext cx="2073529" cy="328613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here?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645029" y="2282428"/>
            <a:ext cx="1669684" cy="328613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314713" y="2282428"/>
            <a:ext cx="4257787" cy="328613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Lists all visible and hidden files/folders.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1500" y="2611041"/>
            <a:ext cx="2073529" cy="328613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somewhere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645029" y="2611041"/>
            <a:ext cx="1669684" cy="328613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&lt;dir&gt;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14713" y="2611041"/>
            <a:ext cx="4257787" cy="328613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the current directory.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71500" y="2939653"/>
            <a:ext cx="2073529" cy="328613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text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645029" y="2939653"/>
            <a:ext cx="1669684" cy="328613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&lt;file&gt;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314713" y="2939653"/>
            <a:ext cx="4257787" cy="328613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Prints the contents of a file to the screen.</a:t>
            </a:r>
            <a:endParaRPr lang="en-US" sz="11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570089"/>
            <a:ext cx="171450" cy="1714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50106" y="3557588"/>
            <a:ext cx="329432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observation; do not guess blindly.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 → 1: FIND THE PASSWORD FILE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75184"/>
            <a:ext cx="3929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GOAL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1500" y="1810941"/>
            <a:ext cx="3929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password for the next level is stored in a file </a:t>
            </a: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</a:t>
            </a:r>
            <a:r>
              <a:rPr lang="en-US" sz="1200" b="1" dirty="0">
                <a:solidFill>
                  <a:srgbClr val="2F3E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readme</a:t>
            </a: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located in the home directory.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28900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1531" y="2611041"/>
            <a:ext cx="171221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Careful navigation is key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50369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1531" y="2932509"/>
            <a:ext cx="222784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file types before reading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71838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1531" y="3253978"/>
            <a:ext cx="211371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clues exactly as written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571500" y="3718322"/>
            <a:ext cx="3929063" cy="31789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264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 not paste the password into public chat or slides.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5000625" y="1332309"/>
            <a:ext cx="3571875" cy="1785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8"/>
          <p:cNvSpPr/>
          <p:nvPr/>
        </p:nvSpPr>
        <p:spPr>
          <a:xfrm>
            <a:off x="5286375" y="1689497"/>
            <a:ext cx="30003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bandit0@bandit:~$ pwd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5286375" y="1918097"/>
            <a:ext cx="30003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Confirm location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5286375" y="2135981"/>
            <a:ext cx="30003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bandit0@bandit:~$ ls -la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286375" y="2364581"/>
            <a:ext cx="30003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all files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5286375" y="2582466"/>
            <a:ext cx="30003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bandit0@bandit:~$ cat readme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286375" y="2811066"/>
            <a:ext cx="30003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the password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COMMAND LINE REWARDS PRECISE QUESTIONS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50206"/>
            <a:ext cx="3929063" cy="8829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50094" y="1793081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&lt;name&gt;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0094" y="2093119"/>
            <a:ext cx="35718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Asks the system what kind of data a file actually contains (text, data, executable).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43438" y="1650206"/>
            <a:ext cx="3929063" cy="8829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4822031" y="1793081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22031" y="2093119"/>
            <a:ext cx="35718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Searches by location, name, type, size, or permissions. Essential for hidden clues.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71500" y="2676004"/>
            <a:ext cx="3929063" cy="8829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50094" y="2818879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&lt;command&gt;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0094" y="3118917"/>
            <a:ext cx="35718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 the official manual. The ultimate source of </a:t>
            </a: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truth. Press </a:t>
            </a:r>
            <a:r>
              <a:rPr lang="en-US" sz="1100" b="1" dirty="0">
                <a:solidFill>
                  <a:srgbClr val="2F3E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</a:t>
            </a: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quit.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43438" y="2676004"/>
            <a:ext cx="3929063" cy="8829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822031" y="2818879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&lt;command&gt;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22031" y="3118917"/>
            <a:ext cx="35718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Explains shell built-ins (like cd) that don't have traditional man pages.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71500" y="3916114"/>
            <a:ext cx="8001000" cy="714375"/>
          </a:xfrm>
          <a:prstGeom prst="rect">
            <a:avLst/>
          </a:prstGeom>
          <a:solidFill>
            <a:srgbClr val="0B3B24"/>
          </a:solidFill>
          <a:ln/>
        </p:spPr>
      </p:sp>
      <p:sp>
        <p:nvSpPr>
          <p:cNvPr id="17" name="Text 14"/>
          <p:cNvSpPr/>
          <p:nvPr/>
        </p:nvSpPr>
        <p:spPr>
          <a:xfrm>
            <a:off x="785813" y="4094708"/>
            <a:ext cx="7572375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 TIP: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stuck, improve the quality of your question before adding more commands. Use </a:t>
            </a:r>
            <a:r>
              <a:rPr lang="en-US" sz="12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compare file sizes if the clue mentions "a specific size".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TROUBLESHOOTING IS PART OF THE CHALLENGE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32309"/>
            <a:ext cx="8001000" cy="1650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32309"/>
            <a:ext cx="2800350" cy="335756"/>
          </a:xfrm>
          <a:prstGeom prst="rect">
            <a:avLst/>
          </a:prstGeom>
          <a:solidFill>
            <a:srgbClr val="0B3B24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32309"/>
            <a:ext cx="2800350" cy="335756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71850" y="1332309"/>
            <a:ext cx="5200650" cy="335756"/>
          </a:xfrm>
          <a:prstGeom prst="rect">
            <a:avLst/>
          </a:prstGeom>
          <a:solidFill>
            <a:srgbClr val="0B3B24"/>
          </a:solidFill>
          <a:ln/>
        </p:spPr>
      </p:sp>
      <p:sp>
        <p:nvSpPr>
          <p:cNvPr id="8" name="Text 5"/>
          <p:cNvSpPr/>
          <p:nvPr/>
        </p:nvSpPr>
        <p:spPr>
          <a:xfrm>
            <a:off x="3371850" y="1332309"/>
            <a:ext cx="5200650" cy="335756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Response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1668066"/>
            <a:ext cx="2800350" cy="325041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“No such file”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50444" y="1810941"/>
            <a:ext cx="4891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039623" y="1810941"/>
            <a:ext cx="3142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3E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pwd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53892" y="1810941"/>
            <a:ext cx="196575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spelling, and capitalization.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1500" y="1993106"/>
            <a:ext cx="2800350" cy="328613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looks empty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550444" y="2139553"/>
            <a:ext cx="2647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815209" y="2139553"/>
            <a:ext cx="3581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3E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ls -la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73401" y="2139553"/>
            <a:ext cx="200951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then inspect the exact path.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1500" y="2321719"/>
            <a:ext cx="2800350" cy="328613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 denied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71850" y="2321719"/>
            <a:ext cx="5200650" cy="328613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error; do not force past it.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71500" y="2650331"/>
            <a:ext cx="2800350" cy="328613"/>
          </a:xfrm>
          <a:prstGeom prst="rect">
            <a:avLst/>
          </a:prstGeom>
          <a:noFill/>
          <a:ln/>
        </p:spPr>
        <p:txBody>
          <a:bodyPr wrap="square" lIns="212598" tIns="170053" rIns="212598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unfamiliar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550444" y="2796778"/>
            <a:ext cx="3231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873643" y="2796778"/>
            <a:ext cx="3231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3E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96842" y="2796778"/>
            <a:ext cx="873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284185" y="2796778"/>
            <a:ext cx="3230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3E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help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07272" y="2796778"/>
            <a:ext cx="186954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or trusted documentation.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71500" y="3339703"/>
            <a:ext cx="8001000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B3B2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751168" y="3600450"/>
            <a:ext cx="5641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useful error message is evidence—not failure.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A LAB NOTEBOOK FROM THE FIRST LEVEL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82341"/>
            <a:ext cx="150019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394" y="1546622"/>
            <a:ext cx="3636169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level, objective, and every command you try.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6696"/>
            <a:ext cx="150019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64394" y="2280977"/>
            <a:ext cx="3636169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useful output and error messages for future reference.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51051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85825" y="3015332"/>
            <a:ext cx="3614738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rely on memory; passwords are not saved automatically.</a:t>
            </a:r>
            <a:endParaRPr lang="en-US" sz="1400" dirty="0"/>
          </a:p>
        </p:txBody>
      </p:sp>
      <p:sp>
        <p:nvSpPr>
          <p:cNvPr id="10" name="Shape 4"/>
          <p:cNvSpPr/>
          <p:nvPr/>
        </p:nvSpPr>
        <p:spPr>
          <a:xfrm>
            <a:off x="571500" y="3821125"/>
            <a:ext cx="3929063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5"/>
          <p:cNvSpPr/>
          <p:nvPr/>
        </p:nvSpPr>
        <p:spPr>
          <a:xfrm>
            <a:off x="571500" y="3821125"/>
            <a:ext cx="28575" cy="571500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12" name="Text 6"/>
          <p:cNvSpPr/>
          <p:nvPr/>
        </p:nvSpPr>
        <p:spPr>
          <a:xfrm>
            <a:off x="571500" y="3821125"/>
            <a:ext cx="3929063" cy="571500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guidance: "Passwords occasionally change. Detailed notes are useful to return to where you left off."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5000625" y="1332309"/>
            <a:ext cx="3571875" cy="2714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8"/>
          <p:cNvSpPr/>
          <p:nvPr/>
        </p:nvSpPr>
        <p:spPr>
          <a:xfrm>
            <a:off x="5286375" y="1618059"/>
            <a:ext cx="3000375" cy="25717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LAB LOG: LEVEL 0 → 1 ]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286375" y="2018109"/>
            <a:ext cx="30003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Clue:</a:t>
            </a:r>
            <a:r>
              <a:rPr lang="en-US" sz="1050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password in ~/readme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286375" y="2264569"/>
            <a:ext cx="77169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Commands: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286375" y="2511028"/>
            <a:ext cx="30003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pwd (check home)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5286375" y="2757488"/>
            <a:ext cx="30003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ls -la (find file)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5286375" y="3003947"/>
            <a:ext cx="30003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cat readme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286375" y="3250406"/>
            <a:ext cx="30003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</a:t>
            </a:r>
            <a:r>
              <a:rPr lang="en-US" sz="1050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[REDACTED_PW]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286375" y="3496866"/>
            <a:ext cx="30003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</a:t>
            </a:r>
            <a:r>
              <a:rPr lang="en-US" sz="1050" dirty="0">
                <a:solidFill>
                  <a:srgbClr val="2F3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ssh bandit1@...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ETHICS AND SAFETY ARE PART OF TECHNICAL SKILL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71675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0119" y="1935956"/>
            <a:ext cx="4189642" cy="2542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only inside the </a:t>
            </a: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authorized</a:t>
            </a: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Bandit environment.</a:t>
            </a:r>
            <a:endParaRPr lang="en-US" sz="1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0260"/>
            <a:ext cx="200025" cy="2000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50119" y="2404542"/>
            <a:ext cx="4236076" cy="2542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credentials as </a:t>
            </a: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sensitive</a:t>
            </a: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even in a practice lab.</a:t>
            </a:r>
            <a:endParaRPr lang="en-US" sz="12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08846"/>
            <a:ext cx="200025" cy="2000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50119" y="2873127"/>
            <a:ext cx="4264819" cy="508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scan or attack systems without </a:t>
            </a: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 permission</a:t>
            </a: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31704"/>
            <a:ext cx="150019" cy="20002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00113" y="3595985"/>
            <a:ext cx="4314825" cy="494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 </a:t>
            </a: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</a:t>
            </a: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 answer-sharing: explain </a:t>
            </a:r>
            <a:r>
              <a:rPr lang="en-US" sz="12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reasoning.</a:t>
            </a:r>
            <a:endParaRPr lang="en-US" sz="1250" dirty="0"/>
          </a:p>
        </p:txBody>
      </p:sp>
      <p:sp>
        <p:nvSpPr>
          <p:cNvPr id="12" name="Shape 5"/>
          <p:cNvSpPr/>
          <p:nvPr/>
        </p:nvSpPr>
        <p:spPr>
          <a:xfrm>
            <a:off x="5715000" y="1721644"/>
            <a:ext cx="2857500" cy="2857500"/>
          </a:xfrm>
          <a:prstGeom prst="rect">
            <a:avLst/>
          </a:prstGeom>
          <a:solidFill>
            <a:srgbClr val="FFFFFF"/>
          </a:solidFill>
          <a:ln w="18288">
            <a:solidFill>
              <a:srgbClr val="F26419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6000750" y="200739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SAFETY FIRST ]</a:t>
            </a:r>
            <a:endParaRPr lang="en-US" sz="14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0" y="2378869"/>
            <a:ext cx="2286000" cy="42862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000750" y="3021806"/>
            <a:ext cx="2286000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wargame is a safe boundary for experimentation—not a license to cross one. Technical skill is useless without ethical judgment.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GUIDED PRACTICE: SOLVE, EXPLAIN, REFLECT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32309"/>
            <a:ext cx="2571750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50094" y="1510903"/>
            <a:ext cx="221456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MINUTES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0094" y="1743075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0094" y="2043113"/>
            <a:ext cx="2214563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your first SSH session and complete Level 0 using the starter credentials.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86125" y="1332309"/>
            <a:ext cx="2571750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3464719" y="1510903"/>
            <a:ext cx="221456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MINUTES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64719" y="1743075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64719" y="2043113"/>
            <a:ext cx="2214563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 to Level 1. Use pwd, ls -la, and cat to find and read the readme file.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00750" y="1332309"/>
            <a:ext cx="2571750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179344" y="1510903"/>
            <a:ext cx="221456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MINUTES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79344" y="1743075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79344" y="2043113"/>
            <a:ext cx="2214563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F3E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sentence explaining why your command sequence successfully revealed the password.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1500" y="3189684"/>
            <a:ext cx="8001000" cy="1285875"/>
          </a:xfrm>
          <a:prstGeom prst="rect">
            <a:avLst/>
          </a:prstGeom>
          <a:solidFill>
            <a:srgbClr val="0B3B24"/>
          </a:solidFill>
          <a:ln/>
        </p:spPr>
      </p:sp>
      <p:sp>
        <p:nvSpPr>
          <p:cNvPr id="17" name="Text 14"/>
          <p:cNvSpPr/>
          <p:nvPr/>
        </p:nvSpPr>
        <p:spPr>
          <a:xfrm>
            <a:off x="857250" y="3403997"/>
            <a:ext cx="742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TICKET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7250" y="3775472"/>
            <a:ext cx="7429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command would you use first when a file is not where you expected—and why? Submit your answer before leaving.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71500" y="4904184"/>
            <a:ext cx="800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F3E3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[1] overthewire.org/wargames/bandit/ [2] bandit0.html [3] bandit1.html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2026-09-04T14:45:43Z</dcterms:created>
  <dcterms:modified xsi:type="dcterms:W3CDTF">2026-09-04T14:45:43Z</dcterms:modified>
</cp:coreProperties>
</file>