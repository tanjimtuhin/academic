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1"/>
  </p:handout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Welcome learners and set expectations for our first session together today. We are building real security skills from day one. Let us dive right in and get started.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Instructor answer: Encoding is not encryption. Ask students to identify Base64 from its character set and trailing equals sign before decoding it.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Introduce both communities and show how this journey supports absolute beginners. You do not need prior experience here. We learn by doing, together.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Walk through the roadmap across all 24 weeks to show the full journey. We start with absolute basics today and build step by step toward advanced security roles.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Explain the capture the flag format and our core challenge categories. This is how curiosity transforms directly into practical technical skill.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Security without ethics is just vandalism, and we draw that line right here. Never touch anything outside the authorized labs or share flags with peers. Establish ethics and lab boundaries clearly for the group before moving 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You don't need a hundred tools to start, just these eight core utilities. Master them on the command line right now. Demonstrate the eight commands live on screen so everyone sees them in action.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If you didn't write it down, it never happened in security. Document your dead ends and failed attempts just as carefully as your wins. Model a concise writeup for the room using the template on screen.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Every puzzle you face breaks down into one of these six core domains. Notice how each category demands a different lens, but they all share a single habit: observe first, then test a hypothesis. Let's walk through these categories together and see what kind of problems we will solve.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format is your ultimate objective on every single challenge you tackle. Let learners read the sample flag displayed on screen and notice the exact curly brace syntax. Every flag proves you cracked the system, and nothing else counts.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Enforce scope strictly right from day one of your ethical hacking journey. Remember that your lab access is a privilege, so never share flags or scan systems outside your assigned environment. Permission is what separates an authorized defender from a criminal.</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Technical skill alone does not give you the right to break into any system you choose. Always keep written authorization in your back pocket before running any tool against a live target. That single legal boundary defines your entire career.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Model the stuck protocol explicitly so learners know exactly what to do when they hit a wall. Don't quit early, and don't spend four hours spinning your wheels in silence. Follow these five steps to turn frustration into real skill development.</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Every security journey begins with the command line. We don't need a thousand commands to start, just eight solid ones. Type everything yourself in the lab, watch what happens, and repeat until it clicks. Instructor action: launch the Linux lab right now so everyone can log in.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These eight commands are your basic toolkit for every challenge ahead. You check your location, peek at hidden files, read documents, and search inside binaries without getting lost. Instructor action: demonstrate commands like ls and cat live in the terminal for thirty seconds.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Knowing a command is useless without knowing why you are running it. Attackers use these specific tools to find hidden files, inspect binaries instantly, and search entire systems without wasting time. Instructor action: point out categories on the screen and explain how recon saves hours of frustration.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Please do not launch your AttackBox right now. We only get limited free time each day, and we will need every minute of it when the actual lab starts soon. Hold off and stay with us.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Official room: https://tryhackme.com/room/cyberchefbasics</a:t>
            </a:r>
          </a:p>
          <a:p>
            <a:r>
              <a:t>Instructor flow: demonstrate one example, then let students complete Base64, Hex, and ROT13 tasks independently.</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Every single one of you needs to complete this next task with your own hands right now. Drop the mouse and listen closely. We are not copying code and we are not guessing. Let's find that first flag together.</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Prepare a ZIP with message.txt, mystery.jpg, data.bin, clue.txt, and evidence.dat. Students should start with sha256sum and file, then use strings, grep, and xxd. Replace xxd with od/hexdump if the lab image lacks xxd.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Instructor-only solution: From Base64 → From Hex → ROT13 → FIRE{three_layers}. Ask students to justify every layer from the visible pattern.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Documenting your journey is what separates an amateur hobbyist from a true professional in the field. Let us look at how recording your exact steps builds undeniable evidence of your learning process.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Let us model the writeup format using a clean, repeatable structure that captures both your successes and your failures. Take a snapshot of this layout because every professional report relies on this exact evidence.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Required: https://tryhackme.com/room/cyberchefbasics</a:t>
            </a:r>
          </a:p>
          <a:p>
            <a:r>
              <a:t>Optional extension: https://tryhackme.com/room/cryptographybasics</a:t>
            </a:r>
          </a:p>
          <a:p>
            <a:r>
              <a:t>Submission: two concise investigation writeups with observation, hypothesis, tool/command, output, and verification.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We see our progress tracking live right here on screen as points come in from our labs. And building skills together means watching how everyone moves up through the ranks. So update the leaderboard after every class to keep the momentum going as we tackle these challenges.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That coded string on screen is waiting for you to decode before our next session. But we're preserving the base64 reveal for Class 2 to show you how easy it is to read. So decode the clue and see what it actually tells you.</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Thank you for showing up and building your cybersecurity foundations with us today. Remember to reach out on WhatsApp or email if you have questions about the lab. And we'll officially close the class here until next time.</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p:sp>
        <p:nvSpPr>
          <p:cNvPr id="2" name="Title 1"/>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idx="10"/>
          </p:nvPr>
        </p:nvSpPr>
        <p:spPr/>
        <p:txBody>
          <a:bodyPr/>
          <a:lstStyle/>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p:sp>
        <p:nvSpPr>
          <p:cNvPr id="2" name="Title 1"/>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Click to edit Master text styles</a:t>
            </a:r>
          </a:p>
        </p:txBody>
      </p:sp>
      <p:sp>
        <p:nvSpPr>
          <p:cNvPr id="4" name="Date Placeholder 3"/>
          <p:cNvSpPr>
            <a:spLocks noGrp="1"/>
          </p:cNvSpPr>
          <p:nvPr>
            <p:ph type="dt" idx="10"/>
          </p:nvPr>
        </p:nvSpPr>
        <p:spPr/>
        <p:txBody>
          <a:bodyPr/>
          <a:lstStyle/>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p:cNvSpPr>
            <a:spLocks noGrp="1"/>
          </p:cNvSpPr>
          <p:nvPr>
            <p:ph type="dt" idx="10"/>
          </p:nvPr>
        </p:nvSpPr>
        <p:spPr/>
        <p:txBody>
          <a:bodyPr/>
          <a:lstStyle/>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p:sp>
        <p:nvSpPr>
          <p:cNvPr id="2" name="Title 1"/>
          <p:cNvSpPr>
            <a:spLocks noGrp="1"/>
          </p:cNvSpPr>
          <p:nvPr>
            <p:ph type="title"/>
          </p:nvPr>
        </p:nvSpPr>
        <p:spPr>
          <a:xfrm>
            <a:off x="839788" y="365125"/>
            <a:ext cx="10515600" cy="1325563"/>
          </a:xfrm>
        </p:spPr>
        <p:txBody>
          <a:bodyPr/>
          <a:lstStyle/>
          <a:p>
            <a:r>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p:cNvSpPr>
            <a:spLocks noGrp="1"/>
          </p:cNvSpPr>
          <p:nvPr>
            <p:ph type="dt" idx="10"/>
          </p:nvPr>
        </p:nvSpPr>
        <p:spPr/>
        <p:txBody>
          <a:bodyPr/>
          <a:lstStyle/>
          <a:p/>
        </p:txBody>
      </p:sp>
      <p:sp>
        <p:nvSpPr>
          <p:cNvPr id="8" name="Footer Placeholder 7"/>
          <p:cNvSpPr>
            <a:spLocks noGrp="1"/>
          </p:cNvSpPr>
          <p:nvPr>
            <p:ph type="ftr" idx="11"/>
          </p:nvPr>
        </p:nvSpPr>
        <p:spPr/>
        <p:txBody>
          <a:bodyPr/>
          <a:lstStyle/>
          <a:p/>
        </p:txBody>
      </p:sp>
      <p:sp>
        <p:nvSpPr>
          <p:cNvPr id="9" name="Slide Number Placeholder 8"/>
          <p:cNvSpPr>
            <a:spLocks noGrp="1"/>
          </p:cNvSpPr>
          <p:nvPr>
            <p:ph type="sldNum" idx="12"/>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idx="10"/>
          </p:nvPr>
        </p:nvSpPr>
        <p:spPr/>
        <p:txBody>
          <a:bodyPr/>
          <a:lstStyle/>
          <a:p/>
        </p:txBody>
      </p:sp>
      <p:sp>
        <p:nvSpPr>
          <p:cNvPr id="4" name="Footer Placeholder 3"/>
          <p:cNvSpPr>
            <a:spLocks noGrp="1"/>
          </p:cNvSpPr>
          <p:nvPr>
            <p:ph type="ftr" idx="11"/>
          </p:nvPr>
        </p:nvSpPr>
        <p:spPr/>
        <p:txBody>
          <a:bodyPr/>
          <a:lstStyle/>
          <a:p/>
        </p:txBody>
      </p:sp>
      <p:sp>
        <p:nvSpPr>
          <p:cNvPr id="5" name="Slide Number Placeholder 4"/>
          <p:cNvSpPr>
            <a:spLocks noGrp="1"/>
          </p:cNvSpPr>
          <p:nvPr>
            <p:ph type="sldNum" idx="12"/>
          </p:nvPr>
        </p:nvSpPr>
        <p:spPr/>
        <p:txBody>
          <a:body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p:sp>
        <p:nvSpPr>
          <p:cNvPr id="2" name="Date Placeholder 1"/>
          <p:cNvSpPr>
            <a:spLocks noGrp="1"/>
          </p:cNvSpPr>
          <p:nvPr>
            <p:ph type="dt" idx="10"/>
          </p:nvPr>
        </p:nvSpPr>
        <p:spPr/>
        <p:txBody>
          <a:bodyPr/>
          <a:lstStyle/>
          <a:p/>
        </p:txBody>
      </p:sp>
      <p:sp>
        <p:nvSpPr>
          <p:cNvPr id="3" name="Footer Placeholder 2"/>
          <p:cNvSpPr>
            <a:spLocks noGrp="1"/>
          </p:cNvSpPr>
          <p:nvPr>
            <p:ph type="ftr" idx="11"/>
          </p:nvPr>
        </p:nvSpPr>
        <p:spPr/>
        <p:txBody>
          <a:bodyPr/>
          <a:lstStyle/>
          <a:p/>
        </p:txBody>
      </p:sp>
      <p:sp>
        <p:nvSpPr>
          <p:cNvPr id="4" name="Slide Number Placeholder 3"/>
          <p:cNvSpPr>
            <a:spLocks noGrp="1"/>
          </p:cNvSpPr>
          <p:nvPr>
            <p:ph type="sldNum" idx="12"/>
          </p:nvPr>
        </p:nvSpPr>
        <p:spPr/>
        <p:txBody>
          <a:body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p:sp>
        <p:nvSpPr>
          <p:cNvPr id="2" name="Title 1"/>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p:txBody>
          <a:bodyPr/>
          <a:lstStyle/>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p:sp>
        <p:nvSpPr>
          <p:cNvPr id="2" name="Title 1"/>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p:txBody>
      </p:sp>
      <p:sp>
        <p:nvSpPr>
          <p:cNvPr id="4" name="Text Placeholder 3"/>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p:cNvSpPr>
            <a:spLocks noGrp="1"/>
          </p:cNvSpPr>
          <p:nvPr>
            <p:ph type="dt" idx="10"/>
          </p:nvPr>
        </p:nvSpPr>
        <p:spPr/>
        <p:txBody>
          <a:bodyPr/>
          <a:lstStyle/>
          <a:p/>
        </p:txBody>
      </p:sp>
      <p:sp>
        <p:nvSpPr>
          <p:cNvPr id="6" name="Footer Placeholder 5"/>
          <p:cNvSpPr>
            <a:spLocks noGrp="1"/>
          </p:cNvSpPr>
          <p:nvPr>
            <p:ph type="ftr" idx="11"/>
          </p:nvPr>
        </p:nvSpPr>
        <p:spPr/>
        <p:txBody>
          <a:bodyPr/>
          <a:lstStyle/>
          <a:p/>
        </p:txBody>
      </p:sp>
      <p:sp>
        <p:nvSpPr>
          <p:cNvPr id="7" name="Slide Number Placeholder 6"/>
          <p:cNvSpPr>
            <a:spLocks noGrp="1"/>
          </p:cNvSpPr>
          <p:nvPr>
            <p:ph type="sldNum" idx="12"/>
          </p:nvPr>
        </p:nvSpPr>
        <p:spPr/>
        <p:txBody>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p:sp>
        <p:nvSpPr>
          <p:cNvPr id="2" name="Vertical Title 1"/>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10"/>
          </p:nvPr>
        </p:nvSpPr>
        <p:spPr/>
        <p:txBody>
          <a:bodyPr/>
          <a:lstStyle/>
          <a:p/>
        </p:txBody>
      </p:sp>
      <p:sp>
        <p:nvSpPr>
          <p:cNvPr id="5" name="Footer Placeholder 4"/>
          <p:cNvSpPr>
            <a:spLocks noGrp="1"/>
          </p:cNvSpPr>
          <p:nvPr>
            <p:ph type="ftr" idx="11"/>
          </p:nvPr>
        </p:nvSpPr>
        <p:spPr/>
        <p:txBody>
          <a:bodyPr/>
          <a:lstStyle/>
          <a:p/>
        </p:txBody>
      </p:sp>
      <p:sp>
        <p:nvSpPr>
          <p:cNvPr id="6" name="Slide Number Placeholder 5"/>
          <p:cNvSpPr>
            <a:spLocks noGrp="1"/>
          </p:cNvSpPr>
          <p:nvPr>
            <p:ph type="sldNum" idx="12"/>
          </p:nvPr>
        </p:nvSpPr>
        <p:spPr/>
        <p:txBody>
          <a:body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75000"/>
                  </a:schemeClr>
                </a:solidFill>
              </a:defRPr>
            </a:lvl1pPr>
          </a:lstStyle>
          <a:p/>
        </p:txBody>
      </p:sp>
      <p:sp>
        <p:nvSpPr>
          <p:cNvPr id="5" name="Footer Placeholder 4"/>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p:txBody>
      </p:sp>
      <p:sp>
        <p:nvSpPr>
          <p:cNvPr id="6" name="Slide Number Placeholder 5"/>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75000"/>
                  </a:schemeClr>
                </a:solidFill>
              </a:defRPr>
            </a:lvl1pPr>
          </a:lstStyl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panose="020B0604020202020204"/>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panose="020B0604020202020204"/>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panose="020B0604020202020204"/>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4.jpeg"/></Relationships>
</file>

<file path=ppt/slides/_rels/slide3.xml.rels><?xml version="1.0" encoding="UTF-8" standalone="yes"?>
<Relationships xmlns="http://schemas.openxmlformats.org/package/2006/relationships"><Relationship Id="rId5" Type="http://schemas.openxmlformats.org/officeDocument/2006/relationships/notesSlide" Target="../notesSlides/notesSlide3.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5.jpeg"/></Relationships>
</file>

<file path=ppt/slides/_rels/slide4.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8.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8.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0.jpeg"/></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1.jpeg"/></Relationships>
</file>

<file path=ppt/slides/_rels/slide10.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2.jpeg"/></Relationships>
</file>

<file path=ppt/slides/_rels/slide11.xml.rels><?xml version="1.0" encoding="UTF-8" standalone="yes"?>
<Relationships xmlns="http://schemas.openxmlformats.org/package/2006/relationships"><Relationship Id="rId5" Type="http://schemas.openxmlformats.org/officeDocument/2006/relationships/notesSlide" Target="../notesSlides/notesSlide11.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3.jpe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4.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5.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6.jpe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7.jpeg"/></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8.jpeg"/></Relationships>
</file>

<file path=ppt/slides/_rels/slide17.xml.rels><?xml version="1.0" encoding="UTF-8" standalone="yes"?>
<Relationships xmlns="http://schemas.openxmlformats.org/package/2006/relationships"><Relationship Id="rId5" Type="http://schemas.openxmlformats.org/officeDocument/2006/relationships/notesSlide" Target="../notesSlides/notesSlide17.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9.jpeg"/></Relationships>
</file>

<file path=ppt/slides/_rels/slide18.xml.rels><?xml version="1.0" encoding="UTF-8" standalone="yes"?>
<Relationships xmlns="http://schemas.openxmlformats.org/package/2006/relationships"><Relationship Id="rId6" Type="http://schemas.openxmlformats.org/officeDocument/2006/relationships/notesSlide" Target="../notesSlides/notesSlide18.xml"/><Relationship Id="rId5" Type="http://schemas.openxmlformats.org/officeDocument/2006/relationships/slideLayout" Target="../slideLayouts/slideLayout12.xml"/><Relationship Id="rId4" Type="http://schemas.openxmlformats.org/officeDocument/2006/relationships/image" Target="../media/image21.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0.jpe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2.jpeg"/></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12.xml"/><Relationship Id="rId4" Type="http://schemas.openxmlformats.org/officeDocument/2006/relationships/image" Target="../media/image2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3.jpe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5.jpe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6.jpe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7.jpe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8.jpeg"/></Relationships>
</file>

<file path=ppt/slides/_rels/slide25.xml.rels><?xml version="1.0" encoding="UTF-8" standalone="yes"?>
<Relationships xmlns="http://schemas.openxmlformats.org/package/2006/relationships"><Relationship Id="rId5" Type="http://schemas.openxmlformats.org/officeDocument/2006/relationships/notesSlide" Target="../notesSlides/notesSlide25.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29.jpeg"/></Relationships>
</file>

<file path=ppt/slides/_rels/slide26.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30.jpeg"/></Relationships>
</file>

<file path=ppt/slides/_rels/slide27.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1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3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6BE6FF"/>
          </a:solidFill>
        </p:spPr>
      </p:sp>
      <p:pic>
        <p:nvPicPr>
          <p:cNvPr id="21" name="Image 1"/>
          <p:cNvPicPr>
            <a:picLocks noChangeAspect="1"/>
          </p:cNvPicPr>
          <p:nvPr/>
        </p:nvPicPr>
        <p:blipFill>
          <a:blip r:embed="rId2"/>
          <a:stretch>
            <a:fillRect/>
          </a:stretch>
        </p:blipFill>
        <p:spPr>
          <a:xfrm>
            <a:off x="723900" y="190500"/>
            <a:ext cx="590551" cy="590551"/>
          </a:xfrm>
          <a:prstGeom prst="rect">
            <a:avLst/>
          </a:prstGeom>
        </p:spPr>
      </p:pic>
      <p:pic>
        <p:nvPicPr>
          <p:cNvPr id="22"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3894311" y="2097584"/>
            <a:ext cx="4403303" cy="174625"/>
          </a:xfrm>
          <a:prstGeom prst="rect">
            <a:avLst/>
          </a:prstGeom>
          <a:noFill/>
        </p:spPr>
        <p:txBody>
          <a:bodyPr wrap="square" lIns="0" tIns="0" rIns="0" bIns="0" anchor="t">
            <a:spAutoFit/>
          </a:bodyPr>
          <a:lstStyle/>
          <a:p>
            <a:pPr marL="0" indent="0" algn="ctr">
              <a:buNone/>
            </a:pPr>
            <a:r>
              <a:rPr sz="1135" b="1" spc="4">
                <a:solidFill>
                  <a:srgbClr val="00D4FF"/>
                </a:solidFill>
                <a:latin typeface="Arial" panose="020B0604020202020204"/>
                <a:ea typeface="Arial" panose="020B0604020202020204"/>
                <a:cs typeface="Arial" panose="020B0604020202020204"/>
              </a:rPr>
              <a:t>CYBER FOUNDATION &amp; CTF MINDSET</a:t>
            </a:r>
            <a:endParaRPr sz="1135"/>
          </a:p>
        </p:txBody>
      </p:sp>
      <p:sp>
        <p:nvSpPr>
          <p:cNvPr id="9" name="Text 3"/>
          <p:cNvSpPr>
            <a:spLocks noGrp="1"/>
          </p:cNvSpPr>
          <p:nvPr/>
        </p:nvSpPr>
        <p:spPr>
          <a:xfrm>
            <a:off x="4880610" y="2502396"/>
            <a:ext cx="2430780" cy="702945"/>
          </a:xfrm>
          <a:prstGeom prst="rect">
            <a:avLst/>
          </a:prstGeom>
          <a:noFill/>
        </p:spPr>
        <p:txBody>
          <a:bodyPr wrap="none" lIns="0" tIns="0" rIns="0" bIns="0" anchor="t">
            <a:spAutoFit/>
          </a:bodyPr>
          <a:lstStyle/>
          <a:p>
            <a:pPr marL="0" indent="0" algn="ctr">
              <a:lnSpc>
                <a:spcPct val="77000"/>
              </a:lnSpc>
              <a:buNone/>
            </a:pPr>
            <a:r>
              <a:rPr sz="5935" b="1" spc="-2">
                <a:solidFill>
                  <a:srgbClr val="FFFFFF"/>
                </a:solidFill>
                <a:latin typeface="Arial" panose="020B0604020202020204"/>
                <a:ea typeface="Arial" panose="020B0604020202020204"/>
                <a:cs typeface="Arial" panose="020B0604020202020204"/>
              </a:rPr>
              <a:t>CGH-X</a:t>
            </a:r>
            <a:endParaRPr sz="5935"/>
          </a:p>
        </p:txBody>
      </p:sp>
      <p:sp>
        <p:nvSpPr>
          <p:cNvPr id="10" name="Text 4"/>
          <p:cNvSpPr>
            <a:spLocks noGrp="1"/>
          </p:cNvSpPr>
          <p:nvPr/>
        </p:nvSpPr>
        <p:spPr>
          <a:xfrm>
            <a:off x="4192637" y="3450655"/>
            <a:ext cx="3806652" cy="255905"/>
          </a:xfrm>
          <a:prstGeom prst="rect">
            <a:avLst/>
          </a:prstGeom>
          <a:noFill/>
        </p:spPr>
        <p:txBody>
          <a:bodyPr wrap="square" lIns="0" tIns="0" rIns="0" bIns="0" anchor="t">
            <a:spAutoFit/>
          </a:bodyPr>
          <a:lstStyle/>
          <a:p>
            <a:pPr marL="0" indent="0" algn="ctr">
              <a:buNone/>
            </a:pPr>
            <a:r>
              <a:rPr sz="1665" b="1" spc="5">
                <a:solidFill>
                  <a:srgbClr val="FFFFFF"/>
                </a:solidFill>
                <a:latin typeface="Arial" panose="020B0604020202020204"/>
                <a:ea typeface="Arial" panose="020B0604020202020204"/>
                <a:cs typeface="Arial" panose="020B0604020202020204"/>
              </a:rPr>
              <a:t>MODULE 1 CLASS 3</a:t>
            </a:r>
            <a:endParaRPr sz="1665"/>
          </a:p>
        </p:txBody>
      </p:sp>
      <p:sp>
        <p:nvSpPr>
          <p:cNvPr id="11" name="Text 5"/>
          <p:cNvSpPr>
            <a:spLocks noGrp="1"/>
          </p:cNvSpPr>
          <p:nvPr/>
        </p:nvSpPr>
        <p:spPr>
          <a:xfrm>
            <a:off x="4393480" y="3841180"/>
            <a:ext cx="3405039" cy="507492"/>
          </a:xfrm>
          <a:prstGeom prst="rect">
            <a:avLst/>
          </a:prstGeom>
          <a:noFill/>
        </p:spPr>
        <p:txBody>
          <a:bodyPr wrap="square" lIns="0" tIns="0" rIns="0" bIns="0" anchor="t">
            <a:spAutoFit/>
          </a:bodyPr>
          <a:lstStyle/>
          <a:p>
            <a:pPr marL="0" indent="0" algn="ctr">
              <a:buNone/>
            </a:pPr>
            <a:r>
              <a:rPr sz="1665">
                <a:solidFill>
                  <a:srgbClr val="8A93A8"/>
                </a:solidFill>
                <a:latin typeface="Arial" panose="020B0604020202020204"/>
                <a:ea typeface="Arial" panose="020B0604020202020204"/>
                <a:cs typeface="Arial" panose="020B0604020202020204"/>
              </a:rPr>
              <a:t>Encoding, Crypto Basics &amp; File Investigation</a:t>
            </a:r>
            <a:endParaRPr sz="1665"/>
          </a:p>
        </p:txBody>
      </p:sp>
      <p:sp>
        <p:nvSpPr>
          <p:cNvPr id="12" name="Text 6"/>
          <p:cNvSpPr>
            <a:spLocks noGrp="1"/>
          </p:cNvSpPr>
          <p:nvPr/>
        </p:nvSpPr>
        <p:spPr>
          <a:xfrm>
            <a:off x="3628728" y="4607941"/>
            <a:ext cx="4934545" cy="184150"/>
          </a:xfrm>
          <a:prstGeom prst="rect">
            <a:avLst/>
          </a:prstGeom>
          <a:noFill/>
        </p:spPr>
        <p:txBody>
          <a:bodyPr wrap="square" lIns="0" tIns="0" rIns="0" bIns="0" anchor="t">
            <a:spAutoFit/>
          </a:bodyPr>
          <a:lstStyle/>
          <a:p>
            <a:pPr marL="0" indent="0" algn="ctr">
              <a:buNone/>
            </a:pPr>
            <a:r>
              <a:rPr sz="1200" b="1" spc="3">
                <a:solidFill>
                  <a:srgbClr val="00D4FF"/>
                </a:solidFill>
                <a:latin typeface="Arial" panose="020B0604020202020204"/>
                <a:ea typeface="Arial" panose="020B0604020202020204"/>
                <a:cs typeface="Arial" panose="020B0604020202020204"/>
              </a:rPr>
              <a:t>RECOGNIZE. DECODE. INVESTIGATE. VERIFY.</a:t>
            </a:r>
            <a:endParaRPr sz="1200"/>
          </a:p>
        </p:txBody>
      </p:sp>
      <p:sp>
        <p:nvSpPr>
          <p:cNvPr id="13" name="Shape 7"/>
          <p:cNvSpPr>
            <a:spLocks noGrp="1"/>
          </p:cNvSpPr>
          <p:nvPr/>
        </p:nvSpPr>
        <p:spPr>
          <a:xfrm>
            <a:off x="723900" y="6591300"/>
            <a:ext cx="781051" cy="38100"/>
          </a:xfrm>
          <a:prstGeom prst="rect">
            <a:avLst/>
          </a:prstGeom>
          <a:solidFill>
            <a:srgbClr val="FF6B1A"/>
          </a:solidFill>
        </p:spPr>
      </p:sp>
      <p:sp>
        <p:nvSpPr>
          <p:cNvPr id="14" name="Text 8"/>
          <p:cNvSpPr>
            <a:spLocks noGrp="1"/>
          </p:cNvSpPr>
          <p:nvPr/>
        </p:nvSpPr>
        <p:spPr>
          <a:xfrm>
            <a:off x="3988221" y="6486525"/>
            <a:ext cx="4215556" cy="153670"/>
          </a:xfrm>
          <a:prstGeom prst="rect">
            <a:avLst/>
          </a:prstGeom>
          <a:noFill/>
        </p:spPr>
        <p:txBody>
          <a:bodyPr wrap="square" lIns="0" tIns="0" rIns="0" bIns="0" anchor="t">
            <a:spAutoFit/>
          </a:bodyPr>
          <a:lstStyle/>
          <a:p>
            <a:pPr marL="0" indent="0" algn="l">
              <a:buNone/>
            </a:pPr>
            <a:r>
              <a:rPr sz="1000">
                <a:solidFill>
                  <a:srgbClr val="687388"/>
                </a:solidFill>
                <a:latin typeface="Arial" panose="020B0604020202020204"/>
                <a:ea typeface="Arial" panose="020B0604020202020204"/>
                <a:cs typeface="Arial" panose="020B0604020202020204"/>
              </a:rPr>
              <a:t>CyberHELP × FIRE Cybersecurity Community</a:t>
            </a:r>
            <a:endParaRPr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6"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8CECFF"/>
          </a:solidFill>
        </p:spPr>
      </p:sp>
      <p:pic>
        <p:nvPicPr>
          <p:cNvPr id="19" name="Image 1"/>
          <p:cNvPicPr>
            <a:picLocks noChangeAspect="1"/>
          </p:cNvPicPr>
          <p:nvPr/>
        </p:nvPicPr>
        <p:blipFill>
          <a:blip r:embed="rId2"/>
          <a:stretch>
            <a:fillRect/>
          </a:stretch>
        </p:blipFill>
        <p:spPr>
          <a:xfrm>
            <a:off x="723900" y="190500"/>
            <a:ext cx="590551" cy="590551"/>
          </a:xfrm>
          <a:prstGeom prst="rect">
            <a:avLst/>
          </a:prstGeom>
        </p:spPr>
      </p:pic>
      <p:pic>
        <p:nvPicPr>
          <p:cNvPr id="20"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6096000" y="6115050"/>
            <a:ext cx="6096000" cy="356235"/>
          </a:xfrm>
          <a:prstGeom prst="rect">
            <a:avLst/>
          </a:prstGeom>
          <a:noFill/>
        </p:spPr>
        <p:txBody>
          <a:bodyPr wrap="square" lIns="0" tIns="192701" rIns="0" bIns="0" anchor="t">
            <a:spAutoFit/>
          </a:bodyPr>
          <a:lstStyle/>
          <a:p>
            <a:pPr marL="0" indent="0" algn="l">
              <a:buNone/>
            </a:pPr>
            <a:r>
              <a:rPr sz="1065">
                <a:solidFill>
                  <a:srgbClr val="778196"/>
                </a:solidFill>
                <a:latin typeface="Arial" panose="020B0604020202020204"/>
                <a:ea typeface="Arial" panose="020B0604020202020204"/>
                <a:cs typeface="Arial" panose="020B0604020202020204"/>
              </a:rPr>
              <a:t>Decode the message before class begins.</a:t>
            </a:r>
            <a:endParaRPr sz="1065"/>
          </a:p>
        </p:txBody>
      </p:sp>
      <p:sp>
        <p:nvSpPr>
          <p:cNvPr id="12" name="Rounded Rectangle 11"/>
          <p:cNvSpPr>
            <a:spLocks noGrp="1"/>
          </p:cNvSpPr>
          <p:nvPr/>
        </p:nvSpPr>
        <p:spPr>
          <a:xfrm>
            <a:off x="2095500" y="2238375"/>
            <a:ext cx="8001000" cy="1809750"/>
          </a:xfrm>
          <a:prstGeom prst="roundRect">
            <a:avLst>
              <a:gd name="adj" fmla="val 9474"/>
            </a:avLst>
          </a:prstGeom>
          <a:solidFill>
            <a:srgbClr val="071928"/>
          </a:solidFill>
          <a:ln w="19050">
            <a:solidFill>
              <a:srgbClr val="12D7FF"/>
            </a:solidFill>
            <a:prstDash val="solid"/>
          </a:ln>
        </p:spPr>
      </p:sp>
      <p:sp>
        <p:nvSpPr>
          <p:cNvPr id="13" name="Rectangles 12"/>
          <p:cNvSpPr>
            <a:spLocks noGrp="1"/>
          </p:cNvSpPr>
          <p:nvPr/>
        </p:nvSpPr>
        <p:spPr>
          <a:xfrm>
            <a:off x="2857500" y="2428875"/>
            <a:ext cx="6477000" cy="323850"/>
          </a:xfrm>
          <a:prstGeom prst="rect">
            <a:avLst/>
          </a:prstGeom>
          <a:noFill/>
          <a:ln w="0">
            <a:noFill/>
          </a:ln>
        </p:spPr>
        <p:txBody>
          <a:bodyPr anchor="ctr"/>
          <a:lstStyle/>
          <a:p>
            <a:pPr algn="ctr">
              <a:defRPr sz="1125" b="1">
                <a:solidFill>
                  <a:srgbClr val="FF7A1A"/>
                </a:solidFill>
                <a:latin typeface="Arial" panose="020B0604020202020204"/>
                <a:ea typeface="Arial" panose="020B0604020202020204"/>
                <a:cs typeface="Arial" panose="020B0604020202020204"/>
              </a:defRPr>
            </a:pPr>
            <a:r>
              <a:rPr sz="1125" b="1">
                <a:solidFill>
                  <a:srgbClr val="FF7A1A"/>
                </a:solidFill>
                <a:latin typeface="Arial" panose="020B0604020202020204"/>
                <a:ea typeface="Arial" panose="020B0604020202020204"/>
                <a:cs typeface="Arial" panose="020B0604020202020204"/>
              </a:rPr>
              <a:t>MYSTERY MESSAGE</a:t>
            </a:r>
            <a:endParaRPr sz="1125" b="1">
              <a:solidFill>
                <a:srgbClr val="FF7A1A"/>
              </a:solidFill>
              <a:latin typeface="Arial" panose="020B0604020202020204"/>
              <a:ea typeface="Arial" panose="020B0604020202020204"/>
              <a:cs typeface="Arial" panose="020B0604020202020204"/>
            </a:endParaRPr>
          </a:p>
        </p:txBody>
      </p:sp>
      <p:sp>
        <p:nvSpPr>
          <p:cNvPr id="14" name="Rectangles 13"/>
          <p:cNvSpPr>
            <a:spLocks noGrp="1"/>
          </p:cNvSpPr>
          <p:nvPr/>
        </p:nvSpPr>
        <p:spPr>
          <a:xfrm>
            <a:off x="2428875" y="2857500"/>
            <a:ext cx="7334250" cy="552450"/>
          </a:xfrm>
          <a:prstGeom prst="rect">
            <a:avLst/>
          </a:prstGeom>
          <a:noFill/>
          <a:ln w="0">
            <a:noFill/>
          </a:ln>
        </p:spPr>
        <p:txBody>
          <a:bodyPr anchor="ctr"/>
          <a:lstStyle/>
          <a:p>
            <a:pPr algn="ctr">
              <a:defRPr sz="2100" b="1">
                <a:solidFill>
                  <a:srgbClr val="21DDF5"/>
                </a:solidFill>
                <a:latin typeface="Consolas" panose="020B0609020204030204"/>
                <a:ea typeface="Consolas" panose="020B0609020204030204"/>
                <a:cs typeface="Consolas" panose="020B0609020204030204"/>
              </a:defRPr>
            </a:pPr>
            <a:r>
              <a:rPr sz="2100" b="1">
                <a:solidFill>
                  <a:srgbClr val="21DDF5"/>
                </a:solidFill>
                <a:latin typeface="Consolas" panose="020B0609020204030204"/>
                <a:ea typeface="Consolas" panose="020B0609020204030204"/>
                <a:cs typeface="Consolas" panose="020B0609020204030204"/>
              </a:rPr>
              <a:t>RW5jb2RpbmcgaXMgbm90IGVuY3J5cHRpb24=</a:t>
            </a:r>
            <a:endParaRPr sz="2100" b="1">
              <a:solidFill>
                <a:srgbClr val="21DDF5"/>
              </a:solidFill>
              <a:latin typeface="Consolas" panose="020B0609020204030204"/>
              <a:ea typeface="Consolas" panose="020B0609020204030204"/>
              <a:cs typeface="Consolas" panose="020B0609020204030204"/>
            </a:endParaRPr>
          </a:p>
        </p:txBody>
      </p:sp>
      <p:sp>
        <p:nvSpPr>
          <p:cNvPr id="15" name="Rectangles 14"/>
          <p:cNvSpPr>
            <a:spLocks noGrp="1"/>
          </p:cNvSpPr>
          <p:nvPr/>
        </p:nvSpPr>
        <p:spPr>
          <a:xfrm>
            <a:off x="2857500" y="3476625"/>
            <a:ext cx="6477000" cy="323850"/>
          </a:xfrm>
          <a:prstGeom prst="rect">
            <a:avLst/>
          </a:prstGeom>
          <a:noFill/>
          <a:ln w="0">
            <a:noFill/>
          </a:ln>
        </p:spPr>
        <p:txBody>
          <a:bodyPr anchor="ctr"/>
          <a:lstStyle/>
          <a:p>
            <a:pPr algn="ctr">
              <a:defRPr sz="1125" b="0">
                <a:solidFill>
                  <a:srgbClr val="C4D7E6"/>
                </a:solidFill>
                <a:latin typeface="Arial" panose="020B0604020202020204"/>
                <a:ea typeface="Arial" panose="020B0604020202020204"/>
                <a:cs typeface="Arial" panose="020B0604020202020204"/>
              </a:defRPr>
            </a:pPr>
            <a:r>
              <a:rPr sz="1125" b="0">
                <a:solidFill>
                  <a:srgbClr val="C4D7E6"/>
                </a:solidFill>
                <a:latin typeface="Arial" panose="020B0604020202020204"/>
                <a:ea typeface="Arial" panose="020B0604020202020204"/>
                <a:cs typeface="Arial" panose="020B0604020202020204"/>
              </a:rPr>
              <a:t>What pattern do you notice before using a tool?</a:t>
            </a:r>
            <a:endParaRPr sz="1125" b="0">
              <a:solidFill>
                <a:srgbClr val="C4D7E6"/>
              </a:solidFill>
              <a:latin typeface="Arial" panose="020B0604020202020204"/>
              <a:ea typeface="Arial" panose="020B0604020202020204"/>
              <a:cs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27" name="Image 1"/>
          <p:cNvPicPr>
            <a:picLocks noChangeAspect="1"/>
          </p:cNvPicPr>
          <p:nvPr/>
        </p:nvPicPr>
        <p:blipFill>
          <a:blip r:embed="rId2"/>
          <a:stretch>
            <a:fillRect/>
          </a:stretch>
        </p:blipFill>
        <p:spPr>
          <a:xfrm>
            <a:off x="723900" y="190500"/>
            <a:ext cx="590551" cy="590551"/>
          </a:xfrm>
          <a:prstGeom prst="rect">
            <a:avLst/>
          </a:prstGeom>
        </p:spPr>
      </p:pic>
      <p:pic>
        <p:nvPicPr>
          <p:cNvPr id="28"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1066800" y="971551"/>
            <a:ext cx="10058400" cy="631190"/>
          </a:xfrm>
          <a:prstGeom prst="rect">
            <a:avLst/>
          </a:prstGeom>
          <a:noFill/>
        </p:spPr>
        <p:txBody>
          <a:bodyPr wrap="square" lIns="0" tIns="487510" rIns="0" bIns="0" anchor="t">
            <a:spAutoFit/>
          </a:bodyPr>
          <a:lstStyle/>
          <a:p>
            <a:pPr marL="0" indent="0" algn="l">
              <a:buNone/>
            </a:pPr>
            <a:r>
              <a:rPr sz="935" b="1" spc="2">
                <a:solidFill>
                  <a:srgbClr val="00D4FF"/>
                </a:solidFill>
                <a:latin typeface="Arial" panose="020B0604020202020204"/>
                <a:ea typeface="Arial" panose="020B0604020202020204"/>
                <a:cs typeface="Arial" panose="020B0604020202020204"/>
              </a:rPr>
              <a:t>TODAY'S MISSION</a:t>
            </a:r>
            <a:endParaRPr sz="935"/>
          </a:p>
        </p:txBody>
      </p:sp>
      <p:sp>
        <p:nvSpPr>
          <p:cNvPr id="9" name="Text 3"/>
          <p:cNvSpPr>
            <a:spLocks noGrp="1"/>
          </p:cNvSpPr>
          <p:nvPr/>
        </p:nvSpPr>
        <p:spPr>
          <a:xfrm>
            <a:off x="1066800" y="1628775"/>
            <a:ext cx="6440805" cy="442595"/>
          </a:xfrm>
          <a:prstGeom prst="rect">
            <a:avLst/>
          </a:prstGeom>
          <a:noFill/>
        </p:spPr>
        <p:txBody>
          <a:bodyPr wrap="none" lIns="0" tIns="0" rIns="0" bIns="0" anchor="t">
            <a:spAutoFit/>
          </a:bodyPr>
          <a:lstStyle/>
          <a:p>
            <a:pPr marL="0" indent="0" algn="l">
              <a:lnSpc>
                <a:spcPct val="83000"/>
              </a:lnSpc>
              <a:buNone/>
            </a:pPr>
            <a:r>
              <a:rPr sz="3465" b="1" spc="-1">
                <a:solidFill>
                  <a:srgbClr val="FFFFFF"/>
                </a:solidFill>
                <a:latin typeface="Arial" panose="020B0604020202020204"/>
                <a:ea typeface="Arial" panose="020B0604020202020204"/>
                <a:cs typeface="Arial" panose="020B0604020202020204"/>
              </a:rPr>
              <a:t>Learn the pattern. Then investigate.</a:t>
            </a:r>
            <a:endParaRPr sz="3465"/>
          </a:p>
        </p:txBody>
      </p:sp>
      <p:sp>
        <p:nvSpPr>
          <p:cNvPr id="10" name="Text 4"/>
          <p:cNvSpPr>
            <a:spLocks noGrp="1"/>
          </p:cNvSpPr>
          <p:nvPr/>
        </p:nvSpPr>
        <p:spPr>
          <a:xfrm>
            <a:off x="1066800" y="2248272"/>
            <a:ext cx="10058400" cy="225425"/>
          </a:xfrm>
          <a:prstGeom prst="rect">
            <a:avLst/>
          </a:prstGeom>
          <a:noFill/>
        </p:spPr>
        <p:txBody>
          <a:bodyPr wrap="square" lIns="0" tIns="0" rIns="0" bIns="0" anchor="t">
            <a:spAutoFit/>
          </a:bodyPr>
          <a:lstStyle/>
          <a:p>
            <a:pPr marL="0" indent="0" algn="l">
              <a:buNone/>
            </a:pPr>
            <a:r>
              <a:rPr sz="1465">
                <a:solidFill>
                  <a:srgbClr val="A5B0C3"/>
                </a:solidFill>
                <a:latin typeface="Arial" panose="020B0604020202020204"/>
                <a:ea typeface="Arial" panose="020B0604020202020204"/>
                <a:cs typeface="Arial" panose="020B0604020202020204"/>
              </a:rPr>
              <a:t>Short theory. Two practical labs. One mini CTF.</a:t>
            </a:r>
            <a:endParaRPr sz="1465"/>
          </a:p>
        </p:txBody>
      </p:sp>
      <p:sp>
        <p:nvSpPr>
          <p:cNvPr id="11" name="Text 5"/>
          <p:cNvSpPr>
            <a:spLocks noGrp="1"/>
          </p:cNvSpPr>
          <p:nvPr/>
        </p:nvSpPr>
        <p:spPr>
          <a:xfrm>
            <a:off x="1066800" y="3476551"/>
            <a:ext cx="4500563" cy="287020"/>
          </a:xfrm>
          <a:prstGeom prst="rect">
            <a:avLst/>
          </a:prstGeom>
          <a:noFill/>
        </p:spPr>
        <p:txBody>
          <a:bodyPr wrap="square" lIns="0" tIns="0" rIns="0" bIns="0" anchor="t">
            <a:spAutoFit/>
          </a:bodyPr>
          <a:lstStyle/>
          <a:p>
            <a:pPr marL="0" indent="0" algn="l">
              <a:buNone/>
            </a:pPr>
            <a:r>
              <a:rPr sz="1865" b="1">
                <a:solidFill>
                  <a:srgbClr val="FFFFFF"/>
                </a:solidFill>
                <a:latin typeface="Arial" panose="020B0604020202020204"/>
                <a:ea typeface="Arial" panose="020B0604020202020204"/>
                <a:cs typeface="Arial" panose="020B0604020202020204"/>
              </a:rPr>
              <a:t>PART 1 THEORY</a:t>
            </a:r>
            <a:endParaRPr sz="1865"/>
          </a:p>
        </p:txBody>
      </p:sp>
      <p:sp>
        <p:nvSpPr>
          <p:cNvPr id="12" name="Text 6"/>
          <p:cNvSpPr>
            <a:spLocks noGrp="1"/>
          </p:cNvSpPr>
          <p:nvPr/>
        </p:nvSpPr>
        <p:spPr>
          <a:xfrm>
            <a:off x="1066800" y="3881363"/>
            <a:ext cx="4500563" cy="184150"/>
          </a:xfrm>
          <a:prstGeom prst="rect">
            <a:avLst/>
          </a:prstGeom>
          <a:noFill/>
        </p:spPr>
        <p:txBody>
          <a:bodyPr wrap="square" lIns="0" tIns="0" rIns="0" bIns="0" anchor="t">
            <a:spAutoFit/>
          </a:bodyPr>
          <a:lstStyle/>
          <a:p>
            <a:pPr marL="0" indent="0" algn="l">
              <a:buNone/>
            </a:pPr>
            <a:r>
              <a:rPr sz="1200" b="1">
                <a:solidFill>
                  <a:srgbClr val="00D4FF"/>
                </a:solidFill>
                <a:latin typeface="Arial" panose="020B0604020202020204"/>
                <a:ea typeface="Arial" panose="020B0604020202020204"/>
                <a:cs typeface="Arial" panose="020B0604020202020204"/>
              </a:rPr>
              <a:t>Recognize the transformation</a:t>
            </a:r>
            <a:endParaRPr sz="1200"/>
          </a:p>
        </p:txBody>
      </p:sp>
      <p:sp>
        <p:nvSpPr>
          <p:cNvPr id="13" name="Text 7"/>
          <p:cNvSpPr>
            <a:spLocks noGrp="1"/>
          </p:cNvSpPr>
          <p:nvPr/>
        </p:nvSpPr>
        <p:spPr>
          <a:xfrm>
            <a:off x="1066800" y="4271888"/>
            <a:ext cx="4500563" cy="421640"/>
          </a:xfrm>
          <a:prstGeom prst="rect">
            <a:avLst/>
          </a:prstGeom>
          <a:noFill/>
        </p:spPr>
        <p:txBody>
          <a:bodyPr wrap="square" lIns="0" tIns="0" rIns="0" bIns="0" anchor="t">
            <a:spAutoFit/>
          </a:bodyPr>
          <a:lstStyle/>
          <a:p>
            <a:pPr marL="0" indent="0" algn="l">
              <a:lnSpc>
                <a:spcPct val="108000"/>
              </a:lnSpc>
              <a:buNone/>
            </a:pPr>
            <a:r>
              <a:rPr sz="1265">
                <a:solidFill>
                  <a:srgbClr val="8A93A8"/>
                </a:solidFill>
                <a:latin typeface="Arial" panose="020B0604020202020204"/>
                <a:ea typeface="Arial" panose="020B0604020202020204"/>
                <a:cs typeface="Arial" panose="020B0604020202020204"/>
              </a:rPr>
              <a:t>Separate encoding, encryption, and hashing. Learn the visual clues.</a:t>
            </a:r>
            <a:endParaRPr sz="1265"/>
          </a:p>
        </p:txBody>
      </p:sp>
      <p:sp>
        <p:nvSpPr>
          <p:cNvPr id="14" name="Text 8"/>
          <p:cNvSpPr>
            <a:spLocks noGrp="1"/>
          </p:cNvSpPr>
          <p:nvPr/>
        </p:nvSpPr>
        <p:spPr>
          <a:xfrm>
            <a:off x="6624637" y="3476551"/>
            <a:ext cx="4500563" cy="287020"/>
          </a:xfrm>
          <a:prstGeom prst="rect">
            <a:avLst/>
          </a:prstGeom>
          <a:noFill/>
        </p:spPr>
        <p:txBody>
          <a:bodyPr wrap="square" lIns="0" tIns="0" rIns="0" bIns="0" anchor="t">
            <a:spAutoFit/>
          </a:bodyPr>
          <a:lstStyle/>
          <a:p>
            <a:pPr marL="0" indent="0" algn="l">
              <a:buNone/>
            </a:pPr>
            <a:r>
              <a:rPr sz="1865" b="1">
                <a:solidFill>
                  <a:srgbClr val="FFFFFF"/>
                </a:solidFill>
                <a:latin typeface="Arial" panose="020B0604020202020204"/>
                <a:ea typeface="Arial" panose="020B0604020202020204"/>
                <a:cs typeface="Arial" panose="020B0604020202020204"/>
              </a:rPr>
              <a:t>PART 2 HANDS-ON</a:t>
            </a:r>
            <a:endParaRPr sz="1865"/>
          </a:p>
        </p:txBody>
      </p:sp>
      <p:sp>
        <p:nvSpPr>
          <p:cNvPr id="15" name="Text 9"/>
          <p:cNvSpPr>
            <a:spLocks noGrp="1"/>
          </p:cNvSpPr>
          <p:nvPr/>
        </p:nvSpPr>
        <p:spPr>
          <a:xfrm>
            <a:off x="6624637" y="3881363"/>
            <a:ext cx="4500563" cy="184150"/>
          </a:xfrm>
          <a:prstGeom prst="rect">
            <a:avLst/>
          </a:prstGeom>
          <a:noFill/>
        </p:spPr>
        <p:txBody>
          <a:bodyPr wrap="square" lIns="0" tIns="0" rIns="0" bIns="0" anchor="t">
            <a:spAutoFit/>
          </a:bodyPr>
          <a:lstStyle/>
          <a:p>
            <a:pPr marL="0" indent="0" algn="l">
              <a:buNone/>
            </a:pPr>
            <a:r>
              <a:rPr sz="1200" b="1">
                <a:solidFill>
                  <a:srgbClr val="00D4FF"/>
                </a:solidFill>
                <a:latin typeface="Arial" panose="020B0604020202020204"/>
                <a:ea typeface="Arial" panose="020B0604020202020204"/>
                <a:cs typeface="Arial" panose="020B0604020202020204"/>
              </a:rPr>
              <a:t>Decode and verify evidence</a:t>
            </a:r>
            <a:endParaRPr sz="1200"/>
          </a:p>
        </p:txBody>
      </p:sp>
      <p:sp>
        <p:nvSpPr>
          <p:cNvPr id="16" name="Text 10"/>
          <p:cNvSpPr>
            <a:spLocks noGrp="1"/>
          </p:cNvSpPr>
          <p:nvPr/>
        </p:nvSpPr>
        <p:spPr>
          <a:xfrm>
            <a:off x="6624637" y="4271888"/>
            <a:ext cx="4500563" cy="421640"/>
          </a:xfrm>
          <a:prstGeom prst="rect">
            <a:avLst/>
          </a:prstGeom>
          <a:noFill/>
        </p:spPr>
        <p:txBody>
          <a:bodyPr wrap="square" lIns="0" tIns="0" rIns="0" bIns="0" anchor="t">
            <a:spAutoFit/>
          </a:bodyPr>
          <a:lstStyle/>
          <a:p>
            <a:pPr marL="0" indent="0" algn="l">
              <a:lnSpc>
                <a:spcPct val="108000"/>
              </a:lnSpc>
              <a:buNone/>
            </a:pPr>
            <a:r>
              <a:rPr sz="1265">
                <a:solidFill>
                  <a:srgbClr val="8A93A8"/>
                </a:solidFill>
                <a:latin typeface="Arial" panose="020B0604020202020204"/>
                <a:ea typeface="Arial" panose="020B0604020202020204"/>
                <a:cs typeface="Arial" panose="020B0604020202020204"/>
              </a:rPr>
              <a:t>Use CyberChef and Linux tools to follow clues—not guesses.</a:t>
            </a:r>
            <a:endParaRPr sz="1265"/>
          </a:p>
        </p:txBody>
      </p:sp>
      <p:sp>
        <p:nvSpPr>
          <p:cNvPr id="17" name="Text 11"/>
          <p:cNvSpPr>
            <a:spLocks noGrp="1"/>
          </p:cNvSpPr>
          <p:nvPr/>
        </p:nvSpPr>
        <p:spPr>
          <a:xfrm>
            <a:off x="1066800" y="5305797"/>
            <a:ext cx="10058400" cy="466090"/>
          </a:xfrm>
          <a:prstGeom prst="rect">
            <a:avLst/>
          </a:prstGeom>
          <a:noFill/>
        </p:spPr>
        <p:txBody>
          <a:bodyPr wrap="square" lIns="0" tIns="260773" rIns="0" bIns="0" anchor="t">
            <a:spAutoFit/>
          </a:bodyPr>
          <a:lstStyle/>
          <a:p>
            <a:pPr marL="0" indent="0" algn="ctr">
              <a:buNone/>
            </a:pPr>
            <a:r>
              <a:rPr sz="1335" b="1">
                <a:solidFill>
                  <a:srgbClr val="FF6B1A"/>
                </a:solidFill>
                <a:latin typeface="Arial" panose="020B0604020202020204"/>
                <a:ea typeface="Arial" panose="020B0604020202020204"/>
                <a:cs typeface="Arial" panose="020B0604020202020204"/>
              </a:rPr>
              <a:t>THEORY → DEMO → GUIDED LAB → CHALLENGE</a:t>
            </a:r>
            <a:endParaRPr sz="1335"/>
          </a:p>
        </p:txBody>
      </p:sp>
      <p:sp>
        <p:nvSpPr>
          <p:cNvPr id="18" name="Shape 12"/>
          <p:cNvSpPr>
            <a:spLocks noGrp="1"/>
          </p:cNvSpPr>
          <p:nvPr/>
        </p:nvSpPr>
        <p:spPr>
          <a:xfrm>
            <a:off x="723900" y="6134100"/>
            <a:ext cx="10744200" cy="723900"/>
          </a:xfrm>
          <a:prstGeom prst="rect">
            <a:avLst/>
          </a:prstGeom>
          <a:solidFill>
            <a:srgbClr val="000000">
              <a:alpha val="0"/>
            </a:srgbClr>
          </a:solidFill>
        </p:spPr>
      </p:sp>
      <p:sp>
        <p:nvSpPr>
          <p:cNvPr id="19" name="Shape 13"/>
          <p:cNvSpPr>
            <a:spLocks noGrp="1"/>
          </p:cNvSpPr>
          <p:nvPr/>
        </p:nvSpPr>
        <p:spPr>
          <a:xfrm>
            <a:off x="723900" y="6134100"/>
            <a:ext cx="10744200" cy="9525"/>
          </a:xfrm>
          <a:prstGeom prst="rect">
            <a:avLst/>
          </a:prstGeom>
          <a:solidFill>
            <a:srgbClr val="FFFFFF"/>
          </a:solidFill>
        </p:spPr>
      </p:sp>
      <p:sp>
        <p:nvSpPr>
          <p:cNvPr id="20" name="Text 14"/>
          <p:cNvSpPr>
            <a:spLocks noGrp="1"/>
          </p:cNvSpPr>
          <p:nvPr/>
        </p:nvSpPr>
        <p:spPr>
          <a:xfrm>
            <a:off x="723900" y="6134100"/>
            <a:ext cx="10744200" cy="368935"/>
          </a:xfrm>
          <a:prstGeom prst="rect">
            <a:avLst/>
          </a:prstGeom>
          <a:noFill/>
        </p:spPr>
        <p:txBody>
          <a:bodyPr wrap="square" lIns="0" tIns="215392" rIns="0" bIns="0" anchor="t">
            <a:spAutoFit/>
          </a:bodyPr>
          <a:lstStyle/>
          <a:p>
            <a:pPr marL="0" indent="0" algn="l">
              <a:buNone/>
            </a:pPr>
            <a:r>
              <a:rPr sz="1000">
                <a:solidFill>
                  <a:srgbClr val="768197"/>
                </a:solidFill>
                <a:latin typeface="Arial" panose="020B0604020202020204"/>
                <a:ea typeface="Arial" panose="020B0604020202020204"/>
                <a:cs typeface="Arial" panose="020B0604020202020204"/>
              </a:rPr>
              <a:t>0:00–0:08</a:t>
            </a:r>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0"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53" name="Image 1"/>
          <p:cNvPicPr>
            <a:picLocks noChangeAspect="1"/>
          </p:cNvPicPr>
          <p:nvPr/>
        </p:nvPicPr>
        <p:blipFill>
          <a:blip r:embed="rId2"/>
          <a:stretch>
            <a:fillRect/>
          </a:stretch>
        </p:blipFill>
        <p:spPr>
          <a:xfrm>
            <a:off x="723900" y="190500"/>
            <a:ext cx="590551" cy="590551"/>
          </a:xfrm>
          <a:prstGeom prst="rect">
            <a:avLst/>
          </a:prstGeom>
        </p:spPr>
      </p:pic>
      <p:pic>
        <p:nvPicPr>
          <p:cNvPr id="54"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800100" y="971551"/>
            <a:ext cx="10591800" cy="574675"/>
          </a:xfrm>
          <a:prstGeom prst="rect">
            <a:avLst/>
          </a:prstGeom>
          <a:noFill/>
        </p:spPr>
        <p:txBody>
          <a:bodyPr wrap="square" lIns="0" tIns="430953" rIns="0" bIns="0" anchor="t">
            <a:spAutoFit/>
          </a:bodyPr>
          <a:lstStyle/>
          <a:p>
            <a:pPr marL="0" indent="0" algn="l">
              <a:buNone/>
            </a:pPr>
            <a:r>
              <a:rPr sz="935" b="1" spc="2">
                <a:solidFill>
                  <a:srgbClr val="00D4FF"/>
                </a:solidFill>
                <a:latin typeface="Arial" panose="020B0604020202020204"/>
                <a:ea typeface="Arial" panose="020B0604020202020204"/>
                <a:cs typeface="Arial" panose="020B0604020202020204"/>
              </a:rPr>
              <a:t>TODAY'S JOURNEY</a:t>
            </a:r>
            <a:endParaRPr sz="935"/>
          </a:p>
        </p:txBody>
      </p:sp>
      <p:sp>
        <p:nvSpPr>
          <p:cNvPr id="9" name="Text 3"/>
          <p:cNvSpPr>
            <a:spLocks noGrp="1"/>
          </p:cNvSpPr>
          <p:nvPr/>
        </p:nvSpPr>
        <p:spPr>
          <a:xfrm>
            <a:off x="800100" y="1562100"/>
            <a:ext cx="5469255" cy="422275"/>
          </a:xfrm>
          <a:prstGeom prst="rect">
            <a:avLst/>
          </a:prstGeom>
          <a:noFill/>
        </p:spPr>
        <p:txBody>
          <a:bodyPr wrap="none" lIns="0" tIns="0" rIns="0" bIns="0" anchor="t">
            <a:spAutoFit/>
          </a:bodyPr>
          <a:lstStyle/>
          <a:p>
            <a:pPr marL="0" indent="0" algn="l">
              <a:lnSpc>
                <a:spcPct val="84000"/>
              </a:lnSpc>
              <a:buNone/>
            </a:pPr>
            <a:r>
              <a:rPr sz="3265" b="1" spc="-1">
                <a:solidFill>
                  <a:srgbClr val="FFFFFF"/>
                </a:solidFill>
                <a:latin typeface="Arial" panose="020B0604020202020204"/>
                <a:ea typeface="Arial" panose="020B0604020202020204"/>
                <a:cs typeface="Arial" panose="020B0604020202020204"/>
              </a:rPr>
              <a:t>One lesson. Six stages.</a:t>
            </a:r>
            <a:endParaRPr sz="3265"/>
          </a:p>
        </p:txBody>
      </p:sp>
      <p:sp>
        <p:nvSpPr>
          <p:cNvPr id="10" name="Text 4"/>
          <p:cNvSpPr>
            <a:spLocks noGrp="1"/>
          </p:cNvSpPr>
          <p:nvPr/>
        </p:nvSpPr>
        <p:spPr>
          <a:xfrm>
            <a:off x="8588871" y="1809751"/>
            <a:ext cx="2803029" cy="184150"/>
          </a:xfrm>
          <a:prstGeom prst="rect">
            <a:avLst/>
          </a:prstGeom>
          <a:noFill/>
        </p:spPr>
        <p:txBody>
          <a:bodyPr wrap="square" lIns="0" tIns="0" rIns="0" bIns="0" anchor="t">
            <a:spAutoFit/>
          </a:bodyPr>
          <a:lstStyle/>
          <a:p>
            <a:pPr marL="0" indent="0" algn="l">
              <a:buNone/>
            </a:pPr>
            <a:r>
              <a:rPr sz="1200" spc="1">
                <a:solidFill>
                  <a:srgbClr val="8A93A8"/>
                </a:solidFill>
                <a:latin typeface="Arial" panose="020B0604020202020204"/>
                <a:ea typeface="Arial" panose="020B0604020202020204"/>
                <a:cs typeface="Arial" panose="020B0604020202020204"/>
              </a:rPr>
              <a:t>90 MINUTES · HANDS-ON</a:t>
            </a:r>
            <a:endParaRPr sz="1200"/>
          </a:p>
        </p:txBody>
      </p:sp>
      <p:sp>
        <p:nvSpPr>
          <p:cNvPr id="11" name="Shape 5"/>
          <p:cNvSpPr>
            <a:spLocks noGrp="1"/>
          </p:cNvSpPr>
          <p:nvPr/>
        </p:nvSpPr>
        <p:spPr>
          <a:xfrm>
            <a:off x="1228725" y="2908920"/>
            <a:ext cx="9734551" cy="19051"/>
          </a:xfrm>
          <a:prstGeom prst="rect">
            <a:avLst/>
          </a:prstGeom>
          <a:solidFill>
            <a:srgbClr val="00D4FF">
              <a:alpha val="45000"/>
            </a:srgbClr>
          </a:solidFill>
        </p:spPr>
      </p:sp>
      <p:sp>
        <p:nvSpPr>
          <p:cNvPr id="12" name="Shape 6"/>
          <p:cNvSpPr>
            <a:spLocks noGrp="1"/>
          </p:cNvSpPr>
          <p:nvPr/>
        </p:nvSpPr>
        <p:spPr>
          <a:xfrm>
            <a:off x="1393031" y="2423145"/>
            <a:ext cx="476251" cy="476251"/>
          </a:xfrm>
          <a:prstGeom prst="rect">
            <a:avLst/>
          </a:prstGeom>
          <a:solidFill>
            <a:srgbClr val="FF6B1A"/>
          </a:solidFill>
          <a:ln w="18288">
            <a:solidFill>
              <a:srgbClr val="FF6B1A"/>
            </a:solidFill>
            <a:prstDash val="solid"/>
          </a:ln>
        </p:spPr>
      </p:sp>
      <p:sp>
        <p:nvSpPr>
          <p:cNvPr id="13" name="Text 7"/>
          <p:cNvSpPr>
            <a:spLocks noGrp="1"/>
          </p:cNvSpPr>
          <p:nvPr/>
        </p:nvSpPr>
        <p:spPr>
          <a:xfrm>
            <a:off x="1532096" y="2553638"/>
            <a:ext cx="198120" cy="215265"/>
          </a:xfrm>
          <a:prstGeom prst="rect">
            <a:avLst/>
          </a:prstGeom>
          <a:noFill/>
        </p:spPr>
        <p:txBody>
          <a:bodyPr wrap="none" lIns="0" tIns="0" rIns="0" bIns="0" anchor="ctr">
            <a:spAutoFit/>
          </a:bodyPr>
          <a:lstStyle/>
          <a:p>
            <a:pPr marL="0" indent="0" algn="ctr">
              <a:buNone/>
            </a:pPr>
            <a:r>
              <a:rPr sz="1400" b="1" spc="-1">
                <a:solidFill>
                  <a:srgbClr val="FFFFFF"/>
                </a:solidFill>
                <a:latin typeface="Arial" panose="020B0604020202020204"/>
                <a:ea typeface="Arial" panose="020B0604020202020204"/>
                <a:cs typeface="Arial" panose="020B0604020202020204"/>
              </a:rPr>
              <a:t>01</a:t>
            </a:r>
            <a:endParaRPr sz="1400"/>
          </a:p>
        </p:txBody>
      </p:sp>
      <p:sp>
        <p:nvSpPr>
          <p:cNvPr id="14" name="Text 8"/>
          <p:cNvSpPr>
            <a:spLocks noGrp="1"/>
          </p:cNvSpPr>
          <p:nvPr/>
        </p:nvSpPr>
        <p:spPr>
          <a:xfrm>
            <a:off x="1320921" y="3061320"/>
            <a:ext cx="620395" cy="133350"/>
          </a:xfrm>
          <a:prstGeom prst="rect">
            <a:avLst/>
          </a:prstGeom>
          <a:noFill/>
        </p:spPr>
        <p:txBody>
          <a:bodyPr wrap="none" lIns="0" tIns="0" rIns="0" bIns="0" anchor="t">
            <a:spAutoFit/>
          </a:bodyPr>
          <a:lstStyle/>
          <a:p>
            <a:pPr marL="0" indent="0" algn="ctr">
              <a:buNone/>
            </a:pPr>
            <a:r>
              <a:rPr sz="865" b="1" spc="1">
                <a:solidFill>
                  <a:srgbClr val="FF8B4B"/>
                </a:solidFill>
                <a:latin typeface="Arial" panose="020B0604020202020204"/>
                <a:ea typeface="Arial" panose="020B0604020202020204"/>
                <a:cs typeface="Arial" panose="020B0604020202020204"/>
              </a:rPr>
              <a:t>0:00–0:10</a:t>
            </a:r>
            <a:endParaRPr sz="865"/>
          </a:p>
        </p:txBody>
      </p:sp>
      <p:sp>
        <p:nvSpPr>
          <p:cNvPr id="15" name="Text 9"/>
          <p:cNvSpPr>
            <a:spLocks noGrp="1"/>
          </p:cNvSpPr>
          <p:nvPr/>
        </p:nvSpPr>
        <p:spPr>
          <a:xfrm>
            <a:off x="878681" y="3294683"/>
            <a:ext cx="1504951" cy="343535"/>
          </a:xfrm>
          <a:prstGeom prst="rect">
            <a:avLst/>
          </a:prstGeom>
          <a:noFill/>
        </p:spPr>
        <p:txBody>
          <a:bodyPr wrap="square" lIns="0" tIns="0" rIns="0" bIns="0" anchor="t">
            <a:spAutoFit/>
          </a:bodyPr>
          <a:lstStyle/>
          <a:p>
            <a:pPr marL="0" indent="0" algn="ctr">
              <a:lnSpc>
                <a:spcPct val="98000"/>
              </a:lnSpc>
              <a:buNone/>
            </a:pPr>
            <a:r>
              <a:rPr sz="1135" b="1">
                <a:solidFill>
                  <a:srgbClr val="FFFFFF"/>
                </a:solidFill>
                <a:latin typeface="Arial" panose="020B0604020202020204"/>
                <a:ea typeface="Arial" panose="020B0604020202020204"/>
                <a:cs typeface="Arial" panose="020B0604020202020204"/>
              </a:rPr>
              <a:t>Mystery Decode</a:t>
            </a:r>
            <a:endParaRPr sz="1135"/>
          </a:p>
        </p:txBody>
      </p:sp>
      <p:sp>
        <p:nvSpPr>
          <p:cNvPr id="16" name="Text 10"/>
          <p:cNvSpPr>
            <a:spLocks noGrp="1"/>
          </p:cNvSpPr>
          <p:nvPr/>
        </p:nvSpPr>
        <p:spPr>
          <a:xfrm>
            <a:off x="1182529" y="3803972"/>
            <a:ext cx="897255" cy="144145"/>
          </a:xfrm>
          <a:prstGeom prst="rect">
            <a:avLst/>
          </a:prstGeom>
          <a:noFill/>
        </p:spPr>
        <p:txBody>
          <a:bodyPr wrap="none" lIns="0" tIns="0" rIns="0" bIns="0" anchor="t">
            <a:spAutoFit/>
          </a:bodyPr>
          <a:lstStyle/>
          <a:p>
            <a:pPr marL="0" indent="0" algn="ctr">
              <a:lnSpc>
                <a:spcPct val="108000"/>
              </a:lnSpc>
              <a:buNone/>
            </a:pPr>
            <a:r>
              <a:rPr sz="865">
                <a:solidFill>
                  <a:srgbClr val="FFB084"/>
                </a:solidFill>
                <a:latin typeface="Arial" panose="020B0604020202020204"/>
                <a:ea typeface="Arial" panose="020B0604020202020204"/>
                <a:cs typeface="Arial" panose="020B0604020202020204"/>
              </a:rPr>
              <a:t>Start with evidence</a:t>
            </a:r>
            <a:endParaRPr sz="865"/>
          </a:p>
        </p:txBody>
      </p:sp>
      <p:sp>
        <p:nvSpPr>
          <p:cNvPr id="17" name="Shape 11"/>
          <p:cNvSpPr>
            <a:spLocks noGrp="1"/>
          </p:cNvSpPr>
          <p:nvPr/>
        </p:nvSpPr>
        <p:spPr>
          <a:xfrm>
            <a:off x="3178969" y="2423145"/>
            <a:ext cx="476251" cy="476251"/>
          </a:xfrm>
          <a:prstGeom prst="rect">
            <a:avLst/>
          </a:prstGeom>
          <a:solidFill>
            <a:srgbClr val="071525"/>
          </a:solidFill>
          <a:ln w="18288">
            <a:solidFill>
              <a:srgbClr val="00D4FF"/>
            </a:solidFill>
            <a:prstDash val="solid"/>
          </a:ln>
        </p:spPr>
      </p:sp>
      <p:sp>
        <p:nvSpPr>
          <p:cNvPr id="18" name="Text 12"/>
          <p:cNvSpPr>
            <a:spLocks noGrp="1"/>
          </p:cNvSpPr>
          <p:nvPr/>
        </p:nvSpPr>
        <p:spPr>
          <a:xfrm>
            <a:off x="3318035" y="2553638"/>
            <a:ext cx="198120" cy="215265"/>
          </a:xfrm>
          <a:prstGeom prst="rect">
            <a:avLst/>
          </a:prstGeom>
          <a:noFill/>
        </p:spPr>
        <p:txBody>
          <a:bodyPr wrap="none" lIns="0" tIns="0" rIns="0" bIns="0" anchor="ctr">
            <a:spAutoFit/>
          </a:bodyPr>
          <a:lstStyle/>
          <a:p>
            <a:pPr marL="0" indent="0" algn="ctr">
              <a:buNone/>
            </a:pPr>
            <a:r>
              <a:rPr sz="1400" b="1" spc="-1">
                <a:solidFill>
                  <a:srgbClr val="00D4FF"/>
                </a:solidFill>
                <a:latin typeface="Arial" panose="020B0604020202020204"/>
                <a:ea typeface="Arial" panose="020B0604020202020204"/>
                <a:cs typeface="Arial" panose="020B0604020202020204"/>
              </a:rPr>
              <a:t>02</a:t>
            </a:r>
            <a:endParaRPr sz="1400"/>
          </a:p>
        </p:txBody>
      </p:sp>
      <p:sp>
        <p:nvSpPr>
          <p:cNvPr id="19" name="Text 13"/>
          <p:cNvSpPr>
            <a:spLocks noGrp="1"/>
          </p:cNvSpPr>
          <p:nvPr/>
        </p:nvSpPr>
        <p:spPr>
          <a:xfrm>
            <a:off x="3106858" y="3061320"/>
            <a:ext cx="620395" cy="133350"/>
          </a:xfrm>
          <a:prstGeom prst="rect">
            <a:avLst/>
          </a:prstGeom>
          <a:noFill/>
        </p:spPr>
        <p:txBody>
          <a:bodyPr wrap="none" lIns="0" tIns="0" rIns="0" bIns="0" anchor="t">
            <a:spAutoFit/>
          </a:bodyPr>
          <a:lstStyle/>
          <a:p>
            <a:pPr marL="0" indent="0" algn="ctr">
              <a:buNone/>
            </a:pPr>
            <a:r>
              <a:rPr sz="865" b="1" spc="1">
                <a:solidFill>
                  <a:srgbClr val="8A93A8"/>
                </a:solidFill>
                <a:latin typeface="Arial" panose="020B0604020202020204"/>
                <a:ea typeface="Arial" panose="020B0604020202020204"/>
                <a:cs typeface="Arial" panose="020B0604020202020204"/>
              </a:rPr>
              <a:t>0:10–0:25</a:t>
            </a:r>
            <a:endParaRPr sz="865"/>
          </a:p>
        </p:txBody>
      </p:sp>
      <p:sp>
        <p:nvSpPr>
          <p:cNvPr id="20" name="Text 14"/>
          <p:cNvSpPr>
            <a:spLocks noGrp="1"/>
          </p:cNvSpPr>
          <p:nvPr/>
        </p:nvSpPr>
        <p:spPr>
          <a:xfrm>
            <a:off x="2664619" y="3294683"/>
            <a:ext cx="1504951" cy="343535"/>
          </a:xfrm>
          <a:prstGeom prst="rect">
            <a:avLst/>
          </a:prstGeom>
          <a:noFill/>
        </p:spPr>
        <p:txBody>
          <a:bodyPr wrap="square" lIns="0" tIns="0" rIns="0" bIns="0" anchor="t">
            <a:spAutoFit/>
          </a:bodyPr>
          <a:lstStyle/>
          <a:p>
            <a:pPr marL="0" indent="0" algn="ctr">
              <a:lnSpc>
                <a:spcPct val="98000"/>
              </a:lnSpc>
              <a:buNone/>
            </a:pPr>
            <a:r>
              <a:rPr sz="1135" b="1">
                <a:solidFill>
                  <a:srgbClr val="DCE8F5"/>
                </a:solidFill>
                <a:latin typeface="Arial" panose="020B0604020202020204"/>
                <a:ea typeface="Arial" panose="020B0604020202020204"/>
                <a:cs typeface="Arial" panose="020B0604020202020204"/>
              </a:rPr>
              <a:t>Three Core Concepts</a:t>
            </a:r>
            <a:endParaRPr sz="1135"/>
          </a:p>
        </p:txBody>
      </p:sp>
      <p:sp>
        <p:nvSpPr>
          <p:cNvPr id="21" name="Text 15"/>
          <p:cNvSpPr>
            <a:spLocks noGrp="1"/>
          </p:cNvSpPr>
          <p:nvPr/>
        </p:nvSpPr>
        <p:spPr>
          <a:xfrm>
            <a:off x="2817935" y="3803972"/>
            <a:ext cx="1198245" cy="144145"/>
          </a:xfrm>
          <a:prstGeom prst="rect">
            <a:avLst/>
          </a:prstGeom>
          <a:noFill/>
        </p:spPr>
        <p:txBody>
          <a:bodyPr wrap="none" lIns="0" tIns="0" rIns="0" bIns="0" anchor="t">
            <a:spAutoFit/>
          </a:bodyPr>
          <a:lstStyle/>
          <a:p>
            <a:pPr marL="0" indent="0" algn="ctr">
              <a:lnSpc>
                <a:spcPct val="108000"/>
              </a:lnSpc>
              <a:buNone/>
            </a:pPr>
            <a:r>
              <a:rPr sz="865">
                <a:solidFill>
                  <a:srgbClr val="778399"/>
                </a:solidFill>
                <a:latin typeface="Arial" panose="020B0604020202020204"/>
                <a:ea typeface="Arial" panose="020B0604020202020204"/>
                <a:cs typeface="Arial" panose="020B0604020202020204"/>
              </a:rPr>
              <a:t>Know the difference</a:t>
            </a:r>
            <a:endParaRPr sz="865"/>
          </a:p>
        </p:txBody>
      </p:sp>
      <p:sp>
        <p:nvSpPr>
          <p:cNvPr id="22" name="Shape 16"/>
          <p:cNvSpPr>
            <a:spLocks noGrp="1"/>
          </p:cNvSpPr>
          <p:nvPr/>
        </p:nvSpPr>
        <p:spPr>
          <a:xfrm>
            <a:off x="4964907" y="2423145"/>
            <a:ext cx="476251" cy="476251"/>
          </a:xfrm>
          <a:prstGeom prst="rect">
            <a:avLst/>
          </a:prstGeom>
          <a:solidFill>
            <a:srgbClr val="071525"/>
          </a:solidFill>
          <a:ln w="18288">
            <a:solidFill>
              <a:srgbClr val="00D4FF"/>
            </a:solidFill>
            <a:prstDash val="solid"/>
          </a:ln>
        </p:spPr>
      </p:sp>
      <p:sp>
        <p:nvSpPr>
          <p:cNvPr id="23" name="Text 17"/>
          <p:cNvSpPr>
            <a:spLocks noGrp="1"/>
          </p:cNvSpPr>
          <p:nvPr/>
        </p:nvSpPr>
        <p:spPr>
          <a:xfrm>
            <a:off x="5103972" y="2553638"/>
            <a:ext cx="198120" cy="215265"/>
          </a:xfrm>
          <a:prstGeom prst="rect">
            <a:avLst/>
          </a:prstGeom>
          <a:noFill/>
        </p:spPr>
        <p:txBody>
          <a:bodyPr wrap="none" lIns="0" tIns="0" rIns="0" bIns="0" anchor="ctr">
            <a:spAutoFit/>
          </a:bodyPr>
          <a:lstStyle/>
          <a:p>
            <a:pPr marL="0" indent="0" algn="ctr">
              <a:buNone/>
            </a:pPr>
            <a:r>
              <a:rPr sz="1400" b="1" spc="-1">
                <a:solidFill>
                  <a:srgbClr val="00D4FF"/>
                </a:solidFill>
                <a:latin typeface="Arial" panose="020B0604020202020204"/>
                <a:ea typeface="Arial" panose="020B0604020202020204"/>
                <a:cs typeface="Arial" panose="020B0604020202020204"/>
              </a:rPr>
              <a:t>03</a:t>
            </a:r>
            <a:endParaRPr sz="1400"/>
          </a:p>
        </p:txBody>
      </p:sp>
      <p:sp>
        <p:nvSpPr>
          <p:cNvPr id="24" name="Text 18"/>
          <p:cNvSpPr>
            <a:spLocks noGrp="1"/>
          </p:cNvSpPr>
          <p:nvPr/>
        </p:nvSpPr>
        <p:spPr>
          <a:xfrm>
            <a:off x="4862036" y="3061320"/>
            <a:ext cx="681990" cy="133350"/>
          </a:xfrm>
          <a:prstGeom prst="rect">
            <a:avLst/>
          </a:prstGeom>
          <a:noFill/>
        </p:spPr>
        <p:txBody>
          <a:bodyPr wrap="none" lIns="0" tIns="0" rIns="0" bIns="0" anchor="t">
            <a:spAutoFit/>
          </a:bodyPr>
          <a:lstStyle/>
          <a:p>
            <a:pPr marL="0" indent="0" algn="ctr">
              <a:buNone/>
            </a:pPr>
            <a:r>
              <a:rPr sz="865" b="1" spc="1">
                <a:solidFill>
                  <a:srgbClr val="8A93A8"/>
                </a:solidFill>
                <a:latin typeface="Arial" panose="020B0604020202020204"/>
                <a:ea typeface="Arial" panose="020B0604020202020204"/>
                <a:cs typeface="Arial" panose="020B0604020202020204"/>
              </a:rPr>
              <a:t>0:25–0:40</a:t>
            </a:r>
            <a:endParaRPr sz="865"/>
          </a:p>
        </p:txBody>
      </p:sp>
      <p:sp>
        <p:nvSpPr>
          <p:cNvPr id="25" name="Text 19"/>
          <p:cNvSpPr>
            <a:spLocks noGrp="1"/>
          </p:cNvSpPr>
          <p:nvPr/>
        </p:nvSpPr>
        <p:spPr>
          <a:xfrm>
            <a:off x="4450556" y="3294683"/>
            <a:ext cx="1504951" cy="343535"/>
          </a:xfrm>
          <a:prstGeom prst="rect">
            <a:avLst/>
          </a:prstGeom>
          <a:noFill/>
        </p:spPr>
        <p:txBody>
          <a:bodyPr wrap="square" lIns="0" tIns="0" rIns="0" bIns="0" anchor="t">
            <a:spAutoFit/>
          </a:bodyPr>
          <a:lstStyle/>
          <a:p>
            <a:pPr marL="0" indent="0" algn="ctr">
              <a:lnSpc>
                <a:spcPct val="98000"/>
              </a:lnSpc>
              <a:buNone/>
            </a:pPr>
            <a:r>
              <a:rPr sz="1135" b="1">
                <a:solidFill>
                  <a:srgbClr val="DCE8F5"/>
                </a:solidFill>
                <a:latin typeface="Arial" panose="020B0604020202020204"/>
                <a:ea typeface="Arial" panose="020B0604020202020204"/>
                <a:cs typeface="Arial" panose="020B0604020202020204"/>
              </a:rPr>
              <a:t>Common Encodings</a:t>
            </a:r>
            <a:endParaRPr sz="1135"/>
          </a:p>
        </p:txBody>
      </p:sp>
      <p:sp>
        <p:nvSpPr>
          <p:cNvPr id="26" name="Text 20"/>
          <p:cNvSpPr>
            <a:spLocks noGrp="1"/>
          </p:cNvSpPr>
          <p:nvPr/>
        </p:nvSpPr>
        <p:spPr>
          <a:xfrm>
            <a:off x="4640739" y="3803972"/>
            <a:ext cx="1124585" cy="144145"/>
          </a:xfrm>
          <a:prstGeom prst="rect">
            <a:avLst/>
          </a:prstGeom>
          <a:noFill/>
        </p:spPr>
        <p:txBody>
          <a:bodyPr wrap="none" lIns="0" tIns="0" rIns="0" bIns="0" anchor="t">
            <a:spAutoFit/>
          </a:bodyPr>
          <a:lstStyle/>
          <a:p>
            <a:pPr marL="0" indent="0" algn="ctr">
              <a:lnSpc>
                <a:spcPct val="108000"/>
              </a:lnSpc>
              <a:buNone/>
            </a:pPr>
            <a:r>
              <a:rPr sz="865">
                <a:solidFill>
                  <a:srgbClr val="778399"/>
                </a:solidFill>
                <a:latin typeface="Arial" panose="020B0604020202020204"/>
                <a:ea typeface="Arial" panose="020B0604020202020204"/>
                <a:cs typeface="Arial" panose="020B0604020202020204"/>
              </a:rPr>
              <a:t>Learn visual clues</a:t>
            </a:r>
            <a:endParaRPr sz="865"/>
          </a:p>
        </p:txBody>
      </p:sp>
      <p:sp>
        <p:nvSpPr>
          <p:cNvPr id="27" name="Shape 21"/>
          <p:cNvSpPr>
            <a:spLocks noGrp="1"/>
          </p:cNvSpPr>
          <p:nvPr/>
        </p:nvSpPr>
        <p:spPr>
          <a:xfrm>
            <a:off x="6750844" y="2423145"/>
            <a:ext cx="476251" cy="476251"/>
          </a:xfrm>
          <a:prstGeom prst="rect">
            <a:avLst/>
          </a:prstGeom>
          <a:solidFill>
            <a:srgbClr val="071525"/>
          </a:solidFill>
          <a:ln w="18288">
            <a:solidFill>
              <a:srgbClr val="00D4FF"/>
            </a:solidFill>
            <a:prstDash val="solid"/>
          </a:ln>
        </p:spPr>
      </p:sp>
      <p:sp>
        <p:nvSpPr>
          <p:cNvPr id="28" name="Text 22"/>
          <p:cNvSpPr>
            <a:spLocks noGrp="1"/>
          </p:cNvSpPr>
          <p:nvPr/>
        </p:nvSpPr>
        <p:spPr>
          <a:xfrm>
            <a:off x="6889909" y="2553638"/>
            <a:ext cx="198120" cy="215265"/>
          </a:xfrm>
          <a:prstGeom prst="rect">
            <a:avLst/>
          </a:prstGeom>
          <a:noFill/>
        </p:spPr>
        <p:txBody>
          <a:bodyPr wrap="none" lIns="0" tIns="0" rIns="0" bIns="0" anchor="ctr">
            <a:spAutoFit/>
          </a:bodyPr>
          <a:lstStyle/>
          <a:p>
            <a:pPr marL="0" indent="0" algn="ctr">
              <a:buNone/>
            </a:pPr>
            <a:r>
              <a:rPr sz="1400" b="1" spc="-1">
                <a:solidFill>
                  <a:srgbClr val="00D4FF"/>
                </a:solidFill>
                <a:latin typeface="Arial" panose="020B0604020202020204"/>
                <a:ea typeface="Arial" panose="020B0604020202020204"/>
                <a:cs typeface="Arial" panose="020B0604020202020204"/>
              </a:rPr>
              <a:t>04</a:t>
            </a:r>
            <a:endParaRPr sz="1400"/>
          </a:p>
        </p:txBody>
      </p:sp>
      <p:sp>
        <p:nvSpPr>
          <p:cNvPr id="29" name="Text 23"/>
          <p:cNvSpPr>
            <a:spLocks noGrp="1"/>
          </p:cNvSpPr>
          <p:nvPr/>
        </p:nvSpPr>
        <p:spPr>
          <a:xfrm>
            <a:off x="6617140" y="3061320"/>
            <a:ext cx="743585" cy="133350"/>
          </a:xfrm>
          <a:prstGeom prst="rect">
            <a:avLst/>
          </a:prstGeom>
          <a:noFill/>
        </p:spPr>
        <p:txBody>
          <a:bodyPr wrap="none" lIns="0" tIns="0" rIns="0" bIns="0" anchor="t">
            <a:spAutoFit/>
          </a:bodyPr>
          <a:lstStyle/>
          <a:p>
            <a:pPr marL="0" indent="0" algn="ctr">
              <a:buNone/>
            </a:pPr>
            <a:r>
              <a:rPr sz="865" b="1" spc="1">
                <a:solidFill>
                  <a:srgbClr val="8A93A8"/>
                </a:solidFill>
                <a:latin typeface="Arial" panose="020B0604020202020204"/>
                <a:ea typeface="Arial" panose="020B0604020202020204"/>
                <a:cs typeface="Arial" panose="020B0604020202020204"/>
              </a:rPr>
              <a:t>0:40–0:58</a:t>
            </a:r>
            <a:endParaRPr sz="865"/>
          </a:p>
        </p:txBody>
      </p:sp>
      <p:sp>
        <p:nvSpPr>
          <p:cNvPr id="30" name="Text 24"/>
          <p:cNvSpPr>
            <a:spLocks noGrp="1"/>
          </p:cNvSpPr>
          <p:nvPr/>
        </p:nvSpPr>
        <p:spPr>
          <a:xfrm>
            <a:off x="6236493" y="3294683"/>
            <a:ext cx="1504951" cy="343535"/>
          </a:xfrm>
          <a:prstGeom prst="rect">
            <a:avLst/>
          </a:prstGeom>
          <a:noFill/>
        </p:spPr>
        <p:txBody>
          <a:bodyPr wrap="square" lIns="0" tIns="0" rIns="0" bIns="0" anchor="t">
            <a:spAutoFit/>
          </a:bodyPr>
          <a:lstStyle/>
          <a:p>
            <a:pPr marL="0" indent="0" algn="ctr">
              <a:lnSpc>
                <a:spcPct val="98000"/>
              </a:lnSpc>
              <a:buNone/>
            </a:pPr>
            <a:r>
              <a:rPr sz="1135" b="1">
                <a:solidFill>
                  <a:srgbClr val="DCE8F5"/>
                </a:solidFill>
                <a:latin typeface="Arial" panose="020B0604020202020204"/>
                <a:ea typeface="Arial" panose="020B0604020202020204"/>
                <a:cs typeface="Arial" panose="020B0604020202020204"/>
              </a:rPr>
              <a:t>CyberChef Lab</a:t>
            </a:r>
            <a:endParaRPr sz="1135"/>
          </a:p>
        </p:txBody>
      </p:sp>
      <p:sp>
        <p:nvSpPr>
          <p:cNvPr id="31" name="Text 25"/>
          <p:cNvSpPr>
            <a:spLocks noGrp="1"/>
          </p:cNvSpPr>
          <p:nvPr/>
        </p:nvSpPr>
        <p:spPr>
          <a:xfrm>
            <a:off x="6441915" y="3803972"/>
            <a:ext cx="1094105" cy="144145"/>
          </a:xfrm>
          <a:prstGeom prst="rect">
            <a:avLst/>
          </a:prstGeom>
          <a:noFill/>
        </p:spPr>
        <p:txBody>
          <a:bodyPr wrap="none" lIns="0" tIns="0" rIns="0" bIns="0" anchor="t">
            <a:spAutoFit/>
          </a:bodyPr>
          <a:lstStyle/>
          <a:p>
            <a:pPr marL="0" indent="0" algn="ctr">
              <a:lnSpc>
                <a:spcPct val="108000"/>
              </a:lnSpc>
              <a:buNone/>
            </a:pPr>
            <a:r>
              <a:rPr sz="865">
                <a:solidFill>
                  <a:srgbClr val="778399"/>
                </a:solidFill>
                <a:latin typeface="Arial" panose="020B0604020202020204"/>
                <a:ea typeface="Arial" panose="020B0604020202020204"/>
                <a:cs typeface="Arial" panose="020B0604020202020204"/>
              </a:rPr>
              <a:t>Decode step by step</a:t>
            </a:r>
            <a:endParaRPr sz="865"/>
          </a:p>
        </p:txBody>
      </p:sp>
      <p:sp>
        <p:nvSpPr>
          <p:cNvPr id="32" name="Shape 26"/>
          <p:cNvSpPr>
            <a:spLocks noGrp="1"/>
          </p:cNvSpPr>
          <p:nvPr/>
        </p:nvSpPr>
        <p:spPr>
          <a:xfrm>
            <a:off x="8536781" y="2423145"/>
            <a:ext cx="476251" cy="476251"/>
          </a:xfrm>
          <a:prstGeom prst="rect">
            <a:avLst/>
          </a:prstGeom>
          <a:solidFill>
            <a:srgbClr val="071525"/>
          </a:solidFill>
          <a:ln w="18288">
            <a:solidFill>
              <a:srgbClr val="00D4FF"/>
            </a:solidFill>
            <a:prstDash val="solid"/>
          </a:ln>
        </p:spPr>
      </p:sp>
      <p:sp>
        <p:nvSpPr>
          <p:cNvPr id="33" name="Text 27"/>
          <p:cNvSpPr>
            <a:spLocks noGrp="1"/>
          </p:cNvSpPr>
          <p:nvPr/>
        </p:nvSpPr>
        <p:spPr>
          <a:xfrm>
            <a:off x="8675847" y="2553638"/>
            <a:ext cx="198120" cy="215265"/>
          </a:xfrm>
          <a:prstGeom prst="rect">
            <a:avLst/>
          </a:prstGeom>
          <a:noFill/>
        </p:spPr>
        <p:txBody>
          <a:bodyPr wrap="none" lIns="0" tIns="0" rIns="0" bIns="0" anchor="ctr">
            <a:spAutoFit/>
          </a:bodyPr>
          <a:lstStyle/>
          <a:p>
            <a:pPr marL="0" indent="0" algn="ctr">
              <a:buNone/>
            </a:pPr>
            <a:r>
              <a:rPr sz="1400" b="1" spc="-1">
                <a:solidFill>
                  <a:srgbClr val="00D4FF"/>
                </a:solidFill>
                <a:latin typeface="Arial" panose="020B0604020202020204"/>
                <a:ea typeface="Arial" panose="020B0604020202020204"/>
                <a:cs typeface="Arial" panose="020B0604020202020204"/>
              </a:rPr>
              <a:t>05</a:t>
            </a:r>
            <a:endParaRPr sz="1400"/>
          </a:p>
        </p:txBody>
      </p:sp>
      <p:sp>
        <p:nvSpPr>
          <p:cNvPr id="34" name="Text 28"/>
          <p:cNvSpPr>
            <a:spLocks noGrp="1"/>
          </p:cNvSpPr>
          <p:nvPr/>
        </p:nvSpPr>
        <p:spPr>
          <a:xfrm>
            <a:off x="8403077" y="3061320"/>
            <a:ext cx="743585" cy="133350"/>
          </a:xfrm>
          <a:prstGeom prst="rect">
            <a:avLst/>
          </a:prstGeom>
          <a:noFill/>
        </p:spPr>
        <p:txBody>
          <a:bodyPr wrap="none" lIns="0" tIns="0" rIns="0" bIns="0" anchor="t">
            <a:spAutoFit/>
          </a:bodyPr>
          <a:lstStyle/>
          <a:p>
            <a:pPr marL="0" indent="0" algn="ctr">
              <a:buNone/>
            </a:pPr>
            <a:r>
              <a:rPr sz="865" b="1" spc="1">
                <a:solidFill>
                  <a:srgbClr val="8A93A8"/>
                </a:solidFill>
                <a:latin typeface="Arial" panose="020B0604020202020204"/>
                <a:ea typeface="Arial" panose="020B0604020202020204"/>
                <a:cs typeface="Arial" panose="020B0604020202020204"/>
              </a:rPr>
              <a:t>0:58–1:18</a:t>
            </a:r>
            <a:endParaRPr sz="865"/>
          </a:p>
        </p:txBody>
      </p:sp>
      <p:sp>
        <p:nvSpPr>
          <p:cNvPr id="35" name="Text 29"/>
          <p:cNvSpPr>
            <a:spLocks noGrp="1"/>
          </p:cNvSpPr>
          <p:nvPr/>
        </p:nvSpPr>
        <p:spPr>
          <a:xfrm>
            <a:off x="8022431" y="3294683"/>
            <a:ext cx="1504951" cy="343535"/>
          </a:xfrm>
          <a:prstGeom prst="rect">
            <a:avLst/>
          </a:prstGeom>
          <a:noFill/>
        </p:spPr>
        <p:txBody>
          <a:bodyPr wrap="square" lIns="0" tIns="0" rIns="0" bIns="0" anchor="t">
            <a:spAutoFit/>
          </a:bodyPr>
          <a:lstStyle/>
          <a:p>
            <a:pPr marL="0" indent="0" algn="ctr">
              <a:lnSpc>
                <a:spcPct val="98000"/>
              </a:lnSpc>
              <a:buNone/>
            </a:pPr>
            <a:r>
              <a:rPr sz="1135" b="1">
                <a:solidFill>
                  <a:srgbClr val="DCE8F5"/>
                </a:solidFill>
                <a:latin typeface="Arial" panose="020B0604020202020204"/>
                <a:ea typeface="Arial" panose="020B0604020202020204"/>
                <a:cs typeface="Arial" panose="020B0604020202020204"/>
              </a:rPr>
              <a:t>File Investigation</a:t>
            </a:r>
            <a:endParaRPr sz="1135"/>
          </a:p>
        </p:txBody>
      </p:sp>
      <p:sp>
        <p:nvSpPr>
          <p:cNvPr id="36" name="Text 30"/>
          <p:cNvSpPr>
            <a:spLocks noGrp="1"/>
          </p:cNvSpPr>
          <p:nvPr/>
        </p:nvSpPr>
        <p:spPr>
          <a:xfrm>
            <a:off x="8141812" y="3803972"/>
            <a:ext cx="1266190" cy="144145"/>
          </a:xfrm>
          <a:prstGeom prst="rect">
            <a:avLst/>
          </a:prstGeom>
          <a:noFill/>
        </p:spPr>
        <p:txBody>
          <a:bodyPr wrap="none" lIns="0" tIns="0" rIns="0" bIns="0" anchor="t">
            <a:spAutoFit/>
          </a:bodyPr>
          <a:lstStyle/>
          <a:p>
            <a:pPr marL="0" indent="0" algn="ctr">
              <a:lnSpc>
                <a:spcPct val="108000"/>
              </a:lnSpc>
              <a:buNone/>
            </a:pPr>
            <a:r>
              <a:rPr sz="865">
                <a:solidFill>
                  <a:srgbClr val="778399"/>
                </a:solidFill>
                <a:latin typeface="Arial" panose="020B0604020202020204"/>
                <a:ea typeface="Arial" panose="020B0604020202020204"/>
                <a:cs typeface="Arial" panose="020B0604020202020204"/>
              </a:rPr>
              <a:t>Follow hidden evidence</a:t>
            </a:r>
            <a:endParaRPr sz="865"/>
          </a:p>
        </p:txBody>
      </p:sp>
      <p:sp>
        <p:nvSpPr>
          <p:cNvPr id="37" name="Shape 31"/>
          <p:cNvSpPr>
            <a:spLocks noGrp="1"/>
          </p:cNvSpPr>
          <p:nvPr/>
        </p:nvSpPr>
        <p:spPr>
          <a:xfrm>
            <a:off x="10322719" y="2423145"/>
            <a:ext cx="476251" cy="476251"/>
          </a:xfrm>
          <a:prstGeom prst="rect">
            <a:avLst/>
          </a:prstGeom>
          <a:solidFill>
            <a:srgbClr val="071525"/>
          </a:solidFill>
          <a:ln w="18288">
            <a:solidFill>
              <a:srgbClr val="00D4FF"/>
            </a:solidFill>
            <a:prstDash val="solid"/>
          </a:ln>
        </p:spPr>
      </p:sp>
      <p:sp>
        <p:nvSpPr>
          <p:cNvPr id="38" name="Text 32"/>
          <p:cNvSpPr>
            <a:spLocks noGrp="1"/>
          </p:cNvSpPr>
          <p:nvPr/>
        </p:nvSpPr>
        <p:spPr>
          <a:xfrm>
            <a:off x="10461784" y="2553638"/>
            <a:ext cx="198120" cy="215265"/>
          </a:xfrm>
          <a:prstGeom prst="rect">
            <a:avLst/>
          </a:prstGeom>
          <a:noFill/>
        </p:spPr>
        <p:txBody>
          <a:bodyPr wrap="none" lIns="0" tIns="0" rIns="0" bIns="0" anchor="ctr">
            <a:spAutoFit/>
          </a:bodyPr>
          <a:lstStyle/>
          <a:p>
            <a:pPr marL="0" indent="0" algn="ctr">
              <a:buNone/>
            </a:pPr>
            <a:r>
              <a:rPr sz="1400" b="1" spc="-1">
                <a:solidFill>
                  <a:srgbClr val="00D4FF"/>
                </a:solidFill>
                <a:latin typeface="Arial" panose="020B0604020202020204"/>
                <a:ea typeface="Arial" panose="020B0604020202020204"/>
                <a:cs typeface="Arial" panose="020B0604020202020204"/>
              </a:rPr>
              <a:t>06</a:t>
            </a:r>
            <a:endParaRPr sz="1400"/>
          </a:p>
        </p:txBody>
      </p:sp>
      <p:sp>
        <p:nvSpPr>
          <p:cNvPr id="39" name="Text 33"/>
          <p:cNvSpPr>
            <a:spLocks noGrp="1"/>
          </p:cNvSpPr>
          <p:nvPr/>
        </p:nvSpPr>
        <p:spPr>
          <a:xfrm>
            <a:off x="10189014" y="3061320"/>
            <a:ext cx="743585" cy="133350"/>
          </a:xfrm>
          <a:prstGeom prst="rect">
            <a:avLst/>
          </a:prstGeom>
          <a:noFill/>
        </p:spPr>
        <p:txBody>
          <a:bodyPr wrap="none" lIns="0" tIns="0" rIns="0" bIns="0" anchor="t">
            <a:spAutoFit/>
          </a:bodyPr>
          <a:lstStyle/>
          <a:p>
            <a:pPr marL="0" indent="0" algn="ctr">
              <a:buNone/>
            </a:pPr>
            <a:r>
              <a:rPr sz="865" b="1" spc="1">
                <a:solidFill>
                  <a:srgbClr val="8A93A8"/>
                </a:solidFill>
                <a:latin typeface="Arial" panose="020B0604020202020204"/>
                <a:ea typeface="Arial" panose="020B0604020202020204"/>
                <a:cs typeface="Arial" panose="020B0604020202020204"/>
              </a:rPr>
              <a:t>1:18–1:30</a:t>
            </a:r>
            <a:endParaRPr sz="865"/>
          </a:p>
        </p:txBody>
      </p:sp>
      <p:sp>
        <p:nvSpPr>
          <p:cNvPr id="40" name="Text 34"/>
          <p:cNvSpPr>
            <a:spLocks noGrp="1"/>
          </p:cNvSpPr>
          <p:nvPr/>
        </p:nvSpPr>
        <p:spPr>
          <a:xfrm>
            <a:off x="9808369" y="3294683"/>
            <a:ext cx="1504951" cy="343535"/>
          </a:xfrm>
          <a:prstGeom prst="rect">
            <a:avLst/>
          </a:prstGeom>
          <a:noFill/>
        </p:spPr>
        <p:txBody>
          <a:bodyPr wrap="square" lIns="0" tIns="0" rIns="0" bIns="0" anchor="t">
            <a:spAutoFit/>
          </a:bodyPr>
          <a:lstStyle/>
          <a:p>
            <a:pPr marL="0" indent="0" algn="ctr">
              <a:lnSpc>
                <a:spcPct val="98000"/>
              </a:lnSpc>
              <a:buNone/>
            </a:pPr>
            <a:r>
              <a:rPr sz="1135" b="1">
                <a:solidFill>
                  <a:srgbClr val="DCE8F5"/>
                </a:solidFill>
                <a:latin typeface="Arial" panose="020B0604020202020204"/>
                <a:ea typeface="Arial" panose="020B0604020202020204"/>
                <a:cs typeface="Arial" panose="020B0604020202020204"/>
              </a:rPr>
              <a:t>Mini CTF &amp; Review</a:t>
            </a:r>
            <a:endParaRPr sz="1135"/>
          </a:p>
        </p:txBody>
      </p:sp>
      <p:sp>
        <p:nvSpPr>
          <p:cNvPr id="41" name="Text 35"/>
          <p:cNvSpPr>
            <a:spLocks noGrp="1"/>
          </p:cNvSpPr>
          <p:nvPr/>
        </p:nvSpPr>
        <p:spPr>
          <a:xfrm>
            <a:off x="9998551" y="3803972"/>
            <a:ext cx="1124585" cy="144145"/>
          </a:xfrm>
          <a:prstGeom prst="rect">
            <a:avLst/>
          </a:prstGeom>
          <a:noFill/>
        </p:spPr>
        <p:txBody>
          <a:bodyPr wrap="none" lIns="0" tIns="0" rIns="0" bIns="0" anchor="t">
            <a:spAutoFit/>
          </a:bodyPr>
          <a:lstStyle/>
          <a:p>
            <a:pPr marL="0" indent="0" algn="ctr">
              <a:lnSpc>
                <a:spcPct val="108000"/>
              </a:lnSpc>
              <a:buNone/>
            </a:pPr>
            <a:r>
              <a:rPr sz="865">
                <a:solidFill>
                  <a:srgbClr val="778399"/>
                </a:solidFill>
                <a:latin typeface="Arial" panose="020B0604020202020204"/>
                <a:ea typeface="Arial" panose="020B0604020202020204"/>
                <a:cs typeface="Arial" panose="020B0604020202020204"/>
              </a:rPr>
              <a:t>Prove what you learned</a:t>
            </a:r>
            <a:endParaRPr sz="865"/>
          </a:p>
        </p:txBody>
      </p:sp>
      <p:sp>
        <p:nvSpPr>
          <p:cNvPr id="42" name="Text 36"/>
          <p:cNvSpPr>
            <a:spLocks noGrp="1"/>
          </p:cNvSpPr>
          <p:nvPr/>
        </p:nvSpPr>
        <p:spPr>
          <a:xfrm>
            <a:off x="800100" y="5328271"/>
            <a:ext cx="4120515" cy="210820"/>
          </a:xfrm>
          <a:prstGeom prst="rect">
            <a:avLst/>
          </a:prstGeom>
          <a:noFill/>
        </p:spPr>
        <p:txBody>
          <a:bodyPr wrap="none" lIns="0" tIns="0" rIns="0" bIns="0" anchor="t">
            <a:spAutoFit/>
          </a:bodyPr>
          <a:lstStyle/>
          <a:p>
            <a:pPr marL="0" indent="0" algn="l">
              <a:lnSpc>
                <a:spcPct val="108000"/>
              </a:lnSpc>
              <a:buNone/>
            </a:pPr>
            <a:r>
              <a:rPr sz="1200" b="1">
                <a:solidFill>
                  <a:srgbClr val="00D4FF"/>
                </a:solidFill>
                <a:latin typeface="Arial" panose="020B0604020202020204"/>
                <a:ea typeface="Arial" panose="020B0604020202020204"/>
                <a:cs typeface="Arial" panose="020B0604020202020204"/>
              </a:rPr>
              <a:t>Today: identify, decode, investigate, and document.</a:t>
            </a:r>
            <a:endParaRPr sz="1200"/>
          </a:p>
        </p:txBody>
      </p:sp>
      <p:sp>
        <p:nvSpPr>
          <p:cNvPr id="43" name="Text 37"/>
          <p:cNvSpPr>
            <a:spLocks noGrp="1"/>
          </p:cNvSpPr>
          <p:nvPr/>
        </p:nvSpPr>
        <p:spPr>
          <a:xfrm>
            <a:off x="9130011" y="5328271"/>
            <a:ext cx="2261889" cy="198755"/>
          </a:xfrm>
          <a:prstGeom prst="rect">
            <a:avLst/>
          </a:prstGeom>
          <a:noFill/>
        </p:spPr>
        <p:txBody>
          <a:bodyPr wrap="square" lIns="0" tIns="45381" rIns="0" bIns="0" anchor="t">
            <a:spAutoFit/>
          </a:bodyPr>
          <a:lstStyle/>
          <a:p>
            <a:pPr marL="0" indent="0" algn="l">
              <a:buNone/>
            </a:pPr>
            <a:r>
              <a:rPr sz="1000" b="1" spc="1">
                <a:solidFill>
                  <a:srgbClr val="FF6B1A"/>
                </a:solidFill>
                <a:latin typeface="Arial" panose="020B0604020202020204"/>
                <a:ea typeface="Arial" panose="020B0604020202020204"/>
                <a:cs typeface="Arial" panose="020B0604020202020204"/>
              </a:rPr>
              <a:t>YOU ARE HERE → MODULE 1</a:t>
            </a:r>
            <a:endParaRPr sz="1000"/>
          </a:p>
        </p:txBody>
      </p:sp>
      <p:sp>
        <p:nvSpPr>
          <p:cNvPr id="44" name="Shape 38"/>
          <p:cNvSpPr>
            <a:spLocks noGrp="1"/>
          </p:cNvSpPr>
          <p:nvPr/>
        </p:nvSpPr>
        <p:spPr>
          <a:xfrm>
            <a:off x="723900" y="6134100"/>
            <a:ext cx="10744200" cy="723900"/>
          </a:xfrm>
          <a:prstGeom prst="rect">
            <a:avLst/>
          </a:prstGeom>
          <a:solidFill>
            <a:srgbClr val="000000">
              <a:alpha val="0"/>
            </a:srgbClr>
          </a:solidFill>
        </p:spPr>
      </p:sp>
      <p:sp>
        <p:nvSpPr>
          <p:cNvPr id="45" name="Shape 39"/>
          <p:cNvSpPr>
            <a:spLocks noGrp="1"/>
          </p:cNvSpPr>
          <p:nvPr/>
        </p:nvSpPr>
        <p:spPr>
          <a:xfrm>
            <a:off x="723900" y="6134100"/>
            <a:ext cx="10744200" cy="9525"/>
          </a:xfrm>
          <a:prstGeom prst="rect">
            <a:avLst/>
          </a:prstGeom>
          <a:solidFill>
            <a:srgbClr val="FFFFFF"/>
          </a:solidFill>
        </p:spPr>
      </p:sp>
      <p:sp>
        <p:nvSpPr>
          <p:cNvPr id="46" name="Text 40"/>
          <p:cNvSpPr>
            <a:spLocks noGrp="1"/>
          </p:cNvSpPr>
          <p:nvPr/>
        </p:nvSpPr>
        <p:spPr>
          <a:xfrm>
            <a:off x="723900" y="6134100"/>
            <a:ext cx="10744200" cy="368935"/>
          </a:xfrm>
          <a:prstGeom prst="rect">
            <a:avLst/>
          </a:prstGeom>
          <a:noFill/>
        </p:spPr>
        <p:txBody>
          <a:bodyPr wrap="square" lIns="0" tIns="215392" rIns="0" bIns="0" anchor="t">
            <a:spAutoFit/>
          </a:bodyPr>
          <a:lstStyle/>
          <a:p>
            <a:pPr marL="0" indent="0" algn="l">
              <a:buNone/>
            </a:pPr>
            <a:r>
              <a:rPr sz="1000">
                <a:solidFill>
                  <a:srgbClr val="768197"/>
                </a:solidFill>
                <a:latin typeface="Arial" panose="020B0604020202020204"/>
                <a:ea typeface="Arial" panose="020B0604020202020204"/>
                <a:cs typeface="Arial" panose="020B0604020202020204"/>
              </a:rPr>
              <a:t>0:00–0:08</a:t>
            </a:r>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8"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41" name="Image 1"/>
          <p:cNvPicPr>
            <a:picLocks noChangeAspect="1"/>
          </p:cNvPicPr>
          <p:nvPr/>
        </p:nvPicPr>
        <p:blipFill>
          <a:blip r:embed="rId2"/>
          <a:stretch>
            <a:fillRect/>
          </a:stretch>
        </p:blipFill>
        <p:spPr>
          <a:xfrm>
            <a:off x="723900" y="190500"/>
            <a:ext cx="590551" cy="590551"/>
          </a:xfrm>
          <a:prstGeom prst="rect">
            <a:avLst/>
          </a:prstGeom>
        </p:spPr>
      </p:pic>
      <p:pic>
        <p:nvPicPr>
          <p:cNvPr id="42"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990600" y="971551"/>
            <a:ext cx="10210800" cy="529590"/>
          </a:xfrm>
          <a:prstGeom prst="rect">
            <a:avLst/>
          </a:prstGeom>
          <a:noFill/>
        </p:spPr>
        <p:txBody>
          <a:bodyPr wrap="square" lIns="0" tIns="385572" rIns="0" bIns="0" anchor="t">
            <a:spAutoFit/>
          </a:bodyPr>
          <a:lstStyle/>
          <a:p>
            <a:pPr marL="0" indent="0" algn="l">
              <a:buNone/>
            </a:pPr>
            <a:r>
              <a:rPr sz="935" b="1" spc="3">
                <a:solidFill>
                  <a:srgbClr val="00D4FF"/>
                </a:solidFill>
                <a:latin typeface="Arial" panose="020B0604020202020204"/>
                <a:ea typeface="Arial" panose="020B0604020202020204"/>
                <a:cs typeface="Arial" panose="020B0604020202020204"/>
              </a:rPr>
              <a:t>SECTION 01 FUNDAMENTALS</a:t>
            </a:r>
            <a:endParaRPr sz="935"/>
          </a:p>
        </p:txBody>
      </p:sp>
      <p:sp>
        <p:nvSpPr>
          <p:cNvPr id="9" name="Text 3"/>
          <p:cNvSpPr>
            <a:spLocks noGrp="1"/>
          </p:cNvSpPr>
          <p:nvPr/>
        </p:nvSpPr>
        <p:spPr>
          <a:xfrm>
            <a:off x="990600" y="1524000"/>
            <a:ext cx="5723890" cy="417195"/>
          </a:xfrm>
          <a:prstGeom prst="rect">
            <a:avLst/>
          </a:prstGeom>
          <a:noFill/>
        </p:spPr>
        <p:txBody>
          <a:bodyPr wrap="none" lIns="0" tIns="0" rIns="0" bIns="0" anchor="t">
            <a:spAutoFit/>
          </a:bodyPr>
          <a:lstStyle/>
          <a:p>
            <a:pPr marL="0" indent="0" algn="l">
              <a:lnSpc>
                <a:spcPct val="83000"/>
              </a:lnSpc>
              <a:buNone/>
            </a:pPr>
            <a:r>
              <a:rPr sz="3265" b="1" spc="-1">
                <a:solidFill>
                  <a:srgbClr val="FFFFFF"/>
                </a:solidFill>
                <a:latin typeface="Arial" panose="020B0604020202020204"/>
                <a:ea typeface="Arial" panose="020B0604020202020204"/>
                <a:cs typeface="Arial" panose="020B0604020202020204"/>
              </a:rPr>
              <a:t>Know what transformation you are looking at.</a:t>
            </a:r>
            <a:endParaRPr sz="3265"/>
          </a:p>
        </p:txBody>
      </p:sp>
      <p:sp>
        <p:nvSpPr>
          <p:cNvPr id="10" name="Text 4"/>
          <p:cNvSpPr>
            <a:spLocks noGrp="1"/>
          </p:cNvSpPr>
          <p:nvPr/>
        </p:nvSpPr>
        <p:spPr>
          <a:xfrm>
            <a:off x="990600" y="2094681"/>
            <a:ext cx="10210800" cy="205740"/>
          </a:xfrm>
          <a:prstGeom prst="rect">
            <a:avLst/>
          </a:prstGeom>
          <a:noFill/>
        </p:spPr>
        <p:txBody>
          <a:bodyPr wrap="square" lIns="0" tIns="0" rIns="0" bIns="0" anchor="t">
            <a:spAutoFit/>
          </a:bodyPr>
          <a:lstStyle/>
          <a:p>
            <a:pPr marL="0" indent="0" algn="l">
              <a:buNone/>
            </a:pPr>
            <a:r>
              <a:rPr sz="1335">
                <a:solidFill>
                  <a:srgbClr val="9CA7BA"/>
                </a:solidFill>
                <a:latin typeface="Arial" panose="020B0604020202020204"/>
                <a:ea typeface="Arial" panose="020B0604020202020204"/>
                <a:cs typeface="Arial" panose="020B0604020202020204"/>
              </a:rPr>
              <a:t>Different goals demand different investigation methods.</a:t>
            </a:r>
            <a:endParaRPr sz="1335"/>
          </a:p>
        </p:txBody>
      </p:sp>
      <p:sp>
        <p:nvSpPr>
          <p:cNvPr id="11" name="Text 5"/>
          <p:cNvSpPr>
            <a:spLocks noGrp="1"/>
          </p:cNvSpPr>
          <p:nvPr/>
        </p:nvSpPr>
        <p:spPr>
          <a:xfrm>
            <a:off x="990600" y="2868885"/>
            <a:ext cx="4572000" cy="133350"/>
          </a:xfrm>
          <a:prstGeom prst="rect">
            <a:avLst/>
          </a:prstGeom>
          <a:noFill/>
        </p:spPr>
        <p:txBody>
          <a:bodyPr wrap="square" lIns="0" tIns="0" rIns="0" bIns="0" anchor="t">
            <a:spAutoFit/>
          </a:bodyPr>
          <a:lstStyle/>
          <a:p>
            <a:pPr marL="0" indent="0" algn="l">
              <a:buNone/>
            </a:pPr>
            <a:r>
              <a:rPr sz="865" b="1" spc="2">
                <a:solidFill>
                  <a:srgbClr val="FF6B1A"/>
                </a:solidFill>
                <a:latin typeface="Arial" panose="020B0604020202020204"/>
                <a:ea typeface="Arial" panose="020B0604020202020204"/>
                <a:cs typeface="Arial" panose="020B0604020202020204"/>
              </a:rPr>
              <a:t>TODAY'S CORE</a:t>
            </a:r>
            <a:endParaRPr sz="865"/>
          </a:p>
        </p:txBody>
      </p:sp>
      <p:sp>
        <p:nvSpPr>
          <p:cNvPr id="12" name="Text 6"/>
          <p:cNvSpPr>
            <a:spLocks noGrp="1"/>
          </p:cNvSpPr>
          <p:nvPr/>
        </p:nvSpPr>
        <p:spPr>
          <a:xfrm>
            <a:off x="990600" y="3111773"/>
            <a:ext cx="4572000" cy="317500"/>
          </a:xfrm>
          <a:prstGeom prst="rect">
            <a:avLst/>
          </a:prstGeom>
          <a:noFill/>
        </p:spPr>
        <p:txBody>
          <a:bodyPr wrap="square" lIns="0" tIns="0" rIns="0" bIns="0" anchor="t">
            <a:spAutoFit/>
          </a:bodyPr>
          <a:lstStyle/>
          <a:p>
            <a:pPr marL="0" indent="0" algn="l">
              <a:buNone/>
            </a:pPr>
            <a:r>
              <a:rPr sz="2065" b="1">
                <a:solidFill>
                  <a:srgbClr val="FFFFFF"/>
                </a:solidFill>
                <a:latin typeface="Arial" panose="020B0604020202020204"/>
                <a:ea typeface="Arial" panose="020B0604020202020204"/>
                <a:cs typeface="Arial" panose="020B0604020202020204"/>
              </a:rPr>
              <a:t>Encoding</a:t>
            </a:r>
            <a:endParaRPr sz="2065"/>
          </a:p>
        </p:txBody>
      </p:sp>
      <p:sp>
        <p:nvSpPr>
          <p:cNvPr id="13" name="Text 7"/>
          <p:cNvSpPr>
            <a:spLocks noGrp="1"/>
          </p:cNvSpPr>
          <p:nvPr/>
        </p:nvSpPr>
        <p:spPr>
          <a:xfrm>
            <a:off x="990600" y="3554685"/>
            <a:ext cx="4572000" cy="447599"/>
          </a:xfrm>
          <a:prstGeom prst="rect">
            <a:avLst/>
          </a:prstGeom>
          <a:noFill/>
        </p:spPr>
        <p:txBody>
          <a:bodyPr wrap="square" lIns="0" tIns="0" rIns="0" bIns="0" anchor="t">
            <a:spAutoFit/>
          </a:bodyPr>
          <a:lstStyle/>
          <a:p>
            <a:pPr marL="0" indent="0" algn="l">
              <a:lnSpc>
                <a:spcPct val="110000"/>
              </a:lnSpc>
              <a:buNone/>
            </a:pPr>
            <a:r>
              <a:rPr sz="1335">
                <a:solidFill>
                  <a:srgbClr val="B4BDCA"/>
                </a:solidFill>
                <a:latin typeface="Arial" panose="020B0604020202020204"/>
                <a:ea typeface="Arial" panose="020B0604020202020204"/>
                <a:cs typeface="Arial" panose="020B0604020202020204"/>
              </a:rPr>
              <a:t>Changes representation so systems can store or transmit data.</a:t>
            </a:r>
            <a:endParaRPr sz="1335"/>
          </a:p>
        </p:txBody>
      </p:sp>
      <p:sp>
        <p:nvSpPr>
          <p:cNvPr id="14" name="Text 8"/>
          <p:cNvSpPr>
            <a:spLocks noGrp="1"/>
          </p:cNvSpPr>
          <p:nvPr/>
        </p:nvSpPr>
        <p:spPr>
          <a:xfrm>
            <a:off x="990600" y="4225603"/>
            <a:ext cx="4572000" cy="153670"/>
          </a:xfrm>
          <a:prstGeom prst="rect">
            <a:avLst/>
          </a:prstGeom>
          <a:noFill/>
        </p:spPr>
        <p:txBody>
          <a:bodyPr wrap="square" lIns="0" tIns="0" rIns="0" bIns="0" anchor="t">
            <a:spAutoFit/>
          </a:bodyPr>
          <a:lstStyle/>
          <a:p>
            <a:pPr marL="0" indent="0" algn="l">
              <a:buNone/>
            </a:pPr>
            <a:r>
              <a:rPr sz="1000" b="1" spc="1">
                <a:solidFill>
                  <a:srgbClr val="00D4FF"/>
                </a:solidFill>
                <a:latin typeface="Arial" panose="020B0604020202020204"/>
                <a:ea typeface="Arial" panose="020B0604020202020204"/>
                <a:cs typeface="Arial" panose="020B0604020202020204"/>
              </a:rPr>
              <a:t>REVERSIBLE WITHOUT A SECRET</a:t>
            </a:r>
            <a:endParaRPr sz="1000"/>
          </a:p>
        </p:txBody>
      </p:sp>
      <p:sp>
        <p:nvSpPr>
          <p:cNvPr id="15" name="Text 9"/>
          <p:cNvSpPr>
            <a:spLocks noGrp="1"/>
          </p:cNvSpPr>
          <p:nvPr/>
        </p:nvSpPr>
        <p:spPr>
          <a:xfrm>
            <a:off x="6629400" y="2993752"/>
            <a:ext cx="4572000" cy="133350"/>
          </a:xfrm>
          <a:prstGeom prst="rect">
            <a:avLst/>
          </a:prstGeom>
          <a:noFill/>
        </p:spPr>
        <p:txBody>
          <a:bodyPr wrap="square" lIns="0" tIns="0" rIns="0" bIns="0" anchor="t">
            <a:spAutoFit/>
          </a:bodyPr>
          <a:lstStyle/>
          <a:p>
            <a:pPr marL="0" indent="0" algn="l">
              <a:buNone/>
            </a:pPr>
            <a:r>
              <a:rPr sz="865" b="1" spc="2">
                <a:solidFill>
                  <a:srgbClr val="FF6B1A"/>
                </a:solidFill>
                <a:latin typeface="Arial" panose="020B0604020202020204"/>
                <a:ea typeface="Arial" panose="020B0604020202020204"/>
                <a:cs typeface="Arial" panose="020B0604020202020204"/>
              </a:rPr>
              <a:t>COMPARE WITH</a:t>
            </a:r>
            <a:endParaRPr sz="865"/>
          </a:p>
        </p:txBody>
      </p:sp>
      <p:sp>
        <p:nvSpPr>
          <p:cNvPr id="16" name="Text 10"/>
          <p:cNvSpPr>
            <a:spLocks noGrp="1"/>
          </p:cNvSpPr>
          <p:nvPr/>
        </p:nvSpPr>
        <p:spPr>
          <a:xfrm>
            <a:off x="6629400" y="3236640"/>
            <a:ext cx="4572000" cy="317500"/>
          </a:xfrm>
          <a:prstGeom prst="rect">
            <a:avLst/>
          </a:prstGeom>
          <a:noFill/>
        </p:spPr>
        <p:txBody>
          <a:bodyPr wrap="square" lIns="0" tIns="0" rIns="0" bIns="0" anchor="t">
            <a:spAutoFit/>
          </a:bodyPr>
          <a:lstStyle/>
          <a:p>
            <a:pPr marL="0" indent="0" algn="l">
              <a:buNone/>
            </a:pPr>
            <a:r>
              <a:rPr sz="2065" b="1">
                <a:solidFill>
                  <a:srgbClr val="FFFFFF"/>
                </a:solidFill>
                <a:latin typeface="Arial" panose="020B0604020202020204"/>
                <a:ea typeface="Arial" panose="020B0604020202020204"/>
                <a:cs typeface="Arial" panose="020B0604020202020204"/>
              </a:rPr>
              <a:t>Encryption + Hashing</a:t>
            </a:r>
            <a:endParaRPr sz="2065"/>
          </a:p>
        </p:txBody>
      </p:sp>
      <p:sp>
        <p:nvSpPr>
          <p:cNvPr id="17" name="Text 11"/>
          <p:cNvSpPr>
            <a:spLocks noGrp="1"/>
          </p:cNvSpPr>
          <p:nvPr/>
        </p:nvSpPr>
        <p:spPr>
          <a:xfrm>
            <a:off x="6629400" y="3679552"/>
            <a:ext cx="4102100" cy="226060"/>
          </a:xfrm>
          <a:prstGeom prst="rect">
            <a:avLst/>
          </a:prstGeom>
          <a:noFill/>
        </p:spPr>
        <p:txBody>
          <a:bodyPr wrap="none" lIns="0" tIns="0" rIns="0" bIns="0" anchor="t">
            <a:spAutoFit/>
          </a:bodyPr>
          <a:lstStyle/>
          <a:p>
            <a:pPr marL="0" indent="0" algn="l">
              <a:lnSpc>
                <a:spcPct val="110000"/>
              </a:lnSpc>
              <a:buNone/>
            </a:pPr>
            <a:r>
              <a:rPr sz="1335">
                <a:solidFill>
                  <a:srgbClr val="B4BDCA"/>
                </a:solidFill>
                <a:latin typeface="Arial" panose="020B0604020202020204"/>
                <a:ea typeface="Arial" panose="020B0604020202020204"/>
                <a:cs typeface="Arial" panose="020B0604020202020204"/>
              </a:rPr>
              <a:t>Encryption protects with a key; hashing creates a one-way fingerprint.</a:t>
            </a:r>
            <a:endParaRPr sz="1335"/>
          </a:p>
        </p:txBody>
      </p:sp>
      <p:sp>
        <p:nvSpPr>
          <p:cNvPr id="18" name="Text 12"/>
          <p:cNvSpPr>
            <a:spLocks noGrp="1"/>
          </p:cNvSpPr>
          <p:nvPr/>
        </p:nvSpPr>
        <p:spPr>
          <a:xfrm>
            <a:off x="6629400" y="4100736"/>
            <a:ext cx="4572000" cy="153670"/>
          </a:xfrm>
          <a:prstGeom prst="rect">
            <a:avLst/>
          </a:prstGeom>
          <a:noFill/>
        </p:spPr>
        <p:txBody>
          <a:bodyPr wrap="square" lIns="0" tIns="0" rIns="0" bIns="0" anchor="t">
            <a:spAutoFit/>
          </a:bodyPr>
          <a:lstStyle/>
          <a:p>
            <a:pPr marL="0" indent="0" algn="l">
              <a:buNone/>
            </a:pPr>
            <a:r>
              <a:rPr sz="1000" b="1" spc="1">
                <a:solidFill>
                  <a:srgbClr val="00D4FF"/>
                </a:solidFill>
                <a:latin typeface="Arial" panose="020B0604020202020204"/>
                <a:ea typeface="Arial" panose="020B0604020202020204"/>
                <a:cs typeface="Arial" panose="020B0604020202020204"/>
              </a:rPr>
              <a:t>CONFIDENTIALITY + INTEGRITY</a:t>
            </a:r>
            <a:endParaRPr sz="1000"/>
          </a:p>
        </p:txBody>
      </p:sp>
      <p:sp>
        <p:nvSpPr>
          <p:cNvPr id="19" name="Text 13"/>
          <p:cNvSpPr>
            <a:spLocks noGrp="1"/>
          </p:cNvSpPr>
          <p:nvPr/>
        </p:nvSpPr>
        <p:spPr>
          <a:xfrm>
            <a:off x="990600" y="4680719"/>
            <a:ext cx="10210800" cy="382270"/>
          </a:xfrm>
          <a:prstGeom prst="rect">
            <a:avLst/>
          </a:prstGeom>
          <a:noFill/>
        </p:spPr>
        <p:txBody>
          <a:bodyPr wrap="square" lIns="0" tIns="249428" rIns="0" bIns="0" anchor="t">
            <a:spAutoFit/>
          </a:bodyPr>
          <a:lstStyle/>
          <a:p>
            <a:pPr marL="0" indent="0" algn="l">
              <a:buNone/>
            </a:pPr>
            <a:r>
              <a:rPr sz="865" b="1" spc="2">
                <a:solidFill>
                  <a:srgbClr val="8A93A8"/>
                </a:solidFill>
                <a:latin typeface="Arial" panose="020B0604020202020204"/>
                <a:ea typeface="Arial" panose="020B0604020202020204"/>
                <a:cs typeface="Arial" panose="020B0604020202020204"/>
              </a:rPr>
              <a:t>THE SIGNALS YOU WILL LEARN TO RECOGNIZE</a:t>
            </a:r>
            <a:endParaRPr sz="865"/>
          </a:p>
        </p:txBody>
      </p:sp>
      <p:sp>
        <p:nvSpPr>
          <p:cNvPr id="20" name="Text 14"/>
          <p:cNvSpPr>
            <a:spLocks noGrp="1"/>
          </p:cNvSpPr>
          <p:nvPr/>
        </p:nvSpPr>
        <p:spPr>
          <a:xfrm>
            <a:off x="1710958" y="5421288"/>
            <a:ext cx="251460" cy="184150"/>
          </a:xfrm>
          <a:prstGeom prst="rect">
            <a:avLst/>
          </a:prstGeom>
          <a:noFill/>
        </p:spPr>
        <p:txBody>
          <a:bodyPr wrap="none" lIns="0" tIns="0" rIns="0" bIns="0" anchor="t">
            <a:spAutoFit/>
          </a:bodyPr>
          <a:lstStyle/>
          <a:p>
            <a:pPr marL="0" indent="0" algn="ctr">
              <a:buNone/>
            </a:pPr>
            <a:r>
              <a:rPr sz="1200" b="1">
                <a:solidFill>
                  <a:srgbClr val="00D4FF"/>
                </a:solidFill>
                <a:latin typeface="Consolas" panose="020B0609020204030204"/>
                <a:ea typeface="Consolas" panose="020B0609020204030204"/>
                <a:cs typeface="Consolas" panose="020B0609020204030204"/>
              </a:rPr>
              <a:t>ASCII</a:t>
            </a:r>
            <a:endParaRPr sz="1200"/>
          </a:p>
        </p:txBody>
      </p:sp>
      <p:sp>
        <p:nvSpPr>
          <p:cNvPr id="21" name="Text 15"/>
          <p:cNvSpPr>
            <a:spLocks noGrp="1"/>
          </p:cNvSpPr>
          <p:nvPr/>
        </p:nvSpPr>
        <p:spPr>
          <a:xfrm>
            <a:off x="1706233" y="5683225"/>
            <a:ext cx="260985" cy="153670"/>
          </a:xfrm>
          <a:prstGeom prst="rect">
            <a:avLst/>
          </a:prstGeom>
          <a:noFill/>
        </p:spPr>
        <p:txBody>
          <a:bodyPr wrap="none" lIns="0" tIns="0" rIns="0" bIns="0" anchor="t">
            <a:spAutoFit/>
          </a:bodyPr>
          <a:lstStyle/>
          <a:p>
            <a:pPr marL="0" indent="0" algn="ctr">
              <a:buNone/>
            </a:pPr>
            <a:r>
              <a:rPr sz="1000">
                <a:solidFill>
                  <a:srgbClr val="D9E1EB"/>
                </a:solidFill>
                <a:latin typeface="Arial" panose="020B0604020202020204"/>
                <a:ea typeface="Arial" panose="020B0604020202020204"/>
                <a:cs typeface="Arial" panose="020B0604020202020204"/>
              </a:rPr>
              <a:t>Characters</a:t>
            </a:r>
            <a:endParaRPr sz="1000"/>
          </a:p>
        </p:txBody>
      </p:sp>
      <p:sp>
        <p:nvSpPr>
          <p:cNvPr id="22" name="Text 16"/>
          <p:cNvSpPr>
            <a:spLocks noGrp="1"/>
          </p:cNvSpPr>
          <p:nvPr/>
        </p:nvSpPr>
        <p:spPr>
          <a:xfrm>
            <a:off x="3287003" y="5421288"/>
            <a:ext cx="502920" cy="184150"/>
          </a:xfrm>
          <a:prstGeom prst="rect">
            <a:avLst/>
          </a:prstGeom>
          <a:noFill/>
        </p:spPr>
        <p:txBody>
          <a:bodyPr wrap="none" lIns="0" tIns="0" rIns="0" bIns="0" anchor="t">
            <a:spAutoFit/>
          </a:bodyPr>
          <a:lstStyle/>
          <a:p>
            <a:pPr marL="0" indent="0" algn="ctr">
              <a:buNone/>
            </a:pPr>
            <a:r>
              <a:rPr sz="1200" b="1">
                <a:solidFill>
                  <a:srgbClr val="00D4FF"/>
                </a:solidFill>
                <a:latin typeface="Consolas" panose="020B0609020204030204"/>
                <a:ea typeface="Consolas" panose="020B0609020204030204"/>
                <a:cs typeface="Consolas" panose="020B0609020204030204"/>
              </a:rPr>
              <a:t>HEX</a:t>
            </a:r>
            <a:endParaRPr sz="1200"/>
          </a:p>
        </p:txBody>
      </p:sp>
      <p:sp>
        <p:nvSpPr>
          <p:cNvPr id="23" name="Text 17"/>
          <p:cNvSpPr>
            <a:spLocks noGrp="1"/>
          </p:cNvSpPr>
          <p:nvPr/>
        </p:nvSpPr>
        <p:spPr>
          <a:xfrm>
            <a:off x="3351455" y="5683225"/>
            <a:ext cx="374015" cy="153670"/>
          </a:xfrm>
          <a:prstGeom prst="rect">
            <a:avLst/>
          </a:prstGeom>
          <a:noFill/>
        </p:spPr>
        <p:txBody>
          <a:bodyPr wrap="none" lIns="0" tIns="0" rIns="0" bIns="0" anchor="t">
            <a:spAutoFit/>
          </a:bodyPr>
          <a:lstStyle/>
          <a:p>
            <a:pPr marL="0" indent="0" algn="ctr">
              <a:buNone/>
            </a:pPr>
            <a:r>
              <a:rPr sz="1000">
                <a:solidFill>
                  <a:srgbClr val="D9E1EB"/>
                </a:solidFill>
                <a:latin typeface="Arial" panose="020B0604020202020204"/>
                <a:ea typeface="Arial" panose="020B0604020202020204"/>
                <a:cs typeface="Arial" panose="020B0604020202020204"/>
              </a:rPr>
              <a:t>0–9 + A–F</a:t>
            </a:r>
            <a:endParaRPr sz="1000"/>
          </a:p>
        </p:txBody>
      </p:sp>
      <p:sp>
        <p:nvSpPr>
          <p:cNvPr id="24" name="Text 18"/>
          <p:cNvSpPr>
            <a:spLocks noGrp="1"/>
          </p:cNvSpPr>
          <p:nvPr/>
        </p:nvSpPr>
        <p:spPr>
          <a:xfrm>
            <a:off x="4863122" y="5421288"/>
            <a:ext cx="754380" cy="184150"/>
          </a:xfrm>
          <a:prstGeom prst="rect">
            <a:avLst/>
          </a:prstGeom>
          <a:noFill/>
        </p:spPr>
        <p:txBody>
          <a:bodyPr wrap="none" lIns="0" tIns="0" rIns="0" bIns="0" anchor="t">
            <a:spAutoFit/>
          </a:bodyPr>
          <a:lstStyle/>
          <a:p>
            <a:pPr marL="0" indent="0" algn="ctr">
              <a:buNone/>
            </a:pPr>
            <a:r>
              <a:rPr sz="1200" b="1">
                <a:solidFill>
                  <a:srgbClr val="00D4FF"/>
                </a:solidFill>
                <a:latin typeface="Consolas" panose="020B0609020204030204"/>
                <a:ea typeface="Consolas" panose="020B0609020204030204"/>
                <a:cs typeface="Consolas" panose="020B0609020204030204"/>
              </a:rPr>
              <a:t>BASE64</a:t>
            </a:r>
            <a:endParaRPr sz="1200"/>
          </a:p>
        </p:txBody>
      </p:sp>
      <p:sp>
        <p:nvSpPr>
          <p:cNvPr id="25" name="Text 19"/>
          <p:cNvSpPr>
            <a:spLocks noGrp="1"/>
          </p:cNvSpPr>
          <p:nvPr/>
        </p:nvSpPr>
        <p:spPr>
          <a:xfrm>
            <a:off x="4965357" y="5683225"/>
            <a:ext cx="549910" cy="153670"/>
          </a:xfrm>
          <a:prstGeom prst="rect">
            <a:avLst/>
          </a:prstGeom>
          <a:noFill/>
        </p:spPr>
        <p:txBody>
          <a:bodyPr wrap="none" lIns="0" tIns="0" rIns="0" bIns="0" anchor="t">
            <a:spAutoFit/>
          </a:bodyPr>
          <a:lstStyle/>
          <a:p>
            <a:pPr marL="0" indent="0" algn="ctr">
              <a:buNone/>
            </a:pPr>
            <a:r>
              <a:rPr sz="1000">
                <a:solidFill>
                  <a:srgbClr val="D9E1EB"/>
                </a:solidFill>
                <a:latin typeface="Arial" panose="020B0604020202020204"/>
                <a:ea typeface="Arial" panose="020B0604020202020204"/>
                <a:cs typeface="Arial" panose="020B0604020202020204"/>
              </a:rPr>
              <a:t>Often ends with =</a:t>
            </a:r>
            <a:endParaRPr sz="1000"/>
          </a:p>
        </p:txBody>
      </p:sp>
      <p:sp>
        <p:nvSpPr>
          <p:cNvPr id="26" name="Text 20"/>
          <p:cNvSpPr>
            <a:spLocks noGrp="1"/>
          </p:cNvSpPr>
          <p:nvPr/>
        </p:nvSpPr>
        <p:spPr>
          <a:xfrm>
            <a:off x="6858268" y="5421288"/>
            <a:ext cx="167640" cy="184150"/>
          </a:xfrm>
          <a:prstGeom prst="rect">
            <a:avLst/>
          </a:prstGeom>
          <a:noFill/>
        </p:spPr>
        <p:txBody>
          <a:bodyPr wrap="none" lIns="0" tIns="0" rIns="0" bIns="0" anchor="t">
            <a:spAutoFit/>
          </a:bodyPr>
          <a:lstStyle/>
          <a:p>
            <a:pPr marL="0" indent="0" algn="ctr">
              <a:buNone/>
            </a:pPr>
            <a:r>
              <a:rPr sz="1200" b="1">
                <a:solidFill>
                  <a:srgbClr val="00D4FF"/>
                </a:solidFill>
                <a:latin typeface="Consolas" panose="020B0609020204030204"/>
                <a:ea typeface="Consolas" panose="020B0609020204030204"/>
                <a:cs typeface="Consolas" panose="020B0609020204030204"/>
              </a:rPr>
              <a:t>URL</a:t>
            </a:r>
            <a:endParaRPr sz="1200"/>
          </a:p>
        </p:txBody>
      </p:sp>
      <p:sp>
        <p:nvSpPr>
          <p:cNvPr id="27" name="Text 21"/>
          <p:cNvSpPr>
            <a:spLocks noGrp="1"/>
          </p:cNvSpPr>
          <p:nvPr/>
        </p:nvSpPr>
        <p:spPr>
          <a:xfrm>
            <a:off x="6349950" y="5683225"/>
            <a:ext cx="1184275" cy="153670"/>
          </a:xfrm>
          <a:prstGeom prst="rect">
            <a:avLst/>
          </a:prstGeom>
          <a:noFill/>
        </p:spPr>
        <p:txBody>
          <a:bodyPr wrap="none" lIns="0" tIns="0" rIns="0" bIns="0" anchor="t">
            <a:spAutoFit/>
          </a:bodyPr>
          <a:lstStyle/>
          <a:p>
            <a:pPr marL="0" indent="0" algn="ctr">
              <a:buNone/>
            </a:pPr>
            <a:r>
              <a:rPr sz="1000">
                <a:solidFill>
                  <a:srgbClr val="D9E1EB"/>
                </a:solidFill>
                <a:latin typeface="Arial" panose="020B0604020202020204"/>
                <a:ea typeface="Arial" panose="020B0604020202020204"/>
                <a:cs typeface="Arial" panose="020B0604020202020204"/>
              </a:rPr>
              <a:t>%20 style</a:t>
            </a:r>
            <a:endParaRPr sz="1000"/>
          </a:p>
        </p:txBody>
      </p:sp>
      <p:sp>
        <p:nvSpPr>
          <p:cNvPr id="28" name="Text 22"/>
          <p:cNvSpPr>
            <a:spLocks noGrp="1"/>
          </p:cNvSpPr>
          <p:nvPr/>
        </p:nvSpPr>
        <p:spPr>
          <a:xfrm>
            <a:off x="8518133" y="5421288"/>
            <a:ext cx="251460" cy="184150"/>
          </a:xfrm>
          <a:prstGeom prst="rect">
            <a:avLst/>
          </a:prstGeom>
          <a:noFill/>
        </p:spPr>
        <p:txBody>
          <a:bodyPr wrap="none" lIns="0" tIns="0" rIns="0" bIns="0" anchor="t">
            <a:spAutoFit/>
          </a:bodyPr>
          <a:lstStyle/>
          <a:p>
            <a:pPr marL="0" indent="0" algn="ctr">
              <a:buNone/>
            </a:pPr>
            <a:r>
              <a:rPr sz="1200" b="1">
                <a:solidFill>
                  <a:srgbClr val="00D4FF"/>
                </a:solidFill>
                <a:latin typeface="Consolas" panose="020B0609020204030204"/>
                <a:ea typeface="Consolas" panose="020B0609020204030204"/>
                <a:cs typeface="Consolas" panose="020B0609020204030204"/>
              </a:rPr>
              <a:t>ROT13</a:t>
            </a:r>
            <a:endParaRPr sz="1200"/>
          </a:p>
        </p:txBody>
      </p:sp>
      <p:sp>
        <p:nvSpPr>
          <p:cNvPr id="29" name="Text 23"/>
          <p:cNvSpPr>
            <a:spLocks noGrp="1"/>
          </p:cNvSpPr>
          <p:nvPr/>
        </p:nvSpPr>
        <p:spPr>
          <a:xfrm>
            <a:off x="8118718" y="5683225"/>
            <a:ext cx="1050290" cy="153670"/>
          </a:xfrm>
          <a:prstGeom prst="rect">
            <a:avLst/>
          </a:prstGeom>
          <a:noFill/>
        </p:spPr>
        <p:txBody>
          <a:bodyPr wrap="none" lIns="0" tIns="0" rIns="0" bIns="0" anchor="t">
            <a:spAutoFit/>
          </a:bodyPr>
          <a:lstStyle/>
          <a:p>
            <a:pPr marL="0" indent="0" algn="ctr">
              <a:buNone/>
            </a:pPr>
            <a:r>
              <a:rPr sz="1000">
                <a:solidFill>
                  <a:srgbClr val="D9E1EB"/>
                </a:solidFill>
                <a:latin typeface="Arial" panose="020B0604020202020204"/>
                <a:ea typeface="Arial" panose="020B0604020202020204"/>
                <a:cs typeface="Arial" panose="020B0604020202020204"/>
              </a:rPr>
              <a:t>Letter shift</a:t>
            </a:r>
            <a:endParaRPr sz="1000"/>
          </a:p>
        </p:txBody>
      </p:sp>
      <p:sp>
        <p:nvSpPr>
          <p:cNvPr id="30" name="Text 24"/>
          <p:cNvSpPr>
            <a:spLocks noGrp="1"/>
          </p:cNvSpPr>
          <p:nvPr/>
        </p:nvSpPr>
        <p:spPr>
          <a:xfrm>
            <a:off x="10140925" y="5421288"/>
            <a:ext cx="419100" cy="184150"/>
          </a:xfrm>
          <a:prstGeom prst="rect">
            <a:avLst/>
          </a:prstGeom>
          <a:noFill/>
        </p:spPr>
        <p:txBody>
          <a:bodyPr wrap="none" lIns="0" tIns="0" rIns="0" bIns="0" anchor="t">
            <a:spAutoFit/>
          </a:bodyPr>
          <a:lstStyle/>
          <a:p>
            <a:pPr marL="0" indent="0" algn="ctr">
              <a:buNone/>
            </a:pPr>
            <a:r>
              <a:rPr sz="1200" b="1">
                <a:solidFill>
                  <a:srgbClr val="00D4FF"/>
                </a:solidFill>
                <a:latin typeface="Consolas" panose="020B0609020204030204"/>
                <a:ea typeface="Consolas" panose="020B0609020204030204"/>
                <a:cs typeface="Consolas" panose="020B0609020204030204"/>
              </a:rPr>
              <a:t>HASH</a:t>
            </a:r>
            <a:endParaRPr sz="1200"/>
          </a:p>
        </p:txBody>
      </p:sp>
      <p:sp>
        <p:nvSpPr>
          <p:cNvPr id="31" name="Text 25"/>
          <p:cNvSpPr>
            <a:spLocks noGrp="1"/>
          </p:cNvSpPr>
          <p:nvPr/>
        </p:nvSpPr>
        <p:spPr>
          <a:xfrm>
            <a:off x="9835173" y="5683225"/>
            <a:ext cx="1030605" cy="153670"/>
          </a:xfrm>
          <a:prstGeom prst="rect">
            <a:avLst/>
          </a:prstGeom>
          <a:noFill/>
        </p:spPr>
        <p:txBody>
          <a:bodyPr wrap="none" lIns="0" tIns="0" rIns="0" bIns="0" anchor="t">
            <a:spAutoFit/>
          </a:bodyPr>
          <a:lstStyle/>
          <a:p>
            <a:pPr marL="0" indent="0" algn="ctr">
              <a:buNone/>
            </a:pPr>
            <a:r>
              <a:rPr sz="1000">
                <a:solidFill>
                  <a:srgbClr val="D9E1EB"/>
                </a:solidFill>
                <a:latin typeface="Arial" panose="020B0604020202020204"/>
                <a:ea typeface="Arial" panose="020B0604020202020204"/>
                <a:cs typeface="Arial" panose="020B0604020202020204"/>
              </a:rPr>
              <a:t>Fixed-length digest</a:t>
            </a:r>
            <a:endParaRPr sz="1000"/>
          </a:p>
        </p:txBody>
      </p:sp>
      <p:sp>
        <p:nvSpPr>
          <p:cNvPr id="32" name="Shape 26"/>
          <p:cNvSpPr>
            <a:spLocks noGrp="1"/>
          </p:cNvSpPr>
          <p:nvPr/>
        </p:nvSpPr>
        <p:spPr>
          <a:xfrm>
            <a:off x="723900" y="6172200"/>
            <a:ext cx="10744200" cy="685800"/>
          </a:xfrm>
          <a:prstGeom prst="rect">
            <a:avLst/>
          </a:prstGeom>
          <a:solidFill>
            <a:srgbClr val="000000">
              <a:alpha val="0"/>
            </a:srgbClr>
          </a:solidFill>
        </p:spPr>
      </p:sp>
      <p:sp>
        <p:nvSpPr>
          <p:cNvPr id="33" name="Shape 27"/>
          <p:cNvSpPr>
            <a:spLocks noGrp="1"/>
          </p:cNvSpPr>
          <p:nvPr/>
        </p:nvSpPr>
        <p:spPr>
          <a:xfrm>
            <a:off x="723900" y="6172200"/>
            <a:ext cx="10744200" cy="9525"/>
          </a:xfrm>
          <a:prstGeom prst="rect">
            <a:avLst/>
          </a:prstGeom>
          <a:solidFill>
            <a:srgbClr val="FFFFFF"/>
          </a:solidFill>
        </p:spPr>
      </p:sp>
      <p:sp>
        <p:nvSpPr>
          <p:cNvPr id="34" name="Text 28"/>
          <p:cNvSpPr>
            <a:spLocks noGrp="1"/>
          </p:cNvSpPr>
          <p:nvPr/>
        </p:nvSpPr>
        <p:spPr>
          <a:xfrm>
            <a:off x="723900" y="6172200"/>
            <a:ext cx="10744200" cy="357505"/>
          </a:xfrm>
          <a:prstGeom prst="rect">
            <a:avLst/>
          </a:prstGeom>
          <a:noFill/>
        </p:spPr>
        <p:txBody>
          <a:bodyPr wrap="square" lIns="0" tIns="204046" rIns="0" bIns="0" anchor="t">
            <a:spAutoFit/>
          </a:bodyPr>
          <a:lstStyle/>
          <a:p>
            <a:pPr marL="0" indent="0" algn="l">
              <a:buNone/>
            </a:pPr>
            <a:r>
              <a:rPr sz="1000">
                <a:solidFill>
                  <a:srgbClr val="768197"/>
                </a:solidFill>
                <a:latin typeface="Arial" panose="020B0604020202020204"/>
                <a:ea typeface="Arial" panose="020B0604020202020204"/>
                <a:cs typeface="Arial" panose="020B0604020202020204"/>
              </a:rPr>
              <a:t>0:08–0:25</a:t>
            </a:r>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8"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31" name="Image 1"/>
          <p:cNvPicPr>
            <a:picLocks noChangeAspect="1"/>
          </p:cNvPicPr>
          <p:nvPr/>
        </p:nvPicPr>
        <p:blipFill>
          <a:blip r:embed="rId2"/>
          <a:stretch>
            <a:fillRect/>
          </a:stretch>
        </p:blipFill>
        <p:spPr>
          <a:xfrm>
            <a:off x="723900" y="190500"/>
            <a:ext cx="590551" cy="590551"/>
          </a:xfrm>
          <a:prstGeom prst="rect">
            <a:avLst/>
          </a:prstGeom>
        </p:spPr>
      </p:pic>
      <p:pic>
        <p:nvPicPr>
          <p:cNvPr id="32"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4892501" y="971551"/>
            <a:ext cx="2406923" cy="541020"/>
          </a:xfrm>
          <a:prstGeom prst="rect">
            <a:avLst/>
          </a:prstGeom>
          <a:noFill/>
        </p:spPr>
        <p:txBody>
          <a:bodyPr wrap="square" lIns="0" tIns="396917" rIns="0" bIns="0" anchor="t">
            <a:spAutoFit/>
          </a:bodyPr>
          <a:lstStyle/>
          <a:p>
            <a:pPr marL="0" indent="0" algn="ctr">
              <a:buNone/>
            </a:pPr>
            <a:r>
              <a:rPr sz="935" b="1" spc="2">
                <a:solidFill>
                  <a:srgbClr val="FF6B1A"/>
                </a:solidFill>
                <a:latin typeface="Arial" panose="020B0604020202020204"/>
                <a:ea typeface="Arial" panose="020B0604020202020204"/>
                <a:cs typeface="Arial" panose="020B0604020202020204"/>
              </a:rPr>
              <a:t>THE BIG DISTINCTION</a:t>
            </a:r>
            <a:endParaRPr sz="935"/>
          </a:p>
        </p:txBody>
      </p:sp>
      <p:sp>
        <p:nvSpPr>
          <p:cNvPr id="9" name="Text 3"/>
          <p:cNvSpPr>
            <a:spLocks noGrp="1"/>
          </p:cNvSpPr>
          <p:nvPr/>
        </p:nvSpPr>
        <p:spPr>
          <a:xfrm>
            <a:off x="2936520" y="1543051"/>
            <a:ext cx="6318885" cy="442595"/>
          </a:xfrm>
          <a:prstGeom prst="rect">
            <a:avLst/>
          </a:prstGeom>
          <a:noFill/>
        </p:spPr>
        <p:txBody>
          <a:bodyPr wrap="none" lIns="0" tIns="0" rIns="0" bIns="0" anchor="t">
            <a:spAutoFit/>
          </a:bodyPr>
          <a:lstStyle/>
          <a:p>
            <a:pPr marL="0" indent="0" algn="ctr">
              <a:lnSpc>
                <a:spcPct val="83000"/>
              </a:lnSpc>
              <a:buNone/>
            </a:pPr>
            <a:r>
              <a:rPr sz="3465" b="1" spc="-1">
                <a:solidFill>
                  <a:srgbClr val="FFFFFF"/>
                </a:solidFill>
                <a:latin typeface="Arial" panose="020B0604020202020204"/>
                <a:ea typeface="Arial" panose="020B0604020202020204"/>
                <a:cs typeface="Arial" panose="020B0604020202020204"/>
              </a:rPr>
              <a:t>Three operations. Three purposes.</a:t>
            </a:r>
            <a:endParaRPr sz="3465"/>
          </a:p>
        </p:txBody>
      </p:sp>
      <p:sp>
        <p:nvSpPr>
          <p:cNvPr id="10" name="Text 4"/>
          <p:cNvSpPr>
            <a:spLocks noGrp="1"/>
          </p:cNvSpPr>
          <p:nvPr/>
        </p:nvSpPr>
        <p:spPr>
          <a:xfrm>
            <a:off x="3686547" y="2143497"/>
            <a:ext cx="4818832" cy="205740"/>
          </a:xfrm>
          <a:prstGeom prst="rect">
            <a:avLst/>
          </a:prstGeom>
          <a:noFill/>
        </p:spPr>
        <p:txBody>
          <a:bodyPr wrap="square" lIns="0" tIns="0" rIns="0" bIns="0" anchor="t">
            <a:spAutoFit/>
          </a:bodyPr>
          <a:lstStyle/>
          <a:p>
            <a:pPr marL="0" indent="0" algn="ctr">
              <a:buNone/>
            </a:pPr>
            <a:r>
              <a:rPr sz="1335">
                <a:solidFill>
                  <a:srgbClr val="A5B0C3"/>
                </a:solidFill>
                <a:latin typeface="Arial" panose="020B0604020202020204"/>
                <a:ea typeface="Arial" panose="020B0604020202020204"/>
                <a:cs typeface="Arial" panose="020B0604020202020204"/>
              </a:rPr>
              <a:t>Ask: can it be reversed, and does it need a key?</a:t>
            </a:r>
            <a:endParaRPr sz="1335"/>
          </a:p>
        </p:txBody>
      </p:sp>
      <p:sp>
        <p:nvSpPr>
          <p:cNvPr id="11" name="Text 5"/>
          <p:cNvSpPr>
            <a:spLocks noGrp="1"/>
          </p:cNvSpPr>
          <p:nvPr/>
        </p:nvSpPr>
        <p:spPr>
          <a:xfrm>
            <a:off x="2698749" y="3094092"/>
            <a:ext cx="88900" cy="194310"/>
          </a:xfrm>
          <a:prstGeom prst="rect">
            <a:avLst/>
          </a:prstGeom>
          <a:noFill/>
        </p:spPr>
        <p:txBody>
          <a:bodyPr wrap="none" lIns="0" tIns="0" rIns="0" bIns="0" anchor="ctr">
            <a:spAutoFit/>
          </a:bodyPr>
          <a:lstStyle/>
          <a:p>
            <a:pPr marL="0" indent="0" algn="ctr">
              <a:buNone/>
            </a:pPr>
            <a:r>
              <a:rPr sz="1265" b="1">
                <a:solidFill>
                  <a:srgbClr val="FF6B1A"/>
                </a:solidFill>
                <a:latin typeface="Consolas" panose="020B0609020204030204"/>
                <a:ea typeface="Consolas" panose="020B0609020204030204"/>
                <a:cs typeface="Consolas" panose="020B0609020204030204"/>
              </a:rPr>
              <a:t>01</a:t>
            </a:r>
            <a:endParaRPr sz="1265"/>
          </a:p>
        </p:txBody>
      </p:sp>
      <p:sp>
        <p:nvSpPr>
          <p:cNvPr id="12" name="Text 6"/>
          <p:cNvSpPr>
            <a:spLocks noGrp="1"/>
          </p:cNvSpPr>
          <p:nvPr/>
        </p:nvSpPr>
        <p:spPr>
          <a:xfrm>
            <a:off x="2034185" y="3443660"/>
            <a:ext cx="1417955" cy="205740"/>
          </a:xfrm>
          <a:prstGeom prst="rect">
            <a:avLst/>
          </a:prstGeom>
          <a:noFill/>
        </p:spPr>
        <p:txBody>
          <a:bodyPr wrap="none" lIns="0" tIns="0" rIns="0" bIns="0" anchor="t">
            <a:spAutoFit/>
          </a:bodyPr>
          <a:lstStyle/>
          <a:p>
            <a:pPr marL="0" indent="0" algn="ctr">
              <a:lnSpc>
                <a:spcPct val="100000"/>
              </a:lnSpc>
              <a:buNone/>
            </a:pPr>
            <a:r>
              <a:rPr sz="1335" b="1">
                <a:solidFill>
                  <a:srgbClr val="FFFFFF"/>
                </a:solidFill>
                <a:latin typeface="Arial" panose="020B0604020202020204"/>
                <a:ea typeface="Arial" panose="020B0604020202020204"/>
                <a:cs typeface="Arial" panose="020B0604020202020204"/>
              </a:rPr>
              <a:t>Encoding changes representation</a:t>
            </a:r>
            <a:endParaRPr sz="1335"/>
          </a:p>
        </p:txBody>
      </p:sp>
      <p:sp>
        <p:nvSpPr>
          <p:cNvPr id="13" name="Text 7"/>
          <p:cNvSpPr>
            <a:spLocks noGrp="1"/>
          </p:cNvSpPr>
          <p:nvPr/>
        </p:nvSpPr>
        <p:spPr>
          <a:xfrm>
            <a:off x="6056312" y="2975030"/>
            <a:ext cx="88900" cy="194310"/>
          </a:xfrm>
          <a:prstGeom prst="rect">
            <a:avLst/>
          </a:prstGeom>
          <a:noFill/>
        </p:spPr>
        <p:txBody>
          <a:bodyPr wrap="none" lIns="0" tIns="0" rIns="0" bIns="0" anchor="ctr">
            <a:spAutoFit/>
          </a:bodyPr>
          <a:lstStyle/>
          <a:p>
            <a:pPr marL="0" indent="0" algn="ctr">
              <a:buNone/>
            </a:pPr>
            <a:r>
              <a:rPr sz="1265" b="1">
                <a:solidFill>
                  <a:srgbClr val="FF6B1A"/>
                </a:solidFill>
                <a:latin typeface="Consolas" panose="020B0609020204030204"/>
                <a:ea typeface="Consolas" panose="020B0609020204030204"/>
                <a:cs typeface="Consolas" panose="020B0609020204030204"/>
              </a:rPr>
              <a:t>02</a:t>
            </a:r>
            <a:endParaRPr sz="1265"/>
          </a:p>
        </p:txBody>
      </p:sp>
      <p:sp>
        <p:nvSpPr>
          <p:cNvPr id="14" name="Text 8"/>
          <p:cNvSpPr>
            <a:spLocks noGrp="1"/>
          </p:cNvSpPr>
          <p:nvPr/>
        </p:nvSpPr>
        <p:spPr>
          <a:xfrm>
            <a:off x="4919663" y="3324597"/>
            <a:ext cx="2362200" cy="411480"/>
          </a:xfrm>
          <a:prstGeom prst="rect">
            <a:avLst/>
          </a:prstGeom>
          <a:noFill/>
        </p:spPr>
        <p:txBody>
          <a:bodyPr wrap="square" lIns="0" tIns="0" rIns="0" bIns="0" anchor="t">
            <a:spAutoFit/>
          </a:bodyPr>
          <a:lstStyle/>
          <a:p>
            <a:pPr marL="0" indent="0" algn="ctr">
              <a:lnSpc>
                <a:spcPct val="100000"/>
              </a:lnSpc>
              <a:buNone/>
            </a:pPr>
            <a:r>
              <a:rPr sz="1335" b="1">
                <a:solidFill>
                  <a:srgbClr val="FFFFFF"/>
                </a:solidFill>
                <a:latin typeface="Arial" panose="020B0604020202020204"/>
                <a:ea typeface="Arial" panose="020B0604020202020204"/>
                <a:cs typeface="Arial" panose="020B0604020202020204"/>
              </a:rPr>
              <a:t>Encryption protects secrecy with a key</a:t>
            </a:r>
            <a:endParaRPr sz="1335"/>
          </a:p>
        </p:txBody>
      </p:sp>
      <p:sp>
        <p:nvSpPr>
          <p:cNvPr id="15" name="Text 9"/>
          <p:cNvSpPr>
            <a:spLocks noGrp="1"/>
          </p:cNvSpPr>
          <p:nvPr/>
        </p:nvSpPr>
        <p:spPr>
          <a:xfrm>
            <a:off x="9409112" y="2975030"/>
            <a:ext cx="88900" cy="194310"/>
          </a:xfrm>
          <a:prstGeom prst="rect">
            <a:avLst/>
          </a:prstGeom>
          <a:noFill/>
        </p:spPr>
        <p:txBody>
          <a:bodyPr wrap="none" lIns="0" tIns="0" rIns="0" bIns="0" anchor="ctr">
            <a:spAutoFit/>
          </a:bodyPr>
          <a:lstStyle/>
          <a:p>
            <a:pPr marL="0" indent="0" algn="ctr">
              <a:buNone/>
            </a:pPr>
            <a:r>
              <a:rPr sz="1265" b="1">
                <a:solidFill>
                  <a:srgbClr val="FF6B1A"/>
                </a:solidFill>
                <a:latin typeface="Consolas" panose="020B0609020204030204"/>
                <a:ea typeface="Consolas" panose="020B0609020204030204"/>
                <a:cs typeface="Consolas" panose="020B0609020204030204"/>
              </a:rPr>
              <a:t>03</a:t>
            </a:r>
            <a:endParaRPr sz="1265"/>
          </a:p>
        </p:txBody>
      </p:sp>
      <p:sp>
        <p:nvSpPr>
          <p:cNvPr id="16" name="Text 10"/>
          <p:cNvSpPr>
            <a:spLocks noGrp="1"/>
          </p:cNvSpPr>
          <p:nvPr/>
        </p:nvSpPr>
        <p:spPr>
          <a:xfrm>
            <a:off x="8272463" y="3324597"/>
            <a:ext cx="2362200" cy="406908"/>
          </a:xfrm>
          <a:prstGeom prst="rect">
            <a:avLst/>
          </a:prstGeom>
          <a:noFill/>
        </p:spPr>
        <p:txBody>
          <a:bodyPr wrap="square" lIns="0" tIns="0" rIns="0" bIns="0" anchor="t">
            <a:spAutoFit/>
          </a:bodyPr>
          <a:lstStyle/>
          <a:p>
            <a:pPr marL="0" indent="0" algn="ctr">
              <a:lnSpc>
                <a:spcPct val="100000"/>
              </a:lnSpc>
              <a:buNone/>
            </a:pPr>
            <a:r>
              <a:rPr sz="1335" b="1">
                <a:solidFill>
                  <a:srgbClr val="FFFFFF"/>
                </a:solidFill>
                <a:latin typeface="Arial" panose="020B0604020202020204"/>
                <a:ea typeface="Arial" panose="020B0604020202020204"/>
                <a:cs typeface="Arial" panose="020B0604020202020204"/>
              </a:rPr>
              <a:t>Hashing creates a one-way fingerprint</a:t>
            </a:r>
            <a:endParaRPr sz="1335"/>
          </a:p>
        </p:txBody>
      </p:sp>
      <p:sp>
        <p:nvSpPr>
          <p:cNvPr id="17" name="Shape 11"/>
          <p:cNvSpPr>
            <a:spLocks noGrp="1"/>
          </p:cNvSpPr>
          <p:nvPr/>
        </p:nvSpPr>
        <p:spPr>
          <a:xfrm>
            <a:off x="3295651" y="4386635"/>
            <a:ext cx="5600700" cy="866775"/>
          </a:xfrm>
          <a:prstGeom prst="rect">
            <a:avLst/>
          </a:prstGeom>
          <a:solidFill>
            <a:srgbClr val="00D4FF">
              <a:alpha val="6000"/>
            </a:srgbClr>
          </a:solidFill>
        </p:spPr>
      </p:sp>
      <p:sp>
        <p:nvSpPr>
          <p:cNvPr id="18" name="Shape 12"/>
          <p:cNvSpPr>
            <a:spLocks noGrp="1"/>
          </p:cNvSpPr>
          <p:nvPr/>
        </p:nvSpPr>
        <p:spPr>
          <a:xfrm>
            <a:off x="3295651" y="4386635"/>
            <a:ext cx="5600700" cy="9525"/>
          </a:xfrm>
          <a:prstGeom prst="rect">
            <a:avLst/>
          </a:prstGeom>
          <a:solidFill>
            <a:srgbClr val="26DAFF"/>
          </a:solidFill>
        </p:spPr>
      </p:sp>
      <p:sp>
        <p:nvSpPr>
          <p:cNvPr id="19" name="Shape 13"/>
          <p:cNvSpPr>
            <a:spLocks noGrp="1"/>
          </p:cNvSpPr>
          <p:nvPr/>
        </p:nvSpPr>
        <p:spPr>
          <a:xfrm>
            <a:off x="3295651" y="5243884"/>
            <a:ext cx="5600700" cy="9525"/>
          </a:xfrm>
          <a:prstGeom prst="rect">
            <a:avLst/>
          </a:prstGeom>
          <a:solidFill>
            <a:srgbClr val="26DAFF"/>
          </a:solidFill>
        </p:spPr>
      </p:sp>
      <p:sp>
        <p:nvSpPr>
          <p:cNvPr id="20" name="Text 14"/>
          <p:cNvSpPr>
            <a:spLocks noGrp="1"/>
          </p:cNvSpPr>
          <p:nvPr/>
        </p:nvSpPr>
        <p:spPr>
          <a:xfrm>
            <a:off x="3295651" y="4645714"/>
            <a:ext cx="5600700" cy="348615"/>
          </a:xfrm>
          <a:prstGeom prst="rect">
            <a:avLst/>
          </a:prstGeom>
          <a:noFill/>
        </p:spPr>
        <p:txBody>
          <a:bodyPr wrap="square" lIns="0" tIns="0" rIns="0" bIns="0" anchor="ctr">
            <a:spAutoFit/>
          </a:bodyPr>
          <a:lstStyle/>
          <a:p>
            <a:pPr marL="0" indent="0" algn="ctr">
              <a:buNone/>
            </a:pPr>
            <a:r>
              <a:rPr sz="2265" b="1" spc="1">
                <a:solidFill>
                  <a:srgbClr val="00D4FF"/>
                </a:solidFill>
                <a:latin typeface="Consolas" panose="020B0609020204030204"/>
                <a:ea typeface="Consolas" panose="020B0609020204030204"/>
                <a:cs typeface="Consolas" panose="020B0609020204030204"/>
              </a:rPr>
              <a:t>RklSRXtub3Rfc2VjcmV0fQ==</a:t>
            </a:r>
            <a:endParaRPr sz="2265"/>
          </a:p>
        </p:txBody>
      </p:sp>
      <p:sp>
        <p:nvSpPr>
          <p:cNvPr id="21" name="Text 15"/>
          <p:cNvSpPr>
            <a:spLocks noGrp="1"/>
          </p:cNvSpPr>
          <p:nvPr/>
        </p:nvSpPr>
        <p:spPr>
          <a:xfrm>
            <a:off x="3641080" y="5510584"/>
            <a:ext cx="4909765" cy="225425"/>
          </a:xfrm>
          <a:prstGeom prst="rect">
            <a:avLst/>
          </a:prstGeom>
          <a:noFill/>
        </p:spPr>
        <p:txBody>
          <a:bodyPr wrap="square" lIns="0" tIns="0" rIns="0" bIns="0" anchor="t">
            <a:spAutoFit/>
          </a:bodyPr>
          <a:lstStyle/>
          <a:p>
            <a:pPr marL="0" indent="0" algn="ctr">
              <a:buNone/>
            </a:pPr>
            <a:r>
              <a:rPr sz="1465" b="1">
                <a:solidFill>
                  <a:srgbClr val="00D4FF"/>
                </a:solidFill>
                <a:latin typeface="Arial" panose="020B0604020202020204"/>
                <a:ea typeface="Arial" panose="020B0604020202020204"/>
                <a:cs typeface="Arial" panose="020B0604020202020204"/>
              </a:rPr>
              <a:t>Anyone can decode Base64. It is not protection.</a:t>
            </a:r>
            <a:endParaRPr sz="1465"/>
          </a:p>
        </p:txBody>
      </p:sp>
      <p:sp>
        <p:nvSpPr>
          <p:cNvPr id="22" name="Shape 16"/>
          <p:cNvSpPr>
            <a:spLocks noGrp="1"/>
          </p:cNvSpPr>
          <p:nvPr/>
        </p:nvSpPr>
        <p:spPr>
          <a:xfrm>
            <a:off x="723900" y="6143625"/>
            <a:ext cx="10744200" cy="714375"/>
          </a:xfrm>
          <a:prstGeom prst="rect">
            <a:avLst/>
          </a:prstGeom>
          <a:solidFill>
            <a:srgbClr val="000000">
              <a:alpha val="0"/>
            </a:srgbClr>
          </a:solidFill>
        </p:spPr>
      </p:sp>
      <p:sp>
        <p:nvSpPr>
          <p:cNvPr id="23" name="Shape 17"/>
          <p:cNvSpPr>
            <a:spLocks noGrp="1"/>
          </p:cNvSpPr>
          <p:nvPr/>
        </p:nvSpPr>
        <p:spPr>
          <a:xfrm>
            <a:off x="723900" y="6143625"/>
            <a:ext cx="10744200" cy="9525"/>
          </a:xfrm>
          <a:prstGeom prst="rect">
            <a:avLst/>
          </a:prstGeom>
          <a:solidFill>
            <a:srgbClr val="FFFFFF"/>
          </a:solidFill>
        </p:spPr>
      </p:sp>
      <p:sp>
        <p:nvSpPr>
          <p:cNvPr id="24" name="Text 18"/>
          <p:cNvSpPr>
            <a:spLocks noGrp="1"/>
          </p:cNvSpPr>
          <p:nvPr/>
        </p:nvSpPr>
        <p:spPr>
          <a:xfrm>
            <a:off x="723900" y="6143625"/>
            <a:ext cx="10744200" cy="368935"/>
          </a:xfrm>
          <a:prstGeom prst="rect">
            <a:avLst/>
          </a:prstGeom>
          <a:noFill/>
        </p:spPr>
        <p:txBody>
          <a:bodyPr wrap="square" lIns="0" tIns="215392" rIns="0" bIns="0" anchor="t">
            <a:spAutoFit/>
          </a:bodyPr>
          <a:lstStyle/>
          <a:p>
            <a:pPr marL="0" indent="0" algn="l">
              <a:buNone/>
            </a:pPr>
            <a:r>
              <a:rPr sz="1000">
                <a:solidFill>
                  <a:srgbClr val="768197"/>
                </a:solidFill>
                <a:latin typeface="Arial" panose="020B0604020202020204"/>
                <a:ea typeface="Arial" panose="020B0604020202020204"/>
                <a:cs typeface="Arial" panose="020B0604020202020204"/>
              </a:rPr>
              <a:t>0:08–0:25</a:t>
            </a:r>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64" name="Image 1"/>
          <p:cNvPicPr>
            <a:picLocks noChangeAspect="1"/>
          </p:cNvPicPr>
          <p:nvPr/>
        </p:nvPicPr>
        <p:blipFill>
          <a:blip r:embed="rId2"/>
          <a:stretch>
            <a:fillRect/>
          </a:stretch>
        </p:blipFill>
        <p:spPr>
          <a:xfrm>
            <a:off x="723900" y="190500"/>
            <a:ext cx="590551" cy="590551"/>
          </a:xfrm>
          <a:prstGeom prst="rect">
            <a:avLst/>
          </a:prstGeom>
        </p:spPr>
      </p:pic>
      <p:pic>
        <p:nvPicPr>
          <p:cNvPr id="65"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857251" y="971551"/>
            <a:ext cx="10477500" cy="495300"/>
          </a:xfrm>
          <a:prstGeom prst="rect">
            <a:avLst/>
          </a:prstGeom>
          <a:noFill/>
        </p:spPr>
        <p:txBody>
          <a:bodyPr wrap="square" lIns="0" tIns="351536" rIns="0" bIns="0" anchor="t">
            <a:spAutoFit/>
          </a:bodyPr>
          <a:lstStyle/>
          <a:p>
            <a:pPr marL="0" indent="0" algn="l">
              <a:buNone/>
            </a:pPr>
            <a:r>
              <a:rPr sz="935" b="1" spc="3">
                <a:solidFill>
                  <a:srgbClr val="00D4FF"/>
                </a:solidFill>
                <a:latin typeface="Arial" panose="020B0604020202020204"/>
                <a:ea typeface="Arial" panose="020B0604020202020204"/>
                <a:cs typeface="Arial" panose="020B0604020202020204"/>
              </a:rPr>
              <a:t>RECOGNITION MAP</a:t>
            </a:r>
            <a:endParaRPr sz="935"/>
          </a:p>
        </p:txBody>
      </p:sp>
      <p:sp>
        <p:nvSpPr>
          <p:cNvPr id="9" name="Text 3"/>
          <p:cNvSpPr>
            <a:spLocks noGrp="1"/>
          </p:cNvSpPr>
          <p:nvPr/>
        </p:nvSpPr>
        <p:spPr>
          <a:xfrm>
            <a:off x="857251" y="1485900"/>
            <a:ext cx="6911340" cy="400685"/>
          </a:xfrm>
          <a:prstGeom prst="rect">
            <a:avLst/>
          </a:prstGeom>
          <a:noFill/>
        </p:spPr>
        <p:txBody>
          <a:bodyPr wrap="none" lIns="0" tIns="0" rIns="0" bIns="0" anchor="t">
            <a:spAutoFit/>
          </a:bodyPr>
          <a:lstStyle/>
          <a:p>
            <a:pPr marL="0" indent="0" algn="l">
              <a:lnSpc>
                <a:spcPct val="83000"/>
              </a:lnSpc>
              <a:buNone/>
            </a:pPr>
            <a:r>
              <a:rPr sz="3135" b="1" spc="-1">
                <a:solidFill>
                  <a:srgbClr val="FFFFFF"/>
                </a:solidFill>
                <a:latin typeface="Arial" panose="020B0604020202020204"/>
                <a:ea typeface="Arial" panose="020B0604020202020204"/>
                <a:cs typeface="Arial" panose="020B0604020202020204"/>
              </a:rPr>
              <a:t>Eight clues before you touch a tool.</a:t>
            </a:r>
            <a:endParaRPr sz="3135"/>
          </a:p>
        </p:txBody>
      </p:sp>
      <p:sp>
        <p:nvSpPr>
          <p:cNvPr id="10" name="Text 4"/>
          <p:cNvSpPr>
            <a:spLocks noGrp="1"/>
          </p:cNvSpPr>
          <p:nvPr/>
        </p:nvSpPr>
        <p:spPr>
          <a:xfrm>
            <a:off x="8346059" y="1714500"/>
            <a:ext cx="2988692" cy="365760"/>
          </a:xfrm>
          <a:prstGeom prst="rect">
            <a:avLst/>
          </a:prstGeom>
          <a:noFill/>
        </p:spPr>
        <p:txBody>
          <a:bodyPr wrap="square" lIns="0" tIns="0" rIns="0" bIns="0" anchor="t">
            <a:spAutoFit/>
          </a:bodyPr>
          <a:lstStyle/>
          <a:p>
            <a:pPr marL="0" indent="0" algn="l">
              <a:buNone/>
            </a:pPr>
            <a:r>
              <a:rPr sz="1200">
                <a:solidFill>
                  <a:srgbClr val="8A93A8"/>
                </a:solidFill>
                <a:latin typeface="Arial" panose="020B0604020202020204"/>
                <a:ea typeface="Arial" panose="020B0604020202020204"/>
                <a:cs typeface="Arial" panose="020B0604020202020204"/>
              </a:rPr>
              <a:t>Observe characters, length, separators, and padding.</a:t>
            </a:r>
            <a:endParaRPr sz="1200"/>
          </a:p>
        </p:txBody>
      </p:sp>
      <p:sp>
        <p:nvSpPr>
          <p:cNvPr id="11" name="Shape 5"/>
          <p:cNvSpPr>
            <a:spLocks noGrp="1"/>
          </p:cNvSpPr>
          <p:nvPr/>
        </p:nvSpPr>
        <p:spPr>
          <a:xfrm>
            <a:off x="857251" y="2208237"/>
            <a:ext cx="10477500" cy="3152775"/>
          </a:xfrm>
          <a:prstGeom prst="rect">
            <a:avLst/>
          </a:prstGeom>
          <a:solidFill>
            <a:srgbClr val="00D4FF">
              <a:alpha val="2000"/>
            </a:srgbClr>
          </a:solidFill>
        </p:spPr>
      </p:sp>
      <p:sp>
        <p:nvSpPr>
          <p:cNvPr id="12" name="Shape 6"/>
          <p:cNvSpPr>
            <a:spLocks noGrp="1"/>
          </p:cNvSpPr>
          <p:nvPr/>
        </p:nvSpPr>
        <p:spPr>
          <a:xfrm>
            <a:off x="857251" y="2208237"/>
            <a:ext cx="10477500" cy="9525"/>
          </a:xfrm>
          <a:prstGeom prst="rect">
            <a:avLst/>
          </a:prstGeom>
          <a:solidFill>
            <a:srgbClr val="61E4FF"/>
          </a:solidFill>
        </p:spPr>
      </p:sp>
      <p:sp>
        <p:nvSpPr>
          <p:cNvPr id="13" name="Shape 7"/>
          <p:cNvSpPr>
            <a:spLocks noGrp="1"/>
          </p:cNvSpPr>
          <p:nvPr/>
        </p:nvSpPr>
        <p:spPr>
          <a:xfrm>
            <a:off x="857251" y="2208237"/>
            <a:ext cx="9525" cy="3152775"/>
          </a:xfrm>
          <a:prstGeom prst="rect">
            <a:avLst/>
          </a:prstGeom>
          <a:solidFill>
            <a:srgbClr val="ADF1FF"/>
          </a:solidFill>
        </p:spPr>
      </p:sp>
      <p:sp>
        <p:nvSpPr>
          <p:cNvPr id="14" name="Shape 8"/>
          <p:cNvSpPr>
            <a:spLocks noGrp="1"/>
          </p:cNvSpPr>
          <p:nvPr/>
        </p:nvSpPr>
        <p:spPr>
          <a:xfrm>
            <a:off x="857251" y="2208237"/>
            <a:ext cx="2619375" cy="1571625"/>
          </a:xfrm>
          <a:prstGeom prst="rect">
            <a:avLst/>
          </a:prstGeom>
          <a:solidFill>
            <a:srgbClr val="000000">
              <a:alpha val="0"/>
            </a:srgbClr>
          </a:solidFill>
        </p:spPr>
      </p:sp>
      <p:sp>
        <p:nvSpPr>
          <p:cNvPr id="15" name="Shape 9"/>
          <p:cNvSpPr>
            <a:spLocks noGrp="1"/>
          </p:cNvSpPr>
          <p:nvPr/>
        </p:nvSpPr>
        <p:spPr>
          <a:xfrm>
            <a:off x="3467100" y="2208237"/>
            <a:ext cx="9525" cy="1571625"/>
          </a:xfrm>
          <a:prstGeom prst="rect">
            <a:avLst/>
          </a:prstGeom>
          <a:solidFill>
            <a:srgbClr val="ADF1FF"/>
          </a:solidFill>
        </p:spPr>
      </p:sp>
      <p:sp>
        <p:nvSpPr>
          <p:cNvPr id="16" name="Shape 10"/>
          <p:cNvSpPr>
            <a:spLocks noGrp="1"/>
          </p:cNvSpPr>
          <p:nvPr/>
        </p:nvSpPr>
        <p:spPr>
          <a:xfrm>
            <a:off x="857251" y="3770337"/>
            <a:ext cx="2619375" cy="9525"/>
          </a:xfrm>
          <a:prstGeom prst="rect">
            <a:avLst/>
          </a:prstGeom>
          <a:solidFill>
            <a:srgbClr val="61E4FF"/>
          </a:solidFill>
        </p:spPr>
      </p:sp>
      <p:sp>
        <p:nvSpPr>
          <p:cNvPr id="17" name="Text 11"/>
          <p:cNvSpPr>
            <a:spLocks noGrp="1"/>
          </p:cNvSpPr>
          <p:nvPr/>
        </p:nvSpPr>
        <p:spPr>
          <a:xfrm>
            <a:off x="1123951" y="2666553"/>
            <a:ext cx="434340" cy="254000"/>
          </a:xfrm>
          <a:prstGeom prst="rect">
            <a:avLst/>
          </a:prstGeom>
          <a:noFill/>
        </p:spPr>
        <p:txBody>
          <a:bodyPr wrap="none" lIns="0" tIns="0" rIns="0" bIns="0" anchor="t">
            <a:spAutoFit/>
          </a:bodyPr>
          <a:lstStyle/>
          <a:p>
            <a:pPr marL="0" indent="0" algn="l">
              <a:lnSpc>
                <a:spcPct val="80000"/>
              </a:lnSpc>
              <a:buNone/>
            </a:pPr>
            <a:r>
              <a:rPr sz="2065" b="1">
                <a:solidFill>
                  <a:srgbClr val="FF6B1A"/>
                </a:solidFill>
                <a:latin typeface="Consolas" panose="020B0609020204030204"/>
                <a:ea typeface="Consolas" panose="020B0609020204030204"/>
                <a:cs typeface="Consolas" panose="020B0609020204030204"/>
              </a:rPr>
              <a:t>Base64</a:t>
            </a:r>
            <a:endParaRPr sz="2065"/>
          </a:p>
        </p:txBody>
      </p:sp>
      <p:sp>
        <p:nvSpPr>
          <p:cNvPr id="18" name="Text 12"/>
          <p:cNvSpPr>
            <a:spLocks noGrp="1"/>
          </p:cNvSpPr>
          <p:nvPr/>
        </p:nvSpPr>
        <p:spPr>
          <a:xfrm>
            <a:off x="1123951" y="3114228"/>
            <a:ext cx="871855" cy="187325"/>
          </a:xfrm>
          <a:prstGeom prst="rect">
            <a:avLst/>
          </a:prstGeom>
          <a:noFill/>
        </p:spPr>
        <p:txBody>
          <a:bodyPr wrap="none" lIns="0" tIns="0" rIns="0" bIns="0" anchor="t">
            <a:spAutoFit/>
          </a:bodyPr>
          <a:lstStyle/>
          <a:p>
            <a:pPr marL="0" indent="0" algn="l">
              <a:lnSpc>
                <a:spcPct val="102000"/>
              </a:lnSpc>
              <a:buNone/>
            </a:pPr>
            <a:r>
              <a:rPr sz="1200">
                <a:solidFill>
                  <a:srgbClr val="D5DCE8"/>
                </a:solidFill>
                <a:latin typeface="Arial" panose="020B0604020202020204"/>
                <a:ea typeface="Arial" panose="020B0604020202020204"/>
                <a:cs typeface="Arial" panose="020B0604020202020204"/>
              </a:rPr>
              <a:t>A–Z a–z 0–9 + / and =</a:t>
            </a:r>
            <a:endParaRPr sz="1200"/>
          </a:p>
        </p:txBody>
      </p:sp>
      <p:sp>
        <p:nvSpPr>
          <p:cNvPr id="19" name="Shape 13"/>
          <p:cNvSpPr>
            <a:spLocks noGrp="1"/>
          </p:cNvSpPr>
          <p:nvPr/>
        </p:nvSpPr>
        <p:spPr>
          <a:xfrm>
            <a:off x="3476625" y="2208237"/>
            <a:ext cx="2619375" cy="1571625"/>
          </a:xfrm>
          <a:prstGeom prst="rect">
            <a:avLst/>
          </a:prstGeom>
          <a:solidFill>
            <a:srgbClr val="000000">
              <a:alpha val="0"/>
            </a:srgbClr>
          </a:solidFill>
        </p:spPr>
      </p:sp>
      <p:sp>
        <p:nvSpPr>
          <p:cNvPr id="20" name="Shape 14"/>
          <p:cNvSpPr>
            <a:spLocks noGrp="1"/>
          </p:cNvSpPr>
          <p:nvPr/>
        </p:nvSpPr>
        <p:spPr>
          <a:xfrm>
            <a:off x="6086475" y="2208237"/>
            <a:ext cx="9525" cy="1571625"/>
          </a:xfrm>
          <a:prstGeom prst="rect">
            <a:avLst/>
          </a:prstGeom>
          <a:solidFill>
            <a:srgbClr val="ADF1FF"/>
          </a:solidFill>
        </p:spPr>
      </p:sp>
      <p:sp>
        <p:nvSpPr>
          <p:cNvPr id="21" name="Shape 15"/>
          <p:cNvSpPr>
            <a:spLocks noGrp="1"/>
          </p:cNvSpPr>
          <p:nvPr/>
        </p:nvSpPr>
        <p:spPr>
          <a:xfrm>
            <a:off x="3476625" y="3770337"/>
            <a:ext cx="2619375" cy="9525"/>
          </a:xfrm>
          <a:prstGeom prst="rect">
            <a:avLst/>
          </a:prstGeom>
          <a:solidFill>
            <a:srgbClr val="61E4FF"/>
          </a:solidFill>
        </p:spPr>
      </p:sp>
      <p:sp>
        <p:nvSpPr>
          <p:cNvPr id="22" name="Text 16"/>
          <p:cNvSpPr>
            <a:spLocks noGrp="1"/>
          </p:cNvSpPr>
          <p:nvPr/>
        </p:nvSpPr>
        <p:spPr>
          <a:xfrm>
            <a:off x="3743325" y="2562969"/>
            <a:ext cx="868680" cy="254000"/>
          </a:xfrm>
          <a:prstGeom prst="rect">
            <a:avLst/>
          </a:prstGeom>
          <a:noFill/>
        </p:spPr>
        <p:txBody>
          <a:bodyPr wrap="none" lIns="0" tIns="0" rIns="0" bIns="0" anchor="t">
            <a:spAutoFit/>
          </a:bodyPr>
          <a:lstStyle/>
          <a:p>
            <a:pPr marL="0" indent="0" algn="l">
              <a:lnSpc>
                <a:spcPct val="80000"/>
              </a:lnSpc>
              <a:buNone/>
            </a:pPr>
            <a:r>
              <a:rPr sz="2065" b="1">
                <a:solidFill>
                  <a:srgbClr val="00D4FF"/>
                </a:solidFill>
                <a:latin typeface="Consolas" panose="020B0609020204030204"/>
                <a:ea typeface="Consolas" panose="020B0609020204030204"/>
                <a:cs typeface="Consolas" panose="020B0609020204030204"/>
              </a:rPr>
              <a:t>Hex</a:t>
            </a:r>
            <a:endParaRPr sz="2065"/>
          </a:p>
        </p:txBody>
      </p:sp>
      <p:sp>
        <p:nvSpPr>
          <p:cNvPr id="23" name="Text 17"/>
          <p:cNvSpPr>
            <a:spLocks noGrp="1"/>
          </p:cNvSpPr>
          <p:nvPr/>
        </p:nvSpPr>
        <p:spPr>
          <a:xfrm>
            <a:off x="3743325" y="3010644"/>
            <a:ext cx="1962151" cy="375285"/>
          </a:xfrm>
          <a:prstGeom prst="rect">
            <a:avLst/>
          </a:prstGeom>
          <a:noFill/>
        </p:spPr>
        <p:txBody>
          <a:bodyPr wrap="square" lIns="0" tIns="0" rIns="0" bIns="0" anchor="t">
            <a:spAutoFit/>
          </a:bodyPr>
          <a:lstStyle/>
          <a:p>
            <a:pPr marL="0" indent="0" algn="l">
              <a:lnSpc>
                <a:spcPct val="102000"/>
              </a:lnSpc>
              <a:buNone/>
            </a:pPr>
            <a:r>
              <a:rPr sz="1200">
                <a:solidFill>
                  <a:srgbClr val="D5DCE8"/>
                </a:solidFill>
                <a:latin typeface="Arial" panose="020B0604020202020204"/>
                <a:ea typeface="Arial" panose="020B0604020202020204"/>
                <a:cs typeface="Arial" panose="020B0604020202020204"/>
              </a:rPr>
              <a:t>Only 0–9 and A–F; often even length</a:t>
            </a:r>
            <a:endParaRPr sz="1200"/>
          </a:p>
        </p:txBody>
      </p:sp>
      <p:sp>
        <p:nvSpPr>
          <p:cNvPr id="24" name="Shape 18"/>
          <p:cNvSpPr>
            <a:spLocks noGrp="1"/>
          </p:cNvSpPr>
          <p:nvPr/>
        </p:nvSpPr>
        <p:spPr>
          <a:xfrm>
            <a:off x="6096000" y="2208237"/>
            <a:ext cx="2619375" cy="1571625"/>
          </a:xfrm>
          <a:prstGeom prst="rect">
            <a:avLst/>
          </a:prstGeom>
          <a:solidFill>
            <a:srgbClr val="000000">
              <a:alpha val="0"/>
            </a:srgbClr>
          </a:solidFill>
        </p:spPr>
      </p:sp>
      <p:sp>
        <p:nvSpPr>
          <p:cNvPr id="25" name="Shape 19"/>
          <p:cNvSpPr>
            <a:spLocks noGrp="1"/>
          </p:cNvSpPr>
          <p:nvPr/>
        </p:nvSpPr>
        <p:spPr>
          <a:xfrm>
            <a:off x="8705851" y="2208237"/>
            <a:ext cx="9525" cy="1571625"/>
          </a:xfrm>
          <a:prstGeom prst="rect">
            <a:avLst/>
          </a:prstGeom>
          <a:solidFill>
            <a:srgbClr val="ADF1FF"/>
          </a:solidFill>
        </p:spPr>
      </p:sp>
      <p:sp>
        <p:nvSpPr>
          <p:cNvPr id="26" name="Shape 20"/>
          <p:cNvSpPr>
            <a:spLocks noGrp="1"/>
          </p:cNvSpPr>
          <p:nvPr/>
        </p:nvSpPr>
        <p:spPr>
          <a:xfrm>
            <a:off x="6096000" y="3770337"/>
            <a:ext cx="2619375" cy="9525"/>
          </a:xfrm>
          <a:prstGeom prst="rect">
            <a:avLst/>
          </a:prstGeom>
          <a:solidFill>
            <a:srgbClr val="61E4FF"/>
          </a:solidFill>
        </p:spPr>
      </p:sp>
      <p:sp>
        <p:nvSpPr>
          <p:cNvPr id="27" name="Text 21"/>
          <p:cNvSpPr>
            <a:spLocks noGrp="1"/>
          </p:cNvSpPr>
          <p:nvPr/>
        </p:nvSpPr>
        <p:spPr>
          <a:xfrm>
            <a:off x="6362700" y="2666553"/>
            <a:ext cx="289560" cy="254000"/>
          </a:xfrm>
          <a:prstGeom prst="rect">
            <a:avLst/>
          </a:prstGeom>
          <a:noFill/>
        </p:spPr>
        <p:txBody>
          <a:bodyPr wrap="none" lIns="0" tIns="0" rIns="0" bIns="0" anchor="t">
            <a:spAutoFit/>
          </a:bodyPr>
          <a:lstStyle/>
          <a:p>
            <a:pPr marL="0" indent="0" algn="l">
              <a:lnSpc>
                <a:spcPct val="80000"/>
              </a:lnSpc>
              <a:buNone/>
            </a:pPr>
            <a:r>
              <a:rPr sz="2065" b="1">
                <a:solidFill>
                  <a:srgbClr val="00D4FF"/>
                </a:solidFill>
                <a:latin typeface="Consolas" panose="020B0609020204030204"/>
                <a:ea typeface="Consolas" panose="020B0609020204030204"/>
                <a:cs typeface="Consolas" panose="020B0609020204030204"/>
              </a:rPr>
              <a:t>ASCII</a:t>
            </a:r>
            <a:endParaRPr sz="2065"/>
          </a:p>
        </p:txBody>
      </p:sp>
      <p:sp>
        <p:nvSpPr>
          <p:cNvPr id="28" name="Text 22"/>
          <p:cNvSpPr>
            <a:spLocks noGrp="1"/>
          </p:cNvSpPr>
          <p:nvPr/>
        </p:nvSpPr>
        <p:spPr>
          <a:xfrm>
            <a:off x="6362700" y="3114228"/>
            <a:ext cx="1429385" cy="187325"/>
          </a:xfrm>
          <a:prstGeom prst="rect">
            <a:avLst/>
          </a:prstGeom>
          <a:noFill/>
        </p:spPr>
        <p:txBody>
          <a:bodyPr wrap="none" lIns="0" tIns="0" rIns="0" bIns="0" anchor="t">
            <a:spAutoFit/>
          </a:bodyPr>
          <a:lstStyle/>
          <a:p>
            <a:pPr marL="0" indent="0" algn="l">
              <a:lnSpc>
                <a:spcPct val="102000"/>
              </a:lnSpc>
              <a:buNone/>
            </a:pPr>
            <a:r>
              <a:rPr sz="1200">
                <a:solidFill>
                  <a:srgbClr val="D5DCE8"/>
                </a:solidFill>
                <a:latin typeface="Arial" panose="020B0604020202020204"/>
                <a:ea typeface="Arial" panose="020B0604020202020204"/>
                <a:cs typeface="Arial" panose="020B0604020202020204"/>
              </a:rPr>
              <a:t>Decimal character codes</a:t>
            </a:r>
            <a:endParaRPr sz="1200"/>
          </a:p>
        </p:txBody>
      </p:sp>
      <p:sp>
        <p:nvSpPr>
          <p:cNvPr id="29" name="Shape 23"/>
          <p:cNvSpPr>
            <a:spLocks noGrp="1"/>
          </p:cNvSpPr>
          <p:nvPr/>
        </p:nvSpPr>
        <p:spPr>
          <a:xfrm>
            <a:off x="8715375" y="2208237"/>
            <a:ext cx="2619375" cy="1571625"/>
          </a:xfrm>
          <a:prstGeom prst="rect">
            <a:avLst/>
          </a:prstGeom>
          <a:solidFill>
            <a:srgbClr val="000000">
              <a:alpha val="0"/>
            </a:srgbClr>
          </a:solidFill>
        </p:spPr>
      </p:sp>
      <p:sp>
        <p:nvSpPr>
          <p:cNvPr id="30" name="Shape 24"/>
          <p:cNvSpPr>
            <a:spLocks noGrp="1"/>
          </p:cNvSpPr>
          <p:nvPr/>
        </p:nvSpPr>
        <p:spPr>
          <a:xfrm>
            <a:off x="11325225" y="2208237"/>
            <a:ext cx="9525" cy="1571625"/>
          </a:xfrm>
          <a:prstGeom prst="rect">
            <a:avLst/>
          </a:prstGeom>
          <a:solidFill>
            <a:srgbClr val="ADF1FF"/>
          </a:solidFill>
        </p:spPr>
      </p:sp>
      <p:sp>
        <p:nvSpPr>
          <p:cNvPr id="31" name="Shape 25"/>
          <p:cNvSpPr>
            <a:spLocks noGrp="1"/>
          </p:cNvSpPr>
          <p:nvPr/>
        </p:nvSpPr>
        <p:spPr>
          <a:xfrm>
            <a:off x="8715375" y="3770337"/>
            <a:ext cx="2619375" cy="9525"/>
          </a:xfrm>
          <a:prstGeom prst="rect">
            <a:avLst/>
          </a:prstGeom>
          <a:solidFill>
            <a:srgbClr val="61E4FF"/>
          </a:solidFill>
        </p:spPr>
      </p:sp>
      <p:sp>
        <p:nvSpPr>
          <p:cNvPr id="32" name="Text 26"/>
          <p:cNvSpPr>
            <a:spLocks noGrp="1"/>
          </p:cNvSpPr>
          <p:nvPr/>
        </p:nvSpPr>
        <p:spPr>
          <a:xfrm>
            <a:off x="8982075" y="2666553"/>
            <a:ext cx="434340" cy="254000"/>
          </a:xfrm>
          <a:prstGeom prst="rect">
            <a:avLst/>
          </a:prstGeom>
          <a:noFill/>
        </p:spPr>
        <p:txBody>
          <a:bodyPr wrap="none" lIns="0" tIns="0" rIns="0" bIns="0" anchor="t">
            <a:spAutoFit/>
          </a:bodyPr>
          <a:lstStyle/>
          <a:p>
            <a:pPr marL="0" indent="0" algn="l">
              <a:lnSpc>
                <a:spcPct val="80000"/>
              </a:lnSpc>
              <a:buNone/>
            </a:pPr>
            <a:r>
              <a:rPr sz="2065" b="1">
                <a:solidFill>
                  <a:srgbClr val="00D4FF"/>
                </a:solidFill>
                <a:latin typeface="Consolas" panose="020B0609020204030204"/>
                <a:ea typeface="Consolas" panose="020B0609020204030204"/>
                <a:cs typeface="Consolas" panose="020B0609020204030204"/>
              </a:rPr>
              <a:t>URL</a:t>
            </a:r>
            <a:endParaRPr sz="2065"/>
          </a:p>
        </p:txBody>
      </p:sp>
      <p:sp>
        <p:nvSpPr>
          <p:cNvPr id="33" name="Text 27"/>
          <p:cNvSpPr>
            <a:spLocks noGrp="1"/>
          </p:cNvSpPr>
          <p:nvPr/>
        </p:nvSpPr>
        <p:spPr>
          <a:xfrm>
            <a:off x="8982075" y="3114228"/>
            <a:ext cx="769620" cy="187325"/>
          </a:xfrm>
          <a:prstGeom prst="rect">
            <a:avLst/>
          </a:prstGeom>
          <a:noFill/>
        </p:spPr>
        <p:txBody>
          <a:bodyPr wrap="none" lIns="0" tIns="0" rIns="0" bIns="0" anchor="t">
            <a:spAutoFit/>
          </a:bodyPr>
          <a:lstStyle/>
          <a:p>
            <a:pPr marL="0" indent="0" algn="l">
              <a:lnSpc>
                <a:spcPct val="102000"/>
              </a:lnSpc>
              <a:buNone/>
            </a:pPr>
            <a:r>
              <a:rPr sz="1200">
                <a:solidFill>
                  <a:srgbClr val="D5DCE8"/>
                </a:solidFill>
                <a:latin typeface="Arial" panose="020B0604020202020204"/>
                <a:ea typeface="Arial" panose="020B0604020202020204"/>
                <a:cs typeface="Arial" panose="020B0604020202020204"/>
              </a:rPr>
              <a:t>Percent codes: %20 and %2F</a:t>
            </a:r>
            <a:endParaRPr sz="1200"/>
          </a:p>
        </p:txBody>
      </p:sp>
      <p:sp>
        <p:nvSpPr>
          <p:cNvPr id="34" name="Shape 28"/>
          <p:cNvSpPr>
            <a:spLocks noGrp="1"/>
          </p:cNvSpPr>
          <p:nvPr/>
        </p:nvSpPr>
        <p:spPr>
          <a:xfrm>
            <a:off x="857251" y="3779863"/>
            <a:ext cx="2619375" cy="1571625"/>
          </a:xfrm>
          <a:prstGeom prst="rect">
            <a:avLst/>
          </a:prstGeom>
          <a:solidFill>
            <a:srgbClr val="000000">
              <a:alpha val="0"/>
            </a:srgbClr>
          </a:solidFill>
        </p:spPr>
      </p:sp>
      <p:sp>
        <p:nvSpPr>
          <p:cNvPr id="35" name="Shape 29"/>
          <p:cNvSpPr>
            <a:spLocks noGrp="1"/>
          </p:cNvSpPr>
          <p:nvPr/>
        </p:nvSpPr>
        <p:spPr>
          <a:xfrm>
            <a:off x="3467100" y="3779863"/>
            <a:ext cx="9525" cy="1571625"/>
          </a:xfrm>
          <a:prstGeom prst="rect">
            <a:avLst/>
          </a:prstGeom>
          <a:solidFill>
            <a:srgbClr val="ADF1FF"/>
          </a:solidFill>
        </p:spPr>
      </p:sp>
      <p:sp>
        <p:nvSpPr>
          <p:cNvPr id="36" name="Shape 30"/>
          <p:cNvSpPr>
            <a:spLocks noGrp="1"/>
          </p:cNvSpPr>
          <p:nvPr/>
        </p:nvSpPr>
        <p:spPr>
          <a:xfrm>
            <a:off x="857251" y="5341963"/>
            <a:ext cx="2619375" cy="9525"/>
          </a:xfrm>
          <a:prstGeom prst="rect">
            <a:avLst/>
          </a:prstGeom>
          <a:solidFill>
            <a:srgbClr val="61E4FF"/>
          </a:solidFill>
        </p:spPr>
      </p:sp>
      <p:sp>
        <p:nvSpPr>
          <p:cNvPr id="37" name="Text 31"/>
          <p:cNvSpPr>
            <a:spLocks noGrp="1"/>
          </p:cNvSpPr>
          <p:nvPr/>
        </p:nvSpPr>
        <p:spPr>
          <a:xfrm>
            <a:off x="1123951" y="4238179"/>
            <a:ext cx="579120" cy="254000"/>
          </a:xfrm>
          <a:prstGeom prst="rect">
            <a:avLst/>
          </a:prstGeom>
          <a:noFill/>
        </p:spPr>
        <p:txBody>
          <a:bodyPr wrap="none" lIns="0" tIns="0" rIns="0" bIns="0" anchor="t">
            <a:spAutoFit/>
          </a:bodyPr>
          <a:lstStyle/>
          <a:p>
            <a:pPr marL="0" indent="0" algn="l">
              <a:lnSpc>
                <a:spcPct val="80000"/>
              </a:lnSpc>
              <a:buNone/>
            </a:pPr>
            <a:r>
              <a:rPr sz="2065" b="1">
                <a:solidFill>
                  <a:srgbClr val="00D4FF"/>
                </a:solidFill>
                <a:latin typeface="Consolas" panose="020B0609020204030204"/>
                <a:ea typeface="Consolas" panose="020B0609020204030204"/>
                <a:cs typeface="Consolas" panose="020B0609020204030204"/>
              </a:rPr>
              <a:t>ROT13</a:t>
            </a:r>
            <a:endParaRPr sz="2065"/>
          </a:p>
        </p:txBody>
      </p:sp>
      <p:sp>
        <p:nvSpPr>
          <p:cNvPr id="38" name="Text 32"/>
          <p:cNvSpPr>
            <a:spLocks noGrp="1"/>
          </p:cNvSpPr>
          <p:nvPr/>
        </p:nvSpPr>
        <p:spPr>
          <a:xfrm>
            <a:off x="1123951" y="4685853"/>
            <a:ext cx="1354455" cy="187325"/>
          </a:xfrm>
          <a:prstGeom prst="rect">
            <a:avLst/>
          </a:prstGeom>
          <a:noFill/>
        </p:spPr>
        <p:txBody>
          <a:bodyPr wrap="none" lIns="0" tIns="0" rIns="0" bIns="0" anchor="t">
            <a:spAutoFit/>
          </a:bodyPr>
          <a:lstStyle/>
          <a:p>
            <a:pPr marL="0" indent="0" algn="l">
              <a:lnSpc>
                <a:spcPct val="102000"/>
              </a:lnSpc>
              <a:buNone/>
            </a:pPr>
            <a:r>
              <a:rPr sz="1200">
                <a:solidFill>
                  <a:srgbClr val="D5DCE8"/>
                </a:solidFill>
                <a:latin typeface="Arial" panose="020B0604020202020204"/>
                <a:ea typeface="Arial" panose="020B0604020202020204"/>
                <a:cs typeface="Arial" panose="020B0604020202020204"/>
              </a:rPr>
              <a:t>Letters only; same length</a:t>
            </a:r>
            <a:endParaRPr sz="1200"/>
          </a:p>
        </p:txBody>
      </p:sp>
      <p:sp>
        <p:nvSpPr>
          <p:cNvPr id="39" name="Shape 33"/>
          <p:cNvSpPr>
            <a:spLocks noGrp="1"/>
          </p:cNvSpPr>
          <p:nvPr/>
        </p:nvSpPr>
        <p:spPr>
          <a:xfrm>
            <a:off x="3476625" y="3779863"/>
            <a:ext cx="2619375" cy="1571625"/>
          </a:xfrm>
          <a:prstGeom prst="rect">
            <a:avLst/>
          </a:prstGeom>
          <a:solidFill>
            <a:srgbClr val="000000">
              <a:alpha val="0"/>
            </a:srgbClr>
          </a:solidFill>
        </p:spPr>
      </p:sp>
      <p:sp>
        <p:nvSpPr>
          <p:cNvPr id="40" name="Shape 34"/>
          <p:cNvSpPr>
            <a:spLocks noGrp="1"/>
          </p:cNvSpPr>
          <p:nvPr/>
        </p:nvSpPr>
        <p:spPr>
          <a:xfrm>
            <a:off x="6086475" y="3779863"/>
            <a:ext cx="9525" cy="1571625"/>
          </a:xfrm>
          <a:prstGeom prst="rect">
            <a:avLst/>
          </a:prstGeom>
          <a:solidFill>
            <a:srgbClr val="ADF1FF"/>
          </a:solidFill>
        </p:spPr>
      </p:sp>
      <p:sp>
        <p:nvSpPr>
          <p:cNvPr id="41" name="Shape 35"/>
          <p:cNvSpPr>
            <a:spLocks noGrp="1"/>
          </p:cNvSpPr>
          <p:nvPr/>
        </p:nvSpPr>
        <p:spPr>
          <a:xfrm>
            <a:off x="3476625" y="5341963"/>
            <a:ext cx="2619375" cy="9525"/>
          </a:xfrm>
          <a:prstGeom prst="rect">
            <a:avLst/>
          </a:prstGeom>
          <a:solidFill>
            <a:srgbClr val="61E4FF"/>
          </a:solidFill>
        </p:spPr>
      </p:sp>
      <p:sp>
        <p:nvSpPr>
          <p:cNvPr id="42" name="Text 36"/>
          <p:cNvSpPr>
            <a:spLocks noGrp="1"/>
          </p:cNvSpPr>
          <p:nvPr/>
        </p:nvSpPr>
        <p:spPr>
          <a:xfrm>
            <a:off x="3743325" y="4238179"/>
            <a:ext cx="1013460" cy="254000"/>
          </a:xfrm>
          <a:prstGeom prst="rect">
            <a:avLst/>
          </a:prstGeom>
          <a:noFill/>
        </p:spPr>
        <p:txBody>
          <a:bodyPr wrap="none" lIns="0" tIns="0" rIns="0" bIns="0" anchor="t">
            <a:spAutoFit/>
          </a:bodyPr>
          <a:lstStyle/>
          <a:p>
            <a:pPr marL="0" indent="0" algn="l">
              <a:lnSpc>
                <a:spcPct val="80000"/>
              </a:lnSpc>
              <a:buNone/>
            </a:pPr>
            <a:r>
              <a:rPr sz="2065" b="1">
                <a:solidFill>
                  <a:srgbClr val="FF6B1A"/>
                </a:solidFill>
                <a:latin typeface="Consolas" panose="020B0609020204030204"/>
                <a:ea typeface="Consolas" panose="020B0609020204030204"/>
                <a:cs typeface="Consolas" panose="020B0609020204030204"/>
              </a:rPr>
              <a:t>Caesar</a:t>
            </a:r>
            <a:endParaRPr sz="2065"/>
          </a:p>
        </p:txBody>
      </p:sp>
      <p:sp>
        <p:nvSpPr>
          <p:cNvPr id="43" name="Text 37"/>
          <p:cNvSpPr>
            <a:spLocks noGrp="1"/>
          </p:cNvSpPr>
          <p:nvPr/>
        </p:nvSpPr>
        <p:spPr>
          <a:xfrm>
            <a:off x="3743325" y="4685853"/>
            <a:ext cx="1699895" cy="187325"/>
          </a:xfrm>
          <a:prstGeom prst="rect">
            <a:avLst/>
          </a:prstGeom>
          <a:noFill/>
        </p:spPr>
        <p:txBody>
          <a:bodyPr wrap="none" lIns="0" tIns="0" rIns="0" bIns="0" anchor="t">
            <a:spAutoFit/>
          </a:bodyPr>
          <a:lstStyle/>
          <a:p>
            <a:pPr marL="0" indent="0" algn="l">
              <a:lnSpc>
                <a:spcPct val="102000"/>
              </a:lnSpc>
              <a:buNone/>
            </a:pPr>
            <a:r>
              <a:rPr sz="1200">
                <a:solidFill>
                  <a:srgbClr val="D5DCE8"/>
                </a:solidFill>
                <a:latin typeface="Arial" panose="020B0604020202020204"/>
                <a:ea typeface="Arial" panose="020B0604020202020204"/>
                <a:cs typeface="Arial" panose="020B0604020202020204"/>
              </a:rPr>
              <a:t>Alphabet shifted by a key</a:t>
            </a:r>
            <a:endParaRPr sz="1200"/>
          </a:p>
        </p:txBody>
      </p:sp>
      <p:sp>
        <p:nvSpPr>
          <p:cNvPr id="44" name="Shape 38"/>
          <p:cNvSpPr>
            <a:spLocks noGrp="1"/>
          </p:cNvSpPr>
          <p:nvPr/>
        </p:nvSpPr>
        <p:spPr>
          <a:xfrm>
            <a:off x="6096000" y="3779863"/>
            <a:ext cx="2619375" cy="1571625"/>
          </a:xfrm>
          <a:prstGeom prst="rect">
            <a:avLst/>
          </a:prstGeom>
          <a:solidFill>
            <a:srgbClr val="000000">
              <a:alpha val="0"/>
            </a:srgbClr>
          </a:solidFill>
        </p:spPr>
      </p:sp>
      <p:sp>
        <p:nvSpPr>
          <p:cNvPr id="45" name="Shape 39"/>
          <p:cNvSpPr>
            <a:spLocks noGrp="1"/>
          </p:cNvSpPr>
          <p:nvPr/>
        </p:nvSpPr>
        <p:spPr>
          <a:xfrm>
            <a:off x="8705851" y="3779863"/>
            <a:ext cx="9525" cy="1571625"/>
          </a:xfrm>
          <a:prstGeom prst="rect">
            <a:avLst/>
          </a:prstGeom>
          <a:solidFill>
            <a:srgbClr val="ADF1FF"/>
          </a:solidFill>
        </p:spPr>
      </p:sp>
      <p:sp>
        <p:nvSpPr>
          <p:cNvPr id="46" name="Shape 40"/>
          <p:cNvSpPr>
            <a:spLocks noGrp="1"/>
          </p:cNvSpPr>
          <p:nvPr/>
        </p:nvSpPr>
        <p:spPr>
          <a:xfrm>
            <a:off x="6096000" y="5341963"/>
            <a:ext cx="2619375" cy="9525"/>
          </a:xfrm>
          <a:prstGeom prst="rect">
            <a:avLst/>
          </a:prstGeom>
          <a:solidFill>
            <a:srgbClr val="61E4FF"/>
          </a:solidFill>
        </p:spPr>
      </p:sp>
      <p:sp>
        <p:nvSpPr>
          <p:cNvPr id="47" name="Text 41"/>
          <p:cNvSpPr>
            <a:spLocks noGrp="1"/>
          </p:cNvSpPr>
          <p:nvPr/>
        </p:nvSpPr>
        <p:spPr>
          <a:xfrm>
            <a:off x="6362700" y="4238179"/>
            <a:ext cx="579120" cy="254000"/>
          </a:xfrm>
          <a:prstGeom prst="rect">
            <a:avLst/>
          </a:prstGeom>
          <a:noFill/>
        </p:spPr>
        <p:txBody>
          <a:bodyPr wrap="none" lIns="0" tIns="0" rIns="0" bIns="0" anchor="t">
            <a:spAutoFit/>
          </a:bodyPr>
          <a:lstStyle/>
          <a:p>
            <a:pPr marL="0" indent="0" algn="l">
              <a:lnSpc>
                <a:spcPct val="80000"/>
              </a:lnSpc>
              <a:buNone/>
            </a:pPr>
            <a:r>
              <a:rPr sz="2065" b="1">
                <a:solidFill>
                  <a:srgbClr val="00D4FF"/>
                </a:solidFill>
                <a:latin typeface="Consolas" panose="020B0609020204030204"/>
                <a:ea typeface="Consolas" panose="020B0609020204030204"/>
                <a:cs typeface="Consolas" panose="020B0609020204030204"/>
              </a:rPr>
              <a:t>Hash</a:t>
            </a:r>
            <a:endParaRPr sz="2065"/>
          </a:p>
        </p:txBody>
      </p:sp>
      <p:sp>
        <p:nvSpPr>
          <p:cNvPr id="48" name="Text 42"/>
          <p:cNvSpPr>
            <a:spLocks noGrp="1"/>
          </p:cNvSpPr>
          <p:nvPr/>
        </p:nvSpPr>
        <p:spPr>
          <a:xfrm>
            <a:off x="6362700" y="4685853"/>
            <a:ext cx="1276985" cy="187325"/>
          </a:xfrm>
          <a:prstGeom prst="rect">
            <a:avLst/>
          </a:prstGeom>
          <a:noFill/>
        </p:spPr>
        <p:txBody>
          <a:bodyPr wrap="none" lIns="0" tIns="0" rIns="0" bIns="0" anchor="t">
            <a:spAutoFit/>
          </a:bodyPr>
          <a:lstStyle/>
          <a:p>
            <a:pPr marL="0" indent="0" algn="l">
              <a:lnSpc>
                <a:spcPct val="102000"/>
              </a:lnSpc>
              <a:buNone/>
            </a:pPr>
            <a:r>
              <a:rPr sz="1200">
                <a:solidFill>
                  <a:srgbClr val="D5DCE8"/>
                </a:solidFill>
                <a:latin typeface="Arial" panose="020B0604020202020204"/>
                <a:ea typeface="Arial" panose="020B0604020202020204"/>
                <a:cs typeface="Arial" panose="020B0604020202020204"/>
              </a:rPr>
              <a:t>Fixed-length hex digest</a:t>
            </a:r>
            <a:endParaRPr sz="1200"/>
          </a:p>
        </p:txBody>
      </p:sp>
      <p:sp>
        <p:nvSpPr>
          <p:cNvPr id="49" name="Shape 43"/>
          <p:cNvSpPr>
            <a:spLocks noGrp="1"/>
          </p:cNvSpPr>
          <p:nvPr/>
        </p:nvSpPr>
        <p:spPr>
          <a:xfrm>
            <a:off x="8715375" y="3779863"/>
            <a:ext cx="2619375" cy="1571625"/>
          </a:xfrm>
          <a:prstGeom prst="rect">
            <a:avLst/>
          </a:prstGeom>
          <a:solidFill>
            <a:srgbClr val="000000">
              <a:alpha val="0"/>
            </a:srgbClr>
          </a:solidFill>
        </p:spPr>
      </p:sp>
      <p:sp>
        <p:nvSpPr>
          <p:cNvPr id="50" name="Shape 44"/>
          <p:cNvSpPr>
            <a:spLocks noGrp="1"/>
          </p:cNvSpPr>
          <p:nvPr/>
        </p:nvSpPr>
        <p:spPr>
          <a:xfrm>
            <a:off x="11325225" y="3779863"/>
            <a:ext cx="9525" cy="1571625"/>
          </a:xfrm>
          <a:prstGeom prst="rect">
            <a:avLst/>
          </a:prstGeom>
          <a:solidFill>
            <a:srgbClr val="ADF1FF"/>
          </a:solidFill>
        </p:spPr>
      </p:sp>
      <p:sp>
        <p:nvSpPr>
          <p:cNvPr id="51" name="Shape 45"/>
          <p:cNvSpPr>
            <a:spLocks noGrp="1"/>
          </p:cNvSpPr>
          <p:nvPr/>
        </p:nvSpPr>
        <p:spPr>
          <a:xfrm>
            <a:off x="8715375" y="5341963"/>
            <a:ext cx="2619375" cy="9525"/>
          </a:xfrm>
          <a:prstGeom prst="rect">
            <a:avLst/>
          </a:prstGeom>
          <a:solidFill>
            <a:srgbClr val="61E4FF"/>
          </a:solidFill>
        </p:spPr>
      </p:sp>
      <p:sp>
        <p:nvSpPr>
          <p:cNvPr id="52" name="Text 46"/>
          <p:cNvSpPr>
            <a:spLocks noGrp="1"/>
          </p:cNvSpPr>
          <p:nvPr/>
        </p:nvSpPr>
        <p:spPr>
          <a:xfrm>
            <a:off x="8982075" y="4238179"/>
            <a:ext cx="579120" cy="254000"/>
          </a:xfrm>
          <a:prstGeom prst="rect">
            <a:avLst/>
          </a:prstGeom>
          <a:noFill/>
        </p:spPr>
        <p:txBody>
          <a:bodyPr wrap="none" lIns="0" tIns="0" rIns="0" bIns="0" anchor="t">
            <a:spAutoFit/>
          </a:bodyPr>
          <a:lstStyle/>
          <a:p>
            <a:pPr marL="0" indent="0" algn="l">
              <a:lnSpc>
                <a:spcPct val="80000"/>
              </a:lnSpc>
              <a:buNone/>
            </a:pPr>
            <a:r>
              <a:rPr sz="2065" b="1">
                <a:solidFill>
                  <a:srgbClr val="00D4FF"/>
                </a:solidFill>
                <a:latin typeface="Consolas" panose="020B0609020204030204"/>
                <a:ea typeface="Consolas" panose="020B0609020204030204"/>
                <a:cs typeface="Consolas" panose="020B0609020204030204"/>
              </a:rPr>
              <a:t>Magic</a:t>
            </a:r>
            <a:endParaRPr sz="2065"/>
          </a:p>
        </p:txBody>
      </p:sp>
      <p:sp>
        <p:nvSpPr>
          <p:cNvPr id="53" name="Text 47"/>
          <p:cNvSpPr>
            <a:spLocks noGrp="1"/>
          </p:cNvSpPr>
          <p:nvPr/>
        </p:nvSpPr>
        <p:spPr>
          <a:xfrm>
            <a:off x="8982075" y="4685853"/>
            <a:ext cx="1513840" cy="187325"/>
          </a:xfrm>
          <a:prstGeom prst="rect">
            <a:avLst/>
          </a:prstGeom>
          <a:noFill/>
        </p:spPr>
        <p:txBody>
          <a:bodyPr wrap="none" lIns="0" tIns="0" rIns="0" bIns="0" anchor="t">
            <a:spAutoFit/>
          </a:bodyPr>
          <a:lstStyle/>
          <a:p>
            <a:pPr marL="0" indent="0" algn="l">
              <a:lnSpc>
                <a:spcPct val="102000"/>
              </a:lnSpc>
              <a:buNone/>
            </a:pPr>
            <a:r>
              <a:rPr sz="1200">
                <a:solidFill>
                  <a:srgbClr val="D5DCE8"/>
                </a:solidFill>
                <a:latin typeface="Arial" panose="020B0604020202020204"/>
                <a:ea typeface="Arial" panose="020B0604020202020204"/>
                <a:cs typeface="Arial" panose="020B0604020202020204"/>
              </a:rPr>
              <a:t>Helpful hint; verify it</a:t>
            </a:r>
            <a:endParaRPr sz="1200"/>
          </a:p>
        </p:txBody>
      </p:sp>
      <p:sp>
        <p:nvSpPr>
          <p:cNvPr id="54" name="Shape 48"/>
          <p:cNvSpPr>
            <a:spLocks noGrp="1"/>
          </p:cNvSpPr>
          <p:nvPr/>
        </p:nvSpPr>
        <p:spPr>
          <a:xfrm>
            <a:off x="723900" y="6191251"/>
            <a:ext cx="10744200" cy="666751"/>
          </a:xfrm>
          <a:prstGeom prst="rect">
            <a:avLst/>
          </a:prstGeom>
          <a:solidFill>
            <a:srgbClr val="000000">
              <a:alpha val="0"/>
            </a:srgbClr>
          </a:solidFill>
        </p:spPr>
      </p:sp>
      <p:sp>
        <p:nvSpPr>
          <p:cNvPr id="55" name="Shape 49"/>
          <p:cNvSpPr>
            <a:spLocks noGrp="1"/>
          </p:cNvSpPr>
          <p:nvPr/>
        </p:nvSpPr>
        <p:spPr>
          <a:xfrm>
            <a:off x="723900" y="6191251"/>
            <a:ext cx="10744200" cy="9525"/>
          </a:xfrm>
          <a:prstGeom prst="rect">
            <a:avLst/>
          </a:prstGeom>
          <a:solidFill>
            <a:srgbClr val="FFFFFF"/>
          </a:solidFill>
        </p:spPr>
      </p:sp>
      <p:sp>
        <p:nvSpPr>
          <p:cNvPr id="56" name="Text 50"/>
          <p:cNvSpPr>
            <a:spLocks noGrp="1"/>
          </p:cNvSpPr>
          <p:nvPr/>
        </p:nvSpPr>
        <p:spPr>
          <a:xfrm>
            <a:off x="723900" y="6353175"/>
            <a:ext cx="4881563" cy="174625"/>
          </a:xfrm>
          <a:prstGeom prst="rect">
            <a:avLst/>
          </a:prstGeom>
          <a:noFill/>
        </p:spPr>
        <p:txBody>
          <a:bodyPr wrap="square" lIns="0" tIns="0" rIns="0" bIns="0" anchor="t">
            <a:spAutoFit/>
          </a:bodyPr>
          <a:lstStyle/>
          <a:p>
            <a:pPr marL="0" indent="0" algn="l">
              <a:buNone/>
            </a:pPr>
            <a:r>
              <a:rPr sz="1135" b="1">
                <a:solidFill>
                  <a:srgbClr val="FF6B1A"/>
                </a:solidFill>
                <a:latin typeface="Arial" panose="020B0604020202020204"/>
                <a:ea typeface="Arial" panose="020B0604020202020204"/>
                <a:cs typeface="Arial" panose="020B0604020202020204"/>
              </a:rPr>
              <a:t>RECOGNIZE FIRST. THEN DECODE DELIBERATELY.</a:t>
            </a:r>
            <a:endParaRPr sz="1135"/>
          </a:p>
        </p:txBody>
      </p:sp>
      <p:sp>
        <p:nvSpPr>
          <p:cNvPr id="57" name="Text 51"/>
          <p:cNvSpPr>
            <a:spLocks noGrp="1"/>
          </p:cNvSpPr>
          <p:nvPr/>
        </p:nvSpPr>
        <p:spPr>
          <a:xfrm>
            <a:off x="10874797" y="6353175"/>
            <a:ext cx="564515" cy="153670"/>
          </a:xfrm>
          <a:prstGeom prst="rect">
            <a:avLst/>
          </a:prstGeom>
          <a:noFill/>
        </p:spPr>
        <p:txBody>
          <a:bodyPr wrap="none" lIns="0" tIns="0" rIns="0" bIns="0" anchor="t">
            <a:spAutoFit/>
          </a:bodyPr>
          <a:lstStyle/>
          <a:p>
            <a:pPr marL="0" indent="0" algn="l">
              <a:buNone/>
            </a:pPr>
            <a:r>
              <a:rPr sz="1000">
                <a:solidFill>
                  <a:srgbClr val="778196"/>
                </a:solidFill>
                <a:latin typeface="Arial" panose="020B0604020202020204"/>
                <a:ea typeface="Arial" panose="020B0604020202020204"/>
                <a:cs typeface="Arial" panose="020B0604020202020204"/>
              </a:rPr>
              <a:t>0:25–0:40</a:t>
            </a:r>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 name="Image 0"/>
          <p:cNvPicPr>
            <a:picLocks noChangeAspect="1"/>
          </p:cNvPicPr>
          <p:nvPr/>
        </p:nvPicPr>
        <p:blipFill>
          <a:blip r:embed="rId1"/>
          <a:stretch>
            <a:fillRect/>
          </a:stretch>
        </p:blipFill>
        <p:spPr>
          <a:xfrm>
            <a:off x="-9525" y="-1905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30" name="Image 1"/>
          <p:cNvPicPr>
            <a:picLocks noChangeAspect="1"/>
          </p:cNvPicPr>
          <p:nvPr/>
        </p:nvPicPr>
        <p:blipFill>
          <a:blip r:embed="rId2"/>
          <a:stretch>
            <a:fillRect/>
          </a:stretch>
        </p:blipFill>
        <p:spPr>
          <a:xfrm>
            <a:off x="723900" y="190500"/>
            <a:ext cx="590551" cy="590551"/>
          </a:xfrm>
          <a:prstGeom prst="rect">
            <a:avLst/>
          </a:prstGeom>
        </p:spPr>
      </p:pic>
      <p:pic>
        <p:nvPicPr>
          <p:cNvPr id="31"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952500" y="1485900"/>
            <a:ext cx="3048000" cy="144145"/>
          </a:xfrm>
          <a:prstGeom prst="rect">
            <a:avLst/>
          </a:prstGeom>
          <a:noFill/>
        </p:spPr>
        <p:txBody>
          <a:bodyPr wrap="square" lIns="0" tIns="0" rIns="0" bIns="0" anchor="t">
            <a:spAutoFit/>
          </a:bodyPr>
          <a:lstStyle/>
          <a:p>
            <a:pPr marL="0" indent="0" algn="l">
              <a:buNone/>
            </a:pPr>
            <a:r>
              <a:rPr sz="935" b="1" spc="2">
                <a:solidFill>
                  <a:srgbClr val="00D4FF"/>
                </a:solidFill>
                <a:latin typeface="Arial" panose="020B0604020202020204"/>
                <a:ea typeface="Arial" panose="020B0604020202020204"/>
                <a:cs typeface="Arial" panose="020B0604020202020204"/>
              </a:rPr>
              <a:t>DOCUMENT THE CLUE</a:t>
            </a:r>
            <a:endParaRPr sz="935"/>
          </a:p>
        </p:txBody>
      </p:sp>
      <p:sp>
        <p:nvSpPr>
          <p:cNvPr id="9" name="Text 3"/>
          <p:cNvSpPr>
            <a:spLocks noGrp="1"/>
          </p:cNvSpPr>
          <p:nvPr/>
        </p:nvSpPr>
        <p:spPr>
          <a:xfrm>
            <a:off x="952500" y="1743075"/>
            <a:ext cx="3048000" cy="1632082"/>
          </a:xfrm>
          <a:prstGeom prst="rect">
            <a:avLst/>
          </a:prstGeom>
          <a:noFill/>
        </p:spPr>
        <p:txBody>
          <a:bodyPr wrap="square" lIns="0" tIns="0" rIns="0" bIns="0" anchor="t">
            <a:spAutoFit/>
          </a:bodyPr>
          <a:lstStyle/>
          <a:p>
            <a:pPr marL="0" indent="0" algn="l">
              <a:lnSpc>
                <a:spcPct val="82000"/>
              </a:lnSpc>
              <a:buNone/>
            </a:pPr>
            <a:r>
              <a:rPr sz="3265" b="1" spc="-1">
                <a:solidFill>
                  <a:srgbClr val="FFFFFF"/>
                </a:solidFill>
                <a:latin typeface="Arial" panose="020B0604020202020204"/>
                <a:ea typeface="Arial" panose="020B0604020202020204"/>
                <a:cs typeface="Arial" panose="020B0604020202020204"/>
              </a:rPr>
              <a:t>Professionals record the path, not only the flag.</a:t>
            </a:r>
            <a:endParaRPr sz="3265"/>
          </a:p>
        </p:txBody>
      </p:sp>
      <p:sp>
        <p:nvSpPr>
          <p:cNvPr id="10" name="Text 4"/>
          <p:cNvSpPr>
            <a:spLocks noGrp="1"/>
          </p:cNvSpPr>
          <p:nvPr/>
        </p:nvSpPr>
        <p:spPr>
          <a:xfrm>
            <a:off x="952500" y="3332411"/>
            <a:ext cx="3048000" cy="667385"/>
          </a:xfrm>
          <a:prstGeom prst="rect">
            <a:avLst/>
          </a:prstGeom>
          <a:noFill/>
        </p:spPr>
        <p:txBody>
          <a:bodyPr wrap="square" lIns="0" tIns="0" rIns="0" bIns="0" anchor="t">
            <a:spAutoFit/>
          </a:bodyPr>
          <a:lstStyle/>
          <a:p>
            <a:pPr marL="0" indent="0" algn="l">
              <a:lnSpc>
                <a:spcPct val="108000"/>
              </a:lnSpc>
              <a:buNone/>
            </a:pPr>
            <a:r>
              <a:rPr sz="1335">
                <a:solidFill>
                  <a:srgbClr val="A6B2C4"/>
                </a:solidFill>
                <a:latin typeface="Arial" panose="020B0604020202020204"/>
                <a:ea typeface="Arial" panose="020B0604020202020204"/>
                <a:cs typeface="Arial" panose="020B0604020202020204"/>
              </a:rPr>
              <a:t>A clean investigation note makes your reasoning visible and repeatable.</a:t>
            </a:r>
            <a:endParaRPr sz="1335"/>
          </a:p>
        </p:txBody>
      </p:sp>
      <p:sp>
        <p:nvSpPr>
          <p:cNvPr id="11" name="Text 5"/>
          <p:cNvSpPr>
            <a:spLocks noGrp="1"/>
          </p:cNvSpPr>
          <p:nvPr/>
        </p:nvSpPr>
        <p:spPr>
          <a:xfrm>
            <a:off x="952500" y="4589189"/>
            <a:ext cx="2809875" cy="630555"/>
          </a:xfrm>
          <a:prstGeom prst="rect">
            <a:avLst/>
          </a:prstGeom>
          <a:noFill/>
        </p:spPr>
        <p:txBody>
          <a:bodyPr wrap="square" lIns="0" tIns="0" rIns="0" bIns="0" anchor="t">
            <a:spAutoFit/>
          </a:bodyPr>
          <a:lstStyle/>
          <a:p>
            <a:pPr marL="0" indent="0" algn="l">
              <a:lnSpc>
                <a:spcPct val="114000"/>
              </a:lnSpc>
              <a:buNone/>
            </a:pPr>
            <a:r>
              <a:rPr sz="1135" b="1">
                <a:solidFill>
                  <a:srgbClr val="FFFFFF"/>
                </a:solidFill>
                <a:latin typeface="Arial" panose="020B0604020202020204"/>
                <a:ea typeface="Arial" panose="020B0604020202020204"/>
                <a:cs typeface="Arial" panose="020B0604020202020204"/>
              </a:rPr>
              <a:t>Screenshot this slide.</a:t>
            </a:r>
            <a:endParaRPr sz="1135"/>
          </a:p>
          <a:p>
            <a:pPr marL="0" indent="0" algn="l">
              <a:lnSpc>
                <a:spcPct val="114000"/>
              </a:lnSpc>
              <a:buNone/>
            </a:pPr>
            <a:r>
              <a:rPr sz="1135" b="1">
                <a:solidFill>
                  <a:srgbClr val="FFFFFF"/>
                </a:solidFill>
                <a:latin typeface="Arial" panose="020B0604020202020204"/>
                <a:ea typeface="Arial" panose="020B0604020202020204"/>
                <a:cs typeface="Arial" panose="020B0604020202020204"/>
              </a:rPr>
              <a:t>Use this structure after every decoding task.</a:t>
            </a:r>
            <a:endParaRPr sz="1135"/>
          </a:p>
        </p:txBody>
      </p:sp>
      <p:sp>
        <p:nvSpPr>
          <p:cNvPr id="12" name="Text 6"/>
          <p:cNvSpPr>
            <a:spLocks noGrp="1"/>
          </p:cNvSpPr>
          <p:nvPr/>
        </p:nvSpPr>
        <p:spPr>
          <a:xfrm>
            <a:off x="4591051" y="1381125"/>
            <a:ext cx="2027263" cy="174625"/>
          </a:xfrm>
          <a:prstGeom prst="rect">
            <a:avLst/>
          </a:prstGeom>
          <a:noFill/>
        </p:spPr>
        <p:txBody>
          <a:bodyPr wrap="square" lIns="0" tIns="0" rIns="0" bIns="0" anchor="t">
            <a:spAutoFit/>
          </a:bodyPr>
          <a:lstStyle/>
          <a:p>
            <a:pPr marL="0" indent="0" algn="l">
              <a:buNone/>
            </a:pPr>
            <a:r>
              <a:rPr sz="1135" b="1" spc="1">
                <a:solidFill>
                  <a:srgbClr val="DCE8F5"/>
                </a:solidFill>
                <a:latin typeface="Consolas" panose="020B0609020204030204"/>
                <a:ea typeface="Consolas" panose="020B0609020204030204"/>
                <a:cs typeface="Consolas" panose="020B0609020204030204"/>
              </a:rPr>
              <a:t>FILE_INVESTIGATION.md</a:t>
            </a:r>
            <a:endParaRPr sz="1135"/>
          </a:p>
        </p:txBody>
      </p:sp>
      <p:sp>
        <p:nvSpPr>
          <p:cNvPr id="13" name="Text 7"/>
          <p:cNvSpPr>
            <a:spLocks noGrp="1"/>
          </p:cNvSpPr>
          <p:nvPr/>
        </p:nvSpPr>
        <p:spPr>
          <a:xfrm>
            <a:off x="9032231" y="1381125"/>
            <a:ext cx="2207269" cy="167005"/>
          </a:xfrm>
          <a:prstGeom prst="rect">
            <a:avLst/>
          </a:prstGeom>
          <a:noFill/>
        </p:spPr>
        <p:txBody>
          <a:bodyPr wrap="square" lIns="0" tIns="34036" rIns="0" bIns="0" anchor="t">
            <a:spAutoFit/>
          </a:bodyPr>
          <a:lstStyle/>
          <a:p>
            <a:pPr marL="0" indent="0" algn="l">
              <a:buNone/>
            </a:pPr>
            <a:r>
              <a:rPr sz="865">
                <a:solidFill>
                  <a:srgbClr val="728095"/>
                </a:solidFill>
                <a:latin typeface="Arial" panose="020B0604020202020204"/>
                <a:ea typeface="Arial" panose="020B0604020202020204"/>
                <a:cs typeface="Arial" panose="020B0604020202020204"/>
              </a:rPr>
              <a:t>KEEP IT SHORT · KEEP IT HONEST</a:t>
            </a:r>
            <a:endParaRPr sz="865"/>
          </a:p>
        </p:txBody>
      </p:sp>
      <p:sp>
        <p:nvSpPr>
          <p:cNvPr id="14" name="Text 8"/>
          <p:cNvSpPr>
            <a:spLocks noGrp="1"/>
          </p:cNvSpPr>
          <p:nvPr/>
        </p:nvSpPr>
        <p:spPr>
          <a:xfrm>
            <a:off x="4591051" y="2040731"/>
            <a:ext cx="2857500" cy="194310"/>
          </a:xfrm>
          <a:prstGeom prst="rect">
            <a:avLst/>
          </a:prstGeom>
          <a:noFill/>
        </p:spPr>
        <p:txBody>
          <a:bodyPr wrap="square" lIns="0" tIns="0" rIns="0" bIns="0" anchor="t">
            <a:spAutoFit/>
          </a:bodyPr>
          <a:lstStyle/>
          <a:p>
            <a:pPr marL="0" indent="0" algn="l">
              <a:buNone/>
            </a:pPr>
            <a:r>
              <a:rPr sz="1265" b="1">
                <a:solidFill>
                  <a:srgbClr val="FFFFFF"/>
                </a:solidFill>
                <a:latin typeface="Arial" panose="020B0604020202020204"/>
                <a:ea typeface="Arial" panose="020B0604020202020204"/>
                <a:cs typeface="Arial" panose="020B0604020202020204"/>
              </a:rPr>
              <a:t>Input / filename:</a:t>
            </a:r>
            <a:endParaRPr sz="1265"/>
          </a:p>
        </p:txBody>
      </p:sp>
      <p:sp>
        <p:nvSpPr>
          <p:cNvPr id="15" name="Text 9"/>
          <p:cNvSpPr>
            <a:spLocks noGrp="1"/>
          </p:cNvSpPr>
          <p:nvPr/>
        </p:nvSpPr>
        <p:spPr>
          <a:xfrm>
            <a:off x="4591051" y="2736056"/>
            <a:ext cx="2857500" cy="194310"/>
          </a:xfrm>
          <a:prstGeom prst="rect">
            <a:avLst/>
          </a:prstGeom>
          <a:noFill/>
        </p:spPr>
        <p:txBody>
          <a:bodyPr wrap="square" lIns="0" tIns="0" rIns="0" bIns="0" anchor="t">
            <a:spAutoFit/>
          </a:bodyPr>
          <a:lstStyle/>
          <a:p>
            <a:pPr marL="0" indent="0" algn="l">
              <a:buNone/>
            </a:pPr>
            <a:r>
              <a:rPr sz="1265" b="1">
                <a:solidFill>
                  <a:srgbClr val="FFFFFF"/>
                </a:solidFill>
                <a:latin typeface="Arial" panose="020B0604020202020204"/>
                <a:ea typeface="Arial" panose="020B0604020202020204"/>
                <a:cs typeface="Arial" panose="020B0604020202020204"/>
              </a:rPr>
              <a:t>What I observed:</a:t>
            </a:r>
            <a:endParaRPr sz="1265"/>
          </a:p>
        </p:txBody>
      </p:sp>
      <p:sp>
        <p:nvSpPr>
          <p:cNvPr id="16" name="Text 10"/>
          <p:cNvSpPr>
            <a:spLocks noGrp="1"/>
          </p:cNvSpPr>
          <p:nvPr/>
        </p:nvSpPr>
        <p:spPr>
          <a:xfrm>
            <a:off x="4591051" y="3381375"/>
            <a:ext cx="2857500" cy="389255"/>
          </a:xfrm>
          <a:prstGeom prst="rect">
            <a:avLst/>
          </a:prstGeom>
          <a:noFill/>
        </p:spPr>
        <p:txBody>
          <a:bodyPr wrap="square" lIns="0" tIns="0" rIns="0" bIns="0" anchor="t">
            <a:spAutoFit/>
          </a:bodyPr>
          <a:lstStyle/>
          <a:p>
            <a:pPr marL="0" indent="0" algn="l">
              <a:buNone/>
            </a:pPr>
            <a:r>
              <a:rPr sz="1265" b="1">
                <a:solidFill>
                  <a:srgbClr val="FFB080"/>
                </a:solidFill>
                <a:latin typeface="Arial" panose="020B0604020202020204"/>
                <a:ea typeface="Arial" panose="020B0604020202020204"/>
                <a:cs typeface="Arial" panose="020B0604020202020204"/>
              </a:rPr>
              <a:t>Encoding or file type suspected:</a:t>
            </a:r>
            <a:endParaRPr sz="1265"/>
          </a:p>
        </p:txBody>
      </p:sp>
      <p:sp>
        <p:nvSpPr>
          <p:cNvPr id="17" name="Text 11"/>
          <p:cNvSpPr>
            <a:spLocks noGrp="1"/>
          </p:cNvSpPr>
          <p:nvPr/>
        </p:nvSpPr>
        <p:spPr>
          <a:xfrm>
            <a:off x="9429751" y="3435101"/>
            <a:ext cx="1809751" cy="130175"/>
          </a:xfrm>
          <a:prstGeom prst="rect">
            <a:avLst/>
          </a:prstGeom>
          <a:noFill/>
        </p:spPr>
        <p:txBody>
          <a:bodyPr wrap="square" lIns="0" tIns="0" rIns="0" bIns="0" anchor="t">
            <a:spAutoFit/>
          </a:bodyPr>
          <a:lstStyle/>
          <a:p>
            <a:pPr marL="0" indent="0" algn="l">
              <a:lnSpc>
                <a:spcPct val="98000"/>
              </a:lnSpc>
              <a:buNone/>
            </a:pPr>
            <a:r>
              <a:rPr sz="865" b="1">
                <a:solidFill>
                  <a:srgbClr val="FF6B1A"/>
                </a:solidFill>
                <a:latin typeface="Arial" panose="020B0604020202020204"/>
                <a:ea typeface="Arial" panose="020B0604020202020204"/>
                <a:cs typeface="Arial" panose="020B0604020202020204"/>
              </a:rPr>
              <a:t>THIS IS YOUR HYPOTHESIS.</a:t>
            </a:r>
            <a:endParaRPr sz="865"/>
          </a:p>
        </p:txBody>
      </p:sp>
      <p:sp>
        <p:nvSpPr>
          <p:cNvPr id="18" name="Text 12"/>
          <p:cNvSpPr>
            <a:spLocks noGrp="1"/>
          </p:cNvSpPr>
          <p:nvPr/>
        </p:nvSpPr>
        <p:spPr>
          <a:xfrm>
            <a:off x="4591051" y="4231481"/>
            <a:ext cx="2857500" cy="194310"/>
          </a:xfrm>
          <a:prstGeom prst="rect">
            <a:avLst/>
          </a:prstGeom>
          <a:noFill/>
        </p:spPr>
        <p:txBody>
          <a:bodyPr wrap="square" lIns="0" tIns="0" rIns="0" bIns="0" anchor="t">
            <a:spAutoFit/>
          </a:bodyPr>
          <a:lstStyle/>
          <a:p>
            <a:pPr marL="0" indent="0" algn="l">
              <a:buNone/>
            </a:pPr>
            <a:r>
              <a:rPr sz="1265" b="1">
                <a:solidFill>
                  <a:srgbClr val="FFFFFF"/>
                </a:solidFill>
                <a:latin typeface="Arial" panose="020B0604020202020204"/>
                <a:ea typeface="Arial" panose="020B0604020202020204"/>
                <a:cs typeface="Arial" panose="020B0604020202020204"/>
              </a:rPr>
              <a:t>Tool or command:</a:t>
            </a:r>
            <a:endParaRPr sz="1265"/>
          </a:p>
        </p:txBody>
      </p:sp>
      <p:sp>
        <p:nvSpPr>
          <p:cNvPr id="19" name="Text 13"/>
          <p:cNvSpPr>
            <a:spLocks noGrp="1"/>
          </p:cNvSpPr>
          <p:nvPr/>
        </p:nvSpPr>
        <p:spPr>
          <a:xfrm>
            <a:off x="4591051" y="4926807"/>
            <a:ext cx="2857500" cy="194310"/>
          </a:xfrm>
          <a:prstGeom prst="rect">
            <a:avLst/>
          </a:prstGeom>
          <a:noFill/>
        </p:spPr>
        <p:txBody>
          <a:bodyPr wrap="square" lIns="0" tIns="0" rIns="0" bIns="0" anchor="t">
            <a:spAutoFit/>
          </a:bodyPr>
          <a:lstStyle/>
          <a:p>
            <a:pPr marL="0" indent="0" algn="l">
              <a:buNone/>
            </a:pPr>
            <a:r>
              <a:rPr sz="1265" b="1">
                <a:solidFill>
                  <a:srgbClr val="FFFFFF"/>
                </a:solidFill>
                <a:latin typeface="Arial" panose="020B0604020202020204"/>
                <a:ea typeface="Arial" panose="020B0604020202020204"/>
                <a:cs typeface="Arial" panose="020B0604020202020204"/>
              </a:rPr>
              <a:t>Verified output:</a:t>
            </a:r>
            <a:endParaRPr sz="1265"/>
          </a:p>
        </p:txBody>
      </p:sp>
      <p:sp>
        <p:nvSpPr>
          <p:cNvPr id="20" name="Shape 14"/>
          <p:cNvSpPr>
            <a:spLocks noGrp="1"/>
          </p:cNvSpPr>
          <p:nvPr/>
        </p:nvSpPr>
        <p:spPr>
          <a:xfrm>
            <a:off x="723900" y="6191251"/>
            <a:ext cx="10744200" cy="666751"/>
          </a:xfrm>
          <a:prstGeom prst="rect">
            <a:avLst/>
          </a:prstGeom>
          <a:solidFill>
            <a:srgbClr val="000000">
              <a:alpha val="0"/>
            </a:srgbClr>
          </a:solidFill>
        </p:spPr>
      </p:sp>
      <p:sp>
        <p:nvSpPr>
          <p:cNvPr id="21" name="Shape 15"/>
          <p:cNvSpPr>
            <a:spLocks noGrp="1"/>
          </p:cNvSpPr>
          <p:nvPr/>
        </p:nvSpPr>
        <p:spPr>
          <a:xfrm>
            <a:off x="723900" y="6191251"/>
            <a:ext cx="10744200" cy="9525"/>
          </a:xfrm>
          <a:prstGeom prst="rect">
            <a:avLst/>
          </a:prstGeom>
          <a:solidFill>
            <a:srgbClr val="FFFFFF"/>
          </a:solidFill>
        </p:spPr>
      </p:sp>
      <p:sp>
        <p:nvSpPr>
          <p:cNvPr id="22" name="Text 16"/>
          <p:cNvSpPr>
            <a:spLocks noGrp="1"/>
          </p:cNvSpPr>
          <p:nvPr/>
        </p:nvSpPr>
        <p:spPr>
          <a:xfrm>
            <a:off x="723900" y="6362700"/>
            <a:ext cx="1282700" cy="144145"/>
          </a:xfrm>
          <a:prstGeom prst="rect">
            <a:avLst/>
          </a:prstGeom>
          <a:noFill/>
        </p:spPr>
        <p:txBody>
          <a:bodyPr wrap="none" lIns="0" tIns="0" rIns="0" bIns="0" anchor="t">
            <a:spAutoFit/>
          </a:bodyPr>
          <a:lstStyle/>
          <a:p>
            <a:pPr marL="0" indent="0" algn="l">
              <a:buNone/>
            </a:pPr>
            <a:r>
              <a:rPr sz="935" b="1">
                <a:solidFill>
                  <a:srgbClr val="00D4FF"/>
                </a:solidFill>
                <a:latin typeface="Arial" panose="020B0604020202020204"/>
                <a:ea typeface="Arial" panose="020B0604020202020204"/>
                <a:cs typeface="Arial" panose="020B0604020202020204"/>
              </a:rPr>
              <a:t>EVIDENCE &gt; GUESSING</a:t>
            </a:r>
            <a:endParaRPr sz="935"/>
          </a:p>
        </p:txBody>
      </p:sp>
      <p:sp>
        <p:nvSpPr>
          <p:cNvPr id="23" name="Text 17"/>
          <p:cNvSpPr>
            <a:spLocks noGrp="1"/>
          </p:cNvSpPr>
          <p:nvPr/>
        </p:nvSpPr>
        <p:spPr>
          <a:xfrm>
            <a:off x="10874797" y="6362700"/>
            <a:ext cx="564515" cy="153670"/>
          </a:xfrm>
          <a:prstGeom prst="rect">
            <a:avLst/>
          </a:prstGeom>
          <a:noFill/>
        </p:spPr>
        <p:txBody>
          <a:bodyPr wrap="none" lIns="0" tIns="0"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0:25–0:40</a:t>
            </a:r>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1"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34" name="Image 1"/>
          <p:cNvPicPr>
            <a:picLocks noChangeAspect="1"/>
          </p:cNvPicPr>
          <p:nvPr/>
        </p:nvPicPr>
        <p:blipFill>
          <a:blip r:embed="rId2"/>
          <a:stretch>
            <a:fillRect/>
          </a:stretch>
        </p:blipFill>
        <p:spPr>
          <a:xfrm>
            <a:off x="723900" y="190500"/>
            <a:ext cx="590551" cy="590551"/>
          </a:xfrm>
          <a:prstGeom prst="rect">
            <a:avLst/>
          </a:prstGeom>
        </p:spPr>
      </p:pic>
      <p:pic>
        <p:nvPicPr>
          <p:cNvPr id="35"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1028700" y="971551"/>
            <a:ext cx="10134600" cy="541020"/>
          </a:xfrm>
          <a:prstGeom prst="rect">
            <a:avLst/>
          </a:prstGeom>
          <a:noFill/>
        </p:spPr>
        <p:txBody>
          <a:bodyPr wrap="square" lIns="0" tIns="396917" rIns="0" bIns="0" anchor="t">
            <a:spAutoFit/>
          </a:bodyPr>
          <a:lstStyle/>
          <a:p>
            <a:pPr marL="0" indent="0" algn="l">
              <a:buNone/>
            </a:pPr>
            <a:r>
              <a:rPr sz="935" b="1" spc="2">
                <a:solidFill>
                  <a:srgbClr val="00D4FF"/>
                </a:solidFill>
                <a:latin typeface="Arial" panose="020B0604020202020204"/>
                <a:ea typeface="Arial" panose="020B0604020202020204"/>
                <a:cs typeface="Arial" panose="020B0604020202020204"/>
              </a:rPr>
              <a:t>ENCODING MAP</a:t>
            </a:r>
            <a:endParaRPr sz="935"/>
          </a:p>
        </p:txBody>
      </p:sp>
      <p:sp>
        <p:nvSpPr>
          <p:cNvPr id="9" name="Text 3"/>
          <p:cNvSpPr>
            <a:spLocks noGrp="1"/>
          </p:cNvSpPr>
          <p:nvPr/>
        </p:nvSpPr>
        <p:spPr>
          <a:xfrm>
            <a:off x="1028700" y="1533525"/>
            <a:ext cx="3233420" cy="442595"/>
          </a:xfrm>
          <a:prstGeom prst="rect">
            <a:avLst/>
          </a:prstGeom>
          <a:noFill/>
        </p:spPr>
        <p:txBody>
          <a:bodyPr wrap="none" lIns="0" tIns="0" rIns="0" bIns="0" anchor="t">
            <a:spAutoFit/>
          </a:bodyPr>
          <a:lstStyle/>
          <a:p>
            <a:pPr marL="0" indent="0" algn="l">
              <a:lnSpc>
                <a:spcPct val="83000"/>
              </a:lnSpc>
              <a:buNone/>
            </a:pPr>
            <a:r>
              <a:rPr sz="3465" b="1" spc="-1">
                <a:solidFill>
                  <a:srgbClr val="FFFFFF"/>
                </a:solidFill>
                <a:latin typeface="Arial" panose="020B0604020202020204"/>
                <a:ea typeface="Arial" panose="020B0604020202020204"/>
                <a:cs typeface="Arial" panose="020B0604020202020204"/>
              </a:rPr>
              <a:t>Six common CTF patterns.</a:t>
            </a:r>
            <a:endParaRPr sz="3465"/>
          </a:p>
        </p:txBody>
      </p:sp>
      <p:sp>
        <p:nvSpPr>
          <p:cNvPr id="10" name="Text 4"/>
          <p:cNvSpPr>
            <a:spLocks noGrp="1"/>
          </p:cNvSpPr>
          <p:nvPr/>
        </p:nvSpPr>
        <p:spPr>
          <a:xfrm>
            <a:off x="1028700" y="2143497"/>
            <a:ext cx="10134600" cy="205740"/>
          </a:xfrm>
          <a:prstGeom prst="rect">
            <a:avLst/>
          </a:prstGeom>
          <a:noFill/>
        </p:spPr>
        <p:txBody>
          <a:bodyPr wrap="square" lIns="0" tIns="0" rIns="0" bIns="0" anchor="t">
            <a:spAutoFit/>
          </a:bodyPr>
          <a:lstStyle/>
          <a:p>
            <a:pPr marL="0" indent="0" algn="l">
              <a:buNone/>
            </a:pPr>
            <a:r>
              <a:rPr sz="1335">
                <a:solidFill>
                  <a:srgbClr val="9DA9BB"/>
                </a:solidFill>
                <a:latin typeface="Arial" panose="020B0604020202020204"/>
                <a:ea typeface="Arial" panose="020B0604020202020204"/>
                <a:cs typeface="Arial" panose="020B0604020202020204"/>
              </a:rPr>
              <a:t>Look at the alphabet and structure before using a decoder.</a:t>
            </a:r>
            <a:endParaRPr sz="1335"/>
          </a:p>
        </p:txBody>
      </p:sp>
      <p:sp>
        <p:nvSpPr>
          <p:cNvPr id="11" name="Text 5"/>
          <p:cNvSpPr>
            <a:spLocks noGrp="1"/>
          </p:cNvSpPr>
          <p:nvPr/>
        </p:nvSpPr>
        <p:spPr>
          <a:xfrm>
            <a:off x="1314451" y="3326979"/>
            <a:ext cx="523240" cy="144145"/>
          </a:xfrm>
          <a:prstGeom prst="rect">
            <a:avLst/>
          </a:prstGeom>
          <a:noFill/>
        </p:spPr>
        <p:txBody>
          <a:bodyPr wrap="none" lIns="0" tIns="0" rIns="0" bIns="0" anchor="t">
            <a:spAutoFit/>
          </a:bodyPr>
          <a:lstStyle/>
          <a:p>
            <a:pPr marL="0" indent="0" algn="l">
              <a:buNone/>
            </a:pPr>
            <a:r>
              <a:rPr sz="935" b="1" spc="1">
                <a:solidFill>
                  <a:srgbClr val="FF6B1A"/>
                </a:solidFill>
                <a:latin typeface="Consolas" panose="020B0609020204030204"/>
                <a:ea typeface="Consolas" panose="020B0609020204030204"/>
                <a:cs typeface="Consolas" panose="020B0609020204030204"/>
              </a:rPr>
              <a:t>01 / BASE64</a:t>
            </a:r>
            <a:endParaRPr sz="935"/>
          </a:p>
        </p:txBody>
      </p:sp>
      <p:sp>
        <p:nvSpPr>
          <p:cNvPr id="12" name="Text 6"/>
          <p:cNvSpPr>
            <a:spLocks noGrp="1"/>
          </p:cNvSpPr>
          <p:nvPr/>
        </p:nvSpPr>
        <p:spPr>
          <a:xfrm>
            <a:off x="2190751" y="3263875"/>
            <a:ext cx="443230" cy="235585"/>
          </a:xfrm>
          <a:prstGeom prst="rect">
            <a:avLst/>
          </a:prstGeom>
          <a:noFill/>
        </p:spPr>
        <p:txBody>
          <a:bodyPr wrap="none" lIns="0" tIns="0" rIns="0" bIns="0" anchor="t">
            <a:spAutoFit/>
          </a:bodyPr>
          <a:lstStyle/>
          <a:p>
            <a:pPr marL="0" indent="0" algn="l">
              <a:lnSpc>
                <a:spcPct val="92000"/>
              </a:lnSpc>
              <a:buNone/>
            </a:pPr>
            <a:r>
              <a:rPr sz="1665" b="1">
                <a:solidFill>
                  <a:srgbClr val="FFFFFF"/>
                </a:solidFill>
                <a:latin typeface="Arial" panose="020B0604020202020204"/>
                <a:ea typeface="Arial" panose="020B0604020202020204"/>
                <a:cs typeface="Arial" panose="020B0604020202020204"/>
              </a:rPr>
              <a:t>Base64</a:t>
            </a:r>
            <a:endParaRPr sz="1665"/>
          </a:p>
        </p:txBody>
      </p:sp>
      <p:sp>
        <p:nvSpPr>
          <p:cNvPr id="13" name="Text 7"/>
          <p:cNvSpPr>
            <a:spLocks noGrp="1"/>
          </p:cNvSpPr>
          <p:nvPr/>
        </p:nvSpPr>
        <p:spPr>
          <a:xfrm>
            <a:off x="4689425" y="3253160"/>
            <a:ext cx="719455" cy="144145"/>
          </a:xfrm>
          <a:prstGeom prst="rect">
            <a:avLst/>
          </a:prstGeom>
          <a:noFill/>
        </p:spPr>
        <p:txBody>
          <a:bodyPr wrap="none" lIns="0" tIns="0" rIns="0" bIns="0" anchor="t">
            <a:spAutoFit/>
          </a:bodyPr>
          <a:lstStyle/>
          <a:p>
            <a:pPr marL="0" indent="0" algn="l">
              <a:buNone/>
            </a:pPr>
            <a:r>
              <a:rPr sz="935" b="1" spc="1">
                <a:solidFill>
                  <a:srgbClr val="00D4FF"/>
                </a:solidFill>
                <a:latin typeface="Consolas" panose="020B0609020204030204"/>
                <a:ea typeface="Consolas" panose="020B0609020204030204"/>
                <a:cs typeface="Consolas" panose="020B0609020204030204"/>
              </a:rPr>
              <a:t>02 / HEX</a:t>
            </a:r>
            <a:endParaRPr sz="935"/>
          </a:p>
        </p:txBody>
      </p:sp>
      <p:sp>
        <p:nvSpPr>
          <p:cNvPr id="14" name="Text 8"/>
          <p:cNvSpPr>
            <a:spLocks noGrp="1"/>
          </p:cNvSpPr>
          <p:nvPr/>
        </p:nvSpPr>
        <p:spPr>
          <a:xfrm>
            <a:off x="5565725" y="3263875"/>
            <a:ext cx="683260" cy="235585"/>
          </a:xfrm>
          <a:prstGeom prst="rect">
            <a:avLst/>
          </a:prstGeom>
          <a:noFill/>
        </p:spPr>
        <p:txBody>
          <a:bodyPr wrap="none" lIns="0" tIns="0" rIns="0" bIns="0" anchor="t">
            <a:spAutoFit/>
          </a:bodyPr>
          <a:lstStyle/>
          <a:p>
            <a:pPr marL="0" indent="0" algn="l">
              <a:lnSpc>
                <a:spcPct val="92000"/>
              </a:lnSpc>
              <a:buNone/>
            </a:pPr>
            <a:r>
              <a:rPr sz="1665" b="1">
                <a:solidFill>
                  <a:srgbClr val="FFFFFF"/>
                </a:solidFill>
                <a:latin typeface="Arial" panose="020B0604020202020204"/>
                <a:ea typeface="Arial" panose="020B0604020202020204"/>
                <a:cs typeface="Arial" panose="020B0604020202020204"/>
              </a:rPr>
              <a:t>Hexadecimal</a:t>
            </a:r>
            <a:endParaRPr sz="1665"/>
          </a:p>
        </p:txBody>
      </p:sp>
      <p:sp>
        <p:nvSpPr>
          <p:cNvPr id="15" name="Text 9"/>
          <p:cNvSpPr>
            <a:spLocks noGrp="1"/>
          </p:cNvSpPr>
          <p:nvPr/>
        </p:nvSpPr>
        <p:spPr>
          <a:xfrm>
            <a:off x="8064475" y="3253160"/>
            <a:ext cx="915670" cy="144145"/>
          </a:xfrm>
          <a:prstGeom prst="rect">
            <a:avLst/>
          </a:prstGeom>
          <a:noFill/>
        </p:spPr>
        <p:txBody>
          <a:bodyPr wrap="none" lIns="0" tIns="0" rIns="0" bIns="0" anchor="t">
            <a:spAutoFit/>
          </a:bodyPr>
          <a:lstStyle/>
          <a:p>
            <a:pPr marL="0" indent="0" algn="l">
              <a:buNone/>
            </a:pPr>
            <a:r>
              <a:rPr sz="935" b="1" spc="1">
                <a:solidFill>
                  <a:srgbClr val="00D4FF"/>
                </a:solidFill>
                <a:latin typeface="Consolas" panose="020B0609020204030204"/>
                <a:ea typeface="Consolas" panose="020B0609020204030204"/>
                <a:cs typeface="Consolas" panose="020B0609020204030204"/>
              </a:rPr>
              <a:t>03 / ASCII</a:t>
            </a:r>
            <a:endParaRPr sz="935"/>
          </a:p>
        </p:txBody>
      </p:sp>
      <p:sp>
        <p:nvSpPr>
          <p:cNvPr id="16" name="Text 10"/>
          <p:cNvSpPr>
            <a:spLocks noGrp="1"/>
          </p:cNvSpPr>
          <p:nvPr/>
        </p:nvSpPr>
        <p:spPr>
          <a:xfrm>
            <a:off x="8940775" y="3263875"/>
            <a:ext cx="1002665" cy="235585"/>
          </a:xfrm>
          <a:prstGeom prst="rect">
            <a:avLst/>
          </a:prstGeom>
          <a:noFill/>
        </p:spPr>
        <p:txBody>
          <a:bodyPr wrap="none" lIns="0" tIns="0" rIns="0" bIns="0" anchor="t">
            <a:spAutoFit/>
          </a:bodyPr>
          <a:lstStyle/>
          <a:p>
            <a:pPr marL="0" indent="0" algn="l">
              <a:lnSpc>
                <a:spcPct val="92000"/>
              </a:lnSpc>
              <a:buNone/>
            </a:pPr>
            <a:r>
              <a:rPr sz="1665" b="1">
                <a:solidFill>
                  <a:srgbClr val="FFFFFF"/>
                </a:solidFill>
                <a:latin typeface="Arial" panose="020B0604020202020204"/>
                <a:ea typeface="Arial" panose="020B0604020202020204"/>
                <a:cs typeface="Arial" panose="020B0604020202020204"/>
              </a:rPr>
              <a:t>ASCII</a:t>
            </a:r>
            <a:endParaRPr sz="1665"/>
          </a:p>
        </p:txBody>
      </p:sp>
      <p:sp>
        <p:nvSpPr>
          <p:cNvPr id="17" name="Text 11"/>
          <p:cNvSpPr>
            <a:spLocks noGrp="1"/>
          </p:cNvSpPr>
          <p:nvPr/>
        </p:nvSpPr>
        <p:spPr>
          <a:xfrm>
            <a:off x="1314451" y="4812879"/>
            <a:ext cx="457835" cy="144145"/>
          </a:xfrm>
          <a:prstGeom prst="rect">
            <a:avLst/>
          </a:prstGeom>
          <a:noFill/>
        </p:spPr>
        <p:txBody>
          <a:bodyPr wrap="none" lIns="0" tIns="0" rIns="0" bIns="0" anchor="t">
            <a:spAutoFit/>
          </a:bodyPr>
          <a:lstStyle/>
          <a:p>
            <a:pPr marL="0" indent="0" algn="l">
              <a:buNone/>
            </a:pPr>
            <a:r>
              <a:rPr sz="935" b="1" spc="1">
                <a:solidFill>
                  <a:srgbClr val="00D4FF"/>
                </a:solidFill>
                <a:latin typeface="Consolas" panose="020B0609020204030204"/>
                <a:ea typeface="Consolas" panose="020B0609020204030204"/>
                <a:cs typeface="Consolas" panose="020B0609020204030204"/>
              </a:rPr>
              <a:t>04 / URL</a:t>
            </a:r>
            <a:endParaRPr sz="935"/>
          </a:p>
        </p:txBody>
      </p:sp>
      <p:sp>
        <p:nvSpPr>
          <p:cNvPr id="18" name="Text 12"/>
          <p:cNvSpPr>
            <a:spLocks noGrp="1"/>
          </p:cNvSpPr>
          <p:nvPr/>
        </p:nvSpPr>
        <p:spPr>
          <a:xfrm>
            <a:off x="2190751" y="4612853"/>
            <a:ext cx="1375991" cy="471805"/>
          </a:xfrm>
          <a:prstGeom prst="rect">
            <a:avLst/>
          </a:prstGeom>
          <a:noFill/>
        </p:spPr>
        <p:txBody>
          <a:bodyPr wrap="square" lIns="0" tIns="0" rIns="0" bIns="0" anchor="t">
            <a:spAutoFit/>
          </a:bodyPr>
          <a:lstStyle/>
          <a:p>
            <a:pPr marL="0" indent="0" algn="l">
              <a:lnSpc>
                <a:spcPct val="92000"/>
              </a:lnSpc>
              <a:buNone/>
            </a:pPr>
            <a:r>
              <a:rPr sz="1665" b="1">
                <a:solidFill>
                  <a:srgbClr val="FFFFFF"/>
                </a:solidFill>
                <a:latin typeface="Arial" panose="020B0604020202020204"/>
                <a:ea typeface="Arial" panose="020B0604020202020204"/>
                <a:cs typeface="Arial" panose="020B0604020202020204"/>
              </a:rPr>
              <a:t>URL</a:t>
            </a:r>
            <a:endParaRPr sz="1665"/>
          </a:p>
          <a:p>
            <a:pPr marL="0" indent="0" algn="l">
              <a:lnSpc>
                <a:spcPct val="92000"/>
              </a:lnSpc>
              <a:buNone/>
            </a:pPr>
            <a:r>
              <a:rPr sz="1665" b="1">
                <a:solidFill>
                  <a:srgbClr val="FFFFFF"/>
                </a:solidFill>
                <a:latin typeface="Arial" panose="020B0604020202020204"/>
                <a:ea typeface="Arial" panose="020B0604020202020204"/>
                <a:cs typeface="Arial" panose="020B0604020202020204"/>
              </a:rPr>
              <a:t>Encoding</a:t>
            </a:r>
            <a:endParaRPr sz="1665"/>
          </a:p>
        </p:txBody>
      </p:sp>
      <p:sp>
        <p:nvSpPr>
          <p:cNvPr id="19" name="Text 13"/>
          <p:cNvSpPr>
            <a:spLocks noGrp="1"/>
          </p:cNvSpPr>
          <p:nvPr/>
        </p:nvSpPr>
        <p:spPr>
          <a:xfrm>
            <a:off x="4689425" y="4812879"/>
            <a:ext cx="523240" cy="144145"/>
          </a:xfrm>
          <a:prstGeom prst="rect">
            <a:avLst/>
          </a:prstGeom>
          <a:noFill/>
        </p:spPr>
        <p:txBody>
          <a:bodyPr wrap="none" lIns="0" tIns="0" rIns="0" bIns="0" anchor="t">
            <a:spAutoFit/>
          </a:bodyPr>
          <a:lstStyle/>
          <a:p>
            <a:pPr marL="0" indent="0" algn="l">
              <a:buNone/>
            </a:pPr>
            <a:r>
              <a:rPr sz="935" b="1" spc="1">
                <a:solidFill>
                  <a:srgbClr val="00D4FF"/>
                </a:solidFill>
                <a:latin typeface="Consolas" panose="020B0609020204030204"/>
                <a:ea typeface="Consolas" panose="020B0609020204030204"/>
                <a:cs typeface="Consolas" panose="020B0609020204030204"/>
              </a:rPr>
              <a:t>05 / ROT</a:t>
            </a:r>
            <a:endParaRPr sz="935"/>
          </a:p>
        </p:txBody>
      </p:sp>
      <p:sp>
        <p:nvSpPr>
          <p:cNvPr id="20" name="Text 14"/>
          <p:cNvSpPr>
            <a:spLocks noGrp="1"/>
          </p:cNvSpPr>
          <p:nvPr/>
        </p:nvSpPr>
        <p:spPr>
          <a:xfrm>
            <a:off x="5565725" y="4639047"/>
            <a:ext cx="494665" cy="235585"/>
          </a:xfrm>
          <a:prstGeom prst="rect">
            <a:avLst/>
          </a:prstGeom>
          <a:noFill/>
        </p:spPr>
        <p:txBody>
          <a:bodyPr wrap="none" lIns="0" tIns="0" rIns="0" bIns="0" anchor="t">
            <a:spAutoFit/>
          </a:bodyPr>
          <a:lstStyle/>
          <a:p>
            <a:pPr marL="0" indent="0" algn="l">
              <a:lnSpc>
                <a:spcPct val="92000"/>
              </a:lnSpc>
              <a:buNone/>
            </a:pPr>
            <a:r>
              <a:rPr sz="1665" b="1">
                <a:solidFill>
                  <a:srgbClr val="FFFFFF"/>
                </a:solidFill>
                <a:latin typeface="Arial" panose="020B0604020202020204"/>
                <a:ea typeface="Arial" panose="020B0604020202020204"/>
                <a:cs typeface="Arial" panose="020B0604020202020204"/>
              </a:rPr>
              <a:t>ROT13</a:t>
            </a:r>
            <a:endParaRPr sz="1665"/>
          </a:p>
        </p:txBody>
      </p:sp>
      <p:sp>
        <p:nvSpPr>
          <p:cNvPr id="21" name="Text 15"/>
          <p:cNvSpPr>
            <a:spLocks noGrp="1"/>
          </p:cNvSpPr>
          <p:nvPr/>
        </p:nvSpPr>
        <p:spPr>
          <a:xfrm>
            <a:off x="5565725" y="4970041"/>
            <a:ext cx="1125855" cy="151130"/>
          </a:xfrm>
          <a:prstGeom prst="rect">
            <a:avLst/>
          </a:prstGeom>
          <a:noFill/>
        </p:spPr>
        <p:txBody>
          <a:bodyPr wrap="none" lIns="0" tIns="0" rIns="0" bIns="0" anchor="t">
            <a:spAutoFit/>
          </a:bodyPr>
          <a:lstStyle/>
          <a:p>
            <a:pPr marL="0" indent="0" algn="l">
              <a:lnSpc>
                <a:spcPct val="92000"/>
              </a:lnSpc>
              <a:buNone/>
            </a:pPr>
            <a:r>
              <a:rPr sz="1065">
                <a:solidFill>
                  <a:srgbClr val="8A96A9"/>
                </a:solidFill>
                <a:latin typeface="Arial" panose="020B0604020202020204"/>
                <a:ea typeface="Arial" panose="020B0604020202020204"/>
                <a:cs typeface="Arial" panose="020B0604020202020204"/>
              </a:rPr>
              <a:t>Caesar Shift</a:t>
            </a:r>
            <a:endParaRPr sz="1065"/>
          </a:p>
        </p:txBody>
      </p:sp>
      <p:sp>
        <p:nvSpPr>
          <p:cNvPr id="22" name="Text 16"/>
          <p:cNvSpPr>
            <a:spLocks noGrp="1"/>
          </p:cNvSpPr>
          <p:nvPr/>
        </p:nvSpPr>
        <p:spPr>
          <a:xfrm>
            <a:off x="8064475" y="4739060"/>
            <a:ext cx="654050" cy="144145"/>
          </a:xfrm>
          <a:prstGeom prst="rect">
            <a:avLst/>
          </a:prstGeom>
          <a:noFill/>
        </p:spPr>
        <p:txBody>
          <a:bodyPr wrap="none" lIns="0" tIns="0" rIns="0" bIns="0" anchor="t">
            <a:spAutoFit/>
          </a:bodyPr>
          <a:lstStyle/>
          <a:p>
            <a:pPr marL="0" indent="0" algn="l">
              <a:buNone/>
            </a:pPr>
            <a:r>
              <a:rPr sz="935" b="1" spc="1">
                <a:solidFill>
                  <a:srgbClr val="FF6B1A"/>
                </a:solidFill>
                <a:latin typeface="Consolas" panose="020B0609020204030204"/>
                <a:ea typeface="Consolas" panose="020B0609020204030204"/>
                <a:cs typeface="Consolas" panose="020B0609020204030204"/>
              </a:rPr>
              <a:t>06 / HASH</a:t>
            </a:r>
            <a:endParaRPr sz="935"/>
          </a:p>
        </p:txBody>
      </p:sp>
      <p:sp>
        <p:nvSpPr>
          <p:cNvPr id="23" name="Text 17"/>
          <p:cNvSpPr>
            <a:spLocks noGrp="1"/>
          </p:cNvSpPr>
          <p:nvPr/>
        </p:nvSpPr>
        <p:spPr>
          <a:xfrm>
            <a:off x="8940775" y="4639047"/>
            <a:ext cx="648335" cy="235585"/>
          </a:xfrm>
          <a:prstGeom prst="rect">
            <a:avLst/>
          </a:prstGeom>
          <a:noFill/>
        </p:spPr>
        <p:txBody>
          <a:bodyPr wrap="none" lIns="0" tIns="0" rIns="0" bIns="0" anchor="t">
            <a:spAutoFit/>
          </a:bodyPr>
          <a:lstStyle/>
          <a:p>
            <a:pPr marL="0" indent="0" algn="l">
              <a:lnSpc>
                <a:spcPct val="92000"/>
              </a:lnSpc>
              <a:buNone/>
            </a:pPr>
            <a:r>
              <a:rPr sz="1665" b="1">
                <a:solidFill>
                  <a:srgbClr val="FFFFFF"/>
                </a:solidFill>
                <a:latin typeface="Arial" panose="020B0604020202020204"/>
                <a:ea typeface="Arial" panose="020B0604020202020204"/>
                <a:cs typeface="Arial" panose="020B0604020202020204"/>
              </a:rPr>
              <a:t>MD5 / SHA</a:t>
            </a:r>
            <a:endParaRPr sz="1665"/>
          </a:p>
        </p:txBody>
      </p:sp>
      <p:sp>
        <p:nvSpPr>
          <p:cNvPr id="24" name="Text 18"/>
          <p:cNvSpPr>
            <a:spLocks noGrp="1"/>
          </p:cNvSpPr>
          <p:nvPr/>
        </p:nvSpPr>
        <p:spPr>
          <a:xfrm>
            <a:off x="8940775" y="4970041"/>
            <a:ext cx="1532890" cy="151130"/>
          </a:xfrm>
          <a:prstGeom prst="rect">
            <a:avLst/>
          </a:prstGeom>
          <a:noFill/>
        </p:spPr>
        <p:txBody>
          <a:bodyPr wrap="none" lIns="0" tIns="0" rIns="0" bIns="0" anchor="t">
            <a:spAutoFit/>
          </a:bodyPr>
          <a:lstStyle/>
          <a:p>
            <a:pPr marL="0" indent="0" algn="l">
              <a:lnSpc>
                <a:spcPct val="92000"/>
              </a:lnSpc>
              <a:buNone/>
            </a:pPr>
            <a:r>
              <a:rPr sz="1065">
                <a:solidFill>
                  <a:srgbClr val="8A96A9"/>
                </a:solidFill>
                <a:latin typeface="Arial" panose="020B0604020202020204"/>
                <a:ea typeface="Arial" panose="020B0604020202020204"/>
                <a:cs typeface="Arial" panose="020B0604020202020204"/>
              </a:rPr>
              <a:t>Fingerprint, not ciphertext</a:t>
            </a:r>
            <a:endParaRPr sz="1065"/>
          </a:p>
        </p:txBody>
      </p:sp>
      <p:sp>
        <p:nvSpPr>
          <p:cNvPr id="25" name="Shape 19"/>
          <p:cNvSpPr>
            <a:spLocks noGrp="1"/>
          </p:cNvSpPr>
          <p:nvPr/>
        </p:nvSpPr>
        <p:spPr>
          <a:xfrm>
            <a:off x="723900" y="6172200"/>
            <a:ext cx="10744200" cy="685800"/>
          </a:xfrm>
          <a:prstGeom prst="rect">
            <a:avLst/>
          </a:prstGeom>
          <a:solidFill>
            <a:srgbClr val="000000">
              <a:alpha val="0"/>
            </a:srgbClr>
          </a:solidFill>
        </p:spPr>
      </p:sp>
      <p:sp>
        <p:nvSpPr>
          <p:cNvPr id="26" name="Shape 20"/>
          <p:cNvSpPr>
            <a:spLocks noGrp="1"/>
          </p:cNvSpPr>
          <p:nvPr/>
        </p:nvSpPr>
        <p:spPr>
          <a:xfrm>
            <a:off x="723900" y="6172200"/>
            <a:ext cx="10744200" cy="9525"/>
          </a:xfrm>
          <a:prstGeom prst="rect">
            <a:avLst/>
          </a:prstGeom>
          <a:solidFill>
            <a:srgbClr val="FFFFFF"/>
          </a:solidFill>
        </p:spPr>
      </p:sp>
      <p:sp>
        <p:nvSpPr>
          <p:cNvPr id="27" name="Text 21"/>
          <p:cNvSpPr>
            <a:spLocks noGrp="1"/>
          </p:cNvSpPr>
          <p:nvPr/>
        </p:nvSpPr>
        <p:spPr>
          <a:xfrm>
            <a:off x="723900" y="6172200"/>
            <a:ext cx="10744200" cy="357505"/>
          </a:xfrm>
          <a:prstGeom prst="rect">
            <a:avLst/>
          </a:prstGeom>
          <a:noFill/>
        </p:spPr>
        <p:txBody>
          <a:bodyPr wrap="square" lIns="0" tIns="204046"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0:25–0:40</a:t>
            </a:r>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1"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24" name="Image 1"/>
          <p:cNvPicPr>
            <a:picLocks noChangeAspect="1"/>
          </p:cNvPicPr>
          <p:nvPr/>
        </p:nvPicPr>
        <p:blipFill>
          <a:blip r:embed="rId2"/>
          <a:stretch>
            <a:fillRect/>
          </a:stretch>
        </p:blipFill>
        <p:spPr>
          <a:xfrm>
            <a:off x="723900" y="190500"/>
            <a:ext cx="590551" cy="590551"/>
          </a:xfrm>
          <a:prstGeom prst="rect">
            <a:avLst/>
          </a:prstGeom>
        </p:spPr>
      </p:pic>
      <p:pic>
        <p:nvPicPr>
          <p:cNvPr id="25"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5714683" y="971551"/>
            <a:ext cx="762635" cy="1062355"/>
          </a:xfrm>
          <a:prstGeom prst="rect">
            <a:avLst/>
          </a:prstGeom>
          <a:noFill/>
        </p:spPr>
        <p:txBody>
          <a:bodyPr wrap="none" lIns="0" tIns="918464" rIns="0" bIns="0" anchor="t">
            <a:spAutoFit/>
          </a:bodyPr>
          <a:lstStyle/>
          <a:p>
            <a:pPr marL="0" indent="0" algn="ctr">
              <a:buNone/>
            </a:pPr>
            <a:r>
              <a:rPr sz="935" b="1" spc="3">
                <a:solidFill>
                  <a:srgbClr val="00D4FF"/>
                </a:solidFill>
                <a:latin typeface="Arial" panose="020B0604020202020204"/>
                <a:ea typeface="Arial" panose="020B0604020202020204"/>
                <a:cs typeface="Arial" panose="020B0604020202020204"/>
              </a:rPr>
              <a:t>THE TARGET</a:t>
            </a:r>
            <a:endParaRPr sz="935"/>
          </a:p>
        </p:txBody>
      </p:sp>
      <p:sp>
        <p:nvSpPr>
          <p:cNvPr id="9" name="Text 3"/>
          <p:cNvSpPr>
            <a:spLocks noGrp="1"/>
          </p:cNvSpPr>
          <p:nvPr/>
        </p:nvSpPr>
        <p:spPr>
          <a:xfrm>
            <a:off x="3889028" y="2009775"/>
            <a:ext cx="4413944" cy="975360"/>
          </a:xfrm>
          <a:prstGeom prst="rect">
            <a:avLst/>
          </a:prstGeom>
          <a:noFill/>
        </p:spPr>
        <p:txBody>
          <a:bodyPr wrap="square" lIns="0" tIns="0" rIns="0" bIns="0" anchor="t">
            <a:spAutoFit/>
          </a:bodyPr>
          <a:lstStyle/>
          <a:p>
            <a:pPr marL="0" indent="0" algn="ctr">
              <a:buNone/>
            </a:pPr>
            <a:r>
              <a:rPr sz="3200" b="1" spc="-1">
                <a:solidFill>
                  <a:srgbClr val="FFFFFF"/>
                </a:solidFill>
                <a:latin typeface="Arial" panose="020B0604020202020204"/>
                <a:ea typeface="Arial" panose="020B0604020202020204"/>
                <a:cs typeface="Arial" panose="020B0604020202020204"/>
              </a:rPr>
              <a:t>What a successful decode looks like.</a:t>
            </a:r>
            <a:endParaRPr sz="3200"/>
          </a:p>
        </p:txBody>
      </p:sp>
      <p:sp>
        <p:nvSpPr>
          <p:cNvPr id="10" name="Shape 4"/>
          <p:cNvSpPr>
            <a:spLocks noGrp="1"/>
          </p:cNvSpPr>
          <p:nvPr/>
        </p:nvSpPr>
        <p:spPr>
          <a:xfrm>
            <a:off x="2571751" y="2952751"/>
            <a:ext cx="7048500" cy="1371600"/>
          </a:xfrm>
          <a:prstGeom prst="rect">
            <a:avLst/>
          </a:prstGeom>
          <a:solidFill>
            <a:srgbClr val="00D4FF">
              <a:alpha val="5000"/>
            </a:srgbClr>
          </a:solidFill>
        </p:spPr>
      </p:sp>
      <p:sp>
        <p:nvSpPr>
          <p:cNvPr id="11" name="Shape 5"/>
          <p:cNvSpPr>
            <a:spLocks noGrp="1"/>
          </p:cNvSpPr>
          <p:nvPr/>
        </p:nvSpPr>
        <p:spPr>
          <a:xfrm>
            <a:off x="2571751" y="2952751"/>
            <a:ext cx="7048500" cy="19051"/>
          </a:xfrm>
          <a:prstGeom prst="rect">
            <a:avLst/>
          </a:prstGeom>
          <a:solidFill>
            <a:srgbClr val="00D4FF"/>
          </a:solidFill>
        </p:spPr>
      </p:sp>
      <p:sp>
        <p:nvSpPr>
          <p:cNvPr id="12" name="Shape 6"/>
          <p:cNvSpPr>
            <a:spLocks noGrp="1"/>
          </p:cNvSpPr>
          <p:nvPr/>
        </p:nvSpPr>
        <p:spPr>
          <a:xfrm>
            <a:off x="2571751" y="4305300"/>
            <a:ext cx="7048500" cy="19051"/>
          </a:xfrm>
          <a:prstGeom prst="rect">
            <a:avLst/>
          </a:prstGeom>
          <a:solidFill>
            <a:srgbClr val="00D4FF"/>
          </a:solidFill>
        </p:spPr>
      </p:sp>
      <p:sp>
        <p:nvSpPr>
          <p:cNvPr id="13" name="Text 7"/>
          <p:cNvSpPr>
            <a:spLocks noGrp="1"/>
          </p:cNvSpPr>
          <p:nvPr/>
        </p:nvSpPr>
        <p:spPr>
          <a:xfrm>
            <a:off x="2571751" y="3392488"/>
            <a:ext cx="7048500" cy="492125"/>
          </a:xfrm>
          <a:prstGeom prst="rect">
            <a:avLst/>
          </a:prstGeom>
          <a:noFill/>
        </p:spPr>
        <p:txBody>
          <a:bodyPr wrap="square" lIns="0" tIns="0" rIns="0" bIns="0" anchor="ctr">
            <a:spAutoFit/>
          </a:bodyPr>
          <a:lstStyle/>
          <a:p>
            <a:pPr marL="0" indent="0" algn="ctr">
              <a:buNone/>
            </a:pPr>
            <a:r>
              <a:rPr sz="3200" b="1" spc="1">
                <a:solidFill>
                  <a:srgbClr val="00D4FF"/>
                </a:solidFill>
                <a:latin typeface="Consolas" panose="020B0609020204030204"/>
                <a:ea typeface="Consolas" panose="020B0609020204030204"/>
                <a:cs typeface="Consolas" panose="020B0609020204030204"/>
              </a:rPr>
              <a:t>FIRE{encoding_is_not_encryption}</a:t>
            </a:r>
            <a:endParaRPr sz="3200"/>
          </a:p>
        </p:txBody>
      </p:sp>
      <p:sp>
        <p:nvSpPr>
          <p:cNvPr id="14" name="Text 8"/>
          <p:cNvSpPr>
            <a:spLocks noGrp="1"/>
          </p:cNvSpPr>
          <p:nvPr/>
        </p:nvSpPr>
        <p:spPr>
          <a:xfrm>
            <a:off x="3651052" y="4648200"/>
            <a:ext cx="4889823" cy="446532"/>
          </a:xfrm>
          <a:prstGeom prst="rect">
            <a:avLst/>
          </a:prstGeom>
          <a:noFill/>
        </p:spPr>
        <p:txBody>
          <a:bodyPr wrap="square" lIns="0" tIns="0" rIns="0" bIns="0" anchor="t">
            <a:spAutoFit/>
          </a:bodyPr>
          <a:lstStyle/>
          <a:p>
            <a:pPr marL="0" indent="0" algn="ctr">
              <a:buNone/>
            </a:pPr>
            <a:r>
              <a:rPr sz="1465" b="1">
                <a:solidFill>
                  <a:srgbClr val="DCE6F1"/>
                </a:solidFill>
                <a:latin typeface="Arial" panose="020B0604020202020204"/>
                <a:ea typeface="Arial" panose="020B0604020202020204"/>
                <a:cs typeface="Arial" panose="020B0604020202020204"/>
              </a:rPr>
              <a:t>A readable, meaningful result is evidence. Verify before submitting.</a:t>
            </a:r>
            <a:endParaRPr sz="1465"/>
          </a:p>
        </p:txBody>
      </p:sp>
      <p:sp>
        <p:nvSpPr>
          <p:cNvPr id="15" name="Shape 9"/>
          <p:cNvSpPr>
            <a:spLocks noGrp="1"/>
          </p:cNvSpPr>
          <p:nvPr/>
        </p:nvSpPr>
        <p:spPr>
          <a:xfrm>
            <a:off x="723900" y="6172200"/>
            <a:ext cx="10744200" cy="685800"/>
          </a:xfrm>
          <a:prstGeom prst="rect">
            <a:avLst/>
          </a:prstGeom>
          <a:solidFill>
            <a:srgbClr val="000000">
              <a:alpha val="0"/>
            </a:srgbClr>
          </a:solidFill>
        </p:spPr>
      </p:sp>
      <p:sp>
        <p:nvSpPr>
          <p:cNvPr id="16" name="Shape 10"/>
          <p:cNvSpPr>
            <a:spLocks noGrp="1"/>
          </p:cNvSpPr>
          <p:nvPr/>
        </p:nvSpPr>
        <p:spPr>
          <a:xfrm>
            <a:off x="723900" y="6172200"/>
            <a:ext cx="10744200" cy="9525"/>
          </a:xfrm>
          <a:prstGeom prst="rect">
            <a:avLst/>
          </a:prstGeom>
          <a:solidFill>
            <a:srgbClr val="FFFFFF"/>
          </a:solidFill>
        </p:spPr>
      </p:sp>
      <p:sp>
        <p:nvSpPr>
          <p:cNvPr id="17" name="Text 11"/>
          <p:cNvSpPr>
            <a:spLocks noGrp="1"/>
          </p:cNvSpPr>
          <p:nvPr/>
        </p:nvSpPr>
        <p:spPr>
          <a:xfrm>
            <a:off x="723900" y="6172200"/>
            <a:ext cx="10744200" cy="357505"/>
          </a:xfrm>
          <a:prstGeom prst="rect">
            <a:avLst/>
          </a:prstGeom>
          <a:noFill/>
        </p:spPr>
        <p:txBody>
          <a:bodyPr wrap="square" lIns="0" tIns="204046"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0:25–0:40</a:t>
            </a:r>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4"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27" name="Image 1"/>
          <p:cNvPicPr>
            <a:picLocks noChangeAspect="1"/>
          </p:cNvPicPr>
          <p:nvPr/>
        </p:nvPicPr>
        <p:blipFill>
          <a:blip r:embed="rId2"/>
          <a:stretch>
            <a:fillRect/>
          </a:stretch>
        </p:blipFill>
        <p:spPr>
          <a:xfrm>
            <a:off x="723900" y="190500"/>
            <a:ext cx="590551" cy="590551"/>
          </a:xfrm>
          <a:prstGeom prst="rect">
            <a:avLst/>
          </a:prstGeom>
        </p:spPr>
      </p:pic>
      <p:pic>
        <p:nvPicPr>
          <p:cNvPr id="28"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5688331" y="971551"/>
            <a:ext cx="815340" cy="733425"/>
          </a:xfrm>
          <a:prstGeom prst="rect">
            <a:avLst/>
          </a:prstGeom>
          <a:noFill/>
        </p:spPr>
        <p:txBody>
          <a:bodyPr wrap="none" lIns="0" tIns="589618" rIns="0" bIns="0" anchor="t">
            <a:spAutoFit/>
          </a:bodyPr>
          <a:lstStyle/>
          <a:p>
            <a:pPr marL="0" indent="0" algn="ctr">
              <a:buNone/>
            </a:pPr>
            <a:r>
              <a:rPr sz="935" b="1" spc="2">
                <a:solidFill>
                  <a:srgbClr val="FF6B1A"/>
                </a:solidFill>
                <a:latin typeface="Arial" panose="020B0604020202020204"/>
                <a:ea typeface="Arial" panose="020B0604020202020204"/>
                <a:cs typeface="Arial" panose="020B0604020202020204"/>
              </a:rPr>
              <a:t>INVESTIGATION FIRST</a:t>
            </a:r>
            <a:endParaRPr sz="935"/>
          </a:p>
        </p:txBody>
      </p:sp>
      <p:sp>
        <p:nvSpPr>
          <p:cNvPr id="9" name="Text 3"/>
          <p:cNvSpPr>
            <a:spLocks noGrp="1"/>
          </p:cNvSpPr>
          <p:nvPr/>
        </p:nvSpPr>
        <p:spPr>
          <a:xfrm>
            <a:off x="5033926" y="1695451"/>
            <a:ext cx="2124075" cy="451485"/>
          </a:xfrm>
          <a:prstGeom prst="rect">
            <a:avLst/>
          </a:prstGeom>
          <a:noFill/>
        </p:spPr>
        <p:txBody>
          <a:bodyPr wrap="none" lIns="0" tIns="0" rIns="0" bIns="0" anchor="t">
            <a:spAutoFit/>
          </a:bodyPr>
          <a:lstStyle/>
          <a:p>
            <a:pPr marL="0" indent="0" algn="ctr">
              <a:lnSpc>
                <a:spcPct val="83000"/>
              </a:lnSpc>
              <a:buNone/>
            </a:pPr>
            <a:r>
              <a:rPr sz="3535" b="1" spc="-1">
                <a:solidFill>
                  <a:srgbClr val="FFFFFF"/>
                </a:solidFill>
                <a:latin typeface="Arial" panose="020B0604020202020204"/>
                <a:ea typeface="Arial" panose="020B0604020202020204"/>
                <a:cs typeface="Arial" panose="020B0604020202020204"/>
              </a:rPr>
              <a:t>The rules.</a:t>
            </a:r>
            <a:endParaRPr sz="3535"/>
          </a:p>
        </p:txBody>
      </p:sp>
      <p:sp>
        <p:nvSpPr>
          <p:cNvPr id="10" name="Text 4"/>
          <p:cNvSpPr>
            <a:spLocks noGrp="1"/>
          </p:cNvSpPr>
          <p:nvPr/>
        </p:nvSpPr>
        <p:spPr>
          <a:xfrm>
            <a:off x="4558680" y="2315319"/>
            <a:ext cx="3074640" cy="205740"/>
          </a:xfrm>
          <a:prstGeom prst="rect">
            <a:avLst/>
          </a:prstGeom>
          <a:noFill/>
        </p:spPr>
        <p:txBody>
          <a:bodyPr wrap="square" lIns="0" tIns="0" rIns="0" bIns="0" anchor="t">
            <a:spAutoFit/>
          </a:bodyPr>
          <a:lstStyle/>
          <a:p>
            <a:pPr marL="0" indent="0" algn="ctr">
              <a:buNone/>
            </a:pPr>
            <a:r>
              <a:rPr sz="1335">
                <a:solidFill>
                  <a:srgbClr val="9DA9BA"/>
                </a:solidFill>
                <a:latin typeface="Arial" panose="020B0604020202020204"/>
                <a:ea typeface="Arial" panose="020B0604020202020204"/>
                <a:cs typeface="Arial" panose="020B0604020202020204"/>
              </a:rPr>
              <a:t>Treat the original data as evidence.</a:t>
            </a:r>
            <a:endParaRPr sz="1335"/>
          </a:p>
        </p:txBody>
      </p:sp>
      <p:sp>
        <p:nvSpPr>
          <p:cNvPr id="11" name="Text 5"/>
          <p:cNvSpPr>
            <a:spLocks noGrp="1"/>
          </p:cNvSpPr>
          <p:nvPr/>
        </p:nvSpPr>
        <p:spPr>
          <a:xfrm>
            <a:off x="2687319" y="3671203"/>
            <a:ext cx="111760" cy="245745"/>
          </a:xfrm>
          <a:prstGeom prst="rect">
            <a:avLst/>
          </a:prstGeom>
          <a:noFill/>
        </p:spPr>
        <p:txBody>
          <a:bodyPr wrap="none" lIns="0" tIns="0" rIns="0" bIns="0" anchor="ctr">
            <a:spAutoFit/>
          </a:bodyPr>
          <a:lstStyle/>
          <a:p>
            <a:pPr marL="0" indent="0" algn="ctr">
              <a:buNone/>
            </a:pPr>
            <a:r>
              <a:rPr sz="1600" b="1">
                <a:solidFill>
                  <a:srgbClr val="FF6B1A"/>
                </a:solidFill>
                <a:latin typeface="Consolas" panose="020B0609020204030204"/>
                <a:ea typeface="Consolas" panose="020B0609020204030204"/>
                <a:cs typeface="Consolas" panose="020B0609020204030204"/>
              </a:rPr>
              <a:t>!</a:t>
            </a:r>
            <a:endParaRPr sz="1600"/>
          </a:p>
        </p:txBody>
      </p:sp>
      <p:sp>
        <p:nvSpPr>
          <p:cNvPr id="12" name="Text 6"/>
          <p:cNvSpPr>
            <a:spLocks noGrp="1"/>
          </p:cNvSpPr>
          <p:nvPr/>
        </p:nvSpPr>
        <p:spPr>
          <a:xfrm>
            <a:off x="1963420" y="4132213"/>
            <a:ext cx="1559560" cy="225425"/>
          </a:xfrm>
          <a:prstGeom prst="rect">
            <a:avLst/>
          </a:prstGeom>
          <a:noFill/>
        </p:spPr>
        <p:txBody>
          <a:bodyPr wrap="none" lIns="0" tIns="0" rIns="0" bIns="0" anchor="t">
            <a:spAutoFit/>
          </a:bodyPr>
          <a:lstStyle/>
          <a:p>
            <a:pPr marL="0" indent="0" algn="ctr">
              <a:lnSpc>
                <a:spcPct val="100000"/>
              </a:lnSpc>
              <a:buNone/>
            </a:pPr>
            <a:r>
              <a:rPr sz="1465" b="1">
                <a:solidFill>
                  <a:srgbClr val="FFFFFF"/>
                </a:solidFill>
                <a:latin typeface="Arial" panose="020B0604020202020204"/>
                <a:ea typeface="Arial" panose="020B0604020202020204"/>
                <a:cs typeface="Arial" panose="020B0604020202020204"/>
              </a:rPr>
              <a:t>Preserve the original input</a:t>
            </a:r>
            <a:endParaRPr sz="1465"/>
          </a:p>
        </p:txBody>
      </p:sp>
      <p:sp>
        <p:nvSpPr>
          <p:cNvPr id="13" name="Text 7"/>
          <p:cNvSpPr>
            <a:spLocks noGrp="1"/>
          </p:cNvSpPr>
          <p:nvPr/>
        </p:nvSpPr>
        <p:spPr>
          <a:xfrm>
            <a:off x="6044882" y="3540234"/>
            <a:ext cx="111760" cy="245745"/>
          </a:xfrm>
          <a:prstGeom prst="rect">
            <a:avLst/>
          </a:prstGeom>
          <a:noFill/>
        </p:spPr>
        <p:txBody>
          <a:bodyPr wrap="none" lIns="0" tIns="0" rIns="0" bIns="0" anchor="ctr">
            <a:spAutoFit/>
          </a:bodyPr>
          <a:lstStyle/>
          <a:p>
            <a:pPr marL="0" indent="0" algn="ctr">
              <a:buNone/>
            </a:pPr>
            <a:r>
              <a:rPr sz="1600" b="1">
                <a:solidFill>
                  <a:srgbClr val="FF6B1A"/>
                </a:solidFill>
                <a:latin typeface="Consolas" panose="020B0609020204030204"/>
                <a:ea typeface="Consolas" panose="020B0609020204030204"/>
                <a:cs typeface="Consolas" panose="020B0609020204030204"/>
              </a:rPr>
              <a:t>!</a:t>
            </a:r>
            <a:endParaRPr sz="1600"/>
          </a:p>
        </p:txBody>
      </p:sp>
      <p:sp>
        <p:nvSpPr>
          <p:cNvPr id="14" name="Text 8"/>
          <p:cNvSpPr>
            <a:spLocks noGrp="1"/>
          </p:cNvSpPr>
          <p:nvPr/>
        </p:nvSpPr>
        <p:spPr>
          <a:xfrm>
            <a:off x="4910137" y="4001244"/>
            <a:ext cx="2381251" cy="450850"/>
          </a:xfrm>
          <a:prstGeom prst="rect">
            <a:avLst/>
          </a:prstGeom>
          <a:noFill/>
        </p:spPr>
        <p:txBody>
          <a:bodyPr wrap="square" lIns="0" tIns="0" rIns="0" bIns="0" anchor="t">
            <a:spAutoFit/>
          </a:bodyPr>
          <a:lstStyle/>
          <a:p>
            <a:pPr marL="0" indent="0" algn="ctr">
              <a:lnSpc>
                <a:spcPct val="100000"/>
              </a:lnSpc>
              <a:buNone/>
            </a:pPr>
            <a:r>
              <a:rPr sz="1465" b="1">
                <a:solidFill>
                  <a:srgbClr val="FFFFFF"/>
                </a:solidFill>
                <a:latin typeface="Arial" panose="020B0604020202020204"/>
                <a:ea typeface="Arial" panose="020B0604020202020204"/>
                <a:cs typeface="Arial" panose="020B0604020202020204"/>
              </a:rPr>
              <a:t>Do not trust automatic detection blindly</a:t>
            </a:r>
            <a:endParaRPr sz="1465"/>
          </a:p>
        </p:txBody>
      </p:sp>
      <p:sp>
        <p:nvSpPr>
          <p:cNvPr id="15" name="Text 9"/>
          <p:cNvSpPr>
            <a:spLocks noGrp="1"/>
          </p:cNvSpPr>
          <p:nvPr/>
        </p:nvSpPr>
        <p:spPr>
          <a:xfrm>
            <a:off x="9397682" y="3540234"/>
            <a:ext cx="111760" cy="245745"/>
          </a:xfrm>
          <a:prstGeom prst="rect">
            <a:avLst/>
          </a:prstGeom>
          <a:noFill/>
        </p:spPr>
        <p:txBody>
          <a:bodyPr wrap="none" lIns="0" tIns="0" rIns="0" bIns="0" anchor="ctr">
            <a:spAutoFit/>
          </a:bodyPr>
          <a:lstStyle/>
          <a:p>
            <a:pPr marL="0" indent="0" algn="ctr">
              <a:buNone/>
            </a:pPr>
            <a:r>
              <a:rPr sz="1600" b="1">
                <a:solidFill>
                  <a:srgbClr val="FF6B1A"/>
                </a:solidFill>
                <a:latin typeface="Consolas" panose="020B0609020204030204"/>
                <a:ea typeface="Consolas" panose="020B0609020204030204"/>
                <a:cs typeface="Consolas" panose="020B0609020204030204"/>
              </a:rPr>
              <a:t>!</a:t>
            </a:r>
            <a:endParaRPr sz="1600"/>
          </a:p>
        </p:txBody>
      </p:sp>
      <p:sp>
        <p:nvSpPr>
          <p:cNvPr id="16" name="Text 10"/>
          <p:cNvSpPr>
            <a:spLocks noGrp="1"/>
          </p:cNvSpPr>
          <p:nvPr/>
        </p:nvSpPr>
        <p:spPr>
          <a:xfrm>
            <a:off x="8262937" y="4001244"/>
            <a:ext cx="2381251" cy="446532"/>
          </a:xfrm>
          <a:prstGeom prst="rect">
            <a:avLst/>
          </a:prstGeom>
          <a:noFill/>
        </p:spPr>
        <p:txBody>
          <a:bodyPr wrap="square" lIns="0" tIns="0" rIns="0" bIns="0" anchor="t">
            <a:spAutoFit/>
          </a:bodyPr>
          <a:lstStyle/>
          <a:p>
            <a:pPr marL="0" indent="0" algn="ctr">
              <a:lnSpc>
                <a:spcPct val="100000"/>
              </a:lnSpc>
              <a:buNone/>
            </a:pPr>
            <a:r>
              <a:rPr sz="1465" b="1">
                <a:solidFill>
                  <a:srgbClr val="FFFFFF"/>
                </a:solidFill>
                <a:latin typeface="Arial" panose="020B0604020202020204"/>
                <a:ea typeface="Arial" panose="020B0604020202020204"/>
                <a:cs typeface="Arial" panose="020B0604020202020204"/>
              </a:rPr>
              <a:t>Verify that the output makes sense</a:t>
            </a:r>
            <a:endParaRPr sz="1465"/>
          </a:p>
        </p:txBody>
      </p:sp>
      <p:sp>
        <p:nvSpPr>
          <p:cNvPr id="17" name="Text 11"/>
          <p:cNvSpPr>
            <a:spLocks noGrp="1"/>
          </p:cNvSpPr>
          <p:nvPr/>
        </p:nvSpPr>
        <p:spPr>
          <a:xfrm>
            <a:off x="4481661" y="5377607"/>
            <a:ext cx="3228603" cy="406908"/>
          </a:xfrm>
          <a:prstGeom prst="rect">
            <a:avLst/>
          </a:prstGeom>
          <a:noFill/>
        </p:spPr>
        <p:txBody>
          <a:bodyPr wrap="square" lIns="0" tIns="0" rIns="0" bIns="0" anchor="t">
            <a:spAutoFit/>
          </a:bodyPr>
          <a:lstStyle/>
          <a:p>
            <a:pPr marL="0" indent="0" algn="ctr">
              <a:buNone/>
            </a:pPr>
            <a:r>
              <a:rPr sz="1335" b="1">
                <a:solidFill>
                  <a:srgbClr val="00D4FF"/>
                </a:solidFill>
                <a:latin typeface="Arial" panose="020B0604020202020204"/>
                <a:ea typeface="Arial" panose="020B0604020202020204"/>
                <a:cs typeface="Arial" panose="020B0604020202020204"/>
              </a:rPr>
              <a:t>Tools assist judgment. They do not replace it.</a:t>
            </a:r>
            <a:endParaRPr sz="1335"/>
          </a:p>
        </p:txBody>
      </p:sp>
      <p:sp>
        <p:nvSpPr>
          <p:cNvPr id="18" name="Shape 12"/>
          <p:cNvSpPr>
            <a:spLocks noGrp="1"/>
          </p:cNvSpPr>
          <p:nvPr/>
        </p:nvSpPr>
        <p:spPr>
          <a:xfrm>
            <a:off x="723900" y="6172200"/>
            <a:ext cx="10744200" cy="685800"/>
          </a:xfrm>
          <a:prstGeom prst="rect">
            <a:avLst/>
          </a:prstGeom>
          <a:solidFill>
            <a:srgbClr val="000000">
              <a:alpha val="0"/>
            </a:srgbClr>
          </a:solidFill>
        </p:spPr>
      </p:sp>
      <p:sp>
        <p:nvSpPr>
          <p:cNvPr id="19" name="Shape 13"/>
          <p:cNvSpPr>
            <a:spLocks noGrp="1"/>
          </p:cNvSpPr>
          <p:nvPr/>
        </p:nvSpPr>
        <p:spPr>
          <a:xfrm>
            <a:off x="723900" y="6172200"/>
            <a:ext cx="10744200" cy="9525"/>
          </a:xfrm>
          <a:prstGeom prst="rect">
            <a:avLst/>
          </a:prstGeom>
          <a:solidFill>
            <a:srgbClr val="FFFFFF"/>
          </a:solidFill>
        </p:spPr>
      </p:sp>
      <p:sp>
        <p:nvSpPr>
          <p:cNvPr id="20" name="Text 14"/>
          <p:cNvSpPr>
            <a:spLocks noGrp="1"/>
          </p:cNvSpPr>
          <p:nvPr/>
        </p:nvSpPr>
        <p:spPr>
          <a:xfrm>
            <a:off x="723900" y="6172200"/>
            <a:ext cx="10744200" cy="357505"/>
          </a:xfrm>
          <a:prstGeom prst="rect">
            <a:avLst/>
          </a:prstGeom>
          <a:noFill/>
        </p:spPr>
        <p:txBody>
          <a:bodyPr wrap="square" lIns="0" tIns="204046"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0:25–0:40</a:t>
            </a:r>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7"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20" name="Image 1"/>
          <p:cNvPicPr>
            <a:picLocks noChangeAspect="1"/>
          </p:cNvPicPr>
          <p:nvPr/>
        </p:nvPicPr>
        <p:blipFill>
          <a:blip r:embed="rId2"/>
          <a:stretch>
            <a:fillRect/>
          </a:stretch>
        </p:blipFill>
        <p:spPr>
          <a:xfrm>
            <a:off x="723900" y="190500"/>
            <a:ext cx="590551" cy="590551"/>
          </a:xfrm>
          <a:prstGeom prst="rect">
            <a:avLst/>
          </a:prstGeom>
        </p:spPr>
      </p:pic>
      <p:pic>
        <p:nvPicPr>
          <p:cNvPr id="21"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4905003" y="971551"/>
            <a:ext cx="2381920" cy="1198245"/>
          </a:xfrm>
          <a:prstGeom prst="rect">
            <a:avLst/>
          </a:prstGeom>
          <a:noFill/>
        </p:spPr>
        <p:txBody>
          <a:bodyPr wrap="square" lIns="0" tIns="1054608" rIns="0" bIns="0" anchor="t">
            <a:spAutoFit/>
          </a:bodyPr>
          <a:lstStyle/>
          <a:p>
            <a:pPr marL="0" indent="0" algn="ctr">
              <a:buNone/>
            </a:pPr>
            <a:r>
              <a:rPr sz="935" b="1" spc="3">
                <a:solidFill>
                  <a:srgbClr val="00D4FF"/>
                </a:solidFill>
                <a:latin typeface="Arial" panose="020B0604020202020204"/>
                <a:ea typeface="Arial" panose="020B0604020202020204"/>
                <a:cs typeface="Arial" panose="020B0604020202020204"/>
              </a:rPr>
              <a:t>THE LINE THAT MATTERS</a:t>
            </a:r>
            <a:endParaRPr sz="935"/>
          </a:p>
        </p:txBody>
      </p:sp>
      <p:sp>
        <p:nvSpPr>
          <p:cNvPr id="9" name="Text 3"/>
          <p:cNvSpPr>
            <a:spLocks noGrp="1"/>
          </p:cNvSpPr>
          <p:nvPr/>
        </p:nvSpPr>
        <p:spPr>
          <a:xfrm>
            <a:off x="1690688" y="2276475"/>
            <a:ext cx="8810625" cy="1372870"/>
          </a:xfrm>
          <a:prstGeom prst="rect">
            <a:avLst/>
          </a:prstGeom>
          <a:noFill/>
        </p:spPr>
        <p:txBody>
          <a:bodyPr wrap="square" lIns="0" tIns="0" rIns="0" bIns="0" anchor="t">
            <a:spAutoFit/>
          </a:bodyPr>
          <a:lstStyle/>
          <a:p>
            <a:pPr marL="0" indent="0" algn="ctr">
              <a:lnSpc>
                <a:spcPct val="93000"/>
              </a:lnSpc>
              <a:buNone/>
            </a:pPr>
            <a:r>
              <a:rPr sz="3200" b="1" spc="-1">
                <a:solidFill>
                  <a:srgbClr val="FFFFFF"/>
                </a:solidFill>
                <a:latin typeface="Arial" panose="020B0604020202020204"/>
                <a:ea typeface="Arial" panose="020B0604020202020204"/>
                <a:cs typeface="Arial" panose="020B0604020202020204"/>
              </a:rPr>
              <a:t>“Encoding changes appearance. Encryption changes who can read it.”</a:t>
            </a:r>
            <a:endParaRPr sz="3200"/>
          </a:p>
        </p:txBody>
      </p:sp>
      <p:sp>
        <p:nvSpPr>
          <p:cNvPr id="10" name="Text 4"/>
          <p:cNvSpPr>
            <a:spLocks noGrp="1"/>
          </p:cNvSpPr>
          <p:nvPr/>
        </p:nvSpPr>
        <p:spPr>
          <a:xfrm>
            <a:off x="4339159" y="4386709"/>
            <a:ext cx="3513609" cy="194310"/>
          </a:xfrm>
          <a:prstGeom prst="rect">
            <a:avLst/>
          </a:prstGeom>
          <a:noFill/>
        </p:spPr>
        <p:txBody>
          <a:bodyPr wrap="square" lIns="0" tIns="0" rIns="0" bIns="0" anchor="t">
            <a:spAutoFit/>
          </a:bodyPr>
          <a:lstStyle/>
          <a:p>
            <a:pPr marL="0" indent="0" algn="ctr">
              <a:buNone/>
            </a:pPr>
            <a:r>
              <a:rPr sz="1265" b="1">
                <a:solidFill>
                  <a:srgbClr val="00D4FF"/>
                </a:solidFill>
                <a:latin typeface="Arial" panose="020B0604020202020204"/>
                <a:ea typeface="Arial" panose="020B0604020202020204"/>
                <a:cs typeface="Arial" panose="020B0604020202020204"/>
              </a:rPr>
              <a:t>Base64 is useful—but it is not secrecy.</a:t>
            </a:r>
            <a:endParaRPr sz="1265"/>
          </a:p>
        </p:txBody>
      </p:sp>
      <p:sp>
        <p:nvSpPr>
          <p:cNvPr id="11" name="Shape 5"/>
          <p:cNvSpPr>
            <a:spLocks noGrp="1"/>
          </p:cNvSpPr>
          <p:nvPr/>
        </p:nvSpPr>
        <p:spPr>
          <a:xfrm>
            <a:off x="723900" y="6172200"/>
            <a:ext cx="10744200" cy="685800"/>
          </a:xfrm>
          <a:prstGeom prst="rect">
            <a:avLst/>
          </a:prstGeom>
          <a:solidFill>
            <a:srgbClr val="000000">
              <a:alpha val="0"/>
            </a:srgbClr>
          </a:solidFill>
        </p:spPr>
      </p:sp>
      <p:sp>
        <p:nvSpPr>
          <p:cNvPr id="12" name="Shape 6"/>
          <p:cNvSpPr>
            <a:spLocks noGrp="1"/>
          </p:cNvSpPr>
          <p:nvPr/>
        </p:nvSpPr>
        <p:spPr>
          <a:xfrm>
            <a:off x="723900" y="6172200"/>
            <a:ext cx="10744200" cy="9525"/>
          </a:xfrm>
          <a:prstGeom prst="rect">
            <a:avLst/>
          </a:prstGeom>
          <a:solidFill>
            <a:srgbClr val="FFFFFF"/>
          </a:solidFill>
        </p:spPr>
      </p:sp>
      <p:sp>
        <p:nvSpPr>
          <p:cNvPr id="13" name="Text 7"/>
          <p:cNvSpPr>
            <a:spLocks noGrp="1"/>
          </p:cNvSpPr>
          <p:nvPr/>
        </p:nvSpPr>
        <p:spPr>
          <a:xfrm>
            <a:off x="723900" y="6172200"/>
            <a:ext cx="10744200" cy="357505"/>
          </a:xfrm>
          <a:prstGeom prst="rect">
            <a:avLst/>
          </a:prstGeom>
          <a:noFill/>
        </p:spPr>
        <p:txBody>
          <a:bodyPr wrap="square" lIns="0" tIns="204046"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0:25–0:40</a:t>
            </a:r>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1"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44" name="Image 1"/>
          <p:cNvPicPr>
            <a:picLocks noChangeAspect="1"/>
          </p:cNvPicPr>
          <p:nvPr/>
        </p:nvPicPr>
        <p:blipFill>
          <a:blip r:embed="rId2"/>
          <a:stretch>
            <a:fillRect/>
          </a:stretch>
        </p:blipFill>
        <p:spPr>
          <a:xfrm>
            <a:off x="723900" y="190500"/>
            <a:ext cx="590551" cy="590551"/>
          </a:xfrm>
          <a:prstGeom prst="rect">
            <a:avLst/>
          </a:prstGeom>
        </p:spPr>
      </p:pic>
      <p:pic>
        <p:nvPicPr>
          <p:cNvPr id="45"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952500" y="1428751"/>
            <a:ext cx="3048000" cy="144145"/>
          </a:xfrm>
          <a:prstGeom prst="rect">
            <a:avLst/>
          </a:prstGeom>
          <a:noFill/>
        </p:spPr>
        <p:txBody>
          <a:bodyPr wrap="square" lIns="0" tIns="0" rIns="0" bIns="0" anchor="t">
            <a:spAutoFit/>
          </a:bodyPr>
          <a:lstStyle/>
          <a:p>
            <a:pPr marL="0" indent="0" algn="l">
              <a:buNone/>
            </a:pPr>
            <a:r>
              <a:rPr sz="935" b="1" spc="2">
                <a:solidFill>
                  <a:srgbClr val="00D4FF"/>
                </a:solidFill>
                <a:latin typeface="Arial" panose="020B0604020202020204"/>
                <a:ea typeface="Arial" panose="020B0604020202020204"/>
                <a:cs typeface="Arial" panose="020B0604020202020204"/>
              </a:rPr>
              <a:t>DECODING WORKFLOW</a:t>
            </a:r>
            <a:endParaRPr sz="935"/>
          </a:p>
        </p:txBody>
      </p:sp>
      <p:sp>
        <p:nvSpPr>
          <p:cNvPr id="9" name="Text 3"/>
          <p:cNvSpPr>
            <a:spLocks noGrp="1"/>
          </p:cNvSpPr>
          <p:nvPr/>
        </p:nvSpPr>
        <p:spPr>
          <a:xfrm>
            <a:off x="952500" y="1685925"/>
            <a:ext cx="3048000" cy="824230"/>
          </a:xfrm>
          <a:prstGeom prst="rect">
            <a:avLst/>
          </a:prstGeom>
          <a:noFill/>
        </p:spPr>
        <p:txBody>
          <a:bodyPr wrap="square" lIns="0" tIns="0" rIns="0" bIns="0" anchor="t">
            <a:spAutoFit/>
          </a:bodyPr>
          <a:lstStyle/>
          <a:p>
            <a:pPr marL="0" indent="0" algn="l">
              <a:lnSpc>
                <a:spcPct val="82000"/>
              </a:lnSpc>
              <a:buNone/>
            </a:pPr>
            <a:r>
              <a:rPr sz="3265" b="1" spc="-1">
                <a:solidFill>
                  <a:srgbClr val="FFFFFF"/>
                </a:solidFill>
                <a:latin typeface="Arial" panose="020B0604020202020204"/>
                <a:ea typeface="Arial" panose="020B0604020202020204"/>
                <a:cs typeface="Arial" panose="020B0604020202020204"/>
              </a:rPr>
              <a:t>The Five-Step Protocol.</a:t>
            </a:r>
            <a:endParaRPr sz="3265"/>
          </a:p>
        </p:txBody>
      </p:sp>
      <p:sp>
        <p:nvSpPr>
          <p:cNvPr id="10" name="Text 4"/>
          <p:cNvSpPr>
            <a:spLocks noGrp="1"/>
          </p:cNvSpPr>
          <p:nvPr/>
        </p:nvSpPr>
        <p:spPr>
          <a:xfrm>
            <a:off x="952500" y="2789932"/>
            <a:ext cx="3048000" cy="667385"/>
          </a:xfrm>
          <a:prstGeom prst="rect">
            <a:avLst/>
          </a:prstGeom>
          <a:noFill/>
        </p:spPr>
        <p:txBody>
          <a:bodyPr wrap="square" lIns="0" tIns="0" rIns="0" bIns="0" anchor="t">
            <a:spAutoFit/>
          </a:bodyPr>
          <a:lstStyle/>
          <a:p>
            <a:pPr marL="0" indent="0" algn="l">
              <a:lnSpc>
                <a:spcPct val="108000"/>
              </a:lnSpc>
              <a:buNone/>
            </a:pPr>
            <a:r>
              <a:rPr sz="1335">
                <a:solidFill>
                  <a:srgbClr val="A5B0C3"/>
                </a:solidFill>
                <a:latin typeface="Arial" panose="020B0604020202020204"/>
                <a:ea typeface="Arial" panose="020B0604020202020204"/>
                <a:cs typeface="Arial" panose="020B0604020202020204"/>
              </a:rPr>
              <a:t>Screenshot this slide. Use it whenever a clue looks unfamiliar.</a:t>
            </a:r>
            <a:endParaRPr sz="1335"/>
          </a:p>
        </p:txBody>
      </p:sp>
      <p:sp>
        <p:nvSpPr>
          <p:cNvPr id="11" name="Text 5"/>
          <p:cNvSpPr>
            <a:spLocks noGrp="1"/>
          </p:cNvSpPr>
          <p:nvPr/>
        </p:nvSpPr>
        <p:spPr>
          <a:xfrm>
            <a:off x="952500" y="3980036"/>
            <a:ext cx="2099310" cy="178435"/>
          </a:xfrm>
          <a:prstGeom prst="rect">
            <a:avLst/>
          </a:prstGeom>
          <a:noFill/>
        </p:spPr>
        <p:txBody>
          <a:bodyPr wrap="none" lIns="0" tIns="0" rIns="0" bIns="0" anchor="t">
            <a:spAutoFit/>
          </a:bodyPr>
          <a:lstStyle/>
          <a:p>
            <a:pPr marL="0" indent="0" algn="l">
              <a:lnSpc>
                <a:spcPct val="109000"/>
              </a:lnSpc>
              <a:buNone/>
            </a:pPr>
            <a:r>
              <a:rPr sz="1065" b="1">
                <a:solidFill>
                  <a:srgbClr val="FF8A4B"/>
                </a:solidFill>
                <a:latin typeface="Arial" panose="020B0604020202020204"/>
                <a:ea typeface="Arial" panose="020B0604020202020204"/>
                <a:cs typeface="Arial" panose="020B0604020202020204"/>
              </a:rPr>
              <a:t>DO NOT RANDOMLY CLICK EVERY DECODER.</a:t>
            </a:r>
            <a:endParaRPr sz="1065"/>
          </a:p>
        </p:txBody>
      </p:sp>
      <p:sp>
        <p:nvSpPr>
          <p:cNvPr id="12" name="Text 6"/>
          <p:cNvSpPr>
            <a:spLocks noGrp="1"/>
          </p:cNvSpPr>
          <p:nvPr/>
        </p:nvSpPr>
        <p:spPr>
          <a:xfrm>
            <a:off x="952500" y="4339679"/>
            <a:ext cx="3048000" cy="398780"/>
          </a:xfrm>
          <a:prstGeom prst="rect">
            <a:avLst/>
          </a:prstGeom>
          <a:noFill/>
        </p:spPr>
        <p:txBody>
          <a:bodyPr wrap="square" lIns="0" tIns="0" rIns="0" bIns="0" anchor="t">
            <a:spAutoFit/>
          </a:bodyPr>
          <a:lstStyle/>
          <a:p>
            <a:pPr marL="0" indent="0" algn="l">
              <a:lnSpc>
                <a:spcPct val="114000"/>
              </a:lnSpc>
              <a:buNone/>
            </a:pPr>
            <a:r>
              <a:rPr sz="1135">
                <a:solidFill>
                  <a:srgbClr val="8996AA"/>
                </a:solidFill>
                <a:latin typeface="Arial" panose="020B0604020202020204"/>
                <a:ea typeface="Arial" panose="020B0604020202020204"/>
                <a:cs typeface="Arial" panose="020B0604020202020204"/>
              </a:rPr>
              <a:t>An investigator observes the pattern, forms a hypothesis, then verifies.</a:t>
            </a:r>
            <a:endParaRPr sz="1135"/>
          </a:p>
        </p:txBody>
      </p:sp>
      <p:sp>
        <p:nvSpPr>
          <p:cNvPr id="13" name="Shape 7"/>
          <p:cNvSpPr>
            <a:spLocks noGrp="1"/>
          </p:cNvSpPr>
          <p:nvPr/>
        </p:nvSpPr>
        <p:spPr>
          <a:xfrm>
            <a:off x="4924425" y="1666875"/>
            <a:ext cx="9525" cy="3914775"/>
          </a:xfrm>
          <a:prstGeom prst="rect">
            <a:avLst/>
          </a:prstGeom>
          <a:solidFill>
            <a:srgbClr val="00D4FF">
              <a:alpha val="50000"/>
            </a:srgbClr>
          </a:solidFill>
        </p:spPr>
      </p:sp>
      <p:sp>
        <p:nvSpPr>
          <p:cNvPr id="14" name="Shape 8"/>
          <p:cNvSpPr>
            <a:spLocks noGrp="1"/>
          </p:cNvSpPr>
          <p:nvPr/>
        </p:nvSpPr>
        <p:spPr>
          <a:xfrm>
            <a:off x="4686300" y="1419225"/>
            <a:ext cx="485775" cy="485775"/>
          </a:xfrm>
          <a:prstGeom prst="rect">
            <a:avLst/>
          </a:prstGeom>
          <a:solidFill>
            <a:srgbClr val="071525"/>
          </a:solidFill>
          <a:ln w="9144">
            <a:solidFill>
              <a:srgbClr val="00D4FF"/>
            </a:solidFill>
            <a:prstDash val="solid"/>
          </a:ln>
        </p:spPr>
      </p:sp>
      <p:sp>
        <p:nvSpPr>
          <p:cNvPr id="15" name="Text 9"/>
          <p:cNvSpPr>
            <a:spLocks noGrp="1"/>
          </p:cNvSpPr>
          <p:nvPr/>
        </p:nvSpPr>
        <p:spPr>
          <a:xfrm>
            <a:off x="4845367" y="1570038"/>
            <a:ext cx="167640" cy="184150"/>
          </a:xfrm>
          <a:prstGeom prst="rect">
            <a:avLst/>
          </a:prstGeom>
          <a:noFill/>
        </p:spPr>
        <p:txBody>
          <a:bodyPr wrap="none" lIns="0" tIns="0" rIns="0" bIns="0" anchor="ctr">
            <a:spAutoFit/>
          </a:bodyPr>
          <a:lstStyle/>
          <a:p>
            <a:pPr marL="0" indent="0" algn="ctr">
              <a:buNone/>
            </a:pPr>
            <a:r>
              <a:rPr sz="1200" b="1">
                <a:solidFill>
                  <a:srgbClr val="00D4FF"/>
                </a:solidFill>
                <a:latin typeface="Consolas" panose="020B0609020204030204"/>
                <a:ea typeface="Consolas" panose="020B0609020204030204"/>
                <a:cs typeface="Consolas" panose="020B0609020204030204"/>
              </a:rPr>
              <a:t>01</a:t>
            </a:r>
            <a:endParaRPr sz="1200"/>
          </a:p>
        </p:txBody>
      </p:sp>
      <p:sp>
        <p:nvSpPr>
          <p:cNvPr id="16" name="Text 10"/>
          <p:cNvSpPr>
            <a:spLocks noGrp="1"/>
          </p:cNvSpPr>
          <p:nvPr/>
        </p:nvSpPr>
        <p:spPr>
          <a:xfrm>
            <a:off x="5410200" y="1419597"/>
            <a:ext cx="2089150" cy="216535"/>
          </a:xfrm>
          <a:prstGeom prst="rect">
            <a:avLst/>
          </a:prstGeom>
          <a:noFill/>
        </p:spPr>
        <p:txBody>
          <a:bodyPr wrap="none" lIns="0" tIns="0" rIns="0" bIns="0" anchor="t">
            <a:spAutoFit/>
          </a:bodyPr>
          <a:lstStyle/>
          <a:p>
            <a:pPr marL="0" indent="0" algn="l">
              <a:lnSpc>
                <a:spcPct val="96000"/>
              </a:lnSpc>
              <a:buNone/>
            </a:pPr>
            <a:r>
              <a:rPr sz="1465" b="1">
                <a:solidFill>
                  <a:srgbClr val="FFFFFF"/>
                </a:solidFill>
                <a:latin typeface="Arial" panose="020B0604020202020204"/>
                <a:ea typeface="Arial" panose="020B0604020202020204"/>
                <a:cs typeface="Arial" panose="020B0604020202020204"/>
              </a:rPr>
              <a:t>Preserve the original</a:t>
            </a:r>
            <a:endParaRPr sz="1465"/>
          </a:p>
        </p:txBody>
      </p:sp>
      <p:sp>
        <p:nvSpPr>
          <p:cNvPr id="17" name="Text 11"/>
          <p:cNvSpPr>
            <a:spLocks noGrp="1"/>
          </p:cNvSpPr>
          <p:nvPr/>
        </p:nvSpPr>
        <p:spPr>
          <a:xfrm>
            <a:off x="5410200" y="1718667"/>
            <a:ext cx="2984500" cy="171450"/>
          </a:xfrm>
          <a:prstGeom prst="rect">
            <a:avLst/>
          </a:prstGeom>
          <a:noFill/>
        </p:spPr>
        <p:txBody>
          <a:bodyPr wrap="none" lIns="0" tIns="0" rIns="0" bIns="0" anchor="t">
            <a:spAutoFit/>
          </a:bodyPr>
          <a:lstStyle/>
          <a:p>
            <a:pPr marL="0" indent="0" algn="l">
              <a:lnSpc>
                <a:spcPct val="98000"/>
              </a:lnSpc>
              <a:buNone/>
            </a:pPr>
            <a:r>
              <a:rPr sz="1135">
                <a:solidFill>
                  <a:srgbClr val="92A0B3"/>
                </a:solidFill>
                <a:latin typeface="Arial" panose="020B0604020202020204"/>
                <a:ea typeface="Arial" panose="020B0604020202020204"/>
                <a:cs typeface="Arial" panose="020B0604020202020204"/>
              </a:rPr>
              <a:t>Copy it exactly. Do not delete padding or spaces.</a:t>
            </a:r>
            <a:endParaRPr sz="1135"/>
          </a:p>
        </p:txBody>
      </p:sp>
      <p:sp>
        <p:nvSpPr>
          <p:cNvPr id="18" name="Shape 12"/>
          <p:cNvSpPr>
            <a:spLocks noGrp="1"/>
          </p:cNvSpPr>
          <p:nvPr/>
        </p:nvSpPr>
        <p:spPr>
          <a:xfrm>
            <a:off x="4686300" y="2459831"/>
            <a:ext cx="485775" cy="485775"/>
          </a:xfrm>
          <a:prstGeom prst="rect">
            <a:avLst/>
          </a:prstGeom>
          <a:solidFill>
            <a:srgbClr val="071525"/>
          </a:solidFill>
          <a:ln w="9144">
            <a:solidFill>
              <a:srgbClr val="00D4FF"/>
            </a:solidFill>
            <a:prstDash val="solid"/>
          </a:ln>
        </p:spPr>
      </p:sp>
      <p:sp>
        <p:nvSpPr>
          <p:cNvPr id="19" name="Text 13"/>
          <p:cNvSpPr>
            <a:spLocks noGrp="1"/>
          </p:cNvSpPr>
          <p:nvPr/>
        </p:nvSpPr>
        <p:spPr>
          <a:xfrm>
            <a:off x="4845367" y="2610643"/>
            <a:ext cx="167640" cy="184150"/>
          </a:xfrm>
          <a:prstGeom prst="rect">
            <a:avLst/>
          </a:prstGeom>
          <a:noFill/>
        </p:spPr>
        <p:txBody>
          <a:bodyPr wrap="none" lIns="0" tIns="0" rIns="0" bIns="0" anchor="ctr">
            <a:spAutoFit/>
          </a:bodyPr>
          <a:lstStyle/>
          <a:p>
            <a:pPr marL="0" indent="0" algn="ctr">
              <a:buNone/>
            </a:pPr>
            <a:r>
              <a:rPr sz="1200" b="1">
                <a:solidFill>
                  <a:srgbClr val="00D4FF"/>
                </a:solidFill>
                <a:latin typeface="Consolas" panose="020B0609020204030204"/>
                <a:ea typeface="Consolas" panose="020B0609020204030204"/>
                <a:cs typeface="Consolas" panose="020B0609020204030204"/>
              </a:rPr>
              <a:t>02</a:t>
            </a:r>
            <a:endParaRPr sz="1200"/>
          </a:p>
        </p:txBody>
      </p:sp>
      <p:sp>
        <p:nvSpPr>
          <p:cNvPr id="20" name="Text 14"/>
          <p:cNvSpPr>
            <a:spLocks noGrp="1"/>
          </p:cNvSpPr>
          <p:nvPr/>
        </p:nvSpPr>
        <p:spPr>
          <a:xfrm>
            <a:off x="5410200" y="2460203"/>
            <a:ext cx="3004820" cy="216535"/>
          </a:xfrm>
          <a:prstGeom prst="rect">
            <a:avLst/>
          </a:prstGeom>
          <a:noFill/>
        </p:spPr>
        <p:txBody>
          <a:bodyPr wrap="none" lIns="0" tIns="0" rIns="0" bIns="0" anchor="t">
            <a:spAutoFit/>
          </a:bodyPr>
          <a:lstStyle/>
          <a:p>
            <a:pPr marL="0" indent="0" algn="l">
              <a:lnSpc>
                <a:spcPct val="96000"/>
              </a:lnSpc>
              <a:buNone/>
            </a:pPr>
            <a:r>
              <a:rPr sz="1465" b="1">
                <a:solidFill>
                  <a:srgbClr val="FFFFFF"/>
                </a:solidFill>
                <a:latin typeface="Arial" panose="020B0604020202020204"/>
                <a:ea typeface="Arial" panose="020B0604020202020204"/>
                <a:cs typeface="Arial" panose="020B0604020202020204"/>
              </a:rPr>
              <a:t>Observe the character set</a:t>
            </a:r>
            <a:endParaRPr sz="1465"/>
          </a:p>
        </p:txBody>
      </p:sp>
      <p:sp>
        <p:nvSpPr>
          <p:cNvPr id="21" name="Text 15"/>
          <p:cNvSpPr>
            <a:spLocks noGrp="1"/>
          </p:cNvSpPr>
          <p:nvPr/>
        </p:nvSpPr>
        <p:spPr>
          <a:xfrm>
            <a:off x="5410200" y="2759273"/>
            <a:ext cx="2560320" cy="171450"/>
          </a:xfrm>
          <a:prstGeom prst="rect">
            <a:avLst/>
          </a:prstGeom>
          <a:noFill/>
        </p:spPr>
        <p:txBody>
          <a:bodyPr wrap="none" lIns="0" tIns="0" rIns="0" bIns="0" anchor="t">
            <a:spAutoFit/>
          </a:bodyPr>
          <a:lstStyle/>
          <a:p>
            <a:pPr marL="0" indent="0" algn="l">
              <a:lnSpc>
                <a:spcPct val="98000"/>
              </a:lnSpc>
              <a:buNone/>
            </a:pPr>
            <a:r>
              <a:rPr sz="1135">
                <a:solidFill>
                  <a:srgbClr val="92A0B3"/>
                </a:solidFill>
                <a:latin typeface="Arial" panose="020B0604020202020204"/>
                <a:ea typeface="Arial" panose="020B0604020202020204"/>
                <a:cs typeface="Arial" panose="020B0604020202020204"/>
              </a:rPr>
              <a:t>Letters? Digits? Hex symbols? Percent signs?</a:t>
            </a:r>
            <a:endParaRPr sz="1135"/>
          </a:p>
        </p:txBody>
      </p:sp>
      <p:sp>
        <p:nvSpPr>
          <p:cNvPr id="22" name="Shape 16"/>
          <p:cNvSpPr>
            <a:spLocks noGrp="1"/>
          </p:cNvSpPr>
          <p:nvPr/>
        </p:nvSpPr>
        <p:spPr>
          <a:xfrm>
            <a:off x="4686300" y="3500437"/>
            <a:ext cx="485775" cy="485775"/>
          </a:xfrm>
          <a:prstGeom prst="rect">
            <a:avLst/>
          </a:prstGeom>
          <a:solidFill>
            <a:srgbClr val="071525"/>
          </a:solidFill>
          <a:ln w="9144">
            <a:solidFill>
              <a:srgbClr val="00D4FF"/>
            </a:solidFill>
            <a:prstDash val="solid"/>
          </a:ln>
        </p:spPr>
      </p:sp>
      <p:sp>
        <p:nvSpPr>
          <p:cNvPr id="23" name="Text 17"/>
          <p:cNvSpPr>
            <a:spLocks noGrp="1"/>
          </p:cNvSpPr>
          <p:nvPr/>
        </p:nvSpPr>
        <p:spPr>
          <a:xfrm>
            <a:off x="4845367" y="3651250"/>
            <a:ext cx="167640" cy="184150"/>
          </a:xfrm>
          <a:prstGeom prst="rect">
            <a:avLst/>
          </a:prstGeom>
          <a:noFill/>
        </p:spPr>
        <p:txBody>
          <a:bodyPr wrap="none" lIns="0" tIns="0" rIns="0" bIns="0" anchor="ctr">
            <a:spAutoFit/>
          </a:bodyPr>
          <a:lstStyle/>
          <a:p>
            <a:pPr marL="0" indent="0" algn="ctr">
              <a:buNone/>
            </a:pPr>
            <a:r>
              <a:rPr sz="1200" b="1">
                <a:solidFill>
                  <a:srgbClr val="00D4FF"/>
                </a:solidFill>
                <a:latin typeface="Consolas" panose="020B0609020204030204"/>
                <a:ea typeface="Consolas" panose="020B0609020204030204"/>
                <a:cs typeface="Consolas" panose="020B0609020204030204"/>
              </a:rPr>
              <a:t>03</a:t>
            </a:r>
            <a:endParaRPr sz="1200"/>
          </a:p>
        </p:txBody>
      </p:sp>
      <p:sp>
        <p:nvSpPr>
          <p:cNvPr id="24" name="Text 18"/>
          <p:cNvSpPr>
            <a:spLocks noGrp="1"/>
          </p:cNvSpPr>
          <p:nvPr/>
        </p:nvSpPr>
        <p:spPr>
          <a:xfrm>
            <a:off x="5410200" y="3500809"/>
            <a:ext cx="3909695" cy="216535"/>
          </a:xfrm>
          <a:prstGeom prst="rect">
            <a:avLst/>
          </a:prstGeom>
          <a:noFill/>
        </p:spPr>
        <p:txBody>
          <a:bodyPr wrap="none" lIns="0" tIns="0" rIns="0" bIns="0" anchor="t">
            <a:spAutoFit/>
          </a:bodyPr>
          <a:lstStyle/>
          <a:p>
            <a:pPr marL="0" indent="0" algn="l">
              <a:lnSpc>
                <a:spcPct val="96000"/>
              </a:lnSpc>
              <a:buNone/>
            </a:pPr>
            <a:r>
              <a:rPr sz="1465" b="1">
                <a:solidFill>
                  <a:srgbClr val="FFFFFF"/>
                </a:solidFill>
                <a:latin typeface="Arial" panose="020B0604020202020204"/>
                <a:ea typeface="Arial" panose="020B0604020202020204"/>
                <a:cs typeface="Arial" panose="020B0604020202020204"/>
              </a:rPr>
              <a:t>Form one hypothesis</a:t>
            </a:r>
            <a:endParaRPr sz="1465"/>
          </a:p>
        </p:txBody>
      </p:sp>
      <p:sp>
        <p:nvSpPr>
          <p:cNvPr id="25" name="Text 19"/>
          <p:cNvSpPr>
            <a:spLocks noGrp="1"/>
          </p:cNvSpPr>
          <p:nvPr/>
        </p:nvSpPr>
        <p:spPr>
          <a:xfrm>
            <a:off x="5410200" y="3799880"/>
            <a:ext cx="3043555" cy="171450"/>
          </a:xfrm>
          <a:prstGeom prst="rect">
            <a:avLst/>
          </a:prstGeom>
          <a:noFill/>
        </p:spPr>
        <p:txBody>
          <a:bodyPr wrap="none" lIns="0" tIns="0" rIns="0" bIns="0" anchor="t">
            <a:spAutoFit/>
          </a:bodyPr>
          <a:lstStyle/>
          <a:p>
            <a:pPr marL="0" indent="0" algn="l">
              <a:lnSpc>
                <a:spcPct val="98000"/>
              </a:lnSpc>
              <a:buNone/>
            </a:pPr>
            <a:r>
              <a:rPr sz="1135">
                <a:solidFill>
                  <a:srgbClr val="92A0B3"/>
                </a:solidFill>
                <a:latin typeface="Arial" panose="020B0604020202020204"/>
                <a:ea typeface="Arial" panose="020B0604020202020204"/>
                <a:cs typeface="Arial" panose="020B0604020202020204"/>
              </a:rPr>
              <a:t>Example: “This looks like Base64.”</a:t>
            </a:r>
            <a:endParaRPr sz="1135"/>
          </a:p>
        </p:txBody>
      </p:sp>
      <p:sp>
        <p:nvSpPr>
          <p:cNvPr id="26" name="Shape 20"/>
          <p:cNvSpPr>
            <a:spLocks noGrp="1"/>
          </p:cNvSpPr>
          <p:nvPr/>
        </p:nvSpPr>
        <p:spPr>
          <a:xfrm>
            <a:off x="4686300" y="4541044"/>
            <a:ext cx="485775" cy="485775"/>
          </a:xfrm>
          <a:prstGeom prst="rect">
            <a:avLst/>
          </a:prstGeom>
          <a:solidFill>
            <a:srgbClr val="071525"/>
          </a:solidFill>
          <a:ln w="9144">
            <a:solidFill>
              <a:srgbClr val="00D4FF"/>
            </a:solidFill>
            <a:prstDash val="solid"/>
          </a:ln>
        </p:spPr>
      </p:sp>
      <p:sp>
        <p:nvSpPr>
          <p:cNvPr id="27" name="Text 21"/>
          <p:cNvSpPr>
            <a:spLocks noGrp="1"/>
          </p:cNvSpPr>
          <p:nvPr/>
        </p:nvSpPr>
        <p:spPr>
          <a:xfrm>
            <a:off x="4845367" y="4691856"/>
            <a:ext cx="167640" cy="184150"/>
          </a:xfrm>
          <a:prstGeom prst="rect">
            <a:avLst/>
          </a:prstGeom>
          <a:noFill/>
        </p:spPr>
        <p:txBody>
          <a:bodyPr wrap="none" lIns="0" tIns="0" rIns="0" bIns="0" anchor="ctr">
            <a:spAutoFit/>
          </a:bodyPr>
          <a:lstStyle/>
          <a:p>
            <a:pPr marL="0" indent="0" algn="ctr">
              <a:buNone/>
            </a:pPr>
            <a:r>
              <a:rPr sz="1200" b="1">
                <a:solidFill>
                  <a:srgbClr val="00D4FF"/>
                </a:solidFill>
                <a:latin typeface="Consolas" panose="020B0609020204030204"/>
                <a:ea typeface="Consolas" panose="020B0609020204030204"/>
                <a:cs typeface="Consolas" panose="020B0609020204030204"/>
              </a:rPr>
              <a:t>04</a:t>
            </a:r>
            <a:endParaRPr sz="1200"/>
          </a:p>
        </p:txBody>
      </p:sp>
      <p:sp>
        <p:nvSpPr>
          <p:cNvPr id="28" name="Text 22"/>
          <p:cNvSpPr>
            <a:spLocks noGrp="1"/>
          </p:cNvSpPr>
          <p:nvPr/>
        </p:nvSpPr>
        <p:spPr>
          <a:xfrm>
            <a:off x="5410200" y="4541416"/>
            <a:ext cx="1257300" cy="216535"/>
          </a:xfrm>
          <a:prstGeom prst="rect">
            <a:avLst/>
          </a:prstGeom>
          <a:noFill/>
        </p:spPr>
        <p:txBody>
          <a:bodyPr wrap="none" lIns="0" tIns="0" rIns="0" bIns="0" anchor="t">
            <a:spAutoFit/>
          </a:bodyPr>
          <a:lstStyle/>
          <a:p>
            <a:pPr marL="0" indent="0" algn="l">
              <a:lnSpc>
                <a:spcPct val="96000"/>
              </a:lnSpc>
              <a:buNone/>
            </a:pPr>
            <a:r>
              <a:rPr sz="1465" b="1">
                <a:solidFill>
                  <a:srgbClr val="FFFFFF"/>
                </a:solidFill>
                <a:latin typeface="Arial" panose="020B0604020202020204"/>
                <a:ea typeface="Arial" panose="020B0604020202020204"/>
                <a:cs typeface="Arial" panose="020B0604020202020204"/>
              </a:rPr>
              <a:t>Decode with one deliberate operation</a:t>
            </a:r>
            <a:endParaRPr sz="1465"/>
          </a:p>
        </p:txBody>
      </p:sp>
      <p:sp>
        <p:nvSpPr>
          <p:cNvPr id="29" name="Text 23"/>
          <p:cNvSpPr>
            <a:spLocks noGrp="1"/>
          </p:cNvSpPr>
          <p:nvPr/>
        </p:nvSpPr>
        <p:spPr>
          <a:xfrm>
            <a:off x="5410200" y="4840485"/>
            <a:ext cx="3277870" cy="171450"/>
          </a:xfrm>
          <a:prstGeom prst="rect">
            <a:avLst/>
          </a:prstGeom>
          <a:noFill/>
        </p:spPr>
        <p:txBody>
          <a:bodyPr wrap="none" lIns="0" tIns="0" rIns="0" bIns="0" anchor="t">
            <a:spAutoFit/>
          </a:bodyPr>
          <a:lstStyle/>
          <a:p>
            <a:pPr marL="0" indent="0" algn="l">
              <a:lnSpc>
                <a:spcPct val="98000"/>
              </a:lnSpc>
              <a:buNone/>
            </a:pPr>
            <a:r>
              <a:rPr sz="1135">
                <a:solidFill>
                  <a:srgbClr val="92A0B3"/>
                </a:solidFill>
                <a:latin typeface="Arial" panose="020B0604020202020204"/>
                <a:ea typeface="Arial" panose="020B0604020202020204"/>
                <a:cs typeface="Arial" panose="020B0604020202020204"/>
              </a:rPr>
              <a:t>Use CyberChef or the correct command-line tool.</a:t>
            </a:r>
            <a:endParaRPr sz="1135"/>
          </a:p>
        </p:txBody>
      </p:sp>
      <p:sp>
        <p:nvSpPr>
          <p:cNvPr id="30" name="Shape 24"/>
          <p:cNvSpPr>
            <a:spLocks noGrp="1"/>
          </p:cNvSpPr>
          <p:nvPr/>
        </p:nvSpPr>
        <p:spPr>
          <a:xfrm>
            <a:off x="4686300" y="5581651"/>
            <a:ext cx="485775" cy="485775"/>
          </a:xfrm>
          <a:prstGeom prst="rect">
            <a:avLst/>
          </a:prstGeom>
          <a:solidFill>
            <a:srgbClr val="071525"/>
          </a:solidFill>
          <a:ln w="9144">
            <a:solidFill>
              <a:srgbClr val="00D4FF"/>
            </a:solidFill>
            <a:prstDash val="solid"/>
          </a:ln>
        </p:spPr>
      </p:sp>
      <p:sp>
        <p:nvSpPr>
          <p:cNvPr id="31" name="Text 25"/>
          <p:cNvSpPr>
            <a:spLocks noGrp="1"/>
          </p:cNvSpPr>
          <p:nvPr/>
        </p:nvSpPr>
        <p:spPr>
          <a:xfrm>
            <a:off x="4845367" y="5732463"/>
            <a:ext cx="167640" cy="184150"/>
          </a:xfrm>
          <a:prstGeom prst="rect">
            <a:avLst/>
          </a:prstGeom>
          <a:noFill/>
        </p:spPr>
        <p:txBody>
          <a:bodyPr wrap="none" lIns="0" tIns="0" rIns="0" bIns="0" anchor="ctr">
            <a:spAutoFit/>
          </a:bodyPr>
          <a:lstStyle/>
          <a:p>
            <a:pPr marL="0" indent="0" algn="ctr">
              <a:buNone/>
            </a:pPr>
            <a:r>
              <a:rPr sz="1200" b="1">
                <a:solidFill>
                  <a:srgbClr val="00D4FF"/>
                </a:solidFill>
                <a:latin typeface="Consolas" panose="020B0609020204030204"/>
                <a:ea typeface="Consolas" panose="020B0609020204030204"/>
                <a:cs typeface="Consolas" panose="020B0609020204030204"/>
              </a:rPr>
              <a:t>05</a:t>
            </a:r>
            <a:endParaRPr sz="1200"/>
          </a:p>
        </p:txBody>
      </p:sp>
      <p:sp>
        <p:nvSpPr>
          <p:cNvPr id="32" name="Text 26"/>
          <p:cNvSpPr>
            <a:spLocks noGrp="1"/>
          </p:cNvSpPr>
          <p:nvPr/>
        </p:nvSpPr>
        <p:spPr>
          <a:xfrm>
            <a:off x="5410200" y="5582023"/>
            <a:ext cx="2068830" cy="216535"/>
          </a:xfrm>
          <a:prstGeom prst="rect">
            <a:avLst/>
          </a:prstGeom>
          <a:noFill/>
        </p:spPr>
        <p:txBody>
          <a:bodyPr wrap="none" lIns="0" tIns="0" rIns="0" bIns="0" anchor="t">
            <a:spAutoFit/>
          </a:bodyPr>
          <a:lstStyle/>
          <a:p>
            <a:pPr marL="0" indent="0" algn="l">
              <a:lnSpc>
                <a:spcPct val="96000"/>
              </a:lnSpc>
              <a:buNone/>
            </a:pPr>
            <a:r>
              <a:rPr sz="1465" b="1">
                <a:solidFill>
                  <a:srgbClr val="FFFFFF"/>
                </a:solidFill>
                <a:latin typeface="Arial" panose="020B0604020202020204"/>
                <a:ea typeface="Arial" panose="020B0604020202020204"/>
                <a:cs typeface="Arial" panose="020B0604020202020204"/>
              </a:rPr>
              <a:t>Verify the result</a:t>
            </a:r>
            <a:endParaRPr sz="1465"/>
          </a:p>
        </p:txBody>
      </p:sp>
      <p:sp>
        <p:nvSpPr>
          <p:cNvPr id="33" name="Text 27"/>
          <p:cNvSpPr>
            <a:spLocks noGrp="1"/>
          </p:cNvSpPr>
          <p:nvPr/>
        </p:nvSpPr>
        <p:spPr>
          <a:xfrm>
            <a:off x="5410200" y="5881092"/>
            <a:ext cx="3019425" cy="171450"/>
          </a:xfrm>
          <a:prstGeom prst="rect">
            <a:avLst/>
          </a:prstGeom>
          <a:noFill/>
        </p:spPr>
        <p:txBody>
          <a:bodyPr wrap="none" lIns="0" tIns="0" rIns="0" bIns="0" anchor="t">
            <a:spAutoFit/>
          </a:bodyPr>
          <a:lstStyle/>
          <a:p>
            <a:pPr marL="0" indent="0" algn="l">
              <a:lnSpc>
                <a:spcPct val="98000"/>
              </a:lnSpc>
              <a:buNone/>
            </a:pPr>
            <a:r>
              <a:rPr sz="1135">
                <a:solidFill>
                  <a:srgbClr val="92A0B3"/>
                </a:solidFill>
                <a:latin typeface="Arial" panose="020B0604020202020204"/>
                <a:ea typeface="Arial" panose="020B0604020202020204"/>
                <a:cs typeface="Arial" panose="020B0604020202020204"/>
              </a:rPr>
              <a:t>Readable text? Expected flag format? Repeatable method?</a:t>
            </a:r>
            <a:endParaRPr sz="1135"/>
          </a:p>
        </p:txBody>
      </p:sp>
      <p:sp>
        <p:nvSpPr>
          <p:cNvPr id="34" name="Shape 28"/>
          <p:cNvSpPr>
            <a:spLocks noGrp="1"/>
          </p:cNvSpPr>
          <p:nvPr/>
        </p:nvSpPr>
        <p:spPr>
          <a:xfrm>
            <a:off x="723900" y="6172200"/>
            <a:ext cx="10744200" cy="685800"/>
          </a:xfrm>
          <a:prstGeom prst="rect">
            <a:avLst/>
          </a:prstGeom>
          <a:solidFill>
            <a:srgbClr val="000000">
              <a:alpha val="0"/>
            </a:srgbClr>
          </a:solidFill>
        </p:spPr>
      </p:sp>
      <p:sp>
        <p:nvSpPr>
          <p:cNvPr id="35" name="Shape 29"/>
          <p:cNvSpPr>
            <a:spLocks noGrp="1"/>
          </p:cNvSpPr>
          <p:nvPr/>
        </p:nvSpPr>
        <p:spPr>
          <a:xfrm>
            <a:off x="723900" y="6172200"/>
            <a:ext cx="10744200" cy="9525"/>
          </a:xfrm>
          <a:prstGeom prst="rect">
            <a:avLst/>
          </a:prstGeom>
          <a:solidFill>
            <a:srgbClr val="FFFFFF"/>
          </a:solidFill>
        </p:spPr>
      </p:sp>
      <p:sp>
        <p:nvSpPr>
          <p:cNvPr id="36" name="Text 30"/>
          <p:cNvSpPr>
            <a:spLocks noGrp="1"/>
          </p:cNvSpPr>
          <p:nvPr/>
        </p:nvSpPr>
        <p:spPr>
          <a:xfrm>
            <a:off x="723900" y="6343651"/>
            <a:ext cx="4241007" cy="163830"/>
          </a:xfrm>
          <a:prstGeom prst="rect">
            <a:avLst/>
          </a:prstGeom>
          <a:noFill/>
        </p:spPr>
        <p:txBody>
          <a:bodyPr wrap="square" lIns="0" tIns="0" rIns="0" bIns="0" anchor="t">
            <a:spAutoFit/>
          </a:bodyPr>
          <a:lstStyle/>
          <a:p>
            <a:pPr marL="0" indent="0" algn="l">
              <a:buNone/>
            </a:pPr>
            <a:r>
              <a:rPr sz="1065" b="1">
                <a:solidFill>
                  <a:srgbClr val="FF6B1A"/>
                </a:solidFill>
                <a:latin typeface="Arial" panose="020B0604020202020204"/>
                <a:ea typeface="Arial" panose="020B0604020202020204"/>
                <a:cs typeface="Arial" panose="020B0604020202020204"/>
              </a:rPr>
              <a:t>OBSERVE → HYPOTHESIZE → TEST → VERIFY → DOCUMENT.</a:t>
            </a:r>
            <a:endParaRPr sz="1065"/>
          </a:p>
        </p:txBody>
      </p:sp>
      <p:sp>
        <p:nvSpPr>
          <p:cNvPr id="37" name="Text 31"/>
          <p:cNvSpPr>
            <a:spLocks noGrp="1"/>
          </p:cNvSpPr>
          <p:nvPr/>
        </p:nvSpPr>
        <p:spPr>
          <a:xfrm>
            <a:off x="10874797" y="6343651"/>
            <a:ext cx="564515" cy="153670"/>
          </a:xfrm>
          <a:prstGeom prst="rect">
            <a:avLst/>
          </a:prstGeom>
          <a:noFill/>
        </p:spPr>
        <p:txBody>
          <a:bodyPr wrap="none" lIns="0" tIns="0"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0:25–0:40</a:t>
            </a:r>
            <a:endParaRPr sz="1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21" name="Image 1"/>
          <p:cNvPicPr>
            <a:picLocks noChangeAspect="1"/>
          </p:cNvPicPr>
          <p:nvPr/>
        </p:nvPicPr>
        <p:blipFill>
          <a:blip r:embed="rId2"/>
          <a:stretch>
            <a:fillRect/>
          </a:stretch>
        </p:blipFill>
        <p:spPr>
          <a:xfrm>
            <a:off x="723900" y="190500"/>
            <a:ext cx="590551" cy="590551"/>
          </a:xfrm>
          <a:prstGeom prst="rect">
            <a:avLst/>
          </a:prstGeom>
        </p:spPr>
      </p:pic>
      <p:pic>
        <p:nvPicPr>
          <p:cNvPr id="22"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4333205" y="2380357"/>
            <a:ext cx="3525515" cy="153670"/>
          </a:xfrm>
          <a:prstGeom prst="rect">
            <a:avLst/>
          </a:prstGeom>
          <a:noFill/>
        </p:spPr>
        <p:txBody>
          <a:bodyPr wrap="square" lIns="0" tIns="0" rIns="0" bIns="0" anchor="t">
            <a:spAutoFit/>
          </a:bodyPr>
          <a:lstStyle/>
          <a:p>
            <a:pPr marL="0" indent="0" algn="ctr">
              <a:buNone/>
            </a:pPr>
            <a:r>
              <a:rPr sz="1000" b="1" spc="3">
                <a:solidFill>
                  <a:srgbClr val="FF6B1A"/>
                </a:solidFill>
                <a:latin typeface="Arial" panose="020B0604020202020204"/>
                <a:ea typeface="Arial" panose="020B0604020202020204"/>
                <a:cs typeface="Arial" panose="020B0604020202020204"/>
              </a:rPr>
              <a:t>SECTION 02 HANDS-ON PRACTICE</a:t>
            </a:r>
            <a:endParaRPr sz="1000"/>
          </a:p>
        </p:txBody>
      </p:sp>
      <p:sp>
        <p:nvSpPr>
          <p:cNvPr id="9" name="Text 3"/>
          <p:cNvSpPr>
            <a:spLocks noGrp="1"/>
          </p:cNvSpPr>
          <p:nvPr/>
        </p:nvSpPr>
        <p:spPr>
          <a:xfrm>
            <a:off x="3058160" y="2770883"/>
            <a:ext cx="6075680" cy="679450"/>
          </a:xfrm>
          <a:prstGeom prst="rect">
            <a:avLst/>
          </a:prstGeom>
          <a:noFill/>
        </p:spPr>
        <p:txBody>
          <a:bodyPr wrap="none" lIns="0" tIns="0" rIns="0" bIns="0" anchor="t">
            <a:spAutoFit/>
          </a:bodyPr>
          <a:lstStyle/>
          <a:p>
            <a:pPr marL="0" indent="0" algn="ctr">
              <a:lnSpc>
                <a:spcPct val="77000"/>
              </a:lnSpc>
              <a:buNone/>
            </a:pPr>
            <a:r>
              <a:rPr sz="5735" b="1" spc="-2">
                <a:solidFill>
                  <a:srgbClr val="FFFFFF"/>
                </a:solidFill>
                <a:latin typeface="Arial" panose="020B0604020202020204"/>
                <a:ea typeface="Arial" panose="020B0604020202020204"/>
                <a:cs typeface="Arial" panose="020B0604020202020204"/>
              </a:rPr>
              <a:t>CYBERCHEF SURVIVAL</a:t>
            </a:r>
            <a:endParaRPr sz="5735"/>
          </a:p>
        </p:txBody>
      </p:sp>
      <p:sp>
        <p:nvSpPr>
          <p:cNvPr id="10" name="Text 4"/>
          <p:cNvSpPr>
            <a:spLocks noGrp="1"/>
          </p:cNvSpPr>
          <p:nvPr/>
        </p:nvSpPr>
        <p:spPr>
          <a:xfrm>
            <a:off x="3732015" y="4034656"/>
            <a:ext cx="4727972" cy="245745"/>
          </a:xfrm>
          <a:prstGeom prst="rect">
            <a:avLst/>
          </a:prstGeom>
          <a:noFill/>
        </p:spPr>
        <p:txBody>
          <a:bodyPr wrap="square" lIns="0" tIns="0" rIns="0" bIns="0" anchor="t">
            <a:spAutoFit/>
          </a:bodyPr>
          <a:lstStyle/>
          <a:p>
            <a:pPr marL="0" indent="0" algn="ctr">
              <a:buNone/>
            </a:pPr>
            <a:r>
              <a:rPr sz="1600" b="1" spc="1">
                <a:solidFill>
                  <a:srgbClr val="00D4FF"/>
                </a:solidFill>
                <a:latin typeface="Arial" panose="020B0604020202020204"/>
                <a:ea typeface="Arial" panose="020B0604020202020204"/>
                <a:cs typeface="Arial" panose="020B0604020202020204"/>
              </a:rPr>
              <a:t>8 operations. One rule: know why you use each.</a:t>
            </a:r>
            <a:endParaRPr sz="1600"/>
          </a:p>
        </p:txBody>
      </p:sp>
      <p:sp>
        <p:nvSpPr>
          <p:cNvPr id="11" name="Text 5"/>
          <p:cNvSpPr>
            <a:spLocks noGrp="1"/>
          </p:cNvSpPr>
          <p:nvPr/>
        </p:nvSpPr>
        <p:spPr>
          <a:xfrm>
            <a:off x="5044232" y="4601393"/>
            <a:ext cx="2103463" cy="163830"/>
          </a:xfrm>
          <a:prstGeom prst="rect">
            <a:avLst/>
          </a:prstGeom>
          <a:noFill/>
        </p:spPr>
        <p:txBody>
          <a:bodyPr wrap="square" lIns="0" tIns="0" rIns="0" bIns="0" anchor="t">
            <a:spAutoFit/>
          </a:bodyPr>
          <a:lstStyle/>
          <a:p>
            <a:pPr marL="0" indent="0" algn="ctr">
              <a:buNone/>
            </a:pPr>
            <a:r>
              <a:rPr sz="1065">
                <a:solidFill>
                  <a:srgbClr val="8A96AA"/>
                </a:solidFill>
                <a:latin typeface="Consolas" panose="020B0609020204030204"/>
                <a:ea typeface="Consolas" panose="020B0609020204030204"/>
                <a:cs typeface="Consolas" panose="020B0609020204030204"/>
              </a:rPr>
              <a:t>INPUT → RECIPE → OUTPUT</a:t>
            </a:r>
            <a:endParaRPr sz="1065"/>
          </a:p>
        </p:txBody>
      </p:sp>
      <p:sp>
        <p:nvSpPr>
          <p:cNvPr id="12" name="Shape 6"/>
          <p:cNvSpPr>
            <a:spLocks noGrp="1"/>
          </p:cNvSpPr>
          <p:nvPr/>
        </p:nvSpPr>
        <p:spPr>
          <a:xfrm>
            <a:off x="723900" y="6172200"/>
            <a:ext cx="10744200" cy="685800"/>
          </a:xfrm>
          <a:prstGeom prst="rect">
            <a:avLst/>
          </a:prstGeom>
          <a:solidFill>
            <a:srgbClr val="000000">
              <a:alpha val="0"/>
            </a:srgbClr>
          </a:solidFill>
        </p:spPr>
      </p:sp>
      <p:sp>
        <p:nvSpPr>
          <p:cNvPr id="13" name="Shape 7"/>
          <p:cNvSpPr>
            <a:spLocks noGrp="1"/>
          </p:cNvSpPr>
          <p:nvPr/>
        </p:nvSpPr>
        <p:spPr>
          <a:xfrm>
            <a:off x="723900" y="6172200"/>
            <a:ext cx="10744200" cy="9525"/>
          </a:xfrm>
          <a:prstGeom prst="rect">
            <a:avLst/>
          </a:prstGeom>
          <a:solidFill>
            <a:srgbClr val="FFFFFF"/>
          </a:solidFill>
        </p:spPr>
      </p:sp>
      <p:sp>
        <p:nvSpPr>
          <p:cNvPr id="14" name="Text 8"/>
          <p:cNvSpPr>
            <a:spLocks noGrp="1"/>
          </p:cNvSpPr>
          <p:nvPr/>
        </p:nvSpPr>
        <p:spPr>
          <a:xfrm>
            <a:off x="723900" y="6172200"/>
            <a:ext cx="10744200" cy="357505"/>
          </a:xfrm>
          <a:prstGeom prst="rect">
            <a:avLst/>
          </a:prstGeom>
          <a:noFill/>
        </p:spPr>
        <p:txBody>
          <a:bodyPr wrap="square" lIns="0" tIns="204046"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0:40–0:58</a:t>
            </a:r>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8"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61" name="Image 1"/>
          <p:cNvPicPr>
            <a:picLocks noChangeAspect="1"/>
          </p:cNvPicPr>
          <p:nvPr/>
        </p:nvPicPr>
        <p:blipFill>
          <a:blip r:embed="rId2"/>
          <a:stretch>
            <a:fillRect/>
          </a:stretch>
        </p:blipFill>
        <p:spPr>
          <a:xfrm>
            <a:off x="723900" y="190500"/>
            <a:ext cx="590551" cy="590551"/>
          </a:xfrm>
          <a:prstGeom prst="rect">
            <a:avLst/>
          </a:prstGeom>
        </p:spPr>
      </p:pic>
      <p:pic>
        <p:nvPicPr>
          <p:cNvPr id="62"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857251" y="971551"/>
            <a:ext cx="10477500" cy="472440"/>
          </a:xfrm>
          <a:prstGeom prst="rect">
            <a:avLst/>
          </a:prstGeom>
          <a:noFill/>
        </p:spPr>
        <p:txBody>
          <a:bodyPr wrap="square" lIns="0" tIns="328845" rIns="0" bIns="0" anchor="t">
            <a:spAutoFit/>
          </a:bodyPr>
          <a:lstStyle/>
          <a:p>
            <a:pPr marL="0" indent="0" algn="l">
              <a:buNone/>
            </a:pPr>
            <a:r>
              <a:rPr sz="935" b="1" spc="3">
                <a:solidFill>
                  <a:srgbClr val="00D4FF"/>
                </a:solidFill>
                <a:latin typeface="Arial" panose="020B0604020202020204"/>
                <a:ea typeface="Arial" panose="020B0604020202020204"/>
                <a:cs typeface="Arial" panose="020B0604020202020204"/>
              </a:rPr>
              <a:t>CYBERCHEF SURVIVAL</a:t>
            </a:r>
            <a:endParaRPr sz="935"/>
          </a:p>
        </p:txBody>
      </p:sp>
      <p:sp>
        <p:nvSpPr>
          <p:cNvPr id="9" name="Text 3"/>
          <p:cNvSpPr>
            <a:spLocks noGrp="1"/>
          </p:cNvSpPr>
          <p:nvPr/>
        </p:nvSpPr>
        <p:spPr>
          <a:xfrm>
            <a:off x="857251" y="1476375"/>
            <a:ext cx="3433445" cy="408305"/>
          </a:xfrm>
          <a:prstGeom prst="rect">
            <a:avLst/>
          </a:prstGeom>
          <a:noFill/>
        </p:spPr>
        <p:txBody>
          <a:bodyPr wrap="none" lIns="0" tIns="0" rIns="0" bIns="0" anchor="t">
            <a:spAutoFit/>
          </a:bodyPr>
          <a:lstStyle/>
          <a:p>
            <a:pPr marL="0" indent="0" algn="l">
              <a:lnSpc>
                <a:spcPct val="83000"/>
              </a:lnSpc>
              <a:buNone/>
            </a:pPr>
            <a:r>
              <a:rPr sz="3200" b="1" spc="-1">
                <a:solidFill>
                  <a:srgbClr val="FFFFFF"/>
                </a:solidFill>
                <a:latin typeface="Arial" panose="020B0604020202020204"/>
                <a:ea typeface="Arial" panose="020B0604020202020204"/>
                <a:cs typeface="Arial" panose="020B0604020202020204"/>
              </a:rPr>
              <a:t>The 8 operations.</a:t>
            </a:r>
            <a:endParaRPr sz="3200"/>
          </a:p>
        </p:txBody>
      </p:sp>
      <p:sp>
        <p:nvSpPr>
          <p:cNvPr id="10" name="Text 4"/>
          <p:cNvSpPr>
            <a:spLocks noGrp="1"/>
          </p:cNvSpPr>
          <p:nvPr/>
        </p:nvSpPr>
        <p:spPr>
          <a:xfrm>
            <a:off x="9504387" y="1719263"/>
            <a:ext cx="1830363" cy="365760"/>
          </a:xfrm>
          <a:prstGeom prst="rect">
            <a:avLst/>
          </a:prstGeom>
          <a:noFill/>
        </p:spPr>
        <p:txBody>
          <a:bodyPr wrap="square" lIns="0" tIns="0" rIns="0" bIns="0" anchor="t">
            <a:spAutoFit/>
          </a:bodyPr>
          <a:lstStyle/>
          <a:p>
            <a:pPr marL="0" indent="0" algn="l">
              <a:buNone/>
            </a:pPr>
            <a:r>
              <a:rPr sz="1200">
                <a:solidFill>
                  <a:srgbClr val="8A96A9"/>
                </a:solidFill>
                <a:latin typeface="Arial" panose="020B0604020202020204"/>
                <a:ea typeface="Arial" panose="020B0604020202020204"/>
                <a:cs typeface="Arial" panose="020B0604020202020204"/>
              </a:rPr>
              <a:t>That is enough for today's lab.</a:t>
            </a:r>
            <a:endParaRPr sz="1200"/>
          </a:p>
        </p:txBody>
      </p:sp>
      <p:sp>
        <p:nvSpPr>
          <p:cNvPr id="11" name="Shape 5"/>
          <p:cNvSpPr>
            <a:spLocks noGrp="1"/>
          </p:cNvSpPr>
          <p:nvPr/>
        </p:nvSpPr>
        <p:spPr>
          <a:xfrm>
            <a:off x="866775" y="2199084"/>
            <a:ext cx="2616993" cy="1600200"/>
          </a:xfrm>
          <a:prstGeom prst="rect">
            <a:avLst/>
          </a:prstGeom>
          <a:solidFill>
            <a:srgbClr val="040C16">
              <a:alpha val="25000"/>
            </a:srgbClr>
          </a:solidFill>
        </p:spPr>
      </p:sp>
      <p:sp>
        <p:nvSpPr>
          <p:cNvPr id="12" name="Shape 6"/>
          <p:cNvSpPr>
            <a:spLocks noGrp="1"/>
          </p:cNvSpPr>
          <p:nvPr/>
        </p:nvSpPr>
        <p:spPr>
          <a:xfrm>
            <a:off x="3474244" y="2199084"/>
            <a:ext cx="9525" cy="1600200"/>
          </a:xfrm>
          <a:prstGeom prst="rect">
            <a:avLst/>
          </a:prstGeom>
          <a:solidFill>
            <a:srgbClr val="ADF1FF"/>
          </a:solidFill>
        </p:spPr>
      </p:sp>
      <p:sp>
        <p:nvSpPr>
          <p:cNvPr id="13" name="Shape 7"/>
          <p:cNvSpPr>
            <a:spLocks noGrp="1"/>
          </p:cNvSpPr>
          <p:nvPr/>
        </p:nvSpPr>
        <p:spPr>
          <a:xfrm>
            <a:off x="866775" y="3789760"/>
            <a:ext cx="2616993" cy="9525"/>
          </a:xfrm>
          <a:prstGeom prst="rect">
            <a:avLst/>
          </a:prstGeom>
          <a:solidFill>
            <a:srgbClr val="5CE3FF"/>
          </a:solidFill>
        </p:spPr>
      </p:sp>
      <p:sp>
        <p:nvSpPr>
          <p:cNvPr id="14" name="Text 8"/>
          <p:cNvSpPr>
            <a:spLocks noGrp="1"/>
          </p:cNvSpPr>
          <p:nvPr/>
        </p:nvSpPr>
        <p:spPr>
          <a:xfrm>
            <a:off x="1123951" y="2676451"/>
            <a:ext cx="419100" cy="245745"/>
          </a:xfrm>
          <a:prstGeom prst="rect">
            <a:avLst/>
          </a:prstGeom>
          <a:noFill/>
        </p:spPr>
        <p:txBody>
          <a:bodyPr wrap="none" lIns="0" tIns="0" rIns="0" bIns="0" anchor="t">
            <a:spAutoFit/>
          </a:bodyPr>
          <a:lstStyle/>
          <a:p>
            <a:pPr marL="0" indent="0" algn="l">
              <a:lnSpc>
                <a:spcPct val="80000"/>
              </a:lnSpc>
              <a:buNone/>
            </a:pPr>
            <a:r>
              <a:rPr sz="2000" b="1">
                <a:solidFill>
                  <a:srgbClr val="00D4FF"/>
                </a:solidFill>
                <a:latin typeface="Consolas" panose="020B0609020204030204"/>
                <a:ea typeface="Consolas" panose="020B0609020204030204"/>
                <a:cs typeface="Consolas" panose="020B0609020204030204"/>
              </a:rPr>
              <a:t>From Base64</a:t>
            </a:r>
            <a:endParaRPr sz="2000"/>
          </a:p>
        </p:txBody>
      </p:sp>
      <p:sp>
        <p:nvSpPr>
          <p:cNvPr id="15" name="Text 9"/>
          <p:cNvSpPr>
            <a:spLocks noGrp="1"/>
          </p:cNvSpPr>
          <p:nvPr/>
        </p:nvSpPr>
        <p:spPr>
          <a:xfrm>
            <a:off x="1123951" y="3114600"/>
            <a:ext cx="871855" cy="187325"/>
          </a:xfrm>
          <a:prstGeom prst="rect">
            <a:avLst/>
          </a:prstGeom>
          <a:noFill/>
        </p:spPr>
        <p:txBody>
          <a:bodyPr wrap="none" lIns="0" tIns="0" rIns="0" bIns="0" anchor="t">
            <a:spAutoFit/>
          </a:bodyPr>
          <a:lstStyle/>
          <a:p>
            <a:pPr marL="0" indent="0" algn="l">
              <a:lnSpc>
                <a:spcPct val="102000"/>
              </a:lnSpc>
              <a:buNone/>
            </a:pPr>
            <a:r>
              <a:rPr sz="1200">
                <a:solidFill>
                  <a:srgbClr val="D9E2EC"/>
                </a:solidFill>
                <a:latin typeface="Arial" panose="020B0604020202020204"/>
                <a:ea typeface="Arial" panose="020B0604020202020204"/>
                <a:cs typeface="Arial" panose="020B0604020202020204"/>
              </a:rPr>
              <a:t>Decode Base64 text.</a:t>
            </a:r>
            <a:endParaRPr sz="1200"/>
          </a:p>
        </p:txBody>
      </p:sp>
      <p:sp>
        <p:nvSpPr>
          <p:cNvPr id="16" name="Shape 10"/>
          <p:cNvSpPr>
            <a:spLocks noGrp="1"/>
          </p:cNvSpPr>
          <p:nvPr/>
        </p:nvSpPr>
        <p:spPr>
          <a:xfrm>
            <a:off x="3483769" y="2199084"/>
            <a:ext cx="2616993" cy="1600200"/>
          </a:xfrm>
          <a:prstGeom prst="rect">
            <a:avLst/>
          </a:prstGeom>
          <a:solidFill>
            <a:srgbClr val="040C16">
              <a:alpha val="25000"/>
            </a:srgbClr>
          </a:solidFill>
        </p:spPr>
      </p:sp>
      <p:sp>
        <p:nvSpPr>
          <p:cNvPr id="17" name="Shape 11"/>
          <p:cNvSpPr>
            <a:spLocks noGrp="1"/>
          </p:cNvSpPr>
          <p:nvPr/>
        </p:nvSpPr>
        <p:spPr>
          <a:xfrm>
            <a:off x="6091237" y="2199084"/>
            <a:ext cx="9525" cy="1600200"/>
          </a:xfrm>
          <a:prstGeom prst="rect">
            <a:avLst/>
          </a:prstGeom>
          <a:solidFill>
            <a:srgbClr val="ADF1FF"/>
          </a:solidFill>
        </p:spPr>
      </p:sp>
      <p:sp>
        <p:nvSpPr>
          <p:cNvPr id="18" name="Shape 12"/>
          <p:cNvSpPr>
            <a:spLocks noGrp="1"/>
          </p:cNvSpPr>
          <p:nvPr/>
        </p:nvSpPr>
        <p:spPr>
          <a:xfrm>
            <a:off x="3483769" y="3789760"/>
            <a:ext cx="2616993" cy="9525"/>
          </a:xfrm>
          <a:prstGeom prst="rect">
            <a:avLst/>
          </a:prstGeom>
          <a:solidFill>
            <a:srgbClr val="5CE3FF"/>
          </a:solidFill>
        </p:spPr>
      </p:sp>
      <p:sp>
        <p:nvSpPr>
          <p:cNvPr id="19" name="Text 13"/>
          <p:cNvSpPr>
            <a:spLocks noGrp="1"/>
          </p:cNvSpPr>
          <p:nvPr/>
        </p:nvSpPr>
        <p:spPr>
          <a:xfrm>
            <a:off x="3740944" y="2572867"/>
            <a:ext cx="838200" cy="245745"/>
          </a:xfrm>
          <a:prstGeom prst="rect">
            <a:avLst/>
          </a:prstGeom>
          <a:noFill/>
        </p:spPr>
        <p:txBody>
          <a:bodyPr wrap="none" lIns="0" tIns="0" rIns="0" bIns="0" anchor="t">
            <a:spAutoFit/>
          </a:bodyPr>
          <a:lstStyle/>
          <a:p>
            <a:pPr marL="0" indent="0" algn="l">
              <a:lnSpc>
                <a:spcPct val="80000"/>
              </a:lnSpc>
              <a:buNone/>
            </a:pPr>
            <a:r>
              <a:rPr sz="2000" b="1">
                <a:solidFill>
                  <a:srgbClr val="FF6B1A"/>
                </a:solidFill>
                <a:latin typeface="Consolas" panose="020B0609020204030204"/>
                <a:ea typeface="Consolas" panose="020B0609020204030204"/>
                <a:cs typeface="Consolas" panose="020B0609020204030204"/>
              </a:rPr>
              <a:t>From Hex</a:t>
            </a:r>
            <a:endParaRPr sz="2000"/>
          </a:p>
        </p:txBody>
      </p:sp>
      <p:sp>
        <p:nvSpPr>
          <p:cNvPr id="20" name="Text 14"/>
          <p:cNvSpPr>
            <a:spLocks noGrp="1"/>
          </p:cNvSpPr>
          <p:nvPr/>
        </p:nvSpPr>
        <p:spPr>
          <a:xfrm>
            <a:off x="3740944" y="3011016"/>
            <a:ext cx="2019300" cy="375285"/>
          </a:xfrm>
          <a:prstGeom prst="rect">
            <a:avLst/>
          </a:prstGeom>
          <a:noFill/>
        </p:spPr>
        <p:txBody>
          <a:bodyPr wrap="square" lIns="0" tIns="0" rIns="0" bIns="0" anchor="t">
            <a:spAutoFit/>
          </a:bodyPr>
          <a:lstStyle/>
          <a:p>
            <a:pPr marL="0" indent="0" algn="l">
              <a:lnSpc>
                <a:spcPct val="102000"/>
              </a:lnSpc>
              <a:buNone/>
            </a:pPr>
            <a:r>
              <a:rPr sz="1200">
                <a:solidFill>
                  <a:srgbClr val="D9E2EC"/>
                </a:solidFill>
                <a:latin typeface="Arial" panose="020B0604020202020204"/>
                <a:ea typeface="Arial" panose="020B0604020202020204"/>
                <a:cs typeface="Arial" panose="020B0604020202020204"/>
              </a:rPr>
              <a:t>Decode hexadecimal bytes.</a:t>
            </a:r>
            <a:endParaRPr sz="1200"/>
          </a:p>
        </p:txBody>
      </p:sp>
      <p:sp>
        <p:nvSpPr>
          <p:cNvPr id="21" name="Shape 15"/>
          <p:cNvSpPr>
            <a:spLocks noGrp="1"/>
          </p:cNvSpPr>
          <p:nvPr/>
        </p:nvSpPr>
        <p:spPr>
          <a:xfrm>
            <a:off x="6100763" y="2199084"/>
            <a:ext cx="2616993" cy="1600200"/>
          </a:xfrm>
          <a:prstGeom prst="rect">
            <a:avLst/>
          </a:prstGeom>
          <a:solidFill>
            <a:srgbClr val="040C16">
              <a:alpha val="25000"/>
            </a:srgbClr>
          </a:solidFill>
        </p:spPr>
      </p:sp>
      <p:sp>
        <p:nvSpPr>
          <p:cNvPr id="22" name="Shape 16"/>
          <p:cNvSpPr>
            <a:spLocks noGrp="1"/>
          </p:cNvSpPr>
          <p:nvPr/>
        </p:nvSpPr>
        <p:spPr>
          <a:xfrm>
            <a:off x="8708231" y="2199084"/>
            <a:ext cx="9525" cy="1600200"/>
          </a:xfrm>
          <a:prstGeom prst="rect">
            <a:avLst/>
          </a:prstGeom>
          <a:solidFill>
            <a:srgbClr val="ADF1FF"/>
          </a:solidFill>
        </p:spPr>
      </p:sp>
      <p:sp>
        <p:nvSpPr>
          <p:cNvPr id="23" name="Shape 17"/>
          <p:cNvSpPr>
            <a:spLocks noGrp="1"/>
          </p:cNvSpPr>
          <p:nvPr/>
        </p:nvSpPr>
        <p:spPr>
          <a:xfrm>
            <a:off x="6100763" y="3789760"/>
            <a:ext cx="2616993" cy="9525"/>
          </a:xfrm>
          <a:prstGeom prst="rect">
            <a:avLst/>
          </a:prstGeom>
          <a:solidFill>
            <a:srgbClr val="5CE3FF"/>
          </a:solidFill>
        </p:spPr>
      </p:sp>
      <p:sp>
        <p:nvSpPr>
          <p:cNvPr id="24" name="Text 18"/>
          <p:cNvSpPr>
            <a:spLocks noGrp="1"/>
          </p:cNvSpPr>
          <p:nvPr/>
        </p:nvSpPr>
        <p:spPr>
          <a:xfrm>
            <a:off x="6357937" y="2676451"/>
            <a:ext cx="279400" cy="245745"/>
          </a:xfrm>
          <a:prstGeom prst="rect">
            <a:avLst/>
          </a:prstGeom>
          <a:noFill/>
        </p:spPr>
        <p:txBody>
          <a:bodyPr wrap="none" lIns="0" tIns="0" rIns="0" bIns="0" anchor="t">
            <a:spAutoFit/>
          </a:bodyPr>
          <a:lstStyle/>
          <a:p>
            <a:pPr marL="0" indent="0" algn="l">
              <a:lnSpc>
                <a:spcPct val="80000"/>
              </a:lnSpc>
              <a:buNone/>
            </a:pPr>
            <a:r>
              <a:rPr sz="2000" b="1">
                <a:solidFill>
                  <a:srgbClr val="00D4FF"/>
                </a:solidFill>
                <a:latin typeface="Consolas" panose="020B0609020204030204"/>
                <a:ea typeface="Consolas" panose="020B0609020204030204"/>
                <a:cs typeface="Consolas" panose="020B0609020204030204"/>
              </a:rPr>
              <a:t>From Decimal</a:t>
            </a:r>
            <a:endParaRPr sz="2000"/>
          </a:p>
        </p:txBody>
      </p:sp>
      <p:sp>
        <p:nvSpPr>
          <p:cNvPr id="25" name="Text 19"/>
          <p:cNvSpPr>
            <a:spLocks noGrp="1"/>
          </p:cNvSpPr>
          <p:nvPr/>
        </p:nvSpPr>
        <p:spPr>
          <a:xfrm>
            <a:off x="6357937" y="3114600"/>
            <a:ext cx="1429385" cy="187325"/>
          </a:xfrm>
          <a:prstGeom prst="rect">
            <a:avLst/>
          </a:prstGeom>
          <a:noFill/>
        </p:spPr>
        <p:txBody>
          <a:bodyPr wrap="none" lIns="0" tIns="0" rIns="0" bIns="0" anchor="t">
            <a:spAutoFit/>
          </a:bodyPr>
          <a:lstStyle/>
          <a:p>
            <a:pPr marL="0" indent="0" algn="l">
              <a:lnSpc>
                <a:spcPct val="102000"/>
              </a:lnSpc>
              <a:buNone/>
            </a:pPr>
            <a:r>
              <a:rPr sz="1200">
                <a:solidFill>
                  <a:srgbClr val="D9E2EC"/>
                </a:solidFill>
                <a:latin typeface="Arial" panose="020B0604020202020204"/>
                <a:ea typeface="Arial" panose="020B0604020202020204"/>
                <a:cs typeface="Arial" panose="020B0604020202020204"/>
              </a:rPr>
              <a:t>Convert ASCII number lists.</a:t>
            </a:r>
            <a:endParaRPr sz="1200"/>
          </a:p>
        </p:txBody>
      </p:sp>
      <p:sp>
        <p:nvSpPr>
          <p:cNvPr id="26" name="Shape 20"/>
          <p:cNvSpPr>
            <a:spLocks noGrp="1"/>
          </p:cNvSpPr>
          <p:nvPr/>
        </p:nvSpPr>
        <p:spPr>
          <a:xfrm>
            <a:off x="8717756" y="2199084"/>
            <a:ext cx="2616993" cy="1600200"/>
          </a:xfrm>
          <a:prstGeom prst="rect">
            <a:avLst/>
          </a:prstGeom>
          <a:solidFill>
            <a:srgbClr val="040C16">
              <a:alpha val="25000"/>
            </a:srgbClr>
          </a:solidFill>
        </p:spPr>
      </p:sp>
      <p:sp>
        <p:nvSpPr>
          <p:cNvPr id="27" name="Shape 21"/>
          <p:cNvSpPr>
            <a:spLocks noGrp="1"/>
          </p:cNvSpPr>
          <p:nvPr/>
        </p:nvSpPr>
        <p:spPr>
          <a:xfrm>
            <a:off x="11325225" y="2199084"/>
            <a:ext cx="9525" cy="1600200"/>
          </a:xfrm>
          <a:prstGeom prst="rect">
            <a:avLst/>
          </a:prstGeom>
          <a:solidFill>
            <a:srgbClr val="ADF1FF"/>
          </a:solidFill>
        </p:spPr>
      </p:sp>
      <p:sp>
        <p:nvSpPr>
          <p:cNvPr id="28" name="Shape 22"/>
          <p:cNvSpPr>
            <a:spLocks noGrp="1"/>
          </p:cNvSpPr>
          <p:nvPr/>
        </p:nvSpPr>
        <p:spPr>
          <a:xfrm>
            <a:off x="8717756" y="3789760"/>
            <a:ext cx="2616993" cy="9525"/>
          </a:xfrm>
          <a:prstGeom prst="rect">
            <a:avLst/>
          </a:prstGeom>
          <a:solidFill>
            <a:srgbClr val="5CE3FF"/>
          </a:solidFill>
        </p:spPr>
      </p:sp>
      <p:sp>
        <p:nvSpPr>
          <p:cNvPr id="29" name="Text 23"/>
          <p:cNvSpPr>
            <a:spLocks noGrp="1"/>
          </p:cNvSpPr>
          <p:nvPr/>
        </p:nvSpPr>
        <p:spPr>
          <a:xfrm>
            <a:off x="8974931" y="2676451"/>
            <a:ext cx="419100" cy="245745"/>
          </a:xfrm>
          <a:prstGeom prst="rect">
            <a:avLst/>
          </a:prstGeom>
          <a:noFill/>
        </p:spPr>
        <p:txBody>
          <a:bodyPr wrap="none" lIns="0" tIns="0" rIns="0" bIns="0" anchor="t">
            <a:spAutoFit/>
          </a:bodyPr>
          <a:lstStyle/>
          <a:p>
            <a:pPr marL="0" indent="0" algn="l">
              <a:lnSpc>
                <a:spcPct val="80000"/>
              </a:lnSpc>
              <a:buNone/>
            </a:pPr>
            <a:r>
              <a:rPr sz="2000" b="1">
                <a:solidFill>
                  <a:srgbClr val="00D4FF"/>
                </a:solidFill>
                <a:latin typeface="Consolas" panose="020B0609020204030204"/>
                <a:ea typeface="Consolas" panose="020B0609020204030204"/>
                <a:cs typeface="Consolas" panose="020B0609020204030204"/>
              </a:rPr>
              <a:t>URL Decode</a:t>
            </a:r>
            <a:endParaRPr sz="2000"/>
          </a:p>
        </p:txBody>
      </p:sp>
      <p:sp>
        <p:nvSpPr>
          <p:cNvPr id="30" name="Text 24"/>
          <p:cNvSpPr>
            <a:spLocks noGrp="1"/>
          </p:cNvSpPr>
          <p:nvPr/>
        </p:nvSpPr>
        <p:spPr>
          <a:xfrm>
            <a:off x="8974931" y="3114600"/>
            <a:ext cx="769620" cy="187325"/>
          </a:xfrm>
          <a:prstGeom prst="rect">
            <a:avLst/>
          </a:prstGeom>
          <a:noFill/>
        </p:spPr>
        <p:txBody>
          <a:bodyPr wrap="none" lIns="0" tIns="0" rIns="0" bIns="0" anchor="t">
            <a:spAutoFit/>
          </a:bodyPr>
          <a:lstStyle/>
          <a:p>
            <a:pPr marL="0" indent="0" algn="l">
              <a:lnSpc>
                <a:spcPct val="102000"/>
              </a:lnSpc>
              <a:buNone/>
            </a:pPr>
            <a:r>
              <a:rPr sz="1200">
                <a:solidFill>
                  <a:srgbClr val="D9E2EC"/>
                </a:solidFill>
                <a:latin typeface="Arial" panose="020B0604020202020204"/>
                <a:ea typeface="Arial" panose="020B0604020202020204"/>
                <a:cs typeface="Arial" panose="020B0604020202020204"/>
              </a:rPr>
              <a:t>Convert %xx sequences.</a:t>
            </a:r>
            <a:endParaRPr sz="1200"/>
          </a:p>
        </p:txBody>
      </p:sp>
      <p:sp>
        <p:nvSpPr>
          <p:cNvPr id="31" name="Shape 25"/>
          <p:cNvSpPr>
            <a:spLocks noGrp="1"/>
          </p:cNvSpPr>
          <p:nvPr/>
        </p:nvSpPr>
        <p:spPr>
          <a:xfrm>
            <a:off x="866775" y="3799284"/>
            <a:ext cx="2616993" cy="1600200"/>
          </a:xfrm>
          <a:prstGeom prst="rect">
            <a:avLst/>
          </a:prstGeom>
          <a:solidFill>
            <a:srgbClr val="040C16">
              <a:alpha val="25000"/>
            </a:srgbClr>
          </a:solidFill>
        </p:spPr>
      </p:sp>
      <p:sp>
        <p:nvSpPr>
          <p:cNvPr id="32" name="Shape 26"/>
          <p:cNvSpPr>
            <a:spLocks noGrp="1"/>
          </p:cNvSpPr>
          <p:nvPr/>
        </p:nvSpPr>
        <p:spPr>
          <a:xfrm>
            <a:off x="3474244" y="3799284"/>
            <a:ext cx="9525" cy="1600200"/>
          </a:xfrm>
          <a:prstGeom prst="rect">
            <a:avLst/>
          </a:prstGeom>
          <a:solidFill>
            <a:srgbClr val="ADF1FF"/>
          </a:solidFill>
        </p:spPr>
      </p:sp>
      <p:sp>
        <p:nvSpPr>
          <p:cNvPr id="33" name="Shape 27"/>
          <p:cNvSpPr>
            <a:spLocks noGrp="1"/>
          </p:cNvSpPr>
          <p:nvPr/>
        </p:nvSpPr>
        <p:spPr>
          <a:xfrm>
            <a:off x="866775" y="5389960"/>
            <a:ext cx="2616993" cy="9525"/>
          </a:xfrm>
          <a:prstGeom prst="rect">
            <a:avLst/>
          </a:prstGeom>
          <a:solidFill>
            <a:srgbClr val="5CE3FF"/>
          </a:solidFill>
        </p:spPr>
      </p:sp>
      <p:sp>
        <p:nvSpPr>
          <p:cNvPr id="34" name="Text 28"/>
          <p:cNvSpPr>
            <a:spLocks noGrp="1"/>
          </p:cNvSpPr>
          <p:nvPr/>
        </p:nvSpPr>
        <p:spPr>
          <a:xfrm>
            <a:off x="1123951" y="4276651"/>
            <a:ext cx="558800" cy="245745"/>
          </a:xfrm>
          <a:prstGeom prst="rect">
            <a:avLst/>
          </a:prstGeom>
          <a:noFill/>
        </p:spPr>
        <p:txBody>
          <a:bodyPr wrap="none" lIns="0" tIns="0" rIns="0" bIns="0" anchor="t">
            <a:spAutoFit/>
          </a:bodyPr>
          <a:lstStyle/>
          <a:p>
            <a:pPr marL="0" indent="0" algn="l">
              <a:lnSpc>
                <a:spcPct val="80000"/>
              </a:lnSpc>
              <a:buNone/>
            </a:pPr>
            <a:r>
              <a:rPr sz="2000" b="1">
                <a:solidFill>
                  <a:srgbClr val="00D4FF"/>
                </a:solidFill>
                <a:latin typeface="Consolas" panose="020B0609020204030204"/>
                <a:ea typeface="Consolas" panose="020B0609020204030204"/>
                <a:cs typeface="Consolas" panose="020B0609020204030204"/>
              </a:rPr>
              <a:t>ROT13</a:t>
            </a:r>
            <a:endParaRPr sz="2000"/>
          </a:p>
        </p:txBody>
      </p:sp>
      <p:sp>
        <p:nvSpPr>
          <p:cNvPr id="35" name="Text 29"/>
          <p:cNvSpPr>
            <a:spLocks noGrp="1"/>
          </p:cNvSpPr>
          <p:nvPr/>
        </p:nvSpPr>
        <p:spPr>
          <a:xfrm>
            <a:off x="1123951" y="4714800"/>
            <a:ext cx="1202055" cy="187325"/>
          </a:xfrm>
          <a:prstGeom prst="rect">
            <a:avLst/>
          </a:prstGeom>
          <a:noFill/>
        </p:spPr>
        <p:txBody>
          <a:bodyPr wrap="none" lIns="0" tIns="0" rIns="0" bIns="0" anchor="t">
            <a:spAutoFit/>
          </a:bodyPr>
          <a:lstStyle/>
          <a:p>
            <a:pPr marL="0" indent="0" algn="l">
              <a:lnSpc>
                <a:spcPct val="102000"/>
              </a:lnSpc>
              <a:buNone/>
            </a:pPr>
            <a:r>
              <a:rPr sz="1200">
                <a:solidFill>
                  <a:srgbClr val="D9E2EC"/>
                </a:solidFill>
                <a:latin typeface="Arial" panose="020B0604020202020204"/>
                <a:ea typeface="Arial" panose="020B0604020202020204"/>
                <a:cs typeface="Arial" panose="020B0604020202020204"/>
              </a:rPr>
              <a:t>Rotate letters by 13.</a:t>
            </a:r>
            <a:endParaRPr sz="1200"/>
          </a:p>
        </p:txBody>
      </p:sp>
      <p:sp>
        <p:nvSpPr>
          <p:cNvPr id="36" name="Shape 30"/>
          <p:cNvSpPr>
            <a:spLocks noGrp="1"/>
          </p:cNvSpPr>
          <p:nvPr/>
        </p:nvSpPr>
        <p:spPr>
          <a:xfrm>
            <a:off x="3483769" y="3799284"/>
            <a:ext cx="2616993" cy="1600200"/>
          </a:xfrm>
          <a:prstGeom prst="rect">
            <a:avLst/>
          </a:prstGeom>
          <a:solidFill>
            <a:srgbClr val="040C16">
              <a:alpha val="25000"/>
            </a:srgbClr>
          </a:solidFill>
        </p:spPr>
      </p:sp>
      <p:sp>
        <p:nvSpPr>
          <p:cNvPr id="37" name="Shape 31"/>
          <p:cNvSpPr>
            <a:spLocks noGrp="1"/>
          </p:cNvSpPr>
          <p:nvPr/>
        </p:nvSpPr>
        <p:spPr>
          <a:xfrm>
            <a:off x="6091237" y="3799284"/>
            <a:ext cx="9525" cy="1600200"/>
          </a:xfrm>
          <a:prstGeom prst="rect">
            <a:avLst/>
          </a:prstGeom>
          <a:solidFill>
            <a:srgbClr val="ADF1FF"/>
          </a:solidFill>
        </p:spPr>
      </p:sp>
      <p:sp>
        <p:nvSpPr>
          <p:cNvPr id="38" name="Shape 32"/>
          <p:cNvSpPr>
            <a:spLocks noGrp="1"/>
          </p:cNvSpPr>
          <p:nvPr/>
        </p:nvSpPr>
        <p:spPr>
          <a:xfrm>
            <a:off x="3483769" y="5389960"/>
            <a:ext cx="2616993" cy="9525"/>
          </a:xfrm>
          <a:prstGeom prst="rect">
            <a:avLst/>
          </a:prstGeom>
          <a:solidFill>
            <a:srgbClr val="5CE3FF"/>
          </a:solidFill>
        </p:spPr>
      </p:sp>
      <p:sp>
        <p:nvSpPr>
          <p:cNvPr id="39" name="Text 33"/>
          <p:cNvSpPr>
            <a:spLocks noGrp="1"/>
          </p:cNvSpPr>
          <p:nvPr/>
        </p:nvSpPr>
        <p:spPr>
          <a:xfrm>
            <a:off x="3740944" y="4173067"/>
            <a:ext cx="977900" cy="245745"/>
          </a:xfrm>
          <a:prstGeom prst="rect">
            <a:avLst/>
          </a:prstGeom>
          <a:noFill/>
        </p:spPr>
        <p:txBody>
          <a:bodyPr wrap="none" lIns="0" tIns="0" rIns="0" bIns="0" anchor="t">
            <a:spAutoFit/>
          </a:bodyPr>
          <a:lstStyle/>
          <a:p>
            <a:pPr marL="0" indent="0" algn="l">
              <a:lnSpc>
                <a:spcPct val="80000"/>
              </a:lnSpc>
              <a:buNone/>
            </a:pPr>
            <a:r>
              <a:rPr sz="2000" b="1">
                <a:solidFill>
                  <a:srgbClr val="FF6B1A"/>
                </a:solidFill>
                <a:latin typeface="Consolas" panose="020B0609020204030204"/>
                <a:ea typeface="Consolas" panose="020B0609020204030204"/>
                <a:cs typeface="Consolas" panose="020B0609020204030204"/>
              </a:rPr>
              <a:t>Magic</a:t>
            </a:r>
            <a:endParaRPr sz="2000"/>
          </a:p>
        </p:txBody>
      </p:sp>
      <p:sp>
        <p:nvSpPr>
          <p:cNvPr id="40" name="Text 34"/>
          <p:cNvSpPr>
            <a:spLocks noGrp="1"/>
          </p:cNvSpPr>
          <p:nvPr/>
        </p:nvSpPr>
        <p:spPr>
          <a:xfrm>
            <a:off x="3740944" y="4611216"/>
            <a:ext cx="2019300" cy="187325"/>
          </a:xfrm>
          <a:prstGeom prst="rect">
            <a:avLst/>
          </a:prstGeom>
          <a:noFill/>
        </p:spPr>
        <p:txBody>
          <a:bodyPr wrap="square" lIns="0" tIns="0" rIns="0" bIns="0" anchor="t">
            <a:spAutoFit/>
          </a:bodyPr>
          <a:lstStyle/>
          <a:p>
            <a:pPr marL="0" indent="0" algn="l">
              <a:lnSpc>
                <a:spcPct val="102000"/>
              </a:lnSpc>
              <a:buNone/>
            </a:pPr>
            <a:r>
              <a:rPr sz="1200">
                <a:solidFill>
                  <a:srgbClr val="D9E2EC"/>
                </a:solidFill>
                <a:latin typeface="Arial" panose="020B0604020202020204"/>
                <a:ea typeface="Arial" panose="020B0604020202020204"/>
                <a:cs typeface="Arial" panose="020B0604020202020204"/>
              </a:rPr>
              <a:t>Suggest likely operations.</a:t>
            </a:r>
            <a:endParaRPr sz="1200"/>
          </a:p>
        </p:txBody>
      </p:sp>
      <p:sp>
        <p:nvSpPr>
          <p:cNvPr id="41" name="Shape 35"/>
          <p:cNvSpPr>
            <a:spLocks noGrp="1"/>
          </p:cNvSpPr>
          <p:nvPr/>
        </p:nvSpPr>
        <p:spPr>
          <a:xfrm>
            <a:off x="6100763" y="3799284"/>
            <a:ext cx="2616993" cy="1600200"/>
          </a:xfrm>
          <a:prstGeom prst="rect">
            <a:avLst/>
          </a:prstGeom>
          <a:solidFill>
            <a:srgbClr val="040C16">
              <a:alpha val="25000"/>
            </a:srgbClr>
          </a:solidFill>
        </p:spPr>
      </p:sp>
      <p:sp>
        <p:nvSpPr>
          <p:cNvPr id="42" name="Shape 36"/>
          <p:cNvSpPr>
            <a:spLocks noGrp="1"/>
          </p:cNvSpPr>
          <p:nvPr/>
        </p:nvSpPr>
        <p:spPr>
          <a:xfrm>
            <a:off x="8708231" y="3799284"/>
            <a:ext cx="9525" cy="1600200"/>
          </a:xfrm>
          <a:prstGeom prst="rect">
            <a:avLst/>
          </a:prstGeom>
          <a:solidFill>
            <a:srgbClr val="ADF1FF"/>
          </a:solidFill>
        </p:spPr>
      </p:sp>
      <p:sp>
        <p:nvSpPr>
          <p:cNvPr id="43" name="Shape 37"/>
          <p:cNvSpPr>
            <a:spLocks noGrp="1"/>
          </p:cNvSpPr>
          <p:nvPr/>
        </p:nvSpPr>
        <p:spPr>
          <a:xfrm>
            <a:off x="6100763" y="5389960"/>
            <a:ext cx="2616993" cy="9525"/>
          </a:xfrm>
          <a:prstGeom prst="rect">
            <a:avLst/>
          </a:prstGeom>
          <a:solidFill>
            <a:srgbClr val="5CE3FF"/>
          </a:solidFill>
        </p:spPr>
      </p:sp>
      <p:sp>
        <p:nvSpPr>
          <p:cNvPr id="44" name="Text 38"/>
          <p:cNvSpPr>
            <a:spLocks noGrp="1"/>
          </p:cNvSpPr>
          <p:nvPr/>
        </p:nvSpPr>
        <p:spPr>
          <a:xfrm>
            <a:off x="6357937" y="4276651"/>
            <a:ext cx="558800" cy="245745"/>
          </a:xfrm>
          <a:prstGeom prst="rect">
            <a:avLst/>
          </a:prstGeom>
          <a:noFill/>
        </p:spPr>
        <p:txBody>
          <a:bodyPr wrap="none" lIns="0" tIns="0" rIns="0" bIns="0" anchor="t">
            <a:spAutoFit/>
          </a:bodyPr>
          <a:lstStyle/>
          <a:p>
            <a:pPr marL="0" indent="0" algn="l">
              <a:lnSpc>
                <a:spcPct val="80000"/>
              </a:lnSpc>
              <a:buNone/>
            </a:pPr>
            <a:r>
              <a:rPr sz="2000" b="1">
                <a:solidFill>
                  <a:srgbClr val="00D4FF"/>
                </a:solidFill>
                <a:latin typeface="Consolas" panose="020B0609020204030204"/>
                <a:ea typeface="Consolas" panose="020B0609020204030204"/>
                <a:cs typeface="Consolas" panose="020B0609020204030204"/>
              </a:rPr>
              <a:t>Entropy</a:t>
            </a:r>
            <a:endParaRPr sz="2000"/>
          </a:p>
        </p:txBody>
      </p:sp>
      <p:sp>
        <p:nvSpPr>
          <p:cNvPr id="45" name="Text 39"/>
          <p:cNvSpPr>
            <a:spLocks noGrp="1"/>
          </p:cNvSpPr>
          <p:nvPr/>
        </p:nvSpPr>
        <p:spPr>
          <a:xfrm>
            <a:off x="6357937" y="4714800"/>
            <a:ext cx="1276985" cy="187325"/>
          </a:xfrm>
          <a:prstGeom prst="rect">
            <a:avLst/>
          </a:prstGeom>
          <a:noFill/>
        </p:spPr>
        <p:txBody>
          <a:bodyPr wrap="none" lIns="0" tIns="0" rIns="0" bIns="0" anchor="t">
            <a:spAutoFit/>
          </a:bodyPr>
          <a:lstStyle/>
          <a:p>
            <a:pPr marL="0" indent="0" algn="l">
              <a:lnSpc>
                <a:spcPct val="102000"/>
              </a:lnSpc>
              <a:buNone/>
            </a:pPr>
            <a:r>
              <a:rPr sz="1200">
                <a:solidFill>
                  <a:srgbClr val="D9E2EC"/>
                </a:solidFill>
                <a:latin typeface="Arial" panose="020B0604020202020204"/>
                <a:ea typeface="Arial" panose="020B0604020202020204"/>
                <a:cs typeface="Arial" panose="020B0604020202020204"/>
              </a:rPr>
              <a:t>Estimate randomness.</a:t>
            </a:r>
            <a:endParaRPr sz="1200"/>
          </a:p>
        </p:txBody>
      </p:sp>
      <p:sp>
        <p:nvSpPr>
          <p:cNvPr id="46" name="Shape 40"/>
          <p:cNvSpPr>
            <a:spLocks noGrp="1"/>
          </p:cNvSpPr>
          <p:nvPr/>
        </p:nvSpPr>
        <p:spPr>
          <a:xfrm>
            <a:off x="8717756" y="3799284"/>
            <a:ext cx="2616993" cy="1600200"/>
          </a:xfrm>
          <a:prstGeom prst="rect">
            <a:avLst/>
          </a:prstGeom>
          <a:solidFill>
            <a:srgbClr val="040C16">
              <a:alpha val="25000"/>
            </a:srgbClr>
          </a:solidFill>
        </p:spPr>
      </p:sp>
      <p:sp>
        <p:nvSpPr>
          <p:cNvPr id="47" name="Shape 41"/>
          <p:cNvSpPr>
            <a:spLocks noGrp="1"/>
          </p:cNvSpPr>
          <p:nvPr/>
        </p:nvSpPr>
        <p:spPr>
          <a:xfrm>
            <a:off x="11325225" y="3799284"/>
            <a:ext cx="9525" cy="1600200"/>
          </a:xfrm>
          <a:prstGeom prst="rect">
            <a:avLst/>
          </a:prstGeom>
          <a:solidFill>
            <a:srgbClr val="ADF1FF"/>
          </a:solidFill>
        </p:spPr>
      </p:sp>
      <p:sp>
        <p:nvSpPr>
          <p:cNvPr id="48" name="Shape 42"/>
          <p:cNvSpPr>
            <a:spLocks noGrp="1"/>
          </p:cNvSpPr>
          <p:nvPr/>
        </p:nvSpPr>
        <p:spPr>
          <a:xfrm>
            <a:off x="8717756" y="5389960"/>
            <a:ext cx="2616993" cy="9525"/>
          </a:xfrm>
          <a:prstGeom prst="rect">
            <a:avLst/>
          </a:prstGeom>
          <a:solidFill>
            <a:srgbClr val="5CE3FF"/>
          </a:solidFill>
        </p:spPr>
      </p:sp>
      <p:sp>
        <p:nvSpPr>
          <p:cNvPr id="49" name="Text 43"/>
          <p:cNvSpPr>
            <a:spLocks noGrp="1"/>
          </p:cNvSpPr>
          <p:nvPr/>
        </p:nvSpPr>
        <p:spPr>
          <a:xfrm>
            <a:off x="8974931" y="4276651"/>
            <a:ext cx="558800" cy="245745"/>
          </a:xfrm>
          <a:prstGeom prst="rect">
            <a:avLst/>
          </a:prstGeom>
          <a:noFill/>
        </p:spPr>
        <p:txBody>
          <a:bodyPr wrap="none" lIns="0" tIns="0" rIns="0" bIns="0" anchor="t">
            <a:spAutoFit/>
          </a:bodyPr>
          <a:lstStyle/>
          <a:p>
            <a:pPr marL="0" indent="0" algn="l">
              <a:lnSpc>
                <a:spcPct val="80000"/>
              </a:lnSpc>
              <a:buNone/>
            </a:pPr>
            <a:r>
              <a:rPr sz="2000" b="1">
                <a:solidFill>
                  <a:srgbClr val="00D4FF"/>
                </a:solidFill>
                <a:latin typeface="Consolas" panose="020B0609020204030204"/>
                <a:ea typeface="Consolas" panose="020B0609020204030204"/>
                <a:cs typeface="Consolas" panose="020B0609020204030204"/>
              </a:rPr>
              <a:t>SHA2</a:t>
            </a:r>
            <a:endParaRPr sz="2000"/>
          </a:p>
        </p:txBody>
      </p:sp>
      <p:sp>
        <p:nvSpPr>
          <p:cNvPr id="50" name="Text 44"/>
          <p:cNvSpPr>
            <a:spLocks noGrp="1"/>
          </p:cNvSpPr>
          <p:nvPr/>
        </p:nvSpPr>
        <p:spPr>
          <a:xfrm>
            <a:off x="8974931" y="4714800"/>
            <a:ext cx="1513840" cy="187325"/>
          </a:xfrm>
          <a:prstGeom prst="rect">
            <a:avLst/>
          </a:prstGeom>
          <a:noFill/>
        </p:spPr>
        <p:txBody>
          <a:bodyPr wrap="none" lIns="0" tIns="0" rIns="0" bIns="0" anchor="t">
            <a:spAutoFit/>
          </a:bodyPr>
          <a:lstStyle/>
          <a:p>
            <a:pPr marL="0" indent="0" algn="l">
              <a:lnSpc>
                <a:spcPct val="102000"/>
              </a:lnSpc>
              <a:buNone/>
            </a:pPr>
            <a:r>
              <a:rPr sz="1200">
                <a:solidFill>
                  <a:srgbClr val="D9E2EC"/>
                </a:solidFill>
                <a:latin typeface="Arial" panose="020B0604020202020204"/>
                <a:ea typeface="Arial" panose="020B0604020202020204"/>
                <a:cs typeface="Arial" panose="020B0604020202020204"/>
              </a:rPr>
              <a:t>Create a verification hash.</a:t>
            </a:r>
            <a:endParaRPr sz="1200"/>
          </a:p>
        </p:txBody>
      </p:sp>
      <p:sp>
        <p:nvSpPr>
          <p:cNvPr id="51" name="Shape 45"/>
          <p:cNvSpPr>
            <a:spLocks noGrp="1"/>
          </p:cNvSpPr>
          <p:nvPr/>
        </p:nvSpPr>
        <p:spPr>
          <a:xfrm>
            <a:off x="723900" y="6191251"/>
            <a:ext cx="10744200" cy="666751"/>
          </a:xfrm>
          <a:prstGeom prst="rect">
            <a:avLst/>
          </a:prstGeom>
          <a:solidFill>
            <a:srgbClr val="000000">
              <a:alpha val="0"/>
            </a:srgbClr>
          </a:solidFill>
        </p:spPr>
      </p:sp>
      <p:sp>
        <p:nvSpPr>
          <p:cNvPr id="52" name="Shape 46"/>
          <p:cNvSpPr>
            <a:spLocks noGrp="1"/>
          </p:cNvSpPr>
          <p:nvPr/>
        </p:nvSpPr>
        <p:spPr>
          <a:xfrm>
            <a:off x="723900" y="6191251"/>
            <a:ext cx="10744200" cy="9525"/>
          </a:xfrm>
          <a:prstGeom prst="rect">
            <a:avLst/>
          </a:prstGeom>
          <a:solidFill>
            <a:srgbClr val="FFFFFF"/>
          </a:solidFill>
        </p:spPr>
      </p:sp>
      <p:sp>
        <p:nvSpPr>
          <p:cNvPr id="53" name="Text 47"/>
          <p:cNvSpPr>
            <a:spLocks noGrp="1"/>
          </p:cNvSpPr>
          <p:nvPr/>
        </p:nvSpPr>
        <p:spPr>
          <a:xfrm>
            <a:off x="723900" y="6362700"/>
            <a:ext cx="4654823" cy="163830"/>
          </a:xfrm>
          <a:prstGeom prst="rect">
            <a:avLst/>
          </a:prstGeom>
          <a:noFill/>
        </p:spPr>
        <p:txBody>
          <a:bodyPr wrap="square" lIns="0" tIns="0" rIns="0" bIns="0" anchor="t">
            <a:spAutoFit/>
          </a:bodyPr>
          <a:lstStyle/>
          <a:p>
            <a:pPr marL="0" indent="0" algn="l">
              <a:buNone/>
            </a:pPr>
            <a:r>
              <a:rPr sz="1065" b="1">
                <a:solidFill>
                  <a:srgbClr val="FF6B1A"/>
                </a:solidFill>
                <a:latin typeface="Arial" panose="020B0604020202020204"/>
                <a:ea typeface="Arial" panose="020B0604020202020204"/>
                <a:cs typeface="Arial" panose="020B0604020202020204"/>
              </a:rPr>
              <a:t>DRAG ONE OPERATION. OBSERVE ONE RESULT.</a:t>
            </a:r>
            <a:endParaRPr sz="1065"/>
          </a:p>
        </p:txBody>
      </p:sp>
      <p:sp>
        <p:nvSpPr>
          <p:cNvPr id="54" name="Text 48"/>
          <p:cNvSpPr>
            <a:spLocks noGrp="1"/>
          </p:cNvSpPr>
          <p:nvPr/>
        </p:nvSpPr>
        <p:spPr>
          <a:xfrm>
            <a:off x="10874797" y="6362700"/>
            <a:ext cx="564515" cy="153670"/>
          </a:xfrm>
          <a:prstGeom prst="rect">
            <a:avLst/>
          </a:prstGeom>
          <a:noFill/>
        </p:spPr>
        <p:txBody>
          <a:bodyPr wrap="none" lIns="0" tIns="0"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0:40–0:58</a:t>
            </a:r>
            <a:endParaRPr sz="1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2"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35" name="Image 1"/>
          <p:cNvPicPr>
            <a:picLocks noChangeAspect="1"/>
          </p:cNvPicPr>
          <p:nvPr/>
        </p:nvPicPr>
        <p:blipFill>
          <a:blip r:embed="rId2"/>
          <a:stretch>
            <a:fillRect/>
          </a:stretch>
        </p:blipFill>
        <p:spPr>
          <a:xfrm>
            <a:off x="723900" y="190500"/>
            <a:ext cx="590551" cy="590551"/>
          </a:xfrm>
          <a:prstGeom prst="rect">
            <a:avLst/>
          </a:prstGeom>
        </p:spPr>
      </p:pic>
      <p:pic>
        <p:nvPicPr>
          <p:cNvPr id="36"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1028700" y="971551"/>
            <a:ext cx="10134600" cy="483870"/>
          </a:xfrm>
          <a:prstGeom prst="rect">
            <a:avLst/>
          </a:prstGeom>
          <a:noFill/>
        </p:spPr>
        <p:txBody>
          <a:bodyPr wrap="square" lIns="0" tIns="340190" rIns="0" bIns="0" anchor="t">
            <a:spAutoFit/>
          </a:bodyPr>
          <a:lstStyle/>
          <a:p>
            <a:pPr marL="0" indent="0" algn="l">
              <a:buNone/>
            </a:pPr>
            <a:r>
              <a:rPr sz="935" b="1" spc="2">
                <a:solidFill>
                  <a:srgbClr val="00D4FF"/>
                </a:solidFill>
                <a:latin typeface="Arial" panose="020B0604020202020204"/>
                <a:ea typeface="Arial" panose="020B0604020202020204"/>
                <a:cs typeface="Arial" panose="020B0604020202020204"/>
              </a:rPr>
              <a:t>ANALYST THINKING</a:t>
            </a:r>
            <a:endParaRPr sz="935"/>
          </a:p>
        </p:txBody>
      </p:sp>
      <p:sp>
        <p:nvSpPr>
          <p:cNvPr id="9" name="Text 3"/>
          <p:cNvSpPr>
            <a:spLocks noGrp="1"/>
          </p:cNvSpPr>
          <p:nvPr/>
        </p:nvSpPr>
        <p:spPr>
          <a:xfrm>
            <a:off x="1028700" y="1485900"/>
            <a:ext cx="4504055" cy="417195"/>
          </a:xfrm>
          <a:prstGeom prst="rect">
            <a:avLst/>
          </a:prstGeom>
          <a:noFill/>
        </p:spPr>
        <p:txBody>
          <a:bodyPr wrap="none" lIns="0" tIns="0" rIns="0" bIns="0" anchor="t">
            <a:spAutoFit/>
          </a:bodyPr>
          <a:lstStyle/>
          <a:p>
            <a:pPr marL="0" indent="0" algn="l">
              <a:lnSpc>
                <a:spcPct val="83000"/>
              </a:lnSpc>
              <a:buNone/>
            </a:pPr>
            <a:r>
              <a:rPr sz="3265" b="1" spc="-1">
                <a:solidFill>
                  <a:srgbClr val="FFFFFF"/>
                </a:solidFill>
                <a:latin typeface="Arial" panose="020B0604020202020204"/>
                <a:ea typeface="Arial" panose="020B0604020202020204"/>
                <a:cs typeface="Arial" panose="020B0604020202020204"/>
              </a:rPr>
              <a:t>Why each operation matters.</a:t>
            </a:r>
            <a:endParaRPr sz="3265"/>
          </a:p>
        </p:txBody>
      </p:sp>
      <p:sp>
        <p:nvSpPr>
          <p:cNvPr id="10" name="Text 4"/>
          <p:cNvSpPr>
            <a:spLocks noGrp="1"/>
          </p:cNvSpPr>
          <p:nvPr/>
        </p:nvSpPr>
        <p:spPr>
          <a:xfrm>
            <a:off x="8819108" y="1719263"/>
            <a:ext cx="2344192" cy="385572"/>
          </a:xfrm>
          <a:prstGeom prst="rect">
            <a:avLst/>
          </a:prstGeom>
          <a:noFill/>
        </p:spPr>
        <p:txBody>
          <a:bodyPr wrap="square" lIns="0" tIns="0" rIns="0" bIns="0" anchor="t">
            <a:spAutoFit/>
          </a:bodyPr>
          <a:lstStyle/>
          <a:p>
            <a:pPr marL="0" indent="0" algn="l">
              <a:buNone/>
            </a:pPr>
            <a:r>
              <a:rPr sz="1265">
                <a:solidFill>
                  <a:srgbClr val="9BA7B8"/>
                </a:solidFill>
                <a:latin typeface="Arial" panose="020B0604020202020204"/>
                <a:ea typeface="Arial" panose="020B0604020202020204"/>
                <a:cs typeface="Arial" panose="020B0604020202020204"/>
              </a:rPr>
              <a:t>The operation is useful only when the clue supports it.</a:t>
            </a:r>
            <a:endParaRPr sz="1265"/>
          </a:p>
        </p:txBody>
      </p:sp>
      <p:sp>
        <p:nvSpPr>
          <p:cNvPr id="11" name="Text 5"/>
          <p:cNvSpPr>
            <a:spLocks noGrp="1"/>
          </p:cNvSpPr>
          <p:nvPr/>
        </p:nvSpPr>
        <p:spPr>
          <a:xfrm>
            <a:off x="1028700" y="2442344"/>
            <a:ext cx="2333625" cy="212725"/>
          </a:xfrm>
          <a:prstGeom prst="rect">
            <a:avLst/>
          </a:prstGeom>
          <a:noFill/>
        </p:spPr>
        <p:txBody>
          <a:bodyPr wrap="square" lIns="0" tIns="79417" rIns="0" bIns="0" anchor="t">
            <a:spAutoFit/>
          </a:bodyPr>
          <a:lstStyle/>
          <a:p>
            <a:pPr marL="0" indent="0" algn="l">
              <a:buNone/>
            </a:pPr>
            <a:r>
              <a:rPr sz="865" b="1" spc="2">
                <a:solidFill>
                  <a:srgbClr val="7E8B9F"/>
                </a:solidFill>
                <a:latin typeface="Arial" panose="020B0604020202020204"/>
                <a:ea typeface="Arial" panose="020B0604020202020204"/>
                <a:cs typeface="Arial" panose="020B0604020202020204"/>
              </a:rPr>
              <a:t>CLUE</a:t>
            </a:r>
            <a:endParaRPr sz="865"/>
          </a:p>
        </p:txBody>
      </p:sp>
      <p:sp>
        <p:nvSpPr>
          <p:cNvPr id="12" name="Text 6"/>
          <p:cNvSpPr>
            <a:spLocks noGrp="1"/>
          </p:cNvSpPr>
          <p:nvPr/>
        </p:nvSpPr>
        <p:spPr>
          <a:xfrm>
            <a:off x="4067175" y="2442344"/>
            <a:ext cx="7096125" cy="212725"/>
          </a:xfrm>
          <a:prstGeom prst="rect">
            <a:avLst/>
          </a:prstGeom>
          <a:noFill/>
        </p:spPr>
        <p:txBody>
          <a:bodyPr wrap="square" lIns="0" tIns="79417" rIns="0" bIns="0" anchor="t">
            <a:spAutoFit/>
          </a:bodyPr>
          <a:lstStyle/>
          <a:p>
            <a:pPr marL="0" indent="0" algn="l">
              <a:buNone/>
            </a:pPr>
            <a:r>
              <a:rPr sz="865" b="1" spc="2">
                <a:solidFill>
                  <a:srgbClr val="7E8B9F"/>
                </a:solidFill>
                <a:latin typeface="Arial" panose="020B0604020202020204"/>
                <a:ea typeface="Arial" panose="020B0604020202020204"/>
                <a:cs typeface="Arial" panose="020B0604020202020204"/>
              </a:rPr>
              <a:t>BEST FIRST MOVE</a:t>
            </a:r>
            <a:endParaRPr sz="865"/>
          </a:p>
        </p:txBody>
      </p:sp>
      <p:sp>
        <p:nvSpPr>
          <p:cNvPr id="13" name="Text 7"/>
          <p:cNvSpPr>
            <a:spLocks noGrp="1"/>
          </p:cNvSpPr>
          <p:nvPr/>
        </p:nvSpPr>
        <p:spPr>
          <a:xfrm>
            <a:off x="1028700" y="2866207"/>
            <a:ext cx="2333625" cy="287020"/>
          </a:xfrm>
          <a:prstGeom prst="rect">
            <a:avLst/>
          </a:prstGeom>
          <a:noFill/>
        </p:spPr>
        <p:txBody>
          <a:bodyPr wrap="square" lIns="0" tIns="0" rIns="0" bIns="0" anchor="t">
            <a:spAutoFit/>
          </a:bodyPr>
          <a:lstStyle/>
          <a:p>
            <a:pPr marL="0" indent="0" algn="l">
              <a:buNone/>
            </a:pPr>
            <a:r>
              <a:rPr sz="1865" b="1">
                <a:solidFill>
                  <a:srgbClr val="FF6B1A"/>
                </a:solidFill>
                <a:latin typeface="Consolas" panose="020B0609020204030204"/>
                <a:ea typeface="Consolas" panose="020B0609020204030204"/>
                <a:cs typeface="Consolas" panose="020B0609020204030204"/>
              </a:rPr>
              <a:t>Ends with =</a:t>
            </a:r>
            <a:endParaRPr sz="1865"/>
          </a:p>
        </p:txBody>
      </p:sp>
      <p:sp>
        <p:nvSpPr>
          <p:cNvPr id="14" name="Text 8"/>
          <p:cNvSpPr>
            <a:spLocks noGrp="1"/>
          </p:cNvSpPr>
          <p:nvPr/>
        </p:nvSpPr>
        <p:spPr>
          <a:xfrm>
            <a:off x="3658871" y="2890019"/>
            <a:ext cx="111760" cy="245745"/>
          </a:xfrm>
          <a:prstGeom prst="rect">
            <a:avLst/>
          </a:prstGeom>
          <a:noFill/>
        </p:spPr>
        <p:txBody>
          <a:bodyPr wrap="none" lIns="0" tIns="0" rIns="0" bIns="0" anchor="t">
            <a:spAutoFit/>
          </a:bodyPr>
          <a:lstStyle/>
          <a:p>
            <a:pPr marL="0" indent="0" algn="ctr">
              <a:buNone/>
            </a:pPr>
            <a:r>
              <a:rPr sz="1600" b="1">
                <a:solidFill>
                  <a:srgbClr val="00D4FF"/>
                </a:solidFill>
                <a:latin typeface="Consolas" panose="020B0609020204030204"/>
                <a:ea typeface="Consolas" panose="020B0609020204030204"/>
                <a:cs typeface="Consolas" panose="020B0609020204030204"/>
              </a:rPr>
              <a:t>→</a:t>
            </a:r>
            <a:endParaRPr sz="1600"/>
          </a:p>
        </p:txBody>
      </p:sp>
      <p:sp>
        <p:nvSpPr>
          <p:cNvPr id="15" name="Text 9"/>
          <p:cNvSpPr>
            <a:spLocks noGrp="1"/>
          </p:cNvSpPr>
          <p:nvPr/>
        </p:nvSpPr>
        <p:spPr>
          <a:xfrm>
            <a:off x="4067175" y="2904307"/>
            <a:ext cx="2595880" cy="206375"/>
          </a:xfrm>
          <a:prstGeom prst="rect">
            <a:avLst/>
          </a:prstGeom>
          <a:noFill/>
        </p:spPr>
        <p:txBody>
          <a:bodyPr wrap="none" lIns="0" tIns="0" rIns="0" bIns="0" anchor="t">
            <a:spAutoFit/>
          </a:bodyPr>
          <a:lstStyle/>
          <a:p>
            <a:pPr marL="0" indent="0" algn="l">
              <a:lnSpc>
                <a:spcPct val="96000"/>
              </a:lnSpc>
              <a:buNone/>
            </a:pPr>
            <a:r>
              <a:rPr sz="1335" b="1">
                <a:solidFill>
                  <a:srgbClr val="FFFFFF"/>
                </a:solidFill>
                <a:latin typeface="Arial" panose="020B0604020202020204"/>
                <a:ea typeface="Arial" panose="020B0604020202020204"/>
                <a:cs typeface="Arial" panose="020B0604020202020204"/>
              </a:rPr>
              <a:t>Try From Base64.</a:t>
            </a:r>
            <a:endParaRPr sz="1335"/>
          </a:p>
        </p:txBody>
      </p:sp>
      <p:sp>
        <p:nvSpPr>
          <p:cNvPr id="16" name="Text 10"/>
          <p:cNvSpPr>
            <a:spLocks noGrp="1"/>
          </p:cNvSpPr>
          <p:nvPr/>
        </p:nvSpPr>
        <p:spPr>
          <a:xfrm>
            <a:off x="1028700" y="3580581"/>
            <a:ext cx="2333625" cy="287020"/>
          </a:xfrm>
          <a:prstGeom prst="rect">
            <a:avLst/>
          </a:prstGeom>
          <a:noFill/>
        </p:spPr>
        <p:txBody>
          <a:bodyPr wrap="square" lIns="0" tIns="0" rIns="0" bIns="0" anchor="t">
            <a:spAutoFit/>
          </a:bodyPr>
          <a:lstStyle/>
          <a:p>
            <a:pPr marL="0" indent="0" algn="l">
              <a:buNone/>
            </a:pPr>
            <a:r>
              <a:rPr sz="1865" b="1">
                <a:solidFill>
                  <a:srgbClr val="00D4FF"/>
                </a:solidFill>
                <a:latin typeface="Consolas" panose="020B0609020204030204"/>
                <a:ea typeface="Consolas" panose="020B0609020204030204"/>
                <a:cs typeface="Consolas" panose="020B0609020204030204"/>
              </a:rPr>
              <a:t>Only 0–9 and A–F</a:t>
            </a:r>
            <a:endParaRPr sz="1865"/>
          </a:p>
        </p:txBody>
      </p:sp>
      <p:sp>
        <p:nvSpPr>
          <p:cNvPr id="17" name="Text 11"/>
          <p:cNvSpPr>
            <a:spLocks noGrp="1"/>
          </p:cNvSpPr>
          <p:nvPr/>
        </p:nvSpPr>
        <p:spPr>
          <a:xfrm>
            <a:off x="3658871" y="3604393"/>
            <a:ext cx="111760" cy="245745"/>
          </a:xfrm>
          <a:prstGeom prst="rect">
            <a:avLst/>
          </a:prstGeom>
          <a:noFill/>
        </p:spPr>
        <p:txBody>
          <a:bodyPr wrap="none" lIns="0" tIns="0" rIns="0" bIns="0" anchor="t">
            <a:spAutoFit/>
          </a:bodyPr>
          <a:lstStyle/>
          <a:p>
            <a:pPr marL="0" indent="0" algn="ctr">
              <a:buNone/>
            </a:pPr>
            <a:r>
              <a:rPr sz="1600" b="1">
                <a:solidFill>
                  <a:srgbClr val="00D4FF"/>
                </a:solidFill>
                <a:latin typeface="Consolas" panose="020B0609020204030204"/>
                <a:ea typeface="Consolas" panose="020B0609020204030204"/>
                <a:cs typeface="Consolas" panose="020B0609020204030204"/>
              </a:rPr>
              <a:t>→</a:t>
            </a:r>
            <a:endParaRPr sz="1600"/>
          </a:p>
        </p:txBody>
      </p:sp>
      <p:sp>
        <p:nvSpPr>
          <p:cNvPr id="18" name="Text 12"/>
          <p:cNvSpPr>
            <a:spLocks noGrp="1"/>
          </p:cNvSpPr>
          <p:nvPr/>
        </p:nvSpPr>
        <p:spPr>
          <a:xfrm>
            <a:off x="4067175" y="3618681"/>
            <a:ext cx="3068955" cy="206375"/>
          </a:xfrm>
          <a:prstGeom prst="rect">
            <a:avLst/>
          </a:prstGeom>
          <a:noFill/>
        </p:spPr>
        <p:txBody>
          <a:bodyPr wrap="none" lIns="0" tIns="0" rIns="0" bIns="0" anchor="t">
            <a:spAutoFit/>
          </a:bodyPr>
          <a:lstStyle/>
          <a:p>
            <a:pPr marL="0" indent="0" algn="l">
              <a:lnSpc>
                <a:spcPct val="96000"/>
              </a:lnSpc>
              <a:buNone/>
            </a:pPr>
            <a:r>
              <a:rPr sz="1400">
                <a:solidFill>
                  <a:srgbClr val="E1E9F2"/>
                </a:solidFill>
                <a:latin typeface="Arial" panose="020B0604020202020204"/>
                <a:ea typeface="Arial" panose="020B0604020202020204"/>
                <a:cs typeface="Arial" panose="020B0604020202020204"/>
              </a:rPr>
              <a:t>Try From Hex.</a:t>
            </a:r>
            <a:endParaRPr sz="1400"/>
          </a:p>
        </p:txBody>
      </p:sp>
      <p:sp>
        <p:nvSpPr>
          <p:cNvPr id="19" name="Text 13"/>
          <p:cNvSpPr>
            <a:spLocks noGrp="1"/>
          </p:cNvSpPr>
          <p:nvPr/>
        </p:nvSpPr>
        <p:spPr>
          <a:xfrm>
            <a:off x="1028700" y="4294956"/>
            <a:ext cx="2333625" cy="568452"/>
          </a:xfrm>
          <a:prstGeom prst="rect">
            <a:avLst/>
          </a:prstGeom>
          <a:noFill/>
        </p:spPr>
        <p:txBody>
          <a:bodyPr wrap="square" lIns="0" tIns="0" rIns="0" bIns="0" anchor="t">
            <a:spAutoFit/>
          </a:bodyPr>
          <a:lstStyle/>
          <a:p>
            <a:pPr marL="0" indent="0" algn="l">
              <a:buNone/>
            </a:pPr>
            <a:r>
              <a:rPr sz="1865" b="1">
                <a:solidFill>
                  <a:srgbClr val="00D4FF"/>
                </a:solidFill>
                <a:latin typeface="Consolas" panose="020B0609020204030204"/>
                <a:ea typeface="Consolas" panose="020B0609020204030204"/>
                <a:cs typeface="Consolas" panose="020B0609020204030204"/>
              </a:rPr>
              <a:t>Contains %2F or %20</a:t>
            </a:r>
            <a:endParaRPr sz="1865"/>
          </a:p>
        </p:txBody>
      </p:sp>
      <p:sp>
        <p:nvSpPr>
          <p:cNvPr id="20" name="Text 14"/>
          <p:cNvSpPr>
            <a:spLocks noGrp="1"/>
          </p:cNvSpPr>
          <p:nvPr/>
        </p:nvSpPr>
        <p:spPr>
          <a:xfrm>
            <a:off x="3658871" y="4318769"/>
            <a:ext cx="111760" cy="245745"/>
          </a:xfrm>
          <a:prstGeom prst="rect">
            <a:avLst/>
          </a:prstGeom>
          <a:noFill/>
        </p:spPr>
        <p:txBody>
          <a:bodyPr wrap="none" lIns="0" tIns="0" rIns="0" bIns="0" anchor="t">
            <a:spAutoFit/>
          </a:bodyPr>
          <a:lstStyle/>
          <a:p>
            <a:pPr marL="0" indent="0" algn="ctr">
              <a:buNone/>
            </a:pPr>
            <a:r>
              <a:rPr sz="1600" b="1">
                <a:solidFill>
                  <a:srgbClr val="00D4FF"/>
                </a:solidFill>
                <a:latin typeface="Consolas" panose="020B0609020204030204"/>
                <a:ea typeface="Consolas" panose="020B0609020204030204"/>
                <a:cs typeface="Consolas" panose="020B0609020204030204"/>
              </a:rPr>
              <a:t>→</a:t>
            </a:r>
            <a:endParaRPr sz="1600"/>
          </a:p>
        </p:txBody>
      </p:sp>
      <p:sp>
        <p:nvSpPr>
          <p:cNvPr id="21" name="Text 15"/>
          <p:cNvSpPr>
            <a:spLocks noGrp="1"/>
          </p:cNvSpPr>
          <p:nvPr/>
        </p:nvSpPr>
        <p:spPr>
          <a:xfrm>
            <a:off x="4067175" y="4333056"/>
            <a:ext cx="2499360" cy="206375"/>
          </a:xfrm>
          <a:prstGeom prst="rect">
            <a:avLst/>
          </a:prstGeom>
          <a:noFill/>
        </p:spPr>
        <p:txBody>
          <a:bodyPr wrap="none" lIns="0" tIns="0" rIns="0" bIns="0" anchor="t">
            <a:spAutoFit/>
          </a:bodyPr>
          <a:lstStyle/>
          <a:p>
            <a:pPr marL="0" indent="0" algn="l">
              <a:lnSpc>
                <a:spcPct val="96000"/>
              </a:lnSpc>
              <a:buNone/>
            </a:pPr>
            <a:r>
              <a:rPr sz="1400">
                <a:solidFill>
                  <a:srgbClr val="E1E9F2"/>
                </a:solidFill>
                <a:latin typeface="Arial" panose="020B0604020202020204"/>
                <a:ea typeface="Arial" panose="020B0604020202020204"/>
                <a:cs typeface="Arial" panose="020B0604020202020204"/>
              </a:rPr>
              <a:t>Try URL Decode.</a:t>
            </a:r>
            <a:endParaRPr sz="1400"/>
          </a:p>
        </p:txBody>
      </p:sp>
      <p:sp>
        <p:nvSpPr>
          <p:cNvPr id="22" name="Text 16"/>
          <p:cNvSpPr>
            <a:spLocks noGrp="1"/>
          </p:cNvSpPr>
          <p:nvPr/>
        </p:nvSpPr>
        <p:spPr>
          <a:xfrm>
            <a:off x="1028700" y="5009332"/>
            <a:ext cx="2333625" cy="568452"/>
          </a:xfrm>
          <a:prstGeom prst="rect">
            <a:avLst/>
          </a:prstGeom>
          <a:noFill/>
        </p:spPr>
        <p:txBody>
          <a:bodyPr wrap="square" lIns="0" tIns="0" rIns="0" bIns="0" anchor="t">
            <a:spAutoFit/>
          </a:bodyPr>
          <a:lstStyle/>
          <a:p>
            <a:pPr marL="0" indent="0" algn="l">
              <a:buNone/>
            </a:pPr>
            <a:r>
              <a:rPr sz="1865" b="1">
                <a:solidFill>
                  <a:srgbClr val="00D4FF"/>
                </a:solidFill>
                <a:latin typeface="Consolas" panose="020B0609020204030204"/>
                <a:ea typeface="Consolas" panose="020B0609020204030204"/>
                <a:cs typeface="Consolas" panose="020B0609020204030204"/>
              </a:rPr>
              <a:t>32 or 64 hex characters</a:t>
            </a:r>
            <a:endParaRPr sz="1865"/>
          </a:p>
        </p:txBody>
      </p:sp>
      <p:sp>
        <p:nvSpPr>
          <p:cNvPr id="23" name="Text 17"/>
          <p:cNvSpPr>
            <a:spLocks noGrp="1"/>
          </p:cNvSpPr>
          <p:nvPr/>
        </p:nvSpPr>
        <p:spPr>
          <a:xfrm>
            <a:off x="3658871" y="5033144"/>
            <a:ext cx="111760" cy="245745"/>
          </a:xfrm>
          <a:prstGeom prst="rect">
            <a:avLst/>
          </a:prstGeom>
          <a:noFill/>
        </p:spPr>
        <p:txBody>
          <a:bodyPr wrap="none" lIns="0" tIns="0" rIns="0" bIns="0" anchor="t">
            <a:spAutoFit/>
          </a:bodyPr>
          <a:lstStyle/>
          <a:p>
            <a:pPr marL="0" indent="0" algn="ctr">
              <a:buNone/>
            </a:pPr>
            <a:r>
              <a:rPr sz="1600" b="1">
                <a:solidFill>
                  <a:srgbClr val="00D4FF"/>
                </a:solidFill>
                <a:latin typeface="Consolas" panose="020B0609020204030204"/>
                <a:ea typeface="Consolas" panose="020B0609020204030204"/>
                <a:cs typeface="Consolas" panose="020B0609020204030204"/>
              </a:rPr>
              <a:t>→</a:t>
            </a:r>
            <a:endParaRPr sz="1600"/>
          </a:p>
        </p:txBody>
      </p:sp>
      <p:sp>
        <p:nvSpPr>
          <p:cNvPr id="24" name="Text 18"/>
          <p:cNvSpPr>
            <a:spLocks noGrp="1"/>
          </p:cNvSpPr>
          <p:nvPr/>
        </p:nvSpPr>
        <p:spPr>
          <a:xfrm>
            <a:off x="4067175" y="5047432"/>
            <a:ext cx="3851275" cy="206375"/>
          </a:xfrm>
          <a:prstGeom prst="rect">
            <a:avLst/>
          </a:prstGeom>
          <a:noFill/>
        </p:spPr>
        <p:txBody>
          <a:bodyPr wrap="none" lIns="0" tIns="0" rIns="0" bIns="0" anchor="t">
            <a:spAutoFit/>
          </a:bodyPr>
          <a:lstStyle/>
          <a:p>
            <a:pPr marL="0" indent="0" algn="l">
              <a:lnSpc>
                <a:spcPct val="96000"/>
              </a:lnSpc>
              <a:buNone/>
            </a:pPr>
            <a:r>
              <a:rPr sz="1400">
                <a:solidFill>
                  <a:srgbClr val="E1E9F2"/>
                </a:solidFill>
                <a:latin typeface="Arial" panose="020B0604020202020204"/>
                <a:ea typeface="Arial" panose="020B0604020202020204"/>
                <a:cs typeface="Arial" panose="020B0604020202020204"/>
              </a:rPr>
              <a:t>Treat as a possible hash; do not “decode.”</a:t>
            </a:r>
            <a:endParaRPr sz="1400"/>
          </a:p>
        </p:txBody>
      </p:sp>
      <p:sp>
        <p:nvSpPr>
          <p:cNvPr id="25" name="Text 19"/>
          <p:cNvSpPr>
            <a:spLocks noGrp="1"/>
          </p:cNvSpPr>
          <p:nvPr/>
        </p:nvSpPr>
        <p:spPr>
          <a:xfrm>
            <a:off x="1028700" y="5742756"/>
            <a:ext cx="10134600" cy="174625"/>
          </a:xfrm>
          <a:prstGeom prst="rect">
            <a:avLst/>
          </a:prstGeom>
          <a:noFill/>
        </p:spPr>
        <p:txBody>
          <a:bodyPr wrap="square" lIns="0" tIns="0" rIns="0" bIns="0" anchor="t">
            <a:spAutoFit/>
          </a:bodyPr>
          <a:lstStyle/>
          <a:p>
            <a:pPr marL="0" indent="0" algn="l">
              <a:buNone/>
            </a:pPr>
            <a:r>
              <a:rPr sz="1135" b="1">
                <a:solidFill>
                  <a:srgbClr val="FF6B1A"/>
                </a:solidFill>
                <a:latin typeface="Arial" panose="020B0604020202020204"/>
                <a:ea typeface="Arial" panose="020B0604020202020204"/>
                <a:cs typeface="Arial" panose="020B0604020202020204"/>
              </a:rPr>
              <a:t>CHOOSE THE OPERATION FROM THE EVIDENCE.</a:t>
            </a:r>
            <a:endParaRPr sz="1135"/>
          </a:p>
        </p:txBody>
      </p:sp>
      <p:sp>
        <p:nvSpPr>
          <p:cNvPr id="26" name="Shape 20"/>
          <p:cNvSpPr>
            <a:spLocks noGrp="1"/>
          </p:cNvSpPr>
          <p:nvPr/>
        </p:nvSpPr>
        <p:spPr>
          <a:xfrm>
            <a:off x="723900" y="6191251"/>
            <a:ext cx="10744200" cy="666751"/>
          </a:xfrm>
          <a:prstGeom prst="rect">
            <a:avLst/>
          </a:prstGeom>
          <a:solidFill>
            <a:srgbClr val="000000">
              <a:alpha val="0"/>
            </a:srgbClr>
          </a:solidFill>
        </p:spPr>
      </p:sp>
      <p:sp>
        <p:nvSpPr>
          <p:cNvPr id="27" name="Shape 21"/>
          <p:cNvSpPr>
            <a:spLocks noGrp="1"/>
          </p:cNvSpPr>
          <p:nvPr/>
        </p:nvSpPr>
        <p:spPr>
          <a:xfrm>
            <a:off x="723900" y="6191251"/>
            <a:ext cx="10744200" cy="9525"/>
          </a:xfrm>
          <a:prstGeom prst="rect">
            <a:avLst/>
          </a:prstGeom>
          <a:solidFill>
            <a:srgbClr val="FFFFFF"/>
          </a:solidFill>
        </p:spPr>
      </p:sp>
      <p:sp>
        <p:nvSpPr>
          <p:cNvPr id="28" name="Text 22"/>
          <p:cNvSpPr>
            <a:spLocks noGrp="1"/>
          </p:cNvSpPr>
          <p:nvPr/>
        </p:nvSpPr>
        <p:spPr>
          <a:xfrm>
            <a:off x="723900" y="6191251"/>
            <a:ext cx="10744200" cy="357505"/>
          </a:xfrm>
          <a:prstGeom prst="rect">
            <a:avLst/>
          </a:prstGeom>
          <a:noFill/>
        </p:spPr>
        <p:txBody>
          <a:bodyPr wrap="square" lIns="0" tIns="204046"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0:40–0:58</a:t>
            </a:r>
            <a:endParaRPr sz="10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22" name="Image 1"/>
          <p:cNvPicPr>
            <a:picLocks noChangeAspect="1"/>
          </p:cNvPicPr>
          <p:nvPr/>
        </p:nvPicPr>
        <p:blipFill>
          <a:blip r:embed="rId2"/>
          <a:stretch>
            <a:fillRect/>
          </a:stretch>
        </p:blipFill>
        <p:spPr>
          <a:xfrm>
            <a:off x="723900" y="190500"/>
            <a:ext cx="590551" cy="590551"/>
          </a:xfrm>
          <a:prstGeom prst="rect">
            <a:avLst/>
          </a:prstGeom>
        </p:spPr>
      </p:pic>
      <p:pic>
        <p:nvPicPr>
          <p:cNvPr id="23"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5169099" y="971551"/>
            <a:ext cx="1853803" cy="1094740"/>
          </a:xfrm>
          <a:prstGeom prst="rect">
            <a:avLst/>
          </a:prstGeom>
          <a:noFill/>
        </p:spPr>
        <p:txBody>
          <a:bodyPr wrap="square" lIns="0" tIns="941154" rIns="0" bIns="0" anchor="t">
            <a:spAutoFit/>
          </a:bodyPr>
          <a:lstStyle/>
          <a:p>
            <a:pPr marL="0" indent="0" algn="ctr">
              <a:buNone/>
            </a:pPr>
            <a:r>
              <a:rPr sz="1000" b="1" spc="3">
                <a:solidFill>
                  <a:srgbClr val="FF6B1A"/>
                </a:solidFill>
                <a:latin typeface="Arial" panose="020B0604020202020204"/>
                <a:ea typeface="Arial" panose="020B0604020202020204"/>
                <a:cs typeface="Arial" panose="020B0604020202020204"/>
              </a:rPr>
              <a:t>RESOURCE ALERT</a:t>
            </a:r>
            <a:endParaRPr sz="1000"/>
          </a:p>
        </p:txBody>
      </p:sp>
      <p:sp>
        <p:nvSpPr>
          <p:cNvPr id="9" name="Text 3"/>
          <p:cNvSpPr>
            <a:spLocks noGrp="1"/>
          </p:cNvSpPr>
          <p:nvPr/>
        </p:nvSpPr>
        <p:spPr>
          <a:xfrm>
            <a:off x="6023610" y="2184401"/>
            <a:ext cx="144780" cy="317500"/>
          </a:xfrm>
          <a:prstGeom prst="rect">
            <a:avLst/>
          </a:prstGeom>
          <a:noFill/>
        </p:spPr>
        <p:txBody>
          <a:bodyPr wrap="none" lIns="0" tIns="0" rIns="0" bIns="0" anchor="ctr">
            <a:spAutoFit/>
          </a:bodyPr>
          <a:lstStyle/>
          <a:p>
            <a:pPr marL="0" indent="0" algn="ctr">
              <a:buNone/>
            </a:pPr>
            <a:r>
              <a:rPr sz="2065" b="1">
                <a:solidFill>
                  <a:srgbClr val="FF6B1A"/>
                </a:solidFill>
                <a:latin typeface="Consolas" panose="020B0609020204030204"/>
                <a:ea typeface="Consolas" panose="020B0609020204030204"/>
                <a:cs typeface="Consolas" panose="020B0609020204030204"/>
              </a:rPr>
              <a:t>!</a:t>
            </a:r>
            <a:endParaRPr sz="2065"/>
          </a:p>
        </p:txBody>
      </p:sp>
      <p:sp>
        <p:nvSpPr>
          <p:cNvPr id="10" name="Text 4"/>
          <p:cNvSpPr>
            <a:spLocks noGrp="1"/>
          </p:cNvSpPr>
          <p:nvPr/>
        </p:nvSpPr>
        <p:spPr>
          <a:xfrm>
            <a:off x="1707161" y="2790825"/>
            <a:ext cx="8777605" cy="485140"/>
          </a:xfrm>
          <a:prstGeom prst="rect">
            <a:avLst/>
          </a:prstGeom>
          <a:noFill/>
        </p:spPr>
        <p:txBody>
          <a:bodyPr wrap="none" lIns="0" tIns="0" rIns="0" bIns="0" anchor="t">
            <a:spAutoFit/>
          </a:bodyPr>
          <a:lstStyle/>
          <a:p>
            <a:pPr marL="0" indent="0" algn="ctr">
              <a:lnSpc>
                <a:spcPct val="86000"/>
              </a:lnSpc>
              <a:buNone/>
            </a:pPr>
            <a:r>
              <a:rPr sz="3665" b="1" spc="-1">
                <a:solidFill>
                  <a:srgbClr val="FFFFFF"/>
                </a:solidFill>
                <a:latin typeface="Arial" panose="020B0604020202020204"/>
                <a:ea typeface="Arial" panose="020B0604020202020204"/>
                <a:cs typeface="Arial" panose="020B0604020202020204"/>
              </a:rPr>
              <a:t>DO NOT CLICK “MAGIC” FIRST.</a:t>
            </a:r>
            <a:endParaRPr sz="3665"/>
          </a:p>
        </p:txBody>
      </p:sp>
      <p:sp>
        <p:nvSpPr>
          <p:cNvPr id="11" name="Text 5"/>
          <p:cNvSpPr>
            <a:spLocks noGrp="1"/>
          </p:cNvSpPr>
          <p:nvPr/>
        </p:nvSpPr>
        <p:spPr>
          <a:xfrm>
            <a:off x="4020667" y="3879652"/>
            <a:ext cx="4150668" cy="548640"/>
          </a:xfrm>
          <a:prstGeom prst="rect">
            <a:avLst/>
          </a:prstGeom>
          <a:noFill/>
        </p:spPr>
        <p:txBody>
          <a:bodyPr wrap="square" lIns="0" tIns="0" rIns="0" bIns="0" anchor="t">
            <a:spAutoFit/>
          </a:bodyPr>
          <a:lstStyle/>
          <a:p>
            <a:pPr marL="0" indent="0" algn="ctr">
              <a:lnSpc>
                <a:spcPct val="107000"/>
              </a:lnSpc>
              <a:buNone/>
            </a:pPr>
            <a:r>
              <a:rPr sz="1665">
                <a:solidFill>
                  <a:srgbClr val="D4DCE7"/>
                </a:solidFill>
                <a:latin typeface="Arial" panose="020B0604020202020204"/>
                <a:ea typeface="Arial" panose="020B0604020202020204"/>
                <a:cs typeface="Arial" panose="020B0604020202020204"/>
              </a:rPr>
              <a:t>Automatic detection is helpful, but you must explain why the output is believable.</a:t>
            </a:r>
            <a:endParaRPr sz="1665"/>
          </a:p>
        </p:txBody>
      </p:sp>
      <p:sp>
        <p:nvSpPr>
          <p:cNvPr id="12" name="Text 6"/>
          <p:cNvSpPr>
            <a:spLocks noGrp="1"/>
          </p:cNvSpPr>
          <p:nvPr/>
        </p:nvSpPr>
        <p:spPr>
          <a:xfrm>
            <a:off x="3670399" y="4682728"/>
            <a:ext cx="4851201" cy="184150"/>
          </a:xfrm>
          <a:prstGeom prst="rect">
            <a:avLst/>
          </a:prstGeom>
          <a:noFill/>
        </p:spPr>
        <p:txBody>
          <a:bodyPr wrap="square" lIns="0" tIns="0" rIns="0" bIns="0" anchor="t">
            <a:spAutoFit/>
          </a:bodyPr>
          <a:lstStyle/>
          <a:p>
            <a:pPr marL="0" indent="0" algn="ctr">
              <a:buNone/>
            </a:pPr>
            <a:r>
              <a:rPr sz="1200" b="1" spc="1">
                <a:solidFill>
                  <a:srgbClr val="00D4FF"/>
                </a:solidFill>
                <a:latin typeface="Arial" panose="020B0604020202020204"/>
                <a:ea typeface="Arial" panose="020B0604020202020204"/>
                <a:cs typeface="Arial" panose="020B0604020202020204"/>
              </a:rPr>
              <a:t>USE MAGIC TO CHECK A HYPOTHESIS—NOT TO REPLACE ONE.</a:t>
            </a:r>
            <a:endParaRPr sz="1200"/>
          </a:p>
        </p:txBody>
      </p:sp>
      <p:sp>
        <p:nvSpPr>
          <p:cNvPr id="13" name="Shape 7"/>
          <p:cNvSpPr>
            <a:spLocks noGrp="1"/>
          </p:cNvSpPr>
          <p:nvPr/>
        </p:nvSpPr>
        <p:spPr>
          <a:xfrm>
            <a:off x="723900" y="6172200"/>
            <a:ext cx="10744200" cy="685800"/>
          </a:xfrm>
          <a:prstGeom prst="rect">
            <a:avLst/>
          </a:prstGeom>
          <a:solidFill>
            <a:srgbClr val="000000">
              <a:alpha val="0"/>
            </a:srgbClr>
          </a:solidFill>
        </p:spPr>
      </p:sp>
      <p:sp>
        <p:nvSpPr>
          <p:cNvPr id="14" name="Shape 8"/>
          <p:cNvSpPr>
            <a:spLocks noGrp="1"/>
          </p:cNvSpPr>
          <p:nvPr/>
        </p:nvSpPr>
        <p:spPr>
          <a:xfrm>
            <a:off x="723900" y="6172200"/>
            <a:ext cx="10744200" cy="9525"/>
          </a:xfrm>
          <a:prstGeom prst="rect">
            <a:avLst/>
          </a:prstGeom>
          <a:solidFill>
            <a:srgbClr val="FFFFFF"/>
          </a:solidFill>
        </p:spPr>
      </p:sp>
      <p:sp>
        <p:nvSpPr>
          <p:cNvPr id="15" name="Text 9"/>
          <p:cNvSpPr>
            <a:spLocks noGrp="1"/>
          </p:cNvSpPr>
          <p:nvPr/>
        </p:nvSpPr>
        <p:spPr>
          <a:xfrm>
            <a:off x="723900" y="6172200"/>
            <a:ext cx="10744200" cy="357505"/>
          </a:xfrm>
          <a:prstGeom prst="rect">
            <a:avLst/>
          </a:prstGeom>
          <a:noFill/>
        </p:spPr>
        <p:txBody>
          <a:bodyPr wrap="square" lIns="0" tIns="204046"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0:40–0:58</a:t>
            </a:r>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7" name="Image 0"/>
          <p:cNvPicPr>
            <a:picLocks noChangeAspect="1"/>
          </p:cNvPicPr>
          <p:nvPr/>
        </p:nvPicPr>
        <p:blipFill>
          <a:blip r:embed="rId1"/>
          <a:stretch>
            <a:fillRect/>
          </a:stretch>
        </p:blipFill>
        <p:spPr>
          <a:xfrm>
            <a:off x="0" y="1905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40" name="Image 1"/>
          <p:cNvPicPr>
            <a:picLocks noChangeAspect="1"/>
          </p:cNvPicPr>
          <p:nvPr/>
        </p:nvPicPr>
        <p:blipFill>
          <a:blip r:embed="rId2"/>
          <a:stretch>
            <a:fillRect/>
          </a:stretch>
        </p:blipFill>
        <p:spPr>
          <a:xfrm>
            <a:off x="723900" y="190500"/>
            <a:ext cx="590551" cy="590551"/>
          </a:xfrm>
          <a:prstGeom prst="rect">
            <a:avLst/>
          </a:prstGeom>
        </p:spPr>
      </p:pic>
      <p:pic>
        <p:nvPicPr>
          <p:cNvPr id="41" name="Image 2"/>
          <p:cNvPicPr>
            <a:picLocks noChangeAspect="1"/>
          </p:cNvPicPr>
          <p:nvPr/>
        </p:nvPicPr>
        <p:blipFill>
          <a:blip r:embed="rId3"/>
          <a:stretch>
            <a:fillRect/>
          </a:stretch>
        </p:blipFill>
        <p:spPr>
          <a:xfrm>
            <a:off x="10210800" y="190500"/>
            <a:ext cx="1257300" cy="590551"/>
          </a:xfrm>
          <a:prstGeom prst="rect">
            <a:avLst/>
          </a:prstGeom>
        </p:spPr>
      </p:pic>
      <p:sp>
        <p:nvSpPr>
          <p:cNvPr id="8" name="Shape 2"/>
          <p:cNvSpPr>
            <a:spLocks noGrp="1"/>
          </p:cNvSpPr>
          <p:nvPr/>
        </p:nvSpPr>
        <p:spPr>
          <a:xfrm>
            <a:off x="971551" y="1562100"/>
            <a:ext cx="5048251" cy="3105151"/>
          </a:xfrm>
          <a:prstGeom prst="rect">
            <a:avLst/>
          </a:prstGeom>
          <a:solidFill>
            <a:srgbClr val="00D4FF">
              <a:alpha val="4000"/>
            </a:srgbClr>
          </a:solidFill>
          <a:ln w="9144">
            <a:solidFill>
              <a:srgbClr val="00D4FF">
                <a:alpha val="78000"/>
              </a:srgbClr>
            </a:solidFill>
            <a:prstDash val="dash"/>
          </a:ln>
        </p:spPr>
      </p:sp>
      <p:sp>
        <p:nvSpPr>
          <p:cNvPr id="9" name="Text 3"/>
          <p:cNvSpPr>
            <a:spLocks noGrp="1"/>
          </p:cNvSpPr>
          <p:nvPr/>
        </p:nvSpPr>
        <p:spPr>
          <a:xfrm>
            <a:off x="2209577" y="2805112"/>
            <a:ext cx="2572196" cy="174625"/>
          </a:xfrm>
          <a:prstGeom prst="rect">
            <a:avLst/>
          </a:prstGeom>
          <a:noFill/>
        </p:spPr>
        <p:txBody>
          <a:bodyPr wrap="square" lIns="0" tIns="0" rIns="0" bIns="0" anchor="t">
            <a:spAutoFit/>
          </a:bodyPr>
          <a:lstStyle/>
          <a:p>
            <a:pPr marL="0" indent="0" algn="l">
              <a:buNone/>
            </a:pPr>
            <a:endParaRPr sz="1135"/>
          </a:p>
        </p:txBody>
      </p:sp>
      <p:sp>
        <p:nvSpPr>
          <p:cNvPr id="10" name="Text 4"/>
          <p:cNvSpPr>
            <a:spLocks noGrp="1"/>
          </p:cNvSpPr>
          <p:nvPr/>
        </p:nvSpPr>
        <p:spPr>
          <a:xfrm>
            <a:off x="1475855" y="3271837"/>
            <a:ext cx="4039568" cy="153670"/>
          </a:xfrm>
          <a:prstGeom prst="rect">
            <a:avLst/>
          </a:prstGeom>
          <a:noFill/>
        </p:spPr>
        <p:txBody>
          <a:bodyPr wrap="square" lIns="0" tIns="0" rIns="0" bIns="0" anchor="t">
            <a:spAutoFit/>
          </a:bodyPr>
          <a:lstStyle/>
          <a:p>
            <a:pPr marL="0" indent="0" algn="l">
              <a:buNone/>
            </a:pPr>
            <a:endParaRPr sz="1000"/>
          </a:p>
        </p:txBody>
      </p:sp>
      <p:sp>
        <p:nvSpPr>
          <p:cNvPr id="11" name="Text 5"/>
          <p:cNvSpPr>
            <a:spLocks noGrp="1"/>
          </p:cNvSpPr>
          <p:nvPr/>
        </p:nvSpPr>
        <p:spPr>
          <a:xfrm>
            <a:off x="6657975" y="1400175"/>
            <a:ext cx="4562475" cy="144145"/>
          </a:xfrm>
          <a:prstGeom prst="rect">
            <a:avLst/>
          </a:prstGeom>
          <a:noFill/>
        </p:spPr>
        <p:txBody>
          <a:bodyPr wrap="square" lIns="0" tIns="0" rIns="0" bIns="0" anchor="t">
            <a:spAutoFit/>
          </a:bodyPr>
          <a:lstStyle/>
          <a:p>
            <a:pPr marL="0" indent="0" algn="l">
              <a:buNone/>
            </a:pPr>
            <a:r>
              <a:rPr sz="935" b="1" spc="3">
                <a:solidFill>
                  <a:srgbClr val="FF6B1A"/>
                </a:solidFill>
                <a:latin typeface="Arial" panose="020B0604020202020204"/>
                <a:ea typeface="Arial" panose="020B0604020202020204"/>
                <a:cs typeface="Arial" panose="020B0604020202020204"/>
              </a:rPr>
              <a:t>LAB 1 GUIDED PRACTICE</a:t>
            </a:r>
            <a:endParaRPr sz="935"/>
          </a:p>
        </p:txBody>
      </p:sp>
      <p:sp>
        <p:nvSpPr>
          <p:cNvPr id="12" name="Text 6"/>
          <p:cNvSpPr>
            <a:spLocks noGrp="1"/>
          </p:cNvSpPr>
          <p:nvPr/>
        </p:nvSpPr>
        <p:spPr>
          <a:xfrm>
            <a:off x="6657975" y="1666875"/>
            <a:ext cx="4381500" cy="687070"/>
          </a:xfrm>
          <a:prstGeom prst="rect">
            <a:avLst/>
          </a:prstGeom>
          <a:noFill/>
        </p:spPr>
        <p:txBody>
          <a:bodyPr wrap="square" lIns="0" tIns="0" rIns="0" bIns="0" anchor="t">
            <a:spAutoFit/>
          </a:bodyPr>
          <a:lstStyle/>
          <a:p>
            <a:pPr marL="0" indent="0" algn="l">
              <a:lnSpc>
                <a:spcPct val="86000"/>
              </a:lnSpc>
              <a:buNone/>
            </a:pPr>
            <a:r>
              <a:rPr sz="2600" b="1" spc="-1">
                <a:solidFill>
                  <a:srgbClr val="FFFFFF"/>
                </a:solidFill>
                <a:latin typeface="Arial" panose="020B0604020202020204"/>
                <a:ea typeface="Arial" panose="020B0604020202020204"/>
                <a:cs typeface="Arial" panose="020B0604020202020204"/>
              </a:rPr>
              <a:t>TryHackMe → CyberChef: The Basics</a:t>
            </a:r>
            <a:endParaRPr sz="2600"/>
          </a:p>
        </p:txBody>
      </p:sp>
      <p:sp>
        <p:nvSpPr>
          <p:cNvPr id="13" name="Text 7"/>
          <p:cNvSpPr>
            <a:spLocks noGrp="1"/>
          </p:cNvSpPr>
          <p:nvPr/>
        </p:nvSpPr>
        <p:spPr>
          <a:xfrm>
            <a:off x="6657975" y="2593032"/>
            <a:ext cx="4562475" cy="184150"/>
          </a:xfrm>
          <a:prstGeom prst="rect">
            <a:avLst/>
          </a:prstGeom>
          <a:noFill/>
        </p:spPr>
        <p:txBody>
          <a:bodyPr wrap="square" lIns="0" tIns="0" rIns="0" bIns="0" anchor="t">
            <a:spAutoFit/>
          </a:bodyPr>
          <a:lstStyle/>
          <a:p>
            <a:pPr marL="0" indent="0" algn="l">
              <a:buNone/>
            </a:pPr>
            <a:r>
              <a:rPr sz="1200" b="1">
                <a:solidFill>
                  <a:srgbClr val="00D4FF"/>
                </a:solidFill>
                <a:latin typeface="Arial" panose="020B0604020202020204"/>
                <a:ea typeface="Arial" panose="020B0604020202020204"/>
                <a:cs typeface="Arial" panose="020B0604020202020204"/>
              </a:rPr>
              <a:t>Recognize the pattern. Build the recipe. Verify the result.</a:t>
            </a:r>
            <a:endParaRPr sz="1200"/>
          </a:p>
        </p:txBody>
      </p:sp>
      <p:sp>
        <p:nvSpPr>
          <p:cNvPr id="14" name="Text 8"/>
          <p:cNvSpPr>
            <a:spLocks noGrp="1"/>
          </p:cNvSpPr>
          <p:nvPr/>
        </p:nvSpPr>
        <p:spPr>
          <a:xfrm>
            <a:off x="6657975" y="3328839"/>
            <a:ext cx="167640" cy="184150"/>
          </a:xfrm>
          <a:prstGeom prst="rect">
            <a:avLst/>
          </a:prstGeom>
          <a:noFill/>
        </p:spPr>
        <p:txBody>
          <a:bodyPr wrap="none" lIns="0" tIns="0" rIns="0" bIns="0" anchor="t">
            <a:spAutoFit/>
          </a:bodyPr>
          <a:lstStyle/>
          <a:p>
            <a:pPr marL="0" indent="0" algn="l">
              <a:buNone/>
            </a:pPr>
            <a:r>
              <a:rPr sz="1200" b="1">
                <a:solidFill>
                  <a:srgbClr val="00D4FF"/>
                </a:solidFill>
                <a:latin typeface="Consolas" panose="020B0609020204030204"/>
                <a:ea typeface="Consolas" panose="020B0609020204030204"/>
                <a:cs typeface="Consolas" panose="020B0609020204030204"/>
              </a:rPr>
              <a:t>01</a:t>
            </a:r>
            <a:endParaRPr sz="1200"/>
          </a:p>
        </p:txBody>
      </p:sp>
      <p:sp>
        <p:nvSpPr>
          <p:cNvPr id="15" name="Text 9"/>
          <p:cNvSpPr>
            <a:spLocks noGrp="1"/>
          </p:cNvSpPr>
          <p:nvPr/>
        </p:nvSpPr>
        <p:spPr>
          <a:xfrm>
            <a:off x="7096125" y="3309343"/>
            <a:ext cx="3429635" cy="201930"/>
          </a:xfrm>
          <a:prstGeom prst="rect">
            <a:avLst/>
          </a:prstGeom>
          <a:noFill/>
        </p:spPr>
        <p:txBody>
          <a:bodyPr wrap="none" lIns="0" tIns="0" rIns="0" bIns="0" anchor="t">
            <a:spAutoFit/>
          </a:bodyPr>
          <a:lstStyle/>
          <a:p>
            <a:pPr marL="0" indent="0" algn="l">
              <a:lnSpc>
                <a:spcPct val="98000"/>
              </a:lnSpc>
              <a:buNone/>
            </a:pPr>
            <a:r>
              <a:rPr sz="1335" b="1">
                <a:solidFill>
                  <a:srgbClr val="E1E9F2"/>
                </a:solidFill>
                <a:latin typeface="Arial" panose="020B0604020202020204"/>
                <a:ea typeface="Arial" panose="020B0604020202020204"/>
                <a:cs typeface="Arial" panose="020B0604020202020204"/>
              </a:rPr>
              <a:t>Open the room and the CyberChef workspace.</a:t>
            </a:r>
            <a:endParaRPr sz="1335"/>
          </a:p>
        </p:txBody>
      </p:sp>
      <p:sp>
        <p:nvSpPr>
          <p:cNvPr id="16" name="Text 10"/>
          <p:cNvSpPr>
            <a:spLocks noGrp="1"/>
          </p:cNvSpPr>
          <p:nvPr/>
        </p:nvSpPr>
        <p:spPr>
          <a:xfrm>
            <a:off x="6657975" y="4090839"/>
            <a:ext cx="167640" cy="184150"/>
          </a:xfrm>
          <a:prstGeom prst="rect">
            <a:avLst/>
          </a:prstGeom>
          <a:noFill/>
        </p:spPr>
        <p:txBody>
          <a:bodyPr wrap="none" lIns="0" tIns="0" rIns="0" bIns="0" anchor="t">
            <a:spAutoFit/>
          </a:bodyPr>
          <a:lstStyle/>
          <a:p>
            <a:pPr marL="0" indent="0" algn="l">
              <a:buNone/>
            </a:pPr>
            <a:r>
              <a:rPr sz="1200" b="1">
                <a:solidFill>
                  <a:srgbClr val="00D4FF"/>
                </a:solidFill>
                <a:latin typeface="Consolas" panose="020B0609020204030204"/>
                <a:ea typeface="Consolas" panose="020B0609020204030204"/>
                <a:cs typeface="Consolas" panose="020B0609020204030204"/>
              </a:rPr>
              <a:t>02</a:t>
            </a:r>
            <a:endParaRPr sz="1200"/>
          </a:p>
        </p:txBody>
      </p:sp>
      <p:sp>
        <p:nvSpPr>
          <p:cNvPr id="17" name="Text 11"/>
          <p:cNvSpPr>
            <a:spLocks noGrp="1"/>
          </p:cNvSpPr>
          <p:nvPr/>
        </p:nvSpPr>
        <p:spPr>
          <a:xfrm>
            <a:off x="7096125" y="4071343"/>
            <a:ext cx="2482850" cy="201930"/>
          </a:xfrm>
          <a:prstGeom prst="rect">
            <a:avLst/>
          </a:prstGeom>
          <a:noFill/>
        </p:spPr>
        <p:txBody>
          <a:bodyPr wrap="none" lIns="0" tIns="0" rIns="0" bIns="0" anchor="t">
            <a:spAutoFit/>
          </a:bodyPr>
          <a:lstStyle/>
          <a:p>
            <a:pPr marL="0" indent="0" algn="l">
              <a:lnSpc>
                <a:spcPct val="98000"/>
              </a:lnSpc>
              <a:buNone/>
            </a:pPr>
            <a:r>
              <a:rPr sz="1335" b="1">
                <a:solidFill>
                  <a:srgbClr val="E1E9F2"/>
                </a:solidFill>
                <a:latin typeface="Arial" panose="020B0604020202020204"/>
                <a:ea typeface="Arial" panose="020B0604020202020204"/>
                <a:cs typeface="Arial" panose="020B0604020202020204"/>
              </a:rPr>
              <a:t>Complete Base64, Hex, and ROT13 tasks.</a:t>
            </a:r>
            <a:endParaRPr sz="1335"/>
          </a:p>
        </p:txBody>
      </p:sp>
      <p:sp>
        <p:nvSpPr>
          <p:cNvPr id="18" name="Text 12"/>
          <p:cNvSpPr>
            <a:spLocks noGrp="1"/>
          </p:cNvSpPr>
          <p:nvPr/>
        </p:nvSpPr>
        <p:spPr>
          <a:xfrm>
            <a:off x="6657975" y="4852839"/>
            <a:ext cx="167640" cy="184150"/>
          </a:xfrm>
          <a:prstGeom prst="rect">
            <a:avLst/>
          </a:prstGeom>
          <a:noFill/>
        </p:spPr>
        <p:txBody>
          <a:bodyPr wrap="none" lIns="0" tIns="0" rIns="0" bIns="0" anchor="t">
            <a:spAutoFit/>
          </a:bodyPr>
          <a:lstStyle/>
          <a:p>
            <a:pPr marL="0" indent="0" algn="l">
              <a:buNone/>
            </a:pPr>
            <a:r>
              <a:rPr sz="1200" b="1">
                <a:solidFill>
                  <a:srgbClr val="00D4FF"/>
                </a:solidFill>
                <a:latin typeface="Consolas" panose="020B0609020204030204"/>
                <a:ea typeface="Consolas" panose="020B0609020204030204"/>
                <a:cs typeface="Consolas" panose="020B0609020204030204"/>
              </a:rPr>
              <a:t>03</a:t>
            </a:r>
            <a:endParaRPr sz="1200"/>
          </a:p>
        </p:txBody>
      </p:sp>
      <p:sp>
        <p:nvSpPr>
          <p:cNvPr id="19" name="Text 13"/>
          <p:cNvSpPr>
            <a:spLocks noGrp="1"/>
          </p:cNvSpPr>
          <p:nvPr/>
        </p:nvSpPr>
        <p:spPr>
          <a:xfrm>
            <a:off x="7096125" y="4833343"/>
            <a:ext cx="3263900" cy="201930"/>
          </a:xfrm>
          <a:prstGeom prst="rect">
            <a:avLst/>
          </a:prstGeom>
          <a:noFill/>
        </p:spPr>
        <p:txBody>
          <a:bodyPr wrap="none" lIns="0" tIns="0" rIns="0" bIns="0" anchor="t">
            <a:spAutoFit/>
          </a:bodyPr>
          <a:lstStyle/>
          <a:p>
            <a:pPr marL="0" indent="0" algn="l">
              <a:lnSpc>
                <a:spcPct val="98000"/>
              </a:lnSpc>
              <a:buNone/>
            </a:pPr>
            <a:r>
              <a:rPr sz="1335" b="1">
                <a:solidFill>
                  <a:srgbClr val="E1E9F2"/>
                </a:solidFill>
                <a:latin typeface="Arial" panose="020B0604020202020204"/>
                <a:ea typeface="Arial" panose="020B0604020202020204"/>
                <a:cs typeface="Arial" panose="020B0604020202020204"/>
              </a:rPr>
              <a:t>Record the recipe that produced each answer.</a:t>
            </a:r>
            <a:endParaRPr sz="1335"/>
          </a:p>
        </p:txBody>
      </p:sp>
      <p:sp>
        <p:nvSpPr>
          <p:cNvPr id="20" name="Shape 14"/>
          <p:cNvSpPr>
            <a:spLocks noGrp="1"/>
          </p:cNvSpPr>
          <p:nvPr/>
        </p:nvSpPr>
        <p:spPr>
          <a:xfrm>
            <a:off x="723900" y="6191251"/>
            <a:ext cx="10744200" cy="666751"/>
          </a:xfrm>
          <a:prstGeom prst="rect">
            <a:avLst/>
          </a:prstGeom>
          <a:solidFill>
            <a:srgbClr val="000000">
              <a:alpha val="0"/>
            </a:srgbClr>
          </a:solidFill>
        </p:spPr>
      </p:sp>
      <p:sp>
        <p:nvSpPr>
          <p:cNvPr id="21" name="Shape 15"/>
          <p:cNvSpPr>
            <a:spLocks noGrp="1"/>
          </p:cNvSpPr>
          <p:nvPr/>
        </p:nvSpPr>
        <p:spPr>
          <a:xfrm>
            <a:off x="723900" y="6191251"/>
            <a:ext cx="10744200" cy="9525"/>
          </a:xfrm>
          <a:prstGeom prst="rect">
            <a:avLst/>
          </a:prstGeom>
          <a:solidFill>
            <a:srgbClr val="FFFFFF"/>
          </a:solidFill>
        </p:spPr>
      </p:sp>
      <p:sp>
        <p:nvSpPr>
          <p:cNvPr id="22" name="Text 16"/>
          <p:cNvSpPr>
            <a:spLocks noGrp="1"/>
          </p:cNvSpPr>
          <p:nvPr/>
        </p:nvSpPr>
        <p:spPr>
          <a:xfrm>
            <a:off x="723900" y="6362700"/>
            <a:ext cx="3105671" cy="174625"/>
          </a:xfrm>
          <a:prstGeom prst="rect">
            <a:avLst/>
          </a:prstGeom>
          <a:noFill/>
        </p:spPr>
        <p:txBody>
          <a:bodyPr wrap="square" lIns="0" tIns="0" rIns="0" bIns="0" anchor="t">
            <a:spAutoFit/>
          </a:bodyPr>
          <a:lstStyle/>
          <a:p>
            <a:pPr marL="0" indent="0" algn="l">
              <a:buNone/>
            </a:pPr>
            <a:r>
              <a:rPr sz="1065" b="1">
                <a:solidFill>
                  <a:srgbClr val="00D4FF"/>
                </a:solidFill>
                <a:latin typeface="Arial" panose="020B0604020202020204"/>
                <a:ea typeface="Arial" panose="020B0604020202020204"/>
                <a:cs typeface="Arial" panose="020B0604020202020204"/>
              </a:rPr>
              <a:t>RULE: Explain the clue before you decode.</a:t>
            </a:r>
            <a:endParaRPr sz="1065"/>
          </a:p>
        </p:txBody>
      </p:sp>
      <p:sp>
        <p:nvSpPr>
          <p:cNvPr id="23" name="Text 17"/>
          <p:cNvSpPr>
            <a:spLocks noGrp="1"/>
          </p:cNvSpPr>
          <p:nvPr/>
        </p:nvSpPr>
        <p:spPr>
          <a:xfrm>
            <a:off x="10874797" y="6362700"/>
            <a:ext cx="564515" cy="153670"/>
          </a:xfrm>
          <a:prstGeom prst="rect">
            <a:avLst/>
          </a:prstGeom>
          <a:noFill/>
        </p:spPr>
        <p:txBody>
          <a:bodyPr wrap="none" lIns="0" tIns="0"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0:40–0:58</a:t>
            </a:r>
            <a:endParaRPr sz="1000"/>
          </a:p>
        </p:txBody>
      </p:sp>
      <p:pic>
        <p:nvPicPr>
          <p:cNvPr id="58" name="Picture 23"/>
          <p:cNvPicPr>
            <a:picLocks noChangeAspect="1"/>
          </p:cNvPicPr>
          <p:nvPr/>
        </p:nvPicPr>
        <p:blipFill>
          <a:blip r:embed="rId4"/>
          <a:stretch>
            <a:fillRect/>
          </a:stretch>
        </p:blipFill>
        <p:spPr>
          <a:xfrm>
            <a:off x="723900" y="1562100"/>
            <a:ext cx="5663565" cy="3104515"/>
          </a:xfrm>
          <a:prstGeom prst="rect">
            <a:avLst/>
          </a:prstGeom>
        </p:spPr>
      </p:pic>
      <p:sp>
        <p:nvSpPr>
          <p:cNvPr id="28" name="Rounded Rectangle 27"/>
          <p:cNvSpPr>
            <a:spLocks noGrp="1"/>
          </p:cNvSpPr>
          <p:nvPr/>
        </p:nvSpPr>
        <p:spPr>
          <a:xfrm>
            <a:off x="723900" y="1562100"/>
            <a:ext cx="5667375" cy="3105150"/>
          </a:xfrm>
          <a:prstGeom prst="roundRect">
            <a:avLst>
              <a:gd name="adj" fmla="val 2454"/>
            </a:avLst>
          </a:prstGeom>
          <a:solidFill>
            <a:srgbClr val="071725"/>
          </a:solidFill>
          <a:ln w="14288">
            <a:solidFill>
              <a:srgbClr val="17D7F7"/>
            </a:solidFill>
            <a:prstDash val="solid"/>
          </a:ln>
        </p:spPr>
      </p:sp>
      <p:sp>
        <p:nvSpPr>
          <p:cNvPr id="29" name="Rectangles 28"/>
          <p:cNvSpPr>
            <a:spLocks noGrp="1"/>
          </p:cNvSpPr>
          <p:nvPr/>
        </p:nvSpPr>
        <p:spPr>
          <a:xfrm>
            <a:off x="933450" y="1695450"/>
            <a:ext cx="1714500" cy="266700"/>
          </a:xfrm>
          <a:prstGeom prst="rect">
            <a:avLst/>
          </a:prstGeom>
          <a:noFill/>
          <a:ln w="0">
            <a:noFill/>
          </a:ln>
        </p:spPr>
        <p:txBody>
          <a:bodyPr anchor="ctr"/>
          <a:lstStyle/>
          <a:p>
            <a:pPr algn="l">
              <a:defRPr sz="1275" b="1">
                <a:solidFill>
                  <a:srgbClr val="FFFFFF"/>
                </a:solidFill>
                <a:latin typeface="Arial" panose="020B0604020202020204"/>
                <a:ea typeface="Arial" panose="020B0604020202020204"/>
                <a:cs typeface="Arial" panose="020B0604020202020204"/>
              </a:defRPr>
            </a:pPr>
            <a:r>
              <a:rPr sz="1275" b="1">
                <a:solidFill>
                  <a:srgbClr val="FFFFFF"/>
                </a:solidFill>
                <a:latin typeface="Arial" panose="020B0604020202020204"/>
                <a:ea typeface="Arial" panose="020B0604020202020204"/>
                <a:cs typeface="Arial" panose="020B0604020202020204"/>
              </a:rPr>
              <a:t>CYBERCHEF</a:t>
            </a:r>
            <a:endParaRPr sz="1275" b="1">
              <a:solidFill>
                <a:srgbClr val="FFFFFF"/>
              </a:solidFill>
              <a:latin typeface="Arial" panose="020B0604020202020204"/>
              <a:ea typeface="Arial" panose="020B0604020202020204"/>
              <a:cs typeface="Arial" panose="020B0604020202020204"/>
            </a:endParaRPr>
          </a:p>
        </p:txBody>
      </p:sp>
      <p:sp>
        <p:nvSpPr>
          <p:cNvPr id="30" name="Rectangles 29"/>
          <p:cNvSpPr>
            <a:spLocks noGrp="1"/>
          </p:cNvSpPr>
          <p:nvPr/>
        </p:nvSpPr>
        <p:spPr>
          <a:xfrm>
            <a:off x="933450" y="2095500"/>
            <a:ext cx="1428750" cy="209550"/>
          </a:xfrm>
          <a:prstGeom prst="rect">
            <a:avLst/>
          </a:prstGeom>
          <a:noFill/>
          <a:ln w="0">
            <a:noFill/>
          </a:ln>
        </p:spPr>
        <p:txBody>
          <a:bodyPr anchor="ctr"/>
          <a:lstStyle/>
          <a:p>
            <a:pPr algn="l">
              <a:defRPr sz="900" b="1">
                <a:solidFill>
                  <a:srgbClr val="FF7A1A"/>
                </a:solidFill>
                <a:latin typeface="Arial" panose="020B0604020202020204"/>
                <a:ea typeface="Arial" panose="020B0604020202020204"/>
                <a:cs typeface="Arial" panose="020B0604020202020204"/>
              </a:defRPr>
            </a:pPr>
            <a:r>
              <a:rPr sz="900" b="1">
                <a:solidFill>
                  <a:srgbClr val="FF7A1A"/>
                </a:solidFill>
                <a:latin typeface="Arial" panose="020B0604020202020204"/>
                <a:ea typeface="Arial" panose="020B0604020202020204"/>
                <a:cs typeface="Arial" panose="020B0604020202020204"/>
              </a:rPr>
              <a:t>INPUT</a:t>
            </a:r>
            <a:endParaRPr sz="900" b="1">
              <a:solidFill>
                <a:srgbClr val="FF7A1A"/>
              </a:solidFill>
              <a:latin typeface="Arial" panose="020B0604020202020204"/>
              <a:ea typeface="Arial" panose="020B0604020202020204"/>
              <a:cs typeface="Arial" panose="020B0604020202020204"/>
            </a:endParaRPr>
          </a:p>
        </p:txBody>
      </p:sp>
      <p:sp>
        <p:nvSpPr>
          <p:cNvPr id="31" name="Rectangles 30"/>
          <p:cNvSpPr>
            <a:spLocks noGrp="1"/>
          </p:cNvSpPr>
          <p:nvPr/>
        </p:nvSpPr>
        <p:spPr>
          <a:xfrm>
            <a:off x="933450" y="2381250"/>
            <a:ext cx="2000250" cy="685800"/>
          </a:xfrm>
          <a:prstGeom prst="rect">
            <a:avLst/>
          </a:prstGeom>
          <a:noFill/>
          <a:ln w="0">
            <a:noFill/>
          </a:ln>
        </p:spPr>
        <p:txBody>
          <a:bodyPr anchor="ctr"/>
          <a:lstStyle/>
          <a:p>
            <a:pPr algn="l">
              <a:defRPr sz="1200" b="0">
                <a:solidFill>
                  <a:srgbClr val="D7E8F4"/>
                </a:solidFill>
                <a:latin typeface="Consolas" panose="020B0609020204030204"/>
                <a:ea typeface="Consolas" panose="020B0609020204030204"/>
                <a:cs typeface="Consolas" panose="020B0609020204030204"/>
              </a:defRPr>
            </a:pPr>
            <a:r>
              <a:rPr sz="1200" b="0">
                <a:solidFill>
                  <a:srgbClr val="D7E8F4"/>
                </a:solidFill>
                <a:latin typeface="Consolas" panose="020B0609020204030204"/>
                <a:ea typeface="Consolas" panose="020B0609020204030204"/>
                <a:cs typeface="Consolas" panose="020B0609020204030204"/>
              </a:rPr>
              <a:t>U0VDUkVUX0ZMQUc=</a:t>
            </a:r>
            <a:endParaRPr sz="1200" b="0">
              <a:solidFill>
                <a:srgbClr val="D7E8F4"/>
              </a:solidFill>
              <a:latin typeface="Consolas" panose="020B0609020204030204"/>
              <a:ea typeface="Consolas" panose="020B0609020204030204"/>
              <a:cs typeface="Consolas" panose="020B0609020204030204"/>
            </a:endParaRPr>
          </a:p>
        </p:txBody>
      </p:sp>
      <p:sp>
        <p:nvSpPr>
          <p:cNvPr id="32" name="Rectangles 31"/>
          <p:cNvSpPr>
            <a:spLocks noGrp="1"/>
          </p:cNvSpPr>
          <p:nvPr/>
        </p:nvSpPr>
        <p:spPr>
          <a:xfrm>
            <a:off x="3067050" y="2095500"/>
            <a:ext cx="1143000" cy="209550"/>
          </a:xfrm>
          <a:prstGeom prst="rect">
            <a:avLst/>
          </a:prstGeom>
          <a:noFill/>
          <a:ln w="0">
            <a:noFill/>
          </a:ln>
        </p:spPr>
        <p:txBody>
          <a:bodyPr anchor="ctr"/>
          <a:lstStyle/>
          <a:p>
            <a:pPr algn="l">
              <a:defRPr sz="900" b="1">
                <a:solidFill>
                  <a:srgbClr val="FF7A1A"/>
                </a:solidFill>
                <a:latin typeface="Arial" panose="020B0604020202020204"/>
                <a:ea typeface="Arial" panose="020B0604020202020204"/>
                <a:cs typeface="Arial" panose="020B0604020202020204"/>
              </a:defRPr>
            </a:pPr>
            <a:r>
              <a:rPr sz="900" b="1">
                <a:solidFill>
                  <a:srgbClr val="FF7A1A"/>
                </a:solidFill>
                <a:latin typeface="Arial" panose="020B0604020202020204"/>
                <a:ea typeface="Arial" panose="020B0604020202020204"/>
                <a:cs typeface="Arial" panose="020B0604020202020204"/>
              </a:rPr>
              <a:t>RECIPE</a:t>
            </a:r>
            <a:endParaRPr sz="900" b="1">
              <a:solidFill>
                <a:srgbClr val="FF7A1A"/>
              </a:solidFill>
              <a:latin typeface="Arial" panose="020B0604020202020204"/>
              <a:ea typeface="Arial" panose="020B0604020202020204"/>
              <a:cs typeface="Arial" panose="020B0604020202020204"/>
            </a:endParaRPr>
          </a:p>
        </p:txBody>
      </p:sp>
      <p:sp>
        <p:nvSpPr>
          <p:cNvPr id="33" name="Rounded Rectangle 32"/>
          <p:cNvSpPr>
            <a:spLocks noGrp="1"/>
          </p:cNvSpPr>
          <p:nvPr/>
        </p:nvSpPr>
        <p:spPr>
          <a:xfrm>
            <a:off x="3067050" y="2390775"/>
            <a:ext cx="1257300" cy="438150"/>
          </a:xfrm>
          <a:prstGeom prst="roundRect">
            <a:avLst>
              <a:gd name="adj" fmla="val 17391"/>
            </a:avLst>
          </a:prstGeom>
          <a:solidFill>
            <a:srgbClr val="0E3A4C"/>
          </a:solidFill>
          <a:ln w="9525">
            <a:solidFill>
              <a:srgbClr val="21DDF5"/>
            </a:solidFill>
            <a:prstDash val="solid"/>
          </a:ln>
        </p:spPr>
        <p:txBody>
          <a:bodyPr anchor="ctr"/>
          <a:lstStyle/>
          <a:p>
            <a:pPr algn="ctr">
              <a:defRPr sz="1050" b="1">
                <a:solidFill>
                  <a:srgbClr val="21DDF5"/>
                </a:solidFill>
                <a:latin typeface="Arial" panose="020B0604020202020204"/>
                <a:ea typeface="Arial" panose="020B0604020202020204"/>
                <a:cs typeface="Arial" panose="020B0604020202020204"/>
              </a:defRPr>
            </a:pPr>
            <a:r>
              <a:rPr sz="1050" b="1">
                <a:solidFill>
                  <a:srgbClr val="21DDF5"/>
                </a:solidFill>
                <a:latin typeface="Arial" panose="020B0604020202020204"/>
                <a:ea typeface="Arial" panose="020B0604020202020204"/>
                <a:cs typeface="Arial" panose="020B0604020202020204"/>
              </a:rPr>
              <a:t>From Base64</a:t>
            </a:r>
            <a:endParaRPr sz="1050" b="1">
              <a:solidFill>
                <a:srgbClr val="21DDF5"/>
              </a:solidFill>
              <a:latin typeface="Arial" panose="020B0604020202020204"/>
              <a:ea typeface="Arial" panose="020B0604020202020204"/>
              <a:cs typeface="Arial" panose="020B0604020202020204"/>
            </a:endParaRPr>
          </a:p>
        </p:txBody>
      </p:sp>
      <p:sp>
        <p:nvSpPr>
          <p:cNvPr id="34" name="Rectangles 33"/>
          <p:cNvSpPr>
            <a:spLocks noGrp="1"/>
          </p:cNvSpPr>
          <p:nvPr/>
        </p:nvSpPr>
        <p:spPr>
          <a:xfrm>
            <a:off x="4533900" y="2095500"/>
            <a:ext cx="1428750" cy="209550"/>
          </a:xfrm>
          <a:prstGeom prst="rect">
            <a:avLst/>
          </a:prstGeom>
          <a:noFill/>
          <a:ln w="0">
            <a:noFill/>
          </a:ln>
        </p:spPr>
        <p:txBody>
          <a:bodyPr anchor="ctr"/>
          <a:lstStyle/>
          <a:p>
            <a:pPr algn="l">
              <a:defRPr sz="900" b="1">
                <a:solidFill>
                  <a:srgbClr val="FF7A1A"/>
                </a:solidFill>
                <a:latin typeface="Arial" panose="020B0604020202020204"/>
                <a:ea typeface="Arial" panose="020B0604020202020204"/>
                <a:cs typeface="Arial" panose="020B0604020202020204"/>
              </a:defRPr>
            </a:pPr>
            <a:r>
              <a:rPr sz="900" b="1">
                <a:solidFill>
                  <a:srgbClr val="FF7A1A"/>
                </a:solidFill>
                <a:latin typeface="Arial" panose="020B0604020202020204"/>
                <a:ea typeface="Arial" panose="020B0604020202020204"/>
                <a:cs typeface="Arial" panose="020B0604020202020204"/>
              </a:rPr>
              <a:t>OUTPUT</a:t>
            </a:r>
            <a:endParaRPr sz="900" b="1">
              <a:solidFill>
                <a:srgbClr val="FF7A1A"/>
              </a:solidFill>
              <a:latin typeface="Arial" panose="020B0604020202020204"/>
              <a:ea typeface="Arial" panose="020B0604020202020204"/>
              <a:cs typeface="Arial" panose="020B0604020202020204"/>
            </a:endParaRPr>
          </a:p>
        </p:txBody>
      </p:sp>
      <p:sp>
        <p:nvSpPr>
          <p:cNvPr id="35" name="Rectangles 34"/>
          <p:cNvSpPr>
            <a:spLocks noGrp="1"/>
          </p:cNvSpPr>
          <p:nvPr/>
        </p:nvSpPr>
        <p:spPr>
          <a:xfrm>
            <a:off x="4533900" y="2381250"/>
            <a:ext cx="1571625" cy="685800"/>
          </a:xfrm>
          <a:prstGeom prst="rect">
            <a:avLst/>
          </a:prstGeom>
          <a:noFill/>
          <a:ln w="0">
            <a:noFill/>
          </a:ln>
        </p:spPr>
        <p:txBody>
          <a:bodyPr anchor="ctr"/>
          <a:lstStyle/>
          <a:p>
            <a:pPr algn="l">
              <a:defRPr sz="1200" b="1">
                <a:solidFill>
                  <a:srgbClr val="61F2B0"/>
                </a:solidFill>
                <a:latin typeface="Consolas" panose="020B0609020204030204"/>
                <a:ea typeface="Consolas" panose="020B0609020204030204"/>
                <a:cs typeface="Consolas" panose="020B0609020204030204"/>
              </a:defRPr>
            </a:pPr>
            <a:r>
              <a:rPr sz="1200" b="1">
                <a:solidFill>
                  <a:srgbClr val="61F2B0"/>
                </a:solidFill>
                <a:latin typeface="Consolas" panose="020B0609020204030204"/>
                <a:ea typeface="Consolas" panose="020B0609020204030204"/>
                <a:cs typeface="Consolas" panose="020B0609020204030204"/>
              </a:rPr>
              <a:t>SECRET_FLAG</a:t>
            </a:r>
            <a:endParaRPr sz="1200" b="1">
              <a:solidFill>
                <a:srgbClr val="61F2B0"/>
              </a:solidFill>
              <a:latin typeface="Consolas" panose="020B0609020204030204"/>
              <a:ea typeface="Consolas" panose="020B0609020204030204"/>
              <a:cs typeface="Consolas" panose="020B0609020204030204"/>
            </a:endParaRPr>
          </a:p>
        </p:txBody>
      </p:sp>
      <p:sp>
        <p:nvSpPr>
          <p:cNvPr id="36" name="Rectangles 35"/>
          <p:cNvSpPr>
            <a:spLocks noGrp="1"/>
          </p:cNvSpPr>
          <p:nvPr/>
        </p:nvSpPr>
        <p:spPr>
          <a:xfrm>
            <a:off x="933450" y="4038600"/>
            <a:ext cx="5143500" cy="266700"/>
          </a:xfrm>
          <a:prstGeom prst="rect">
            <a:avLst/>
          </a:prstGeom>
          <a:noFill/>
          <a:ln w="0">
            <a:noFill/>
          </a:ln>
        </p:spPr>
        <p:txBody>
          <a:bodyPr anchor="ctr"/>
          <a:lstStyle/>
          <a:p>
            <a:pPr algn="ctr">
              <a:defRPr sz="975" b="0">
                <a:solidFill>
                  <a:srgbClr val="8DAFC3"/>
                </a:solidFill>
                <a:latin typeface="Arial" panose="020B0604020202020204"/>
                <a:ea typeface="Arial" panose="020B0604020202020204"/>
                <a:cs typeface="Arial" panose="020B0604020202020204"/>
              </a:defRPr>
            </a:pPr>
            <a:r>
              <a:rPr sz="975" b="0">
                <a:solidFill>
                  <a:srgbClr val="8DAFC3"/>
                </a:solidFill>
                <a:latin typeface="Arial" panose="020B0604020202020204"/>
                <a:ea typeface="Arial" panose="020B0604020202020204"/>
                <a:cs typeface="Arial" panose="020B0604020202020204"/>
              </a:rPr>
              <a:t>Recognize → Build recipe → Verify</a:t>
            </a:r>
            <a:endParaRPr sz="975" b="0">
              <a:solidFill>
                <a:srgbClr val="8DAFC3"/>
              </a:solidFill>
              <a:latin typeface="Arial" panose="020B0604020202020204"/>
              <a:ea typeface="Arial" panose="020B0604020202020204"/>
              <a:cs typeface="Arial"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21" name="Image 1"/>
          <p:cNvPicPr>
            <a:picLocks noChangeAspect="1"/>
          </p:cNvPicPr>
          <p:nvPr/>
        </p:nvPicPr>
        <p:blipFill>
          <a:blip r:embed="rId2"/>
          <a:stretch>
            <a:fillRect/>
          </a:stretch>
        </p:blipFill>
        <p:spPr>
          <a:xfrm>
            <a:off x="723900" y="190500"/>
            <a:ext cx="590551" cy="590551"/>
          </a:xfrm>
          <a:prstGeom prst="rect">
            <a:avLst/>
          </a:prstGeom>
        </p:spPr>
      </p:pic>
      <p:pic>
        <p:nvPicPr>
          <p:cNvPr id="22"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4491781" y="2370683"/>
            <a:ext cx="3208437" cy="153670"/>
          </a:xfrm>
          <a:prstGeom prst="rect">
            <a:avLst/>
          </a:prstGeom>
          <a:noFill/>
        </p:spPr>
        <p:txBody>
          <a:bodyPr wrap="square" lIns="0" tIns="0" rIns="0" bIns="0" anchor="t">
            <a:spAutoFit/>
          </a:bodyPr>
          <a:lstStyle/>
          <a:p>
            <a:pPr marL="0" indent="0" algn="ctr">
              <a:buNone/>
            </a:pPr>
            <a:r>
              <a:rPr sz="1000" b="1" spc="3">
                <a:solidFill>
                  <a:srgbClr val="00D4FF"/>
                </a:solidFill>
                <a:latin typeface="Arial" panose="020B0604020202020204"/>
                <a:ea typeface="Arial" panose="020B0604020202020204"/>
                <a:cs typeface="Arial" panose="020B0604020202020204"/>
              </a:rPr>
              <a:t>SECTION 03 LIVE PRACTICE</a:t>
            </a:r>
            <a:endParaRPr sz="1000"/>
          </a:p>
        </p:txBody>
      </p:sp>
      <p:sp>
        <p:nvSpPr>
          <p:cNvPr id="9" name="Text 3"/>
          <p:cNvSpPr>
            <a:spLocks noGrp="1"/>
          </p:cNvSpPr>
          <p:nvPr/>
        </p:nvSpPr>
        <p:spPr>
          <a:xfrm>
            <a:off x="2835593" y="2761208"/>
            <a:ext cx="6520815" cy="671195"/>
          </a:xfrm>
          <a:prstGeom prst="rect">
            <a:avLst/>
          </a:prstGeom>
          <a:noFill/>
        </p:spPr>
        <p:txBody>
          <a:bodyPr wrap="none" lIns="0" tIns="0" rIns="0" bIns="0" anchor="t">
            <a:spAutoFit/>
          </a:bodyPr>
          <a:lstStyle/>
          <a:p>
            <a:pPr marL="0" indent="0" algn="ctr">
              <a:lnSpc>
                <a:spcPct val="77000"/>
              </a:lnSpc>
              <a:buNone/>
            </a:pPr>
            <a:r>
              <a:rPr sz="5665" b="1" spc="-2">
                <a:solidFill>
                  <a:srgbClr val="FFFFFF"/>
                </a:solidFill>
                <a:latin typeface="Arial" panose="020B0604020202020204"/>
                <a:ea typeface="Arial" panose="020B0604020202020204"/>
                <a:cs typeface="Arial" panose="020B0604020202020204"/>
              </a:rPr>
              <a:t>YOUR FIRST DECODE</a:t>
            </a:r>
            <a:endParaRPr sz="5665"/>
          </a:p>
        </p:txBody>
      </p:sp>
      <p:sp>
        <p:nvSpPr>
          <p:cNvPr id="10" name="Text 4"/>
          <p:cNvSpPr>
            <a:spLocks noGrp="1"/>
          </p:cNvSpPr>
          <p:nvPr/>
        </p:nvSpPr>
        <p:spPr>
          <a:xfrm>
            <a:off x="3630216" y="4025355"/>
            <a:ext cx="4931569" cy="287020"/>
          </a:xfrm>
          <a:prstGeom prst="rect">
            <a:avLst/>
          </a:prstGeom>
          <a:noFill/>
        </p:spPr>
        <p:txBody>
          <a:bodyPr wrap="square" lIns="0" tIns="0" rIns="0" bIns="0" anchor="t">
            <a:spAutoFit/>
          </a:bodyPr>
          <a:lstStyle/>
          <a:p>
            <a:pPr marL="0" indent="0" algn="ctr">
              <a:buNone/>
            </a:pPr>
            <a:r>
              <a:rPr sz="1865" b="1">
                <a:solidFill>
                  <a:srgbClr val="FFFFFF"/>
                </a:solidFill>
                <a:latin typeface="Arial" panose="020B0604020202020204"/>
                <a:ea typeface="Arial" panose="020B0604020202020204"/>
                <a:cs typeface="Arial" panose="020B0604020202020204"/>
              </a:rPr>
              <a:t>Everyone. Own hands. Explain the clue.</a:t>
            </a:r>
            <a:endParaRPr sz="1865"/>
          </a:p>
        </p:txBody>
      </p:sp>
      <p:sp>
        <p:nvSpPr>
          <p:cNvPr id="11" name="Text 5"/>
          <p:cNvSpPr>
            <a:spLocks noGrp="1"/>
          </p:cNvSpPr>
          <p:nvPr/>
        </p:nvSpPr>
        <p:spPr>
          <a:xfrm>
            <a:off x="4285952" y="4611141"/>
            <a:ext cx="3620095" cy="153670"/>
          </a:xfrm>
          <a:prstGeom prst="rect">
            <a:avLst/>
          </a:prstGeom>
          <a:noFill/>
        </p:spPr>
        <p:txBody>
          <a:bodyPr wrap="square" lIns="0" tIns="0" rIns="0" bIns="0" anchor="t">
            <a:spAutoFit/>
          </a:bodyPr>
          <a:lstStyle/>
          <a:p>
            <a:pPr marL="0" indent="0" algn="ctr">
              <a:buNone/>
            </a:pPr>
            <a:r>
              <a:rPr sz="1000" b="1" spc="1">
                <a:solidFill>
                  <a:srgbClr val="8A96AA"/>
                </a:solidFill>
                <a:latin typeface="Consolas" panose="020B0609020204030204"/>
                <a:ea typeface="Consolas" panose="020B0609020204030204"/>
                <a:cs typeface="Consolas" panose="020B0609020204030204"/>
              </a:rPr>
              <a:t>NO GUESS / NO MAGIC FIRST / VERIFY THE OUTPUT</a:t>
            </a:r>
            <a:endParaRPr sz="1000"/>
          </a:p>
        </p:txBody>
      </p:sp>
      <p:sp>
        <p:nvSpPr>
          <p:cNvPr id="12" name="Shape 6"/>
          <p:cNvSpPr>
            <a:spLocks noGrp="1"/>
          </p:cNvSpPr>
          <p:nvPr/>
        </p:nvSpPr>
        <p:spPr>
          <a:xfrm>
            <a:off x="723900" y="6172200"/>
            <a:ext cx="10744200" cy="685800"/>
          </a:xfrm>
          <a:prstGeom prst="rect">
            <a:avLst/>
          </a:prstGeom>
          <a:solidFill>
            <a:srgbClr val="000000">
              <a:alpha val="0"/>
            </a:srgbClr>
          </a:solidFill>
        </p:spPr>
      </p:sp>
      <p:sp>
        <p:nvSpPr>
          <p:cNvPr id="13" name="Shape 7"/>
          <p:cNvSpPr>
            <a:spLocks noGrp="1"/>
          </p:cNvSpPr>
          <p:nvPr/>
        </p:nvSpPr>
        <p:spPr>
          <a:xfrm>
            <a:off x="723900" y="6172200"/>
            <a:ext cx="10744200" cy="9525"/>
          </a:xfrm>
          <a:prstGeom prst="rect">
            <a:avLst/>
          </a:prstGeom>
          <a:solidFill>
            <a:srgbClr val="FFFFFF"/>
          </a:solidFill>
        </p:spPr>
      </p:sp>
      <p:sp>
        <p:nvSpPr>
          <p:cNvPr id="14" name="Text 8"/>
          <p:cNvSpPr>
            <a:spLocks noGrp="1"/>
          </p:cNvSpPr>
          <p:nvPr/>
        </p:nvSpPr>
        <p:spPr>
          <a:xfrm>
            <a:off x="723900" y="6172200"/>
            <a:ext cx="10744200" cy="357505"/>
          </a:xfrm>
          <a:prstGeom prst="rect">
            <a:avLst/>
          </a:prstGeom>
          <a:noFill/>
        </p:spPr>
        <p:txBody>
          <a:bodyPr wrap="square" lIns="0" tIns="204046"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0:58–1:18</a:t>
            </a:r>
            <a:endParaRPr sz="1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2"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35" name="Image 1"/>
          <p:cNvPicPr>
            <a:picLocks noChangeAspect="1"/>
          </p:cNvPicPr>
          <p:nvPr/>
        </p:nvPicPr>
        <p:blipFill>
          <a:blip r:embed="rId2"/>
          <a:stretch>
            <a:fillRect/>
          </a:stretch>
        </p:blipFill>
        <p:spPr>
          <a:xfrm>
            <a:off x="723900" y="190500"/>
            <a:ext cx="590551" cy="590551"/>
          </a:xfrm>
          <a:prstGeom prst="rect">
            <a:avLst/>
          </a:prstGeom>
        </p:spPr>
      </p:pic>
      <p:pic>
        <p:nvPicPr>
          <p:cNvPr id="36" name="Image 2"/>
          <p:cNvPicPr>
            <a:picLocks noChangeAspect="1"/>
          </p:cNvPicPr>
          <p:nvPr/>
        </p:nvPicPr>
        <p:blipFill>
          <a:blip r:embed="rId3"/>
          <a:stretch>
            <a:fillRect/>
          </a:stretch>
        </p:blipFill>
        <p:spPr>
          <a:xfrm>
            <a:off x="10210800" y="190500"/>
            <a:ext cx="1257300" cy="590551"/>
          </a:xfrm>
          <a:prstGeom prst="rect">
            <a:avLst/>
          </a:prstGeom>
        </p:spPr>
      </p:pic>
      <p:sp>
        <p:nvSpPr>
          <p:cNvPr id="8" name="Shape 2"/>
          <p:cNvSpPr>
            <a:spLocks noGrp="1"/>
          </p:cNvSpPr>
          <p:nvPr/>
        </p:nvSpPr>
        <p:spPr>
          <a:xfrm>
            <a:off x="971551" y="1562100"/>
            <a:ext cx="5048251" cy="3105151"/>
          </a:xfrm>
          <a:prstGeom prst="rect">
            <a:avLst/>
          </a:prstGeom>
          <a:solidFill>
            <a:srgbClr val="00D4FF">
              <a:alpha val="4000"/>
            </a:srgbClr>
          </a:solidFill>
          <a:ln w="9144">
            <a:solidFill>
              <a:srgbClr val="00D4FF">
                <a:alpha val="78000"/>
              </a:srgbClr>
            </a:solidFill>
            <a:prstDash val="dash"/>
          </a:ln>
        </p:spPr>
      </p:sp>
      <p:sp>
        <p:nvSpPr>
          <p:cNvPr id="9" name="Text 3"/>
          <p:cNvSpPr>
            <a:spLocks noGrp="1"/>
          </p:cNvSpPr>
          <p:nvPr/>
        </p:nvSpPr>
        <p:spPr>
          <a:xfrm>
            <a:off x="2106663" y="2805112"/>
            <a:ext cx="2777952" cy="174625"/>
          </a:xfrm>
          <a:prstGeom prst="rect">
            <a:avLst/>
          </a:prstGeom>
          <a:noFill/>
        </p:spPr>
        <p:txBody>
          <a:bodyPr wrap="square" lIns="0" tIns="0" rIns="0" bIns="0" anchor="t">
            <a:spAutoFit/>
          </a:bodyPr>
          <a:lstStyle/>
          <a:p>
            <a:pPr marL="0" indent="0" algn="l">
              <a:buNone/>
            </a:pPr>
            <a:endParaRPr sz="1135"/>
          </a:p>
        </p:txBody>
      </p:sp>
      <p:sp>
        <p:nvSpPr>
          <p:cNvPr id="10" name="Text 4"/>
          <p:cNvSpPr>
            <a:spLocks noGrp="1"/>
          </p:cNvSpPr>
          <p:nvPr/>
        </p:nvSpPr>
        <p:spPr>
          <a:xfrm>
            <a:off x="2033141" y="3271837"/>
            <a:ext cx="2925068" cy="153670"/>
          </a:xfrm>
          <a:prstGeom prst="rect">
            <a:avLst/>
          </a:prstGeom>
          <a:noFill/>
        </p:spPr>
        <p:txBody>
          <a:bodyPr wrap="square" lIns="0" tIns="0" rIns="0" bIns="0" anchor="t">
            <a:spAutoFit/>
          </a:bodyPr>
          <a:lstStyle/>
          <a:p>
            <a:pPr marL="0" indent="0" algn="l">
              <a:buNone/>
            </a:pPr>
            <a:endParaRPr sz="1000"/>
          </a:p>
        </p:txBody>
      </p:sp>
      <p:sp>
        <p:nvSpPr>
          <p:cNvPr id="11" name="Text 5"/>
          <p:cNvSpPr>
            <a:spLocks noGrp="1"/>
          </p:cNvSpPr>
          <p:nvPr/>
        </p:nvSpPr>
        <p:spPr>
          <a:xfrm>
            <a:off x="6657975" y="1400175"/>
            <a:ext cx="4562475" cy="144145"/>
          </a:xfrm>
          <a:prstGeom prst="rect">
            <a:avLst/>
          </a:prstGeom>
          <a:noFill/>
        </p:spPr>
        <p:txBody>
          <a:bodyPr wrap="square" lIns="0" tIns="0" rIns="0" bIns="0" anchor="t">
            <a:spAutoFit/>
          </a:bodyPr>
          <a:lstStyle/>
          <a:p>
            <a:pPr marL="0" indent="0" algn="l">
              <a:buNone/>
            </a:pPr>
            <a:r>
              <a:rPr sz="935" b="1" spc="3">
                <a:solidFill>
                  <a:srgbClr val="FF6B1A"/>
                </a:solidFill>
                <a:latin typeface="Arial" panose="020B0604020202020204"/>
                <a:ea typeface="Arial" panose="020B0604020202020204"/>
                <a:cs typeface="Arial" panose="020B0604020202020204"/>
              </a:rPr>
              <a:t>LAB 2 FILE INVESTIGATION</a:t>
            </a:r>
            <a:endParaRPr sz="935"/>
          </a:p>
        </p:txBody>
      </p:sp>
      <p:sp>
        <p:nvSpPr>
          <p:cNvPr id="12" name="Text 6"/>
          <p:cNvSpPr>
            <a:spLocks noGrp="1"/>
          </p:cNvSpPr>
          <p:nvPr/>
        </p:nvSpPr>
        <p:spPr>
          <a:xfrm>
            <a:off x="6657975" y="1666875"/>
            <a:ext cx="3753485" cy="369570"/>
          </a:xfrm>
          <a:prstGeom prst="rect">
            <a:avLst/>
          </a:prstGeom>
          <a:noFill/>
        </p:spPr>
        <p:txBody>
          <a:bodyPr wrap="none" lIns="0" tIns="0" rIns="0" bIns="0" anchor="t">
            <a:spAutoFit/>
          </a:bodyPr>
          <a:lstStyle/>
          <a:p>
            <a:pPr marL="0" indent="0" algn="l">
              <a:lnSpc>
                <a:spcPct val="86000"/>
              </a:lnSpc>
              <a:buNone/>
            </a:pPr>
            <a:r>
              <a:rPr sz="2800" b="1" spc="-1">
                <a:solidFill>
                  <a:srgbClr val="FFFFFF"/>
                </a:solidFill>
                <a:latin typeface="Arial" panose="020B0604020202020204"/>
                <a:ea typeface="Arial" panose="020B0604020202020204"/>
                <a:cs typeface="Arial" panose="020B0604020202020204"/>
              </a:rPr>
              <a:t>Local Evidence Pack</a:t>
            </a:r>
            <a:endParaRPr sz="2800"/>
          </a:p>
        </p:txBody>
      </p:sp>
      <p:sp>
        <p:nvSpPr>
          <p:cNvPr id="13" name="Text 7"/>
          <p:cNvSpPr>
            <a:spLocks noGrp="1"/>
          </p:cNvSpPr>
          <p:nvPr/>
        </p:nvSpPr>
        <p:spPr>
          <a:xfrm>
            <a:off x="6657975" y="2222748"/>
            <a:ext cx="4562475" cy="184150"/>
          </a:xfrm>
          <a:prstGeom prst="rect">
            <a:avLst/>
          </a:prstGeom>
          <a:noFill/>
        </p:spPr>
        <p:txBody>
          <a:bodyPr wrap="square" lIns="0" tIns="0" rIns="0" bIns="0" anchor="t">
            <a:spAutoFit/>
          </a:bodyPr>
          <a:lstStyle/>
          <a:p>
            <a:pPr marL="0" indent="0" algn="l">
              <a:buNone/>
            </a:pPr>
            <a:r>
              <a:rPr sz="1200" b="1">
                <a:solidFill>
                  <a:srgbClr val="00D4FF"/>
                </a:solidFill>
                <a:latin typeface="Arial" panose="020B0604020202020204"/>
                <a:ea typeface="Arial" panose="020B0604020202020204"/>
                <a:cs typeface="Arial" panose="020B0604020202020204"/>
              </a:rPr>
              <a:t>Use Linux tools to identify, inspect, and decode hidden data.</a:t>
            </a:r>
            <a:endParaRPr sz="1200"/>
          </a:p>
        </p:txBody>
      </p:sp>
      <p:sp>
        <p:nvSpPr>
          <p:cNvPr id="14" name="Text 8"/>
          <p:cNvSpPr>
            <a:spLocks noGrp="1"/>
          </p:cNvSpPr>
          <p:nvPr/>
        </p:nvSpPr>
        <p:spPr>
          <a:xfrm>
            <a:off x="6657975" y="2958555"/>
            <a:ext cx="167640" cy="184150"/>
          </a:xfrm>
          <a:prstGeom prst="rect">
            <a:avLst/>
          </a:prstGeom>
          <a:noFill/>
        </p:spPr>
        <p:txBody>
          <a:bodyPr wrap="none" lIns="0" tIns="0" rIns="0" bIns="0" anchor="t">
            <a:spAutoFit/>
          </a:bodyPr>
          <a:lstStyle/>
          <a:p>
            <a:pPr marL="0" indent="0" algn="l">
              <a:buNone/>
            </a:pPr>
            <a:r>
              <a:rPr sz="1200" b="1">
                <a:solidFill>
                  <a:srgbClr val="00D4FF"/>
                </a:solidFill>
                <a:latin typeface="Consolas" panose="020B0609020204030204"/>
                <a:ea typeface="Consolas" panose="020B0609020204030204"/>
                <a:cs typeface="Consolas" panose="020B0609020204030204"/>
              </a:rPr>
              <a:t>01</a:t>
            </a:r>
            <a:endParaRPr sz="1200"/>
          </a:p>
        </p:txBody>
      </p:sp>
      <p:sp>
        <p:nvSpPr>
          <p:cNvPr id="15" name="Text 9"/>
          <p:cNvSpPr>
            <a:spLocks noGrp="1"/>
          </p:cNvSpPr>
          <p:nvPr/>
        </p:nvSpPr>
        <p:spPr>
          <a:xfrm>
            <a:off x="7096125" y="2939057"/>
            <a:ext cx="3571240" cy="201930"/>
          </a:xfrm>
          <a:prstGeom prst="rect">
            <a:avLst/>
          </a:prstGeom>
          <a:noFill/>
        </p:spPr>
        <p:txBody>
          <a:bodyPr wrap="none" lIns="0" tIns="0" rIns="0" bIns="0" anchor="t">
            <a:spAutoFit/>
          </a:bodyPr>
          <a:lstStyle/>
          <a:p>
            <a:pPr marL="0" indent="0" algn="l">
              <a:lnSpc>
                <a:spcPct val="98000"/>
              </a:lnSpc>
              <a:buNone/>
            </a:pPr>
            <a:r>
              <a:rPr sz="1335" b="1">
                <a:solidFill>
                  <a:srgbClr val="E1E9F2"/>
                </a:solidFill>
                <a:latin typeface="Arial" panose="020B0604020202020204"/>
                <a:ea typeface="Arial" panose="020B0604020202020204"/>
                <a:cs typeface="Arial" panose="020B0604020202020204"/>
              </a:rPr>
              <a:t>Run file * before opening anything.</a:t>
            </a:r>
            <a:endParaRPr sz="1335"/>
          </a:p>
        </p:txBody>
      </p:sp>
      <p:sp>
        <p:nvSpPr>
          <p:cNvPr id="16" name="Text 10"/>
          <p:cNvSpPr>
            <a:spLocks noGrp="1"/>
          </p:cNvSpPr>
          <p:nvPr/>
        </p:nvSpPr>
        <p:spPr>
          <a:xfrm>
            <a:off x="6657975" y="3720555"/>
            <a:ext cx="167640" cy="184150"/>
          </a:xfrm>
          <a:prstGeom prst="rect">
            <a:avLst/>
          </a:prstGeom>
          <a:noFill/>
        </p:spPr>
        <p:txBody>
          <a:bodyPr wrap="none" lIns="0" tIns="0" rIns="0" bIns="0" anchor="t">
            <a:spAutoFit/>
          </a:bodyPr>
          <a:lstStyle/>
          <a:p>
            <a:pPr marL="0" indent="0" algn="l">
              <a:buNone/>
            </a:pPr>
            <a:r>
              <a:rPr sz="1200" b="1">
                <a:solidFill>
                  <a:srgbClr val="00D4FF"/>
                </a:solidFill>
                <a:latin typeface="Consolas" panose="020B0609020204030204"/>
                <a:ea typeface="Consolas" panose="020B0609020204030204"/>
                <a:cs typeface="Consolas" panose="020B0609020204030204"/>
              </a:rPr>
              <a:t>02</a:t>
            </a:r>
            <a:endParaRPr sz="1200"/>
          </a:p>
        </p:txBody>
      </p:sp>
      <p:sp>
        <p:nvSpPr>
          <p:cNvPr id="17" name="Text 11"/>
          <p:cNvSpPr>
            <a:spLocks noGrp="1"/>
          </p:cNvSpPr>
          <p:nvPr/>
        </p:nvSpPr>
        <p:spPr>
          <a:xfrm>
            <a:off x="7096125" y="3701057"/>
            <a:ext cx="2406650" cy="201930"/>
          </a:xfrm>
          <a:prstGeom prst="rect">
            <a:avLst/>
          </a:prstGeom>
          <a:noFill/>
        </p:spPr>
        <p:txBody>
          <a:bodyPr wrap="none" lIns="0" tIns="0" rIns="0" bIns="0" anchor="t">
            <a:spAutoFit/>
          </a:bodyPr>
          <a:lstStyle/>
          <a:p>
            <a:pPr marL="0" indent="0" algn="l">
              <a:lnSpc>
                <a:spcPct val="98000"/>
              </a:lnSpc>
              <a:buNone/>
            </a:pPr>
            <a:r>
              <a:rPr sz="1335" b="1">
                <a:solidFill>
                  <a:srgbClr val="E1E9F2"/>
                </a:solidFill>
                <a:latin typeface="Arial" panose="020B0604020202020204"/>
                <a:ea typeface="Arial" panose="020B0604020202020204"/>
                <a:cs typeface="Arial" panose="020B0604020202020204"/>
              </a:rPr>
              <a:t>Use strings and grep to search readable clues.</a:t>
            </a:r>
            <a:endParaRPr sz="1335"/>
          </a:p>
        </p:txBody>
      </p:sp>
      <p:sp>
        <p:nvSpPr>
          <p:cNvPr id="18" name="Text 12"/>
          <p:cNvSpPr>
            <a:spLocks noGrp="1"/>
          </p:cNvSpPr>
          <p:nvPr/>
        </p:nvSpPr>
        <p:spPr>
          <a:xfrm>
            <a:off x="6657975" y="4482555"/>
            <a:ext cx="167640" cy="184150"/>
          </a:xfrm>
          <a:prstGeom prst="rect">
            <a:avLst/>
          </a:prstGeom>
          <a:noFill/>
        </p:spPr>
        <p:txBody>
          <a:bodyPr wrap="none" lIns="0" tIns="0" rIns="0" bIns="0" anchor="t">
            <a:spAutoFit/>
          </a:bodyPr>
          <a:lstStyle/>
          <a:p>
            <a:pPr marL="0" indent="0" algn="l">
              <a:buNone/>
            </a:pPr>
            <a:r>
              <a:rPr sz="1200" b="1">
                <a:solidFill>
                  <a:srgbClr val="00D4FF"/>
                </a:solidFill>
                <a:latin typeface="Consolas" panose="020B0609020204030204"/>
                <a:ea typeface="Consolas" panose="020B0609020204030204"/>
                <a:cs typeface="Consolas" panose="020B0609020204030204"/>
              </a:rPr>
              <a:t>03</a:t>
            </a:r>
            <a:endParaRPr sz="1200"/>
          </a:p>
        </p:txBody>
      </p:sp>
      <p:sp>
        <p:nvSpPr>
          <p:cNvPr id="19" name="Text 13"/>
          <p:cNvSpPr>
            <a:spLocks noGrp="1"/>
          </p:cNvSpPr>
          <p:nvPr/>
        </p:nvSpPr>
        <p:spPr>
          <a:xfrm>
            <a:off x="7096125" y="4345931"/>
            <a:ext cx="4124325" cy="398770"/>
          </a:xfrm>
          <a:prstGeom prst="rect">
            <a:avLst/>
          </a:prstGeom>
          <a:noFill/>
        </p:spPr>
        <p:txBody>
          <a:bodyPr wrap="square" lIns="0" tIns="0" rIns="0" bIns="0" anchor="t">
            <a:spAutoFit/>
          </a:bodyPr>
          <a:lstStyle/>
          <a:p>
            <a:pPr marL="0" indent="0" algn="l">
              <a:lnSpc>
                <a:spcPct val="98000"/>
              </a:lnSpc>
              <a:buNone/>
            </a:pPr>
            <a:r>
              <a:rPr sz="1335" b="1">
                <a:solidFill>
                  <a:srgbClr val="E1E9F2"/>
                </a:solidFill>
                <a:latin typeface="Arial" panose="020B0604020202020204"/>
                <a:ea typeface="Arial" panose="020B0604020202020204"/>
                <a:cs typeface="Arial" panose="020B0604020202020204"/>
              </a:rPr>
              <a:t>Use xxd to inspect bytes; hash evidence before and after.</a:t>
            </a:r>
            <a:endParaRPr sz="1335"/>
          </a:p>
        </p:txBody>
      </p:sp>
      <p:sp>
        <p:nvSpPr>
          <p:cNvPr id="20" name="Shape 14"/>
          <p:cNvSpPr>
            <a:spLocks noGrp="1"/>
          </p:cNvSpPr>
          <p:nvPr/>
        </p:nvSpPr>
        <p:spPr>
          <a:xfrm>
            <a:off x="723900" y="6191251"/>
            <a:ext cx="10744200" cy="666751"/>
          </a:xfrm>
          <a:prstGeom prst="rect">
            <a:avLst/>
          </a:prstGeom>
          <a:solidFill>
            <a:srgbClr val="000000">
              <a:alpha val="0"/>
            </a:srgbClr>
          </a:solidFill>
        </p:spPr>
      </p:sp>
      <p:sp>
        <p:nvSpPr>
          <p:cNvPr id="21" name="Shape 15"/>
          <p:cNvSpPr>
            <a:spLocks noGrp="1"/>
          </p:cNvSpPr>
          <p:nvPr/>
        </p:nvSpPr>
        <p:spPr>
          <a:xfrm>
            <a:off x="723900" y="6191251"/>
            <a:ext cx="10744200" cy="9525"/>
          </a:xfrm>
          <a:prstGeom prst="rect">
            <a:avLst/>
          </a:prstGeom>
          <a:solidFill>
            <a:srgbClr val="FFFFFF"/>
          </a:solidFill>
        </p:spPr>
      </p:sp>
      <p:sp>
        <p:nvSpPr>
          <p:cNvPr id="22" name="Text 16"/>
          <p:cNvSpPr>
            <a:spLocks noGrp="1"/>
          </p:cNvSpPr>
          <p:nvPr/>
        </p:nvSpPr>
        <p:spPr>
          <a:xfrm>
            <a:off x="723900" y="6362700"/>
            <a:ext cx="2625775" cy="324612"/>
          </a:xfrm>
          <a:prstGeom prst="rect">
            <a:avLst/>
          </a:prstGeom>
          <a:noFill/>
        </p:spPr>
        <p:txBody>
          <a:bodyPr wrap="square" lIns="0" tIns="0" rIns="0" bIns="0" anchor="t">
            <a:spAutoFit/>
          </a:bodyPr>
          <a:lstStyle/>
          <a:p>
            <a:pPr marL="0" indent="0" algn="l">
              <a:buNone/>
            </a:pPr>
            <a:r>
              <a:rPr sz="1065" b="1">
                <a:solidFill>
                  <a:srgbClr val="00D4FF"/>
                </a:solidFill>
                <a:latin typeface="Arial" panose="020B0604020202020204"/>
                <a:ea typeface="Arial" panose="020B0604020202020204"/>
                <a:cs typeface="Arial" panose="020B0604020202020204"/>
              </a:rPr>
              <a:t>RULE: Preserve the evidence. Record every command.</a:t>
            </a:r>
            <a:endParaRPr sz="1065"/>
          </a:p>
        </p:txBody>
      </p:sp>
      <p:sp>
        <p:nvSpPr>
          <p:cNvPr id="23" name="Text 17"/>
          <p:cNvSpPr>
            <a:spLocks noGrp="1"/>
          </p:cNvSpPr>
          <p:nvPr/>
        </p:nvSpPr>
        <p:spPr>
          <a:xfrm>
            <a:off x="10874797" y="6362700"/>
            <a:ext cx="564515" cy="153670"/>
          </a:xfrm>
          <a:prstGeom prst="rect">
            <a:avLst/>
          </a:prstGeom>
          <a:noFill/>
        </p:spPr>
        <p:txBody>
          <a:bodyPr wrap="none" lIns="0" tIns="0"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0:58–1:18</a:t>
            </a:r>
            <a:endParaRPr sz="1000"/>
          </a:p>
        </p:txBody>
      </p:sp>
      <p:pic>
        <p:nvPicPr>
          <p:cNvPr id="53" name="Picture 1"/>
          <p:cNvPicPr>
            <a:picLocks noChangeAspect="1"/>
          </p:cNvPicPr>
          <p:nvPr/>
        </p:nvPicPr>
        <p:blipFill>
          <a:blip r:embed="rId4"/>
          <a:stretch>
            <a:fillRect/>
          </a:stretch>
        </p:blipFill>
        <p:spPr>
          <a:xfrm>
            <a:off x="704850" y="1562100"/>
            <a:ext cx="5648960" cy="3105150"/>
          </a:xfrm>
          <a:prstGeom prst="rect">
            <a:avLst/>
          </a:prstGeom>
        </p:spPr>
      </p:pic>
      <p:sp>
        <p:nvSpPr>
          <p:cNvPr id="28" name="Rounded Rectangle 27"/>
          <p:cNvSpPr>
            <a:spLocks noGrp="1"/>
          </p:cNvSpPr>
          <p:nvPr/>
        </p:nvSpPr>
        <p:spPr>
          <a:xfrm>
            <a:off x="704850" y="1562100"/>
            <a:ext cx="5648325" cy="3105150"/>
          </a:xfrm>
          <a:prstGeom prst="roundRect">
            <a:avLst>
              <a:gd name="adj" fmla="val 2454"/>
            </a:avLst>
          </a:prstGeom>
          <a:solidFill>
            <a:srgbClr val="050D15"/>
          </a:solidFill>
          <a:ln w="14288">
            <a:solidFill>
              <a:srgbClr val="16D9FF"/>
            </a:solidFill>
            <a:prstDash val="solid"/>
          </a:ln>
        </p:spPr>
      </p:sp>
      <p:sp>
        <p:nvSpPr>
          <p:cNvPr id="29" name="Rectangles 28"/>
          <p:cNvSpPr>
            <a:spLocks noGrp="1"/>
          </p:cNvSpPr>
          <p:nvPr/>
        </p:nvSpPr>
        <p:spPr>
          <a:xfrm>
            <a:off x="914400" y="1704975"/>
            <a:ext cx="4191000" cy="238125"/>
          </a:xfrm>
          <a:prstGeom prst="rect">
            <a:avLst/>
          </a:prstGeom>
          <a:noFill/>
          <a:ln w="0">
            <a:noFill/>
          </a:ln>
        </p:spPr>
        <p:txBody>
          <a:bodyPr anchor="ctr"/>
          <a:lstStyle/>
          <a:p>
            <a:pPr algn="l">
              <a:defRPr sz="975" b="1">
                <a:solidFill>
                  <a:srgbClr val="21DDF5"/>
                </a:solidFill>
                <a:latin typeface="Consolas" panose="020B0609020204030204"/>
                <a:ea typeface="Consolas" panose="020B0609020204030204"/>
                <a:cs typeface="Consolas" panose="020B0609020204030204"/>
              </a:defRPr>
            </a:pPr>
            <a:r>
              <a:rPr sz="975" b="1">
                <a:solidFill>
                  <a:srgbClr val="21DDF5"/>
                </a:solidFill>
                <a:latin typeface="Consolas" panose="020B0609020204030204"/>
                <a:ea typeface="Consolas" panose="020B0609020204030204"/>
                <a:cs typeface="Consolas" panose="020B0609020204030204"/>
              </a:rPr>
              <a:t>student@lab:~/class3_evidence</a:t>
            </a:r>
            <a:endParaRPr sz="975" b="1">
              <a:solidFill>
                <a:srgbClr val="21DDF5"/>
              </a:solidFill>
              <a:latin typeface="Consolas" panose="020B0609020204030204"/>
              <a:ea typeface="Consolas" panose="020B0609020204030204"/>
              <a:cs typeface="Consolas" panose="020B0609020204030204"/>
            </a:endParaRPr>
          </a:p>
        </p:txBody>
      </p:sp>
      <p:sp>
        <p:nvSpPr>
          <p:cNvPr id="30" name="Rectangles 29"/>
          <p:cNvSpPr>
            <a:spLocks noGrp="1"/>
          </p:cNvSpPr>
          <p:nvPr/>
        </p:nvSpPr>
        <p:spPr>
          <a:xfrm>
            <a:off x="914400" y="2095500"/>
            <a:ext cx="4953000" cy="1809750"/>
          </a:xfrm>
          <a:prstGeom prst="rect">
            <a:avLst/>
          </a:prstGeom>
          <a:noFill/>
          <a:ln w="0">
            <a:noFill/>
          </a:ln>
        </p:spPr>
        <p:txBody>
          <a:bodyPr anchor="ctr"/>
          <a:lstStyle/>
          <a:p>
            <a:pPr algn="l">
              <a:defRPr sz="1125" b="0">
                <a:solidFill>
                  <a:srgbClr val="D7E8F4"/>
                </a:solidFill>
                <a:latin typeface="Consolas" panose="020B0609020204030204"/>
                <a:ea typeface="Consolas" panose="020B0609020204030204"/>
                <a:cs typeface="Consolas" panose="020B0609020204030204"/>
              </a:defRPr>
            </a:pPr>
            <a:r>
              <a:rPr sz="1125" b="0">
                <a:solidFill>
                  <a:srgbClr val="D7E8F4"/>
                </a:solidFill>
                <a:latin typeface="Consolas" panose="020B0609020204030204"/>
                <a:ea typeface="Consolas" panose="020B0609020204030204"/>
                <a:cs typeface="Consolas" panose="020B0609020204030204"/>
              </a:rPr>
              <a:t>$ sha256sum evidence.dat</a:t>
            </a:r>
            <a:endParaRPr sz="1125" b="0">
              <a:solidFill>
                <a:srgbClr val="D7E8F4"/>
              </a:solidFill>
              <a:latin typeface="Consolas" panose="020B0609020204030204"/>
              <a:ea typeface="Consolas" panose="020B0609020204030204"/>
              <a:cs typeface="Consolas" panose="020B0609020204030204"/>
            </a:endParaRPr>
          </a:p>
          <a:p>
            <a:pPr algn="l">
              <a:defRPr sz="1125" b="0">
                <a:solidFill>
                  <a:srgbClr val="D7E8F4"/>
                </a:solidFill>
                <a:latin typeface="Consolas" panose="020B0609020204030204"/>
                <a:ea typeface="Consolas" panose="020B0609020204030204"/>
                <a:cs typeface="Consolas" panose="020B0609020204030204"/>
              </a:defRPr>
            </a:pPr>
            <a:r>
              <a:rPr sz="1125" b="0">
                <a:solidFill>
                  <a:srgbClr val="D7E8F4"/>
                </a:solidFill>
                <a:latin typeface="Consolas" panose="020B0609020204030204"/>
                <a:ea typeface="Consolas" panose="020B0609020204030204"/>
                <a:cs typeface="Consolas" panose="020B0609020204030204"/>
              </a:rPr>
              <a:t>$ file *</a:t>
            </a:r>
            <a:endParaRPr sz="1125" b="0">
              <a:solidFill>
                <a:srgbClr val="D7E8F4"/>
              </a:solidFill>
              <a:latin typeface="Consolas" panose="020B0609020204030204"/>
              <a:ea typeface="Consolas" panose="020B0609020204030204"/>
              <a:cs typeface="Consolas" panose="020B0609020204030204"/>
            </a:endParaRPr>
          </a:p>
          <a:p>
            <a:pPr algn="l">
              <a:defRPr sz="1125" b="0">
                <a:solidFill>
                  <a:srgbClr val="D7E8F4"/>
                </a:solidFill>
                <a:latin typeface="Consolas" panose="020B0609020204030204"/>
                <a:ea typeface="Consolas" panose="020B0609020204030204"/>
                <a:cs typeface="Consolas" panose="020B0609020204030204"/>
              </a:defRPr>
            </a:pPr>
            <a:r>
              <a:rPr sz="1125" b="0">
                <a:solidFill>
                  <a:srgbClr val="D7E8F4"/>
                </a:solidFill>
                <a:latin typeface="Consolas" panose="020B0609020204030204"/>
                <a:ea typeface="Consolas" panose="020B0609020204030204"/>
                <a:cs typeface="Consolas" panose="020B0609020204030204"/>
              </a:rPr>
              <a:t>$ strings evidence.dat | grep -i flag</a:t>
            </a:r>
            <a:endParaRPr sz="1125" b="0">
              <a:solidFill>
                <a:srgbClr val="D7E8F4"/>
              </a:solidFill>
              <a:latin typeface="Consolas" panose="020B0609020204030204"/>
              <a:ea typeface="Consolas" panose="020B0609020204030204"/>
              <a:cs typeface="Consolas" panose="020B0609020204030204"/>
            </a:endParaRPr>
          </a:p>
          <a:p>
            <a:pPr algn="l">
              <a:defRPr sz="1125" b="0">
                <a:solidFill>
                  <a:srgbClr val="D7E8F4"/>
                </a:solidFill>
                <a:latin typeface="Consolas" panose="020B0609020204030204"/>
                <a:ea typeface="Consolas" panose="020B0609020204030204"/>
                <a:cs typeface="Consolas" panose="020B0609020204030204"/>
              </a:defRPr>
            </a:pPr>
            <a:r>
              <a:rPr sz="1125" b="0">
                <a:solidFill>
                  <a:srgbClr val="D7E8F4"/>
                </a:solidFill>
                <a:latin typeface="Consolas" panose="020B0609020204030204"/>
                <a:ea typeface="Consolas" panose="020B0609020204030204"/>
                <a:cs typeface="Consolas" panose="020B0609020204030204"/>
              </a:rPr>
              <a:t>$ xxd clue.txt</a:t>
            </a:r>
            <a:endParaRPr sz="1125" b="0">
              <a:solidFill>
                <a:srgbClr val="D7E8F4"/>
              </a:solidFill>
              <a:latin typeface="Consolas" panose="020B0609020204030204"/>
              <a:ea typeface="Consolas" panose="020B0609020204030204"/>
              <a:cs typeface="Consolas" panose="020B0609020204030204"/>
            </a:endParaRPr>
          </a:p>
          <a:p>
            <a:pPr algn="l">
              <a:defRPr sz="1125" b="0">
                <a:solidFill>
                  <a:srgbClr val="D7E8F4"/>
                </a:solidFill>
                <a:latin typeface="Consolas" panose="020B0609020204030204"/>
                <a:ea typeface="Consolas" panose="020B0609020204030204"/>
                <a:cs typeface="Consolas" panose="020B0609020204030204"/>
              </a:defRPr>
            </a:pPr>
            <a:r>
              <a:rPr sz="1125" b="0">
                <a:solidFill>
                  <a:srgbClr val="D7E8F4"/>
                </a:solidFill>
                <a:latin typeface="Consolas" panose="020B0609020204030204"/>
                <a:ea typeface="Consolas" panose="020B0609020204030204"/>
                <a:cs typeface="Consolas" panose="020B0609020204030204"/>
              </a:rPr>
              <a:t>$ printf '%s' '46495245' | xxd -r -p</a:t>
            </a:r>
            <a:endParaRPr sz="1125" b="0">
              <a:solidFill>
                <a:srgbClr val="D7E8F4"/>
              </a:solidFill>
              <a:latin typeface="Consolas" panose="020B0609020204030204"/>
              <a:ea typeface="Consolas" panose="020B0609020204030204"/>
              <a:cs typeface="Consolas" panose="020B0609020204030204"/>
            </a:endParaRPr>
          </a:p>
        </p:txBody>
      </p:sp>
      <p:sp>
        <p:nvSpPr>
          <p:cNvPr id="31" name="Rectangles 30"/>
          <p:cNvSpPr>
            <a:spLocks noGrp="1"/>
          </p:cNvSpPr>
          <p:nvPr/>
        </p:nvSpPr>
        <p:spPr>
          <a:xfrm>
            <a:off x="914400" y="4114800"/>
            <a:ext cx="4953000" cy="266700"/>
          </a:xfrm>
          <a:prstGeom prst="rect">
            <a:avLst/>
          </a:prstGeom>
          <a:noFill/>
          <a:ln w="0">
            <a:noFill/>
          </a:ln>
        </p:spPr>
        <p:txBody>
          <a:bodyPr anchor="ctr"/>
          <a:lstStyle/>
          <a:p>
            <a:pPr algn="ctr">
              <a:defRPr sz="975" b="1">
                <a:solidFill>
                  <a:srgbClr val="FF7A1A"/>
                </a:solidFill>
                <a:latin typeface="Arial" panose="020B0604020202020204"/>
                <a:ea typeface="Arial" panose="020B0604020202020204"/>
                <a:cs typeface="Arial" panose="020B0604020202020204"/>
              </a:defRPr>
            </a:pPr>
            <a:r>
              <a:rPr sz="975" b="1">
                <a:solidFill>
                  <a:srgbClr val="FF7A1A"/>
                </a:solidFill>
                <a:latin typeface="Arial" panose="020B0604020202020204"/>
                <a:ea typeface="Arial" panose="020B0604020202020204"/>
                <a:cs typeface="Arial" panose="020B0604020202020204"/>
              </a:rPr>
              <a:t>IDENTIFY → INSPECT → DECODE → VERIFY</a:t>
            </a:r>
            <a:endParaRPr sz="975" b="1">
              <a:solidFill>
                <a:srgbClr val="FF7A1A"/>
              </a:solidFill>
              <a:latin typeface="Arial" panose="020B0604020202020204"/>
              <a:ea typeface="Arial" panose="020B0604020202020204"/>
              <a:cs typeface="Arial" panose="020B060402020202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6"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29" name="Image 1"/>
          <p:cNvPicPr>
            <a:picLocks noChangeAspect="1"/>
          </p:cNvPicPr>
          <p:nvPr/>
        </p:nvPicPr>
        <p:blipFill>
          <a:blip r:embed="rId2"/>
          <a:stretch>
            <a:fillRect/>
          </a:stretch>
        </p:blipFill>
        <p:spPr>
          <a:xfrm>
            <a:off x="723900" y="190500"/>
            <a:ext cx="590551" cy="590551"/>
          </a:xfrm>
          <a:prstGeom prst="rect">
            <a:avLst/>
          </a:prstGeom>
        </p:spPr>
      </p:pic>
      <p:pic>
        <p:nvPicPr>
          <p:cNvPr id="30"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1066800" y="1762125"/>
            <a:ext cx="4471988" cy="144145"/>
          </a:xfrm>
          <a:prstGeom prst="rect">
            <a:avLst/>
          </a:prstGeom>
          <a:noFill/>
        </p:spPr>
        <p:txBody>
          <a:bodyPr wrap="square" lIns="0" tIns="0" rIns="0" bIns="0" anchor="t">
            <a:spAutoFit/>
          </a:bodyPr>
          <a:lstStyle/>
          <a:p>
            <a:pPr marL="0" indent="0" algn="l">
              <a:buNone/>
            </a:pPr>
            <a:r>
              <a:rPr sz="935" b="1" spc="3">
                <a:solidFill>
                  <a:srgbClr val="FF6B1A"/>
                </a:solidFill>
                <a:latin typeface="Arial" panose="020B0604020202020204"/>
                <a:ea typeface="Arial" panose="020B0604020202020204"/>
                <a:cs typeface="Arial" panose="020B0604020202020204"/>
              </a:rPr>
              <a:t>STRETCH CHALLENGE</a:t>
            </a:r>
            <a:endParaRPr sz="935"/>
          </a:p>
        </p:txBody>
      </p:sp>
      <p:sp>
        <p:nvSpPr>
          <p:cNvPr id="9" name="Text 3"/>
          <p:cNvSpPr>
            <a:spLocks noGrp="1"/>
          </p:cNvSpPr>
          <p:nvPr/>
        </p:nvSpPr>
        <p:spPr>
          <a:xfrm>
            <a:off x="1066800" y="2085975"/>
            <a:ext cx="4471988" cy="925830"/>
          </a:xfrm>
          <a:prstGeom prst="rect">
            <a:avLst/>
          </a:prstGeom>
          <a:noFill/>
        </p:spPr>
        <p:txBody>
          <a:bodyPr wrap="square" lIns="0" tIns="0" rIns="0" bIns="0" anchor="t">
            <a:spAutoFit/>
          </a:bodyPr>
          <a:lstStyle/>
          <a:p>
            <a:pPr marL="0" indent="0" algn="l">
              <a:lnSpc>
                <a:spcPct val="82000"/>
              </a:lnSpc>
              <a:buNone/>
            </a:pPr>
            <a:r>
              <a:rPr sz="3665" b="1" spc="-2">
                <a:solidFill>
                  <a:srgbClr val="FFFFFF"/>
                </a:solidFill>
                <a:latin typeface="Consolas" panose="020B0609020204030204"/>
                <a:ea typeface="Consolas" panose="020B0609020204030204"/>
                <a:cs typeface="Consolas" panose="020B0609020204030204"/>
              </a:rPr>
              <a:t>LAYER</a:t>
            </a:r>
            <a:endParaRPr sz="3665"/>
          </a:p>
          <a:p>
            <a:pPr marL="0" indent="0" algn="l">
              <a:lnSpc>
                <a:spcPct val="82000"/>
              </a:lnSpc>
              <a:buNone/>
            </a:pPr>
            <a:r>
              <a:rPr sz="3665" b="1" spc="-2">
                <a:solidFill>
                  <a:srgbClr val="FFFFFF"/>
                </a:solidFill>
                <a:latin typeface="Consolas" panose="020B0609020204030204"/>
                <a:ea typeface="Consolas" panose="020B0609020204030204"/>
                <a:cs typeface="Consolas" panose="020B0609020204030204"/>
              </a:rPr>
              <a:t>CAKE</a:t>
            </a:r>
            <a:endParaRPr sz="3665"/>
          </a:p>
        </p:txBody>
      </p:sp>
      <p:sp>
        <p:nvSpPr>
          <p:cNvPr id="10" name="Text 4"/>
          <p:cNvSpPr>
            <a:spLocks noGrp="1"/>
          </p:cNvSpPr>
          <p:nvPr/>
        </p:nvSpPr>
        <p:spPr>
          <a:xfrm>
            <a:off x="1066800" y="3316188"/>
            <a:ext cx="4471988" cy="215265"/>
          </a:xfrm>
          <a:prstGeom prst="rect">
            <a:avLst/>
          </a:prstGeom>
          <a:noFill/>
        </p:spPr>
        <p:txBody>
          <a:bodyPr wrap="square" lIns="0" tIns="0" rIns="0" bIns="0" anchor="t">
            <a:spAutoFit/>
          </a:bodyPr>
          <a:lstStyle/>
          <a:p>
            <a:pPr marL="0" indent="0" algn="l">
              <a:buNone/>
            </a:pPr>
            <a:r>
              <a:rPr sz="1400" b="1">
                <a:solidFill>
                  <a:srgbClr val="00D4FF"/>
                </a:solidFill>
                <a:latin typeface="Arial" panose="020B0604020202020204"/>
                <a:ea typeface="Arial" panose="020B0604020202020204"/>
                <a:cs typeface="Arial" panose="020B0604020202020204"/>
              </a:rPr>
              <a:t>Finished early? Decode all three layers.</a:t>
            </a:r>
            <a:endParaRPr sz="1400"/>
          </a:p>
        </p:txBody>
      </p:sp>
      <p:sp>
        <p:nvSpPr>
          <p:cNvPr id="11" name="Text 5"/>
          <p:cNvSpPr>
            <a:spLocks noGrp="1"/>
          </p:cNvSpPr>
          <p:nvPr/>
        </p:nvSpPr>
        <p:spPr>
          <a:xfrm>
            <a:off x="1066800" y="4059139"/>
            <a:ext cx="3590925" cy="716915"/>
          </a:xfrm>
          <a:prstGeom prst="rect">
            <a:avLst/>
          </a:prstGeom>
          <a:noFill/>
        </p:spPr>
        <p:txBody>
          <a:bodyPr wrap="square" lIns="0" tIns="0" rIns="0" bIns="0" anchor="t">
            <a:spAutoFit/>
          </a:bodyPr>
          <a:lstStyle/>
          <a:p>
            <a:pPr marL="0" indent="0" algn="l">
              <a:lnSpc>
                <a:spcPct val="116000"/>
              </a:lnSpc>
              <a:buNone/>
            </a:pPr>
            <a:r>
              <a:rPr sz="1335">
                <a:solidFill>
                  <a:srgbClr val="AAB5C6"/>
                </a:solidFill>
                <a:latin typeface="Arial" panose="020B0604020202020204"/>
                <a:ea typeface="Arial" panose="020B0604020202020204"/>
                <a:cs typeface="Arial" panose="020B0604020202020204"/>
              </a:rPr>
              <a:t>A single clue has been transformed more than once. Identify the outer layer, decode it, then repeat until the flag appears.</a:t>
            </a:r>
            <a:endParaRPr sz="1335"/>
          </a:p>
        </p:txBody>
      </p:sp>
      <p:sp>
        <p:nvSpPr>
          <p:cNvPr id="12" name="Text 6"/>
          <p:cNvSpPr>
            <a:spLocks noGrp="1"/>
          </p:cNvSpPr>
          <p:nvPr/>
        </p:nvSpPr>
        <p:spPr>
          <a:xfrm>
            <a:off x="6653212" y="2188369"/>
            <a:ext cx="186690" cy="205740"/>
          </a:xfrm>
          <a:prstGeom prst="rect">
            <a:avLst/>
          </a:prstGeom>
          <a:noFill/>
        </p:spPr>
        <p:txBody>
          <a:bodyPr wrap="none" lIns="0" tIns="0" rIns="0" bIns="0" anchor="t">
            <a:spAutoFit/>
          </a:bodyPr>
          <a:lstStyle/>
          <a:p>
            <a:pPr marL="0" indent="0" algn="l">
              <a:buNone/>
            </a:pPr>
            <a:r>
              <a:rPr sz="1335" b="1">
                <a:solidFill>
                  <a:srgbClr val="00D4FF"/>
                </a:solidFill>
                <a:latin typeface="Consolas" panose="020B0609020204030204"/>
                <a:ea typeface="Consolas" panose="020B0609020204030204"/>
                <a:cs typeface="Consolas" panose="020B0609020204030204"/>
              </a:rPr>
              <a:t>01</a:t>
            </a:r>
            <a:endParaRPr sz="1335"/>
          </a:p>
        </p:txBody>
      </p:sp>
      <p:sp>
        <p:nvSpPr>
          <p:cNvPr id="13" name="Text 7"/>
          <p:cNvSpPr>
            <a:spLocks noGrp="1"/>
          </p:cNvSpPr>
          <p:nvPr/>
        </p:nvSpPr>
        <p:spPr>
          <a:xfrm>
            <a:off x="7177088" y="2033588"/>
            <a:ext cx="3948112" cy="225425"/>
          </a:xfrm>
          <a:prstGeom prst="rect">
            <a:avLst/>
          </a:prstGeom>
          <a:noFill/>
        </p:spPr>
        <p:txBody>
          <a:bodyPr wrap="square" lIns="0" tIns="0" rIns="0" bIns="0" anchor="t">
            <a:spAutoFit/>
          </a:bodyPr>
          <a:lstStyle/>
          <a:p>
            <a:pPr marL="0" indent="0" algn="l">
              <a:lnSpc>
                <a:spcPct val="100000"/>
              </a:lnSpc>
              <a:buNone/>
            </a:pPr>
            <a:r>
              <a:rPr sz="1465" b="1">
                <a:solidFill>
                  <a:srgbClr val="E4EBF3"/>
                </a:solidFill>
                <a:latin typeface="Arial" panose="020B0604020202020204"/>
                <a:ea typeface="Arial" panose="020B0604020202020204"/>
                <a:cs typeface="Arial" panose="020B0604020202020204"/>
              </a:rPr>
              <a:t>Start with the visible character pattern.</a:t>
            </a:r>
            <a:endParaRPr sz="1465"/>
          </a:p>
        </p:txBody>
      </p:sp>
      <p:sp>
        <p:nvSpPr>
          <p:cNvPr id="14" name="Text 8"/>
          <p:cNvSpPr>
            <a:spLocks noGrp="1"/>
          </p:cNvSpPr>
          <p:nvPr/>
        </p:nvSpPr>
        <p:spPr>
          <a:xfrm>
            <a:off x="6653212" y="3264693"/>
            <a:ext cx="186690" cy="205740"/>
          </a:xfrm>
          <a:prstGeom prst="rect">
            <a:avLst/>
          </a:prstGeom>
          <a:noFill/>
        </p:spPr>
        <p:txBody>
          <a:bodyPr wrap="none" lIns="0" tIns="0" rIns="0" bIns="0" anchor="t">
            <a:spAutoFit/>
          </a:bodyPr>
          <a:lstStyle/>
          <a:p>
            <a:pPr marL="0" indent="0" algn="l">
              <a:buNone/>
            </a:pPr>
            <a:r>
              <a:rPr sz="1335" b="1">
                <a:solidFill>
                  <a:srgbClr val="00D4FF"/>
                </a:solidFill>
                <a:latin typeface="Consolas" panose="020B0609020204030204"/>
                <a:ea typeface="Consolas" panose="020B0609020204030204"/>
                <a:cs typeface="Consolas" panose="020B0609020204030204"/>
              </a:rPr>
              <a:t>02</a:t>
            </a:r>
            <a:endParaRPr sz="1335"/>
          </a:p>
        </p:txBody>
      </p:sp>
      <p:sp>
        <p:nvSpPr>
          <p:cNvPr id="15" name="Text 9"/>
          <p:cNvSpPr>
            <a:spLocks noGrp="1"/>
          </p:cNvSpPr>
          <p:nvPr/>
        </p:nvSpPr>
        <p:spPr>
          <a:xfrm>
            <a:off x="7177088" y="3240881"/>
            <a:ext cx="3307080" cy="225425"/>
          </a:xfrm>
          <a:prstGeom prst="rect">
            <a:avLst/>
          </a:prstGeom>
          <a:noFill/>
        </p:spPr>
        <p:txBody>
          <a:bodyPr wrap="none" lIns="0" tIns="0" rIns="0" bIns="0" anchor="t">
            <a:spAutoFit/>
          </a:bodyPr>
          <a:lstStyle/>
          <a:p>
            <a:pPr marL="0" indent="0" algn="l">
              <a:lnSpc>
                <a:spcPct val="100000"/>
              </a:lnSpc>
              <a:buNone/>
            </a:pPr>
            <a:r>
              <a:rPr sz="1465" b="1">
                <a:solidFill>
                  <a:srgbClr val="E4EBF3"/>
                </a:solidFill>
                <a:latin typeface="Arial" panose="020B0604020202020204"/>
                <a:ea typeface="Arial" panose="020B0604020202020204"/>
                <a:cs typeface="Arial" panose="020B0604020202020204"/>
              </a:rPr>
              <a:t>Decode only one layer at a time.</a:t>
            </a:r>
            <a:endParaRPr sz="1465"/>
          </a:p>
        </p:txBody>
      </p:sp>
      <p:sp>
        <p:nvSpPr>
          <p:cNvPr id="16" name="Text 10"/>
          <p:cNvSpPr>
            <a:spLocks noGrp="1"/>
          </p:cNvSpPr>
          <p:nvPr/>
        </p:nvSpPr>
        <p:spPr>
          <a:xfrm>
            <a:off x="6653212" y="4336256"/>
            <a:ext cx="186690" cy="205740"/>
          </a:xfrm>
          <a:prstGeom prst="rect">
            <a:avLst/>
          </a:prstGeom>
          <a:noFill/>
        </p:spPr>
        <p:txBody>
          <a:bodyPr wrap="none" lIns="0" tIns="0" rIns="0" bIns="0" anchor="t">
            <a:spAutoFit/>
          </a:bodyPr>
          <a:lstStyle/>
          <a:p>
            <a:pPr marL="0" indent="0" algn="l">
              <a:buNone/>
            </a:pPr>
            <a:r>
              <a:rPr sz="1335" b="1">
                <a:solidFill>
                  <a:srgbClr val="00D4FF"/>
                </a:solidFill>
                <a:latin typeface="Consolas" panose="020B0609020204030204"/>
                <a:ea typeface="Consolas" panose="020B0609020204030204"/>
                <a:cs typeface="Consolas" panose="020B0609020204030204"/>
              </a:rPr>
              <a:t>03</a:t>
            </a:r>
            <a:endParaRPr sz="1335"/>
          </a:p>
        </p:txBody>
      </p:sp>
      <p:sp>
        <p:nvSpPr>
          <p:cNvPr id="17" name="Text 11"/>
          <p:cNvSpPr>
            <a:spLocks noGrp="1"/>
          </p:cNvSpPr>
          <p:nvPr/>
        </p:nvSpPr>
        <p:spPr>
          <a:xfrm>
            <a:off x="7177088" y="4181475"/>
            <a:ext cx="3948112" cy="450850"/>
          </a:xfrm>
          <a:prstGeom prst="rect">
            <a:avLst/>
          </a:prstGeom>
          <a:noFill/>
        </p:spPr>
        <p:txBody>
          <a:bodyPr wrap="square" lIns="0" tIns="0" rIns="0" bIns="0" anchor="t">
            <a:spAutoFit/>
          </a:bodyPr>
          <a:lstStyle/>
          <a:p>
            <a:pPr marL="0" indent="0" algn="l">
              <a:lnSpc>
                <a:spcPct val="100000"/>
              </a:lnSpc>
              <a:buNone/>
            </a:pPr>
            <a:r>
              <a:rPr sz="1465" b="1">
                <a:solidFill>
                  <a:srgbClr val="E4EBF3"/>
                </a:solidFill>
                <a:latin typeface="Arial" panose="020B0604020202020204"/>
                <a:ea typeface="Arial" panose="020B0604020202020204"/>
                <a:cs typeface="Arial" panose="020B0604020202020204"/>
              </a:rPr>
              <a:t>Write the complete recipe.</a:t>
            </a:r>
            <a:endParaRPr sz="1465"/>
          </a:p>
          <a:p>
            <a:pPr marL="0" indent="0" algn="l">
              <a:lnSpc>
                <a:spcPct val="100000"/>
              </a:lnSpc>
              <a:buNone/>
            </a:pPr>
            <a:r>
              <a:rPr sz="1465" b="1">
                <a:solidFill>
                  <a:srgbClr val="E4EBF3"/>
                </a:solidFill>
                <a:latin typeface="Arial" panose="020B0604020202020204"/>
                <a:ea typeface="Arial" panose="020B0604020202020204"/>
                <a:cs typeface="Arial" panose="020B0604020202020204"/>
              </a:rPr>
              <a:t>Every layer must be explained.</a:t>
            </a:r>
            <a:endParaRPr sz="1465"/>
          </a:p>
        </p:txBody>
      </p:sp>
      <p:sp>
        <p:nvSpPr>
          <p:cNvPr id="18" name="Shape 12"/>
          <p:cNvSpPr>
            <a:spLocks noGrp="1"/>
          </p:cNvSpPr>
          <p:nvPr/>
        </p:nvSpPr>
        <p:spPr>
          <a:xfrm>
            <a:off x="723900" y="6172200"/>
            <a:ext cx="10744200" cy="685800"/>
          </a:xfrm>
          <a:prstGeom prst="rect">
            <a:avLst/>
          </a:prstGeom>
          <a:solidFill>
            <a:srgbClr val="000000">
              <a:alpha val="0"/>
            </a:srgbClr>
          </a:solidFill>
        </p:spPr>
      </p:sp>
      <p:sp>
        <p:nvSpPr>
          <p:cNvPr id="19" name="Shape 13"/>
          <p:cNvSpPr>
            <a:spLocks noGrp="1"/>
          </p:cNvSpPr>
          <p:nvPr/>
        </p:nvSpPr>
        <p:spPr>
          <a:xfrm>
            <a:off x="723900" y="6172200"/>
            <a:ext cx="10744200" cy="9525"/>
          </a:xfrm>
          <a:prstGeom prst="rect">
            <a:avLst/>
          </a:prstGeom>
          <a:solidFill>
            <a:srgbClr val="FFFFFF"/>
          </a:solidFill>
        </p:spPr>
      </p:sp>
      <p:sp>
        <p:nvSpPr>
          <p:cNvPr id="20" name="Text 14"/>
          <p:cNvSpPr>
            <a:spLocks noGrp="1"/>
          </p:cNvSpPr>
          <p:nvPr/>
        </p:nvSpPr>
        <p:spPr>
          <a:xfrm>
            <a:off x="723900" y="6172200"/>
            <a:ext cx="10744200" cy="357505"/>
          </a:xfrm>
          <a:prstGeom prst="rect">
            <a:avLst/>
          </a:prstGeom>
          <a:noFill/>
        </p:spPr>
        <p:txBody>
          <a:bodyPr wrap="square" lIns="0" tIns="204046"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0:58–1:18</a:t>
            </a:r>
            <a:endParaRPr sz="1000"/>
          </a:p>
        </p:txBody>
      </p:sp>
      <p:sp>
        <p:nvSpPr>
          <p:cNvPr id="24" name="Rounded Rectangle 23"/>
          <p:cNvSpPr>
            <a:spLocks noGrp="1"/>
          </p:cNvSpPr>
          <p:nvPr/>
        </p:nvSpPr>
        <p:spPr>
          <a:xfrm>
            <a:off x="990600" y="4810125"/>
            <a:ext cx="4343400" cy="552450"/>
          </a:xfrm>
          <a:prstGeom prst="roundRect">
            <a:avLst>
              <a:gd name="adj" fmla="val 10345"/>
            </a:avLst>
          </a:prstGeom>
          <a:solidFill>
            <a:srgbClr val="081925"/>
          </a:solidFill>
          <a:ln w="9525">
            <a:solidFill>
              <a:srgbClr val="FF7A1A"/>
            </a:solidFill>
            <a:prstDash val="solid"/>
          </a:ln>
        </p:spPr>
      </p:sp>
      <p:sp>
        <p:nvSpPr>
          <p:cNvPr id="25" name="Rectangles 24"/>
          <p:cNvSpPr>
            <a:spLocks noGrp="1"/>
          </p:cNvSpPr>
          <p:nvPr/>
        </p:nvSpPr>
        <p:spPr>
          <a:xfrm>
            <a:off x="1123950" y="4886325"/>
            <a:ext cx="4076700" cy="400050"/>
          </a:xfrm>
          <a:prstGeom prst="rect">
            <a:avLst/>
          </a:prstGeom>
          <a:noFill/>
          <a:ln w="0">
            <a:noFill/>
          </a:ln>
        </p:spPr>
        <p:txBody>
          <a:bodyPr anchor="ctr"/>
          <a:lstStyle/>
          <a:p>
            <a:pPr algn="ctr">
              <a:defRPr sz="900" b="1">
                <a:solidFill>
                  <a:srgbClr val="21DDF5"/>
                </a:solidFill>
                <a:latin typeface="Consolas" panose="020B0609020204030204"/>
                <a:ea typeface="Consolas" panose="020B0609020204030204"/>
                <a:cs typeface="Consolas" panose="020B0609020204030204"/>
              </a:defRPr>
            </a:pPr>
            <a:r>
              <a:rPr sz="900" b="1">
                <a:solidFill>
                  <a:srgbClr val="21DDF5"/>
                </a:solidFill>
                <a:latin typeface="Consolas" panose="020B0609020204030204"/>
                <a:ea typeface="Consolas" panose="020B0609020204030204"/>
                <a:cs typeface="Consolas" panose="020B0609020204030204"/>
              </a:rPr>
              <a:t>NTM1NjQ1NTI3YjY3NzU2NTcyNzI1Zjc5NmU2YzcyNjU2Njdk</a:t>
            </a:r>
            <a:endParaRPr sz="900" b="1">
              <a:solidFill>
                <a:srgbClr val="21DDF5"/>
              </a:solidFill>
              <a:latin typeface="Consolas" panose="020B0609020204030204"/>
              <a:ea typeface="Consolas" panose="020B0609020204030204"/>
              <a:cs typeface="Consolas" panose="020B060902020403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21" name="Image 1"/>
          <p:cNvPicPr>
            <a:picLocks noChangeAspect="1"/>
          </p:cNvPicPr>
          <p:nvPr/>
        </p:nvPicPr>
        <p:blipFill>
          <a:blip r:embed="rId2"/>
          <a:stretch>
            <a:fillRect/>
          </a:stretch>
        </p:blipFill>
        <p:spPr>
          <a:xfrm>
            <a:off x="723900" y="190500"/>
            <a:ext cx="590551" cy="590551"/>
          </a:xfrm>
          <a:prstGeom prst="rect">
            <a:avLst/>
          </a:prstGeom>
        </p:spPr>
      </p:pic>
      <p:pic>
        <p:nvPicPr>
          <p:cNvPr id="22"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4064571" y="2356768"/>
            <a:ext cx="4062784" cy="153670"/>
          </a:xfrm>
          <a:prstGeom prst="rect">
            <a:avLst/>
          </a:prstGeom>
          <a:noFill/>
        </p:spPr>
        <p:txBody>
          <a:bodyPr wrap="square" lIns="0" tIns="0" rIns="0" bIns="0" anchor="t">
            <a:spAutoFit/>
          </a:bodyPr>
          <a:lstStyle/>
          <a:p>
            <a:pPr marL="0" indent="0" algn="ctr">
              <a:buNone/>
            </a:pPr>
            <a:r>
              <a:rPr sz="1000" b="1" spc="3">
                <a:solidFill>
                  <a:srgbClr val="00D4FF"/>
                </a:solidFill>
                <a:latin typeface="Arial" panose="020B0604020202020204"/>
                <a:ea typeface="Arial" panose="020B0604020202020204"/>
                <a:cs typeface="Arial" panose="020B0604020202020204"/>
              </a:rPr>
              <a:t>SECTION 04 PROFESSIONAL HABITS</a:t>
            </a:r>
            <a:endParaRPr sz="1000"/>
          </a:p>
        </p:txBody>
      </p:sp>
      <p:sp>
        <p:nvSpPr>
          <p:cNvPr id="9" name="Text 3"/>
          <p:cNvSpPr>
            <a:spLocks noGrp="1"/>
          </p:cNvSpPr>
          <p:nvPr/>
        </p:nvSpPr>
        <p:spPr>
          <a:xfrm>
            <a:off x="3211195" y="2747293"/>
            <a:ext cx="5769610" cy="686435"/>
          </a:xfrm>
          <a:prstGeom prst="rect">
            <a:avLst/>
          </a:prstGeom>
          <a:noFill/>
        </p:spPr>
        <p:txBody>
          <a:bodyPr wrap="none" lIns="0" tIns="0" rIns="0" bIns="0" anchor="t">
            <a:spAutoFit/>
          </a:bodyPr>
          <a:lstStyle/>
          <a:p>
            <a:pPr marL="0" indent="0" algn="ctr">
              <a:lnSpc>
                <a:spcPct val="77000"/>
              </a:lnSpc>
              <a:buNone/>
            </a:pPr>
            <a:r>
              <a:rPr sz="5800" b="1" spc="-2">
                <a:solidFill>
                  <a:srgbClr val="FFFFFF"/>
                </a:solidFill>
                <a:latin typeface="Arial" panose="020B0604020202020204"/>
                <a:ea typeface="Arial" panose="020B0604020202020204"/>
                <a:cs typeface="Arial" panose="020B0604020202020204"/>
              </a:rPr>
              <a:t>VERIFY IT</a:t>
            </a:r>
            <a:endParaRPr sz="5800"/>
          </a:p>
        </p:txBody>
      </p:sp>
      <p:sp>
        <p:nvSpPr>
          <p:cNvPr id="10" name="Text 4"/>
          <p:cNvSpPr>
            <a:spLocks noGrp="1"/>
          </p:cNvSpPr>
          <p:nvPr/>
        </p:nvSpPr>
        <p:spPr>
          <a:xfrm>
            <a:off x="2826023" y="4039195"/>
            <a:ext cx="6539880" cy="267335"/>
          </a:xfrm>
          <a:prstGeom prst="rect">
            <a:avLst/>
          </a:prstGeom>
          <a:noFill/>
        </p:spPr>
        <p:txBody>
          <a:bodyPr wrap="square" lIns="0" tIns="0" rIns="0" bIns="0" anchor="t">
            <a:spAutoFit/>
          </a:bodyPr>
          <a:lstStyle/>
          <a:p>
            <a:pPr marL="0" indent="0" algn="ctr">
              <a:buNone/>
            </a:pPr>
            <a:r>
              <a:rPr sz="1735" b="1">
                <a:solidFill>
                  <a:srgbClr val="FFFFFF"/>
                </a:solidFill>
                <a:latin typeface="Arial" panose="020B0604020202020204"/>
                <a:ea typeface="Arial" panose="020B0604020202020204"/>
                <a:cs typeface="Arial" panose="020B0604020202020204"/>
              </a:rPr>
              <a:t>A result is not reliable until the method is repeatable.</a:t>
            </a:r>
            <a:endParaRPr sz="1735"/>
          </a:p>
        </p:txBody>
      </p:sp>
      <p:sp>
        <p:nvSpPr>
          <p:cNvPr id="11" name="Text 5"/>
          <p:cNvSpPr>
            <a:spLocks noGrp="1"/>
          </p:cNvSpPr>
          <p:nvPr/>
        </p:nvSpPr>
        <p:spPr>
          <a:xfrm>
            <a:off x="4552727" y="4610695"/>
            <a:ext cx="3086547" cy="163830"/>
          </a:xfrm>
          <a:prstGeom prst="rect">
            <a:avLst/>
          </a:prstGeom>
          <a:noFill/>
        </p:spPr>
        <p:txBody>
          <a:bodyPr wrap="square" lIns="0" tIns="0" rIns="0" bIns="0" anchor="t">
            <a:spAutoFit/>
          </a:bodyPr>
          <a:lstStyle/>
          <a:p>
            <a:pPr marL="0" indent="0" algn="ctr">
              <a:buNone/>
            </a:pPr>
            <a:r>
              <a:rPr sz="1065" b="1" spc="1">
                <a:solidFill>
                  <a:srgbClr val="FF6B1A"/>
                </a:solidFill>
                <a:latin typeface="Consolas" panose="020B0609020204030204"/>
                <a:ea typeface="Consolas" panose="020B0609020204030204"/>
                <a:cs typeface="Consolas" panose="020B0609020204030204"/>
              </a:rPr>
              <a:t>TURN YOUR RECIPE INTO EVIDENCE.</a:t>
            </a:r>
            <a:endParaRPr sz="1065"/>
          </a:p>
        </p:txBody>
      </p:sp>
      <p:sp>
        <p:nvSpPr>
          <p:cNvPr id="12" name="Shape 6"/>
          <p:cNvSpPr>
            <a:spLocks noGrp="1"/>
          </p:cNvSpPr>
          <p:nvPr/>
        </p:nvSpPr>
        <p:spPr>
          <a:xfrm>
            <a:off x="723900" y="6172200"/>
            <a:ext cx="10744200" cy="685800"/>
          </a:xfrm>
          <a:prstGeom prst="rect">
            <a:avLst/>
          </a:prstGeom>
          <a:solidFill>
            <a:srgbClr val="000000">
              <a:alpha val="0"/>
            </a:srgbClr>
          </a:solidFill>
        </p:spPr>
      </p:sp>
      <p:sp>
        <p:nvSpPr>
          <p:cNvPr id="13" name="Shape 7"/>
          <p:cNvSpPr>
            <a:spLocks noGrp="1"/>
          </p:cNvSpPr>
          <p:nvPr/>
        </p:nvSpPr>
        <p:spPr>
          <a:xfrm>
            <a:off x="723900" y="6172200"/>
            <a:ext cx="10744200" cy="9525"/>
          </a:xfrm>
          <a:prstGeom prst="rect">
            <a:avLst/>
          </a:prstGeom>
          <a:solidFill>
            <a:srgbClr val="FFFFFF"/>
          </a:solidFill>
        </p:spPr>
      </p:sp>
      <p:sp>
        <p:nvSpPr>
          <p:cNvPr id="14" name="Text 8"/>
          <p:cNvSpPr>
            <a:spLocks noGrp="1"/>
          </p:cNvSpPr>
          <p:nvPr/>
        </p:nvSpPr>
        <p:spPr>
          <a:xfrm>
            <a:off x="723900" y="6172200"/>
            <a:ext cx="10744200" cy="357505"/>
          </a:xfrm>
          <a:prstGeom prst="rect">
            <a:avLst/>
          </a:prstGeom>
          <a:noFill/>
        </p:spPr>
        <p:txBody>
          <a:bodyPr wrap="square" lIns="0" tIns="204046"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1:18–1:24</a:t>
            </a:r>
            <a:endParaRPr sz="10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7"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30" name="Image 1"/>
          <p:cNvPicPr>
            <a:picLocks noChangeAspect="1"/>
          </p:cNvPicPr>
          <p:nvPr/>
        </p:nvPicPr>
        <p:blipFill>
          <a:blip r:embed="rId2"/>
          <a:stretch>
            <a:fillRect/>
          </a:stretch>
        </p:blipFill>
        <p:spPr>
          <a:xfrm>
            <a:off x="723900" y="190500"/>
            <a:ext cx="590551" cy="590551"/>
          </a:xfrm>
          <a:prstGeom prst="rect">
            <a:avLst/>
          </a:prstGeom>
        </p:spPr>
      </p:pic>
      <p:pic>
        <p:nvPicPr>
          <p:cNvPr id="31"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952500" y="1466851"/>
            <a:ext cx="3048000" cy="144145"/>
          </a:xfrm>
          <a:prstGeom prst="rect">
            <a:avLst/>
          </a:prstGeom>
          <a:noFill/>
        </p:spPr>
        <p:txBody>
          <a:bodyPr wrap="square" lIns="0" tIns="0" rIns="0" bIns="0" anchor="t">
            <a:spAutoFit/>
          </a:bodyPr>
          <a:lstStyle/>
          <a:p>
            <a:pPr marL="0" indent="0" algn="l">
              <a:buNone/>
            </a:pPr>
            <a:r>
              <a:rPr sz="935" b="1" spc="2">
                <a:solidFill>
                  <a:srgbClr val="00D4FF"/>
                </a:solidFill>
                <a:latin typeface="Arial" panose="020B0604020202020204"/>
                <a:ea typeface="Arial" panose="020B0604020202020204"/>
                <a:cs typeface="Arial" panose="020B0604020202020204"/>
              </a:rPr>
              <a:t>WRITE IT DOWN</a:t>
            </a:r>
            <a:endParaRPr sz="935"/>
          </a:p>
        </p:txBody>
      </p:sp>
      <p:sp>
        <p:nvSpPr>
          <p:cNvPr id="9" name="Text 3"/>
          <p:cNvSpPr>
            <a:spLocks noGrp="1"/>
          </p:cNvSpPr>
          <p:nvPr/>
        </p:nvSpPr>
        <p:spPr>
          <a:xfrm>
            <a:off x="952500" y="1724025"/>
            <a:ext cx="3048000" cy="1224062"/>
          </a:xfrm>
          <a:prstGeom prst="rect">
            <a:avLst/>
          </a:prstGeom>
          <a:noFill/>
        </p:spPr>
        <p:txBody>
          <a:bodyPr wrap="square" lIns="0" tIns="0" rIns="0" bIns="0" anchor="t">
            <a:spAutoFit/>
          </a:bodyPr>
          <a:lstStyle/>
          <a:p>
            <a:pPr marL="0" indent="0" algn="l">
              <a:lnSpc>
                <a:spcPct val="82000"/>
              </a:lnSpc>
              <a:buNone/>
            </a:pPr>
            <a:r>
              <a:rPr sz="3265" b="1" spc="-1">
                <a:solidFill>
                  <a:srgbClr val="FFFFFF"/>
                </a:solidFill>
                <a:latin typeface="Arial" panose="020B0604020202020204"/>
                <a:ea typeface="Arial" panose="020B0604020202020204"/>
                <a:cs typeface="Arial" panose="020B0604020202020204"/>
              </a:rPr>
              <a:t>The investigation template.</a:t>
            </a:r>
            <a:endParaRPr sz="3265"/>
          </a:p>
        </p:txBody>
      </p:sp>
      <p:sp>
        <p:nvSpPr>
          <p:cNvPr id="10" name="Text 4"/>
          <p:cNvSpPr>
            <a:spLocks noGrp="1"/>
          </p:cNvSpPr>
          <p:nvPr/>
        </p:nvSpPr>
        <p:spPr>
          <a:xfrm>
            <a:off x="952500" y="2847083"/>
            <a:ext cx="3048000" cy="667385"/>
          </a:xfrm>
          <a:prstGeom prst="rect">
            <a:avLst/>
          </a:prstGeom>
          <a:noFill/>
        </p:spPr>
        <p:txBody>
          <a:bodyPr wrap="square" lIns="0" tIns="0" rIns="0" bIns="0" anchor="t">
            <a:spAutoFit/>
          </a:bodyPr>
          <a:lstStyle/>
          <a:p>
            <a:pPr marL="0" indent="0" algn="l">
              <a:lnSpc>
                <a:spcPct val="108000"/>
              </a:lnSpc>
              <a:buNone/>
            </a:pPr>
            <a:r>
              <a:rPr sz="1335">
                <a:solidFill>
                  <a:srgbClr val="A6B2C4"/>
                </a:solidFill>
                <a:latin typeface="Arial" panose="020B0604020202020204"/>
                <a:ea typeface="Arial" panose="020B0604020202020204"/>
                <a:cs typeface="Arial" panose="020B0604020202020204"/>
              </a:rPr>
              <a:t>A clean writeup makes your reasoning visible—to you, your team, and your future employer.</a:t>
            </a:r>
            <a:endParaRPr sz="1335"/>
          </a:p>
        </p:txBody>
      </p:sp>
      <p:sp>
        <p:nvSpPr>
          <p:cNvPr id="11" name="Text 5"/>
          <p:cNvSpPr>
            <a:spLocks noGrp="1"/>
          </p:cNvSpPr>
          <p:nvPr/>
        </p:nvSpPr>
        <p:spPr>
          <a:xfrm>
            <a:off x="952500" y="4103861"/>
            <a:ext cx="2809875" cy="630555"/>
          </a:xfrm>
          <a:prstGeom prst="rect">
            <a:avLst/>
          </a:prstGeom>
          <a:noFill/>
        </p:spPr>
        <p:txBody>
          <a:bodyPr wrap="square" lIns="0" tIns="0" rIns="0" bIns="0" anchor="t">
            <a:spAutoFit/>
          </a:bodyPr>
          <a:lstStyle/>
          <a:p>
            <a:pPr marL="0" indent="0" algn="l">
              <a:lnSpc>
                <a:spcPct val="114000"/>
              </a:lnSpc>
              <a:buNone/>
            </a:pPr>
            <a:r>
              <a:rPr sz="1135" b="1">
                <a:solidFill>
                  <a:srgbClr val="FFFFFF"/>
                </a:solidFill>
                <a:latin typeface="Arial" panose="020B0604020202020204"/>
                <a:ea typeface="Arial" panose="020B0604020202020204"/>
                <a:cs typeface="Arial" panose="020B0604020202020204"/>
              </a:rPr>
              <a:t>Screenshot this slide.</a:t>
            </a:r>
            <a:endParaRPr sz="1135"/>
          </a:p>
          <a:p>
            <a:pPr marL="0" indent="0" algn="l">
              <a:lnSpc>
                <a:spcPct val="114000"/>
              </a:lnSpc>
              <a:buNone/>
            </a:pPr>
            <a:r>
              <a:rPr sz="1135" b="1">
                <a:solidFill>
                  <a:srgbClr val="FFFFFF"/>
                </a:solidFill>
                <a:latin typeface="Arial" panose="020B0604020202020204"/>
                <a:ea typeface="Arial" panose="020B0604020202020204"/>
                <a:cs typeface="Arial" panose="020B0604020202020204"/>
              </a:rPr>
              <a:t>Use this structure after every challenge.</a:t>
            </a:r>
            <a:endParaRPr sz="1135"/>
          </a:p>
        </p:txBody>
      </p:sp>
      <p:sp>
        <p:nvSpPr>
          <p:cNvPr id="12" name="Text 6"/>
          <p:cNvSpPr>
            <a:spLocks noGrp="1"/>
          </p:cNvSpPr>
          <p:nvPr/>
        </p:nvSpPr>
        <p:spPr>
          <a:xfrm>
            <a:off x="4591051" y="1381125"/>
            <a:ext cx="2027263" cy="174625"/>
          </a:xfrm>
          <a:prstGeom prst="rect">
            <a:avLst/>
          </a:prstGeom>
          <a:noFill/>
        </p:spPr>
        <p:txBody>
          <a:bodyPr wrap="square" lIns="0" tIns="0" rIns="0" bIns="0" anchor="t">
            <a:spAutoFit/>
          </a:bodyPr>
          <a:lstStyle/>
          <a:p>
            <a:pPr marL="0" indent="0" algn="l">
              <a:buNone/>
            </a:pPr>
            <a:r>
              <a:rPr sz="1135" b="1" spc="1">
                <a:solidFill>
                  <a:srgbClr val="DCE8F5"/>
                </a:solidFill>
                <a:latin typeface="Consolas" panose="020B0609020204030204"/>
                <a:ea typeface="Consolas" panose="020B0609020204030204"/>
                <a:cs typeface="Consolas" panose="020B0609020204030204"/>
              </a:rPr>
              <a:t>INVESTIGATION.md</a:t>
            </a:r>
            <a:endParaRPr sz="1135"/>
          </a:p>
        </p:txBody>
      </p:sp>
      <p:sp>
        <p:nvSpPr>
          <p:cNvPr id="13" name="Text 7"/>
          <p:cNvSpPr>
            <a:spLocks noGrp="1"/>
          </p:cNvSpPr>
          <p:nvPr/>
        </p:nvSpPr>
        <p:spPr>
          <a:xfrm>
            <a:off x="9032231" y="1381125"/>
            <a:ext cx="2207269" cy="167005"/>
          </a:xfrm>
          <a:prstGeom prst="rect">
            <a:avLst/>
          </a:prstGeom>
          <a:noFill/>
        </p:spPr>
        <p:txBody>
          <a:bodyPr wrap="square" lIns="0" tIns="34036" rIns="0" bIns="0" anchor="t">
            <a:spAutoFit/>
          </a:bodyPr>
          <a:lstStyle/>
          <a:p>
            <a:pPr marL="0" indent="0" algn="l">
              <a:buNone/>
            </a:pPr>
            <a:r>
              <a:rPr sz="865">
                <a:solidFill>
                  <a:srgbClr val="728095"/>
                </a:solidFill>
                <a:latin typeface="Arial" panose="020B0604020202020204"/>
                <a:ea typeface="Arial" panose="020B0604020202020204"/>
                <a:cs typeface="Arial" panose="020B0604020202020204"/>
              </a:rPr>
              <a:t>KEEP IT SHORT · KEEP IT HONEST</a:t>
            </a:r>
            <a:endParaRPr sz="865"/>
          </a:p>
        </p:txBody>
      </p:sp>
      <p:sp>
        <p:nvSpPr>
          <p:cNvPr id="14" name="Text 8"/>
          <p:cNvSpPr>
            <a:spLocks noGrp="1"/>
          </p:cNvSpPr>
          <p:nvPr/>
        </p:nvSpPr>
        <p:spPr>
          <a:xfrm>
            <a:off x="4591051" y="2040731"/>
            <a:ext cx="2857500" cy="194310"/>
          </a:xfrm>
          <a:prstGeom prst="rect">
            <a:avLst/>
          </a:prstGeom>
          <a:noFill/>
        </p:spPr>
        <p:txBody>
          <a:bodyPr wrap="square" lIns="0" tIns="0" rIns="0" bIns="0" anchor="t">
            <a:spAutoFit/>
          </a:bodyPr>
          <a:lstStyle/>
          <a:p>
            <a:pPr marL="0" indent="0" algn="l">
              <a:buNone/>
            </a:pPr>
            <a:r>
              <a:rPr sz="1265" b="1">
                <a:solidFill>
                  <a:srgbClr val="FFFFFF"/>
                </a:solidFill>
                <a:latin typeface="Arial" panose="020B0604020202020204"/>
                <a:ea typeface="Arial" panose="020B0604020202020204"/>
                <a:cs typeface="Arial" panose="020B0604020202020204"/>
              </a:rPr>
              <a:t>Input / filename:</a:t>
            </a:r>
            <a:endParaRPr sz="1265"/>
          </a:p>
        </p:txBody>
      </p:sp>
      <p:sp>
        <p:nvSpPr>
          <p:cNvPr id="15" name="Text 9"/>
          <p:cNvSpPr>
            <a:spLocks noGrp="1"/>
          </p:cNvSpPr>
          <p:nvPr/>
        </p:nvSpPr>
        <p:spPr>
          <a:xfrm>
            <a:off x="4591051" y="2736056"/>
            <a:ext cx="2857500" cy="194310"/>
          </a:xfrm>
          <a:prstGeom prst="rect">
            <a:avLst/>
          </a:prstGeom>
          <a:noFill/>
        </p:spPr>
        <p:txBody>
          <a:bodyPr wrap="square" lIns="0" tIns="0" rIns="0" bIns="0" anchor="t">
            <a:spAutoFit/>
          </a:bodyPr>
          <a:lstStyle/>
          <a:p>
            <a:pPr marL="0" indent="0" algn="l">
              <a:buNone/>
            </a:pPr>
            <a:r>
              <a:rPr sz="1265" b="1">
                <a:solidFill>
                  <a:srgbClr val="FFFFFF"/>
                </a:solidFill>
                <a:latin typeface="Arial" panose="020B0604020202020204"/>
                <a:ea typeface="Arial" panose="020B0604020202020204"/>
                <a:cs typeface="Arial" panose="020B0604020202020204"/>
              </a:rPr>
              <a:t>What I observed:</a:t>
            </a:r>
            <a:endParaRPr sz="1265"/>
          </a:p>
        </p:txBody>
      </p:sp>
      <p:sp>
        <p:nvSpPr>
          <p:cNvPr id="16" name="Text 10"/>
          <p:cNvSpPr>
            <a:spLocks noGrp="1"/>
          </p:cNvSpPr>
          <p:nvPr/>
        </p:nvSpPr>
        <p:spPr>
          <a:xfrm>
            <a:off x="4591051" y="3381375"/>
            <a:ext cx="2857500" cy="389255"/>
          </a:xfrm>
          <a:prstGeom prst="rect">
            <a:avLst/>
          </a:prstGeom>
          <a:noFill/>
        </p:spPr>
        <p:txBody>
          <a:bodyPr wrap="square" lIns="0" tIns="0" rIns="0" bIns="0" anchor="t">
            <a:spAutoFit/>
          </a:bodyPr>
          <a:lstStyle/>
          <a:p>
            <a:pPr marL="0" indent="0" algn="l">
              <a:buNone/>
            </a:pPr>
            <a:r>
              <a:rPr sz="1265" b="1">
                <a:solidFill>
                  <a:srgbClr val="FFB080"/>
                </a:solidFill>
                <a:latin typeface="Arial" panose="020B0604020202020204"/>
                <a:ea typeface="Arial" panose="020B0604020202020204"/>
                <a:cs typeface="Arial" panose="020B0604020202020204"/>
              </a:rPr>
              <a:t>Transformation / file type suspected:</a:t>
            </a:r>
            <a:endParaRPr sz="1265"/>
          </a:p>
        </p:txBody>
      </p:sp>
      <p:sp>
        <p:nvSpPr>
          <p:cNvPr id="17" name="Text 11"/>
          <p:cNvSpPr>
            <a:spLocks noGrp="1"/>
          </p:cNvSpPr>
          <p:nvPr/>
        </p:nvSpPr>
        <p:spPr>
          <a:xfrm>
            <a:off x="9429751" y="3435101"/>
            <a:ext cx="1809751" cy="130175"/>
          </a:xfrm>
          <a:prstGeom prst="rect">
            <a:avLst/>
          </a:prstGeom>
          <a:noFill/>
        </p:spPr>
        <p:txBody>
          <a:bodyPr wrap="square" lIns="0" tIns="0" rIns="0" bIns="0" anchor="t">
            <a:spAutoFit/>
          </a:bodyPr>
          <a:lstStyle/>
          <a:p>
            <a:pPr marL="0" indent="0" algn="l">
              <a:lnSpc>
                <a:spcPct val="98000"/>
              </a:lnSpc>
              <a:buNone/>
            </a:pPr>
            <a:r>
              <a:rPr sz="865" b="1">
                <a:solidFill>
                  <a:srgbClr val="FF6B1A"/>
                </a:solidFill>
                <a:latin typeface="Arial" panose="020B0604020202020204"/>
                <a:ea typeface="Arial" panose="020B0604020202020204"/>
                <a:cs typeface="Arial" panose="020B0604020202020204"/>
              </a:rPr>
              <a:t>THIS IS YOUR HYPOTHESIS.</a:t>
            </a:r>
            <a:endParaRPr sz="865"/>
          </a:p>
        </p:txBody>
      </p:sp>
      <p:sp>
        <p:nvSpPr>
          <p:cNvPr id="18" name="Text 12"/>
          <p:cNvSpPr>
            <a:spLocks noGrp="1"/>
          </p:cNvSpPr>
          <p:nvPr/>
        </p:nvSpPr>
        <p:spPr>
          <a:xfrm>
            <a:off x="4591051" y="4231481"/>
            <a:ext cx="2857500" cy="194310"/>
          </a:xfrm>
          <a:prstGeom prst="rect">
            <a:avLst/>
          </a:prstGeom>
          <a:noFill/>
        </p:spPr>
        <p:txBody>
          <a:bodyPr wrap="square" lIns="0" tIns="0" rIns="0" bIns="0" anchor="t">
            <a:spAutoFit/>
          </a:bodyPr>
          <a:lstStyle/>
          <a:p>
            <a:pPr marL="0" indent="0" algn="l">
              <a:buNone/>
            </a:pPr>
            <a:r>
              <a:rPr sz="1265" b="1">
                <a:solidFill>
                  <a:srgbClr val="FFFFFF"/>
                </a:solidFill>
                <a:latin typeface="Arial" panose="020B0604020202020204"/>
                <a:ea typeface="Arial" panose="020B0604020202020204"/>
                <a:cs typeface="Arial" panose="020B0604020202020204"/>
              </a:rPr>
              <a:t>Tool or command:</a:t>
            </a:r>
            <a:endParaRPr sz="1265"/>
          </a:p>
        </p:txBody>
      </p:sp>
      <p:sp>
        <p:nvSpPr>
          <p:cNvPr id="19" name="Text 13"/>
          <p:cNvSpPr>
            <a:spLocks noGrp="1"/>
          </p:cNvSpPr>
          <p:nvPr/>
        </p:nvSpPr>
        <p:spPr>
          <a:xfrm>
            <a:off x="4591051" y="4926807"/>
            <a:ext cx="2857500" cy="194310"/>
          </a:xfrm>
          <a:prstGeom prst="rect">
            <a:avLst/>
          </a:prstGeom>
          <a:noFill/>
        </p:spPr>
        <p:txBody>
          <a:bodyPr wrap="square" lIns="0" tIns="0" rIns="0" bIns="0" anchor="t">
            <a:spAutoFit/>
          </a:bodyPr>
          <a:lstStyle/>
          <a:p>
            <a:pPr marL="0" indent="0" algn="l">
              <a:buNone/>
            </a:pPr>
            <a:r>
              <a:rPr sz="1265" b="1">
                <a:solidFill>
                  <a:srgbClr val="FFFFFF"/>
                </a:solidFill>
                <a:latin typeface="Arial" panose="020B0604020202020204"/>
                <a:ea typeface="Arial" panose="020B0604020202020204"/>
                <a:cs typeface="Arial" panose="020B0604020202020204"/>
              </a:rPr>
              <a:t>Verified output:</a:t>
            </a:r>
            <a:endParaRPr sz="1265"/>
          </a:p>
        </p:txBody>
      </p:sp>
      <p:sp>
        <p:nvSpPr>
          <p:cNvPr id="20" name="Shape 14"/>
          <p:cNvSpPr>
            <a:spLocks noGrp="1"/>
          </p:cNvSpPr>
          <p:nvPr/>
        </p:nvSpPr>
        <p:spPr>
          <a:xfrm>
            <a:off x="723900" y="6191251"/>
            <a:ext cx="10744200" cy="666751"/>
          </a:xfrm>
          <a:prstGeom prst="rect">
            <a:avLst/>
          </a:prstGeom>
          <a:solidFill>
            <a:srgbClr val="000000">
              <a:alpha val="0"/>
            </a:srgbClr>
          </a:solidFill>
        </p:spPr>
      </p:sp>
      <p:sp>
        <p:nvSpPr>
          <p:cNvPr id="21" name="Shape 15"/>
          <p:cNvSpPr>
            <a:spLocks noGrp="1"/>
          </p:cNvSpPr>
          <p:nvPr/>
        </p:nvSpPr>
        <p:spPr>
          <a:xfrm>
            <a:off x="723900" y="6191251"/>
            <a:ext cx="10744200" cy="9525"/>
          </a:xfrm>
          <a:prstGeom prst="rect">
            <a:avLst/>
          </a:prstGeom>
          <a:solidFill>
            <a:srgbClr val="FFFFFF"/>
          </a:solidFill>
        </p:spPr>
      </p:sp>
      <p:sp>
        <p:nvSpPr>
          <p:cNvPr id="22" name="Text 16"/>
          <p:cNvSpPr>
            <a:spLocks noGrp="1"/>
          </p:cNvSpPr>
          <p:nvPr/>
        </p:nvSpPr>
        <p:spPr>
          <a:xfrm>
            <a:off x="723900" y="6362700"/>
            <a:ext cx="1282700" cy="144145"/>
          </a:xfrm>
          <a:prstGeom prst="rect">
            <a:avLst/>
          </a:prstGeom>
          <a:noFill/>
        </p:spPr>
        <p:txBody>
          <a:bodyPr wrap="none" lIns="0" tIns="0" rIns="0" bIns="0" anchor="t">
            <a:spAutoFit/>
          </a:bodyPr>
          <a:lstStyle/>
          <a:p>
            <a:pPr marL="0" indent="0" algn="l">
              <a:buNone/>
            </a:pPr>
            <a:r>
              <a:rPr sz="935" b="1">
                <a:solidFill>
                  <a:srgbClr val="00D4FF"/>
                </a:solidFill>
                <a:latin typeface="Arial" panose="020B0604020202020204"/>
                <a:ea typeface="Arial" panose="020B0604020202020204"/>
                <a:cs typeface="Arial" panose="020B0604020202020204"/>
              </a:rPr>
              <a:t>EVIDENCE &gt; MEMORY</a:t>
            </a:r>
            <a:endParaRPr sz="935"/>
          </a:p>
        </p:txBody>
      </p:sp>
      <p:sp>
        <p:nvSpPr>
          <p:cNvPr id="23" name="Text 17"/>
          <p:cNvSpPr>
            <a:spLocks noGrp="1"/>
          </p:cNvSpPr>
          <p:nvPr/>
        </p:nvSpPr>
        <p:spPr>
          <a:xfrm>
            <a:off x="10874797" y="6362700"/>
            <a:ext cx="564515" cy="153670"/>
          </a:xfrm>
          <a:prstGeom prst="rect">
            <a:avLst/>
          </a:prstGeom>
          <a:noFill/>
        </p:spPr>
        <p:txBody>
          <a:bodyPr wrap="none" lIns="0" tIns="0"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1:18–1:24</a:t>
            </a:r>
            <a:endParaRPr sz="1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2"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35" name="Image 1"/>
          <p:cNvPicPr>
            <a:picLocks noChangeAspect="1"/>
          </p:cNvPicPr>
          <p:nvPr/>
        </p:nvPicPr>
        <p:blipFill>
          <a:blip r:embed="rId2"/>
          <a:stretch>
            <a:fillRect/>
          </a:stretch>
        </p:blipFill>
        <p:spPr>
          <a:xfrm>
            <a:off x="723900" y="190500"/>
            <a:ext cx="590551" cy="590551"/>
          </a:xfrm>
          <a:prstGeom prst="rect">
            <a:avLst/>
          </a:prstGeom>
        </p:spPr>
      </p:pic>
      <p:pic>
        <p:nvPicPr>
          <p:cNvPr id="36"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952500" y="1485900"/>
            <a:ext cx="3162300" cy="144145"/>
          </a:xfrm>
          <a:prstGeom prst="rect">
            <a:avLst/>
          </a:prstGeom>
          <a:noFill/>
        </p:spPr>
        <p:txBody>
          <a:bodyPr wrap="square" lIns="0" tIns="0" rIns="0" bIns="0" anchor="t">
            <a:spAutoFit/>
          </a:bodyPr>
          <a:lstStyle/>
          <a:p>
            <a:pPr marL="0" indent="0" algn="l">
              <a:buNone/>
            </a:pPr>
            <a:r>
              <a:rPr sz="935" b="1" spc="2">
                <a:solidFill>
                  <a:srgbClr val="00D4FF"/>
                </a:solidFill>
                <a:latin typeface="Arial" panose="020B0604020202020204"/>
                <a:ea typeface="Arial" panose="020B0604020202020204"/>
                <a:cs typeface="Arial" panose="020B0604020202020204"/>
              </a:rPr>
              <a:t>BEFORE NEXT CLASS</a:t>
            </a:r>
            <a:endParaRPr sz="935"/>
          </a:p>
        </p:txBody>
      </p:sp>
      <p:sp>
        <p:nvSpPr>
          <p:cNvPr id="9" name="Text 3"/>
          <p:cNvSpPr>
            <a:spLocks noGrp="1"/>
          </p:cNvSpPr>
          <p:nvPr/>
        </p:nvSpPr>
        <p:spPr>
          <a:xfrm>
            <a:off x="952500" y="1752600"/>
            <a:ext cx="2601595" cy="455295"/>
          </a:xfrm>
          <a:prstGeom prst="rect">
            <a:avLst/>
          </a:prstGeom>
          <a:noFill/>
        </p:spPr>
        <p:txBody>
          <a:bodyPr wrap="none" lIns="0" tIns="0" rIns="0" bIns="0" anchor="t">
            <a:spAutoFit/>
          </a:bodyPr>
          <a:lstStyle/>
          <a:p>
            <a:pPr marL="0" indent="0" algn="l">
              <a:lnSpc>
                <a:spcPct val="78000"/>
              </a:lnSpc>
              <a:buNone/>
            </a:pPr>
            <a:r>
              <a:rPr sz="3800" b="1" spc="-2">
                <a:solidFill>
                  <a:srgbClr val="FFFFFF"/>
                </a:solidFill>
                <a:latin typeface="Arial" panose="020B0604020202020204"/>
                <a:ea typeface="Arial" panose="020B0604020202020204"/>
                <a:cs typeface="Arial" panose="020B0604020202020204"/>
              </a:rPr>
              <a:t>Homework.</a:t>
            </a:r>
            <a:endParaRPr sz="3800"/>
          </a:p>
        </p:txBody>
      </p:sp>
      <p:sp>
        <p:nvSpPr>
          <p:cNvPr id="10" name="Text 4"/>
          <p:cNvSpPr>
            <a:spLocks noGrp="1"/>
          </p:cNvSpPr>
          <p:nvPr/>
        </p:nvSpPr>
        <p:spPr>
          <a:xfrm>
            <a:off x="952500" y="2484835"/>
            <a:ext cx="3162300" cy="452120"/>
          </a:xfrm>
          <a:prstGeom prst="rect">
            <a:avLst/>
          </a:prstGeom>
          <a:noFill/>
        </p:spPr>
        <p:txBody>
          <a:bodyPr wrap="square" lIns="0" tIns="0" rIns="0" bIns="0" anchor="t">
            <a:spAutoFit/>
          </a:bodyPr>
          <a:lstStyle/>
          <a:p>
            <a:pPr marL="0" indent="0" algn="l">
              <a:lnSpc>
                <a:spcPct val="110000"/>
              </a:lnSpc>
              <a:buNone/>
            </a:pPr>
            <a:r>
              <a:rPr sz="1335">
                <a:solidFill>
                  <a:srgbClr val="AAB5C5"/>
                </a:solidFill>
                <a:latin typeface="Arial" panose="020B0604020202020204"/>
                <a:ea typeface="Arial" panose="020B0604020202020204"/>
                <a:cs typeface="Arial" panose="020B0604020202020204"/>
              </a:rPr>
              <a:t>Practice recognition and decoding while the clues are still fresh.</a:t>
            </a:r>
            <a:endParaRPr sz="1335"/>
          </a:p>
        </p:txBody>
      </p:sp>
      <p:sp>
        <p:nvSpPr>
          <p:cNvPr id="11" name="Text 5"/>
          <p:cNvSpPr>
            <a:spLocks noGrp="1"/>
          </p:cNvSpPr>
          <p:nvPr/>
        </p:nvSpPr>
        <p:spPr>
          <a:xfrm>
            <a:off x="952500" y="3489127"/>
            <a:ext cx="3162300" cy="361315"/>
          </a:xfrm>
          <a:prstGeom prst="rect">
            <a:avLst/>
          </a:prstGeom>
          <a:noFill/>
        </p:spPr>
        <p:txBody>
          <a:bodyPr wrap="square" lIns="0" tIns="0" rIns="0" bIns="0" anchor="t">
            <a:spAutoFit/>
          </a:bodyPr>
          <a:lstStyle/>
          <a:p>
            <a:pPr marL="0" indent="0" algn="l">
              <a:lnSpc>
                <a:spcPct val="110000"/>
              </a:lnSpc>
              <a:buNone/>
            </a:pPr>
            <a:r>
              <a:rPr sz="1065" b="1">
                <a:solidFill>
                  <a:srgbClr val="FF9A5E"/>
                </a:solidFill>
                <a:latin typeface="Arial" panose="020B0604020202020204"/>
                <a:ea typeface="Arial" panose="020B0604020202020204"/>
                <a:cs typeface="Arial" panose="020B0604020202020204"/>
              </a:rPr>
              <a:t>ROUGHLY 90 MINUTES</a:t>
            </a:r>
            <a:endParaRPr sz="1065"/>
          </a:p>
          <a:p>
            <a:pPr marL="0" indent="0" algn="l">
              <a:lnSpc>
                <a:spcPct val="110000"/>
              </a:lnSpc>
              <a:buNone/>
            </a:pPr>
            <a:r>
              <a:rPr sz="1065" b="1">
                <a:solidFill>
                  <a:srgbClr val="FF9A5E"/>
                </a:solidFill>
                <a:latin typeface="Arial" panose="020B0604020202020204"/>
                <a:ea typeface="Arial" panose="020B0604020202020204"/>
                <a:cs typeface="Arial" panose="020B0604020202020204"/>
              </a:rPr>
              <a:t>OF FOCUSED WORK.</a:t>
            </a:r>
            <a:endParaRPr sz="1065"/>
          </a:p>
        </p:txBody>
      </p:sp>
      <p:sp>
        <p:nvSpPr>
          <p:cNvPr id="12" name="Text 6"/>
          <p:cNvSpPr>
            <a:spLocks noGrp="1"/>
          </p:cNvSpPr>
          <p:nvPr/>
        </p:nvSpPr>
        <p:spPr>
          <a:xfrm>
            <a:off x="4781551" y="1400175"/>
            <a:ext cx="6457951" cy="201295"/>
          </a:xfrm>
          <a:prstGeom prst="rect">
            <a:avLst/>
          </a:prstGeom>
          <a:noFill/>
        </p:spPr>
        <p:txBody>
          <a:bodyPr wrap="square" lIns="0" tIns="68072" rIns="0" bIns="0" anchor="t">
            <a:spAutoFit/>
          </a:bodyPr>
          <a:lstStyle/>
          <a:p>
            <a:pPr marL="0" indent="0" algn="l">
              <a:buNone/>
            </a:pPr>
            <a:r>
              <a:rPr sz="865" b="1" spc="2">
                <a:solidFill>
                  <a:srgbClr val="8391A5"/>
                </a:solidFill>
                <a:latin typeface="Arial" panose="020B0604020202020204"/>
                <a:ea typeface="Arial" panose="020B0604020202020204"/>
                <a:cs typeface="Arial" panose="020B0604020202020204"/>
              </a:rPr>
              <a:t>YOUR CHECKLIST</a:t>
            </a:r>
            <a:endParaRPr sz="865"/>
          </a:p>
        </p:txBody>
      </p:sp>
      <p:sp>
        <p:nvSpPr>
          <p:cNvPr id="13" name="Text 7"/>
          <p:cNvSpPr>
            <a:spLocks noGrp="1"/>
          </p:cNvSpPr>
          <p:nvPr/>
        </p:nvSpPr>
        <p:spPr>
          <a:xfrm>
            <a:off x="4875213" y="2180590"/>
            <a:ext cx="69850" cy="153670"/>
          </a:xfrm>
          <a:prstGeom prst="rect">
            <a:avLst/>
          </a:prstGeom>
          <a:noFill/>
        </p:spPr>
        <p:txBody>
          <a:bodyPr wrap="none" lIns="0" tIns="0" rIns="0" bIns="0" anchor="ctr">
            <a:spAutoFit/>
          </a:bodyPr>
          <a:lstStyle/>
          <a:p>
            <a:pPr marL="0" indent="0" algn="ctr">
              <a:buNone/>
            </a:pPr>
            <a:r>
              <a:rPr sz="1000">
                <a:solidFill>
                  <a:srgbClr val="00D4FF"/>
                </a:solidFill>
                <a:latin typeface="Consolas" panose="020B0609020204030204"/>
                <a:ea typeface="Consolas" panose="020B0609020204030204"/>
                <a:cs typeface="Consolas" panose="020B0609020204030204"/>
              </a:rPr>
              <a:t>□</a:t>
            </a:r>
            <a:endParaRPr sz="1000"/>
          </a:p>
        </p:txBody>
      </p:sp>
      <p:sp>
        <p:nvSpPr>
          <p:cNvPr id="14" name="Text 8"/>
          <p:cNvSpPr>
            <a:spLocks noGrp="1"/>
          </p:cNvSpPr>
          <p:nvPr/>
        </p:nvSpPr>
        <p:spPr>
          <a:xfrm>
            <a:off x="5305425" y="2131665"/>
            <a:ext cx="3689350" cy="216535"/>
          </a:xfrm>
          <a:prstGeom prst="rect">
            <a:avLst/>
          </a:prstGeom>
          <a:noFill/>
        </p:spPr>
        <p:txBody>
          <a:bodyPr wrap="none" lIns="0" tIns="0" rIns="0" bIns="0" anchor="t">
            <a:spAutoFit/>
          </a:bodyPr>
          <a:lstStyle/>
          <a:p>
            <a:pPr marL="0" indent="0" algn="l">
              <a:lnSpc>
                <a:spcPct val="96000"/>
              </a:lnSpc>
              <a:buNone/>
            </a:pPr>
            <a:r>
              <a:rPr sz="1465" b="1">
                <a:solidFill>
                  <a:srgbClr val="E3EAF3"/>
                </a:solidFill>
                <a:latin typeface="Arial" panose="020B0604020202020204"/>
                <a:ea typeface="Arial" panose="020B0604020202020204"/>
                <a:cs typeface="Arial" panose="020B0604020202020204"/>
              </a:rPr>
              <a:t>Finish TryHackMe: CyberChef The Basics</a:t>
            </a:r>
            <a:endParaRPr sz="1465"/>
          </a:p>
        </p:txBody>
      </p:sp>
      <p:sp>
        <p:nvSpPr>
          <p:cNvPr id="15" name="Text 9"/>
          <p:cNvSpPr>
            <a:spLocks noGrp="1"/>
          </p:cNvSpPr>
          <p:nvPr/>
        </p:nvSpPr>
        <p:spPr>
          <a:xfrm>
            <a:off x="10716260" y="2183607"/>
            <a:ext cx="523240" cy="144145"/>
          </a:xfrm>
          <a:prstGeom prst="rect">
            <a:avLst/>
          </a:prstGeom>
          <a:noFill/>
        </p:spPr>
        <p:txBody>
          <a:bodyPr wrap="none" lIns="0" tIns="0" rIns="0" bIns="0" anchor="t">
            <a:spAutoFit/>
          </a:bodyPr>
          <a:lstStyle/>
          <a:p>
            <a:pPr marL="0" indent="0" algn="r">
              <a:buNone/>
            </a:pPr>
            <a:r>
              <a:rPr sz="935" b="1">
                <a:solidFill>
                  <a:srgbClr val="00D4FF"/>
                </a:solidFill>
                <a:latin typeface="Consolas" panose="020B0609020204030204"/>
                <a:ea typeface="Consolas" panose="020B0609020204030204"/>
                <a:cs typeface="Consolas" panose="020B0609020204030204"/>
              </a:rPr>
              <a:t>REQUIRED</a:t>
            </a:r>
            <a:endParaRPr sz="935"/>
          </a:p>
        </p:txBody>
      </p:sp>
      <p:sp>
        <p:nvSpPr>
          <p:cNvPr id="16" name="Text 10"/>
          <p:cNvSpPr>
            <a:spLocks noGrp="1"/>
          </p:cNvSpPr>
          <p:nvPr/>
        </p:nvSpPr>
        <p:spPr>
          <a:xfrm>
            <a:off x="4875213" y="3047364"/>
            <a:ext cx="69850" cy="153670"/>
          </a:xfrm>
          <a:prstGeom prst="rect">
            <a:avLst/>
          </a:prstGeom>
          <a:noFill/>
        </p:spPr>
        <p:txBody>
          <a:bodyPr wrap="none" lIns="0" tIns="0" rIns="0" bIns="0" anchor="ctr">
            <a:spAutoFit/>
          </a:bodyPr>
          <a:lstStyle/>
          <a:p>
            <a:pPr marL="0" indent="0" algn="ctr">
              <a:buNone/>
            </a:pPr>
            <a:r>
              <a:rPr sz="1000">
                <a:solidFill>
                  <a:srgbClr val="00D4FF"/>
                </a:solidFill>
                <a:latin typeface="Consolas" panose="020B0609020204030204"/>
                <a:ea typeface="Consolas" panose="020B0609020204030204"/>
                <a:cs typeface="Consolas" panose="020B0609020204030204"/>
              </a:rPr>
              <a:t>□</a:t>
            </a:r>
            <a:endParaRPr sz="1000"/>
          </a:p>
        </p:txBody>
      </p:sp>
      <p:sp>
        <p:nvSpPr>
          <p:cNvPr id="17" name="Text 11"/>
          <p:cNvSpPr>
            <a:spLocks noGrp="1"/>
          </p:cNvSpPr>
          <p:nvPr/>
        </p:nvSpPr>
        <p:spPr>
          <a:xfrm>
            <a:off x="5305425" y="2998440"/>
            <a:ext cx="1588770" cy="216535"/>
          </a:xfrm>
          <a:prstGeom prst="rect">
            <a:avLst/>
          </a:prstGeom>
          <a:noFill/>
        </p:spPr>
        <p:txBody>
          <a:bodyPr wrap="none" lIns="0" tIns="0" rIns="0" bIns="0" anchor="t">
            <a:spAutoFit/>
          </a:bodyPr>
          <a:lstStyle/>
          <a:p>
            <a:pPr marL="0" indent="0" algn="l">
              <a:lnSpc>
                <a:spcPct val="96000"/>
              </a:lnSpc>
              <a:buNone/>
            </a:pPr>
            <a:r>
              <a:rPr sz="1465" b="1">
                <a:solidFill>
                  <a:srgbClr val="E3EAF3"/>
                </a:solidFill>
                <a:latin typeface="Arial" panose="020B0604020202020204"/>
                <a:ea typeface="Arial" panose="020B0604020202020204"/>
                <a:cs typeface="Arial" panose="020B0604020202020204"/>
              </a:rPr>
              <a:t>Solve the instructor evidence pack</a:t>
            </a:r>
            <a:endParaRPr sz="1465"/>
          </a:p>
        </p:txBody>
      </p:sp>
      <p:sp>
        <p:nvSpPr>
          <p:cNvPr id="18" name="Text 12"/>
          <p:cNvSpPr>
            <a:spLocks noGrp="1"/>
          </p:cNvSpPr>
          <p:nvPr/>
        </p:nvSpPr>
        <p:spPr>
          <a:xfrm>
            <a:off x="10716260" y="3050381"/>
            <a:ext cx="523240" cy="144145"/>
          </a:xfrm>
          <a:prstGeom prst="rect">
            <a:avLst/>
          </a:prstGeom>
          <a:noFill/>
        </p:spPr>
        <p:txBody>
          <a:bodyPr wrap="none" lIns="0" tIns="0" rIns="0" bIns="0" anchor="t">
            <a:spAutoFit/>
          </a:bodyPr>
          <a:lstStyle/>
          <a:p>
            <a:pPr marL="0" indent="0" algn="r">
              <a:buNone/>
            </a:pPr>
            <a:r>
              <a:rPr sz="935" b="1">
                <a:solidFill>
                  <a:srgbClr val="00D4FF"/>
                </a:solidFill>
                <a:latin typeface="Consolas" panose="020B0609020204030204"/>
                <a:ea typeface="Consolas" panose="020B0609020204030204"/>
                <a:cs typeface="Consolas" panose="020B0609020204030204"/>
              </a:rPr>
              <a:t>REQUIRED</a:t>
            </a:r>
            <a:endParaRPr sz="935"/>
          </a:p>
        </p:txBody>
      </p:sp>
      <p:sp>
        <p:nvSpPr>
          <p:cNvPr id="19" name="Text 13"/>
          <p:cNvSpPr>
            <a:spLocks noGrp="1"/>
          </p:cNvSpPr>
          <p:nvPr/>
        </p:nvSpPr>
        <p:spPr>
          <a:xfrm>
            <a:off x="4875213" y="3914140"/>
            <a:ext cx="69850" cy="153670"/>
          </a:xfrm>
          <a:prstGeom prst="rect">
            <a:avLst/>
          </a:prstGeom>
          <a:noFill/>
        </p:spPr>
        <p:txBody>
          <a:bodyPr wrap="none" lIns="0" tIns="0" rIns="0" bIns="0" anchor="ctr">
            <a:spAutoFit/>
          </a:bodyPr>
          <a:lstStyle/>
          <a:p>
            <a:pPr marL="0" indent="0" algn="ctr">
              <a:buNone/>
            </a:pPr>
            <a:r>
              <a:rPr sz="1000">
                <a:solidFill>
                  <a:srgbClr val="00D4FF"/>
                </a:solidFill>
                <a:latin typeface="Consolas" panose="020B0609020204030204"/>
                <a:ea typeface="Consolas" panose="020B0609020204030204"/>
                <a:cs typeface="Consolas" panose="020B0609020204030204"/>
              </a:rPr>
              <a:t>□</a:t>
            </a:r>
            <a:endParaRPr sz="1000"/>
          </a:p>
        </p:txBody>
      </p:sp>
      <p:sp>
        <p:nvSpPr>
          <p:cNvPr id="20" name="Text 14"/>
          <p:cNvSpPr>
            <a:spLocks noGrp="1"/>
          </p:cNvSpPr>
          <p:nvPr/>
        </p:nvSpPr>
        <p:spPr>
          <a:xfrm>
            <a:off x="5305425" y="3865215"/>
            <a:ext cx="3145155" cy="216535"/>
          </a:xfrm>
          <a:prstGeom prst="rect">
            <a:avLst/>
          </a:prstGeom>
          <a:noFill/>
        </p:spPr>
        <p:txBody>
          <a:bodyPr wrap="none" lIns="0" tIns="0" rIns="0" bIns="0" anchor="t">
            <a:spAutoFit/>
          </a:bodyPr>
          <a:lstStyle/>
          <a:p>
            <a:pPr marL="0" indent="0" algn="l">
              <a:lnSpc>
                <a:spcPct val="96000"/>
              </a:lnSpc>
              <a:buNone/>
            </a:pPr>
            <a:r>
              <a:rPr sz="1465" b="1">
                <a:solidFill>
                  <a:srgbClr val="E3EAF3"/>
                </a:solidFill>
                <a:latin typeface="Arial" panose="020B0604020202020204"/>
                <a:ea typeface="Arial" panose="020B0604020202020204"/>
                <a:cs typeface="Arial" panose="020B0604020202020204"/>
              </a:rPr>
              <a:t>Write 2 investigation writeups</a:t>
            </a:r>
            <a:endParaRPr sz="1465"/>
          </a:p>
        </p:txBody>
      </p:sp>
      <p:sp>
        <p:nvSpPr>
          <p:cNvPr id="21" name="Text 15"/>
          <p:cNvSpPr>
            <a:spLocks noGrp="1"/>
          </p:cNvSpPr>
          <p:nvPr/>
        </p:nvSpPr>
        <p:spPr>
          <a:xfrm>
            <a:off x="10716260" y="3917156"/>
            <a:ext cx="523240" cy="144145"/>
          </a:xfrm>
          <a:prstGeom prst="rect">
            <a:avLst/>
          </a:prstGeom>
          <a:noFill/>
        </p:spPr>
        <p:txBody>
          <a:bodyPr wrap="none" lIns="0" tIns="0" rIns="0" bIns="0" anchor="t">
            <a:spAutoFit/>
          </a:bodyPr>
          <a:lstStyle/>
          <a:p>
            <a:pPr marL="0" indent="0" algn="r">
              <a:buNone/>
            </a:pPr>
            <a:r>
              <a:rPr sz="935" b="1">
                <a:solidFill>
                  <a:srgbClr val="00D4FF"/>
                </a:solidFill>
                <a:latin typeface="Consolas" panose="020B0609020204030204"/>
                <a:ea typeface="Consolas" panose="020B0609020204030204"/>
                <a:cs typeface="Consolas" panose="020B0609020204030204"/>
              </a:rPr>
              <a:t>REQUIRED</a:t>
            </a:r>
            <a:endParaRPr sz="935"/>
          </a:p>
        </p:txBody>
      </p:sp>
      <p:sp>
        <p:nvSpPr>
          <p:cNvPr id="22" name="Text 16"/>
          <p:cNvSpPr>
            <a:spLocks noGrp="1"/>
          </p:cNvSpPr>
          <p:nvPr/>
        </p:nvSpPr>
        <p:spPr>
          <a:xfrm>
            <a:off x="4875213" y="4780915"/>
            <a:ext cx="69850" cy="153670"/>
          </a:xfrm>
          <a:prstGeom prst="rect">
            <a:avLst/>
          </a:prstGeom>
          <a:noFill/>
        </p:spPr>
        <p:txBody>
          <a:bodyPr wrap="none" lIns="0" tIns="0" rIns="0" bIns="0" anchor="ctr">
            <a:spAutoFit/>
          </a:bodyPr>
          <a:lstStyle/>
          <a:p>
            <a:pPr marL="0" indent="0" algn="ctr">
              <a:buNone/>
            </a:pPr>
            <a:r>
              <a:rPr sz="1000">
                <a:solidFill>
                  <a:srgbClr val="8B98AA"/>
                </a:solidFill>
                <a:latin typeface="Consolas" panose="020B0609020204030204"/>
                <a:ea typeface="Consolas" panose="020B0609020204030204"/>
                <a:cs typeface="Consolas" panose="020B0609020204030204"/>
              </a:rPr>
              <a:t>□</a:t>
            </a:r>
            <a:endParaRPr sz="1000"/>
          </a:p>
        </p:txBody>
      </p:sp>
      <p:sp>
        <p:nvSpPr>
          <p:cNvPr id="23" name="Text 17"/>
          <p:cNvSpPr>
            <a:spLocks noGrp="1"/>
          </p:cNvSpPr>
          <p:nvPr/>
        </p:nvSpPr>
        <p:spPr>
          <a:xfrm>
            <a:off x="5305425" y="4731991"/>
            <a:ext cx="3147695" cy="216535"/>
          </a:xfrm>
          <a:prstGeom prst="rect">
            <a:avLst/>
          </a:prstGeom>
          <a:noFill/>
        </p:spPr>
        <p:txBody>
          <a:bodyPr wrap="none" lIns="0" tIns="0" rIns="0" bIns="0" anchor="t">
            <a:spAutoFit/>
          </a:bodyPr>
          <a:lstStyle/>
          <a:p>
            <a:pPr marL="0" indent="0" algn="l">
              <a:lnSpc>
                <a:spcPct val="96000"/>
              </a:lnSpc>
              <a:buNone/>
            </a:pPr>
            <a:r>
              <a:rPr sz="1465" b="1">
                <a:solidFill>
                  <a:srgbClr val="8F9BAE"/>
                </a:solidFill>
                <a:latin typeface="Arial" panose="020B0604020202020204"/>
                <a:ea typeface="Arial" panose="020B0604020202020204"/>
                <a:cs typeface="Arial" panose="020B0604020202020204"/>
              </a:rPr>
              <a:t>TryHackMe: Cryptography Basics</a:t>
            </a:r>
            <a:endParaRPr sz="1465"/>
          </a:p>
        </p:txBody>
      </p:sp>
      <p:sp>
        <p:nvSpPr>
          <p:cNvPr id="24" name="Text 18"/>
          <p:cNvSpPr>
            <a:spLocks noGrp="1"/>
          </p:cNvSpPr>
          <p:nvPr/>
        </p:nvSpPr>
        <p:spPr>
          <a:xfrm>
            <a:off x="10716260" y="4783931"/>
            <a:ext cx="523240" cy="144145"/>
          </a:xfrm>
          <a:prstGeom prst="rect">
            <a:avLst/>
          </a:prstGeom>
          <a:noFill/>
        </p:spPr>
        <p:txBody>
          <a:bodyPr wrap="none" lIns="0" tIns="0" rIns="0" bIns="0" anchor="t">
            <a:spAutoFit/>
          </a:bodyPr>
          <a:lstStyle/>
          <a:p>
            <a:pPr marL="0" indent="0" algn="r">
              <a:buNone/>
            </a:pPr>
            <a:r>
              <a:rPr sz="935" b="1">
                <a:solidFill>
                  <a:srgbClr val="8F9BAE"/>
                </a:solidFill>
                <a:latin typeface="Consolas" panose="020B0609020204030204"/>
                <a:ea typeface="Consolas" panose="020B0609020204030204"/>
                <a:cs typeface="Consolas" panose="020B0609020204030204"/>
              </a:rPr>
              <a:t>OPTIONAL</a:t>
            </a:r>
            <a:endParaRPr sz="935"/>
          </a:p>
        </p:txBody>
      </p:sp>
      <p:sp>
        <p:nvSpPr>
          <p:cNvPr id="25" name="Shape 19"/>
          <p:cNvSpPr>
            <a:spLocks noGrp="1"/>
          </p:cNvSpPr>
          <p:nvPr/>
        </p:nvSpPr>
        <p:spPr>
          <a:xfrm>
            <a:off x="723900" y="6191251"/>
            <a:ext cx="10744200" cy="666751"/>
          </a:xfrm>
          <a:prstGeom prst="rect">
            <a:avLst/>
          </a:prstGeom>
          <a:solidFill>
            <a:srgbClr val="000000">
              <a:alpha val="0"/>
            </a:srgbClr>
          </a:solidFill>
        </p:spPr>
      </p:sp>
      <p:sp>
        <p:nvSpPr>
          <p:cNvPr id="26" name="Shape 20"/>
          <p:cNvSpPr>
            <a:spLocks noGrp="1"/>
          </p:cNvSpPr>
          <p:nvPr/>
        </p:nvSpPr>
        <p:spPr>
          <a:xfrm>
            <a:off x="723900" y="6191251"/>
            <a:ext cx="10744200" cy="9525"/>
          </a:xfrm>
          <a:prstGeom prst="rect">
            <a:avLst/>
          </a:prstGeom>
          <a:solidFill>
            <a:srgbClr val="FFFFFF"/>
          </a:solidFill>
        </p:spPr>
      </p:sp>
      <p:sp>
        <p:nvSpPr>
          <p:cNvPr id="27" name="Text 21"/>
          <p:cNvSpPr>
            <a:spLocks noGrp="1"/>
          </p:cNvSpPr>
          <p:nvPr/>
        </p:nvSpPr>
        <p:spPr>
          <a:xfrm>
            <a:off x="723900" y="6362700"/>
            <a:ext cx="5846415" cy="174625"/>
          </a:xfrm>
          <a:prstGeom prst="rect">
            <a:avLst/>
          </a:prstGeom>
          <a:noFill/>
        </p:spPr>
        <p:txBody>
          <a:bodyPr wrap="square" lIns="0" tIns="0" rIns="0" bIns="0" anchor="t">
            <a:spAutoFit/>
          </a:bodyPr>
          <a:lstStyle/>
          <a:p>
            <a:pPr marL="0" indent="0" algn="l">
              <a:buNone/>
            </a:pPr>
            <a:r>
              <a:rPr sz="1065" b="1">
                <a:solidFill>
                  <a:srgbClr val="00D4FF"/>
                </a:solidFill>
                <a:latin typeface="Arial" panose="020B0604020202020204"/>
                <a:ea typeface="Arial" panose="020B0604020202020204"/>
                <a:cs typeface="Arial" panose="020B0604020202020204"/>
              </a:rPr>
              <a:t>POST YOUR WRITEUPS IN THE GROUP. Show the clue, recipe, output, and verification.</a:t>
            </a:r>
            <a:endParaRPr sz="1065"/>
          </a:p>
        </p:txBody>
      </p:sp>
      <p:sp>
        <p:nvSpPr>
          <p:cNvPr id="28" name="Text 22"/>
          <p:cNvSpPr>
            <a:spLocks noGrp="1"/>
          </p:cNvSpPr>
          <p:nvPr/>
        </p:nvSpPr>
        <p:spPr>
          <a:xfrm>
            <a:off x="10874797" y="6362700"/>
            <a:ext cx="564515" cy="153670"/>
          </a:xfrm>
          <a:prstGeom prst="rect">
            <a:avLst/>
          </a:prstGeom>
          <a:noFill/>
        </p:spPr>
        <p:txBody>
          <a:bodyPr wrap="none" lIns="0" tIns="0"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1:24–1:28</a:t>
            </a:r>
            <a:endParaRPr sz="10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4" name="Image 0"/>
          <p:cNvPicPr>
            <a:picLocks noChangeAspect="1"/>
          </p:cNvPicPr>
          <p:nvPr/>
        </p:nvPicPr>
        <p:blipFill>
          <a:blip r:embed="rId1"/>
          <a:stretch>
            <a:fillRect/>
          </a:stretch>
        </p:blipFill>
        <p:spPr>
          <a:xfrm>
            <a:off x="0" y="9525"/>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37" name="Image 1"/>
          <p:cNvPicPr>
            <a:picLocks noChangeAspect="1"/>
          </p:cNvPicPr>
          <p:nvPr/>
        </p:nvPicPr>
        <p:blipFill>
          <a:blip r:embed="rId2"/>
          <a:stretch>
            <a:fillRect/>
          </a:stretch>
        </p:blipFill>
        <p:spPr>
          <a:xfrm>
            <a:off x="723900" y="190500"/>
            <a:ext cx="590551" cy="590551"/>
          </a:xfrm>
          <a:prstGeom prst="rect">
            <a:avLst/>
          </a:prstGeom>
        </p:spPr>
      </p:pic>
      <p:pic>
        <p:nvPicPr>
          <p:cNvPr id="38"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1028700" y="971551"/>
            <a:ext cx="10134600" cy="495300"/>
          </a:xfrm>
          <a:prstGeom prst="rect">
            <a:avLst/>
          </a:prstGeom>
          <a:noFill/>
        </p:spPr>
        <p:txBody>
          <a:bodyPr wrap="square" lIns="0" tIns="351536" rIns="0" bIns="0" anchor="t">
            <a:spAutoFit/>
          </a:bodyPr>
          <a:lstStyle/>
          <a:p>
            <a:pPr marL="0" indent="0" algn="l">
              <a:buNone/>
            </a:pPr>
            <a:r>
              <a:rPr sz="935" b="1" spc="3">
                <a:solidFill>
                  <a:srgbClr val="00D4FF"/>
                </a:solidFill>
                <a:latin typeface="Arial" panose="020B0604020202020204"/>
                <a:ea typeface="Arial" panose="020B0604020202020204"/>
                <a:cs typeface="Arial" panose="020B0604020202020204"/>
              </a:rPr>
              <a:t>COMMUNITY PROGRESS</a:t>
            </a:r>
            <a:endParaRPr sz="935"/>
          </a:p>
        </p:txBody>
      </p:sp>
      <p:sp>
        <p:nvSpPr>
          <p:cNvPr id="9" name="Text 3"/>
          <p:cNvSpPr>
            <a:spLocks noGrp="1"/>
          </p:cNvSpPr>
          <p:nvPr/>
        </p:nvSpPr>
        <p:spPr>
          <a:xfrm>
            <a:off x="1028700" y="1485900"/>
            <a:ext cx="5605780" cy="417195"/>
          </a:xfrm>
          <a:prstGeom prst="rect">
            <a:avLst/>
          </a:prstGeom>
          <a:noFill/>
        </p:spPr>
        <p:txBody>
          <a:bodyPr wrap="none" lIns="0" tIns="0" rIns="0" bIns="0" anchor="t">
            <a:spAutoFit/>
          </a:bodyPr>
          <a:lstStyle/>
          <a:p>
            <a:pPr marL="0" indent="0" algn="l">
              <a:lnSpc>
                <a:spcPct val="83000"/>
              </a:lnSpc>
              <a:buNone/>
            </a:pPr>
            <a:r>
              <a:rPr sz="3265" b="1" spc="-1">
                <a:solidFill>
                  <a:srgbClr val="FFFFFF"/>
                </a:solidFill>
                <a:latin typeface="Arial" panose="020B0604020202020204"/>
                <a:ea typeface="Arial" panose="020B0604020202020204"/>
                <a:cs typeface="Arial" panose="020B0604020202020204"/>
              </a:rPr>
              <a:t>THE SCOREBOARD IS LIVE.</a:t>
            </a:r>
            <a:endParaRPr sz="3265"/>
          </a:p>
        </p:txBody>
      </p:sp>
      <p:sp>
        <p:nvSpPr>
          <p:cNvPr id="10" name="Text 4"/>
          <p:cNvSpPr>
            <a:spLocks noGrp="1"/>
          </p:cNvSpPr>
          <p:nvPr/>
        </p:nvSpPr>
        <p:spPr>
          <a:xfrm>
            <a:off x="9130605" y="1738312"/>
            <a:ext cx="2032695" cy="163830"/>
          </a:xfrm>
          <a:prstGeom prst="rect">
            <a:avLst/>
          </a:prstGeom>
          <a:noFill/>
        </p:spPr>
        <p:txBody>
          <a:bodyPr wrap="square" lIns="0" tIns="0" rIns="0" bIns="0" anchor="t">
            <a:spAutoFit/>
          </a:bodyPr>
          <a:lstStyle/>
          <a:p>
            <a:pPr marL="0" indent="0" algn="l">
              <a:buNone/>
            </a:pPr>
            <a:r>
              <a:rPr sz="1065" b="1" spc="2">
                <a:solidFill>
                  <a:srgbClr val="FF6B1A"/>
                </a:solidFill>
                <a:latin typeface="Arial" panose="020B0604020202020204"/>
                <a:ea typeface="Arial" panose="020B0604020202020204"/>
                <a:cs typeface="Arial" panose="020B0604020202020204"/>
              </a:rPr>
              <a:t>LIVE EDITABLE TABLE</a:t>
            </a:r>
            <a:endParaRPr sz="1065"/>
          </a:p>
        </p:txBody>
      </p:sp>
      <p:sp>
        <p:nvSpPr>
          <p:cNvPr id="11" name="Text 5"/>
          <p:cNvSpPr>
            <a:spLocks noGrp="1"/>
          </p:cNvSpPr>
          <p:nvPr/>
        </p:nvSpPr>
        <p:spPr>
          <a:xfrm>
            <a:off x="1028700" y="2056581"/>
            <a:ext cx="10134600" cy="194310"/>
          </a:xfrm>
          <a:prstGeom prst="rect">
            <a:avLst/>
          </a:prstGeom>
          <a:noFill/>
        </p:spPr>
        <p:txBody>
          <a:bodyPr wrap="square" lIns="0" tIns="0" rIns="0" bIns="0" anchor="t">
            <a:spAutoFit/>
          </a:bodyPr>
          <a:lstStyle/>
          <a:p>
            <a:pPr marL="0" indent="0" algn="l">
              <a:buNone/>
            </a:pPr>
            <a:r>
              <a:rPr sz="1265">
                <a:solidFill>
                  <a:srgbClr val="9CA8BA"/>
                </a:solidFill>
                <a:latin typeface="Arial" panose="020B0604020202020204"/>
                <a:ea typeface="Arial" panose="020B0604020202020204"/>
                <a:cs typeface="Arial" panose="020B0604020202020204"/>
              </a:rPr>
              <a:t>Complete the labs. Record the evidence. Move up together.</a:t>
            </a:r>
            <a:endParaRPr sz="1265"/>
          </a:p>
        </p:txBody>
      </p:sp>
      <p:sp>
        <p:nvSpPr>
          <p:cNvPr id="12" name="Text 6"/>
          <p:cNvSpPr>
            <a:spLocks noGrp="1"/>
          </p:cNvSpPr>
          <p:nvPr/>
        </p:nvSpPr>
        <p:spPr>
          <a:xfrm>
            <a:off x="1038225" y="2523307"/>
            <a:ext cx="591820" cy="133350"/>
          </a:xfrm>
          <a:prstGeom prst="rect">
            <a:avLst/>
          </a:prstGeom>
          <a:noFill/>
        </p:spPr>
        <p:txBody>
          <a:bodyPr wrap="none" lIns="272118" tIns="0" rIns="0" bIns="0" anchor="t">
            <a:spAutoFit/>
          </a:bodyPr>
          <a:lstStyle/>
          <a:p>
            <a:pPr marL="0" indent="0" algn="l">
              <a:buNone/>
            </a:pPr>
            <a:r>
              <a:rPr sz="865" b="1" spc="2">
                <a:solidFill>
                  <a:srgbClr val="8290A5"/>
                </a:solidFill>
                <a:latin typeface="Arial" panose="020B0604020202020204"/>
                <a:ea typeface="Arial" panose="020B0604020202020204"/>
                <a:cs typeface="Arial" panose="020B0604020202020204"/>
              </a:rPr>
              <a:t>RANK</a:t>
            </a:r>
            <a:endParaRPr sz="865"/>
          </a:p>
        </p:txBody>
      </p:sp>
      <p:sp>
        <p:nvSpPr>
          <p:cNvPr id="13" name="Text 7"/>
          <p:cNvSpPr>
            <a:spLocks noGrp="1"/>
          </p:cNvSpPr>
          <p:nvPr/>
        </p:nvSpPr>
        <p:spPr>
          <a:xfrm>
            <a:off x="2657475" y="2523307"/>
            <a:ext cx="5981700" cy="133350"/>
          </a:xfrm>
          <a:prstGeom prst="rect">
            <a:avLst/>
          </a:prstGeom>
          <a:noFill/>
        </p:spPr>
        <p:txBody>
          <a:bodyPr wrap="square" lIns="272118" tIns="0" rIns="0" bIns="0" anchor="t">
            <a:spAutoFit/>
          </a:bodyPr>
          <a:lstStyle/>
          <a:p>
            <a:pPr marL="0" indent="0" algn="l">
              <a:buNone/>
            </a:pPr>
            <a:r>
              <a:rPr sz="865" b="1" spc="2">
                <a:solidFill>
                  <a:srgbClr val="8290A5"/>
                </a:solidFill>
                <a:latin typeface="Arial" panose="020B0604020202020204"/>
                <a:ea typeface="Arial" panose="020B0604020202020204"/>
                <a:cs typeface="Arial" panose="020B0604020202020204"/>
              </a:rPr>
              <a:t>NAME</a:t>
            </a:r>
            <a:endParaRPr sz="865"/>
          </a:p>
        </p:txBody>
      </p:sp>
      <p:sp>
        <p:nvSpPr>
          <p:cNvPr id="14" name="Text 8"/>
          <p:cNvSpPr>
            <a:spLocks noGrp="1"/>
          </p:cNvSpPr>
          <p:nvPr/>
        </p:nvSpPr>
        <p:spPr>
          <a:xfrm>
            <a:off x="8639175" y="2523307"/>
            <a:ext cx="2524125" cy="133350"/>
          </a:xfrm>
          <a:prstGeom prst="rect">
            <a:avLst/>
          </a:prstGeom>
          <a:noFill/>
        </p:spPr>
        <p:txBody>
          <a:bodyPr wrap="square" lIns="272118" tIns="0" rIns="0" bIns="0" anchor="t">
            <a:spAutoFit/>
          </a:bodyPr>
          <a:lstStyle/>
          <a:p>
            <a:pPr marL="0" indent="0" algn="l">
              <a:buNone/>
            </a:pPr>
            <a:r>
              <a:rPr sz="865" b="1" spc="2">
                <a:solidFill>
                  <a:srgbClr val="8290A5"/>
                </a:solidFill>
                <a:latin typeface="Arial" panose="020B0604020202020204"/>
                <a:ea typeface="Arial" panose="020B0604020202020204"/>
                <a:cs typeface="Arial" panose="020B0604020202020204"/>
              </a:rPr>
              <a:t>CHALLENGES COMPLETED</a:t>
            </a:r>
            <a:endParaRPr sz="865"/>
          </a:p>
        </p:txBody>
      </p:sp>
      <p:sp>
        <p:nvSpPr>
          <p:cNvPr id="15" name="Text 9"/>
          <p:cNvSpPr>
            <a:spLocks noGrp="1"/>
          </p:cNvSpPr>
          <p:nvPr/>
        </p:nvSpPr>
        <p:spPr>
          <a:xfrm>
            <a:off x="1038225" y="3113856"/>
            <a:ext cx="458470" cy="205740"/>
          </a:xfrm>
          <a:prstGeom prst="rect">
            <a:avLst/>
          </a:prstGeom>
          <a:noFill/>
        </p:spPr>
        <p:txBody>
          <a:bodyPr wrap="none" lIns="272118" tIns="0" rIns="0" bIns="0" anchor="t">
            <a:spAutoFit/>
          </a:bodyPr>
          <a:lstStyle/>
          <a:p>
            <a:pPr marL="0" indent="0" algn="l">
              <a:buNone/>
            </a:pPr>
            <a:r>
              <a:rPr sz="1335" b="1">
                <a:solidFill>
                  <a:srgbClr val="FF6B1A"/>
                </a:solidFill>
                <a:latin typeface="Consolas" panose="020B0609020204030204"/>
                <a:ea typeface="Consolas" panose="020B0609020204030204"/>
                <a:cs typeface="Consolas" panose="020B0609020204030204"/>
              </a:rPr>
              <a:t>01</a:t>
            </a:r>
            <a:endParaRPr sz="1335"/>
          </a:p>
        </p:txBody>
      </p:sp>
      <p:sp>
        <p:nvSpPr>
          <p:cNvPr id="16" name="Text 10"/>
          <p:cNvSpPr>
            <a:spLocks noGrp="1"/>
          </p:cNvSpPr>
          <p:nvPr/>
        </p:nvSpPr>
        <p:spPr>
          <a:xfrm>
            <a:off x="2657475" y="3113856"/>
            <a:ext cx="5981700" cy="225425"/>
          </a:xfrm>
          <a:prstGeom prst="rect">
            <a:avLst/>
          </a:prstGeom>
          <a:noFill/>
        </p:spPr>
        <p:txBody>
          <a:bodyPr wrap="square" lIns="272118" tIns="0" rIns="0" bIns="0" anchor="t">
            <a:spAutoFit/>
          </a:bodyPr>
          <a:lstStyle/>
          <a:p>
            <a:pPr marL="0" indent="0" algn="l">
              <a:buNone/>
            </a:pPr>
            <a:r>
              <a:rPr sz="1465" i="1">
                <a:solidFill>
                  <a:srgbClr val="738197"/>
                </a:solidFill>
                <a:latin typeface="Arial" panose="020B0604020202020204"/>
                <a:ea typeface="Arial" panose="020B0604020202020204"/>
                <a:cs typeface="Arial" panose="020B0604020202020204"/>
              </a:rPr>
              <a:t>[ </a:t>
            </a:r>
            <a:r>
              <a:rPr lang="en-US" sz="1465" i="1">
                <a:solidFill>
                  <a:srgbClr val="738197"/>
                </a:solidFill>
                <a:latin typeface="Arial" panose="020B0604020202020204"/>
                <a:ea typeface="Arial" panose="020B0604020202020204"/>
                <a:cs typeface="Arial" panose="020B0604020202020204"/>
              </a:rPr>
              <a:t>Arman</a:t>
            </a:r>
            <a:r>
              <a:rPr sz="1465" i="1">
                <a:solidFill>
                  <a:srgbClr val="738197"/>
                </a:solidFill>
                <a:latin typeface="Arial" panose="020B0604020202020204"/>
                <a:ea typeface="Arial" panose="020B0604020202020204"/>
                <a:cs typeface="Arial" panose="020B0604020202020204"/>
              </a:rPr>
              <a:t> ]</a:t>
            </a:r>
            <a:endParaRPr sz="1465"/>
          </a:p>
        </p:txBody>
      </p:sp>
      <p:sp>
        <p:nvSpPr>
          <p:cNvPr id="17" name="Text 11"/>
          <p:cNvSpPr>
            <a:spLocks noGrp="1"/>
          </p:cNvSpPr>
          <p:nvPr/>
        </p:nvSpPr>
        <p:spPr>
          <a:xfrm>
            <a:off x="8639175" y="3113856"/>
            <a:ext cx="2524125" cy="215265"/>
          </a:xfrm>
          <a:prstGeom prst="rect">
            <a:avLst/>
          </a:prstGeom>
          <a:noFill/>
        </p:spPr>
        <p:txBody>
          <a:bodyPr wrap="square" lIns="272118" tIns="0" rIns="0" bIns="0" anchor="t">
            <a:spAutoFit/>
          </a:bodyPr>
          <a:lstStyle/>
          <a:p>
            <a:pPr marL="0" indent="0" algn="l">
              <a:buNone/>
            </a:pPr>
            <a:r>
              <a:rPr sz="1400" i="1">
                <a:solidFill>
                  <a:srgbClr val="738197"/>
                </a:solidFill>
                <a:latin typeface="Consolas" panose="020B0609020204030204"/>
                <a:ea typeface="Consolas" panose="020B0609020204030204"/>
                <a:cs typeface="Consolas" panose="020B0609020204030204"/>
              </a:rPr>
              <a:t>[ </a:t>
            </a:r>
            <a:r>
              <a:rPr lang="en-US" sz="1400" i="1">
                <a:solidFill>
                  <a:srgbClr val="738197"/>
                </a:solidFill>
                <a:latin typeface="Consolas" panose="020B0609020204030204"/>
                <a:ea typeface="Consolas" panose="020B0609020204030204"/>
                <a:cs typeface="Consolas" panose="020B0609020204030204"/>
              </a:rPr>
              <a:t>10+20+10+10+15+15</a:t>
            </a:r>
            <a:r>
              <a:rPr sz="1400" i="1">
                <a:solidFill>
                  <a:srgbClr val="738197"/>
                </a:solidFill>
                <a:latin typeface="Consolas" panose="020B0609020204030204"/>
                <a:ea typeface="Consolas" panose="020B0609020204030204"/>
                <a:cs typeface="Consolas" panose="020B0609020204030204"/>
              </a:rPr>
              <a:t> ]</a:t>
            </a:r>
            <a:endParaRPr sz="1400"/>
          </a:p>
        </p:txBody>
      </p:sp>
      <p:sp>
        <p:nvSpPr>
          <p:cNvPr id="18" name="Text 12"/>
          <p:cNvSpPr>
            <a:spLocks noGrp="1"/>
          </p:cNvSpPr>
          <p:nvPr/>
        </p:nvSpPr>
        <p:spPr>
          <a:xfrm>
            <a:off x="1038225" y="3704407"/>
            <a:ext cx="458470" cy="205740"/>
          </a:xfrm>
          <a:prstGeom prst="rect">
            <a:avLst/>
          </a:prstGeom>
          <a:noFill/>
        </p:spPr>
        <p:txBody>
          <a:bodyPr wrap="none" lIns="272118" tIns="0" rIns="0" bIns="0" anchor="t">
            <a:spAutoFit/>
          </a:bodyPr>
          <a:lstStyle/>
          <a:p>
            <a:pPr marL="0" indent="0" algn="l">
              <a:buNone/>
            </a:pPr>
            <a:r>
              <a:rPr sz="1335" b="1">
                <a:solidFill>
                  <a:srgbClr val="00D4FF"/>
                </a:solidFill>
                <a:latin typeface="Consolas" panose="020B0609020204030204"/>
                <a:ea typeface="Consolas" panose="020B0609020204030204"/>
                <a:cs typeface="Consolas" panose="020B0609020204030204"/>
              </a:rPr>
              <a:t>02</a:t>
            </a:r>
            <a:endParaRPr sz="1335"/>
          </a:p>
        </p:txBody>
      </p:sp>
      <p:sp>
        <p:nvSpPr>
          <p:cNvPr id="19" name="Text 13"/>
          <p:cNvSpPr>
            <a:spLocks noGrp="1"/>
          </p:cNvSpPr>
          <p:nvPr/>
        </p:nvSpPr>
        <p:spPr>
          <a:xfrm>
            <a:off x="2657475" y="3704407"/>
            <a:ext cx="5981700" cy="225425"/>
          </a:xfrm>
          <a:prstGeom prst="rect">
            <a:avLst/>
          </a:prstGeom>
          <a:noFill/>
        </p:spPr>
        <p:txBody>
          <a:bodyPr wrap="square" lIns="272118" tIns="0" rIns="0" bIns="0" anchor="t">
            <a:spAutoFit/>
          </a:bodyPr>
          <a:lstStyle/>
          <a:p>
            <a:pPr marL="0" indent="0" algn="l">
              <a:buNone/>
            </a:pPr>
            <a:r>
              <a:rPr sz="1465" i="1">
                <a:solidFill>
                  <a:srgbClr val="738197"/>
                </a:solidFill>
                <a:latin typeface="Arial" panose="020B0604020202020204"/>
                <a:ea typeface="Arial" panose="020B0604020202020204"/>
                <a:cs typeface="Arial" panose="020B0604020202020204"/>
              </a:rPr>
              <a:t>[ </a:t>
            </a:r>
            <a:r>
              <a:rPr lang="en-US" sz="1465" i="1">
                <a:solidFill>
                  <a:srgbClr val="738197"/>
                </a:solidFill>
                <a:latin typeface="Arial" panose="020B0604020202020204"/>
                <a:ea typeface="Arial" panose="020B0604020202020204"/>
                <a:cs typeface="Arial" panose="020B0604020202020204"/>
              </a:rPr>
              <a:t>shawon</a:t>
            </a:r>
            <a:r>
              <a:rPr sz="1465" i="1">
                <a:solidFill>
                  <a:srgbClr val="738197"/>
                </a:solidFill>
                <a:latin typeface="Arial" panose="020B0604020202020204"/>
                <a:ea typeface="Arial" panose="020B0604020202020204"/>
                <a:cs typeface="Arial" panose="020B0604020202020204"/>
              </a:rPr>
              <a:t> ]</a:t>
            </a:r>
            <a:endParaRPr sz="1465"/>
          </a:p>
        </p:txBody>
      </p:sp>
      <p:sp>
        <p:nvSpPr>
          <p:cNvPr id="20" name="Text 14"/>
          <p:cNvSpPr>
            <a:spLocks noGrp="1"/>
          </p:cNvSpPr>
          <p:nvPr/>
        </p:nvSpPr>
        <p:spPr>
          <a:xfrm>
            <a:off x="8639175" y="3704407"/>
            <a:ext cx="2524125" cy="215265"/>
          </a:xfrm>
          <a:prstGeom prst="rect">
            <a:avLst/>
          </a:prstGeom>
          <a:noFill/>
        </p:spPr>
        <p:txBody>
          <a:bodyPr wrap="square" lIns="272118" tIns="0" rIns="0" bIns="0" anchor="t">
            <a:spAutoFit/>
          </a:bodyPr>
          <a:lstStyle/>
          <a:p>
            <a:pPr marL="0" indent="0" algn="l">
              <a:buNone/>
            </a:pPr>
            <a:r>
              <a:rPr sz="1400" i="1">
                <a:solidFill>
                  <a:srgbClr val="738197"/>
                </a:solidFill>
                <a:latin typeface="Consolas" panose="020B0609020204030204"/>
                <a:ea typeface="Consolas" panose="020B0609020204030204"/>
                <a:cs typeface="Consolas" panose="020B0609020204030204"/>
              </a:rPr>
              <a:t>[ </a:t>
            </a:r>
            <a:r>
              <a:rPr lang="en-US" sz="1400" i="1">
                <a:solidFill>
                  <a:srgbClr val="738197"/>
                </a:solidFill>
                <a:latin typeface="Consolas" panose="020B0609020204030204"/>
                <a:ea typeface="Consolas" panose="020B0609020204030204"/>
                <a:cs typeface="Consolas" panose="020B0609020204030204"/>
              </a:rPr>
              <a:t>10+15+10+15</a:t>
            </a:r>
            <a:r>
              <a:rPr sz="1400" i="1">
                <a:solidFill>
                  <a:srgbClr val="738197"/>
                </a:solidFill>
                <a:latin typeface="Consolas" panose="020B0609020204030204"/>
                <a:ea typeface="Consolas" panose="020B0609020204030204"/>
                <a:cs typeface="Consolas" panose="020B0609020204030204"/>
              </a:rPr>
              <a:t> ]</a:t>
            </a:r>
            <a:endParaRPr sz="1400"/>
          </a:p>
        </p:txBody>
      </p:sp>
      <p:sp>
        <p:nvSpPr>
          <p:cNvPr id="21" name="Text 15"/>
          <p:cNvSpPr>
            <a:spLocks noGrp="1"/>
          </p:cNvSpPr>
          <p:nvPr/>
        </p:nvSpPr>
        <p:spPr>
          <a:xfrm>
            <a:off x="1038225" y="4294956"/>
            <a:ext cx="458470" cy="205740"/>
          </a:xfrm>
          <a:prstGeom prst="rect">
            <a:avLst/>
          </a:prstGeom>
          <a:noFill/>
        </p:spPr>
        <p:txBody>
          <a:bodyPr wrap="none" lIns="272118" tIns="0" rIns="0" bIns="0" anchor="t">
            <a:spAutoFit/>
          </a:bodyPr>
          <a:lstStyle/>
          <a:p>
            <a:pPr marL="0" indent="0" algn="l">
              <a:buNone/>
            </a:pPr>
            <a:r>
              <a:rPr sz="1335" b="1">
                <a:solidFill>
                  <a:srgbClr val="00D4FF"/>
                </a:solidFill>
                <a:latin typeface="Consolas" panose="020B0609020204030204"/>
                <a:ea typeface="Consolas" panose="020B0609020204030204"/>
                <a:cs typeface="Consolas" panose="020B0609020204030204"/>
              </a:rPr>
              <a:t>03</a:t>
            </a:r>
            <a:endParaRPr sz="1335"/>
          </a:p>
        </p:txBody>
      </p:sp>
      <p:sp>
        <p:nvSpPr>
          <p:cNvPr id="22" name="Text 16"/>
          <p:cNvSpPr>
            <a:spLocks noGrp="1"/>
          </p:cNvSpPr>
          <p:nvPr/>
        </p:nvSpPr>
        <p:spPr>
          <a:xfrm>
            <a:off x="2657475" y="4294956"/>
            <a:ext cx="5981700" cy="225425"/>
          </a:xfrm>
          <a:prstGeom prst="rect">
            <a:avLst/>
          </a:prstGeom>
          <a:noFill/>
        </p:spPr>
        <p:txBody>
          <a:bodyPr wrap="square" lIns="272118" tIns="0" rIns="0" bIns="0" anchor="t">
            <a:spAutoFit/>
          </a:bodyPr>
          <a:lstStyle/>
          <a:p>
            <a:pPr marL="0" indent="0" algn="l">
              <a:buNone/>
            </a:pPr>
            <a:r>
              <a:rPr sz="1465" i="1">
                <a:solidFill>
                  <a:srgbClr val="738197"/>
                </a:solidFill>
                <a:latin typeface="Arial" panose="020B0604020202020204"/>
                <a:ea typeface="Arial" panose="020B0604020202020204"/>
                <a:cs typeface="Arial" panose="020B0604020202020204"/>
              </a:rPr>
              <a:t>[ </a:t>
            </a:r>
            <a:r>
              <a:rPr lang="en-US" sz="1465" i="1">
                <a:solidFill>
                  <a:srgbClr val="738197"/>
                </a:solidFill>
                <a:latin typeface="Arial" panose="020B0604020202020204"/>
                <a:ea typeface="Arial" panose="020B0604020202020204"/>
                <a:cs typeface="Arial" panose="020B0604020202020204"/>
              </a:rPr>
              <a:t>shibly</a:t>
            </a:r>
            <a:r>
              <a:rPr sz="1465" i="1">
                <a:solidFill>
                  <a:srgbClr val="738197"/>
                </a:solidFill>
                <a:latin typeface="Arial" panose="020B0604020202020204"/>
                <a:ea typeface="Arial" panose="020B0604020202020204"/>
                <a:cs typeface="Arial" panose="020B0604020202020204"/>
              </a:rPr>
              <a:t> ]</a:t>
            </a:r>
            <a:endParaRPr sz="1465"/>
          </a:p>
        </p:txBody>
      </p:sp>
      <p:sp>
        <p:nvSpPr>
          <p:cNvPr id="23" name="Text 17"/>
          <p:cNvSpPr>
            <a:spLocks noGrp="1"/>
          </p:cNvSpPr>
          <p:nvPr/>
        </p:nvSpPr>
        <p:spPr>
          <a:xfrm>
            <a:off x="8639175" y="4294956"/>
            <a:ext cx="2524125" cy="215265"/>
          </a:xfrm>
          <a:prstGeom prst="rect">
            <a:avLst/>
          </a:prstGeom>
          <a:noFill/>
        </p:spPr>
        <p:txBody>
          <a:bodyPr wrap="square" lIns="272118" tIns="0" rIns="0" bIns="0" anchor="t">
            <a:spAutoFit/>
          </a:bodyPr>
          <a:lstStyle/>
          <a:p>
            <a:pPr marL="0" indent="0" algn="l">
              <a:buNone/>
            </a:pPr>
            <a:r>
              <a:rPr sz="1400" i="1">
                <a:solidFill>
                  <a:srgbClr val="738197"/>
                </a:solidFill>
                <a:latin typeface="Consolas" panose="020B0609020204030204"/>
                <a:ea typeface="Consolas" panose="020B0609020204030204"/>
                <a:cs typeface="Consolas" panose="020B0609020204030204"/>
              </a:rPr>
              <a:t>[ </a:t>
            </a:r>
            <a:r>
              <a:rPr lang="en-US" sz="1400" i="1">
                <a:solidFill>
                  <a:srgbClr val="738197"/>
                </a:solidFill>
                <a:latin typeface="Consolas" panose="020B0609020204030204"/>
                <a:ea typeface="Consolas" panose="020B0609020204030204"/>
                <a:cs typeface="Consolas" panose="020B0609020204030204"/>
              </a:rPr>
              <a:t>10+20+20+20+20</a:t>
            </a:r>
            <a:r>
              <a:rPr sz="1400" i="1">
                <a:solidFill>
                  <a:srgbClr val="738197"/>
                </a:solidFill>
                <a:latin typeface="Consolas" panose="020B0609020204030204"/>
                <a:ea typeface="Consolas" panose="020B0609020204030204"/>
                <a:cs typeface="Consolas" panose="020B0609020204030204"/>
              </a:rPr>
              <a:t> ]</a:t>
            </a:r>
            <a:endParaRPr sz="1400"/>
          </a:p>
        </p:txBody>
      </p:sp>
      <p:sp>
        <p:nvSpPr>
          <p:cNvPr id="24" name="Text 18"/>
          <p:cNvSpPr>
            <a:spLocks noGrp="1"/>
          </p:cNvSpPr>
          <p:nvPr/>
        </p:nvSpPr>
        <p:spPr>
          <a:xfrm>
            <a:off x="1038225" y="4885507"/>
            <a:ext cx="458470" cy="205740"/>
          </a:xfrm>
          <a:prstGeom prst="rect">
            <a:avLst/>
          </a:prstGeom>
          <a:noFill/>
        </p:spPr>
        <p:txBody>
          <a:bodyPr wrap="none" lIns="272118" tIns="0" rIns="0" bIns="0" anchor="t">
            <a:spAutoFit/>
          </a:bodyPr>
          <a:lstStyle/>
          <a:p>
            <a:pPr marL="0" indent="0" algn="l">
              <a:buNone/>
            </a:pPr>
            <a:r>
              <a:rPr sz="1335" b="1">
                <a:solidFill>
                  <a:srgbClr val="00D4FF"/>
                </a:solidFill>
                <a:latin typeface="Consolas" panose="020B0609020204030204"/>
                <a:ea typeface="Consolas" panose="020B0609020204030204"/>
                <a:cs typeface="Consolas" panose="020B0609020204030204"/>
              </a:rPr>
              <a:t>04</a:t>
            </a:r>
            <a:endParaRPr sz="1335"/>
          </a:p>
        </p:txBody>
      </p:sp>
      <p:sp>
        <p:nvSpPr>
          <p:cNvPr id="25" name="Text 19"/>
          <p:cNvSpPr>
            <a:spLocks noGrp="1"/>
          </p:cNvSpPr>
          <p:nvPr/>
        </p:nvSpPr>
        <p:spPr>
          <a:xfrm>
            <a:off x="2657475" y="4885507"/>
            <a:ext cx="5981700" cy="225425"/>
          </a:xfrm>
          <a:prstGeom prst="rect">
            <a:avLst/>
          </a:prstGeom>
          <a:noFill/>
        </p:spPr>
        <p:txBody>
          <a:bodyPr wrap="square" lIns="272118" tIns="0" rIns="0" bIns="0" anchor="t">
            <a:spAutoFit/>
          </a:bodyPr>
          <a:lstStyle/>
          <a:p>
            <a:pPr marL="0" indent="0" algn="l">
              <a:buNone/>
            </a:pPr>
            <a:r>
              <a:rPr sz="1465" i="1">
                <a:solidFill>
                  <a:srgbClr val="738197"/>
                </a:solidFill>
                <a:latin typeface="Arial" panose="020B0604020202020204"/>
                <a:ea typeface="Arial" panose="020B0604020202020204"/>
                <a:cs typeface="Arial" panose="020B0604020202020204"/>
              </a:rPr>
              <a:t>[ </a:t>
            </a:r>
            <a:r>
              <a:rPr lang="en-US" sz="1465" i="1">
                <a:solidFill>
                  <a:srgbClr val="738197"/>
                </a:solidFill>
                <a:latin typeface="Arial" panose="020B0604020202020204"/>
                <a:ea typeface="Arial" panose="020B0604020202020204"/>
                <a:cs typeface="Arial" panose="020B0604020202020204"/>
              </a:rPr>
              <a:t>mazhar</a:t>
            </a:r>
            <a:r>
              <a:rPr sz="1465" i="1">
                <a:solidFill>
                  <a:srgbClr val="738197"/>
                </a:solidFill>
                <a:latin typeface="Arial" panose="020B0604020202020204"/>
                <a:ea typeface="Arial" panose="020B0604020202020204"/>
                <a:cs typeface="Arial" panose="020B0604020202020204"/>
              </a:rPr>
              <a:t> ]</a:t>
            </a:r>
            <a:endParaRPr sz="1465"/>
          </a:p>
        </p:txBody>
      </p:sp>
      <p:sp>
        <p:nvSpPr>
          <p:cNvPr id="26" name="Text 20"/>
          <p:cNvSpPr>
            <a:spLocks noGrp="1"/>
          </p:cNvSpPr>
          <p:nvPr/>
        </p:nvSpPr>
        <p:spPr>
          <a:xfrm>
            <a:off x="8639175" y="4885507"/>
            <a:ext cx="2524125" cy="215265"/>
          </a:xfrm>
          <a:prstGeom prst="rect">
            <a:avLst/>
          </a:prstGeom>
          <a:noFill/>
        </p:spPr>
        <p:txBody>
          <a:bodyPr wrap="square" lIns="272118" tIns="0" rIns="0" bIns="0" anchor="t">
            <a:spAutoFit/>
          </a:bodyPr>
          <a:lstStyle/>
          <a:p>
            <a:pPr marL="0" indent="0" algn="l">
              <a:buNone/>
            </a:pPr>
            <a:r>
              <a:rPr sz="1400" i="1">
                <a:solidFill>
                  <a:srgbClr val="738197"/>
                </a:solidFill>
                <a:latin typeface="Consolas" panose="020B0609020204030204"/>
                <a:ea typeface="Consolas" panose="020B0609020204030204"/>
                <a:cs typeface="Consolas" panose="020B0609020204030204"/>
              </a:rPr>
              <a:t>[ </a:t>
            </a:r>
            <a:r>
              <a:rPr lang="en-US" sz="1400" i="1">
                <a:solidFill>
                  <a:srgbClr val="738197"/>
                </a:solidFill>
                <a:latin typeface="Consolas" panose="020B0609020204030204"/>
                <a:ea typeface="Consolas" panose="020B0609020204030204"/>
                <a:cs typeface="Consolas" panose="020B0609020204030204"/>
              </a:rPr>
              <a:t>10+10+15+10</a:t>
            </a:r>
            <a:r>
              <a:rPr sz="1400" i="1">
                <a:solidFill>
                  <a:srgbClr val="738197"/>
                </a:solidFill>
                <a:latin typeface="Consolas" panose="020B0609020204030204"/>
                <a:ea typeface="Consolas" panose="020B0609020204030204"/>
                <a:cs typeface="Consolas" panose="020B0609020204030204"/>
              </a:rPr>
              <a:t> ]</a:t>
            </a:r>
            <a:endParaRPr sz="1400"/>
          </a:p>
        </p:txBody>
      </p:sp>
      <p:sp>
        <p:nvSpPr>
          <p:cNvPr id="27" name="Shape 21"/>
          <p:cNvSpPr>
            <a:spLocks noGrp="1"/>
          </p:cNvSpPr>
          <p:nvPr/>
        </p:nvSpPr>
        <p:spPr>
          <a:xfrm>
            <a:off x="723900" y="6191251"/>
            <a:ext cx="10744200" cy="666751"/>
          </a:xfrm>
          <a:prstGeom prst="rect">
            <a:avLst/>
          </a:prstGeom>
          <a:solidFill>
            <a:srgbClr val="000000">
              <a:alpha val="0"/>
            </a:srgbClr>
          </a:solidFill>
        </p:spPr>
      </p:sp>
      <p:sp>
        <p:nvSpPr>
          <p:cNvPr id="28" name="Shape 22"/>
          <p:cNvSpPr>
            <a:spLocks noGrp="1"/>
          </p:cNvSpPr>
          <p:nvPr/>
        </p:nvSpPr>
        <p:spPr>
          <a:xfrm>
            <a:off x="723900" y="6191251"/>
            <a:ext cx="10744200" cy="9525"/>
          </a:xfrm>
          <a:prstGeom prst="rect">
            <a:avLst/>
          </a:prstGeom>
          <a:solidFill>
            <a:srgbClr val="FFFFFF"/>
          </a:solidFill>
        </p:spPr>
      </p:sp>
      <p:sp>
        <p:nvSpPr>
          <p:cNvPr id="29" name="Text 23"/>
          <p:cNvSpPr>
            <a:spLocks noGrp="1"/>
          </p:cNvSpPr>
          <p:nvPr/>
        </p:nvSpPr>
        <p:spPr>
          <a:xfrm>
            <a:off x="723900" y="6362700"/>
            <a:ext cx="2545556" cy="163830"/>
          </a:xfrm>
          <a:prstGeom prst="rect">
            <a:avLst/>
          </a:prstGeom>
          <a:noFill/>
        </p:spPr>
        <p:txBody>
          <a:bodyPr wrap="square" lIns="0" tIns="0" rIns="0" bIns="0" anchor="t">
            <a:spAutoFit/>
          </a:bodyPr>
          <a:lstStyle/>
          <a:p>
            <a:pPr marL="0" indent="0" algn="l">
              <a:buNone/>
            </a:pPr>
            <a:r>
              <a:rPr sz="1065" b="1">
                <a:solidFill>
                  <a:srgbClr val="00D4FF"/>
                </a:solidFill>
                <a:latin typeface="Arial" panose="020B0604020202020204"/>
                <a:ea typeface="Arial" panose="020B0604020202020204"/>
                <a:cs typeface="Arial" panose="020B0604020202020204"/>
              </a:rPr>
              <a:t>UPDATED AFTER EVERY CLASS.</a:t>
            </a:r>
            <a:endParaRPr sz="1065"/>
          </a:p>
        </p:txBody>
      </p:sp>
      <p:sp>
        <p:nvSpPr>
          <p:cNvPr id="30" name="Text 24"/>
          <p:cNvSpPr>
            <a:spLocks noGrp="1"/>
          </p:cNvSpPr>
          <p:nvPr/>
        </p:nvSpPr>
        <p:spPr>
          <a:xfrm>
            <a:off x="10874797" y="6362700"/>
            <a:ext cx="564515" cy="153670"/>
          </a:xfrm>
          <a:prstGeom prst="rect">
            <a:avLst/>
          </a:prstGeom>
          <a:noFill/>
        </p:spPr>
        <p:txBody>
          <a:bodyPr wrap="none" lIns="0" tIns="0"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1:24–1:28</a:t>
            </a:r>
            <a:endParaRPr sz="10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9"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22" name="Image 1"/>
          <p:cNvPicPr>
            <a:picLocks noChangeAspect="1"/>
          </p:cNvPicPr>
          <p:nvPr/>
        </p:nvPicPr>
        <p:blipFill>
          <a:blip r:embed="rId2"/>
          <a:stretch>
            <a:fillRect/>
          </a:stretch>
        </p:blipFill>
        <p:spPr>
          <a:xfrm>
            <a:off x="723900" y="190500"/>
            <a:ext cx="590551" cy="590551"/>
          </a:xfrm>
          <a:prstGeom prst="rect">
            <a:avLst/>
          </a:prstGeom>
        </p:spPr>
      </p:pic>
      <p:pic>
        <p:nvPicPr>
          <p:cNvPr id="23"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5601969" y="2537593"/>
            <a:ext cx="988060" cy="144145"/>
          </a:xfrm>
          <a:prstGeom prst="rect">
            <a:avLst/>
          </a:prstGeom>
          <a:noFill/>
        </p:spPr>
        <p:txBody>
          <a:bodyPr wrap="none" lIns="0" tIns="0" rIns="0" bIns="0" anchor="t">
            <a:spAutoFit/>
          </a:bodyPr>
          <a:lstStyle/>
          <a:p>
            <a:pPr marL="0" indent="0" algn="ctr">
              <a:buNone/>
            </a:pPr>
            <a:r>
              <a:rPr sz="935" b="1" spc="3">
                <a:solidFill>
                  <a:srgbClr val="00D4FF"/>
                </a:solidFill>
                <a:latin typeface="Arial" panose="020B0604020202020204"/>
                <a:ea typeface="Arial" panose="020B0604020202020204"/>
                <a:cs typeface="Arial" panose="020B0604020202020204"/>
              </a:rPr>
              <a:t>CLASS 4 SIGNAL</a:t>
            </a:r>
            <a:endParaRPr sz="935"/>
          </a:p>
        </p:txBody>
      </p:sp>
      <p:sp>
        <p:nvSpPr>
          <p:cNvPr id="9" name="Text 3"/>
          <p:cNvSpPr>
            <a:spLocks noGrp="1"/>
          </p:cNvSpPr>
          <p:nvPr/>
        </p:nvSpPr>
        <p:spPr>
          <a:xfrm>
            <a:off x="3352800" y="2975744"/>
            <a:ext cx="5486400" cy="462915"/>
          </a:xfrm>
          <a:prstGeom prst="rect">
            <a:avLst/>
          </a:prstGeom>
          <a:noFill/>
        </p:spPr>
        <p:txBody>
          <a:bodyPr wrap="none" lIns="0" tIns="0" rIns="0" bIns="0" anchor="t">
            <a:spAutoFit/>
          </a:bodyPr>
          <a:lstStyle/>
          <a:p>
            <a:pPr marL="0" indent="0" algn="ctr">
              <a:lnSpc>
                <a:spcPct val="92000"/>
              </a:lnSpc>
              <a:buNone/>
            </a:pPr>
            <a:r>
              <a:rPr sz="3265" b="1" spc="1">
                <a:solidFill>
                  <a:srgbClr val="00D4FF"/>
                </a:solidFill>
                <a:latin typeface="Consolas" panose="020B0609020204030204"/>
                <a:ea typeface="Consolas" panose="020B0609020204030204"/>
                <a:cs typeface="Consolas" panose="020B0609020204030204"/>
              </a:rPr>
              <a:t>dmlldy1zb3VyY2U=</a:t>
            </a:r>
            <a:endParaRPr sz="3265"/>
          </a:p>
        </p:txBody>
      </p:sp>
      <p:sp>
        <p:nvSpPr>
          <p:cNvPr id="10" name="Text 4"/>
          <p:cNvSpPr>
            <a:spLocks noGrp="1"/>
          </p:cNvSpPr>
          <p:nvPr/>
        </p:nvSpPr>
        <p:spPr>
          <a:xfrm>
            <a:off x="4583710" y="4025355"/>
            <a:ext cx="3024505" cy="234315"/>
          </a:xfrm>
          <a:prstGeom prst="rect">
            <a:avLst/>
          </a:prstGeom>
          <a:noFill/>
        </p:spPr>
        <p:txBody>
          <a:bodyPr wrap="none" lIns="0" tIns="0" rIns="0" bIns="0" anchor="t">
            <a:spAutoFit/>
          </a:bodyPr>
          <a:lstStyle/>
          <a:p>
            <a:pPr marL="0" indent="0" algn="ctr">
              <a:lnSpc>
                <a:spcPct val="114000"/>
              </a:lnSpc>
              <a:buNone/>
            </a:pPr>
            <a:r>
              <a:rPr sz="1335">
                <a:solidFill>
                  <a:srgbClr val="9EABBA"/>
                </a:solidFill>
                <a:latin typeface="Arial" panose="020B0604020202020204"/>
                <a:ea typeface="Arial" panose="020B0604020202020204"/>
                <a:cs typeface="Arial" panose="020B0604020202020204"/>
              </a:rPr>
              <a:t>This is not encrypted. The browser is showing you a clue.</a:t>
            </a:r>
            <a:endParaRPr sz="1335"/>
          </a:p>
        </p:txBody>
      </p:sp>
      <p:sp>
        <p:nvSpPr>
          <p:cNvPr id="11" name="Text 5"/>
          <p:cNvSpPr>
            <a:spLocks noGrp="1"/>
          </p:cNvSpPr>
          <p:nvPr/>
        </p:nvSpPr>
        <p:spPr>
          <a:xfrm>
            <a:off x="4134073" y="4377556"/>
            <a:ext cx="3923853" cy="426720"/>
          </a:xfrm>
          <a:prstGeom prst="rect">
            <a:avLst/>
          </a:prstGeom>
          <a:noFill/>
        </p:spPr>
        <p:txBody>
          <a:bodyPr wrap="square" lIns="0" tIns="0" rIns="0" bIns="0" anchor="t">
            <a:spAutoFit/>
          </a:bodyPr>
          <a:lstStyle/>
          <a:p>
            <a:pPr marL="0" indent="0" algn="ctr">
              <a:buNone/>
            </a:pPr>
            <a:r>
              <a:rPr sz="1400" b="1">
                <a:solidFill>
                  <a:srgbClr val="FF6B1A"/>
                </a:solidFill>
                <a:latin typeface="Arial" panose="020B0604020202020204"/>
                <a:ea typeface="Arial" panose="020B0604020202020204"/>
                <a:cs typeface="Arial" panose="020B0604020202020204"/>
              </a:rPr>
              <a:t>Next class: web basics, source code, cookies, and hidden paths.</a:t>
            </a:r>
            <a:endParaRPr sz="1400"/>
          </a:p>
        </p:txBody>
      </p:sp>
      <p:sp>
        <p:nvSpPr>
          <p:cNvPr id="12" name="Shape 6"/>
          <p:cNvSpPr>
            <a:spLocks noGrp="1"/>
          </p:cNvSpPr>
          <p:nvPr/>
        </p:nvSpPr>
        <p:spPr>
          <a:xfrm>
            <a:off x="723900" y="6172200"/>
            <a:ext cx="10744200" cy="685800"/>
          </a:xfrm>
          <a:prstGeom prst="rect">
            <a:avLst/>
          </a:prstGeom>
          <a:solidFill>
            <a:srgbClr val="000000">
              <a:alpha val="0"/>
            </a:srgbClr>
          </a:solidFill>
        </p:spPr>
      </p:sp>
      <p:sp>
        <p:nvSpPr>
          <p:cNvPr id="13" name="Shape 7"/>
          <p:cNvSpPr>
            <a:spLocks noGrp="1"/>
          </p:cNvSpPr>
          <p:nvPr/>
        </p:nvSpPr>
        <p:spPr>
          <a:xfrm>
            <a:off x="723900" y="6172200"/>
            <a:ext cx="10744200" cy="9525"/>
          </a:xfrm>
          <a:prstGeom prst="rect">
            <a:avLst/>
          </a:prstGeom>
          <a:solidFill>
            <a:srgbClr val="FFFFFF"/>
          </a:solidFill>
        </p:spPr>
      </p:sp>
      <p:sp>
        <p:nvSpPr>
          <p:cNvPr id="14" name="Text 8"/>
          <p:cNvSpPr>
            <a:spLocks noGrp="1"/>
          </p:cNvSpPr>
          <p:nvPr/>
        </p:nvSpPr>
        <p:spPr>
          <a:xfrm>
            <a:off x="723900" y="6343651"/>
            <a:ext cx="975360" cy="133350"/>
          </a:xfrm>
          <a:prstGeom prst="rect">
            <a:avLst/>
          </a:prstGeom>
          <a:noFill/>
        </p:spPr>
        <p:txBody>
          <a:bodyPr wrap="none" lIns="0" tIns="0" rIns="0" bIns="0" anchor="t">
            <a:spAutoFit/>
          </a:bodyPr>
          <a:lstStyle/>
          <a:p>
            <a:pPr marL="0" indent="0" algn="l">
              <a:buNone/>
            </a:pPr>
            <a:r>
              <a:rPr sz="865" b="1" spc="1">
                <a:solidFill>
                  <a:srgbClr val="FF6B1A"/>
                </a:solidFill>
                <a:latin typeface="Consolas" panose="020B0609020204030204"/>
                <a:ea typeface="Consolas" panose="020B0609020204030204"/>
                <a:cs typeface="Consolas" panose="020B0609020204030204"/>
              </a:rPr>
              <a:t>DECODE THE CLUE.</a:t>
            </a:r>
            <a:endParaRPr sz="865"/>
          </a:p>
        </p:txBody>
      </p:sp>
      <p:sp>
        <p:nvSpPr>
          <p:cNvPr id="15" name="Text 9"/>
          <p:cNvSpPr>
            <a:spLocks noGrp="1"/>
          </p:cNvSpPr>
          <p:nvPr/>
        </p:nvSpPr>
        <p:spPr>
          <a:xfrm>
            <a:off x="10874797" y="6343651"/>
            <a:ext cx="564515" cy="153670"/>
          </a:xfrm>
          <a:prstGeom prst="rect">
            <a:avLst/>
          </a:prstGeom>
          <a:noFill/>
        </p:spPr>
        <p:txBody>
          <a:bodyPr wrap="none" lIns="0" tIns="0" rIns="0" bIns="0" anchor="t">
            <a:spAutoFit/>
          </a:bodyPr>
          <a:lstStyle/>
          <a:p>
            <a:pPr marL="0" indent="0" algn="l">
              <a:buNone/>
            </a:pPr>
            <a:r>
              <a:rPr sz="1000">
                <a:solidFill>
                  <a:srgbClr val="778399"/>
                </a:solidFill>
                <a:latin typeface="Arial" panose="020B0604020202020204"/>
                <a:ea typeface="Arial" panose="020B0604020202020204"/>
                <a:cs typeface="Arial" panose="020B0604020202020204"/>
              </a:rPr>
              <a:t>1:28–1:30</a:t>
            </a:r>
            <a:endParaRPr sz="1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0" name="Image 0"/>
          <p:cNvPicPr>
            <a:picLocks noChangeAspect="1"/>
          </p:cNvPicPr>
          <p:nvPr/>
        </p:nvPicPr>
        <p:blipFill>
          <a:blip r:embed="rId1"/>
          <a:stretch>
            <a:fillRect/>
          </a:stretch>
        </p:blipFill>
        <p:spPr>
          <a:xfrm>
            <a:off x="0" y="0"/>
            <a:ext cx="12192000" cy="6858000"/>
          </a:xfrm>
          <a:prstGeom prst="rect">
            <a:avLst/>
          </a:prstGeom>
        </p:spPr>
      </p:pic>
      <p:sp>
        <p:nvSpPr>
          <p:cNvPr id="4" name="Shape 0"/>
          <p:cNvSpPr>
            <a:spLocks noGrp="1"/>
          </p:cNvSpPr>
          <p:nvPr/>
        </p:nvSpPr>
        <p:spPr>
          <a:xfrm>
            <a:off x="723900" y="0"/>
            <a:ext cx="10744200" cy="971551"/>
          </a:xfrm>
          <a:prstGeom prst="rect">
            <a:avLst/>
          </a:prstGeom>
          <a:solidFill>
            <a:srgbClr val="000000">
              <a:alpha val="0"/>
            </a:srgbClr>
          </a:solidFill>
        </p:spPr>
      </p:sp>
      <p:sp>
        <p:nvSpPr>
          <p:cNvPr id="5" name="Shape 1"/>
          <p:cNvSpPr>
            <a:spLocks noGrp="1"/>
          </p:cNvSpPr>
          <p:nvPr/>
        </p:nvSpPr>
        <p:spPr>
          <a:xfrm>
            <a:off x="723900" y="962025"/>
            <a:ext cx="10744200" cy="9525"/>
          </a:xfrm>
          <a:prstGeom prst="rect">
            <a:avLst/>
          </a:prstGeom>
          <a:solidFill>
            <a:srgbClr val="73E7FF"/>
          </a:solidFill>
        </p:spPr>
      </p:sp>
      <p:pic>
        <p:nvPicPr>
          <p:cNvPr id="23" name="Image 1"/>
          <p:cNvPicPr>
            <a:picLocks noChangeAspect="1"/>
          </p:cNvPicPr>
          <p:nvPr/>
        </p:nvPicPr>
        <p:blipFill>
          <a:blip r:embed="rId2"/>
          <a:stretch>
            <a:fillRect/>
          </a:stretch>
        </p:blipFill>
        <p:spPr>
          <a:xfrm>
            <a:off x="723900" y="190500"/>
            <a:ext cx="590551" cy="590551"/>
          </a:xfrm>
          <a:prstGeom prst="rect">
            <a:avLst/>
          </a:prstGeom>
        </p:spPr>
      </p:pic>
      <p:pic>
        <p:nvPicPr>
          <p:cNvPr id="24" name="Image 2"/>
          <p:cNvPicPr>
            <a:picLocks noChangeAspect="1"/>
          </p:cNvPicPr>
          <p:nvPr/>
        </p:nvPicPr>
        <p:blipFill>
          <a:blip r:embed="rId3"/>
          <a:stretch>
            <a:fillRect/>
          </a:stretch>
        </p:blipFill>
        <p:spPr>
          <a:xfrm>
            <a:off x="10210800" y="190500"/>
            <a:ext cx="1257300" cy="590551"/>
          </a:xfrm>
          <a:prstGeom prst="rect">
            <a:avLst/>
          </a:prstGeom>
        </p:spPr>
      </p:pic>
      <p:sp>
        <p:nvSpPr>
          <p:cNvPr id="8" name="Text 2"/>
          <p:cNvSpPr>
            <a:spLocks noGrp="1"/>
          </p:cNvSpPr>
          <p:nvPr/>
        </p:nvSpPr>
        <p:spPr>
          <a:xfrm>
            <a:off x="5065141" y="2118867"/>
            <a:ext cx="2061716" cy="153670"/>
          </a:xfrm>
          <a:prstGeom prst="rect">
            <a:avLst/>
          </a:prstGeom>
          <a:noFill/>
        </p:spPr>
        <p:txBody>
          <a:bodyPr wrap="square" lIns="0" tIns="0" rIns="0" bIns="0" anchor="t">
            <a:spAutoFit/>
          </a:bodyPr>
          <a:lstStyle/>
          <a:p>
            <a:pPr marL="0" indent="0" algn="ctr">
              <a:buNone/>
            </a:pPr>
            <a:r>
              <a:rPr sz="1000" b="1" spc="3">
                <a:solidFill>
                  <a:srgbClr val="00D4FF"/>
                </a:solidFill>
                <a:latin typeface="Arial" panose="020B0604020202020204"/>
                <a:ea typeface="Arial" panose="020B0604020202020204"/>
                <a:cs typeface="Arial" panose="020B0604020202020204"/>
              </a:rPr>
              <a:t>CLASS 3 COMPLETE</a:t>
            </a:r>
            <a:endParaRPr sz="1000"/>
          </a:p>
        </p:txBody>
      </p:sp>
      <p:sp>
        <p:nvSpPr>
          <p:cNvPr id="9" name="Text 3"/>
          <p:cNvSpPr>
            <a:spLocks noGrp="1"/>
          </p:cNvSpPr>
          <p:nvPr/>
        </p:nvSpPr>
        <p:spPr>
          <a:xfrm>
            <a:off x="2726652" y="2509391"/>
            <a:ext cx="6738620" cy="575310"/>
          </a:xfrm>
          <a:prstGeom prst="rect">
            <a:avLst/>
          </a:prstGeom>
          <a:noFill/>
        </p:spPr>
        <p:txBody>
          <a:bodyPr wrap="none" lIns="0" tIns="0" rIns="0" bIns="0" anchor="t">
            <a:spAutoFit/>
          </a:bodyPr>
          <a:lstStyle/>
          <a:p>
            <a:pPr marL="0" indent="0" algn="ctr">
              <a:lnSpc>
                <a:spcPct val="78000"/>
              </a:lnSpc>
              <a:buNone/>
            </a:pPr>
            <a:r>
              <a:rPr sz="4800" b="1" spc="-2">
                <a:solidFill>
                  <a:srgbClr val="FFFFFF"/>
                </a:solidFill>
                <a:latin typeface="Arial" panose="020B0604020202020204"/>
                <a:ea typeface="Arial" panose="020B0604020202020204"/>
                <a:cs typeface="Arial" panose="020B0604020202020204"/>
              </a:rPr>
              <a:t>SEE YOU NEXT CLASS</a:t>
            </a:r>
            <a:endParaRPr sz="4800"/>
          </a:p>
        </p:txBody>
      </p:sp>
      <p:sp>
        <p:nvSpPr>
          <p:cNvPr id="10" name="Text 4"/>
          <p:cNvSpPr>
            <a:spLocks noGrp="1"/>
          </p:cNvSpPr>
          <p:nvPr/>
        </p:nvSpPr>
        <p:spPr>
          <a:xfrm>
            <a:off x="4529956" y="3715196"/>
            <a:ext cx="3132088" cy="245745"/>
          </a:xfrm>
          <a:prstGeom prst="rect">
            <a:avLst/>
          </a:prstGeom>
          <a:noFill/>
        </p:spPr>
        <p:txBody>
          <a:bodyPr wrap="square" lIns="0" tIns="0" rIns="0" bIns="0" anchor="t">
            <a:spAutoFit/>
          </a:bodyPr>
          <a:lstStyle/>
          <a:p>
            <a:pPr marL="0" indent="0" algn="ctr">
              <a:buNone/>
            </a:pPr>
            <a:r>
              <a:rPr sz="1600" b="1">
                <a:solidFill>
                  <a:srgbClr val="DFE8F2"/>
                </a:solidFill>
                <a:latin typeface="Arial" panose="020B0604020202020204"/>
                <a:ea typeface="Arial" panose="020B0604020202020204"/>
                <a:cs typeface="Arial" panose="020B0604020202020204"/>
              </a:rPr>
              <a:t>founder@cyberhelpasia.com</a:t>
            </a:r>
            <a:endParaRPr sz="1600"/>
          </a:p>
        </p:txBody>
      </p:sp>
      <p:sp>
        <p:nvSpPr>
          <p:cNvPr id="11" name="Text 5"/>
          <p:cNvSpPr>
            <a:spLocks noGrp="1"/>
          </p:cNvSpPr>
          <p:nvPr/>
        </p:nvSpPr>
        <p:spPr>
          <a:xfrm>
            <a:off x="5020940" y="4091433"/>
            <a:ext cx="2150120" cy="215265"/>
          </a:xfrm>
          <a:prstGeom prst="rect">
            <a:avLst/>
          </a:prstGeom>
          <a:noFill/>
        </p:spPr>
        <p:txBody>
          <a:bodyPr wrap="square" lIns="0" tIns="0" rIns="0" bIns="0" anchor="t">
            <a:spAutoFit/>
          </a:bodyPr>
          <a:lstStyle/>
          <a:p>
            <a:pPr marL="0" indent="0" algn="ctr">
              <a:buNone/>
            </a:pPr>
            <a:r>
              <a:rPr sz="1400">
                <a:solidFill>
                  <a:srgbClr val="A9B6C7"/>
                </a:solidFill>
                <a:latin typeface="Arial" panose="020B0604020202020204"/>
                <a:ea typeface="Arial" panose="020B0604020202020204"/>
                <a:cs typeface="Arial" panose="020B0604020202020204"/>
              </a:rPr>
              <a:t>WhatsApp: 01977667197</a:t>
            </a:r>
            <a:endParaRPr sz="1400"/>
          </a:p>
        </p:txBody>
      </p:sp>
      <p:sp>
        <p:nvSpPr>
          <p:cNvPr id="12" name="Text 6"/>
          <p:cNvSpPr>
            <a:spLocks noGrp="1"/>
          </p:cNvSpPr>
          <p:nvPr/>
        </p:nvSpPr>
        <p:spPr>
          <a:xfrm>
            <a:off x="4333727" y="4562921"/>
            <a:ext cx="3524473" cy="163830"/>
          </a:xfrm>
          <a:prstGeom prst="rect">
            <a:avLst/>
          </a:prstGeom>
          <a:noFill/>
        </p:spPr>
        <p:txBody>
          <a:bodyPr wrap="square" lIns="0" tIns="0" rIns="0" bIns="0" anchor="t">
            <a:spAutoFit/>
          </a:bodyPr>
          <a:lstStyle/>
          <a:p>
            <a:pPr marL="0" indent="0" algn="ctr">
              <a:buNone/>
            </a:pPr>
            <a:r>
              <a:rPr sz="1065" b="1">
                <a:solidFill>
                  <a:srgbClr val="FF8A4B"/>
                </a:solidFill>
                <a:latin typeface="Arial" panose="020B0604020202020204"/>
                <a:ea typeface="Arial" panose="020B0604020202020204"/>
                <a:cs typeface="Arial" panose="020B0604020202020204"/>
              </a:rPr>
              <a:t>CyberHELP × FIRE Cybersecurity Community</a:t>
            </a:r>
            <a:endParaRPr sz="1065"/>
          </a:p>
        </p:txBody>
      </p:sp>
      <p:sp>
        <p:nvSpPr>
          <p:cNvPr id="13" name="Shape 7"/>
          <p:cNvSpPr>
            <a:spLocks noGrp="1"/>
          </p:cNvSpPr>
          <p:nvPr/>
        </p:nvSpPr>
        <p:spPr>
          <a:xfrm>
            <a:off x="723900" y="5886451"/>
            <a:ext cx="10744200" cy="971551"/>
          </a:xfrm>
          <a:prstGeom prst="rect">
            <a:avLst/>
          </a:prstGeom>
          <a:solidFill>
            <a:srgbClr val="000000">
              <a:alpha val="0"/>
            </a:srgbClr>
          </a:solidFill>
        </p:spPr>
      </p:sp>
      <p:sp>
        <p:nvSpPr>
          <p:cNvPr id="14" name="Shape 8"/>
          <p:cNvSpPr>
            <a:spLocks noGrp="1"/>
          </p:cNvSpPr>
          <p:nvPr/>
        </p:nvSpPr>
        <p:spPr>
          <a:xfrm>
            <a:off x="723900" y="5886451"/>
            <a:ext cx="10744200" cy="9525"/>
          </a:xfrm>
          <a:prstGeom prst="rect">
            <a:avLst/>
          </a:prstGeom>
          <a:solidFill>
            <a:srgbClr val="FFFFFF"/>
          </a:solidFill>
        </p:spPr>
      </p:sp>
      <p:sp>
        <p:nvSpPr>
          <p:cNvPr id="15" name="Text 9"/>
          <p:cNvSpPr>
            <a:spLocks noGrp="1"/>
          </p:cNvSpPr>
          <p:nvPr/>
        </p:nvSpPr>
        <p:spPr>
          <a:xfrm>
            <a:off x="723900" y="6105525"/>
            <a:ext cx="3232547" cy="324612"/>
          </a:xfrm>
          <a:prstGeom prst="rect">
            <a:avLst/>
          </a:prstGeom>
          <a:noFill/>
        </p:spPr>
        <p:txBody>
          <a:bodyPr wrap="square" lIns="0" tIns="0" rIns="0" bIns="0" anchor="t">
            <a:spAutoFit/>
          </a:bodyPr>
          <a:lstStyle/>
          <a:p>
            <a:pPr marL="0" indent="0" algn="l">
              <a:buNone/>
            </a:pPr>
            <a:r>
              <a:rPr sz="1065">
                <a:solidFill>
                  <a:srgbClr val="8390A4"/>
                </a:solidFill>
                <a:latin typeface="Arial" panose="020B0604020202020204"/>
                <a:ea typeface="Arial" panose="020B0604020202020204"/>
                <a:cs typeface="Arial" panose="020B0604020202020204"/>
              </a:rPr>
              <a:t>Thank you for investigating carefully and documenting the evidence.</a:t>
            </a:r>
            <a:endParaRPr sz="1065"/>
          </a:p>
        </p:txBody>
      </p:sp>
      <p:sp>
        <p:nvSpPr>
          <p:cNvPr id="16" name="Text 10"/>
          <p:cNvSpPr>
            <a:spLocks noGrp="1"/>
          </p:cNvSpPr>
          <p:nvPr/>
        </p:nvSpPr>
        <p:spPr>
          <a:xfrm>
            <a:off x="8274992" y="6105525"/>
            <a:ext cx="3193108" cy="194310"/>
          </a:xfrm>
          <a:prstGeom prst="rect">
            <a:avLst/>
          </a:prstGeom>
          <a:noFill/>
        </p:spPr>
        <p:txBody>
          <a:bodyPr wrap="square" lIns="0" tIns="0" rIns="0" bIns="0" anchor="t">
            <a:spAutoFit/>
          </a:bodyPr>
          <a:lstStyle/>
          <a:p>
            <a:pPr marL="0" indent="0" algn="l">
              <a:buNone/>
            </a:pPr>
            <a:r>
              <a:rPr sz="1265" b="1" spc="2">
                <a:solidFill>
                  <a:srgbClr val="00D4FF"/>
                </a:solidFill>
                <a:latin typeface="Arial" panose="020B0604020202020204"/>
                <a:ea typeface="Arial" panose="020B0604020202020204"/>
                <a:cs typeface="Arial" panose="020B0604020202020204"/>
              </a:rPr>
              <a:t>RECOGNIZE. DECODE. VERIFY.</a:t>
            </a:r>
            <a:endParaRPr sz="1265"/>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8064</Words>
  <Application>WPS Presentation</Application>
  <PresentationFormat>Converted Presentation</PresentationFormat>
  <Paragraphs>722</Paragraphs>
  <Slides>27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27</vt:i4>
      </vt:variant>
    </vt:vector>
  </HeadingPairs>
  <TitlesOfParts>
    <vt:vector size="37" baseType="lpstr">
      <vt:lpstr>Arial</vt:lpstr>
      <vt:lpstr>SimSun</vt:lpstr>
      <vt:lpstr>Wingdings</vt:lpstr>
      <vt:lpstr>Arial</vt:lpstr>
      <vt:lpstr>Consolas</vt:lpstr>
      <vt:lpstr>Calibri</vt:lpstr>
      <vt:lpstr>Microsoft YaHei</vt:lpstr>
      <vt:lpstr>Arial Unicode MS</vt:lpstr>
      <vt:lpstr>Calibri Light</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WPS_1717093415</cp:lastModifiedBy>
  <cp:revision>1</cp:revision>
  <dcterms:created xsi:type="dcterms:W3CDTF">2026-09-18T16:40:54Z</dcterms:created>
  <dcterms:modified xsi:type="dcterms:W3CDTF">2026-09-18T16:40:55Z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39FD12E6985D483E833C29630B9541C3_12</vt:lpwstr>
  </property>
  <property fmtid="{D5CDD505-2E9C-101B-9397-08002B2CF9AE}" pid="3" name="KSOProductBuildVer">
    <vt:lpwstr>2057-12.2.0.23206</vt:lpwstr>
  </property>
</Properties>
</file>